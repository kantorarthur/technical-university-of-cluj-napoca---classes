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8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13822A-2B72-EC3C-B9CF-FD9D6160E91C}" v="1" dt="2026-10-26T13:33:52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Cosmin Abalasei" userId="S::abalasei.so.david@student.utcluj.ro::58b22080-3410-40e6-957c-78988e862ba4" providerId="AD" clId="Web-{0D6DA4BE-91A0-B0D5-5FAA-93379881A17D}"/>
    <pc:docChg chg="modSld">
      <pc:chgData name="David Cosmin Abalasei" userId="S::abalasei.so.david@student.utcluj.ro::58b22080-3410-40e6-957c-78988e862ba4" providerId="AD" clId="Web-{0D6DA4BE-91A0-B0D5-5FAA-93379881A17D}" dt="2026-10-14T14:39:48.733" v="0" actId="1076"/>
      <pc:docMkLst>
        <pc:docMk/>
      </pc:docMkLst>
      <pc:sldChg chg="modSp">
        <pc:chgData name="David Cosmin Abalasei" userId="S::abalasei.so.david@student.utcluj.ro::58b22080-3410-40e6-957c-78988e862ba4" providerId="AD" clId="Web-{0D6DA4BE-91A0-B0D5-5FAA-93379881A17D}" dt="2026-10-14T14:39:48.733" v="0" actId="1076"/>
        <pc:sldMkLst>
          <pc:docMk/>
          <pc:sldMk cId="0" sldId="258"/>
        </pc:sldMkLst>
        <pc:spChg chg="mod">
          <ac:chgData name="David Cosmin Abalasei" userId="S::abalasei.so.david@student.utcluj.ro::58b22080-3410-40e6-957c-78988e862ba4" providerId="AD" clId="Web-{0D6DA4BE-91A0-B0D5-5FAA-93379881A17D}" dt="2026-10-14T14:39:48.733" v="0" actId="1076"/>
          <ac:spMkLst>
            <pc:docMk/>
            <pc:sldMk cId="0" sldId="258"/>
            <ac:spMk id="10" creationId="{9262CC8A-A00A-4EE6-0AC6-E6527694D069}"/>
          </ac:spMkLst>
        </pc:spChg>
      </pc:sldChg>
    </pc:docChg>
  </pc:docChgLst>
  <pc:docChgLst>
    <pc:chgData name="David Cosmin Abalasei" userId="S::abalasei.so.david@student.utcluj.ro::58b22080-3410-40e6-957c-78988e862ba4" providerId="AD" clId="Web-{3E13822A-2B72-EC3C-B9CF-FD9D6160E91C}"/>
    <pc:docChg chg="modSld">
      <pc:chgData name="David Cosmin Abalasei" userId="S::abalasei.so.david@student.utcluj.ro::58b22080-3410-40e6-957c-78988e862ba4" providerId="AD" clId="Web-{3E13822A-2B72-EC3C-B9CF-FD9D6160E91C}" dt="2026-10-26T13:33:52.640" v="0" actId="1076"/>
      <pc:docMkLst>
        <pc:docMk/>
      </pc:docMkLst>
      <pc:sldChg chg="modSp">
        <pc:chgData name="David Cosmin Abalasei" userId="S::abalasei.so.david@student.utcluj.ro::58b22080-3410-40e6-957c-78988e862ba4" providerId="AD" clId="Web-{3E13822A-2B72-EC3C-B9CF-FD9D6160E91C}" dt="2026-10-26T13:33:52.640" v="0" actId="1076"/>
        <pc:sldMkLst>
          <pc:docMk/>
          <pc:sldMk cId="0" sldId="277"/>
        </pc:sldMkLst>
        <pc:spChg chg="mod">
          <ac:chgData name="David Cosmin Abalasei" userId="S::abalasei.so.david@student.utcluj.ro::58b22080-3410-40e6-957c-78988e862ba4" providerId="AD" clId="Web-{3E13822A-2B72-EC3C-B9CF-FD9D6160E91C}" dt="2026-10-26T13:33:52.640" v="0" actId="1076"/>
          <ac:spMkLst>
            <pc:docMk/>
            <pc:sldMk cId="0" sldId="277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514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Listele sunt punctul de plecare: următoarele colecții se compară cu 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Întrebare pentru studenți: ce afișează range(3, 3)? (nimic, secvența e goală).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 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colecții, control flow, funcții și fișiere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(1): creare și accesare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Ordonate, modificabile, acceptă duplicate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conține tipuri diferite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de la 0; indicii negativi numără de la sfârșit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Slicing: a[start:stop], stop este exclus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["python","java","C","html"]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len(a)        # 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          # "python"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a[-1]         # "html"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a[0:2]        # ["python","java"]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a[:2]         # la fel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a[2:]         # ["C","html"]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 a        # test apartenență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[1, 2]    # concatenare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afișează a[2:-1]?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262CC8A-A00A-4EE6-0AC6-E6527694D069}"/>
              </a:ext>
            </a:extLst>
          </p:cNvPr>
          <p:cNvSpPr txBox="1"/>
          <p:nvPr/>
        </p:nvSpPr>
        <p:spPr>
          <a:xfrm>
            <a:off x="694083" y="404820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(a[2:-1] → ["C"], ultimul element este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(2): modificare și metode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Modificăm direct: a[1] = "scala"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append, insert: adaugă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(după valoare), pop (după poziție)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reverse, count, index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max, min, sum funcționează pe liste numerice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= "scala"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a.append("sql")      # la sfârșit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a.append("sql")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a.count("sql")       #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a.index("sql")       # poziția primului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a.pop(-1)            # scoate ultimul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a.remove("scala")    # scoate după valoare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a.sort()             # sortează pe loc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nr = [1, 3, 2, 4]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max(nr), min(nr), sum(nr)   # 4 1 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și append() modifică lista și nu returnează una nouă.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(3): list comprehension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7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Sintaxă scurtă pentru a construi o listă nouă din alta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Forma: [expresie for e in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&lt;if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condiție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&gt;]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originală rămâne neschimbată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10, 2, 3]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 + 1 for e in a]       # [2, 11, 3, 4]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 for e in a]           # [0, 0, 0, 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 + 1 for e in a if e &lt; 10]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# [2, 3, 4]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rezultă din [e*2 for e in a if e &gt; 2]?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7603367-9C20-FA9E-50AE-E6A8F0956B42}"/>
              </a:ext>
            </a:extLst>
          </p:cNvPr>
          <p:cNvSpPr txBox="1"/>
          <p:nvPr/>
        </p:nvSpPr>
        <p:spPr>
          <a:xfrm>
            <a:off x="685800" y="4022513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   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([20, 6])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Tupluri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Ordonate, acceptă duplicate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Imutabile: nu se pot modifica după creare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Accesare ca la liste: index, index negativ, slicing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Metode: doar count() și index()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 pentru date care nu trebuie să se schimbe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 = 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unul = (10,)      # virgula contează!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("Sawyer", 17, "Kate", True)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len(t)            #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"Kate" in t       #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t[0]              # "Sawyer"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t[-2]             # "Kate"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t[1:3]            # (17, "Kate")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+ (1, 2)        # concatenare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 este doar un număr; (10,) este tuplu.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Tupluri sunt imutabile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Atribuirea la un element dă eroare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Soluție: convertim în listă, modificăm, apoi înapoi în tuplu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creează de fapt un tuplu nou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t[0] = "Sayid"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tuple does not support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item assignment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list(t)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l[0] = 22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l.append("Hugo")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l.remove(17)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tuple(l)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(22, "Kate", True, "Hugo")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Seturi (set)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duplicate (se elimină automat)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Neordonate, fără index: nu există s[0]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Elementele nu se schimbă, dar putem adăuga și șterge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apartenență foarte rapid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set() creează un set gol ({} creează dicționar!)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{12, "Jack", "Kate", True, "Kate"}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len(s)            # 4, "Kate" apare o dată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in s           # True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s.add("Sun")          # un element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s.update([22, 10])    # mai multe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s.remove("Jack")      # eroare dacă lipsește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s.discard("Jack")     # fără eroare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s.pop()               # scoate unul oarecare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afișează len({1, 2, 2, 3, 3, 3})?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F3B9C71-AA14-3FD6-68B5-077407E3004D}"/>
              </a:ext>
            </a:extLst>
          </p:cNvPr>
          <p:cNvSpPr txBox="1"/>
          <p:nvPr/>
        </p:nvSpPr>
        <p:spPr>
          <a:xfrm>
            <a:off x="685800" y="4032673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Operații pe mulțimi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Reprezintă operațiile matematice cunoscute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| b: reuniune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&amp; b: intersecție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 b: în a, dar nu în b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^ b: în exact unul dintre ele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echivalente: union, intersection, difference...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set("abracadabra")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set("alacazam")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       # {a, b, c, d, r}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- b      # {b, d, r}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| b      # {a,b,c,d,r,l,m,z}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&amp; b      # {a, c}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^ b      # {b,d,r,l,m,z}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s1.union(s2)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s1.intersection(s2)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 util: eliminarea duplicatelor dintr-o listă cu set(lista).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Dicționare (dict)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stocate ca perechi cheie:valoare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 unice, valorile se pot repeta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Ordonate (Python 3.7+) și modificabile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Accesăm după cheie, nu după poziție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 = {}          # sau dict()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{"james": 1000, "kate": 2005}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len(d)            #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"kate" in d       # True (caută în chei)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d["james"]        # 1000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d.get("james")    # 1000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d.get("zzz")      # None, </a:t>
            </a:r>
            <a:r>
              <a:rPr lang="en-US" sz="13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fără</a:t>
            </a: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eroare</a:t>
            </a:r>
            <a:b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3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d.get</a:t>
            </a: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("zzz", 0)   # 0, </a:t>
            </a:r>
            <a:r>
              <a:rPr lang="en-US" sz="13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fără</a:t>
            </a: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eroare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d["zzz"]          # KeyError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Dicționare: modificare și parcurgere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Atribuire nouă = adăugare sau actualizare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update(), pop(cheie), clear()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keys(), values(), items()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{"name": "Jack", "age": 39}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p["job"] = "surgeon"     # adaugă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p["name"] = "James"      # modifică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p.update({"actor": "Matthew"})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p.pop("actor")           # șterge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p.keys()     # cheile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p.values()   # valorile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p.items()    # perechi (cheie, valoare)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k, v in p.items() parcurge cheia și valoarea deodată.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comprehension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Aceeași idee ca la liste, dar produce un dicționar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Forma: {k: v for ... if ...}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{n: n**2 for n in [0, 10, -2, 3]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n % 2 == 0}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{0: 0, 10: 100, -2: 4}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Comparație între colecții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5146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Colecție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Sintaxă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Ordonată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Modificabilă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 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(add/remove)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doar apartenență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Dicționar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{k: v}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(3.7+)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chei unice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după cheie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dicționar, cheile sunt unice; valorile se pot repeta.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9497D9E-553D-5311-12D5-82E6DBDDBA67}"/>
              </a:ext>
            </a:extLst>
          </p:cNvPr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99A5508-8791-A92E-C714-2AE503813042}"/>
              </a:ext>
            </a:extLst>
          </p:cNvPr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B94AFB6-6E15-F769-7B30-1FD369B18065}"/>
              </a:ext>
            </a:extLst>
          </p:cNvPr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ați folosi pentru: prețurile produselor dintr-un magazin? Pentru numele distincte dintr-o listă?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flow: if / elif / else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Condiția se termină cu :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Corpul este indentat (4 spații)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execută doar prima ramură adevărată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Variantă pe o linie: expresie condițională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44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20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b &gt; a: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 este mai mare")</a:t>
            </a:r>
          </a:p>
          <a:p>
            <a:r>
              <a:rPr lang="en-US" sz="1300" dirty="0">
                <a:solidFill>
                  <a:srgbClr val="1E293B"/>
                </a:solidFill>
                <a:latin typeface="Consolas" pitchFamily="34" charset="0"/>
              </a:rPr>
              <a:t>    </a:t>
            </a: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 </a:t>
            </a:r>
            <a:r>
              <a:rPr lang="en-US" sz="13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este</a:t>
            </a: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</a:t>
            </a: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mic")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a == b: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print("egale")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 este mai mare")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print("A") if a &gt; b else print("B")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Bucla for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Parcurge orice colecție sau șir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Preferăm iterarea directă pe elemente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Avem nevoie și de index? enumerate()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dicționar: .items()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[10, 20, 3, 1]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 in 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e in enumerate(a):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print(f"la indexul {i}: {e}")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in {0: 0, 10: 100}.items():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print(k, v)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Bucla for cu range()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generează o secvență de numere întregi; stop nu este inclus.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361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range(stop): de la 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922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Afișează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0 1 2 3 4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5361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range(start, stop)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7922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range(2, 6):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Afișează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2 3 4 5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816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range(start, stop, step): cu pas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07238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 10, 3):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Afișează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0 3 6 9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2816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negativ: invers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07238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range(5, 0, -1):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Afișează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5 4 3 2 1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1480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114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range(n) dă exact n numere (0 … n-1). Pentru a parcurge o listă, folosiți direct for e in lista; pentru index și valoare, enumerate().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Bucla while, break, continue, pass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repetă cât timp condiția e adevărată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break: oprește bucla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continue: sare la următoarea iterație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instrucțiune goală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10; total = 0; i =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&lt;= 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print("Suma:", total)   # 55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 in "string":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 == "i":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        # sau continue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print(ch)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afișează bucla cu break? Dar dacă folosim continue?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Funcții: definire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definesc cu def, nume și parametri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linie din corp poate fi un docstring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Apelăm cu argumente poziționale sau cu nume (keyword)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nume, ordinea nu mai contează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print_name(fname, lname):</a:t>
            </a:r>
            <a:endParaRPr lang="en-US" sz="1200" dirty="0"/>
          </a:p>
          <a:p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12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Afișează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numele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# </a:t>
            </a:r>
            <a:r>
              <a:rPr lang="en-US" sz="12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"""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print(f"Numele meu e {fname} {lname}")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print_name("James", "Ford")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print_name(fname="James", lname="Ford")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print_name(lname="Ford", fname="James")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implicite și return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Parametrii pot avea valori implicite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Parametrii cu valoare implicită vin după cei obligatorii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întoarce una sau mai multe valori (sub formă de tuplu)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info(fname, lname, age=39, job="salesman"):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print(f"{fname} {lname}, {age}, {job}")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info("James", "Ford")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info("James", "Ford", 22)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info("James", "Ford", 22, "surgeon")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10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1, a   # întoarce (1, 10)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și **kwargs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*args: număr variabil de argumente, primite ca tuplu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**kwargs: argumente cu nume, primite ca dicționar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când nu știm câte argumente vom primi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best_player(team, *players):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print(team, players[1])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best_player("Man Utd", "Rashford", "Maguire")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show_name(**kid):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print("Prenume:", kid["lname"])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show_name(fname="Kate", lname="Austen")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Funcții și obiecte mutabile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Argumentele se transmit ca referință la obiect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Numere, string-uri, tupluri: nu pot fi schimbate în funcție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dicționare, seturi: modificările se văd și în exterior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10, 100]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change(my_list):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my_list[0] = 1000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change(a)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   # [1000, 10, 100]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Fișiere: open() și moduri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open(path, mode); calea poate fi absolută sau relativă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implicit este citire (r)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7068" y="1146517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   citire (implicit)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   scriere, șterge conținutul vechi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"x"   creează fișier nou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   adăugare la final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 / "t"   binar / text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"r+"  citire și scriere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"a+"  citire + adăugare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Citirea fișierelor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read(): tot conținutul într-un string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readline(): o linie; la final returnează ""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readlines(): lista tuturor liniilor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mai simplu: for line in f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open("test_file.txt")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print(line)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open("test_file.txt")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f.readline()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text != "":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print(text)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f.readline()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Scrierea fișierelor și with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write(): scrie un string, fără newline automat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writelines(): scrie colecția de string-uri, fără newline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închide fișierul automat, chiar la erori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open("test_file.txt", "w")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f.write("My name is James")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["My", "name", "is", "James"]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open("test_file.txt", "w") as f: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f.writelines(text)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open("test_file.txt", "r") as f: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f.read()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BE61A8513D3945A01280DF69A614CF" ma:contentTypeVersion="3" ma:contentTypeDescription="Create a new document." ma:contentTypeScope="" ma:versionID="930fb3512e3104cba1adc7d2f20b267d">
  <xsd:schema xmlns:xsd="http://www.w3.org/2001/XMLSchema" xmlns:xs="http://www.w3.org/2001/XMLSchema" xmlns:p="http://schemas.microsoft.com/office/2006/metadata/properties" xmlns:ns2="62f7c615-2685-4ed9-8457-f805c552671a" targetNamespace="http://schemas.microsoft.com/office/2006/metadata/properties" ma:root="true" ma:fieldsID="cb3f07b26883a78bfdf1f06aa74dba6d" ns2:_="">
    <xsd:import namespace="62f7c615-2685-4ed9-8457-f805c55267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f7c615-2685-4ed9-8457-f805c55267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C92CA2-6513-4FE4-AD0A-777F455580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1EBE2F-0EC7-4562-947F-4D37AC78C8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33CECE9-A259-4219-A47D-D4CCF4F2DA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f7c615-2685-4ed9-8457-f805c55267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2515</Words>
  <Application>Microsoft Office PowerPoint</Application>
  <PresentationFormat>On-screen Show (16:9)</PresentationFormat>
  <Paragraphs>385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 2 Python</dc:title>
  <dc:subject>PptxGenJS Presentation</dc:subject>
  <dc:creator>PptxGenJS</dc:creator>
  <cp:lastModifiedBy>Oana Denisa Zaharie</cp:lastModifiedBy>
  <cp:revision>4</cp:revision>
  <dcterms:created xsi:type="dcterms:W3CDTF">2026-10-03T10:54:51Z</dcterms:created>
  <dcterms:modified xsi:type="dcterms:W3CDTF">2026-10-26T13:33:52Z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0x01010028BE61A8513D3945A01280DF69A614CF</vt:lpwstr>
  </property>
</Properties>
</file>