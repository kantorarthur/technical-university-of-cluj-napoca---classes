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6"/>
  </p:notesMasterIdLst>
  <p:sldIdLst>
    <p:sldId id="256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6" r:id="rId21"/>
    <p:sldId id="273" r:id="rId22"/>
    <p:sldId id="274" r:id="rId23"/>
    <p:sldId id="277" r:id="rId24"/>
    <p:sldId id="275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D86F65-9652-03AA-DC95-74C8127DFD3F}" v="1" dt="2026-10-26T13:46:51.917"/>
    <p1510:client id="{CD34D06C-0E17-541C-1F82-1CE8D8EEFD38}" v="2" dt="2026-10-26T19:29:31.9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nis Gabriel Pintilii" userId="S::pintilii.ma.denis@student.utcluj.ro::01e4c627-390b-4199-94e6-c01c49780bad" providerId="AD" clId="Web-{0521D3D5-D9A9-AB39-826E-6B8B33F43FA8}"/>
    <pc:docChg chg="addSld delSld">
      <pc:chgData name="Denis Gabriel Pintilii" userId="S::pintilii.ma.denis@student.utcluj.ro::01e4c627-390b-4199-94e6-c01c49780bad" providerId="AD" clId="Web-{0521D3D5-D9A9-AB39-826E-6B8B33F43FA8}" dt="2026-10-18T21:35:19.334" v="5"/>
      <pc:docMkLst>
        <pc:docMk/>
      </pc:docMkLst>
    </pc:docChg>
  </pc:docChgLst>
  <pc:docChgLst>
    <pc:chgData name="Sergiu Patrik Contra" userId="S::contra.co.sergiu@student.utcluj.ro::670e3a9e-9856-4dc3-b7cf-0075f61b3697" providerId="AD" clId="Web-{3736AFD0-D54A-F0A1-8B89-400DE489CC39}"/>
    <pc:docChg chg="modSld">
      <pc:chgData name="Sergiu Patrik Contra" userId="S::contra.co.sergiu@student.utcluj.ro::670e3a9e-9856-4dc3-b7cf-0075f61b3697" providerId="AD" clId="Web-{3736AFD0-D54A-F0A1-8B89-400DE489CC39}" dt="2026-10-20T11:21:02.382" v="2" actId="20577"/>
      <pc:docMkLst>
        <pc:docMk/>
      </pc:docMkLst>
      <pc:sldChg chg="modSp">
        <pc:chgData name="Sergiu Patrik Contra" userId="S::contra.co.sergiu@student.utcluj.ro::670e3a9e-9856-4dc3-b7cf-0075f61b3697" providerId="AD" clId="Web-{3736AFD0-D54A-F0A1-8B89-400DE489CC39}" dt="2026-10-20T11:21:02.382" v="2" actId="20577"/>
        <pc:sldMkLst>
          <pc:docMk/>
          <pc:sldMk cId="0" sldId="266"/>
        </pc:sldMkLst>
        <pc:spChg chg="mod">
          <ac:chgData name="Sergiu Patrik Contra" userId="S::contra.co.sergiu@student.utcluj.ro::670e3a9e-9856-4dc3-b7cf-0075f61b3697" providerId="AD" clId="Web-{3736AFD0-D54A-F0A1-8B89-400DE489CC39}" dt="2026-10-20T11:21:02.382" v="2" actId="20577"/>
          <ac:spMkLst>
            <pc:docMk/>
            <pc:sldMk cId="0" sldId="266"/>
            <ac:spMk id="6" creationId="{00000000-0000-0000-0000-000000000000}"/>
          </ac:spMkLst>
        </pc:spChg>
      </pc:sldChg>
    </pc:docChg>
  </pc:docChgLst>
  <pc:docChgLst>
    <pc:chgData name="Darius Mera" userId="S::mera.io.darius@student.utcluj.ro::1744557f-7b8a-48fc-b4e6-bd275788f62f" providerId="AD" clId="Web-{015C425B-AC1C-1680-528C-0B92A14020D4}"/>
    <pc:docChg chg="modSld">
      <pc:chgData name="Darius Mera" userId="S::mera.io.darius@student.utcluj.ro::1744557f-7b8a-48fc-b4e6-bd275788f62f" providerId="AD" clId="Web-{015C425B-AC1C-1680-528C-0B92A14020D4}" dt="2026-10-13T11:37:59.201" v="12" actId="1076"/>
      <pc:docMkLst>
        <pc:docMk/>
      </pc:docMkLst>
      <pc:sldChg chg="modSp">
        <pc:chgData name="Darius Mera" userId="S::mera.io.darius@student.utcluj.ro::1744557f-7b8a-48fc-b4e6-bd275788f62f" providerId="AD" clId="Web-{015C425B-AC1C-1680-528C-0B92A14020D4}" dt="2026-10-13T11:27:38.482" v="2" actId="1076"/>
        <pc:sldMkLst>
          <pc:docMk/>
          <pc:sldMk cId="0" sldId="261"/>
        </pc:sldMkLst>
        <pc:spChg chg="mod">
          <ac:chgData name="Darius Mera" userId="S::mera.io.darius@student.utcluj.ro::1744557f-7b8a-48fc-b4e6-bd275788f62f" providerId="AD" clId="Web-{015C425B-AC1C-1680-528C-0B92A14020D4}" dt="2026-10-13T11:27:38.482" v="2" actId="1076"/>
          <ac:spMkLst>
            <pc:docMk/>
            <pc:sldMk cId="0" sldId="261"/>
            <ac:spMk id="4" creationId="{00000000-0000-0000-0000-000000000000}"/>
          </ac:spMkLst>
        </pc:spChg>
        <pc:spChg chg="mod">
          <ac:chgData name="Darius Mera" userId="S::mera.io.darius@student.utcluj.ro::1744557f-7b8a-48fc-b4e6-bd275788f62f" providerId="AD" clId="Web-{015C425B-AC1C-1680-528C-0B92A14020D4}" dt="2026-10-13T11:07:41.765" v="1" actId="1076"/>
          <ac:spMkLst>
            <pc:docMk/>
            <pc:sldMk cId="0" sldId="261"/>
            <ac:spMk id="10" creationId="{448EFA8F-696E-5084-9CAB-2156D2A12CAD}"/>
          </ac:spMkLst>
        </pc:spChg>
      </pc:sldChg>
      <pc:sldChg chg="modSp">
        <pc:chgData name="Darius Mera" userId="S::mera.io.darius@student.utcluj.ro::1744557f-7b8a-48fc-b4e6-bd275788f62f" providerId="AD" clId="Web-{015C425B-AC1C-1680-528C-0B92A14020D4}" dt="2026-10-13T11:34:28.571" v="3" actId="1076"/>
        <pc:sldMkLst>
          <pc:docMk/>
          <pc:sldMk cId="0" sldId="266"/>
        </pc:sldMkLst>
        <pc:spChg chg="mod">
          <ac:chgData name="Darius Mera" userId="S::mera.io.darius@student.utcluj.ro::1744557f-7b8a-48fc-b4e6-bd275788f62f" providerId="AD" clId="Web-{015C425B-AC1C-1680-528C-0B92A14020D4}" dt="2026-10-13T11:34:28.571" v="3" actId="1076"/>
          <ac:spMkLst>
            <pc:docMk/>
            <pc:sldMk cId="0" sldId="266"/>
            <ac:spMk id="10" creationId="{51A75FD2-CA40-C79B-BD99-287FD365DD6E}"/>
          </ac:spMkLst>
        </pc:spChg>
      </pc:sldChg>
      <pc:sldChg chg="modSp">
        <pc:chgData name="Darius Mera" userId="S::mera.io.darius@student.utcluj.ro::1744557f-7b8a-48fc-b4e6-bd275788f62f" providerId="AD" clId="Web-{015C425B-AC1C-1680-528C-0B92A14020D4}" dt="2026-10-13T11:37:42.825" v="11" actId="20577"/>
        <pc:sldMkLst>
          <pc:docMk/>
          <pc:sldMk cId="0" sldId="267"/>
        </pc:sldMkLst>
        <pc:spChg chg="mod">
          <ac:chgData name="Darius Mera" userId="S::mera.io.darius@student.utcluj.ro::1744557f-7b8a-48fc-b4e6-bd275788f62f" providerId="AD" clId="Web-{015C425B-AC1C-1680-528C-0B92A14020D4}" dt="2026-10-13T11:37:42.825" v="11" actId="20577"/>
          <ac:spMkLst>
            <pc:docMk/>
            <pc:sldMk cId="0" sldId="267"/>
            <ac:spMk id="6" creationId="{00000000-0000-0000-0000-000000000000}"/>
          </ac:spMkLst>
        </pc:spChg>
      </pc:sldChg>
      <pc:sldChg chg="modSp">
        <pc:chgData name="Darius Mera" userId="S::mera.io.darius@student.utcluj.ro::1744557f-7b8a-48fc-b4e6-bd275788f62f" providerId="AD" clId="Web-{015C425B-AC1C-1680-528C-0B92A14020D4}" dt="2026-10-13T11:37:59.201" v="12" actId="1076"/>
        <pc:sldMkLst>
          <pc:docMk/>
          <pc:sldMk cId="0" sldId="270"/>
        </pc:sldMkLst>
        <pc:spChg chg="mod">
          <ac:chgData name="Darius Mera" userId="S::mera.io.darius@student.utcluj.ro::1744557f-7b8a-48fc-b4e6-bd275788f62f" providerId="AD" clId="Web-{015C425B-AC1C-1680-528C-0B92A14020D4}" dt="2026-10-13T11:37:59.201" v="12" actId="1076"/>
          <ac:spMkLst>
            <pc:docMk/>
            <pc:sldMk cId="0" sldId="270"/>
            <ac:spMk id="10" creationId="{2603F5D3-5522-37CB-4547-DE4C5C90FEE3}"/>
          </ac:spMkLst>
        </pc:spChg>
      </pc:sldChg>
    </pc:docChg>
  </pc:docChgLst>
  <pc:docChgLst>
    <pc:chgData name="Luca Manea" userId="S::manea.gh.luca@student.utcluj.ro::27af6a74-b6d4-427c-9f6f-26bdbb9f2e6d" providerId="AD" clId="Web-{FF6AEF27-E57B-EC7A-DC39-1EEDACAD692B}"/>
    <pc:docChg chg="modSld">
      <pc:chgData name="Luca Manea" userId="S::manea.gh.luca@student.utcluj.ro::27af6a74-b6d4-427c-9f6f-26bdbb9f2e6d" providerId="AD" clId="Web-{FF6AEF27-E57B-EC7A-DC39-1EEDACAD692B}" dt="2026-10-13T11:41:14.739" v="9" actId="20577"/>
      <pc:docMkLst>
        <pc:docMk/>
      </pc:docMkLst>
      <pc:sldChg chg="modSp">
        <pc:chgData name="Luca Manea" userId="S::manea.gh.luca@student.utcluj.ro::27af6a74-b6d4-427c-9f6f-26bdbb9f2e6d" providerId="AD" clId="Web-{FF6AEF27-E57B-EC7A-DC39-1EEDACAD692B}" dt="2026-10-13T11:41:14.739" v="9" actId="20577"/>
        <pc:sldMkLst>
          <pc:docMk/>
          <pc:sldMk cId="0" sldId="266"/>
        </pc:sldMkLst>
        <pc:spChg chg="mod">
          <ac:chgData name="Luca Manea" userId="S::manea.gh.luca@student.utcluj.ro::27af6a74-b6d4-427c-9f6f-26bdbb9f2e6d" providerId="AD" clId="Web-{FF6AEF27-E57B-EC7A-DC39-1EEDACAD692B}" dt="2026-10-13T11:41:14.739" v="9" actId="20577"/>
          <ac:spMkLst>
            <pc:docMk/>
            <pc:sldMk cId="0" sldId="266"/>
            <ac:spMk id="4" creationId="{00000000-0000-0000-0000-000000000000}"/>
          </ac:spMkLst>
        </pc:spChg>
      </pc:sldChg>
    </pc:docChg>
  </pc:docChgLst>
  <pc:docChgLst>
    <pc:chgData name="David Cosmin Abalasei" userId="S::abalasei.so.david@student.utcluj.ro::58b22080-3410-40e6-957c-78988e862ba4" providerId="AD" clId="Web-{81D86F65-9652-03AA-DC95-74C8127DFD3F}"/>
    <pc:docChg chg="modSld">
      <pc:chgData name="David Cosmin Abalasei" userId="S::abalasei.so.david@student.utcluj.ro::58b22080-3410-40e6-957c-78988e862ba4" providerId="AD" clId="Web-{81D86F65-9652-03AA-DC95-74C8127DFD3F}" dt="2026-10-26T13:46:51.917" v="0" actId="1076"/>
      <pc:docMkLst>
        <pc:docMk/>
      </pc:docMkLst>
      <pc:sldChg chg="modSp">
        <pc:chgData name="David Cosmin Abalasei" userId="S::abalasei.so.david@student.utcluj.ro::58b22080-3410-40e6-957c-78988e862ba4" providerId="AD" clId="Web-{81D86F65-9652-03AA-DC95-74C8127DFD3F}" dt="2026-10-26T13:46:51.917" v="0" actId="1076"/>
        <pc:sldMkLst>
          <pc:docMk/>
          <pc:sldMk cId="0" sldId="260"/>
        </pc:sldMkLst>
        <pc:spChg chg="mod">
          <ac:chgData name="David Cosmin Abalasei" userId="S::abalasei.so.david@student.utcluj.ro::58b22080-3410-40e6-957c-78988e862ba4" providerId="AD" clId="Web-{81D86F65-9652-03AA-DC95-74C8127DFD3F}" dt="2026-10-26T13:46:51.917" v="0" actId="1076"/>
          <ac:spMkLst>
            <pc:docMk/>
            <pc:sldMk cId="0" sldId="260"/>
            <ac:spMk id="6" creationId="{00000000-0000-0000-0000-000000000000}"/>
          </ac:spMkLst>
        </pc:spChg>
      </pc:sldChg>
    </pc:docChg>
  </pc:docChgLst>
  <pc:docChgLst>
    <pc:chgData name="Dragos Bogdan Pop" userId="S::pop.ma.dragos@student.utcluj.ro::e7d01f51-441b-4300-a443-40b6e7d76d3c" providerId="AD" clId="Web-{CD34D06C-0E17-541C-1F82-1CE8D8EEFD38}"/>
    <pc:docChg chg="modSld">
      <pc:chgData name="Dragos Bogdan Pop" userId="S::pop.ma.dragos@student.utcluj.ro::e7d01f51-441b-4300-a443-40b6e7d76d3c" providerId="AD" clId="Web-{CD34D06C-0E17-541C-1F82-1CE8D8EEFD38}" dt="2026-10-26T19:29:31.942" v="1" actId="1076"/>
      <pc:docMkLst>
        <pc:docMk/>
      </pc:docMkLst>
      <pc:sldChg chg="modSp">
        <pc:chgData name="Dragos Bogdan Pop" userId="S::pop.ma.dragos@student.utcluj.ro::e7d01f51-441b-4300-a443-40b6e7d76d3c" providerId="AD" clId="Web-{CD34D06C-0E17-541C-1F82-1CE8D8EEFD38}" dt="2026-10-26T19:29:31.942" v="1" actId="1076"/>
        <pc:sldMkLst>
          <pc:docMk/>
          <pc:sldMk cId="0" sldId="271"/>
        </pc:sldMkLst>
        <pc:spChg chg="mod">
          <ac:chgData name="Dragos Bogdan Pop" userId="S::pop.ma.dragos@student.utcluj.ro::e7d01f51-441b-4300-a443-40b6e7d76d3c" providerId="AD" clId="Web-{CD34D06C-0E17-541C-1F82-1CE8D8EEFD38}" dt="2026-10-26T19:29:31.942" v="1" actId="1076"/>
          <ac:spMkLst>
            <pc:docMk/>
            <pc:sldMk cId="0" sldId="271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0298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Overriding = aceeași metodă, comportament diferit în clasa copil. Am văzut deja un caz: __init__ din copil îl suprascrie pe cel din părinte.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Diferența: overriding = alt comportament într-o clasă copil; overloading = aceeași metodă/operator cu parametri sau tipuri diferite.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 3</a:t>
            </a:r>
            <a:endParaRPr lang="en-US" sz="2000"/>
          </a:p>
        </p:txBody>
      </p:sp>
      <p:sp>
        <p:nvSpPr>
          <p:cNvPr id="3" name="Text 1"/>
          <p:cNvSpPr txBox="1"/>
          <p:nvPr/>
        </p:nvSpPr>
        <p:spPr>
          <a:xfrm>
            <a:off x="731520" y="192024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 module, pachete, clase și obiecte</a:t>
            </a:r>
            <a:endParaRPr lang="en-US" sz="38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260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73152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= un fișier .py cu variabile, funcții, clase</a:t>
            </a:r>
            <a:endParaRPr lang="en-US" sz="160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importă în alt program, pentru a reutiliza codul</a:t>
            </a:r>
            <a:endParaRPr lang="en-US" sz="160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încarcă o singură dată, chiar dacă îl importăm de mai multe ori</a:t>
            </a:r>
            <a:endParaRPr lang="en-US" sz="160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îl caută în folderele din sys.path</a:t>
            </a:r>
            <a:endParaRPr lang="en-US" sz="160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Avantaj: program împărțit în piese mici, testate separat</a:t>
            </a:r>
            <a:endParaRPr lang="en-US" sz="1600"/>
          </a:p>
        </p:txBody>
      </p:sp>
      <p:sp>
        <p:nvSpPr>
          <p:cNvPr id="5" name="Shape 3"/>
          <p:cNvSpPr/>
          <p:nvPr/>
        </p:nvSpPr>
        <p:spPr>
          <a:xfrm>
            <a:off x="4389120" y="1143000"/>
            <a:ext cx="4297680" cy="2743200"/>
          </a:xfrm>
          <a:prstGeom prst="roundRect">
            <a:avLst>
              <a:gd name="adj" fmla="val 2667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26280" y="1234440"/>
            <a:ext cx="4023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utils.py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salut(nume):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f"Salut, {nume}!"</a:t>
            </a:r>
            <a:endParaRPr lang="en-US" sz="1300"/>
          </a:p>
          <a:p>
            <a:pPr marL="0" indent="0">
              <a:buNone/>
            </a:pP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main.py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utils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print(utils.salut("Ana"))</a:t>
            </a:r>
            <a:endParaRPr lang="en-US" sz="1300"/>
          </a:p>
          <a:p>
            <a:pPr marL="0" indent="0">
              <a:buNone/>
            </a:pP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sys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print(sys.path)  # unde caută Python</a:t>
            </a:r>
            <a:endParaRPr lang="en-US" sz="13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Moduri de a importa</a:t>
            </a:r>
            <a:endParaRPr lang="en-US" sz="260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73152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math: avem nevoie de prefix</a:t>
            </a:r>
            <a:endParaRPr lang="en-US" sz="160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math import sqrt, pi: doar numele alese</a:t>
            </a:r>
            <a:endParaRPr lang="en-US" sz="160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math import *: totul, riscant (conflicte de nume)</a:t>
            </a:r>
            <a:endParaRPr lang="en-US" sz="160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math as mt: alias scurt</a:t>
            </a:r>
            <a:endParaRPr lang="en-US" sz="1600"/>
          </a:p>
        </p:txBody>
      </p:sp>
      <p:sp>
        <p:nvSpPr>
          <p:cNvPr id="5" name="Shape 3"/>
          <p:cNvSpPr/>
          <p:nvPr/>
        </p:nvSpPr>
        <p:spPr>
          <a:xfrm>
            <a:off x="4389120" y="1143000"/>
            <a:ext cx="4297680" cy="2743200"/>
          </a:xfrm>
          <a:prstGeom prst="roundRect">
            <a:avLst>
              <a:gd name="adj" fmla="val 2667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26280" y="1234440"/>
            <a:ext cx="4023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math</a:t>
            </a:r>
            <a:endParaRPr lang="en-US" sz="1300"/>
          </a:p>
          <a:p>
            <a:pPr marL="0" indent="0">
              <a:buNone/>
            </a:pPr>
            <a:r>
              <a:rPr lang="en-US" sz="130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math.sqrt</a:t>
            </a:r>
            <a:r>
              <a:rPr lang="en-US" sz="13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(16)       # 4.0</a:t>
            </a:r>
            <a:endParaRPr lang="en-US" sz="1300"/>
          </a:p>
          <a:p>
            <a:pPr marL="0" indent="0">
              <a:buNone/>
            </a:pP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math import sqrt, pi</a:t>
            </a:r>
            <a:endParaRPr lang="en-US" sz="1300"/>
          </a:p>
          <a:p>
            <a:r>
              <a:rPr lang="en-US" sz="13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sqrt(16)            # 4.0</a:t>
            </a:r>
            <a:endParaRPr lang="en-US" sz="1300"/>
          </a:p>
          <a:p>
            <a:endParaRPr lang="en-US" sz="1300"/>
          </a:p>
          <a:p>
            <a:r>
              <a:rPr lang="en-US" sz="13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math import *  # </a:t>
            </a:r>
            <a:r>
              <a:rPr lang="en-US" sz="130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evitați</a:t>
            </a:r>
            <a:endParaRPr lang="en-US" sz="1300"/>
          </a:p>
          <a:p>
            <a:pPr marL="0" indent="0">
              <a:buNone/>
            </a:pP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math as mt</a:t>
            </a:r>
            <a:endParaRPr lang="en-US" sz="1300"/>
          </a:p>
          <a:p>
            <a:pPr marL="0" indent="0">
              <a:buNone/>
            </a:pPr>
            <a:r>
              <a:rPr lang="en-US" sz="130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mt.sqrt</a:t>
            </a:r>
            <a:r>
              <a:rPr lang="en-US" sz="13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(16)</a:t>
            </a:r>
            <a:endParaRPr lang="en-US" sz="1300"/>
          </a:p>
        </p:txBody>
      </p:sp>
      <p:sp>
        <p:nvSpPr>
          <p:cNvPr id="7" name="Shape 5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4023360"/>
            <a:ext cx="64008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40233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Întrebare: </a:t>
            </a: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import ați alege dacă două module au o funcție cu același nume?</a:t>
            </a:r>
            <a:endParaRPr lang="en-US" sz="14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din biblioteca standard</a:t>
            </a:r>
            <a:endParaRPr lang="en-US" sz="260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73152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sys: informații despre interpretor (sys.version)</a:t>
            </a:r>
            <a:endParaRPr lang="en-US" sz="160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os: sistemul de operare (os.listdir())</a:t>
            </a:r>
            <a:endParaRPr lang="en-US" sz="160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datetime: data și ora curentă</a:t>
            </a:r>
            <a:endParaRPr lang="en-US" sz="160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 trebuie instalate, vin cu Python</a:t>
            </a:r>
            <a:endParaRPr lang="en-US" sz="1600"/>
          </a:p>
        </p:txBody>
      </p:sp>
      <p:sp>
        <p:nvSpPr>
          <p:cNvPr id="5" name="Shape 3"/>
          <p:cNvSpPr/>
          <p:nvPr/>
        </p:nvSpPr>
        <p:spPr>
          <a:xfrm>
            <a:off x="4389120" y="1143000"/>
            <a:ext cx="4297680" cy="3474720"/>
          </a:xfrm>
          <a:prstGeom prst="roundRect">
            <a:avLst>
              <a:gd name="adj" fmla="val 210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387068" y="1234440"/>
            <a:ext cx="4023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sys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math import sqrt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os import listdir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datetime as dt</a:t>
            </a:r>
            <a:endParaRPr lang="en-US" sz="1300"/>
          </a:p>
          <a:p>
            <a:pPr marL="0" indent="0">
              <a:buNone/>
            </a:pP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print(sys.version)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print(sqrt(16))            # 4.0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print(listdir())           # fișierele din folder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print(dt.datetime.now())   # data și ora</a:t>
            </a:r>
            <a:endParaRPr lang="en-US" sz="13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Modulul random</a:t>
            </a:r>
            <a:endParaRPr lang="en-US" sz="260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73152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50723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choice(secvență): un element aleator</a:t>
            </a:r>
            <a:endParaRPr lang="en-US" sz="160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randint(a, b): întreg între a și b, ambele incluse</a:t>
            </a:r>
            <a:endParaRPr lang="en-US" sz="160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random(): float între 0 și 1</a:t>
            </a:r>
            <a:endParaRPr lang="en-US" sz="1600"/>
          </a:p>
        </p:txBody>
      </p:sp>
      <p:sp>
        <p:nvSpPr>
          <p:cNvPr id="5" name="Shape 3"/>
          <p:cNvSpPr/>
          <p:nvPr/>
        </p:nvSpPr>
        <p:spPr>
          <a:xfrm>
            <a:off x="4389120" y="1143000"/>
            <a:ext cx="4297680" cy="2743200"/>
          </a:xfrm>
          <a:prstGeom prst="roundRect">
            <a:avLst>
              <a:gd name="adj" fmla="val 2667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26280" y="1234440"/>
            <a:ext cx="4023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random</a:t>
            </a:r>
            <a:endParaRPr lang="en-US" sz="1400"/>
          </a:p>
          <a:p>
            <a:pPr marL="0" indent="0">
              <a:buNone/>
            </a:pP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[1, 2, 3, 4, 5, 6]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random.choice(l)        # ex: 3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random.randint(5, 15)   # ex: 8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random.randint(-10, -2) # ex: -5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random.random()         # ex: 0.5717</a:t>
            </a:r>
            <a:endParaRPr lang="en-US" sz="1400"/>
          </a:p>
        </p:txBody>
      </p:sp>
      <p:sp>
        <p:nvSpPr>
          <p:cNvPr id="7" name="Shape 5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4023360"/>
            <a:ext cx="64008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40233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Întrebare: </a:t>
            </a: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valori poate da random.randint(1, 3)?</a:t>
            </a:r>
            <a:endParaRPr lang="en-US" sz="14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448EFA8F-696E-5084-9CAB-2156D2A12CAD}"/>
              </a:ext>
            </a:extLst>
          </p:cNvPr>
          <p:cNvSpPr txBox="1"/>
          <p:nvPr/>
        </p:nvSpPr>
        <p:spPr>
          <a:xfrm>
            <a:off x="685800" y="4231881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                                                                   (1, 2 sau 3)</a:t>
            </a:r>
            <a:endParaRPr 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Pachete (packages)</a:t>
            </a:r>
            <a:endParaRPr lang="en-US" sz="260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73152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Pachet = folder cu mai multe module (și alte foldere)</a:t>
            </a:r>
            <a:endParaRPr lang="en-US" sz="160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Conține de obicei __init__.py, gol sau cu cod rulat la import</a:t>
            </a:r>
            <a:endParaRPr lang="en-US" sz="160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Importăm cu . între nume</a:t>
            </a:r>
            <a:endParaRPr lang="en-US" sz="160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Exemple: numpy, pandas, matplotlib, scikit-learn</a:t>
            </a:r>
            <a:endParaRPr lang="en-US" sz="1600"/>
          </a:p>
        </p:txBody>
      </p:sp>
      <p:sp>
        <p:nvSpPr>
          <p:cNvPr id="5" name="Shape 3"/>
          <p:cNvSpPr/>
          <p:nvPr/>
        </p:nvSpPr>
        <p:spPr>
          <a:xfrm>
            <a:off x="4389120" y="1143000"/>
            <a:ext cx="4297680" cy="2743200"/>
          </a:xfrm>
          <a:prstGeom prst="roundRect">
            <a:avLst>
              <a:gd name="adj" fmla="val 2667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26280" y="1234440"/>
            <a:ext cx="4023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proiect/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main.py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utils/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__init__.py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math_tools.py</a:t>
            </a:r>
            <a:endParaRPr lang="en-US" sz="1300"/>
          </a:p>
          <a:p>
            <a:pPr marL="0" indent="0">
              <a:buNone/>
            </a:pP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în main.py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utils.math_tools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utils import math_tools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utils.math_tools import f</a:t>
            </a:r>
            <a:endParaRPr lang="en-US" sz="1300"/>
          </a:p>
        </p:txBody>
      </p:sp>
      <p:sp>
        <p:nvSpPr>
          <p:cNvPr id="7" name="Shape 5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4023360"/>
            <a:ext cx="64008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40233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reținut: </a:t>
            </a: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= fișier; pachet = folder de module.</a:t>
            </a:r>
            <a:endParaRPr lang="en-US" sz="14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pip: instalarea pachetelor</a:t>
            </a:r>
            <a:endParaRPr lang="en-US" sz="260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73152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Instalează pachete din Python Package Index</a:t>
            </a:r>
            <a:endParaRPr lang="en-US" sz="160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list: ce avem instalat</a:t>
            </a:r>
            <a:endParaRPr lang="en-US" sz="160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freeze &gt; requirements.txt: salvează lista cu versiuni</a:t>
            </a:r>
            <a:endParaRPr lang="en-US" sz="160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-r requirements.txt: reinstalează tot</a:t>
            </a:r>
            <a:endParaRPr lang="en-US" sz="1600"/>
          </a:p>
        </p:txBody>
      </p:sp>
      <p:sp>
        <p:nvSpPr>
          <p:cNvPr id="5" name="Shape 3"/>
          <p:cNvSpPr/>
          <p:nvPr/>
        </p:nvSpPr>
        <p:spPr>
          <a:xfrm>
            <a:off x="4389120" y="1143000"/>
            <a:ext cx="4297680" cy="2743200"/>
          </a:xfrm>
          <a:prstGeom prst="roundRect">
            <a:avLst>
              <a:gd name="adj" fmla="val 2667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26280" y="1234440"/>
            <a:ext cx="4023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--version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</a:t>
            </a:r>
            <a:r>
              <a:rPr lang="en-US" sz="130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nume-pachet</a:t>
            </a:r>
            <a:endParaRPr lang="en-US" sz="1300">
              <a:solidFill>
                <a:srgbClr val="1E293B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3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nume-pachet1, nume-pachet2 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--upgrade nume-pachet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uninstall nume-pachet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list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freeze &gt; requirements.txt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1300"/>
          </a:p>
        </p:txBody>
      </p:sp>
      <p:sp>
        <p:nvSpPr>
          <p:cNvPr id="7" name="Shape 5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4023360"/>
            <a:ext cx="64008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40233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reținut: </a:t>
            </a: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requirements.txt ajută colegii să aibă aceleași versiuni.</a:t>
            </a:r>
            <a:endParaRPr lang="en-US" sz="14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Clase: ideea de bază</a:t>
            </a:r>
            <a:endParaRPr lang="en-US" sz="260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73152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definește cu cuvântul class</a:t>
            </a:r>
            <a:endParaRPr lang="en-US" sz="160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Obiectul este creat pe baza planului</a:t>
            </a:r>
            <a:endParaRPr lang="en-US" sz="160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 exista mai multe clase într-un fișier</a:t>
            </a:r>
            <a:endParaRPr lang="en-US" sz="160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reprezintă obiectul curent</a:t>
            </a:r>
            <a:endParaRPr lang="en-US" sz="1600"/>
          </a:p>
        </p:txBody>
      </p:sp>
      <p:sp>
        <p:nvSpPr>
          <p:cNvPr id="5" name="Shape 3"/>
          <p:cNvSpPr/>
          <p:nvPr/>
        </p:nvSpPr>
        <p:spPr>
          <a:xfrm>
            <a:off x="4389120" y="1143000"/>
            <a:ext cx="4297680" cy="2743200"/>
          </a:xfrm>
          <a:prstGeom prst="roundRect">
            <a:avLst>
              <a:gd name="adj" fmla="val 2667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26280" y="1234440"/>
            <a:ext cx="4023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MyClass: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"""O clasă simplă"""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 = 12345</a:t>
            </a:r>
            <a:endParaRPr lang="en-US" sz="1300"/>
          </a:p>
          <a:p>
            <a:pPr marL="0" indent="0">
              <a:buNone/>
            </a:pP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f(self):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"hello world"</a:t>
            </a:r>
            <a:endParaRPr lang="en-US" sz="1300"/>
          </a:p>
          <a:p>
            <a:pPr marL="0" indent="0">
              <a:buNone/>
            </a:pP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print(MyClass.i)        # 12345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print(type(MyClass.f))  # function</a:t>
            </a:r>
            <a:endParaRPr lang="en-US" sz="13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Obiectul clasă: atribute și instanțiere</a:t>
            </a:r>
            <a:endParaRPr lang="en-US" sz="260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73152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7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Două operații: referire la atribut (MyClass.i) și instanțiere</a:t>
            </a:r>
            <a:endParaRPr lang="en-US" sz="170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7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Instanțierea arată ca apelul unei funcții</a:t>
            </a:r>
            <a:endParaRPr lang="en-US" sz="170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7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x șterge obiectul</a:t>
            </a:r>
            <a:endParaRPr lang="en-US" sz="1700"/>
          </a:p>
        </p:txBody>
      </p:sp>
      <p:sp>
        <p:nvSpPr>
          <p:cNvPr id="5" name="Shape 3"/>
          <p:cNvSpPr/>
          <p:nvPr/>
        </p:nvSpPr>
        <p:spPr>
          <a:xfrm>
            <a:off x="4389120" y="1143000"/>
            <a:ext cx="4297680" cy="3474720"/>
          </a:xfrm>
          <a:prstGeom prst="roundRect">
            <a:avLst>
              <a:gd name="adj" fmla="val 210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26280" y="1234440"/>
            <a:ext cx="4023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MyClass()      # creează un obiect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print(x.i)         # 12345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print(x.f())       # "hello world"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 x              # șterge obiectul</a:t>
            </a:r>
            <a:endParaRPr lang="en-US" sz="15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Constructorul __init__</a:t>
            </a:r>
            <a:endParaRPr lang="en-US" sz="260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73152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Metodă</a:t>
            </a:r>
            <a:r>
              <a:rPr lang="en-US" sz="16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specială</a:t>
            </a:r>
            <a:r>
              <a:rPr lang="en-US" sz="16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6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apelată</a:t>
            </a:r>
            <a:r>
              <a:rPr lang="en-US" sz="16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automat la </a:t>
            </a:r>
            <a:r>
              <a:rPr lang="en-US" sz="16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creare</a:t>
            </a:r>
            <a:endParaRPr lang="en-US" sz="1600" err="1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Echivalentul</a:t>
            </a:r>
            <a:r>
              <a:rPr lang="en-US" sz="16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constructorului</a:t>
            </a:r>
            <a:r>
              <a:rPr lang="en-US" sz="16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din Java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Setează</a:t>
            </a:r>
            <a:r>
              <a:rPr lang="en-US" sz="16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proprietățile</a:t>
            </a:r>
            <a:r>
              <a:rPr lang="en-US" sz="16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inițiale</a:t>
            </a:r>
            <a:r>
              <a:rPr lang="en-US" sz="16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ale </a:t>
            </a:r>
            <a:r>
              <a:rPr lang="en-US" sz="16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obiectului</a:t>
            </a:r>
            <a:endParaRPr lang="en-US" sz="1600" err="1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Primul</a:t>
            </a:r>
            <a:r>
              <a:rPr lang="en-US" sz="16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parametru</a:t>
            </a:r>
            <a:r>
              <a:rPr lang="en-US" sz="16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este</a:t>
            </a:r>
            <a:r>
              <a:rPr lang="en-US" sz="16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mereu</a:t>
            </a:r>
            <a:r>
              <a:rPr lang="en-US" sz="16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self</a:t>
            </a:r>
            <a:endParaRPr lang="en-US" sz="1600"/>
          </a:p>
        </p:txBody>
      </p:sp>
      <p:sp>
        <p:nvSpPr>
          <p:cNvPr id="5" name="Shape 3"/>
          <p:cNvSpPr/>
          <p:nvPr/>
        </p:nvSpPr>
        <p:spPr>
          <a:xfrm>
            <a:off x="4389120" y="1143000"/>
            <a:ext cx="4297680" cy="2743200"/>
          </a:xfrm>
          <a:prstGeom prst="roundRect">
            <a:avLst>
              <a:gd name="adj" fmla="val 2667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26280" y="1234440"/>
            <a:ext cx="4023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Person: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def __</a:t>
            </a:r>
            <a:r>
              <a:rPr lang="en-US" sz="1300" err="1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init</a:t>
            </a:r>
            <a:r>
              <a:rPr lang="en-US" sz="130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__(self, name, age):</a:t>
            </a:r>
            <a:endParaRPr lang="en-US" sz="1300">
              <a:latin typeface="Consolas"/>
            </a:endParaRPr>
          </a:p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self.name = name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300" err="1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self.age</a:t>
            </a:r>
            <a:r>
              <a:rPr lang="en-US" sz="130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 = age</a:t>
            </a:r>
            <a:endParaRPr lang="en-US" sz="1300">
              <a:latin typeface="Consolas"/>
            </a:endParaRPr>
          </a:p>
          <a:p>
            <a:pPr marL="0" indent="0">
              <a:buNone/>
            </a:pP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f(self):</a:t>
            </a:r>
            <a:endParaRPr lang="en-US" sz="1300"/>
          </a:p>
          <a:p>
            <a:r>
              <a:rPr lang="en-US" sz="1300">
                <a:solidFill>
                  <a:srgbClr val="1E293B"/>
                </a:solidFill>
                <a:latin typeface="Consolas"/>
              </a:rPr>
              <a:t>        return "Sunt din </a:t>
            </a:r>
            <a:r>
              <a:rPr lang="en-US" sz="1300" err="1">
                <a:solidFill>
                  <a:srgbClr val="1E293B"/>
                </a:solidFill>
                <a:latin typeface="Consolas"/>
              </a:rPr>
              <a:t>serialul</a:t>
            </a:r>
            <a:r>
              <a:rPr lang="en-US" sz="1300">
                <a:solidFill>
                  <a:srgbClr val="1E293B"/>
                </a:solidFill>
                <a:latin typeface="Consolas"/>
              </a:rPr>
              <a:t> Lost."</a:t>
            </a:r>
            <a:endParaRPr lang="en-US" sz="1300">
              <a:ea typeface="Calibri"/>
              <a:cs typeface="Calibri"/>
            </a:endParaRPr>
          </a:p>
          <a:p>
            <a:pPr marL="0" indent="0">
              <a:buNone/>
            </a:pP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 = Person("James", 39)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print(p1.name)   # James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print(p1.age)    # 39</a:t>
            </a:r>
            <a:endParaRPr lang="en-US" sz="1300"/>
          </a:p>
        </p:txBody>
      </p:sp>
      <p:sp>
        <p:nvSpPr>
          <p:cNvPr id="7" name="Shape 5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4023360"/>
            <a:ext cx="64008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40233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Întrebare: </a:t>
            </a: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se întâmplă dacă uităm self în def __</a:t>
            </a:r>
            <a:r>
              <a:rPr lang="en-US" sz="140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</a:t>
            </a: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__?</a:t>
            </a:r>
            <a:endParaRPr lang="en-US" sz="14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51A75FD2-CA40-C79B-BD99-287FD365DD6E}"/>
              </a:ext>
            </a:extLst>
          </p:cNvPr>
          <p:cNvSpPr txBox="1"/>
          <p:nvPr/>
        </p:nvSpPr>
        <p:spPr>
          <a:xfrm>
            <a:off x="593124" y="3791671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                                                                             </a:t>
            </a: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(TypeError)</a:t>
            </a:r>
            <a:endParaRPr 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Atribute de date și metode</a:t>
            </a:r>
            <a:endParaRPr lang="en-US" sz="260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73152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Atributele se pot adăuga, modifica, șterge după creare</a:t>
            </a:r>
            <a:endParaRPr lang="en-US" sz="160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__dict__ sau vars() arată atributele și valorile</a:t>
            </a:r>
            <a:endParaRPr lang="en-US" sz="160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Metoda = funcție care aparține obiectului</a:t>
            </a:r>
            <a:endParaRPr lang="en-US" sz="1600"/>
          </a:p>
        </p:txBody>
      </p:sp>
      <p:sp>
        <p:nvSpPr>
          <p:cNvPr id="5" name="Shape 3"/>
          <p:cNvSpPr/>
          <p:nvPr/>
        </p:nvSpPr>
        <p:spPr>
          <a:xfrm>
            <a:off x="4389120" y="1143000"/>
            <a:ext cx="4297680" cy="3474720"/>
          </a:xfrm>
          <a:prstGeom prst="roundRect">
            <a:avLst>
              <a:gd name="adj" fmla="val 210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26280" y="1234440"/>
            <a:ext cx="4023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p1.job = "salesman"   # </a:t>
            </a:r>
            <a:r>
              <a:rPr lang="en-US" sz="1300" err="1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adaugă</a:t>
            </a:r>
            <a:endParaRPr lang="en-US" sz="1300" err="1">
              <a:latin typeface="Consolas"/>
            </a:endParaRPr>
          </a:p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p1.name = "Sawyer"    # </a:t>
            </a:r>
            <a:r>
              <a:rPr lang="en-US" sz="1300" err="1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modifică</a:t>
            </a:r>
            <a:endParaRPr lang="en-US" sz="1300" err="1">
              <a:latin typeface="Consolas"/>
            </a:endParaRPr>
          </a:p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print(p1.__dict__)    # </a:t>
            </a:r>
            <a:r>
              <a:rPr lang="en-US" sz="1300" err="1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toate</a:t>
            </a:r>
            <a:r>
              <a:rPr lang="en-US" sz="130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err="1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atributele</a:t>
            </a:r>
            <a:endParaRPr lang="en-US" sz="1300" err="1">
              <a:latin typeface="Consolas"/>
            </a:endParaRPr>
          </a:p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print(vars(p1))       # la </a:t>
            </a:r>
            <a:r>
              <a:rPr lang="en-US" sz="1300" err="1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fel</a:t>
            </a:r>
            <a:endParaRPr lang="en-US" sz="1300" err="1">
              <a:latin typeface="Consolas"/>
            </a:endParaRPr>
          </a:p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del p1.job            # </a:t>
            </a:r>
            <a:r>
              <a:rPr lang="en-US" sz="1300" err="1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șterge</a:t>
            </a:r>
            <a:endParaRPr lang="en-US" sz="1300" err="1">
              <a:latin typeface="Consolas"/>
            </a:endParaRPr>
          </a:p>
          <a:p>
            <a:pPr marL="0" indent="0">
              <a:buNone/>
            </a:pP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p1.f()                # </a:t>
            </a:r>
            <a:r>
              <a:rPr lang="en-US" sz="1300" err="1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apel</a:t>
            </a:r>
            <a:r>
              <a:rPr lang="en-US" sz="130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 de </a:t>
            </a:r>
            <a:r>
              <a:rPr lang="en-US" sz="1300" err="1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metodă</a:t>
            </a:r>
            <a:endParaRPr lang="en-US" sz="1300" err="1">
              <a:latin typeface="Consolas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Metodă vs funcție: rolul lui self</a:t>
            </a:r>
            <a:endParaRPr lang="en-US" sz="260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73152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7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p1.f() trimite automat p1 ca prim argument</a:t>
            </a:r>
            <a:endParaRPr lang="en-US" sz="170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7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Person.f(p1) face exact același lucru</a:t>
            </a:r>
            <a:endParaRPr lang="en-US" sz="170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7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≈ this din Java</a:t>
            </a:r>
            <a:endParaRPr lang="en-US" sz="170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7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Person.f e funcție; p1.f e metodă legată de obiect</a:t>
            </a:r>
            <a:endParaRPr lang="en-US" sz="1700"/>
          </a:p>
        </p:txBody>
      </p:sp>
      <p:sp>
        <p:nvSpPr>
          <p:cNvPr id="5" name="Shape 3"/>
          <p:cNvSpPr/>
          <p:nvPr/>
        </p:nvSpPr>
        <p:spPr>
          <a:xfrm>
            <a:off x="4389120" y="1143000"/>
            <a:ext cx="4297680" cy="2743200"/>
          </a:xfrm>
          <a:prstGeom prst="roundRect">
            <a:avLst>
              <a:gd name="adj" fmla="val 2667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26280" y="1234440"/>
            <a:ext cx="4023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Person.f(p1)   # apel ca funcție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p1.f()         # apel ca metodă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rezultat identic</a:t>
            </a:r>
            <a:endParaRPr lang="en-US" sz="15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Variabile de clasă vs de instanță</a:t>
            </a:r>
            <a:endParaRPr lang="en-US" sz="260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73152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clasă: definite în clasă, comune tuturor obiectelor</a:t>
            </a:r>
            <a:endParaRPr lang="en-US" sz="160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instanță: definite cu self, unice fiecărui obiect</a:t>
            </a:r>
            <a:endParaRPr lang="en-US" sz="1600"/>
          </a:p>
        </p:txBody>
      </p:sp>
      <p:sp>
        <p:nvSpPr>
          <p:cNvPr id="5" name="Shape 3"/>
          <p:cNvSpPr/>
          <p:nvPr/>
        </p:nvSpPr>
        <p:spPr>
          <a:xfrm>
            <a:off x="4389120" y="1143000"/>
            <a:ext cx="4297680" cy="3474720"/>
          </a:xfrm>
          <a:prstGeom prst="roundRect">
            <a:avLst>
              <a:gd name="adj" fmla="val 210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26280" y="1234440"/>
            <a:ext cx="4023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Dog: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kind = "canine"        # de clasă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name):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self.name = name   # de instanță</a:t>
            </a:r>
            <a:endParaRPr lang="en-US" sz="1300"/>
          </a:p>
          <a:p>
            <a:pPr marL="0" indent="0">
              <a:buNone/>
            </a:pP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Dog("Fido"); e = Dog("Buddy")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d.kind   # "canine"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e.kind   # "canine"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d.name   # "Fido"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e.name   # "Buddy"</a:t>
            </a:r>
            <a:endParaRPr lang="en-US" sz="13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Capcană: listă ca variabilă de clasă</a:t>
            </a:r>
            <a:endParaRPr lang="en-US" sz="260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73152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listă definită în clasă este partajată de toate obiectele</a:t>
            </a:r>
            <a:endParaRPr lang="en-US" sz="160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Soluția: o creăm în __init__ cu self.tricks = []</a:t>
            </a:r>
            <a:endParaRPr lang="en-US" sz="1600"/>
          </a:p>
        </p:txBody>
      </p:sp>
      <p:sp>
        <p:nvSpPr>
          <p:cNvPr id="5" name="Shape 3"/>
          <p:cNvSpPr/>
          <p:nvPr/>
        </p:nvSpPr>
        <p:spPr>
          <a:xfrm>
            <a:off x="4389120" y="1143000"/>
            <a:ext cx="4297680" cy="2743200"/>
          </a:xfrm>
          <a:prstGeom prst="roundRect">
            <a:avLst>
              <a:gd name="adj" fmla="val 2667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26280" y="1234440"/>
            <a:ext cx="4023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Dog: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tricks = []        # greșit!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name):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self.name = name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add_trick(self, t):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self.tricks.append(t)</a:t>
            </a:r>
            <a:endParaRPr lang="en-US" sz="1200"/>
          </a:p>
          <a:p>
            <a:pPr marL="0" indent="0">
              <a:buNone/>
            </a:pP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Dog("Fido"); e = Dog("Buddy")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d.add_trick("roll over")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e.add_trick("play dead")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print(d.tricks)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4023360"/>
            <a:ext cx="64008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40233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Întrebare: </a:t>
            </a: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afișează </a:t>
            </a:r>
            <a:r>
              <a:rPr lang="en-US" sz="140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d.tricks</a:t>
            </a: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2603F5D3-5522-37CB-4547-DE4C5C90FEE3}"/>
              </a:ext>
            </a:extLst>
          </p:cNvPr>
          <p:cNvSpPr txBox="1"/>
          <p:nvPr/>
        </p:nvSpPr>
        <p:spPr>
          <a:xfrm>
            <a:off x="685800" y="4162654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                             </a:t>
            </a: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(ambele trucuri, lista e comună)</a:t>
            </a:r>
            <a:endParaRPr 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Moștenire</a:t>
            </a:r>
            <a:endParaRPr lang="en-US" sz="260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73152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clasă preia atributele și metodele alteia</a:t>
            </a:r>
            <a:endParaRPr lang="en-US" sz="160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Copil(Părinte): sintaxa</a:t>
            </a:r>
            <a:endParaRPr lang="en-US" sz="160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Evităm duplicarea codului</a:t>
            </a:r>
            <a:endParaRPr lang="en-US" sz="160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Părinte în alt modul: modul.Părinte</a:t>
            </a:r>
            <a:endParaRPr lang="en-US" sz="1600"/>
          </a:p>
        </p:txBody>
      </p:sp>
      <p:sp>
        <p:nvSpPr>
          <p:cNvPr id="5" name="Shape 3"/>
          <p:cNvSpPr/>
          <p:nvPr/>
        </p:nvSpPr>
        <p:spPr>
          <a:xfrm>
            <a:off x="4389120" y="1143000"/>
            <a:ext cx="4297680" cy="3474720"/>
          </a:xfrm>
          <a:prstGeom prst="roundRect">
            <a:avLst>
              <a:gd name="adj" fmla="val 210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26280" y="1234440"/>
            <a:ext cx="4023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Animal: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name):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self.name = name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speak(self):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"..."</a:t>
            </a:r>
            <a:endParaRPr lang="en-US" sz="1200"/>
          </a:p>
          <a:p>
            <a:pPr marL="0" indent="0">
              <a:buNone/>
            </a:pP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Dog(Animal):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speak(self):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"Ham!"</a:t>
            </a:r>
            <a:endParaRPr lang="en-US" sz="1200"/>
          </a:p>
          <a:p>
            <a:pPr marL="0" indent="0">
              <a:buNone/>
            </a:pP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Dog("Fido")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print(d.name)    # Fido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print(d.speak()) # Ham!</a:t>
            </a:r>
            <a:endParaRPr lang="en-US" sz="12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Moștenire: __init__ și super()</a:t>
            </a:r>
            <a:endParaRPr lang="en-US" sz="260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73152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__init__ din copil îl suprascrie pe cel din părinte</a:t>
            </a:r>
            <a:endParaRPr lang="en-US" sz="160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Păstrăm părintele cu super() sau cu Părinte.__init__</a:t>
            </a:r>
            <a:endParaRPr lang="en-US" sz="160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Apoi adăugăm atribute noi</a:t>
            </a:r>
            <a:endParaRPr lang="en-US" sz="1600"/>
          </a:p>
        </p:txBody>
      </p:sp>
      <p:sp>
        <p:nvSpPr>
          <p:cNvPr id="5" name="Shape 3"/>
          <p:cNvSpPr/>
          <p:nvPr/>
        </p:nvSpPr>
        <p:spPr>
          <a:xfrm>
            <a:off x="4389120" y="1143000"/>
            <a:ext cx="4297680" cy="2743200"/>
          </a:xfrm>
          <a:prstGeom prst="roundRect">
            <a:avLst>
              <a:gd name="adj" fmla="val 2667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26280" y="1234440"/>
            <a:ext cx="4023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Child(Parent):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fname, lname):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super().__init__(fname, lname)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self.age = 39</a:t>
            </a:r>
            <a:endParaRPr lang="en-US" sz="1400"/>
          </a:p>
          <a:p>
            <a:pPr marL="0" indent="0">
              <a:buNone/>
            </a:pP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sau: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Parent.__init__(self, fname, lname)</a:t>
            </a:r>
            <a:endParaRPr lang="en-US" sz="1400"/>
          </a:p>
        </p:txBody>
      </p:sp>
      <p:sp>
        <p:nvSpPr>
          <p:cNvPr id="7" name="Shape 5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4023360"/>
            <a:ext cx="64008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40233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reținut: </a:t>
            </a: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Preferați super(): mai scurt și nu repetă numele părintelui.</a:t>
            </a:r>
            <a:endParaRPr lang="en-US" sz="14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Suprascriere (overriding)</a:t>
            </a:r>
            <a:endParaRPr lang="en-US" sz="260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73152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Copilul redefinește o metodă moștenită, cu același nume</a:t>
            </a:r>
            <a:endParaRPr lang="en-US" sz="160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execută versiunea din copil, nu cea din părinte</a:t>
            </a:r>
            <a:endParaRPr lang="en-US" sz="160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Dacă vrem și varianta părintelui: super().metoda()</a:t>
            </a:r>
            <a:endParaRPr lang="en-US" sz="160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Fără redefinire, copilul folosește metoda părintelui</a:t>
            </a:r>
            <a:endParaRPr lang="en-US" sz="1600"/>
          </a:p>
        </p:txBody>
      </p:sp>
      <p:sp>
        <p:nvSpPr>
          <p:cNvPr id="5" name="Shape 3"/>
          <p:cNvSpPr/>
          <p:nvPr/>
        </p:nvSpPr>
        <p:spPr>
          <a:xfrm>
            <a:off x="4389120" y="1143000"/>
            <a:ext cx="4297680" cy="2743200"/>
          </a:xfrm>
          <a:prstGeom prst="roundRect">
            <a:avLst>
              <a:gd name="adj" fmla="val 2667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26280" y="1234440"/>
            <a:ext cx="4023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Animal: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speak(self):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"..."</a:t>
            </a:r>
            <a:endParaRPr lang="en-US" sz="1200"/>
          </a:p>
          <a:p>
            <a:pPr marL="0" indent="0">
              <a:buNone/>
            </a:pP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Dog(Animal):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speak(self):      # suprascrie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"Ham!"</a:t>
            </a:r>
            <a:endParaRPr lang="en-US" sz="1200"/>
          </a:p>
          <a:p>
            <a:pPr marL="0" indent="0">
              <a:buNone/>
            </a:pP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Cat(Animal):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pass                  # moștenește</a:t>
            </a:r>
            <a:endParaRPr lang="en-US" sz="1200"/>
          </a:p>
          <a:p>
            <a:pPr marL="0" indent="0">
              <a:buNone/>
            </a:pP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Dog().speak()   # "Ham!"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Cat().speak()   # "..."</a:t>
            </a:r>
            <a:endParaRPr lang="en-US" sz="12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isinstance și issubclass</a:t>
            </a:r>
            <a:endParaRPr lang="en-US" sz="260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73152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isinstance(obiect, Clasă): obiectul este instanță a clasei?   issubclass(Clasă, Clasă): relație de moștenire</a:t>
            </a:r>
            <a:endParaRPr lang="en-US" sz="1400"/>
          </a:p>
        </p:txBody>
      </p:sp>
      <p:sp>
        <p:nvSpPr>
          <p:cNvPr id="5" name="Text 3"/>
          <p:cNvSpPr txBox="1"/>
          <p:nvPr/>
        </p:nvSpPr>
        <p:spPr>
          <a:xfrm>
            <a:off x="457200" y="1600200"/>
            <a:ext cx="3108960" cy="914400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Animal: pass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Dog(Animal): pass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Student: pass</a:t>
            </a:r>
            <a:endParaRPr lang="en-US" sz="120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600200"/>
          <a:ext cx="4846320" cy="2176272"/>
        </p:xfrm>
        <a:graphic>
          <a:graphicData uri="http://schemas.openxmlformats.org/drawingml/2006/table">
            <a:tbl>
              <a:tblPr/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Apel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Rezultat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isinstance(Dog(), Animal)</a:t>
                      </a:r>
                      <a:endParaRPr lang="en-US" sz="12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2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isinstance(Animal(), Dog)</a:t>
                      </a:r>
                      <a:endParaRPr lang="en-US" sz="12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12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isinstance(Student(), Animal)</a:t>
                      </a:r>
                      <a:endParaRPr lang="en-US" sz="12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12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issubclass(Dog, Animal)</a:t>
                      </a:r>
                      <a:endParaRPr lang="en-US" sz="12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2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issubclass(Animal, Dog)</a:t>
                      </a:r>
                      <a:endParaRPr lang="en-US" sz="12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12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issubclass(Dog, Dog)</a:t>
                      </a:r>
                      <a:endParaRPr lang="en-US" sz="12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2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câine este și animal, dar un animal nu este neapărat câine. O clasă este subclasă a ei înseși.</a:t>
            </a:r>
            <a:endParaRPr lang="en-US" sz="14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Moștenire multiplă</a:t>
            </a:r>
            <a:endParaRPr lang="en-US" sz="260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73152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clasă poate avea mai </a:t>
            </a:r>
            <a:r>
              <a:rPr lang="en-US" sz="160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mulți</a:t>
            </a:r>
            <a:r>
              <a:rPr lang="en-US" sz="16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părinți</a:t>
            </a:r>
            <a:endParaRPr lang="en-US" sz="1600"/>
          </a:p>
        </p:txBody>
      </p:sp>
      <p:sp>
        <p:nvSpPr>
          <p:cNvPr id="5" name="Shape 3"/>
          <p:cNvSpPr/>
          <p:nvPr/>
        </p:nvSpPr>
        <p:spPr>
          <a:xfrm>
            <a:off x="4389120" y="1143000"/>
            <a:ext cx="4297680" cy="2743200"/>
          </a:xfrm>
          <a:prstGeom prst="roundRect">
            <a:avLst>
              <a:gd name="adj" fmla="val 2667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26280" y="1234440"/>
            <a:ext cx="4023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Child(Parent1, Parent2, Parent3):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</a:p>
        </p:txBody>
      </p:sp>
      <p:sp>
        <p:nvSpPr>
          <p:cNvPr id="7" name="Shape 5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4023360"/>
            <a:ext cx="64008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40233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err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Întrebare</a:t>
            </a:r>
            <a:r>
              <a:rPr lang="en-US" sz="14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</a:t>
            </a: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se </a:t>
            </a:r>
            <a:r>
              <a:rPr lang="ro-RO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întâmplă d</a:t>
            </a:r>
            <a:r>
              <a:rPr lang="en-US" sz="140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acă</a:t>
            </a: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Parent1 și Parent2 au </a:t>
            </a:r>
            <a:r>
              <a:rPr lang="en-US" sz="140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aceeași</a:t>
            </a: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metodă</a:t>
            </a:r>
            <a:r>
              <a:rPr lang="ro-RO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6A8C5BAD-70E3-9BF3-3368-F21AB94446FA}"/>
              </a:ext>
            </a:extLst>
          </p:cNvPr>
          <p:cNvSpPr txBox="1"/>
          <p:nvPr/>
        </p:nvSpPr>
        <p:spPr>
          <a:xfrm>
            <a:off x="457200" y="114300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700"/>
              </a:spcAft>
              <a:buSzPct val="100000"/>
            </a:pPr>
            <a:endParaRPr lang="en-US" sz="160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Căutarea</a:t>
            </a:r>
            <a:r>
              <a:rPr lang="en-US" sz="16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unui atribut: întâi în copil, apoi în Parent1 (și părinții lui), apoi în Parent2 etc.</a:t>
            </a:r>
            <a:endParaRPr lang="en-US" sz="160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Ordinea părinților contează</a:t>
            </a:r>
            <a:endParaRPr lang="en-US" sz="16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Supraîncărcare (overloading)</a:t>
            </a:r>
            <a:endParaRPr lang="en-US" sz="260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73152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nu are overloading clasic: a doua def cu același nume o înlocuiește pe prima</a:t>
            </a:r>
            <a:endParaRPr lang="en-US" sz="160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Soluție: valori implicite sau *args</a:t>
            </a:r>
            <a:endParaRPr lang="en-US" sz="160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Overloading de operatori: metode speciale (__add__, __eq__, __str__)</a:t>
            </a:r>
            <a:endParaRPr lang="en-US" sz="160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 ele, + == print() funcționează pe obiectele noastre</a:t>
            </a:r>
            <a:endParaRPr lang="en-US" sz="1600"/>
          </a:p>
        </p:txBody>
      </p:sp>
      <p:sp>
        <p:nvSpPr>
          <p:cNvPr id="5" name="Shape 3"/>
          <p:cNvSpPr/>
          <p:nvPr/>
        </p:nvSpPr>
        <p:spPr>
          <a:xfrm>
            <a:off x="4389120" y="1143000"/>
            <a:ext cx="4297680" cy="3474720"/>
          </a:xfrm>
          <a:prstGeom prst="roundRect">
            <a:avLst>
              <a:gd name="adj" fmla="val 210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26280" y="1234440"/>
            <a:ext cx="4023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Calc: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add(self, a, b=0, c=0):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a + b + c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Calc().add(1, 2)      # 3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Calc().add(1, 2, 3)   # 6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Point: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x, y):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self.x, self.y = x, y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__add__(self, o):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Point(self.x + o.x, self.y + o.y)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__str__(self):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f"({self.x}, {self.y})"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print(Point(1, 2) + Point(3, 4))</a:t>
            </a:r>
            <a:endParaRPr lang="en-US" sz="11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Variabile „private"</a:t>
            </a:r>
            <a:endParaRPr lang="en-US" sz="260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73152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 Python nu există private adevărate</a:t>
            </a:r>
            <a:endParaRPr lang="en-US" sz="160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__nume (două _ în față) este redenumit în _Clasă__nume (name mangling)</a:t>
            </a:r>
            <a:endParaRPr lang="en-US" sz="160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Convenție: _nume = „nu îl folosiți din afara clasei"</a:t>
            </a:r>
            <a:endParaRPr lang="en-US" sz="1600"/>
          </a:p>
        </p:txBody>
      </p:sp>
      <p:sp>
        <p:nvSpPr>
          <p:cNvPr id="5" name="Shape 3"/>
          <p:cNvSpPr/>
          <p:nvPr/>
        </p:nvSpPr>
        <p:spPr>
          <a:xfrm>
            <a:off x="4389120" y="1143000"/>
            <a:ext cx="4297680" cy="2743200"/>
          </a:xfrm>
          <a:prstGeom prst="roundRect">
            <a:avLst>
              <a:gd name="adj" fmla="val 2667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26280" y="1234440"/>
            <a:ext cx="4023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MyClass: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 = 1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__b = 20</a:t>
            </a:r>
            <a:endParaRPr lang="en-US" sz="1300"/>
          </a:p>
          <a:p>
            <a:pPr marL="0" indent="0">
              <a:buNone/>
            </a:pP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MyClass()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print(x.a)             # 1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print(x.__b)           # AttributeError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print(x._MyClass__b)   # 20</a:t>
            </a:r>
            <a:endParaRPr lang="en-US" sz="1300"/>
          </a:p>
        </p:txBody>
      </p:sp>
      <p:sp>
        <p:nvSpPr>
          <p:cNvPr id="7" name="Shape 5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4023360"/>
            <a:ext cx="64008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40233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Întrebare: </a:t>
            </a: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ce a dat eroare x.__b, iar x._MyClass__b a mers?</a:t>
            </a:r>
            <a:endParaRPr lang="en-US" sz="14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BE61A8513D3945A01280DF69A614CF" ma:contentTypeVersion="3" ma:contentTypeDescription="Create a new document." ma:contentTypeScope="" ma:versionID="930fb3512e3104cba1adc7d2f20b267d">
  <xsd:schema xmlns:xsd="http://www.w3.org/2001/XMLSchema" xmlns:xs="http://www.w3.org/2001/XMLSchema" xmlns:p="http://schemas.microsoft.com/office/2006/metadata/properties" xmlns:ns2="62f7c615-2685-4ed9-8457-f805c552671a" targetNamespace="http://schemas.microsoft.com/office/2006/metadata/properties" ma:root="true" ma:fieldsID="cb3f07b26883a78bfdf1f06aa74dba6d" ns2:_="">
    <xsd:import namespace="62f7c615-2685-4ed9-8457-f805c552671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f7c615-2685-4ed9-8457-f805c552671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E5B4E0D-B2A9-4DC3-B824-AC6DF5E1D475}">
  <ds:schemaRefs>
    <ds:schemaRef ds:uri="62f7c615-2685-4ed9-8457-f805c552671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D83196DB-50CD-43DE-AAF3-A92A2FF34BB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00E43A5-F2DE-4F64-BC1D-56ACBDE4C988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21</Slides>
  <Notes>21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Laborator 2 Python</dc:title>
  <dc:subject>PptxGenJS Presentation</dc:subject>
  <dc:creator>PptxGenJS</dc:creator>
  <cp:revision>1</cp:revision>
  <dcterms:created xsi:type="dcterms:W3CDTF">2026-10-10T08:05:58Z</dcterms:created>
  <dcterms:modified xsi:type="dcterms:W3CDTF">2026-10-26T19:30:18Z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0x01010028BE61A8513D3945A01280DF69A614CF</vt:lpwstr>
  </property>
</Properties>
</file>