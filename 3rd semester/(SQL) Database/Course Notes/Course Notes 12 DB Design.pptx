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259" r:id="rId4"/>
    <p:sldId id="731" r:id="rId5"/>
    <p:sldId id="732" r:id="rId6"/>
    <p:sldId id="727" r:id="rId7"/>
    <p:sldId id="733" r:id="rId8"/>
    <p:sldId id="734" r:id="rId9"/>
    <p:sldId id="735" r:id="rId10"/>
    <p:sldId id="736" r:id="rId11"/>
    <p:sldId id="737" r:id="rId12"/>
    <p:sldId id="738" r:id="rId13"/>
    <p:sldId id="739" r:id="rId14"/>
    <p:sldId id="740" r:id="rId15"/>
    <p:sldId id="741" r:id="rId16"/>
    <p:sldId id="742" r:id="rId17"/>
    <p:sldId id="743" r:id="rId18"/>
    <p:sldId id="744" r:id="rId19"/>
    <p:sldId id="745" r:id="rId20"/>
    <p:sldId id="746" r:id="rId21"/>
    <p:sldId id="747" r:id="rId22"/>
    <p:sldId id="748" r:id="rId23"/>
    <p:sldId id="749" r:id="rId24"/>
    <p:sldId id="750" r:id="rId25"/>
    <p:sldId id="751" r:id="rId26"/>
    <p:sldId id="752" r:id="rId27"/>
    <p:sldId id="753" r:id="rId28"/>
    <p:sldId id="754" r:id="rId29"/>
    <p:sldId id="755" r:id="rId30"/>
    <p:sldId id="756" r:id="rId31"/>
    <p:sldId id="757" r:id="rId32"/>
    <p:sldId id="758" r:id="rId33"/>
    <p:sldId id="759" r:id="rId34"/>
    <p:sldId id="760" r:id="rId35"/>
    <p:sldId id="763" r:id="rId36"/>
    <p:sldId id="764" r:id="rId37"/>
    <p:sldId id="765" r:id="rId38"/>
    <p:sldId id="767" r:id="rId39"/>
    <p:sldId id="769" r:id="rId40"/>
    <p:sldId id="768" r:id="rId41"/>
    <p:sldId id="766" r:id="rId42"/>
    <p:sldId id="770" r:id="rId43"/>
    <p:sldId id="771" r:id="rId44"/>
    <p:sldId id="772" r:id="rId45"/>
    <p:sldId id="773" r:id="rId46"/>
    <p:sldId id="774" r:id="rId47"/>
    <p:sldId id="775" r:id="rId48"/>
    <p:sldId id="776" r:id="rId49"/>
    <p:sldId id="777" r:id="rId50"/>
    <p:sldId id="778" r:id="rId51"/>
    <p:sldId id="779" r:id="rId52"/>
    <p:sldId id="781" r:id="rId53"/>
    <p:sldId id="780" r:id="rId54"/>
    <p:sldId id="782" r:id="rId55"/>
    <p:sldId id="783" r:id="rId56"/>
    <p:sldId id="784" r:id="rId57"/>
    <p:sldId id="785" r:id="rId58"/>
    <p:sldId id="786" r:id="rId59"/>
    <p:sldId id="787" r:id="rId60"/>
    <p:sldId id="788" r:id="rId61"/>
    <p:sldId id="789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8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69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1EAB0-20EB-4DF7-837B-371DDD1B95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4AE39B-1103-4190-9942-3807C5A66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525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5930C-760D-5883-ECC1-F5CB6465DF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364E95-C921-0CB2-83A2-29CEC570C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4FD1E-FFDF-6B9B-391C-832B885E6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C430E-5A65-442F-9064-DEB17858D8F1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AFC09-CB58-1A98-44F8-DBDC4F500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FBC4E-168F-EAEF-CFF4-122B5A788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70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1843C-D16F-310D-4FA1-1770C7C42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DEFEC-D274-3CE4-42AD-5111479AB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A0F2E-18F9-69C4-3350-10D366326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4E179-45D9-45BE-AAA6-FF7B7D57AEF0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32DEE-4207-0B12-6389-B20CBEF9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92F1E-3EC2-CF71-F9CB-EC8DC886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296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6A0F8-BF06-2ADC-8889-D45C2EC9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5234B-00B7-B1C8-175F-A98E178C1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476CC-1FA3-98AE-E860-9DB0608A4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34156-D111-4B8A-9649-E929320D3996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DB7F2-4B1B-DDD7-9588-D2C9C263F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58A86-DB04-E206-C61A-28D61489D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622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37934-58E2-6C87-8517-91D784E6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54FA1-51FD-BDD7-08D8-CB22949ED9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A14B0-AB9F-84A5-DCFF-AF29D610B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74DE0-D4E6-B98A-0A7A-6199C46F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7365-BEFC-4E6B-9F2A-FA9474576F81}" type="datetime1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7B8B2-CEA6-EA62-4C6E-6C903F935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96544-3A77-9F6F-A9A9-143400239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620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45363-41F2-E6A8-F4B1-CD1FFAB37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AC76C-821C-A4CF-E20D-28A35FB1A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B10B08-0A91-BC33-F467-764F5842D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6E10F4-B1CD-E882-ADC7-E67EB67958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208411-74C8-D893-F7D4-63FB702F1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3A8843-6A85-EBA5-EACE-D31AE341B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37B2F-B566-42C1-8C47-FE2D3202CF99}" type="datetime1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EBBCF3-2913-461E-AD28-FDC7B6BCA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5B7710-25A1-0BB7-4D14-D8B4331A5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21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F97EF-6A4C-4E15-3A3D-09B6216B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5C6005-4DF2-B1D3-F14D-C8E8D586F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0BE3-421C-4D71-A3C6-49D639A19F9F}" type="datetime1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1B5121-2E4F-976C-B042-58478DDE8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32A568-1B5A-A844-5FEE-3C9477D8E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91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C6BE25-6954-DC36-134A-6597CFDF6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5E47-D439-4284-AE0D-962FCB75FAB6}" type="datetime1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303941-91C4-7A76-45CF-7066AD1A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CB0C5-B44E-B54F-CFD1-EDD7E30FA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2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ADF43-2516-CD44-C72D-9495FB26D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BC6C8-737E-06B7-89DA-D63713584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52FE81-C2D0-FEAE-8767-51F60ADA8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E62AB-E046-F609-762A-CFEDAB936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BECBD-8257-458C-AEE3-AE942135D6AE}" type="datetime1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AECE13-A79A-69BD-9DB1-2A174276C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27B68-E2DF-8982-4DF5-D4C4397E0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67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EDE69-5905-BC3C-C645-91E6D6C20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E53DAA-F625-F974-8D2C-1373B11582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F7B45-CD9A-C6B1-F58C-0341BCC9C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9E8BC-CB6F-F740-3924-593736BA9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CAC5-E83F-4F07-8EAE-BE5D8EAB68B2}" type="datetime1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A5595-E2B3-6B7E-1C62-1515F5F58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632C9-6D22-EF5A-C318-89619C4FF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264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81039-EF43-212D-7EB3-340A5138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6A0E3D-A0E9-C266-077E-DFBD0C4D2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D565F-9519-15CB-09A9-53305AE34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A5DA7-E5C5-46E6-B6AF-18BC49A4DE0B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1AFDD-7C39-8E1A-B031-9AA5A2F53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30541-3970-D9E8-80EF-0B798E685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134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DAE23E-03A8-AE9D-8E36-BA90B5684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B840BB-AB25-B52A-9656-E117AF3811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CD23E-B3F5-FBA5-C80E-A574CC18C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FC786-2935-4265-9B26-B14D271DC5F5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A6015-6A82-66FB-892D-7D52F1652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98FE3-2185-D0F2-F9B2-2354C09E0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823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4736D2-BD27-C33D-3016-B5C22D738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F75BE-AE64-BECA-E759-43100BE00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69206-125B-41DF-997C-750E4FDE90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6EC6D-4A47-4C37-A1F4-993B8D832209}" type="datetime1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39EDE-9A6C-95C6-EF1C-2D6885F9F2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51B1B-62CF-80AA-081B-D24CFA9A0E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64BDCF-5269-49AC-A246-ED26C2B98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268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4E64-D01B-5FDF-22D9-EC08BEB62A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DataBase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B3069-C608-4303-DE85-85C98B0515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3C704-9F31-242D-BF15-7D930A158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23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B2C80-9FD9-EF84-AA9E-F999B4B5F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4C62C-0C1C-AA5D-C342-D3FEFC2861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DataBase</a:t>
            </a:r>
            <a:r>
              <a:rPr lang="en-US" dirty="0"/>
              <a:t> Design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81BAB-2277-111D-30A9-7BC0984575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Database Design Theory and Normalization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32E51-21AB-E06B-DF4E-89A4006AA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57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D1F1F-55BD-CA71-4D8F-DC68AC92B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7ADE5-068E-8788-6205-760622B21B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of Relational </a:t>
            </a:r>
            <a:r>
              <a:rPr lang="en-US" dirty="0" err="1"/>
              <a:t>DataBase</a:t>
            </a:r>
            <a:r>
              <a:rPr lang="en-US" dirty="0"/>
              <a:t>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10B16F-CDBD-E0C4-7ECE-4F2CC61105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90BEE-B1DF-DCEA-8F4F-FD13B0B49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849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84C63-44D6-E471-4042-E17138C3E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E4AA7-8BEF-C434-4B0A-12673CB9B7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Design of Relational </a:t>
            </a:r>
            <a:r>
              <a:rPr lang="en-US" sz="4000" dirty="0" err="1"/>
              <a:t>DataBase</a:t>
            </a:r>
            <a:r>
              <a:rPr lang="en-US" sz="4000" dirty="0"/>
              <a:t>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F8ECF-6F75-82A0-CC7F-B2DBD21FA9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3058" y="3602038"/>
            <a:ext cx="11198942" cy="1655762"/>
          </a:xfrm>
        </p:spPr>
        <p:txBody>
          <a:bodyPr>
            <a:normAutofit fontScale="92500"/>
          </a:bodyPr>
          <a:lstStyle/>
          <a:p>
            <a:r>
              <a:rPr lang="en-US" sz="4800" dirty="0"/>
              <a:t>Basics of Functional Dependencies and Normalization for Relational Databases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A076C-6061-3758-B243-27B3D35A0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088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C1630-4DC2-AC64-722A-0A88AC474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D038A-D149-7ECD-1A26-1945F7088F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Design of Relational </a:t>
            </a:r>
            <a:r>
              <a:rPr lang="en-US" sz="4000" dirty="0" err="1"/>
              <a:t>DataBase</a:t>
            </a:r>
            <a:r>
              <a:rPr lang="en-US" sz="4000" dirty="0"/>
              <a:t>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1C0DE-B21F-DC8A-D781-C7FB56D20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3058" y="3602038"/>
            <a:ext cx="11198942" cy="1655762"/>
          </a:xfrm>
        </p:spPr>
        <p:txBody>
          <a:bodyPr>
            <a:normAutofit/>
          </a:bodyPr>
          <a:lstStyle/>
          <a:p>
            <a:r>
              <a:rPr lang="en-US" sz="4800" dirty="0"/>
              <a:t>Relational Database Design </a:t>
            </a:r>
          </a:p>
          <a:p>
            <a:r>
              <a:rPr lang="en-US" sz="4800" dirty="0"/>
              <a:t>Algorithms and Further Dependencies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9EF25-55AF-633F-5F38-75520972F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738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8238-769F-B8F8-C75F-6C1A5B4AC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5BCB5-E20A-1CC1-2377-F8715F3A3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introduced the concept of functional dependencies (FDs)</a:t>
            </a:r>
          </a:p>
          <a:p>
            <a:r>
              <a:rPr lang="en-US" dirty="0"/>
              <a:t>problematic functional dependencies - how they can be eliminated by proper decomposition of a relation</a:t>
            </a:r>
          </a:p>
          <a:p>
            <a:r>
              <a:rPr lang="en-US" dirty="0"/>
              <a:t>process described as normalization … showed how to achieve the first through third normal forms (1NF through 3NF) given primary keys</a:t>
            </a:r>
          </a:p>
          <a:p>
            <a:r>
              <a:rPr lang="en-US" dirty="0"/>
              <a:t>generalized tests for 2NF, 3NF, and BCNF given any number of candidate keys in a relation and how to achieve them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5DE84-5757-C580-9D27-89B0BF45C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17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F4470-4065-0875-EBE3-5E8B36D52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Rules for Functional 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E43E2-46C5-B5D2-0D53-4ADC338F6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set of functional dependencies that are specified on relation schema</a:t>
            </a:r>
          </a:p>
          <a:p>
            <a:r>
              <a:rPr lang="en-US" dirty="0"/>
              <a:t>specifies the functional dependencies that are semantically obvious</a:t>
            </a:r>
          </a:p>
          <a:p>
            <a:r>
              <a:rPr lang="en-US" dirty="0"/>
              <a:t>numerous other functional dependencies hold in all legal relation instances among sets of attributes that can be derived from and satisfy the dependencies in the set of functional dependencies</a:t>
            </a:r>
          </a:p>
          <a:p>
            <a:r>
              <a:rPr lang="en-US" dirty="0"/>
              <a:t>call them as inferred or implied functional dependencies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7EBAC-2014-B462-4C21-AD36423E6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191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44EA6-7BD8-35BA-574C-E18729584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7E0E0-528D-8361-8844-E3F3811D9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</a:t>
            </a:r>
          </a:p>
          <a:p>
            <a:r>
              <a:rPr lang="en-US" dirty="0"/>
              <a:t>an FD X → Y is inferred from or implied by set of dependencies F specified on R if X → Y holds in every legal relation state r of R; that is, when ever r satisfies all dependencies in F, X → Y also holds in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B0343-0371-D0D6-D430-DFB53867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473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EED23-AD92-49FF-2072-8FEA73FAC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25A84-C000-9445-42DA-282029720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real life, it is impossible to specify all possible functional dependencies for a given situation</a:t>
            </a:r>
          </a:p>
          <a:p>
            <a:r>
              <a:rPr lang="en-US" dirty="0"/>
              <a:t>for example, if each department has one manager, so that </a:t>
            </a:r>
            <a:r>
              <a:rPr lang="en-US" dirty="0" err="1"/>
              <a:t>Dept_no</a:t>
            </a:r>
            <a:r>
              <a:rPr lang="en-US" dirty="0"/>
              <a:t> uniquely determines </a:t>
            </a:r>
            <a:r>
              <a:rPr lang="en-US" dirty="0" err="1"/>
              <a:t>Mgr_ssn</a:t>
            </a:r>
            <a:r>
              <a:rPr lang="en-US" dirty="0"/>
              <a:t> (</a:t>
            </a:r>
            <a:r>
              <a:rPr lang="en-US" dirty="0" err="1"/>
              <a:t>Dept_no</a:t>
            </a:r>
            <a:r>
              <a:rPr lang="en-US" dirty="0"/>
              <a:t> → </a:t>
            </a:r>
            <a:r>
              <a:rPr lang="en-US" dirty="0" err="1"/>
              <a:t>Mgr_ssn</a:t>
            </a:r>
            <a:r>
              <a:rPr lang="en-US" dirty="0"/>
              <a:t>), and a manager has a unique phone number called </a:t>
            </a:r>
            <a:r>
              <a:rPr lang="en-US" dirty="0" err="1"/>
              <a:t>Mgr_phone</a:t>
            </a:r>
            <a:r>
              <a:rPr lang="en-US" dirty="0"/>
              <a:t> (</a:t>
            </a:r>
            <a:r>
              <a:rPr lang="en-US" dirty="0" err="1"/>
              <a:t>Mgr_ssn</a:t>
            </a:r>
            <a:r>
              <a:rPr lang="en-US" dirty="0"/>
              <a:t> → </a:t>
            </a:r>
            <a:r>
              <a:rPr lang="en-US" dirty="0" err="1"/>
              <a:t>Mgr_phone</a:t>
            </a:r>
            <a:r>
              <a:rPr lang="en-US" dirty="0"/>
              <a:t>), then these two dependencies together imply that </a:t>
            </a:r>
            <a:r>
              <a:rPr lang="en-US" dirty="0" err="1"/>
              <a:t>Dept_no</a:t>
            </a:r>
            <a:r>
              <a:rPr lang="en-US" dirty="0"/>
              <a:t> → </a:t>
            </a:r>
            <a:r>
              <a:rPr lang="en-US" dirty="0" err="1"/>
              <a:t>Mgr_phone</a:t>
            </a:r>
            <a:r>
              <a:rPr lang="en-US" dirty="0"/>
              <a:t> - this is an inferred or implied FD and need not be explicitly stated in addition to the two given FDs</a:t>
            </a:r>
          </a:p>
          <a:p>
            <a:r>
              <a:rPr lang="en-US" dirty="0"/>
              <a:t>useful to define a concept called </a:t>
            </a:r>
            <a:r>
              <a:rPr lang="en-US" i="1" dirty="0"/>
              <a:t>closure</a:t>
            </a:r>
            <a:r>
              <a:rPr lang="en-US" dirty="0"/>
              <a:t> formally that includes all possible dependencies that can be inferred from given set F of FDs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55CA4-8498-B2E5-0DB2-38D1898A6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48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BE42F-AB98-253A-D1DA-4D0048F62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399F9-E087-2983-BC51-68FAECB1A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</a:t>
            </a:r>
          </a:p>
          <a:p>
            <a:r>
              <a:rPr lang="en-US" dirty="0"/>
              <a:t>formally, set of all dependencies that include F as well as all dependencies that can be inferred from F is called the closure of F; it is denoted by F</a:t>
            </a:r>
            <a:r>
              <a:rPr lang="en-US" baseline="30000" dirty="0"/>
              <a:t>+</a:t>
            </a:r>
            <a:endParaRPr lang="en-US" dirty="0"/>
          </a:p>
          <a:p>
            <a:r>
              <a:rPr lang="en-US" dirty="0"/>
              <a:t>for example, suppose that we specify following set F of obvious functional dependencies on relation schema </a:t>
            </a:r>
          </a:p>
          <a:p>
            <a:r>
              <a:rPr lang="en-US" dirty="0"/>
              <a:t>F = {	</a:t>
            </a:r>
            <a:r>
              <a:rPr lang="en-US" dirty="0" err="1"/>
              <a:t>Ssn</a:t>
            </a:r>
            <a:r>
              <a:rPr lang="en-US" dirty="0"/>
              <a:t> → {</a:t>
            </a:r>
            <a:r>
              <a:rPr lang="en-US" dirty="0" err="1"/>
              <a:t>Ename</a:t>
            </a:r>
            <a:r>
              <a:rPr lang="en-US" dirty="0"/>
              <a:t>, </a:t>
            </a:r>
            <a:r>
              <a:rPr lang="en-US" dirty="0" err="1"/>
              <a:t>Bdate</a:t>
            </a:r>
            <a:r>
              <a:rPr lang="en-US" dirty="0"/>
              <a:t>, Address, </a:t>
            </a:r>
            <a:r>
              <a:rPr lang="en-US" dirty="0" err="1"/>
              <a:t>Dnumber</a:t>
            </a:r>
            <a:r>
              <a:rPr lang="en-US" dirty="0"/>
              <a:t>}, 			</a:t>
            </a:r>
            <a:r>
              <a:rPr lang="en-US" dirty="0" err="1"/>
              <a:t>Dnumber</a:t>
            </a:r>
            <a:r>
              <a:rPr lang="en-US" dirty="0"/>
              <a:t> → {</a:t>
            </a:r>
            <a:r>
              <a:rPr lang="en-US" dirty="0" err="1"/>
              <a:t>Dname</a:t>
            </a:r>
            <a:r>
              <a:rPr lang="en-US" dirty="0"/>
              <a:t>, </a:t>
            </a:r>
            <a:r>
              <a:rPr lang="en-US" dirty="0" err="1"/>
              <a:t>Dmgr_ssn</a:t>
            </a:r>
            <a:r>
              <a:rPr lang="en-US" dirty="0"/>
              <a:t>} }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8A1D9-2FCD-4154-A5F1-1E9D1636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905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5F226-81B2-5164-AC43-456A14C8A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09198-2DC7-C00C-5590-0B51868A1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of additional functional dependencies that we can infer from F:</a:t>
            </a:r>
          </a:p>
          <a:p>
            <a:r>
              <a:rPr lang="en-US" dirty="0" err="1"/>
              <a:t>Ssn</a:t>
            </a:r>
            <a:r>
              <a:rPr lang="en-US" dirty="0"/>
              <a:t> → {</a:t>
            </a:r>
            <a:r>
              <a:rPr lang="en-US" dirty="0" err="1"/>
              <a:t>Dname</a:t>
            </a:r>
            <a:r>
              <a:rPr lang="en-US" dirty="0"/>
              <a:t>, </a:t>
            </a:r>
            <a:r>
              <a:rPr lang="en-US" dirty="0" err="1"/>
              <a:t>Dmgr_ssn</a:t>
            </a:r>
            <a:r>
              <a:rPr lang="en-US" dirty="0"/>
              <a:t>} </a:t>
            </a:r>
          </a:p>
          <a:p>
            <a:r>
              <a:rPr lang="en-US" dirty="0" err="1"/>
              <a:t>Ssn</a:t>
            </a:r>
            <a:r>
              <a:rPr lang="en-US" dirty="0"/>
              <a:t> → </a:t>
            </a:r>
            <a:r>
              <a:rPr lang="en-US" dirty="0" err="1"/>
              <a:t>Ssn</a:t>
            </a:r>
            <a:r>
              <a:rPr lang="en-US" dirty="0"/>
              <a:t> </a:t>
            </a:r>
            <a:r>
              <a:rPr lang="en-US" dirty="0" err="1"/>
              <a:t>Dnumber</a:t>
            </a:r>
            <a:r>
              <a:rPr lang="en-US" dirty="0"/>
              <a:t> → </a:t>
            </a:r>
            <a:r>
              <a:rPr lang="en-US" dirty="0" err="1"/>
              <a:t>Dname</a:t>
            </a:r>
            <a:endParaRPr lang="en-US" dirty="0"/>
          </a:p>
          <a:p>
            <a:r>
              <a:rPr lang="en-US" dirty="0"/>
              <a:t>closure F</a:t>
            </a:r>
            <a:r>
              <a:rPr lang="en-US" baseline="30000" dirty="0"/>
              <a:t>+</a:t>
            </a:r>
            <a:r>
              <a:rPr lang="en-US" dirty="0"/>
              <a:t> of F is set of all functional dependencies that can be inferred from F</a:t>
            </a:r>
          </a:p>
          <a:p>
            <a:r>
              <a:rPr lang="en-US" dirty="0"/>
              <a:t>to determine a systematic way to infer dependencies, we must discover a set of inference rules that can be used to infer new dependencies from a given set of dependencies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C1CD6-4FA6-BE41-64AC-1A5112A67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481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33D69-4D3A-86F4-CA4A-2CA972EA2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abbreviated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4B378-57D4-741C-AF01-DD89F338F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discussing functional dependencies, concatenate attribute variables and drop commas for convenience</a:t>
            </a:r>
          </a:p>
          <a:p>
            <a:r>
              <a:rPr lang="en-US" dirty="0"/>
              <a:t>FD {X,Y} → Z is abbreviated to XY → Z, and FD {X, Y, Z} → {U, V} is abbreviated to XYZ → UV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02A19-797D-F4CE-7764-B3B735457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4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70A6F-4121-D307-212C-2C69F7B24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37EA8-869F-0E34-4BBC-0086937FF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rules that are well-known inference rules for functional dependencies; proposed first by Armstrong (1974) and hence are known as Armstrong’s axioms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B6CFE-9F88-72FB-5AEA-822D10C08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781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5B6B3-50D2-07A0-0BED-063D34D37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Armstrong’s axioms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1A154-5F3C-4A16-DBC2-8A633AA10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(reflexive rule) : if X ⊇ Y, then X →Y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(augmentation rule) : {X → Y} |=XZ → YZ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(transitive rule) : {X → Y, Y → Z} |=X → Z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1B865-EF35-6C52-F799-A01E16BCE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95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83B7D-CF26-94A6-0CF5-EFA1A4124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18BE5-96C5-0553-B89E-97FB8498A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inference rules are sound and complete</a:t>
            </a:r>
          </a:p>
          <a:p>
            <a:r>
              <a:rPr lang="en-US" dirty="0"/>
              <a:t>by sound, we mean that given a set of functional dependencies F specified on relation schema R, any dependency that we can infer from F by using IR1 through IR3 holds in every relation state r of R that satisfies dependencies in F</a:t>
            </a:r>
          </a:p>
          <a:p>
            <a:r>
              <a:rPr lang="en-US" dirty="0"/>
              <a:t>by complete, we mean that using rules repeatedly to infer dependencies until no more dependencies can be inferred results in complete set of all possible dependencies that can be inferred from F</a:t>
            </a:r>
          </a:p>
          <a:p>
            <a:r>
              <a:rPr lang="en-US" dirty="0"/>
              <a:t>set of dependencies F</a:t>
            </a:r>
            <a:r>
              <a:rPr lang="en-US" baseline="30000" dirty="0"/>
              <a:t>+</a:t>
            </a:r>
            <a:r>
              <a:rPr lang="en-US" dirty="0"/>
              <a:t>, the closure of F, can be determined from F by using only inference rules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3F53C-8D3F-F46E-52F3-5988DB935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58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75A65-3F3C-97EC-9BE5-2F43EAB6D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A1591-414E-0555-6342-C0212B99A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reflexive rule (IR1) - if X ⊇ Y, then X →Y - states that a set of attributes always determines itself or any of its subsets, which is obvious; generates dependencies that are always true, called trivia</a:t>
            </a:r>
          </a:p>
          <a:p>
            <a:r>
              <a:rPr lang="en-US" dirty="0"/>
              <a:t>augmentation rule (IR2) - {X → Y} |=XZ → YZ - says that adding same set of attributes to both left- and right-hand sides of dependency results in another valid dependency</a:t>
            </a:r>
          </a:p>
          <a:p>
            <a:r>
              <a:rPr lang="en-US" dirty="0"/>
              <a:t>(transitive rule) : {X → Y, Y → Z} |=X → Z - functional dependencies are transitive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C1777-3390-60D1-AF63-086BE7804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241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852E7-B9B2-4E63-6F89-47124E276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proof of</a:t>
            </a:r>
            <a:br>
              <a:rPr lang="en-US" dirty="0"/>
            </a:br>
            <a:r>
              <a:rPr lang="en-US" dirty="0"/>
              <a:t>(reflexive rule) : if X ⊇ Y, then X →Y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6C80C-CBDD-73B1-6647-1BBF3D51E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that X ⊇ Y and that two tuples t</a:t>
            </a:r>
            <a:r>
              <a:rPr lang="en-US" baseline="-25000" dirty="0"/>
              <a:t>1</a:t>
            </a:r>
            <a:r>
              <a:rPr lang="en-US" dirty="0"/>
              <a:t> and t</a:t>
            </a:r>
            <a:r>
              <a:rPr lang="en-US" baseline="-25000" dirty="0"/>
              <a:t>2</a:t>
            </a:r>
            <a:r>
              <a:rPr lang="en-US" dirty="0"/>
              <a:t> exist in some relation instance r of R such that t</a:t>
            </a:r>
            <a:r>
              <a:rPr lang="en-US" baseline="-25000" dirty="0"/>
              <a:t>1</a:t>
            </a:r>
            <a:r>
              <a:rPr lang="en-US" dirty="0"/>
              <a:t>[X] = t</a:t>
            </a:r>
            <a:r>
              <a:rPr lang="en-US" baseline="-25000" dirty="0"/>
              <a:t>2</a:t>
            </a:r>
            <a:r>
              <a:rPr lang="en-US" dirty="0"/>
              <a:t>[X]; then t</a:t>
            </a:r>
            <a:r>
              <a:rPr lang="en-US" baseline="-25000" dirty="0"/>
              <a:t>1</a:t>
            </a:r>
            <a:r>
              <a:rPr lang="en-US" dirty="0"/>
              <a:t>[Y] = t</a:t>
            </a:r>
            <a:r>
              <a:rPr lang="en-US" baseline="-25000" dirty="0"/>
              <a:t>2</a:t>
            </a:r>
            <a:r>
              <a:rPr lang="en-US" dirty="0"/>
              <a:t>[Y] because X ⊇ Y; hence, X → Y must hold in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11245-02D0-2EF8-7D98-F4B80A2D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36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5CA70-34D0-17A3-6F11-A3863E153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proof of</a:t>
            </a:r>
            <a:br>
              <a:rPr lang="en-US" dirty="0"/>
            </a:br>
            <a:r>
              <a:rPr lang="en-US" dirty="0"/>
              <a:t>(augmentation rule) : {X → Y} |=XZ → YZ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5CA14-284B-5390-504A-0D290B9A2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(by contradiction)</a:t>
            </a:r>
          </a:p>
          <a:p>
            <a:r>
              <a:rPr lang="en-US" dirty="0"/>
              <a:t>assume that X → Y holds in a relation instance r of R but that XZ → YZ does not hold; then there must exist two tuples t</a:t>
            </a:r>
            <a:r>
              <a:rPr lang="en-US" baseline="-25000" dirty="0"/>
              <a:t>1</a:t>
            </a:r>
            <a:r>
              <a:rPr lang="en-US" dirty="0"/>
              <a:t> and t</a:t>
            </a:r>
            <a:r>
              <a:rPr lang="en-US" baseline="-25000" dirty="0"/>
              <a:t>2</a:t>
            </a:r>
            <a:r>
              <a:rPr lang="en-US" dirty="0"/>
              <a:t> in r such that</a:t>
            </a:r>
          </a:p>
          <a:p>
            <a:pPr lvl="1"/>
            <a:r>
              <a:rPr lang="en-US" sz="2700" dirty="0"/>
              <a:t>(1) t</a:t>
            </a:r>
            <a:r>
              <a:rPr lang="en-US" sz="2700" baseline="-25000" dirty="0"/>
              <a:t>1</a:t>
            </a:r>
            <a:r>
              <a:rPr lang="en-US" sz="2700" dirty="0"/>
              <a:t>[X] = t</a:t>
            </a:r>
            <a:r>
              <a:rPr lang="en-US" sz="2700" baseline="-25000" dirty="0"/>
              <a:t>2</a:t>
            </a:r>
            <a:r>
              <a:rPr lang="en-US" sz="2700" dirty="0"/>
              <a:t>[X]</a:t>
            </a:r>
          </a:p>
          <a:p>
            <a:pPr lvl="1"/>
            <a:r>
              <a:rPr lang="en-US" sz="2700" dirty="0"/>
              <a:t>(2) t</a:t>
            </a:r>
            <a:r>
              <a:rPr lang="en-US" sz="2700" baseline="-25000" dirty="0"/>
              <a:t>1</a:t>
            </a:r>
            <a:r>
              <a:rPr lang="en-US" sz="2700" dirty="0"/>
              <a:t>[Y] = t</a:t>
            </a:r>
            <a:r>
              <a:rPr lang="en-US" sz="2700" baseline="-25000" dirty="0"/>
              <a:t>2</a:t>
            </a:r>
            <a:r>
              <a:rPr lang="en-US" sz="2700" dirty="0"/>
              <a:t>[Y]</a:t>
            </a:r>
          </a:p>
          <a:p>
            <a:pPr lvl="1"/>
            <a:r>
              <a:rPr lang="en-US" sz="2700" dirty="0"/>
              <a:t>(3) t</a:t>
            </a:r>
            <a:r>
              <a:rPr lang="en-US" sz="2700" baseline="-25000" dirty="0"/>
              <a:t>1</a:t>
            </a:r>
            <a:r>
              <a:rPr lang="en-US" sz="2700" dirty="0"/>
              <a:t>[XZ] = t</a:t>
            </a:r>
            <a:r>
              <a:rPr lang="en-US" sz="2700" baseline="-25000" dirty="0"/>
              <a:t>2</a:t>
            </a:r>
            <a:r>
              <a:rPr lang="en-US" sz="2700" dirty="0"/>
              <a:t>[XZ], and</a:t>
            </a:r>
          </a:p>
          <a:p>
            <a:pPr lvl="1"/>
            <a:r>
              <a:rPr lang="en-US" sz="2700" dirty="0"/>
              <a:t>(4) t</a:t>
            </a:r>
            <a:r>
              <a:rPr lang="en-US" sz="2700" baseline="-25000" dirty="0"/>
              <a:t>1</a:t>
            </a:r>
            <a:r>
              <a:rPr lang="en-US" sz="2700" dirty="0"/>
              <a:t>[YZ] ≠ t</a:t>
            </a:r>
            <a:r>
              <a:rPr lang="en-US" sz="2700" baseline="-25000" dirty="0"/>
              <a:t>2</a:t>
            </a:r>
            <a:r>
              <a:rPr lang="en-US" sz="2700" dirty="0"/>
              <a:t>[YZ]</a:t>
            </a:r>
          </a:p>
          <a:p>
            <a:r>
              <a:rPr lang="en-US" dirty="0"/>
              <a:t>not possible because from (1) and (3) we deduce (5) t</a:t>
            </a:r>
            <a:r>
              <a:rPr lang="en-US" baseline="-25000" dirty="0"/>
              <a:t>1</a:t>
            </a:r>
            <a:r>
              <a:rPr lang="en-US" dirty="0"/>
              <a:t>[Z] = t</a:t>
            </a:r>
            <a:r>
              <a:rPr lang="en-US" baseline="-25000" dirty="0"/>
              <a:t>2</a:t>
            </a:r>
            <a:r>
              <a:rPr lang="en-US" dirty="0"/>
              <a:t>[Z], and from (2) and (5) we deduce (6) t</a:t>
            </a:r>
            <a:r>
              <a:rPr lang="en-US" baseline="-25000" dirty="0"/>
              <a:t>1</a:t>
            </a:r>
            <a:r>
              <a:rPr lang="en-US" dirty="0"/>
              <a:t>[YZ] = t</a:t>
            </a:r>
            <a:r>
              <a:rPr lang="en-US" baseline="-25000" dirty="0"/>
              <a:t>2</a:t>
            </a:r>
            <a:r>
              <a:rPr lang="en-US" dirty="0"/>
              <a:t>[YZ], contradicting (4)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E3324-7583-439C-B619-D160EB34C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49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9FA6B-1DA0-A6BC-6AE9-06866190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</a:t>
            </a:r>
            <a:br>
              <a:rPr lang="en-US" dirty="0"/>
            </a:br>
            <a:r>
              <a:rPr lang="en-US" dirty="0"/>
              <a:t>(transitive rule) : {X → Y, Y → Z} |=X → 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A60E7-D058-8870-B74D-C37B9CDA8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that </a:t>
            </a:r>
          </a:p>
          <a:p>
            <a:pPr lvl="1"/>
            <a:r>
              <a:rPr lang="en-US" sz="2700" dirty="0"/>
              <a:t>(1) X → Y and </a:t>
            </a:r>
          </a:p>
          <a:p>
            <a:pPr lvl="1"/>
            <a:r>
              <a:rPr lang="en-US" sz="2700" dirty="0"/>
              <a:t>(2) Y → Z </a:t>
            </a:r>
          </a:p>
          <a:p>
            <a:r>
              <a:rPr lang="en-US" dirty="0"/>
              <a:t>both hold in relation r</a:t>
            </a:r>
          </a:p>
          <a:p>
            <a:r>
              <a:rPr lang="en-US" dirty="0"/>
              <a:t>then for any two tuples t</a:t>
            </a:r>
            <a:r>
              <a:rPr lang="en-US" baseline="-25000" dirty="0"/>
              <a:t>1</a:t>
            </a:r>
            <a:r>
              <a:rPr lang="en-US" dirty="0"/>
              <a:t> and t</a:t>
            </a:r>
            <a:r>
              <a:rPr lang="en-US" baseline="-25000" dirty="0"/>
              <a:t>2</a:t>
            </a:r>
            <a:r>
              <a:rPr lang="en-US" dirty="0"/>
              <a:t> in r such that t</a:t>
            </a:r>
            <a:r>
              <a:rPr lang="en-US" baseline="-25000" dirty="0"/>
              <a:t>1</a:t>
            </a:r>
            <a:r>
              <a:rPr lang="en-US" dirty="0"/>
              <a:t>[X] = t</a:t>
            </a:r>
            <a:r>
              <a:rPr lang="en-US" baseline="-25000" dirty="0"/>
              <a:t>2</a:t>
            </a:r>
            <a:r>
              <a:rPr lang="en-US" dirty="0"/>
              <a:t>[X], we must have (3) t</a:t>
            </a:r>
            <a:r>
              <a:rPr lang="en-US" baseline="-25000" dirty="0"/>
              <a:t>1</a:t>
            </a:r>
            <a:r>
              <a:rPr lang="en-US" dirty="0"/>
              <a:t>[Y] = t</a:t>
            </a:r>
            <a:r>
              <a:rPr lang="en-US" baseline="-25000" dirty="0"/>
              <a:t>2</a:t>
            </a:r>
            <a:r>
              <a:rPr lang="en-US" dirty="0"/>
              <a:t>[Y], from assumption (1); </a:t>
            </a:r>
          </a:p>
          <a:p>
            <a:r>
              <a:rPr lang="en-US" dirty="0"/>
              <a:t>hence, we must also have (4) t</a:t>
            </a:r>
            <a:r>
              <a:rPr lang="en-US" baseline="-25000" dirty="0"/>
              <a:t>1</a:t>
            </a:r>
            <a:r>
              <a:rPr lang="en-US" dirty="0"/>
              <a:t>[Z] = t</a:t>
            </a:r>
            <a:r>
              <a:rPr lang="en-US" baseline="-25000" dirty="0"/>
              <a:t>2</a:t>
            </a:r>
            <a:r>
              <a:rPr lang="en-US" dirty="0"/>
              <a:t>[Z] from (3) and assumption (2); thus X → Z must hold in 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9DED4-2463-8C5A-F084-5071778CE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047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020E2-16E4-62BA-9E86-DD43F9F04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other inference rules that follow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364E1-2129-3D8D-A8A1-1687AF9E3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(decomposition, or projective, rule): {X → YZ} |=X → Y</a:t>
            </a:r>
          </a:p>
          <a:p>
            <a:r>
              <a:rPr lang="en-US" dirty="0"/>
              <a:t>(union, or additive, rule): {X → Y, X → Z} |=X → YZ</a:t>
            </a:r>
          </a:p>
          <a:p>
            <a:r>
              <a:rPr lang="en-US" dirty="0"/>
              <a:t>(</a:t>
            </a:r>
            <a:r>
              <a:rPr lang="en-US" dirty="0" err="1"/>
              <a:t>pseudotransitive</a:t>
            </a:r>
            <a:r>
              <a:rPr lang="en-US" dirty="0"/>
              <a:t> rule): {X → Y, WY → Z} |=WX → Z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C51A9-1077-139A-414E-8E06211D4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984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CF087-9D91-28D2-518C-06346DE02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A5E6B-7B3A-A9BA-8FEF-24FDA97DD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37490" cy="4351338"/>
          </a:xfrm>
        </p:spPr>
        <p:txBody>
          <a:bodyPr>
            <a:noAutofit/>
          </a:bodyPr>
          <a:lstStyle/>
          <a:p>
            <a:r>
              <a:rPr lang="en-US" sz="2700" dirty="0"/>
              <a:t>decomposition rule says that we can remove attributes from right hand side of a dependency; applying repeatedly can decompose the FD X → {A</a:t>
            </a:r>
            <a:r>
              <a:rPr lang="en-US" sz="2700" baseline="-25000" dirty="0"/>
              <a:t>1</a:t>
            </a:r>
            <a:r>
              <a:rPr lang="en-US" sz="2700" dirty="0"/>
              <a:t>, A</a:t>
            </a:r>
            <a:r>
              <a:rPr lang="en-US" sz="2700" baseline="-25000" dirty="0"/>
              <a:t>2</a:t>
            </a:r>
            <a:r>
              <a:rPr lang="en-US" sz="2700" dirty="0"/>
              <a:t>, … , A</a:t>
            </a:r>
            <a:r>
              <a:rPr lang="en-US" sz="2700" baseline="-25000" dirty="0"/>
              <a:t>n</a:t>
            </a:r>
            <a:r>
              <a:rPr lang="en-US" sz="2700" dirty="0"/>
              <a:t>} into the set of dependencies {X → A</a:t>
            </a:r>
            <a:r>
              <a:rPr lang="en-US" sz="2700" baseline="-25000" dirty="0"/>
              <a:t>1</a:t>
            </a:r>
            <a:r>
              <a:rPr lang="en-US" sz="2700" dirty="0"/>
              <a:t>, X → A</a:t>
            </a:r>
            <a:r>
              <a:rPr lang="en-US" sz="2700" baseline="-25000" dirty="0"/>
              <a:t>2</a:t>
            </a:r>
            <a:r>
              <a:rPr lang="en-US" sz="2700" dirty="0"/>
              <a:t>, … , X → A</a:t>
            </a:r>
            <a:r>
              <a:rPr lang="en-US" sz="2700" baseline="-25000" dirty="0"/>
              <a:t>n</a:t>
            </a:r>
            <a:r>
              <a:rPr lang="en-US" sz="2700" dirty="0"/>
              <a:t>}</a:t>
            </a:r>
          </a:p>
          <a:p>
            <a:r>
              <a:rPr lang="en-US" sz="2700" dirty="0"/>
              <a:t>. union rule (IR5) allows us to do the opposite; we can combine a set of dependencies {X → A</a:t>
            </a:r>
            <a:r>
              <a:rPr lang="en-US" sz="2700" baseline="-25000" dirty="0"/>
              <a:t>1</a:t>
            </a:r>
            <a:r>
              <a:rPr lang="en-US" sz="2700" dirty="0"/>
              <a:t>, X → A</a:t>
            </a:r>
            <a:r>
              <a:rPr lang="en-US" sz="2700" baseline="-25000" dirty="0"/>
              <a:t>2</a:t>
            </a:r>
            <a:r>
              <a:rPr lang="en-US" sz="2700" dirty="0"/>
              <a:t>, … , X → A</a:t>
            </a:r>
            <a:r>
              <a:rPr lang="en-US" sz="2700" baseline="-25000" dirty="0"/>
              <a:t>n</a:t>
            </a:r>
            <a:r>
              <a:rPr lang="en-US" sz="2700" dirty="0"/>
              <a:t>} into single FD X → {A</a:t>
            </a:r>
            <a:r>
              <a:rPr lang="en-US" sz="2700" baseline="-25000" dirty="0"/>
              <a:t>1</a:t>
            </a:r>
            <a:r>
              <a:rPr lang="en-US" sz="2700" dirty="0"/>
              <a:t>, A</a:t>
            </a:r>
            <a:r>
              <a:rPr lang="en-US" sz="2700" baseline="-25000" dirty="0"/>
              <a:t>2</a:t>
            </a:r>
            <a:r>
              <a:rPr lang="en-US" sz="2700" dirty="0"/>
              <a:t>, … , A</a:t>
            </a:r>
            <a:r>
              <a:rPr lang="en-US" sz="2700" baseline="-25000" dirty="0"/>
              <a:t>n</a:t>
            </a:r>
            <a:r>
              <a:rPr lang="en-US" sz="2700" dirty="0"/>
              <a:t>}</a:t>
            </a:r>
          </a:p>
          <a:p>
            <a:r>
              <a:rPr lang="en-US" sz="2700" dirty="0" err="1"/>
              <a:t>pseudotransitive</a:t>
            </a:r>
            <a:r>
              <a:rPr lang="en-US" sz="2700" dirty="0"/>
              <a:t> rule allows us to replace a set of attributes Y on left hand side of a dependency with another set X that functionally determines Y, </a:t>
            </a:r>
          </a:p>
          <a:p>
            <a:pPr lvl="1"/>
            <a:r>
              <a:rPr lang="en-US" dirty="0"/>
              <a:t>can be derived if we augment first functional dependency X → Y with W and then apply transitive rule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474B4-C1D3-50CD-CDE1-99AE95D8A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991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ADECE-07B8-CCDC-5F4E-8456A9B09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780E5-5B19-0452-7D8D-6E3C6086E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</a:t>
            </a:r>
          </a:p>
          <a:p>
            <a:r>
              <a:rPr lang="en-US" dirty="0"/>
              <a:t>for each such set of attributes X, we determine the set X</a:t>
            </a:r>
            <a:r>
              <a:rPr lang="en-US" baseline="30000" dirty="0"/>
              <a:t>+</a:t>
            </a:r>
            <a:r>
              <a:rPr lang="en-US" dirty="0"/>
              <a:t> of attributes that are functionally determined by X based on F; </a:t>
            </a:r>
          </a:p>
          <a:p>
            <a:r>
              <a:rPr lang="en-US" dirty="0"/>
              <a:t>X</a:t>
            </a:r>
            <a:r>
              <a:rPr lang="en-US" baseline="30000" dirty="0"/>
              <a:t>+  </a:t>
            </a:r>
            <a:r>
              <a:rPr lang="en-US" dirty="0"/>
              <a:t>is called the closure of X under F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F26C2-6375-E5EA-5970-55B367979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1231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86B4D-2641-97CE-FB50-1809712C2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used to calculate X</a:t>
            </a:r>
            <a:r>
              <a:rPr lang="en-US" baseline="30000" dirty="0"/>
              <a:t>+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03CF8-C1D9-5E4A-4E45-BBEB0806D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Input: a set F of FDs on a relation schema R, and a set of attributes X, which is a subset of R</a:t>
            </a:r>
          </a:p>
          <a:p>
            <a:r>
              <a:rPr lang="en-US" dirty="0"/>
              <a:t>X</a:t>
            </a:r>
            <a:r>
              <a:rPr lang="en-US" baseline="30000" dirty="0"/>
              <a:t>+</a:t>
            </a:r>
            <a:r>
              <a:rPr lang="en-US" dirty="0"/>
              <a:t> := X; </a:t>
            </a:r>
          </a:p>
          <a:p>
            <a:r>
              <a:rPr lang="en-US" dirty="0"/>
              <a:t>repeat </a:t>
            </a:r>
            <a:r>
              <a:rPr lang="en-US" dirty="0" err="1"/>
              <a:t>oldX</a:t>
            </a:r>
            <a:r>
              <a:rPr lang="en-US" baseline="30000" dirty="0"/>
              <a:t>+</a:t>
            </a:r>
            <a:r>
              <a:rPr lang="en-US" dirty="0"/>
              <a:t> := X</a:t>
            </a:r>
            <a:r>
              <a:rPr lang="en-US" baseline="30000" dirty="0"/>
              <a:t>+</a:t>
            </a:r>
            <a:r>
              <a:rPr lang="en-US" dirty="0"/>
              <a:t>; </a:t>
            </a:r>
          </a:p>
          <a:p>
            <a:r>
              <a:rPr lang="en-US" dirty="0"/>
              <a:t> 	for each functional dependency Y → Z in F do </a:t>
            </a:r>
          </a:p>
          <a:p>
            <a:r>
              <a:rPr lang="en-US" dirty="0"/>
              <a:t> 		if X</a:t>
            </a:r>
            <a:r>
              <a:rPr lang="en-US" baseline="30000" dirty="0"/>
              <a:t>+</a:t>
            </a:r>
            <a:r>
              <a:rPr lang="en-US" dirty="0"/>
              <a:t> ⊇ Y then X</a:t>
            </a:r>
            <a:r>
              <a:rPr lang="en-US" baseline="30000" dirty="0"/>
              <a:t>+</a:t>
            </a:r>
            <a:r>
              <a:rPr lang="en-US" dirty="0"/>
              <a:t> := X</a:t>
            </a:r>
            <a:r>
              <a:rPr lang="en-US" baseline="30000" dirty="0"/>
              <a:t>+</a:t>
            </a:r>
            <a:r>
              <a:rPr lang="en-US" dirty="0"/>
              <a:t> ∪ Z; </a:t>
            </a:r>
          </a:p>
          <a:p>
            <a:r>
              <a:rPr lang="en-US" dirty="0"/>
              <a:t> 	until (X</a:t>
            </a:r>
            <a:r>
              <a:rPr lang="en-US" baseline="30000" dirty="0"/>
              <a:t>+</a:t>
            </a:r>
            <a:r>
              <a:rPr lang="en-US" dirty="0"/>
              <a:t> = </a:t>
            </a:r>
            <a:r>
              <a:rPr lang="en-US" dirty="0" err="1"/>
              <a:t>oldX</a:t>
            </a:r>
            <a:r>
              <a:rPr lang="en-US" baseline="30000" dirty="0"/>
              <a:t> + </a:t>
            </a:r>
            <a:r>
              <a:rPr lang="en-US" dirty="0"/>
              <a:t>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77376-EE5F-7A1F-24E6-37C8E6168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3775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175FF-A63C-4239-FFD2-3E4C3743C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92951-11AF-A74A-63F5-2D32B5710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example, consider following relation schema about classes held at university</a:t>
            </a:r>
          </a:p>
          <a:p>
            <a:r>
              <a:rPr lang="en-US" dirty="0"/>
              <a:t>CLASS ( </a:t>
            </a:r>
            <a:r>
              <a:rPr lang="en-US" dirty="0" err="1"/>
              <a:t>Classid</a:t>
            </a:r>
            <a:r>
              <a:rPr lang="en-US" dirty="0"/>
              <a:t>, Course#, </a:t>
            </a:r>
            <a:r>
              <a:rPr lang="en-US" dirty="0" err="1"/>
              <a:t>Instr_name</a:t>
            </a:r>
            <a:r>
              <a:rPr lang="en-US" dirty="0"/>
              <a:t>, </a:t>
            </a:r>
            <a:r>
              <a:rPr lang="en-US" dirty="0" err="1"/>
              <a:t>Credit_hrs</a:t>
            </a:r>
            <a:r>
              <a:rPr lang="en-US" dirty="0"/>
              <a:t>, Text, Publisher, Classroom, Capacity)</a:t>
            </a:r>
          </a:p>
          <a:p>
            <a:r>
              <a:rPr lang="en-US" dirty="0"/>
              <a:t>let F, set of functional dependencies include: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0E1AD-5C20-3097-5CC0-B3DA8C347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074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9758D-F44B-408D-EBFE-D69433084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AF43E-A171-DB1A-D9A0-5FEFF368A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F, set of functional dependencies include: </a:t>
            </a:r>
          </a:p>
          <a:p>
            <a:r>
              <a:rPr lang="en-US" dirty="0"/>
              <a:t>FD1: Sectionid → Course#, </a:t>
            </a:r>
            <a:r>
              <a:rPr lang="en-US" dirty="0" err="1"/>
              <a:t>Instr_name</a:t>
            </a:r>
            <a:r>
              <a:rPr lang="en-US" dirty="0"/>
              <a:t>, </a:t>
            </a:r>
            <a:r>
              <a:rPr lang="en-US" dirty="0" err="1"/>
              <a:t>Credit_hrs</a:t>
            </a:r>
            <a:r>
              <a:rPr lang="en-US" dirty="0"/>
              <a:t>, Text, Publisher, Classroom, Capacity;</a:t>
            </a:r>
          </a:p>
          <a:p>
            <a:r>
              <a:rPr lang="en-US" dirty="0"/>
              <a:t>FD2: Course# → </a:t>
            </a:r>
            <a:r>
              <a:rPr lang="en-US" dirty="0" err="1"/>
              <a:t>Credit_hrs</a:t>
            </a:r>
            <a:r>
              <a:rPr lang="en-US" dirty="0"/>
              <a:t>; </a:t>
            </a:r>
          </a:p>
          <a:p>
            <a:r>
              <a:rPr lang="en-US" dirty="0"/>
              <a:t>FD3: {Course#, </a:t>
            </a:r>
            <a:r>
              <a:rPr lang="en-US" dirty="0" err="1"/>
              <a:t>Instr_name</a:t>
            </a:r>
            <a:r>
              <a:rPr lang="en-US" dirty="0"/>
              <a:t>} → Text, Classroom; </a:t>
            </a:r>
          </a:p>
          <a:p>
            <a:r>
              <a:rPr lang="en-US" dirty="0"/>
              <a:t>FD4: Text → Publisher FD5: Classroom → Capacity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67717-3540-3E62-2C16-4D6010A80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7601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514FF-A6D8-30B2-1ADE-99906C1B9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A4E65-7248-1C70-3992-CA21FEE36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express certain semantics</a:t>
            </a:r>
          </a:p>
          <a:p>
            <a:r>
              <a:rPr lang="en-US" dirty="0"/>
              <a:t>FD1 states that each class has a unique </a:t>
            </a:r>
            <a:r>
              <a:rPr lang="en-US" dirty="0" err="1"/>
              <a:t>Classid</a:t>
            </a:r>
            <a:endParaRPr lang="en-US" dirty="0"/>
          </a:p>
          <a:p>
            <a:r>
              <a:rPr lang="en-US" dirty="0"/>
              <a:t>FD3 states that when given course is offered by certain instructor, the text is fixed and instructor teaches that class in fixed room</a:t>
            </a:r>
          </a:p>
          <a:p>
            <a:endParaRPr lang="en-US" dirty="0"/>
          </a:p>
          <a:p>
            <a:r>
              <a:rPr lang="en-US" dirty="0"/>
              <a:t>using inference rules about FDs and applying definition of closure, can define: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BC6FB-22DB-6EA0-C452-8BD9576E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0538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87895-B016-7016-0313-D2F0F2ED3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following closures: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FD1E6-652E-D010-024A-F1DBC9CD5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{ </a:t>
            </a:r>
            <a:r>
              <a:rPr lang="en-US" dirty="0" err="1"/>
              <a:t>Classid</a:t>
            </a:r>
            <a:r>
              <a:rPr lang="en-US" dirty="0"/>
              <a:t> }</a:t>
            </a:r>
            <a:r>
              <a:rPr lang="en-US" baseline="30000" dirty="0"/>
              <a:t>+</a:t>
            </a:r>
            <a:r>
              <a:rPr lang="en-US" dirty="0"/>
              <a:t> = { </a:t>
            </a:r>
            <a:r>
              <a:rPr lang="en-US" dirty="0" err="1"/>
              <a:t>Classid</a:t>
            </a:r>
            <a:r>
              <a:rPr lang="en-US" dirty="0"/>
              <a:t> , Course#, </a:t>
            </a:r>
            <a:r>
              <a:rPr lang="en-US" dirty="0" err="1"/>
              <a:t>Instr_name</a:t>
            </a:r>
            <a:r>
              <a:rPr lang="en-US" dirty="0"/>
              <a:t>, </a:t>
            </a:r>
            <a:r>
              <a:rPr lang="en-US" dirty="0" err="1"/>
              <a:t>Credit_hrs</a:t>
            </a:r>
            <a:r>
              <a:rPr lang="en-US" dirty="0"/>
              <a:t>, Text, Publisher, Classroom, Capacity } = CLASS </a:t>
            </a:r>
          </a:p>
          <a:p>
            <a:r>
              <a:rPr lang="en-US" dirty="0"/>
              <a:t>{ Course#}</a:t>
            </a:r>
            <a:r>
              <a:rPr lang="en-US" baseline="30000" dirty="0"/>
              <a:t>+</a:t>
            </a:r>
            <a:r>
              <a:rPr lang="en-US" dirty="0"/>
              <a:t> = { Course#, </a:t>
            </a:r>
            <a:r>
              <a:rPr lang="en-US" dirty="0" err="1"/>
              <a:t>Credit_hrs</a:t>
            </a:r>
            <a:r>
              <a:rPr lang="en-US" dirty="0"/>
              <a:t> } </a:t>
            </a:r>
          </a:p>
          <a:p>
            <a:r>
              <a:rPr lang="en-US" dirty="0"/>
              <a:t>{ Course#, </a:t>
            </a:r>
            <a:r>
              <a:rPr lang="en-US" dirty="0" err="1"/>
              <a:t>Instr_name</a:t>
            </a:r>
            <a:r>
              <a:rPr lang="en-US" dirty="0"/>
              <a:t> }</a:t>
            </a:r>
            <a:r>
              <a:rPr lang="en-US" baseline="30000" dirty="0"/>
              <a:t>+</a:t>
            </a:r>
            <a:r>
              <a:rPr lang="en-US" dirty="0"/>
              <a:t> = { Course#, </a:t>
            </a:r>
            <a:r>
              <a:rPr lang="en-US" dirty="0" err="1"/>
              <a:t>Credit_hrs</a:t>
            </a:r>
            <a:r>
              <a:rPr lang="en-US" dirty="0"/>
              <a:t>, Text, Publisher, Classroom, Capacity 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B6959-DDEA-A874-D0AD-65B59AFF8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52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EA84F-F93A-84AF-5E07-7D1236993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1C57D-8DD4-37E3-7D80-1AFB89429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closure has interpretation that is revealing about attribute(s) on the left-hand side</a:t>
            </a:r>
          </a:p>
          <a:p>
            <a:r>
              <a:rPr lang="en-US" dirty="0"/>
              <a:t>closure of Course# has only </a:t>
            </a:r>
            <a:r>
              <a:rPr lang="en-US" dirty="0" err="1"/>
              <a:t>Credit_hrs</a:t>
            </a:r>
            <a:r>
              <a:rPr lang="en-US" dirty="0"/>
              <a:t> besides itself, it does not include </a:t>
            </a:r>
            <a:r>
              <a:rPr lang="en-US" dirty="0" err="1"/>
              <a:t>Instr_name</a:t>
            </a:r>
            <a:r>
              <a:rPr lang="en-US" dirty="0"/>
              <a:t> because different instructors could teach same course; it does not include Text because different instructors may use different texts books for same course</a:t>
            </a:r>
          </a:p>
          <a:p>
            <a:r>
              <a:rPr lang="en-US" dirty="0"/>
              <a:t>closure of {Course#, </a:t>
            </a:r>
            <a:r>
              <a:rPr lang="en-US" dirty="0" err="1"/>
              <a:t>Instr_nam</a:t>
            </a:r>
            <a:r>
              <a:rPr lang="en-US" dirty="0"/>
              <a:t>} does not include </a:t>
            </a:r>
            <a:r>
              <a:rPr lang="en-US" dirty="0" err="1"/>
              <a:t>Classid</a:t>
            </a:r>
            <a:r>
              <a:rPr lang="en-US" dirty="0"/>
              <a:t>, which implies that it is not a candidate key; further implies that course with given Course# could be offered by different instructors, which would make courses distinct classes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2CD1E-B27A-A7CD-7AF3-6C2D18AD4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652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AA4EA-0423-F3FC-55DD-0D669199D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1684" cy="1325563"/>
          </a:xfrm>
        </p:spPr>
        <p:txBody>
          <a:bodyPr/>
          <a:lstStyle/>
          <a:p>
            <a:r>
              <a:rPr lang="en-US" dirty="0"/>
              <a:t>Equivalence of Sets of Functional 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7DE43-1918-667B-8153-01C8EB690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</a:t>
            </a:r>
          </a:p>
          <a:p>
            <a:r>
              <a:rPr lang="en-US" dirty="0"/>
              <a:t>a set of functional dependencies F is said to </a:t>
            </a:r>
            <a:r>
              <a:rPr lang="en-US" i="1" dirty="0"/>
              <a:t>cover</a:t>
            </a:r>
            <a:r>
              <a:rPr lang="en-US" dirty="0"/>
              <a:t> another set of functional dependencies E if every FD in E is also in F</a:t>
            </a:r>
            <a:r>
              <a:rPr lang="en-US" baseline="30000" dirty="0"/>
              <a:t>+</a:t>
            </a:r>
            <a:r>
              <a:rPr lang="en-US" dirty="0"/>
              <a:t>; that is, if every dependency in E can be inferred from F; </a:t>
            </a:r>
          </a:p>
          <a:p>
            <a:r>
              <a:rPr lang="en-US" dirty="0"/>
              <a:t>Definition</a:t>
            </a:r>
          </a:p>
          <a:p>
            <a:r>
              <a:rPr lang="en-US" dirty="0"/>
              <a:t>two sets of functional dependencies E and F are equivalent if E</a:t>
            </a:r>
            <a:r>
              <a:rPr lang="en-US" baseline="30000" dirty="0"/>
              <a:t>+</a:t>
            </a:r>
            <a:r>
              <a:rPr lang="en-US" dirty="0"/>
              <a:t> = F</a:t>
            </a:r>
            <a:r>
              <a:rPr lang="en-US" baseline="30000" dirty="0"/>
              <a:t>+</a:t>
            </a:r>
          </a:p>
          <a:p>
            <a:r>
              <a:rPr lang="en-US" dirty="0"/>
              <a:t>equivalence means that every FD in E can be inferred from F, and every FD in F can be inferred from E; that is, E is equivalent to F if both conditions: E covers F and F covers E hold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E30EF-49DC-F001-C7FE-009A59609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139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E09A6-6711-9440-3BD8-8B8374695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5F20D-45F2-2E21-B5B0-304B1585F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sets of FDs are equivalent: </a:t>
            </a:r>
          </a:p>
          <a:p>
            <a:r>
              <a:rPr lang="en-US" dirty="0"/>
              <a:t>E = {A → C, AC → D, E → AD, E → H} </a:t>
            </a:r>
          </a:p>
          <a:p>
            <a:r>
              <a:rPr lang="en-US" dirty="0"/>
              <a:t>and </a:t>
            </a:r>
          </a:p>
          <a:p>
            <a:r>
              <a:rPr lang="en-US" dirty="0"/>
              <a:t>F = {A → CD, E → AH}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127CE3-0EB7-B737-A4F6-7E5FC7E6E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772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26033-36E1-01D5-9DF5-75B172B47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Minimal Sets of Functional 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A7B46-01DF-AA41-01AF-FE0B014EC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applied inference rules to expand on a set F of FDs to arrive at F</a:t>
            </a:r>
            <a:r>
              <a:rPr lang="en-US" baseline="30000" dirty="0"/>
              <a:t>+</a:t>
            </a:r>
            <a:r>
              <a:rPr lang="en-US" dirty="0"/>
              <a:t>, its closure, it is possible to think in opposite direction to see if we could shrink or reduce set F to its minimal form so that minimal set is still equivalent to original set F</a:t>
            </a:r>
          </a:p>
          <a:p>
            <a:r>
              <a:rPr lang="en-US" dirty="0"/>
              <a:t>minimal cover of set of functional dependencies E is a set of functional dependencies F that satisfies property that every dependency in E is in closure F</a:t>
            </a:r>
            <a:r>
              <a:rPr lang="en-US" baseline="30000" dirty="0"/>
              <a:t>+</a:t>
            </a:r>
            <a:r>
              <a:rPr lang="en-US" dirty="0"/>
              <a:t> of F – and in addition, this property is lost if any dependency from set F is removed; F must have no redundancies in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02121-FCEC-23D1-D164-316077DC1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8082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62C5E-5C8C-77A7-A4B8-8276CB9C3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E08E9-46A1-9AEF-7E71-70D903F1C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</a:t>
            </a:r>
          </a:p>
          <a:p>
            <a:r>
              <a:rPr lang="en-US" dirty="0"/>
              <a:t>an attribute in functional dependency is considered </a:t>
            </a:r>
            <a:r>
              <a:rPr lang="en-US" i="1" dirty="0"/>
              <a:t>extraneous attribute</a:t>
            </a:r>
            <a:r>
              <a:rPr lang="en-US" dirty="0"/>
              <a:t> if we can remove it without changing closure of set of dependencies</a:t>
            </a:r>
          </a:p>
          <a:p>
            <a:r>
              <a:rPr lang="en-US" dirty="0"/>
              <a:t>given F, set of functional dependencies, and functional dependency X → A in F, attribute Y is extraneous in X if Y ⊂ X, and F logically implies (F − (X → A) ∪ { (X − Y) → A } 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EFA28-5B47-ECA8-C4C2-BE2EC57E5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0304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E408A-2CA6-DB08-6D05-CA789D804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7D80E-6221-7EE6-B836-84F9B0A52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formally define a set of functional dependencies F to be minimal:</a:t>
            </a:r>
          </a:p>
          <a:p>
            <a:r>
              <a:rPr lang="en-US" dirty="0"/>
              <a:t>every dependency in F has a single attribute for its right-hand side</a:t>
            </a:r>
          </a:p>
          <a:p>
            <a:r>
              <a:rPr lang="en-US" dirty="0"/>
              <a:t>cannot replace any dependency X → A in F with dependency Y → A, where Y is a proper subset of X, and still have a set of dependencies that is equivalent to F</a:t>
            </a:r>
          </a:p>
          <a:p>
            <a:r>
              <a:rPr lang="en-US" dirty="0"/>
              <a:t>cannot remove any dependency from F and still have set of dependencies that is equivalent to F</a:t>
            </a:r>
          </a:p>
          <a:p>
            <a:endParaRPr lang="en-US" dirty="0"/>
          </a:p>
          <a:p>
            <a:r>
              <a:rPr lang="en-US" dirty="0"/>
              <a:t>minimal set of dependencies as being a set of dependencies in standard or canonical form and with no redundancies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2557A-3154-9C4C-C841-94AD4A45B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12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97697-6DB8-0C4B-8E95-37CBCC582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AA5B7-D907-1C74-0EB5-216E98BAD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01516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if several sets of FDs qualify as minimal covers of E by definition above, it is customary to use additional criteria for minimality - choose minimal set with smallest number of dependencies or with smallest total length (calculated by concatenating dependencies and treating them as one long character string)</a:t>
            </a:r>
          </a:p>
          <a:p>
            <a:endParaRPr lang="en-US" dirty="0"/>
          </a:p>
          <a:p>
            <a:r>
              <a:rPr lang="en-US" dirty="0"/>
              <a:t>Definition:</a:t>
            </a:r>
          </a:p>
          <a:p>
            <a:r>
              <a:rPr lang="en-US" dirty="0"/>
              <a:t>a </a:t>
            </a:r>
            <a:r>
              <a:rPr lang="en-US" i="1" dirty="0"/>
              <a:t>minimal cover</a:t>
            </a:r>
            <a:r>
              <a:rPr lang="en-US" dirty="0"/>
              <a:t> of a set of functional dependencies E is a minimal set of dependencies (in standard canonical form and without redundancy) that is equivalent to E</a:t>
            </a:r>
          </a:p>
          <a:p>
            <a:r>
              <a:rPr lang="en-US" dirty="0"/>
              <a:t>can always find at least one minimal cover F for any set of dependencies E using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070A6-56E0-D704-6557-B605B7E78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7839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CD2A9-C8CF-F7B0-2254-72424F72C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C52BD-CABD-7F6E-3AE0-64C85C50F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for Finding Minimal Cover F for </a:t>
            </a:r>
            <a:br>
              <a:rPr lang="en-US" dirty="0"/>
            </a:br>
            <a:r>
              <a:rPr lang="en-US" dirty="0"/>
              <a:t>Set of Functional Dependencies 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3A619-FAD4-5816-BDB1-E410D81E0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31014" cy="4351338"/>
          </a:xfrm>
        </p:spPr>
        <p:txBody>
          <a:bodyPr>
            <a:noAutofit/>
          </a:bodyPr>
          <a:lstStyle/>
          <a:p>
            <a:r>
              <a:rPr lang="en-US" sz="2700" dirty="0"/>
              <a:t>Input: a set of functional dependencies 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700" dirty="0"/>
              <a:t>set F := E.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700" dirty="0"/>
              <a:t>replace each functional dependency X → {A</a:t>
            </a:r>
            <a:r>
              <a:rPr lang="en-US" sz="2700" baseline="-25000" dirty="0"/>
              <a:t>1</a:t>
            </a:r>
            <a:r>
              <a:rPr lang="en-US" sz="2700" dirty="0"/>
              <a:t>, A</a:t>
            </a:r>
            <a:r>
              <a:rPr lang="en-US" sz="2700" baseline="-25000" dirty="0"/>
              <a:t>2</a:t>
            </a:r>
            <a:r>
              <a:rPr lang="en-US" sz="2700" dirty="0"/>
              <a:t>, … , A</a:t>
            </a:r>
            <a:r>
              <a:rPr lang="en-US" sz="2700" baseline="-25000" dirty="0"/>
              <a:t>n</a:t>
            </a:r>
            <a:r>
              <a:rPr lang="en-US" sz="2700" dirty="0"/>
              <a:t>} in F by </a:t>
            </a:r>
            <a:r>
              <a:rPr lang="en-US" sz="2700" i="1" dirty="0"/>
              <a:t>n</a:t>
            </a:r>
            <a:r>
              <a:rPr lang="en-US" sz="2700" dirty="0"/>
              <a:t> functional dependencies X →A</a:t>
            </a:r>
            <a:r>
              <a:rPr lang="en-US" sz="2700" baseline="-25000" dirty="0"/>
              <a:t>1</a:t>
            </a:r>
            <a:r>
              <a:rPr lang="en-US" sz="2700" dirty="0"/>
              <a:t>, X →A</a:t>
            </a:r>
            <a:r>
              <a:rPr lang="en-US" sz="2700" baseline="-25000" dirty="0"/>
              <a:t>2</a:t>
            </a:r>
            <a:r>
              <a:rPr lang="en-US" sz="2700" dirty="0"/>
              <a:t>, … , X → A</a:t>
            </a:r>
            <a:r>
              <a:rPr lang="en-US" sz="2700" baseline="-25000" dirty="0"/>
              <a:t>n</a:t>
            </a:r>
            <a:r>
              <a:rPr lang="en-US" sz="2700" dirty="0"/>
              <a:t>n. </a:t>
            </a:r>
          </a:p>
          <a:p>
            <a:pPr lvl="1"/>
            <a:r>
              <a:rPr lang="en-US" sz="2700" dirty="0"/>
              <a:t>places FDs in canonical form for subsequent testing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700" dirty="0"/>
              <a:t>for each functional dependency X → A in F </a:t>
            </a:r>
          </a:p>
          <a:p>
            <a:pPr lvl="1"/>
            <a:r>
              <a:rPr lang="en-US" sz="2700" dirty="0"/>
              <a:t>for each attribute B that is an element of X </a:t>
            </a:r>
          </a:p>
          <a:p>
            <a:pPr lvl="2"/>
            <a:r>
              <a:rPr lang="en-US" sz="2700" dirty="0"/>
              <a:t>if { {F − {X → A} } ∪ { (X − {B} ) → A} } is equivalent to F then replace X → A with (X − {B} ) → A in F</a:t>
            </a:r>
          </a:p>
          <a:p>
            <a:pPr lvl="2"/>
            <a:r>
              <a:rPr lang="en-US" sz="2500" dirty="0"/>
              <a:t>constitutes removal of extraneous attribute B contained in left hand side X of a functional dependency X → A when possible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CFE0E-5970-B876-47EF-DF7147162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880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884D6-6069-4A39-26CC-F92913E27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6E7C4-8AFF-C431-8938-101238D43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for Finding Minimal Cover F for </a:t>
            </a:r>
            <a:br>
              <a:rPr lang="en-US" dirty="0"/>
            </a:br>
            <a:r>
              <a:rPr lang="en-US" dirty="0"/>
              <a:t>Set of Functional Dependencies 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96F29-2FEB-73C1-BF7E-9B59CF2CC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31014" cy="4351338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sz="2600" dirty="0"/>
              <a:t>for each remaining functional dependency X → A in F </a:t>
            </a:r>
          </a:p>
          <a:p>
            <a:pPr lvl="1"/>
            <a:r>
              <a:rPr lang="en-US" sz="2600" dirty="0"/>
              <a:t>if {F − {X → A} } is equivalent to F, then remove X → A from F</a:t>
            </a:r>
          </a:p>
          <a:p>
            <a:pPr lvl="2"/>
            <a:r>
              <a:rPr lang="en-US" sz="2500" dirty="0"/>
              <a:t>constitutes removal of redundant functional dependency X → A from F when possible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247A5-762D-1DCD-B657-9827774F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3741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05B31-391E-A11A-4A14-B97273D31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06B48-3C3D-59CE-AB33-0526D8038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of FDs be E: {B → A, D → A, AB → D} - find the minimal cover of 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C1538-DCB8-A608-2931-9E14182C7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2363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89139-E83C-3511-25D8-2C00DC46D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E30A6-0CEC-E457-A23D-CB169722B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20A90-70F5-131C-AB32-8D27BB0F6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of FDs be E: {B → A, D → A, AB → D} - find the minimal cover of E</a:t>
            </a:r>
          </a:p>
          <a:p>
            <a:r>
              <a:rPr lang="en-US" dirty="0"/>
              <a:t>all dependencies are in canonical form (they have only one attribute on right-hand side), so we have completed step 1</a:t>
            </a:r>
          </a:p>
          <a:p>
            <a:r>
              <a:rPr lang="en-US" dirty="0"/>
              <a:t>in step 2 we need to determine if AB → D has any redundant (extraneous) attribute on the left-hand side; that is, can it be replaced by B → D or A → D?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3D4EB-7A74-F639-A1D7-0A551474B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7122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4B97B-FFA0-A3E8-5069-53ACFDAE6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78B4D-11D8-0B0C-F115-54DA334B0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08229-1307-357E-59CC-EF5778142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since B → A, by augmenting with B on both sides, we have BB → AB, or B → AB</a:t>
            </a:r>
          </a:p>
          <a:p>
            <a:r>
              <a:rPr lang="en-US" dirty="0"/>
              <a:t>AB → D as given</a:t>
            </a:r>
          </a:p>
          <a:p>
            <a:r>
              <a:rPr lang="en-US" dirty="0"/>
              <a:t>hence by transitive rule get B → D</a:t>
            </a:r>
          </a:p>
          <a:p>
            <a:r>
              <a:rPr lang="en-US" dirty="0"/>
              <a:t>thus AB → D may be replaced by B → D</a:t>
            </a:r>
          </a:p>
          <a:p>
            <a:r>
              <a:rPr lang="en-US" dirty="0"/>
              <a:t>have a set equivalent to original E, say E′: {B → A, D → A, B → D}</a:t>
            </a:r>
          </a:p>
          <a:p>
            <a:r>
              <a:rPr lang="en-US" dirty="0"/>
              <a:t>no further reduction is possible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7AEE-6048-13F4-77D5-2C3CD888E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885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3E83F-CFEE-2926-E32F-93716D6A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078ED-71AF-4EC8-D3ED-C8E6EF5F4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step 3 we look for redundant FD in E′</a:t>
            </a:r>
          </a:p>
          <a:p>
            <a:r>
              <a:rPr lang="en-US" dirty="0"/>
              <a:t>by using transitive rule on B → D and D → A, we derive B → A</a:t>
            </a:r>
          </a:p>
          <a:p>
            <a:r>
              <a:rPr lang="en-US" dirty="0"/>
              <a:t>hence B → A is redundant in E′ and can be eliminated</a:t>
            </a:r>
          </a:p>
          <a:p>
            <a:endParaRPr lang="en-US" dirty="0"/>
          </a:p>
          <a:p>
            <a:r>
              <a:rPr lang="en-US" dirty="0"/>
              <a:t>minimal cover of E is F: {B → D, D → A}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2EC35-3C08-4439-04A3-B8261500E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8750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6C281-1E5A-7FD3-41B4-C83715B95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EB37-9C28-8D99-BCC7-C37C8AA62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7613F-58DE-29D6-235E-5F36965EB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of FDs be E: {A → BCDE, CD → E} - find the minimal cover of 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43E61-D725-05BC-222F-86E3BEA2F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541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F5F56-6F50-7078-AD26-B7E13671D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to determine the key of a 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80DB8-EBA6-2BA4-F7DB-548774022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algorithm finding key K for R; given set F of Functional Dependencies</a:t>
            </a:r>
          </a:p>
          <a:p>
            <a:r>
              <a:rPr lang="en-US" dirty="0"/>
              <a:t>Input: relation R and a set of functional dependencies F on attributes of 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set K := 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each attribute A in K {compute (K − A)</a:t>
            </a:r>
            <a:r>
              <a:rPr lang="en-US" baseline="30000" dirty="0"/>
              <a:t>+</a:t>
            </a:r>
            <a:r>
              <a:rPr lang="en-US" dirty="0"/>
              <a:t> with respect to F; if (K − A)</a:t>
            </a:r>
            <a:r>
              <a:rPr lang="en-US" baseline="30000" dirty="0"/>
              <a:t>+</a:t>
            </a:r>
            <a:r>
              <a:rPr lang="en-US" dirty="0"/>
              <a:t> contains all attributes in R, then set K := K − {A} 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A41E2-114D-C75D-E55D-E176C8F4A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036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530D8-3159-2E27-2B25-F7684BF58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FAA87-D6E9-8F29-C5EF-04A8D3B90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by setting K to all attributes of R; we can say that R itself is always a default </a:t>
            </a:r>
            <a:r>
              <a:rPr lang="en-US" dirty="0" err="1"/>
              <a:t>superkey</a:t>
            </a:r>
            <a:endParaRPr lang="en-US" dirty="0"/>
          </a:p>
          <a:p>
            <a:r>
              <a:rPr lang="en-US" dirty="0"/>
              <a:t>then remove one attribute at a time and check whether remaining attributes still form a </a:t>
            </a:r>
            <a:r>
              <a:rPr lang="en-US" dirty="0" err="1"/>
              <a:t>superkey</a:t>
            </a:r>
            <a:endParaRPr lang="en-US" dirty="0"/>
          </a:p>
          <a:p>
            <a:r>
              <a:rPr lang="en-US" dirty="0"/>
              <a:t>determines only one key out of possible candidate keys for R; key returned depends on order in which attributes are removed from R in step 2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B458C-186B-900B-B382-0B79AAFFC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0146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37E62-0921-FD84-DBF1-2D2D9D401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8649B-8144-7486-8D00-85CD48862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858"/>
            <a:ext cx="10515600" cy="4879105"/>
          </a:xfrm>
        </p:spPr>
        <p:txBody>
          <a:bodyPr>
            <a:normAutofit/>
          </a:bodyPr>
          <a:lstStyle/>
          <a:p>
            <a:r>
              <a:rPr lang="en-US" dirty="0"/>
              <a:t>relational database design algorithms that we present start from single universal relation schema </a:t>
            </a:r>
            <a:r>
              <a:rPr lang="en-US" i="1" dirty="0"/>
              <a:t>R </a:t>
            </a:r>
            <a:r>
              <a:rPr lang="en-US" dirty="0"/>
              <a:t>= {</a:t>
            </a:r>
            <a:r>
              <a:rPr lang="en-US" i="1" dirty="0"/>
              <a:t>A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A</a:t>
            </a:r>
            <a:r>
              <a:rPr lang="en-US" baseline="-25000" dirty="0"/>
              <a:t>2</a:t>
            </a:r>
            <a:r>
              <a:rPr lang="en-US" dirty="0"/>
              <a:t>, … , </a:t>
            </a:r>
            <a:r>
              <a:rPr lang="en-US" i="1" dirty="0"/>
              <a:t>A</a:t>
            </a:r>
            <a:r>
              <a:rPr lang="en-US" baseline="-25000" dirty="0"/>
              <a:t>n</a:t>
            </a:r>
            <a:r>
              <a:rPr lang="en-US" dirty="0"/>
              <a:t>} that includes </a:t>
            </a:r>
            <a:r>
              <a:rPr lang="en-US" i="1" dirty="0"/>
              <a:t>all </a:t>
            </a:r>
            <a:r>
              <a:rPr lang="en-US" dirty="0"/>
              <a:t>attributes of database</a:t>
            </a:r>
          </a:p>
          <a:p>
            <a:r>
              <a:rPr lang="en-US" dirty="0"/>
              <a:t>universal relation assumption, which states that every attribute name is unique</a:t>
            </a:r>
          </a:p>
          <a:p>
            <a:r>
              <a:rPr lang="en-US" dirty="0"/>
              <a:t>set </a:t>
            </a:r>
            <a:r>
              <a:rPr lang="en-US" i="1" dirty="0"/>
              <a:t>F </a:t>
            </a:r>
            <a:r>
              <a:rPr lang="en-US" dirty="0"/>
              <a:t>of functional dependencies that should hold on attributes of </a:t>
            </a:r>
            <a:r>
              <a:rPr lang="en-US" i="1" dirty="0"/>
              <a:t>R </a:t>
            </a:r>
            <a:r>
              <a:rPr lang="en-US" dirty="0"/>
              <a:t>is specified </a:t>
            </a:r>
          </a:p>
          <a:p>
            <a:r>
              <a:rPr lang="en-US" dirty="0"/>
              <a:t>using Functional Dependencies, the algorithms decompose universal relation schema </a:t>
            </a:r>
            <a:r>
              <a:rPr lang="en-US" i="1" dirty="0"/>
              <a:t>R </a:t>
            </a:r>
            <a:r>
              <a:rPr lang="en-US" dirty="0"/>
              <a:t>into a set of relation schemas </a:t>
            </a:r>
            <a:r>
              <a:rPr lang="en-US" i="1" dirty="0"/>
              <a:t>D </a:t>
            </a:r>
            <a:r>
              <a:rPr lang="en-US" dirty="0"/>
              <a:t>= {</a:t>
            </a:r>
            <a:r>
              <a:rPr lang="en-US" i="1" dirty="0"/>
              <a:t>R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R</a:t>
            </a:r>
            <a:r>
              <a:rPr lang="en-US" baseline="-25000" dirty="0"/>
              <a:t>2</a:t>
            </a:r>
            <a:r>
              <a:rPr lang="en-US" dirty="0"/>
              <a:t>, … , </a:t>
            </a:r>
            <a:r>
              <a:rPr lang="en-US" i="1" dirty="0"/>
              <a:t>R</a:t>
            </a:r>
            <a:r>
              <a:rPr lang="en-US" baseline="-25000" dirty="0"/>
              <a:t>m</a:t>
            </a:r>
            <a:r>
              <a:rPr lang="en-US" dirty="0"/>
              <a:t>} that will become the relational database schema</a:t>
            </a:r>
          </a:p>
          <a:p>
            <a:r>
              <a:rPr lang="en-US" i="1" dirty="0"/>
              <a:t>D </a:t>
            </a:r>
            <a:r>
              <a:rPr lang="en-US" dirty="0"/>
              <a:t>is called a decomposition of </a:t>
            </a:r>
            <a:r>
              <a:rPr lang="en-US" i="1" dirty="0"/>
              <a:t>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ED822-0C0E-CAFC-CC28-4712FAF55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5957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EAE07-1371-80C4-3C01-CF9E79A7C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16AEC-BB17-B704-8573-44E385A3E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make sure that each attribute in </a:t>
            </a:r>
            <a:r>
              <a:rPr lang="en-US" i="1" dirty="0"/>
              <a:t>R </a:t>
            </a:r>
            <a:r>
              <a:rPr lang="en-US" dirty="0"/>
              <a:t>will appear in at least one relation schema </a:t>
            </a:r>
            <a:r>
              <a:rPr lang="en-US" i="1" dirty="0"/>
              <a:t>R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in the decomposition so that no attributes are </a:t>
            </a:r>
            <a:r>
              <a:rPr lang="en-US" i="1" dirty="0"/>
              <a:t>lost</a:t>
            </a:r>
          </a:p>
          <a:p>
            <a:r>
              <a:rPr lang="en-US" dirty="0"/>
              <a:t>this is called the </a:t>
            </a:r>
            <a:r>
              <a:rPr lang="en-US" i="1" dirty="0"/>
              <a:t>attribute preservation </a:t>
            </a:r>
            <a:r>
              <a:rPr lang="en-US" dirty="0"/>
              <a:t>condition of a decomposition</a:t>
            </a:r>
          </a:p>
          <a:p>
            <a:r>
              <a:rPr lang="en-US" dirty="0"/>
              <a:t>another goal is to have each individual relation R</a:t>
            </a:r>
            <a:r>
              <a:rPr lang="en-US" baseline="-25000" dirty="0"/>
              <a:t>i</a:t>
            </a:r>
            <a:r>
              <a:rPr lang="en-US" dirty="0"/>
              <a:t> in the decomposition D be in BCNF or 3NF … However, this condition is not sufficient to guarantee a good database design on its own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3D545-B43C-2B02-B858-02B199F9A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307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6D568-E1C5-D7DE-6061-A2DCB82AA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Preservation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72275-913E-3F9D-DF0A-02A84B621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would be useful if each functional dependency </a:t>
            </a:r>
            <a:r>
              <a:rPr lang="en-US" i="1" dirty="0"/>
              <a:t>X </a:t>
            </a:r>
            <a:r>
              <a:rPr lang="en-US" dirty="0"/>
              <a:t>→ </a:t>
            </a:r>
            <a:r>
              <a:rPr lang="en-US" i="1" dirty="0"/>
              <a:t>Y </a:t>
            </a:r>
            <a:r>
              <a:rPr lang="en-US" dirty="0"/>
              <a:t>specified in </a:t>
            </a:r>
            <a:r>
              <a:rPr lang="en-US" i="1" dirty="0"/>
              <a:t>F </a:t>
            </a:r>
            <a:r>
              <a:rPr lang="en-US" dirty="0"/>
              <a:t>Functional Dependencies set either appeared directly in one of  relation schemas </a:t>
            </a:r>
            <a:r>
              <a:rPr lang="en-US" i="1" dirty="0"/>
              <a:t>R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in decomposition </a:t>
            </a:r>
            <a:r>
              <a:rPr lang="en-US" i="1" dirty="0"/>
              <a:t>D </a:t>
            </a:r>
            <a:r>
              <a:rPr lang="en-US" dirty="0"/>
              <a:t>or could be inferred from dependencies that appear in some </a:t>
            </a:r>
            <a:r>
              <a:rPr lang="en-US" i="1" dirty="0"/>
              <a:t>R</a:t>
            </a:r>
            <a:r>
              <a:rPr lang="en-US" i="1" baseline="-25000" dirty="0"/>
              <a:t>i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49FDB-28A1-8FB5-4961-8C076142F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9288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B7B8B-6ED7-E527-B372-98FD555D6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0F7BD-8775-DB68-F8CD-B4E6B2BE7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a set of dependencies </a:t>
            </a:r>
            <a:r>
              <a:rPr lang="en-US" i="1" dirty="0"/>
              <a:t>F </a:t>
            </a:r>
            <a:r>
              <a:rPr lang="en-US" dirty="0"/>
              <a:t>on </a:t>
            </a:r>
            <a:r>
              <a:rPr lang="en-US" i="1" dirty="0"/>
              <a:t>R</a:t>
            </a:r>
            <a:r>
              <a:rPr lang="en-US" dirty="0"/>
              <a:t>, projection of </a:t>
            </a:r>
            <a:r>
              <a:rPr lang="en-US" i="1" dirty="0"/>
              <a:t>F </a:t>
            </a:r>
            <a:r>
              <a:rPr lang="en-US" dirty="0"/>
              <a:t>on </a:t>
            </a:r>
            <a:r>
              <a:rPr lang="en-US" i="1" dirty="0"/>
              <a:t>R</a:t>
            </a:r>
            <a:r>
              <a:rPr lang="en-US" i="1" baseline="-25000" dirty="0"/>
              <a:t>i</a:t>
            </a:r>
            <a:r>
              <a:rPr lang="en-US" dirty="0"/>
              <a:t>, denoted by </a:t>
            </a:r>
            <a:r>
              <a:rPr lang="en-US" i="1" dirty="0"/>
              <a:t>πR</a:t>
            </a:r>
            <a:r>
              <a:rPr lang="en-US" i="1" baseline="-25000" dirty="0"/>
              <a:t>i</a:t>
            </a:r>
            <a:r>
              <a:rPr lang="en-US" dirty="0"/>
              <a:t>(</a:t>
            </a:r>
            <a:r>
              <a:rPr lang="en-US" i="1" dirty="0"/>
              <a:t>F</a:t>
            </a:r>
            <a:r>
              <a:rPr lang="en-US" dirty="0"/>
              <a:t>) where </a:t>
            </a:r>
            <a:r>
              <a:rPr lang="en-US" i="1" dirty="0"/>
              <a:t>R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is a subset of </a:t>
            </a:r>
            <a:r>
              <a:rPr lang="en-US" i="1" dirty="0"/>
              <a:t>R</a:t>
            </a:r>
            <a:r>
              <a:rPr lang="en-US" dirty="0"/>
              <a:t>, is the set of dependencies </a:t>
            </a:r>
            <a:r>
              <a:rPr lang="en-US" i="1" dirty="0"/>
              <a:t>X </a:t>
            </a:r>
            <a:r>
              <a:rPr lang="en-US" dirty="0"/>
              <a:t>→ </a:t>
            </a:r>
            <a:r>
              <a:rPr lang="en-US" i="1" dirty="0"/>
              <a:t>Y </a:t>
            </a:r>
            <a:r>
              <a:rPr lang="en-US" dirty="0"/>
              <a:t>in </a:t>
            </a:r>
            <a:r>
              <a:rPr lang="en-US" i="1" dirty="0"/>
              <a:t>F</a:t>
            </a:r>
            <a:r>
              <a:rPr lang="en-US" baseline="30000" dirty="0"/>
              <a:t>+</a:t>
            </a:r>
            <a:r>
              <a:rPr lang="en-US" dirty="0"/>
              <a:t> such that the attributes in </a:t>
            </a:r>
            <a:r>
              <a:rPr lang="en-US" i="1" dirty="0"/>
              <a:t>X </a:t>
            </a:r>
            <a:r>
              <a:rPr lang="en-US" dirty="0"/>
              <a:t>∪ </a:t>
            </a:r>
            <a:r>
              <a:rPr lang="en-US" i="1" dirty="0"/>
              <a:t>Y </a:t>
            </a:r>
            <a:r>
              <a:rPr lang="en-US" dirty="0"/>
              <a:t>are all contained in </a:t>
            </a:r>
            <a:r>
              <a:rPr lang="en-US" i="1" dirty="0"/>
              <a:t>R</a:t>
            </a:r>
            <a:r>
              <a:rPr lang="en-US" i="1" baseline="-25000" dirty="0"/>
              <a:t>i</a:t>
            </a:r>
            <a:r>
              <a:rPr lang="en-US" dirty="0"/>
              <a:t> </a:t>
            </a:r>
          </a:p>
          <a:p>
            <a:r>
              <a:rPr lang="en-US" dirty="0"/>
              <a:t>projection of </a:t>
            </a:r>
            <a:r>
              <a:rPr lang="en-US" i="1" dirty="0"/>
              <a:t>F </a:t>
            </a:r>
            <a:r>
              <a:rPr lang="en-US" dirty="0"/>
              <a:t>on each relation schema </a:t>
            </a:r>
            <a:r>
              <a:rPr lang="en-US" i="1" dirty="0"/>
              <a:t>R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in decomposition </a:t>
            </a:r>
            <a:r>
              <a:rPr lang="en-US" i="1" dirty="0"/>
              <a:t>D </a:t>
            </a:r>
            <a:r>
              <a:rPr lang="en-US" dirty="0"/>
              <a:t>is the set of functional dependencies in </a:t>
            </a:r>
            <a:r>
              <a:rPr lang="en-US" i="1" dirty="0"/>
              <a:t>F</a:t>
            </a:r>
            <a:r>
              <a:rPr lang="en-US" baseline="30000" dirty="0"/>
              <a:t>+</a:t>
            </a:r>
            <a:r>
              <a:rPr lang="en-US" dirty="0"/>
              <a:t>, closure of </a:t>
            </a:r>
            <a:r>
              <a:rPr lang="en-US" i="1" dirty="0"/>
              <a:t>F</a:t>
            </a:r>
            <a:r>
              <a:rPr lang="en-US" dirty="0"/>
              <a:t>, such that all left and right hand-side attributes of those dependencies are in </a:t>
            </a:r>
            <a:r>
              <a:rPr lang="en-US" i="1" dirty="0"/>
              <a:t>R</a:t>
            </a:r>
            <a:r>
              <a:rPr lang="en-US" i="1" baseline="-25000" dirty="0"/>
              <a:t>i</a:t>
            </a:r>
          </a:p>
          <a:p>
            <a:r>
              <a:rPr lang="en-US" dirty="0"/>
              <a:t>a decomposition </a:t>
            </a:r>
            <a:r>
              <a:rPr lang="en-US" i="1" dirty="0"/>
              <a:t>D </a:t>
            </a:r>
            <a:r>
              <a:rPr lang="en-US" dirty="0"/>
              <a:t>= {</a:t>
            </a:r>
            <a:r>
              <a:rPr lang="en-US" i="1" dirty="0"/>
              <a:t>R</a:t>
            </a:r>
            <a:r>
              <a:rPr lang="en-US" i="1" baseline="-25000" dirty="0"/>
              <a:t>1</a:t>
            </a:r>
            <a:r>
              <a:rPr lang="en-US" dirty="0"/>
              <a:t>, </a:t>
            </a:r>
            <a:r>
              <a:rPr lang="en-US" i="1" dirty="0"/>
              <a:t>R</a:t>
            </a:r>
            <a:r>
              <a:rPr lang="en-US" i="1" baseline="-25000" dirty="0"/>
              <a:t>2</a:t>
            </a:r>
            <a:r>
              <a:rPr lang="en-US" dirty="0"/>
              <a:t>, … , </a:t>
            </a:r>
            <a:r>
              <a:rPr lang="en-US" i="1" dirty="0"/>
              <a:t>R</a:t>
            </a:r>
            <a:r>
              <a:rPr lang="en-US" i="1" baseline="-25000" dirty="0"/>
              <a:t>m</a:t>
            </a:r>
            <a:r>
              <a:rPr lang="en-US" dirty="0"/>
              <a:t>} of </a:t>
            </a:r>
            <a:r>
              <a:rPr lang="en-US" i="1" dirty="0"/>
              <a:t>R </a:t>
            </a:r>
            <a:r>
              <a:rPr lang="en-US" dirty="0"/>
              <a:t>is dependency-preserving with respect to </a:t>
            </a:r>
            <a:r>
              <a:rPr lang="en-US" i="1" dirty="0"/>
              <a:t>F </a:t>
            </a:r>
            <a:r>
              <a:rPr lang="en-US" dirty="0"/>
              <a:t>if the union of projections of </a:t>
            </a:r>
            <a:r>
              <a:rPr lang="en-US" i="1" dirty="0"/>
              <a:t>F </a:t>
            </a:r>
            <a:r>
              <a:rPr lang="en-US" dirty="0"/>
              <a:t>on each </a:t>
            </a:r>
            <a:r>
              <a:rPr lang="en-US" i="1" dirty="0"/>
              <a:t>R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in </a:t>
            </a:r>
            <a:r>
              <a:rPr lang="en-US" i="1" dirty="0"/>
              <a:t>D </a:t>
            </a:r>
            <a:r>
              <a:rPr lang="en-US" dirty="0"/>
              <a:t>is equivalent to </a:t>
            </a:r>
            <a:r>
              <a:rPr lang="en-US" i="1" dirty="0"/>
              <a:t>F</a:t>
            </a:r>
            <a:endParaRPr lang="en-US" dirty="0"/>
          </a:p>
          <a:p>
            <a:r>
              <a:rPr lang="el-GR" dirty="0"/>
              <a:t>((π</a:t>
            </a:r>
            <a:r>
              <a:rPr lang="en-US" i="1" dirty="0"/>
              <a:t>R</a:t>
            </a:r>
            <a:r>
              <a:rPr lang="en-US" baseline="-25000" dirty="0"/>
              <a:t>1</a:t>
            </a:r>
            <a:r>
              <a:rPr lang="en-US" dirty="0"/>
              <a:t>(</a:t>
            </a:r>
            <a:r>
              <a:rPr lang="en-US" i="1" dirty="0"/>
              <a:t>F</a:t>
            </a:r>
            <a:r>
              <a:rPr lang="en-US" dirty="0"/>
              <a:t>)) ∪ … ∪ (</a:t>
            </a:r>
            <a:r>
              <a:rPr lang="el-GR" dirty="0"/>
              <a:t>π</a:t>
            </a:r>
            <a:r>
              <a:rPr lang="en-US" i="1" dirty="0"/>
              <a:t>R</a:t>
            </a:r>
            <a:r>
              <a:rPr lang="en-US" i="1" baseline="-25000" dirty="0"/>
              <a:t>m</a:t>
            </a:r>
            <a:r>
              <a:rPr lang="en-US" dirty="0"/>
              <a:t>(F)))</a:t>
            </a:r>
            <a:r>
              <a:rPr lang="en-US" baseline="30000" dirty="0"/>
              <a:t>+</a:t>
            </a:r>
            <a:r>
              <a:rPr lang="en-US" dirty="0"/>
              <a:t> = </a:t>
            </a:r>
            <a:r>
              <a:rPr lang="en-US" i="1" dirty="0"/>
              <a:t>F</a:t>
            </a:r>
            <a:r>
              <a:rPr lang="en-US" baseline="30000" dirty="0"/>
              <a:t>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F245D-0DE5-5750-D6D2-E1DA92AA7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4253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F11D-6694-3031-E5ED-B70A035FB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8A5AE-A071-9BDD-3E93-B889BA3F9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decomposition is not dependency-preserving, some dependency is </a:t>
            </a:r>
            <a:r>
              <a:rPr lang="en-US" b="1" i="1" dirty="0"/>
              <a:t>lost</a:t>
            </a:r>
            <a:r>
              <a:rPr lang="en-US" b="1" dirty="0"/>
              <a:t> </a:t>
            </a:r>
            <a:r>
              <a:rPr lang="en-US" dirty="0"/>
              <a:t>in decomposition</a:t>
            </a:r>
          </a:p>
          <a:p>
            <a:r>
              <a:rPr lang="en-US" dirty="0"/>
              <a:t>to check that lost dependency holds, we must take JOIN of two or more relations in decomposition to get a relation that includes all left and right hand-side attributes of lost dependency, and then check that dependency holds on result of JOIN - option that is not practical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E023E-7ACC-136E-1DF1-406A78973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296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B13A4-4060-C55E-3FDD-582436CFE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377AF-91DC-A97C-E064-BE02C48E9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45645" cy="4351338"/>
          </a:xfrm>
        </p:spPr>
        <p:txBody>
          <a:bodyPr>
            <a:normAutofit/>
          </a:bodyPr>
          <a:lstStyle/>
          <a:p>
            <a:endParaRPr lang="en-US" sz="3000" dirty="0"/>
          </a:p>
          <a:p>
            <a:endParaRPr lang="en-US" sz="3000" dirty="0"/>
          </a:p>
          <a:p>
            <a:r>
              <a:rPr lang="en-US" sz="3000" b="1" i="1" dirty="0"/>
              <a:t>it is always possible to find dependency-preserving decomposition D with respect to F such that each relation R</a:t>
            </a:r>
            <a:r>
              <a:rPr lang="en-US" sz="3000" b="1" i="1" baseline="-25000" dirty="0"/>
              <a:t>i</a:t>
            </a:r>
            <a:r>
              <a:rPr lang="en-US" sz="3000" b="1" i="1" dirty="0"/>
              <a:t> in D is in 3NF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3EA28-FAC1-1B7C-88DC-EC57D979D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3164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8884E-96C6-D0D7-61F3-BD1A33C2D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Nonadditive (Lossless) Join </a:t>
            </a:r>
            <a:br>
              <a:rPr lang="en-US" dirty="0"/>
            </a:br>
            <a:r>
              <a:rPr lang="en-US" dirty="0"/>
              <a:t>property of 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8105F-DCC5-AF6E-C737-BA39C1FD2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 false tuples are generated when NATURAL JOIN operation is applied to relations resulting from decomposition</a:t>
            </a:r>
          </a:p>
          <a:p>
            <a:r>
              <a:rPr lang="en-US" dirty="0"/>
              <a:t>a decomposition </a:t>
            </a:r>
            <a:r>
              <a:rPr lang="en-US" i="1" dirty="0"/>
              <a:t>D </a:t>
            </a:r>
            <a:r>
              <a:rPr lang="en-US" dirty="0"/>
              <a:t>= {</a:t>
            </a:r>
            <a:r>
              <a:rPr lang="en-US" i="1" dirty="0"/>
              <a:t>R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R</a:t>
            </a:r>
            <a:r>
              <a:rPr lang="en-US" baseline="-25000" dirty="0"/>
              <a:t>2</a:t>
            </a:r>
            <a:r>
              <a:rPr lang="en-US" dirty="0"/>
              <a:t>, … , </a:t>
            </a:r>
            <a:r>
              <a:rPr lang="en-US" i="1" dirty="0"/>
              <a:t>Rm</a:t>
            </a:r>
            <a:r>
              <a:rPr lang="en-US" dirty="0"/>
              <a:t>} of </a:t>
            </a:r>
            <a:r>
              <a:rPr lang="en-US" i="1" dirty="0"/>
              <a:t>R </a:t>
            </a:r>
            <a:r>
              <a:rPr lang="en-US" dirty="0"/>
              <a:t>has the lossless (nonadditive) join property with respect to set of dependencies </a:t>
            </a:r>
            <a:r>
              <a:rPr lang="en-US" i="1" dirty="0"/>
              <a:t>F </a:t>
            </a:r>
            <a:r>
              <a:rPr lang="en-US" dirty="0"/>
              <a:t>on </a:t>
            </a:r>
            <a:r>
              <a:rPr lang="en-US" i="1" dirty="0"/>
              <a:t>R </a:t>
            </a:r>
            <a:r>
              <a:rPr lang="en-US" dirty="0"/>
              <a:t>if, for </a:t>
            </a:r>
            <a:r>
              <a:rPr lang="en-US" i="1" dirty="0"/>
              <a:t>every </a:t>
            </a:r>
            <a:r>
              <a:rPr lang="en-US" dirty="0"/>
              <a:t>relation state </a:t>
            </a:r>
            <a:r>
              <a:rPr lang="en-US" i="1" dirty="0"/>
              <a:t>r </a:t>
            </a:r>
            <a:r>
              <a:rPr lang="en-US" dirty="0"/>
              <a:t>of </a:t>
            </a:r>
            <a:r>
              <a:rPr lang="en-US" i="1" dirty="0"/>
              <a:t>R </a:t>
            </a:r>
            <a:r>
              <a:rPr lang="en-US" dirty="0"/>
              <a:t>that satisfies </a:t>
            </a:r>
            <a:r>
              <a:rPr lang="en-US" i="1" dirty="0"/>
              <a:t>F</a:t>
            </a:r>
            <a:r>
              <a:rPr lang="en-US" dirty="0"/>
              <a:t>, following holds:</a:t>
            </a:r>
          </a:p>
          <a:p>
            <a:r>
              <a:rPr lang="en-US" dirty="0"/>
              <a:t>*(π</a:t>
            </a:r>
            <a:r>
              <a:rPr lang="en-US" i="1" dirty="0"/>
              <a:t>R</a:t>
            </a:r>
            <a:r>
              <a:rPr lang="en-US" baseline="-25000" dirty="0"/>
              <a:t>1</a:t>
            </a:r>
            <a:r>
              <a:rPr lang="en-US" dirty="0"/>
              <a:t>(</a:t>
            </a:r>
            <a:r>
              <a:rPr lang="en-US" i="1" dirty="0"/>
              <a:t>r</a:t>
            </a:r>
            <a:r>
              <a:rPr lang="en-US" dirty="0"/>
              <a:t>), … , π</a:t>
            </a:r>
            <a:r>
              <a:rPr lang="en-US" i="1" dirty="0"/>
              <a:t>R</a:t>
            </a:r>
            <a:r>
              <a:rPr lang="en-US" i="1" baseline="-25000" dirty="0"/>
              <a:t>m</a:t>
            </a:r>
            <a:r>
              <a:rPr lang="en-US" dirty="0"/>
              <a:t>(</a:t>
            </a:r>
            <a:r>
              <a:rPr lang="en-US" i="1" dirty="0"/>
              <a:t>r</a:t>
            </a:r>
            <a:r>
              <a:rPr lang="en-US" dirty="0"/>
              <a:t>)) = </a:t>
            </a:r>
            <a:r>
              <a:rPr lang="en-US" i="1" dirty="0"/>
              <a:t>r</a:t>
            </a:r>
            <a:endParaRPr lang="en-US" dirty="0"/>
          </a:p>
          <a:p>
            <a:r>
              <a:rPr lang="en-US" dirty="0"/>
              <a:t>, where * is the NATURAL JOIN of all relations in </a:t>
            </a:r>
            <a:r>
              <a:rPr lang="en-US" i="1" dirty="0"/>
              <a:t>D</a:t>
            </a:r>
          </a:p>
          <a:p>
            <a:endParaRPr lang="en-US" i="1" dirty="0"/>
          </a:p>
          <a:p>
            <a:r>
              <a:rPr lang="en-US" dirty="0"/>
              <a:t>word loss in </a:t>
            </a:r>
            <a:r>
              <a:rPr lang="en-US" i="1" dirty="0"/>
              <a:t>lossless </a:t>
            </a:r>
            <a:r>
              <a:rPr lang="en-US" dirty="0"/>
              <a:t>refers to </a:t>
            </a:r>
            <a:r>
              <a:rPr lang="en-US" i="1" dirty="0"/>
              <a:t>loss of information</a:t>
            </a:r>
            <a:r>
              <a:rPr lang="en-US" dirty="0"/>
              <a:t>, not to loss of tuples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6E31C-E578-B78D-9EBE-AC57A2360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389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94587-5DF2-E579-09C5-2CF2425B8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58D61-3787-FF76-386F-13BC4122C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if decomposition does not have lossless join property, we may get additional false tuples after PROJECT (</a:t>
            </a:r>
            <a:r>
              <a:rPr lang="en-US" i="1" dirty="0"/>
              <a:t>π</a:t>
            </a:r>
            <a:r>
              <a:rPr lang="en-US" dirty="0"/>
              <a:t>) and NATURAL JOIN (*) operations are applied - these additional tuples represent erroneous or invalid information</a:t>
            </a:r>
          </a:p>
          <a:p>
            <a:r>
              <a:rPr lang="en-US" dirty="0"/>
              <a:t>prefer the term </a:t>
            </a:r>
            <a:r>
              <a:rPr lang="en-US" i="1" dirty="0"/>
              <a:t>nonadditive join </a:t>
            </a:r>
            <a:r>
              <a:rPr lang="en-US" dirty="0"/>
              <a:t>because it describes situation more accurately</a:t>
            </a:r>
          </a:p>
          <a:p>
            <a:r>
              <a:rPr lang="en-US" dirty="0"/>
              <a:t>the term </a:t>
            </a:r>
            <a:r>
              <a:rPr lang="en-US" i="1" dirty="0"/>
              <a:t>lossless join </a:t>
            </a:r>
            <a:r>
              <a:rPr lang="en-US" dirty="0"/>
              <a:t>has been popular in the literature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62085-DD5A-5F5F-CEB2-3759763D1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359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52AB17-C1BD-6FBC-5A10-41D088819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Algorithms for </a:t>
            </a:r>
            <a:br>
              <a:rPr lang="en-US" b="1" dirty="0"/>
            </a:br>
            <a:r>
              <a:rPr lang="en-US" sz="5400" b="1" dirty="0"/>
              <a:t>Relational Database Schema Design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432E27A-8AF9-B597-7251-173CB4EC08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939D7-FB36-35B7-8754-DBCE1DE18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6288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AE0A7-2DD5-1FA8-7257-2A9049D6B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2F2D1-6760-488D-8203-ADB79576D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not possible to have all three of the following</a:t>
            </a:r>
            <a:r>
              <a:rPr lang="en-US" dirty="0"/>
              <a:t>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guaranteed non lossy (nonadditive) design</a:t>
            </a:r>
          </a:p>
          <a:p>
            <a:r>
              <a:rPr lang="en-US" dirty="0"/>
              <a:t>is a must and cannot be compromised.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dirty="0"/>
              <a:t>guaranteed dependency preservation</a:t>
            </a:r>
          </a:p>
          <a:p>
            <a:r>
              <a:rPr lang="en-US" dirty="0"/>
              <a:t>desirable, but not a must, and may have to be relaxed if we insist on achieving BCNF; original lost FDs can be recovered by JOIN operation over results of decomposition 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US" dirty="0"/>
              <a:t>all relations in BCNF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34428-0753-E67F-4E06-F931012C5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7195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5DFDC-04E8-BA5F-A792-3F6319713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4DD53-E0EA-EAB7-C2CB-4EA752C69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	algorithm where we achieve conditions 1 and 2 and only guarantee 3NF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46D66-1FE4-68FD-CF32-DD81A8F1A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5171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84DB6-CDF3-D60B-0414-C6A2492C3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55C6D-941B-02F5-47B7-1AEA95613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given relation </a:t>
            </a:r>
            <a:r>
              <a:rPr lang="en-US" i="1" dirty="0"/>
              <a:t>R </a:t>
            </a:r>
            <a:r>
              <a:rPr lang="en-US" dirty="0"/>
              <a:t>and set of functional dependencies </a:t>
            </a:r>
            <a:r>
              <a:rPr lang="en-US" i="1" dirty="0"/>
              <a:t>F </a:t>
            </a:r>
            <a:r>
              <a:rPr lang="en-US" dirty="0"/>
              <a:t>on attributes of </a:t>
            </a:r>
            <a:r>
              <a:rPr lang="en-US" i="1" dirty="0"/>
              <a:t>R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find a minimal cover </a:t>
            </a:r>
            <a:r>
              <a:rPr lang="en-US" i="1" dirty="0"/>
              <a:t>G </a:t>
            </a:r>
            <a:r>
              <a:rPr lang="en-US" dirty="0"/>
              <a:t>for </a:t>
            </a:r>
            <a:r>
              <a:rPr lang="en-US" i="1" dirty="0"/>
              <a:t>F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each left-hand-side </a:t>
            </a:r>
            <a:r>
              <a:rPr lang="en-US" i="1" dirty="0"/>
              <a:t>X </a:t>
            </a:r>
            <a:r>
              <a:rPr lang="en-US" dirty="0"/>
              <a:t>of a functional dependency that appears in </a:t>
            </a:r>
            <a:r>
              <a:rPr lang="en-US" i="1" dirty="0"/>
              <a:t>G</a:t>
            </a:r>
            <a:r>
              <a:rPr lang="en-US" dirty="0"/>
              <a:t>, create relation schema in </a:t>
            </a:r>
            <a:r>
              <a:rPr lang="en-US" i="1" dirty="0"/>
              <a:t>D </a:t>
            </a:r>
            <a:r>
              <a:rPr lang="en-US" dirty="0"/>
              <a:t>with attributes {</a:t>
            </a:r>
            <a:r>
              <a:rPr lang="en-US" i="1" dirty="0"/>
              <a:t>X </a:t>
            </a:r>
            <a:r>
              <a:rPr lang="en-US" dirty="0"/>
              <a:t>∪ {</a:t>
            </a:r>
            <a:r>
              <a:rPr lang="en-US" i="1" dirty="0"/>
              <a:t>A</a:t>
            </a:r>
            <a:r>
              <a:rPr lang="en-US" baseline="-25000" dirty="0"/>
              <a:t>1</a:t>
            </a:r>
            <a:r>
              <a:rPr lang="en-US" dirty="0"/>
              <a:t>} ∪ {</a:t>
            </a:r>
            <a:r>
              <a:rPr lang="en-US" i="1" dirty="0"/>
              <a:t>A</a:t>
            </a:r>
            <a:r>
              <a:rPr lang="en-US" baseline="-25000" dirty="0"/>
              <a:t>2</a:t>
            </a:r>
            <a:r>
              <a:rPr lang="en-US" dirty="0"/>
              <a:t>} … ∪ {</a:t>
            </a:r>
            <a:r>
              <a:rPr lang="en-US" i="1" dirty="0"/>
              <a:t>A</a:t>
            </a:r>
            <a:r>
              <a:rPr lang="en-US" i="1" baseline="-25000" dirty="0"/>
              <a:t>k</a:t>
            </a:r>
            <a:r>
              <a:rPr lang="en-US" dirty="0"/>
              <a:t>} }, where </a:t>
            </a:r>
            <a:r>
              <a:rPr lang="en-US" i="1" dirty="0"/>
              <a:t>X </a:t>
            </a:r>
            <a:r>
              <a:rPr lang="en-US" dirty="0"/>
              <a:t>→ </a:t>
            </a:r>
            <a:r>
              <a:rPr lang="en-US" i="1" dirty="0"/>
              <a:t>A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X </a:t>
            </a:r>
            <a:r>
              <a:rPr lang="en-US" dirty="0"/>
              <a:t>→ </a:t>
            </a:r>
            <a:r>
              <a:rPr lang="en-US" i="1" dirty="0"/>
              <a:t>A</a:t>
            </a:r>
            <a:r>
              <a:rPr lang="en-US" baseline="-25000" dirty="0"/>
              <a:t>2</a:t>
            </a:r>
            <a:r>
              <a:rPr lang="en-US" dirty="0"/>
              <a:t>, … , </a:t>
            </a:r>
            <a:r>
              <a:rPr lang="en-US" i="1" dirty="0"/>
              <a:t>X </a:t>
            </a:r>
            <a:r>
              <a:rPr lang="en-US" dirty="0"/>
              <a:t>→ </a:t>
            </a:r>
            <a:r>
              <a:rPr lang="en-US" i="1" dirty="0"/>
              <a:t>A</a:t>
            </a:r>
            <a:r>
              <a:rPr lang="en-US" i="1" baseline="-25000" dirty="0"/>
              <a:t>k</a:t>
            </a:r>
            <a:r>
              <a:rPr lang="en-US" i="1" dirty="0"/>
              <a:t> </a:t>
            </a:r>
            <a:r>
              <a:rPr lang="en-US" dirty="0"/>
              <a:t>are the only dependencies in </a:t>
            </a:r>
            <a:r>
              <a:rPr lang="en-US" i="1" dirty="0"/>
              <a:t>G </a:t>
            </a:r>
            <a:r>
              <a:rPr lang="en-US" dirty="0"/>
              <a:t>with </a:t>
            </a:r>
            <a:r>
              <a:rPr lang="en-US" i="1" dirty="0"/>
              <a:t>X </a:t>
            </a:r>
            <a:r>
              <a:rPr lang="en-US" dirty="0"/>
              <a:t>as lefthand side (</a:t>
            </a:r>
            <a:r>
              <a:rPr lang="en-US" i="1" dirty="0"/>
              <a:t>X </a:t>
            </a:r>
            <a:r>
              <a:rPr lang="en-US" dirty="0"/>
              <a:t>is key of this relations)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none of relation schemas in </a:t>
            </a:r>
            <a:r>
              <a:rPr lang="en-US" i="1" dirty="0"/>
              <a:t>D </a:t>
            </a:r>
            <a:r>
              <a:rPr lang="en-US" dirty="0"/>
              <a:t>contains a key of </a:t>
            </a:r>
            <a:r>
              <a:rPr lang="en-US" i="1" dirty="0"/>
              <a:t>R</a:t>
            </a:r>
            <a:r>
              <a:rPr lang="en-US" dirty="0"/>
              <a:t>, then create one more relation schema in </a:t>
            </a:r>
            <a:r>
              <a:rPr lang="en-US" i="1" dirty="0"/>
              <a:t>D </a:t>
            </a:r>
            <a:r>
              <a:rPr lang="en-US" dirty="0"/>
              <a:t>that contains attributes that form a key of </a:t>
            </a:r>
            <a:r>
              <a:rPr lang="en-US" i="1" dirty="0"/>
              <a:t>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eliminate redundant relations from resulting set of relations in relational database schema - relation </a:t>
            </a:r>
            <a:r>
              <a:rPr lang="en-US" i="1" dirty="0"/>
              <a:t>R </a:t>
            </a:r>
            <a:r>
              <a:rPr lang="en-US" dirty="0"/>
              <a:t>is considered redundant if </a:t>
            </a:r>
            <a:r>
              <a:rPr lang="en-US" i="1" dirty="0"/>
              <a:t>R </a:t>
            </a:r>
            <a:r>
              <a:rPr lang="en-US" dirty="0"/>
              <a:t>is a projection of another relation </a:t>
            </a:r>
            <a:r>
              <a:rPr lang="en-US" i="1" dirty="0"/>
              <a:t>S </a:t>
            </a:r>
            <a:r>
              <a:rPr lang="en-US" dirty="0"/>
              <a:t>in the schema; alternately, </a:t>
            </a:r>
            <a:r>
              <a:rPr lang="en-US" i="1" dirty="0"/>
              <a:t>R </a:t>
            </a:r>
            <a:r>
              <a:rPr lang="en-US" dirty="0"/>
              <a:t>is subsumed by </a:t>
            </a:r>
            <a:r>
              <a:rPr lang="en-US" i="1" dirty="0"/>
              <a:t>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72804-4987-732D-7943-8C011F24B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331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4F576-9CD5-B378-4B2D-8B17C4BEC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B8A27-F792-A0A1-CB08-A5DAE13BD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possible to generate alternate 3NF designs by starting from same set of FDs</a:t>
            </a:r>
          </a:p>
          <a:p>
            <a:r>
              <a:rPr lang="en-US" dirty="0"/>
              <a:t>conceivable that in some cases algorithm produces relations that satisfy BCNF and may include relations that maintain dependency preservation property as well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BCD42-99ED-8AF6-A166-609D0C31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4430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52C43-DFC3-C0BE-FD30-3B34A4C8C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A33D7-6E77-187E-A7DA-B8EAFC75B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2. 	algorithm decomposes relation schema </a:t>
            </a:r>
            <a:r>
              <a:rPr lang="pt-BR" i="1" dirty="0"/>
              <a:t>R </a:t>
            </a:r>
            <a:r>
              <a:rPr lang="pt-BR" dirty="0"/>
              <a:t>= {</a:t>
            </a:r>
            <a:r>
              <a:rPr lang="pt-BR" i="1" dirty="0"/>
              <a:t>A</a:t>
            </a:r>
            <a:r>
              <a:rPr lang="pt-BR" baseline="-25000" dirty="0"/>
              <a:t>1</a:t>
            </a:r>
            <a:r>
              <a:rPr lang="pt-BR" dirty="0"/>
              <a:t>, </a:t>
            </a:r>
            <a:r>
              <a:rPr lang="pt-BR" i="1" dirty="0"/>
              <a:t>A</a:t>
            </a:r>
            <a:r>
              <a:rPr lang="pt-BR" baseline="-25000" dirty="0"/>
              <a:t>2</a:t>
            </a:r>
            <a:r>
              <a:rPr lang="pt-BR" dirty="0"/>
              <a:t>, … , </a:t>
            </a:r>
            <a:r>
              <a:rPr lang="pt-BR" i="1" dirty="0"/>
              <a:t>A</a:t>
            </a:r>
            <a:r>
              <a:rPr lang="pt-BR" i="1" baseline="-25000" dirty="0"/>
              <a:t>n</a:t>
            </a:r>
            <a:r>
              <a:rPr lang="pt-BR" dirty="0"/>
              <a:t>} </a:t>
            </a:r>
            <a:r>
              <a:rPr lang="en-US" dirty="0"/>
              <a:t>into decomposition </a:t>
            </a:r>
            <a:r>
              <a:rPr lang="en-US" i="1" dirty="0"/>
              <a:t>D </a:t>
            </a:r>
            <a:r>
              <a:rPr lang="en-US" dirty="0"/>
              <a:t>= {</a:t>
            </a:r>
            <a:r>
              <a:rPr lang="en-US" i="1" dirty="0"/>
              <a:t>R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R</a:t>
            </a:r>
            <a:r>
              <a:rPr lang="en-US" baseline="-25000" dirty="0"/>
              <a:t>2</a:t>
            </a:r>
            <a:r>
              <a:rPr lang="en-US" dirty="0"/>
              <a:t>, … , </a:t>
            </a:r>
            <a:r>
              <a:rPr lang="en-US" i="1" dirty="0"/>
              <a:t>R</a:t>
            </a:r>
            <a:r>
              <a:rPr lang="en-US" baseline="-25000" dirty="0"/>
              <a:t>m</a:t>
            </a:r>
            <a:r>
              <a:rPr lang="en-US" dirty="0"/>
              <a:t>} such that each </a:t>
            </a:r>
            <a:r>
              <a:rPr lang="en-US" i="1" dirty="0"/>
              <a:t>R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is in BCNF </a:t>
            </a:r>
            <a:r>
              <a:rPr lang="en-US" i="1" dirty="0"/>
              <a:t>and </a:t>
            </a:r>
            <a:r>
              <a:rPr lang="en-US" dirty="0"/>
              <a:t>decomposition </a:t>
            </a:r>
            <a:r>
              <a:rPr lang="en-US" i="1" dirty="0"/>
              <a:t>D </a:t>
            </a:r>
            <a:r>
              <a:rPr lang="en-US" dirty="0"/>
              <a:t>has lossless join property with respect to </a:t>
            </a:r>
            <a:r>
              <a:rPr lang="en-US" i="1" dirty="0"/>
              <a:t>F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D619D-2CD6-0EFE-949F-ACADE57E4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1025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47E13-B979-6587-12FE-6F1AA0B69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31DC1-CC89-D4A9-C067-57A386856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set </a:t>
            </a:r>
            <a:r>
              <a:rPr lang="en-US" i="1" dirty="0"/>
              <a:t>D </a:t>
            </a:r>
            <a:r>
              <a:rPr lang="en-US" dirty="0"/>
              <a:t>:= {</a:t>
            </a:r>
            <a:r>
              <a:rPr lang="en-US" i="1" dirty="0"/>
              <a:t>R</a:t>
            </a:r>
            <a:r>
              <a:rPr lang="en-US" dirty="0"/>
              <a:t>} 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while there is relation schema </a:t>
            </a:r>
            <a:r>
              <a:rPr lang="en-US" i="1" dirty="0"/>
              <a:t>Q </a:t>
            </a:r>
            <a:r>
              <a:rPr lang="en-US" dirty="0"/>
              <a:t>in </a:t>
            </a:r>
            <a:r>
              <a:rPr lang="en-US" i="1" dirty="0"/>
              <a:t>D </a:t>
            </a:r>
            <a:r>
              <a:rPr lang="en-US" dirty="0"/>
              <a:t>that is not in BCNF do</a:t>
            </a:r>
          </a:p>
          <a:p>
            <a:r>
              <a:rPr lang="en-US" dirty="0"/>
              <a:t> 	{</a:t>
            </a:r>
          </a:p>
          <a:p>
            <a:r>
              <a:rPr lang="en-US" dirty="0"/>
              <a:t> 		choose relation schema </a:t>
            </a:r>
            <a:r>
              <a:rPr lang="en-US" i="1" dirty="0"/>
              <a:t>Q </a:t>
            </a:r>
            <a:r>
              <a:rPr lang="en-US" dirty="0"/>
              <a:t>in </a:t>
            </a:r>
            <a:r>
              <a:rPr lang="en-US" i="1" dirty="0"/>
              <a:t>D </a:t>
            </a:r>
            <a:r>
              <a:rPr lang="en-US" dirty="0"/>
              <a:t>that is not in BCNF;</a:t>
            </a:r>
          </a:p>
          <a:p>
            <a:r>
              <a:rPr lang="en-US" dirty="0"/>
              <a:t> 		find functional dependency </a:t>
            </a:r>
            <a:r>
              <a:rPr lang="en-US" i="1" dirty="0"/>
              <a:t>X </a:t>
            </a:r>
            <a:r>
              <a:rPr lang="en-US" dirty="0"/>
              <a:t>→ </a:t>
            </a:r>
            <a:r>
              <a:rPr lang="en-US" i="1" dirty="0"/>
              <a:t>Y </a:t>
            </a:r>
            <a:r>
              <a:rPr lang="en-US" dirty="0"/>
              <a:t>in </a:t>
            </a:r>
            <a:r>
              <a:rPr lang="en-US" i="1" dirty="0"/>
              <a:t>Q </a:t>
            </a:r>
            <a:r>
              <a:rPr lang="en-US" dirty="0"/>
              <a:t>that violates BCNF;</a:t>
            </a:r>
          </a:p>
          <a:p>
            <a:r>
              <a:rPr lang="en-US" dirty="0"/>
              <a:t> 		replace </a:t>
            </a:r>
            <a:r>
              <a:rPr lang="en-US" i="1" dirty="0"/>
              <a:t>Q </a:t>
            </a:r>
            <a:r>
              <a:rPr lang="en-US" dirty="0"/>
              <a:t>in </a:t>
            </a:r>
            <a:r>
              <a:rPr lang="en-US" i="1" dirty="0"/>
              <a:t>D </a:t>
            </a:r>
            <a:r>
              <a:rPr lang="en-US" dirty="0"/>
              <a:t>by two relation schemas (</a:t>
            </a:r>
            <a:r>
              <a:rPr lang="en-US" i="1" dirty="0"/>
              <a:t>Q </a:t>
            </a:r>
            <a:r>
              <a:rPr lang="en-US" dirty="0"/>
              <a:t>− </a:t>
            </a:r>
            <a:r>
              <a:rPr lang="en-US" i="1" dirty="0"/>
              <a:t>Y</a:t>
            </a:r>
            <a:r>
              <a:rPr lang="en-US" dirty="0"/>
              <a:t>) and (</a:t>
            </a:r>
            <a:r>
              <a:rPr lang="en-US" i="1" dirty="0"/>
              <a:t>X </a:t>
            </a:r>
            <a:r>
              <a:rPr lang="en-US" dirty="0"/>
              <a:t>∪ </a:t>
            </a:r>
            <a:r>
              <a:rPr lang="en-US" i="1" dirty="0"/>
              <a:t>Y</a:t>
            </a:r>
            <a:r>
              <a:rPr lang="en-US" dirty="0"/>
              <a:t>);</a:t>
            </a:r>
          </a:p>
          <a:p>
            <a:r>
              <a:rPr lang="en-US" dirty="0"/>
              <a:t> 	} ;</a:t>
            </a:r>
          </a:p>
          <a:p>
            <a:r>
              <a:rPr lang="en-US" dirty="0"/>
              <a:t>Each time 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7EA5C-EB77-91D7-F7EB-7BF3D63FE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249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FA7A5-F8BF-6DC6-A445-FA3F8DE08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29335" cy="1325563"/>
          </a:xfrm>
        </p:spPr>
        <p:txBody>
          <a:bodyPr/>
          <a:lstStyle/>
          <a:p>
            <a:r>
              <a:rPr lang="en-US" dirty="0"/>
              <a:t>Problems with NULL Values and Dangling 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3793D-4A9B-E5E2-8E8A-73FF3BCB2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93361" cy="4351338"/>
          </a:xfrm>
        </p:spPr>
        <p:txBody>
          <a:bodyPr/>
          <a:lstStyle/>
          <a:p>
            <a:r>
              <a:rPr lang="en-US" dirty="0"/>
              <a:t>potential NULL values in foreign keys: one problem occurs when some tuples have NULL values for attributes that will be used to join individual relations in decomposition - can cause unexpected loss of information in queries that involve joins on that foreign key</a:t>
            </a:r>
          </a:p>
          <a:p>
            <a:r>
              <a:rPr lang="en-US" dirty="0"/>
              <a:t>if NULLs occur in other attributes, such as Salary, their effect on built-in functions such as SUM and AVERAGE must be carefully evaluated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6CD48-CE81-7609-02C7-8A27B1CAF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31829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9EC1D-4ECC-68CC-5FC7-EFF17D707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DEAE3-7D1C-1FC5-EBBF-E120C348E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of dangling tuples, which may occur if we carry decomposition too far</a:t>
            </a:r>
          </a:p>
          <a:p>
            <a:r>
              <a:rPr lang="en-US" dirty="0"/>
              <a:t>dangling tuples</a:t>
            </a:r>
            <a:r>
              <a:rPr lang="en-US" b="1" dirty="0"/>
              <a:t> </a:t>
            </a:r>
            <a:r>
              <a:rPr lang="en-US" dirty="0"/>
              <a:t>they are represented in only one of the two relations that represent relationship, and hence they are lost if we apply an (INNER) JOIN operation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68968-6938-7CF5-8050-D56B59B07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0054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69C4A-56F8-2C36-EDA6-AA760A6FD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AD408-2791-DD50-8247-49D65E827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0206"/>
            <a:ext cx="10515600" cy="501675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database designer must first specify </a:t>
            </a:r>
            <a:r>
              <a:rPr lang="en-US" i="1" dirty="0"/>
              <a:t>all </a:t>
            </a:r>
            <a:r>
              <a:rPr lang="en-US" dirty="0"/>
              <a:t>relevant functional dependencies among database attributes, …</a:t>
            </a:r>
          </a:p>
          <a:p>
            <a:r>
              <a:rPr lang="en-US" dirty="0"/>
              <a:t>these algorithms are </a:t>
            </a:r>
            <a:r>
              <a:rPr lang="en-US" i="1" dirty="0"/>
              <a:t>not deterministic </a:t>
            </a:r>
            <a:r>
              <a:rPr lang="en-US" dirty="0"/>
              <a:t>in general</a:t>
            </a:r>
          </a:p>
          <a:p>
            <a:r>
              <a:rPr lang="en-US" dirty="0"/>
              <a:t>the </a:t>
            </a:r>
            <a:r>
              <a:rPr lang="en-US" i="1" dirty="0"/>
              <a:t>synthesis algorithms </a:t>
            </a:r>
            <a:r>
              <a:rPr lang="en-US" dirty="0"/>
              <a:t>require specification of a minimal cover </a:t>
            </a:r>
            <a:r>
              <a:rPr lang="en-US" i="1" dirty="0"/>
              <a:t>G </a:t>
            </a:r>
            <a:r>
              <a:rPr lang="en-US" dirty="0"/>
              <a:t>for set of functional dependencies </a:t>
            </a:r>
            <a:r>
              <a:rPr lang="en-US" i="1" dirty="0"/>
              <a:t>F - </a:t>
            </a:r>
            <a:r>
              <a:rPr lang="en-US" dirty="0"/>
              <a:t>there may be, in general, many minimal covers corresponding to </a:t>
            </a:r>
            <a:r>
              <a:rPr lang="en-US" i="1" dirty="0"/>
              <a:t>F</a:t>
            </a:r>
          </a:p>
          <a:p>
            <a:r>
              <a:rPr lang="en-US" dirty="0"/>
              <a:t>decomposition algorithm to achieve BCNF depends on order in which functional dependencies are supplied to algorithm to check for BCNF violation</a:t>
            </a:r>
          </a:p>
          <a:p>
            <a:endParaRPr lang="en-US" sz="1600" dirty="0"/>
          </a:p>
          <a:p>
            <a:r>
              <a:rPr lang="en-US" dirty="0"/>
              <a:t>it is possible that many different designs may arise; some of the designs may be preferred, whereas others may not be desirable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8662D-D5DA-7793-3DEC-2E97DC8A3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4BDCF-5269-49AC-A246-ED26C2B980E3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93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D1F13D339BA04089B6530E3063BBB0" ma:contentTypeVersion="3" ma:contentTypeDescription="Create a new document." ma:contentTypeScope="" ma:versionID="53edffdedc90a5cc23417a2d239f45a4">
  <xsd:schema xmlns:xsd="http://www.w3.org/2001/XMLSchema" xmlns:xs="http://www.w3.org/2001/XMLSchema" xmlns:p="http://schemas.microsoft.com/office/2006/metadata/properties" xmlns:ns2="a1338ef3-f957-4fbb-b33a-3b606fe126b3" targetNamespace="http://schemas.microsoft.com/office/2006/metadata/properties" ma:root="true" ma:fieldsID="9f407ff9521a5dcbcc967750435157a3" ns2:_="">
    <xsd:import namespace="a1338ef3-f957-4fbb-b33a-3b606fe126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338ef3-f957-4fbb-b33a-3b606fe126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0DD3F98-A2C0-49CF-AD7E-8673215C29F5}"/>
</file>

<file path=customXml/itemProps2.xml><?xml version="1.0" encoding="utf-8"?>
<ds:datastoreItem xmlns:ds="http://schemas.openxmlformats.org/officeDocument/2006/customXml" ds:itemID="{1C3B3FB0-E302-43AD-8BDF-52B45488B8B7}"/>
</file>

<file path=customXml/itemProps3.xml><?xml version="1.0" encoding="utf-8"?>
<ds:datastoreItem xmlns:ds="http://schemas.openxmlformats.org/officeDocument/2006/customXml" ds:itemID="{7252946A-6281-4E8A-AC90-1B86307713B2}"/>
</file>

<file path=docProps/app.xml><?xml version="1.0" encoding="utf-8"?>
<Properties xmlns="http://schemas.openxmlformats.org/officeDocument/2006/extended-properties" xmlns:vt="http://schemas.openxmlformats.org/officeDocument/2006/docPropsVTypes">
  <TotalTime>3490</TotalTime>
  <Words>4287</Words>
  <Application>Microsoft Office PowerPoint</Application>
  <PresentationFormat>Widescreen</PresentationFormat>
  <Paragraphs>291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5" baseType="lpstr">
      <vt:lpstr>Arial</vt:lpstr>
      <vt:lpstr>Calibri</vt:lpstr>
      <vt:lpstr>Calibri Light</vt:lpstr>
      <vt:lpstr>Office Theme</vt:lpstr>
      <vt:lpstr>DataBase</vt:lpstr>
      <vt:lpstr>DataBase Design </vt:lpstr>
      <vt:lpstr>Design of Relational DataBase Structures</vt:lpstr>
      <vt:lpstr>Design of Relational DataBase Structures</vt:lpstr>
      <vt:lpstr>Design of Relational DataBase Structures</vt:lpstr>
      <vt:lpstr>PowerPoint Presentation</vt:lpstr>
      <vt:lpstr>Inference Rules for Functional Dependencies</vt:lpstr>
      <vt:lpstr>PowerPoint Presentation</vt:lpstr>
      <vt:lpstr>PowerPoint Presentation</vt:lpstr>
      <vt:lpstr>PowerPoint Presentation</vt:lpstr>
      <vt:lpstr>PowerPoint Presentation</vt:lpstr>
      <vt:lpstr>abbreviated notation</vt:lpstr>
      <vt:lpstr>PowerPoint Presentation</vt:lpstr>
      <vt:lpstr>Armstrong’s axioms</vt:lpstr>
      <vt:lpstr>PowerPoint Presentation</vt:lpstr>
      <vt:lpstr>PowerPoint Presentation</vt:lpstr>
      <vt:lpstr>proof of (reflexive rule) : if X ⊇ Y, then X →Y </vt:lpstr>
      <vt:lpstr>proof of (augmentation rule) : {X → Y} |=XZ → YZ</vt:lpstr>
      <vt:lpstr>proof of (transitive rule) : {X → Y, Y → Z} |=X → Z</vt:lpstr>
      <vt:lpstr>three other inference rules that follow</vt:lpstr>
      <vt:lpstr>PowerPoint Presentation</vt:lpstr>
      <vt:lpstr>PowerPoint Presentation</vt:lpstr>
      <vt:lpstr>Algorithm used to calculate X+</vt:lpstr>
      <vt:lpstr>PowerPoint Presentation</vt:lpstr>
      <vt:lpstr>PowerPoint Presentation</vt:lpstr>
      <vt:lpstr>PowerPoint Presentation</vt:lpstr>
      <vt:lpstr>following closures:</vt:lpstr>
      <vt:lpstr>PowerPoint Presentation</vt:lpstr>
      <vt:lpstr>Equivalence of Sets of Functional Dependencies</vt:lpstr>
      <vt:lpstr>PowerPoint Presentation</vt:lpstr>
      <vt:lpstr>Minimal Sets of Functional Dependencies</vt:lpstr>
      <vt:lpstr>PowerPoint Presentation</vt:lpstr>
      <vt:lpstr>PowerPoint Presentation</vt:lpstr>
      <vt:lpstr>PowerPoint Presentation</vt:lpstr>
      <vt:lpstr>Algorithm for Finding Minimal Cover F for  Set of Functional Dependencies E</vt:lpstr>
      <vt:lpstr>Algorithm for Finding Minimal Cover F for  Set of Functional Dependencies 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algorithm to determine the key of a relation</vt:lpstr>
      <vt:lpstr>PowerPoint Presentation</vt:lpstr>
      <vt:lpstr>PowerPoint Presentation</vt:lpstr>
      <vt:lpstr>PowerPoint Presentation</vt:lpstr>
      <vt:lpstr>Dependency Preservation condition</vt:lpstr>
      <vt:lpstr>PowerPoint Presentation</vt:lpstr>
      <vt:lpstr>PowerPoint Presentation</vt:lpstr>
      <vt:lpstr>PowerPoint Presentation</vt:lpstr>
      <vt:lpstr>Nonadditive (Lossless) Join  property of Decomposition</vt:lpstr>
      <vt:lpstr>PowerPoint Presentation</vt:lpstr>
      <vt:lpstr>Algorithms for  Relational Database Schema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Problems with NULL Values and Dangling Tuples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</dc:title>
  <dc:creator>Calin Cenan</dc:creator>
  <cp:lastModifiedBy>Calin Cenan</cp:lastModifiedBy>
  <cp:revision>96</cp:revision>
  <dcterms:created xsi:type="dcterms:W3CDTF">2023-08-06T12:55:35Z</dcterms:created>
  <dcterms:modified xsi:type="dcterms:W3CDTF">2026-01-02T16:06:54Z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2023-08-06T13:14:17Z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de879172-8bb0-4294-827c-110d21e2f193</vt:lpwstr>
  </property>
  <property fmtid="{D5CDD505-2E9C-101B-9397-08002B2CF9AE}" pid="8" name="MSIP_Label_5b58b62f-6f94-46bd-8089-18e64b0a9abb_ContentBits">
    <vt:lpwstr>0</vt:lpwstr>
  </property>
  <property fmtid="{D5CDD505-2E9C-101B-9397-08002B2CF9AE}" pid="9" name="ContentTypeId">
    <vt:lpwstr>0x01010042D1F13D339BA04089B6530E3063BBB0</vt:lpwstr>
  </property>
</Properties>
</file>