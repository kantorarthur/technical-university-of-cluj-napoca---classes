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0"/>
  </p:notes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329" r:id="rId29"/>
    <p:sldId id="330" r:id="rId30"/>
    <p:sldId id="331" r:id="rId31"/>
    <p:sldId id="332" r:id="rId32"/>
    <p:sldId id="333" r:id="rId33"/>
    <p:sldId id="283" r:id="rId34"/>
    <p:sldId id="284" r:id="rId35"/>
    <p:sldId id="285" r:id="rId36"/>
    <p:sldId id="286" r:id="rId37"/>
    <p:sldId id="288" r:id="rId38"/>
    <p:sldId id="287" r:id="rId39"/>
    <p:sldId id="289" r:id="rId40"/>
    <p:sldId id="290" r:id="rId41"/>
    <p:sldId id="291" r:id="rId42"/>
    <p:sldId id="292" r:id="rId43"/>
    <p:sldId id="293" r:id="rId44"/>
    <p:sldId id="294" r:id="rId45"/>
    <p:sldId id="295" r:id="rId46"/>
    <p:sldId id="296" r:id="rId47"/>
    <p:sldId id="297" r:id="rId48"/>
    <p:sldId id="298" r:id="rId49"/>
    <p:sldId id="300" r:id="rId50"/>
    <p:sldId id="299"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7" r:id="rId67"/>
    <p:sldId id="316" r:id="rId68"/>
    <p:sldId id="318" r:id="rId69"/>
    <p:sldId id="319" r:id="rId70"/>
    <p:sldId id="320" r:id="rId71"/>
    <p:sldId id="321" r:id="rId72"/>
    <p:sldId id="322" r:id="rId73"/>
    <p:sldId id="323" r:id="rId74"/>
    <p:sldId id="324" r:id="rId75"/>
    <p:sldId id="325" r:id="rId76"/>
    <p:sldId id="326" r:id="rId77"/>
    <p:sldId id="327" r:id="rId78"/>
    <p:sldId id="328"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customXml" Target="../customXml/item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86"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customXml" Target="../customXml/item3.xml"/><Relationship Id="rId61" Type="http://schemas.openxmlformats.org/officeDocument/2006/relationships/slide" Target="slides/slide60.xml"/><Relationship Id="rId8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1EAB0-20EB-4DF7-837B-371DDD1B95C0}" type="datetimeFigureOut">
              <a:rPr lang="en-US" smtClean="0"/>
              <a:t>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4AE39B-1103-4190-9942-3807C5A66D1E}" type="slidenum">
              <a:rPr lang="en-US" smtClean="0"/>
              <a:t>‹#›</a:t>
            </a:fld>
            <a:endParaRPr lang="en-US"/>
          </a:p>
        </p:txBody>
      </p:sp>
    </p:spTree>
    <p:extLst>
      <p:ext uri="{BB962C8B-B14F-4D97-AF65-F5344CB8AC3E}">
        <p14:creationId xmlns:p14="http://schemas.microsoft.com/office/powerpoint/2010/main" val="3288525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5930C-760D-5883-ECC1-F5CB6465DF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364E95-C921-0CB2-83A2-29CEC570C7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D4FD1E-FFDF-6B9B-391C-832B885E6995}"/>
              </a:ext>
            </a:extLst>
          </p:cNvPr>
          <p:cNvSpPr>
            <a:spLocks noGrp="1"/>
          </p:cNvSpPr>
          <p:nvPr>
            <p:ph type="dt" sz="half" idx="10"/>
          </p:nvPr>
        </p:nvSpPr>
        <p:spPr/>
        <p:txBody>
          <a:bodyPr/>
          <a:lstStyle/>
          <a:p>
            <a:fld id="{DEAC430E-5A65-442F-9064-DEB17858D8F1}" type="datetime1">
              <a:rPr lang="en-US" smtClean="0"/>
              <a:t>1/4/2026</a:t>
            </a:fld>
            <a:endParaRPr lang="en-US"/>
          </a:p>
        </p:txBody>
      </p:sp>
      <p:sp>
        <p:nvSpPr>
          <p:cNvPr id="5" name="Footer Placeholder 4">
            <a:extLst>
              <a:ext uri="{FF2B5EF4-FFF2-40B4-BE49-F238E27FC236}">
                <a16:creationId xmlns:a16="http://schemas.microsoft.com/office/drawing/2014/main" id="{987AFC09-CB58-1A98-44F8-DBDC4F5002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CFBC4E-168F-EAEF-CFF4-122B5A788DE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28470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1843C-D16F-310D-4FA1-1770C7C422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9DEFEC-D274-3CE4-42AD-5111479AB4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EA0F2E-18F9-69C4-3350-10D366326F57}"/>
              </a:ext>
            </a:extLst>
          </p:cNvPr>
          <p:cNvSpPr>
            <a:spLocks noGrp="1"/>
          </p:cNvSpPr>
          <p:nvPr>
            <p:ph type="dt" sz="half" idx="10"/>
          </p:nvPr>
        </p:nvSpPr>
        <p:spPr/>
        <p:txBody>
          <a:bodyPr/>
          <a:lstStyle/>
          <a:p>
            <a:fld id="{8314E179-45D9-45BE-AAA6-FF7B7D57AEF0}" type="datetime1">
              <a:rPr lang="en-US" smtClean="0"/>
              <a:t>1/4/2026</a:t>
            </a:fld>
            <a:endParaRPr lang="en-US"/>
          </a:p>
        </p:txBody>
      </p:sp>
      <p:sp>
        <p:nvSpPr>
          <p:cNvPr id="5" name="Footer Placeholder 4">
            <a:extLst>
              <a:ext uri="{FF2B5EF4-FFF2-40B4-BE49-F238E27FC236}">
                <a16:creationId xmlns:a16="http://schemas.microsoft.com/office/drawing/2014/main" id="{F4E32DEE-4207-0B12-6389-B20CBEF9DA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792F1E-3EC2-CF71-F9CB-EC8DC8862A0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1933296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6A0F8-BF06-2ADC-8889-D45C2EC9C7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45234B-00B7-B1C8-175F-A98E178C1F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D476CC-1FA3-98AE-E860-9DB0608A497D}"/>
              </a:ext>
            </a:extLst>
          </p:cNvPr>
          <p:cNvSpPr>
            <a:spLocks noGrp="1"/>
          </p:cNvSpPr>
          <p:nvPr>
            <p:ph type="dt" sz="half" idx="10"/>
          </p:nvPr>
        </p:nvSpPr>
        <p:spPr/>
        <p:txBody>
          <a:bodyPr/>
          <a:lstStyle/>
          <a:p>
            <a:fld id="{0B334156-D111-4B8A-9649-E929320D3996}" type="datetime1">
              <a:rPr lang="en-US" smtClean="0"/>
              <a:t>1/4/2026</a:t>
            </a:fld>
            <a:endParaRPr lang="en-US"/>
          </a:p>
        </p:txBody>
      </p:sp>
      <p:sp>
        <p:nvSpPr>
          <p:cNvPr id="5" name="Footer Placeholder 4">
            <a:extLst>
              <a:ext uri="{FF2B5EF4-FFF2-40B4-BE49-F238E27FC236}">
                <a16:creationId xmlns:a16="http://schemas.microsoft.com/office/drawing/2014/main" id="{3F5DB7F2-4B1B-DDD7-9588-D2C9C263FE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258A86-DB04-E206-C61A-28D61489DE6E}"/>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4200622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37934-58E2-6C87-8517-91D784E602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F54FA1-51FD-BDD7-08D8-CB22949ED9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0A14B0-AB9F-84A5-DCFF-AF29D610B9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B74DE0-D4E6-B98A-0A7A-6199C46FA299}"/>
              </a:ext>
            </a:extLst>
          </p:cNvPr>
          <p:cNvSpPr>
            <a:spLocks noGrp="1"/>
          </p:cNvSpPr>
          <p:nvPr>
            <p:ph type="dt" sz="half" idx="10"/>
          </p:nvPr>
        </p:nvSpPr>
        <p:spPr/>
        <p:txBody>
          <a:bodyPr/>
          <a:lstStyle/>
          <a:p>
            <a:fld id="{83FF7365-BEFC-4E6B-9F2A-FA9474576F81}" type="datetime1">
              <a:rPr lang="en-US" smtClean="0"/>
              <a:t>1/4/2026</a:t>
            </a:fld>
            <a:endParaRPr lang="en-US"/>
          </a:p>
        </p:txBody>
      </p:sp>
      <p:sp>
        <p:nvSpPr>
          <p:cNvPr id="6" name="Footer Placeholder 5">
            <a:extLst>
              <a:ext uri="{FF2B5EF4-FFF2-40B4-BE49-F238E27FC236}">
                <a16:creationId xmlns:a16="http://schemas.microsoft.com/office/drawing/2014/main" id="{8D27B8B2-CEA6-EA62-4C6E-6C903F9353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196544-3A77-9F6F-A9A9-14340023965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227620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45363-41F2-E6A8-F4B1-CD1FFAB37AE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0AC76C-821C-A4CF-E20D-28A35FB1A9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B10B08-0A91-BC33-F467-764F5842D8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6E10F4-B1CD-E882-ADC7-E67EB67958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208411-74C8-D893-F7D4-63FB702F18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3A8843-6A85-EBA5-EACE-D31AE341B3A4}"/>
              </a:ext>
            </a:extLst>
          </p:cNvPr>
          <p:cNvSpPr>
            <a:spLocks noGrp="1"/>
          </p:cNvSpPr>
          <p:nvPr>
            <p:ph type="dt" sz="half" idx="10"/>
          </p:nvPr>
        </p:nvSpPr>
        <p:spPr/>
        <p:txBody>
          <a:bodyPr/>
          <a:lstStyle/>
          <a:p>
            <a:fld id="{13137B2F-B566-42C1-8C47-FE2D3202CF99}" type="datetime1">
              <a:rPr lang="en-US" smtClean="0"/>
              <a:t>1/4/2026</a:t>
            </a:fld>
            <a:endParaRPr lang="en-US"/>
          </a:p>
        </p:txBody>
      </p:sp>
      <p:sp>
        <p:nvSpPr>
          <p:cNvPr id="8" name="Footer Placeholder 7">
            <a:extLst>
              <a:ext uri="{FF2B5EF4-FFF2-40B4-BE49-F238E27FC236}">
                <a16:creationId xmlns:a16="http://schemas.microsoft.com/office/drawing/2014/main" id="{13EBBCF3-2913-461E-AD28-FDC7B6BCAB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5B7710-25A1-0BB7-4D14-D8B4331A5E60}"/>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77521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F97EF-6A4C-4E15-3A3D-09B6216B5D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5C6005-4DF2-B1D3-F14D-C8E8D586F7D3}"/>
              </a:ext>
            </a:extLst>
          </p:cNvPr>
          <p:cNvSpPr>
            <a:spLocks noGrp="1"/>
          </p:cNvSpPr>
          <p:nvPr>
            <p:ph type="dt" sz="half" idx="10"/>
          </p:nvPr>
        </p:nvSpPr>
        <p:spPr/>
        <p:txBody>
          <a:bodyPr/>
          <a:lstStyle/>
          <a:p>
            <a:fld id="{77340BE3-421C-4D71-A3C6-49D639A19F9F}" type="datetime1">
              <a:rPr lang="en-US" smtClean="0"/>
              <a:t>1/4/2026</a:t>
            </a:fld>
            <a:endParaRPr lang="en-US"/>
          </a:p>
        </p:txBody>
      </p:sp>
      <p:sp>
        <p:nvSpPr>
          <p:cNvPr id="4" name="Footer Placeholder 3">
            <a:extLst>
              <a:ext uri="{FF2B5EF4-FFF2-40B4-BE49-F238E27FC236}">
                <a16:creationId xmlns:a16="http://schemas.microsoft.com/office/drawing/2014/main" id="{071B5121-2E4F-976C-B042-58478DDE8C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32A568-1B5A-A844-5FEE-3C9477D8E0F8}"/>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801491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C6BE25-6954-DC36-134A-6597CFDF6E3F}"/>
              </a:ext>
            </a:extLst>
          </p:cNvPr>
          <p:cNvSpPr>
            <a:spLocks noGrp="1"/>
          </p:cNvSpPr>
          <p:nvPr>
            <p:ph type="dt" sz="half" idx="10"/>
          </p:nvPr>
        </p:nvSpPr>
        <p:spPr/>
        <p:txBody>
          <a:bodyPr/>
          <a:lstStyle/>
          <a:p>
            <a:fld id="{679B5E47-D439-4284-AE0D-962FCB75FAB6}" type="datetime1">
              <a:rPr lang="en-US" smtClean="0"/>
              <a:t>1/4/2026</a:t>
            </a:fld>
            <a:endParaRPr lang="en-US"/>
          </a:p>
        </p:txBody>
      </p:sp>
      <p:sp>
        <p:nvSpPr>
          <p:cNvPr id="3" name="Footer Placeholder 2">
            <a:extLst>
              <a:ext uri="{FF2B5EF4-FFF2-40B4-BE49-F238E27FC236}">
                <a16:creationId xmlns:a16="http://schemas.microsoft.com/office/drawing/2014/main" id="{C9303941-91C4-7A76-45CF-7066AD1A65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FCB0C5-B44E-B54F-CFD1-EDD7E30FAA23}"/>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6472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ADF43-2516-CD44-C72D-9495FB26D7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1BC6C8-737E-06B7-89DA-D637135847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52FE81-C2D0-FEAE-8767-51F60ADA88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E62AB-E046-F609-762A-CFEDAB93629B}"/>
              </a:ext>
            </a:extLst>
          </p:cNvPr>
          <p:cNvSpPr>
            <a:spLocks noGrp="1"/>
          </p:cNvSpPr>
          <p:nvPr>
            <p:ph type="dt" sz="half" idx="10"/>
          </p:nvPr>
        </p:nvSpPr>
        <p:spPr/>
        <p:txBody>
          <a:bodyPr/>
          <a:lstStyle/>
          <a:p>
            <a:fld id="{453BECBD-8257-458C-AEE3-AE942135D6AE}" type="datetime1">
              <a:rPr lang="en-US" smtClean="0"/>
              <a:t>1/4/2026</a:t>
            </a:fld>
            <a:endParaRPr lang="en-US"/>
          </a:p>
        </p:txBody>
      </p:sp>
      <p:sp>
        <p:nvSpPr>
          <p:cNvPr id="6" name="Footer Placeholder 5">
            <a:extLst>
              <a:ext uri="{FF2B5EF4-FFF2-40B4-BE49-F238E27FC236}">
                <a16:creationId xmlns:a16="http://schemas.microsoft.com/office/drawing/2014/main" id="{11AECE13-A79A-69BD-9DB1-2A174276CD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527B68-E2DF-8982-4DF5-D4C4397E060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03267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EDE69-5905-BC3C-C645-91E6D6C208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E53DAA-F625-F974-8D2C-1373B1158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AF7B45-CD9A-C6B1-F58C-0341BCC9C8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39E8BC-CB6F-F740-3924-593736BA966E}"/>
              </a:ext>
            </a:extLst>
          </p:cNvPr>
          <p:cNvSpPr>
            <a:spLocks noGrp="1"/>
          </p:cNvSpPr>
          <p:nvPr>
            <p:ph type="dt" sz="half" idx="10"/>
          </p:nvPr>
        </p:nvSpPr>
        <p:spPr/>
        <p:txBody>
          <a:bodyPr/>
          <a:lstStyle/>
          <a:p>
            <a:fld id="{BDF3CAC5-E83F-4F07-8EAE-BE5D8EAB68B2}" type="datetime1">
              <a:rPr lang="en-US" smtClean="0"/>
              <a:t>1/4/2026</a:t>
            </a:fld>
            <a:endParaRPr lang="en-US"/>
          </a:p>
        </p:txBody>
      </p:sp>
      <p:sp>
        <p:nvSpPr>
          <p:cNvPr id="6" name="Footer Placeholder 5">
            <a:extLst>
              <a:ext uri="{FF2B5EF4-FFF2-40B4-BE49-F238E27FC236}">
                <a16:creationId xmlns:a16="http://schemas.microsoft.com/office/drawing/2014/main" id="{000A5595-E2B3-6B7E-1C62-1515F5F585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2632C9-6D22-EF5A-C318-89619C4FF8C5}"/>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37264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81039-EF43-212D-7EB3-340A513863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6A0E3D-A0E9-C266-077E-DFBD0C4D20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BD565F-9519-15CB-09A9-53305AE3454D}"/>
              </a:ext>
            </a:extLst>
          </p:cNvPr>
          <p:cNvSpPr>
            <a:spLocks noGrp="1"/>
          </p:cNvSpPr>
          <p:nvPr>
            <p:ph type="dt" sz="half" idx="10"/>
          </p:nvPr>
        </p:nvSpPr>
        <p:spPr/>
        <p:txBody>
          <a:bodyPr/>
          <a:lstStyle/>
          <a:p>
            <a:fld id="{96BA5DA7-E5C5-46E6-B6AF-18BC49A4DE0B}" type="datetime1">
              <a:rPr lang="en-US" smtClean="0"/>
              <a:t>1/4/2026</a:t>
            </a:fld>
            <a:endParaRPr lang="en-US"/>
          </a:p>
        </p:txBody>
      </p:sp>
      <p:sp>
        <p:nvSpPr>
          <p:cNvPr id="5" name="Footer Placeholder 4">
            <a:extLst>
              <a:ext uri="{FF2B5EF4-FFF2-40B4-BE49-F238E27FC236}">
                <a16:creationId xmlns:a16="http://schemas.microsoft.com/office/drawing/2014/main" id="{3401AFDD-7C39-8E1A-B031-9AA5A2F530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530541-3970-D9E8-80EF-0B798E685FD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524134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DAE23E-03A8-AE9D-8E36-BA90B5684A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B840BB-AB25-B52A-9656-E117AF3811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9CD23E-B3F5-FBA5-C80E-A574CC18C813}"/>
              </a:ext>
            </a:extLst>
          </p:cNvPr>
          <p:cNvSpPr>
            <a:spLocks noGrp="1"/>
          </p:cNvSpPr>
          <p:nvPr>
            <p:ph type="dt" sz="half" idx="10"/>
          </p:nvPr>
        </p:nvSpPr>
        <p:spPr/>
        <p:txBody>
          <a:bodyPr/>
          <a:lstStyle/>
          <a:p>
            <a:fld id="{F4EFC786-2935-4265-9B26-B14D271DC5F5}" type="datetime1">
              <a:rPr lang="en-US" smtClean="0"/>
              <a:t>1/4/2026</a:t>
            </a:fld>
            <a:endParaRPr lang="en-US"/>
          </a:p>
        </p:txBody>
      </p:sp>
      <p:sp>
        <p:nvSpPr>
          <p:cNvPr id="5" name="Footer Placeholder 4">
            <a:extLst>
              <a:ext uri="{FF2B5EF4-FFF2-40B4-BE49-F238E27FC236}">
                <a16:creationId xmlns:a16="http://schemas.microsoft.com/office/drawing/2014/main" id="{86BA6015-6A82-66FB-892D-7D52F1652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298FE3-2185-D0F2-F9B2-2354C09E0CA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803823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4736D2-BD27-C33D-3016-B5C22D738B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3F75BE-AE64-BECA-E759-43100BE004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69206-125B-41DF-997C-750E4FDE90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76EC6D-4A47-4C37-A1F4-993B8D832209}" type="datetime1">
              <a:rPr lang="en-US" smtClean="0"/>
              <a:t>1/4/2026</a:t>
            </a:fld>
            <a:endParaRPr lang="en-US"/>
          </a:p>
        </p:txBody>
      </p:sp>
      <p:sp>
        <p:nvSpPr>
          <p:cNvPr id="5" name="Footer Placeholder 4">
            <a:extLst>
              <a:ext uri="{FF2B5EF4-FFF2-40B4-BE49-F238E27FC236}">
                <a16:creationId xmlns:a16="http://schemas.microsoft.com/office/drawing/2014/main" id="{2EB39EDE-9A6C-95C6-EF1C-2D6885F9F2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D51B1B-62CF-80AA-081B-D24CFA9A0E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64BDCF-5269-49AC-A246-ED26C2B980E3}" type="slidenum">
              <a:rPr lang="en-US" smtClean="0"/>
              <a:t>‹#›</a:t>
            </a:fld>
            <a:endParaRPr lang="en-US"/>
          </a:p>
        </p:txBody>
      </p:sp>
    </p:spTree>
    <p:extLst>
      <p:ext uri="{BB962C8B-B14F-4D97-AF65-F5344CB8AC3E}">
        <p14:creationId xmlns:p14="http://schemas.microsoft.com/office/powerpoint/2010/main" val="1557268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w3schools.com/js/js_json.asp"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w3schools.com/js/js_json.asp"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w3schools.com/js/js_json.asp"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w3schools.com/js/js_json.asp"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w3schools.com/js/js_json.asp"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www.dbpedia.org/" TargetMode="External"/><Relationship Id="rId2" Type="http://schemas.openxmlformats.org/officeDocument/2006/relationships/hyperlink" Target="https://www.wikidata.org/wiki/Wikidata:Main_Page" TargetMode="External"/><Relationship Id="rId1" Type="http://schemas.openxmlformats.org/officeDocument/2006/relationships/slideLayout" Target="../slideLayouts/slideLayout2.xml"/><Relationship Id="rId4" Type="http://schemas.openxmlformats.org/officeDocument/2006/relationships/hyperlink" Target="https://yago-knowledge.org/" TargetMode="External"/></Relationships>
</file>

<file path=ppt/slides/_rels/slide48.xml.rels><?xml version="1.0" encoding="UTF-8" standalone="yes"?>
<Relationships xmlns="http://schemas.openxmlformats.org/package/2006/relationships"><Relationship Id="rId2" Type="http://schemas.openxmlformats.org/officeDocument/2006/relationships/hyperlink" Target="https://lod-cloud.net/"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64E64-D01B-5FDF-22D9-EC08BEB62AED}"/>
              </a:ext>
            </a:extLst>
          </p:cNvPr>
          <p:cNvSpPr>
            <a:spLocks noGrp="1"/>
          </p:cNvSpPr>
          <p:nvPr>
            <p:ph type="ctrTitle"/>
          </p:nvPr>
        </p:nvSpPr>
        <p:spPr/>
        <p:txBody>
          <a:bodyPr/>
          <a:lstStyle/>
          <a:p>
            <a:r>
              <a:rPr lang="en-US" dirty="0" err="1"/>
              <a:t>DataBase</a:t>
            </a:r>
            <a:endParaRPr lang="en-US" dirty="0"/>
          </a:p>
        </p:txBody>
      </p:sp>
      <p:sp>
        <p:nvSpPr>
          <p:cNvPr id="3" name="Subtitle 2">
            <a:extLst>
              <a:ext uri="{FF2B5EF4-FFF2-40B4-BE49-F238E27FC236}">
                <a16:creationId xmlns:a16="http://schemas.microsoft.com/office/drawing/2014/main" id="{10AB3069-C608-4303-DE85-85C98B05157B}"/>
              </a:ext>
            </a:extLst>
          </p:cNvPr>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C693C704-9F31-242D-BF15-7D930A158006}"/>
              </a:ext>
            </a:extLst>
          </p:cNvPr>
          <p:cNvSpPr>
            <a:spLocks noGrp="1"/>
          </p:cNvSpPr>
          <p:nvPr>
            <p:ph type="sldNum" sz="quarter" idx="12"/>
          </p:nvPr>
        </p:nvSpPr>
        <p:spPr/>
        <p:txBody>
          <a:bodyPr/>
          <a:lstStyle/>
          <a:p>
            <a:fld id="{6264BDCF-5269-49AC-A246-ED26C2B980E3}" type="slidenum">
              <a:rPr lang="en-US" smtClean="0"/>
              <a:t>1</a:t>
            </a:fld>
            <a:endParaRPr lang="en-US"/>
          </a:p>
        </p:txBody>
      </p:sp>
    </p:spTree>
    <p:extLst>
      <p:ext uri="{BB962C8B-B14F-4D97-AF65-F5344CB8AC3E}">
        <p14:creationId xmlns:p14="http://schemas.microsoft.com/office/powerpoint/2010/main" val="493323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B2C80-9FD9-EF84-AA9E-F999B4B5F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44C62C-0C1C-AA5D-C342-D3FEFC2861A1}"/>
              </a:ext>
            </a:extLst>
          </p:cNvPr>
          <p:cNvSpPr>
            <a:spLocks noGrp="1"/>
          </p:cNvSpPr>
          <p:nvPr>
            <p:ph type="ctrTitle"/>
          </p:nvPr>
        </p:nvSpPr>
        <p:spPr/>
        <p:txBody>
          <a:bodyPr/>
          <a:lstStyle/>
          <a:p>
            <a:r>
              <a:rPr lang="en-US" dirty="0" err="1"/>
              <a:t>DataBase</a:t>
            </a:r>
            <a:endParaRPr lang="en-US" dirty="0"/>
          </a:p>
        </p:txBody>
      </p:sp>
      <p:sp>
        <p:nvSpPr>
          <p:cNvPr id="3" name="Subtitle 2">
            <a:extLst>
              <a:ext uri="{FF2B5EF4-FFF2-40B4-BE49-F238E27FC236}">
                <a16:creationId xmlns:a16="http://schemas.microsoft.com/office/drawing/2014/main" id="{FEF81BAB-2277-111D-30A9-7BC0984575BA}"/>
              </a:ext>
            </a:extLst>
          </p:cNvPr>
          <p:cNvSpPr>
            <a:spLocks noGrp="1"/>
          </p:cNvSpPr>
          <p:nvPr>
            <p:ph type="subTitle" idx="1"/>
          </p:nvPr>
        </p:nvSpPr>
        <p:spPr/>
        <p:txBody>
          <a:bodyPr>
            <a:normAutofit/>
          </a:bodyPr>
          <a:lstStyle/>
          <a:p>
            <a:r>
              <a:rPr lang="en-US" sz="3600" b="1" dirty="0"/>
              <a:t>Complex Data Types</a:t>
            </a:r>
            <a:endParaRPr lang="en-US" sz="3600" dirty="0"/>
          </a:p>
        </p:txBody>
      </p:sp>
      <p:sp>
        <p:nvSpPr>
          <p:cNvPr id="4" name="Slide Number Placeholder 3">
            <a:extLst>
              <a:ext uri="{FF2B5EF4-FFF2-40B4-BE49-F238E27FC236}">
                <a16:creationId xmlns:a16="http://schemas.microsoft.com/office/drawing/2014/main" id="{5CC32E51-21AB-E06B-DF4E-89A4006AAB49}"/>
              </a:ext>
            </a:extLst>
          </p:cNvPr>
          <p:cNvSpPr>
            <a:spLocks noGrp="1"/>
          </p:cNvSpPr>
          <p:nvPr>
            <p:ph type="sldNum" sz="quarter" idx="12"/>
          </p:nvPr>
        </p:nvSpPr>
        <p:spPr/>
        <p:txBody>
          <a:bodyPr/>
          <a:lstStyle/>
          <a:p>
            <a:fld id="{6264BDCF-5269-49AC-A246-ED26C2B980E3}" type="slidenum">
              <a:rPr lang="en-US" smtClean="0"/>
              <a:t>2</a:t>
            </a:fld>
            <a:endParaRPr lang="en-US"/>
          </a:p>
        </p:txBody>
      </p:sp>
    </p:spTree>
    <p:extLst>
      <p:ext uri="{BB962C8B-B14F-4D97-AF65-F5344CB8AC3E}">
        <p14:creationId xmlns:p14="http://schemas.microsoft.com/office/powerpoint/2010/main" val="1379357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61AA5-D2CA-6719-2510-A51BF3B562B4}"/>
              </a:ext>
            </a:extLst>
          </p:cNvPr>
          <p:cNvSpPr>
            <a:spLocks noGrp="1"/>
          </p:cNvSpPr>
          <p:nvPr>
            <p:ph type="title"/>
          </p:nvPr>
        </p:nvSpPr>
        <p:spPr/>
        <p:txBody>
          <a:bodyPr>
            <a:normAutofit/>
          </a:bodyPr>
          <a:lstStyle/>
          <a:p>
            <a:r>
              <a:rPr lang="en-US" sz="4800" b="1" dirty="0"/>
              <a:t>Complex Data Types</a:t>
            </a:r>
            <a:endParaRPr lang="en-US" sz="4800" dirty="0"/>
          </a:p>
        </p:txBody>
      </p:sp>
      <p:sp>
        <p:nvSpPr>
          <p:cNvPr id="3" name="Content Placeholder 2">
            <a:extLst>
              <a:ext uri="{FF2B5EF4-FFF2-40B4-BE49-F238E27FC236}">
                <a16:creationId xmlns:a16="http://schemas.microsoft.com/office/drawing/2014/main" id="{689CD34D-C16B-842A-B3EE-EBCE060247B7}"/>
              </a:ext>
            </a:extLst>
          </p:cNvPr>
          <p:cNvSpPr>
            <a:spLocks noGrp="1"/>
          </p:cNvSpPr>
          <p:nvPr>
            <p:ph idx="1"/>
          </p:nvPr>
        </p:nvSpPr>
        <p:spPr/>
        <p:txBody>
          <a:bodyPr>
            <a:normAutofit/>
          </a:bodyPr>
          <a:lstStyle/>
          <a:p>
            <a:r>
              <a:rPr lang="en-US" dirty="0"/>
              <a:t>relational model is very widely used for data representation for a large number of application domains</a:t>
            </a:r>
          </a:p>
          <a:p>
            <a:r>
              <a:rPr lang="en-US" dirty="0"/>
              <a:t>key requirements of relational model is that data values be atomic and structured -  multivalued, composite, and other </a:t>
            </a:r>
            <a:r>
              <a:rPr lang="en-US" i="1" dirty="0"/>
              <a:t>complex data types</a:t>
            </a:r>
            <a:r>
              <a:rPr lang="en-US" dirty="0"/>
              <a:t> are disallowed by core relational model</a:t>
            </a:r>
          </a:p>
          <a:p>
            <a:r>
              <a:rPr lang="en-US" dirty="0"/>
              <a:t>there are many applications where constraints on data types imposed by relational model cause more problems than they solve</a:t>
            </a:r>
          </a:p>
        </p:txBody>
      </p:sp>
      <p:sp>
        <p:nvSpPr>
          <p:cNvPr id="4" name="Slide Number Placeholder 3">
            <a:extLst>
              <a:ext uri="{FF2B5EF4-FFF2-40B4-BE49-F238E27FC236}">
                <a16:creationId xmlns:a16="http://schemas.microsoft.com/office/drawing/2014/main" id="{96BF82EA-E751-AE25-8AAF-62B8ECBD9F9E}"/>
              </a:ext>
            </a:extLst>
          </p:cNvPr>
          <p:cNvSpPr>
            <a:spLocks noGrp="1"/>
          </p:cNvSpPr>
          <p:nvPr>
            <p:ph type="sldNum" sz="quarter" idx="12"/>
          </p:nvPr>
        </p:nvSpPr>
        <p:spPr/>
        <p:txBody>
          <a:bodyPr/>
          <a:lstStyle/>
          <a:p>
            <a:fld id="{6264BDCF-5269-49AC-A246-ED26C2B980E3}" type="slidenum">
              <a:rPr lang="en-US" smtClean="0"/>
              <a:t>3</a:t>
            </a:fld>
            <a:endParaRPr lang="en-US"/>
          </a:p>
        </p:txBody>
      </p:sp>
    </p:spTree>
    <p:extLst>
      <p:ext uri="{BB962C8B-B14F-4D97-AF65-F5344CB8AC3E}">
        <p14:creationId xmlns:p14="http://schemas.microsoft.com/office/powerpoint/2010/main" val="2758336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C1A15-8E57-7320-F6BB-971FF5D5C442}"/>
              </a:ext>
            </a:extLst>
          </p:cNvPr>
          <p:cNvSpPr>
            <a:spLocks noGrp="1"/>
          </p:cNvSpPr>
          <p:nvPr>
            <p:ph type="title"/>
          </p:nvPr>
        </p:nvSpPr>
        <p:spPr/>
        <p:txBody>
          <a:bodyPr>
            <a:normAutofit/>
          </a:bodyPr>
          <a:lstStyle/>
          <a:p>
            <a:r>
              <a:rPr lang="en-US" sz="4800" b="1" dirty="0"/>
              <a:t>Complex Data Types</a:t>
            </a:r>
            <a:endParaRPr lang="en-US" sz="4800" dirty="0"/>
          </a:p>
        </p:txBody>
      </p:sp>
      <p:sp>
        <p:nvSpPr>
          <p:cNvPr id="3" name="Content Placeholder 2">
            <a:extLst>
              <a:ext uri="{FF2B5EF4-FFF2-40B4-BE49-F238E27FC236}">
                <a16:creationId xmlns:a16="http://schemas.microsoft.com/office/drawing/2014/main" id="{5E04F3F2-3E44-4209-E114-395786990FD5}"/>
              </a:ext>
            </a:extLst>
          </p:cNvPr>
          <p:cNvSpPr>
            <a:spLocks noGrp="1"/>
          </p:cNvSpPr>
          <p:nvPr>
            <p:ph idx="1"/>
          </p:nvPr>
        </p:nvSpPr>
        <p:spPr/>
        <p:txBody>
          <a:bodyPr/>
          <a:lstStyle/>
          <a:p>
            <a:r>
              <a:rPr lang="en-US" sz="3300" dirty="0"/>
              <a:t>semi-structured data</a:t>
            </a:r>
          </a:p>
          <a:p>
            <a:r>
              <a:rPr lang="en-US" sz="3300" dirty="0"/>
              <a:t>object-based data</a:t>
            </a:r>
          </a:p>
          <a:p>
            <a:r>
              <a:rPr lang="en-US" sz="3300" dirty="0"/>
              <a:t>textual data</a:t>
            </a:r>
          </a:p>
          <a:p>
            <a:r>
              <a:rPr lang="en-US" sz="3300" dirty="0"/>
              <a:t>spatial data</a:t>
            </a:r>
          </a:p>
          <a:p>
            <a:endParaRPr lang="en-US" dirty="0"/>
          </a:p>
        </p:txBody>
      </p:sp>
      <p:sp>
        <p:nvSpPr>
          <p:cNvPr id="4" name="Slide Number Placeholder 3">
            <a:extLst>
              <a:ext uri="{FF2B5EF4-FFF2-40B4-BE49-F238E27FC236}">
                <a16:creationId xmlns:a16="http://schemas.microsoft.com/office/drawing/2014/main" id="{43303E44-59D7-297C-8BA6-9423260D5C89}"/>
              </a:ext>
            </a:extLst>
          </p:cNvPr>
          <p:cNvSpPr>
            <a:spLocks noGrp="1"/>
          </p:cNvSpPr>
          <p:nvPr>
            <p:ph type="sldNum" sz="quarter" idx="12"/>
          </p:nvPr>
        </p:nvSpPr>
        <p:spPr/>
        <p:txBody>
          <a:bodyPr/>
          <a:lstStyle/>
          <a:p>
            <a:fld id="{6264BDCF-5269-49AC-A246-ED26C2B980E3}" type="slidenum">
              <a:rPr lang="en-US" smtClean="0"/>
              <a:t>4</a:t>
            </a:fld>
            <a:endParaRPr lang="en-US"/>
          </a:p>
        </p:txBody>
      </p:sp>
    </p:spTree>
    <p:extLst>
      <p:ext uri="{BB962C8B-B14F-4D97-AF65-F5344CB8AC3E}">
        <p14:creationId xmlns:p14="http://schemas.microsoft.com/office/powerpoint/2010/main" val="645249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D103BB-A5BD-C747-5FC1-CB574A600598}"/>
              </a:ext>
            </a:extLst>
          </p:cNvPr>
          <p:cNvSpPr>
            <a:spLocks noGrp="1"/>
          </p:cNvSpPr>
          <p:nvPr>
            <p:ph type="title"/>
          </p:nvPr>
        </p:nvSpPr>
        <p:spPr/>
        <p:txBody>
          <a:bodyPr/>
          <a:lstStyle/>
          <a:p>
            <a:r>
              <a:rPr lang="en-US" b="1" dirty="0"/>
              <a:t>Semi-Structured Data</a:t>
            </a:r>
            <a:endParaRPr lang="en-US" dirty="0"/>
          </a:p>
        </p:txBody>
      </p:sp>
      <p:sp>
        <p:nvSpPr>
          <p:cNvPr id="6" name="Text Placeholder 5">
            <a:extLst>
              <a:ext uri="{FF2B5EF4-FFF2-40B4-BE49-F238E27FC236}">
                <a16:creationId xmlns:a16="http://schemas.microsoft.com/office/drawing/2014/main" id="{5401F62A-7CFD-F9E3-EB6E-FECDE65B70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6905D1-7CB6-E575-0733-A945E1ECEAAC}"/>
              </a:ext>
            </a:extLst>
          </p:cNvPr>
          <p:cNvSpPr>
            <a:spLocks noGrp="1"/>
          </p:cNvSpPr>
          <p:nvPr>
            <p:ph type="sldNum" sz="quarter" idx="12"/>
          </p:nvPr>
        </p:nvSpPr>
        <p:spPr/>
        <p:txBody>
          <a:bodyPr/>
          <a:lstStyle/>
          <a:p>
            <a:fld id="{6264BDCF-5269-49AC-A246-ED26C2B980E3}" type="slidenum">
              <a:rPr lang="en-US" smtClean="0"/>
              <a:t>5</a:t>
            </a:fld>
            <a:endParaRPr lang="en-US"/>
          </a:p>
        </p:txBody>
      </p:sp>
    </p:spTree>
    <p:extLst>
      <p:ext uri="{BB962C8B-B14F-4D97-AF65-F5344CB8AC3E}">
        <p14:creationId xmlns:p14="http://schemas.microsoft.com/office/powerpoint/2010/main" val="4052875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A59DF-85F8-66D7-3829-DD64E95ACB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26CBCD9-0F13-D907-4A15-96A5AFCBAB34}"/>
              </a:ext>
            </a:extLst>
          </p:cNvPr>
          <p:cNvSpPr>
            <a:spLocks noGrp="1"/>
          </p:cNvSpPr>
          <p:nvPr>
            <p:ph idx="1"/>
          </p:nvPr>
        </p:nvSpPr>
        <p:spPr/>
        <p:txBody>
          <a:bodyPr/>
          <a:lstStyle/>
          <a:p>
            <a:r>
              <a:rPr lang="en-US" dirty="0"/>
              <a:t>Relational </a:t>
            </a:r>
            <a:r>
              <a:rPr lang="en-US" dirty="0" err="1"/>
              <a:t>DataBase</a:t>
            </a:r>
            <a:r>
              <a:rPr lang="en-US" dirty="0"/>
              <a:t> designs have tables with fixed number of attributes, each of which contains atomic value</a:t>
            </a:r>
          </a:p>
          <a:p>
            <a:r>
              <a:rPr lang="en-US" dirty="0"/>
              <a:t>changes to schema are rare events, and may require changing of application code</a:t>
            </a:r>
          </a:p>
          <a:p>
            <a:r>
              <a:rPr lang="en-US" dirty="0"/>
              <a:t>well suited to many organizational applications</a:t>
            </a:r>
          </a:p>
        </p:txBody>
      </p:sp>
      <p:sp>
        <p:nvSpPr>
          <p:cNvPr id="4" name="Slide Number Placeholder 3">
            <a:extLst>
              <a:ext uri="{FF2B5EF4-FFF2-40B4-BE49-F238E27FC236}">
                <a16:creationId xmlns:a16="http://schemas.microsoft.com/office/drawing/2014/main" id="{C9A793FE-7DB4-1BFE-8331-AC80F1406BA5}"/>
              </a:ext>
            </a:extLst>
          </p:cNvPr>
          <p:cNvSpPr>
            <a:spLocks noGrp="1"/>
          </p:cNvSpPr>
          <p:nvPr>
            <p:ph type="sldNum" sz="quarter" idx="12"/>
          </p:nvPr>
        </p:nvSpPr>
        <p:spPr/>
        <p:txBody>
          <a:bodyPr/>
          <a:lstStyle/>
          <a:p>
            <a:fld id="{6264BDCF-5269-49AC-A246-ED26C2B980E3}" type="slidenum">
              <a:rPr lang="en-US" smtClean="0"/>
              <a:t>6</a:t>
            </a:fld>
            <a:endParaRPr lang="en-US"/>
          </a:p>
        </p:txBody>
      </p:sp>
    </p:spTree>
    <p:extLst>
      <p:ext uri="{BB962C8B-B14F-4D97-AF65-F5344CB8AC3E}">
        <p14:creationId xmlns:p14="http://schemas.microsoft.com/office/powerpoint/2010/main" val="2296741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04CA4-5273-A693-9799-82DEC9F4AAF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5841F68-80B4-1027-68BD-BC8CF15FC131}"/>
              </a:ext>
            </a:extLst>
          </p:cNvPr>
          <p:cNvSpPr>
            <a:spLocks noGrp="1"/>
          </p:cNvSpPr>
          <p:nvPr>
            <p:ph idx="1"/>
          </p:nvPr>
        </p:nvSpPr>
        <p:spPr>
          <a:xfrm>
            <a:off x="838200" y="365125"/>
            <a:ext cx="10515600" cy="5811838"/>
          </a:xfrm>
        </p:spPr>
        <p:txBody>
          <a:bodyPr>
            <a:noAutofit/>
          </a:bodyPr>
          <a:lstStyle/>
          <a:p>
            <a:r>
              <a:rPr lang="en-US" dirty="0"/>
              <a:t>there are many application domains that need to store more complex data, whose schema changes often</a:t>
            </a:r>
          </a:p>
          <a:p>
            <a:r>
              <a:rPr lang="en-US" dirty="0"/>
              <a:t>an example of such a domain are fast evolving web applications</a:t>
            </a:r>
          </a:p>
          <a:p>
            <a:r>
              <a:rPr lang="en-US" dirty="0"/>
              <a:t>consider the profile of a user which needs to be accessible to a number of different applications</a:t>
            </a:r>
          </a:p>
          <a:p>
            <a:r>
              <a:rPr lang="en-US" dirty="0"/>
              <a:t>profile contains a variety of attributes, and there are frequent additions to attributes stored in profile and some attributes may contain complex data</a:t>
            </a:r>
          </a:p>
          <a:p>
            <a:pPr lvl="1"/>
            <a:r>
              <a:rPr lang="en-US" sz="2700" dirty="0"/>
              <a:t>attribute may store a set of interests that can be used to show the user articles related </a:t>
            </a:r>
          </a:p>
          <a:p>
            <a:pPr lvl="1"/>
            <a:r>
              <a:rPr lang="en-US" sz="2700" dirty="0"/>
              <a:t>set can be stored in a normalized fashion in a separate relation</a:t>
            </a:r>
          </a:p>
          <a:p>
            <a:pPr lvl="1"/>
            <a:r>
              <a:rPr lang="en-US" sz="2700" dirty="0"/>
              <a:t>set data type allows significantly more efficient access</a:t>
            </a:r>
          </a:p>
        </p:txBody>
      </p:sp>
      <p:sp>
        <p:nvSpPr>
          <p:cNvPr id="4" name="Slide Number Placeholder 3">
            <a:extLst>
              <a:ext uri="{FF2B5EF4-FFF2-40B4-BE49-F238E27FC236}">
                <a16:creationId xmlns:a16="http://schemas.microsoft.com/office/drawing/2014/main" id="{65AF92A8-2558-3780-0368-E316D579BADD}"/>
              </a:ext>
            </a:extLst>
          </p:cNvPr>
          <p:cNvSpPr>
            <a:spLocks noGrp="1"/>
          </p:cNvSpPr>
          <p:nvPr>
            <p:ph type="sldNum" sz="quarter" idx="12"/>
          </p:nvPr>
        </p:nvSpPr>
        <p:spPr/>
        <p:txBody>
          <a:bodyPr/>
          <a:lstStyle/>
          <a:p>
            <a:fld id="{6264BDCF-5269-49AC-A246-ED26C2B980E3}" type="slidenum">
              <a:rPr lang="en-US" smtClean="0"/>
              <a:t>7</a:t>
            </a:fld>
            <a:endParaRPr lang="en-US"/>
          </a:p>
        </p:txBody>
      </p:sp>
    </p:spTree>
    <p:extLst>
      <p:ext uri="{BB962C8B-B14F-4D97-AF65-F5344CB8AC3E}">
        <p14:creationId xmlns:p14="http://schemas.microsoft.com/office/powerpoint/2010/main" val="210107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88960-14B9-C9F3-E015-09F857E76C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39A8DC7-2624-4D99-E191-B48F9CB2320F}"/>
              </a:ext>
            </a:extLst>
          </p:cNvPr>
          <p:cNvSpPr>
            <a:spLocks noGrp="1"/>
          </p:cNvSpPr>
          <p:nvPr>
            <p:ph idx="1"/>
          </p:nvPr>
        </p:nvSpPr>
        <p:spPr/>
        <p:txBody>
          <a:bodyPr>
            <a:noAutofit/>
          </a:bodyPr>
          <a:lstStyle/>
          <a:p>
            <a:r>
              <a:rPr lang="en-US" sz="2700" dirty="0"/>
              <a:t>data exchange is another very important motivation for semi-structured data representations; perhaps even more important than storage </a:t>
            </a:r>
          </a:p>
          <a:p>
            <a:r>
              <a:rPr lang="en-US" sz="2700" dirty="0"/>
              <a:t>popular architecture for building IT systems is to create web service that allows retrieval of data and to build application code that displays data and allows user interaction - may be written in JavaScript and run on browser</a:t>
            </a:r>
          </a:p>
          <a:p>
            <a:r>
              <a:rPr lang="en-US" sz="2700" dirty="0"/>
              <a:t>key to building such applications is the ability to efficiently exchange and process complex data between backend servers and clients: JSON and XML data models have been widely adopted for this task</a:t>
            </a:r>
          </a:p>
        </p:txBody>
      </p:sp>
      <p:sp>
        <p:nvSpPr>
          <p:cNvPr id="4" name="Slide Number Placeholder 3">
            <a:extLst>
              <a:ext uri="{FF2B5EF4-FFF2-40B4-BE49-F238E27FC236}">
                <a16:creationId xmlns:a16="http://schemas.microsoft.com/office/drawing/2014/main" id="{87F49E40-2272-8E98-68B3-80114F568E10}"/>
              </a:ext>
            </a:extLst>
          </p:cNvPr>
          <p:cNvSpPr>
            <a:spLocks noGrp="1"/>
          </p:cNvSpPr>
          <p:nvPr>
            <p:ph type="sldNum" sz="quarter" idx="12"/>
          </p:nvPr>
        </p:nvSpPr>
        <p:spPr/>
        <p:txBody>
          <a:bodyPr/>
          <a:lstStyle/>
          <a:p>
            <a:fld id="{6264BDCF-5269-49AC-A246-ED26C2B980E3}" type="slidenum">
              <a:rPr lang="en-US" smtClean="0"/>
              <a:t>8</a:t>
            </a:fld>
            <a:endParaRPr lang="en-US"/>
          </a:p>
        </p:txBody>
      </p:sp>
    </p:spTree>
    <p:extLst>
      <p:ext uri="{BB962C8B-B14F-4D97-AF65-F5344CB8AC3E}">
        <p14:creationId xmlns:p14="http://schemas.microsoft.com/office/powerpoint/2010/main" val="1996703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A4E3C-D6BB-1D4D-9BEA-1266B7C2BE94}"/>
              </a:ext>
            </a:extLst>
          </p:cNvPr>
          <p:cNvSpPr>
            <a:spLocks noGrp="1"/>
          </p:cNvSpPr>
          <p:nvPr>
            <p:ph type="title"/>
          </p:nvPr>
        </p:nvSpPr>
        <p:spPr/>
        <p:txBody>
          <a:bodyPr/>
          <a:lstStyle/>
          <a:p>
            <a:r>
              <a:rPr lang="en-US" dirty="0"/>
              <a:t>Semi-Structured Data Models</a:t>
            </a:r>
          </a:p>
        </p:txBody>
      </p:sp>
      <p:sp>
        <p:nvSpPr>
          <p:cNvPr id="3" name="Content Placeholder 2">
            <a:extLst>
              <a:ext uri="{FF2B5EF4-FFF2-40B4-BE49-F238E27FC236}">
                <a16:creationId xmlns:a16="http://schemas.microsoft.com/office/drawing/2014/main" id="{E8C32882-22EE-5006-6F8E-8C8D1D831C41}"/>
              </a:ext>
            </a:extLst>
          </p:cNvPr>
          <p:cNvSpPr>
            <a:spLocks noGrp="1"/>
          </p:cNvSpPr>
          <p:nvPr>
            <p:ph idx="1"/>
          </p:nvPr>
        </p:nvSpPr>
        <p:spPr/>
        <p:txBody>
          <a:bodyPr/>
          <a:lstStyle/>
          <a:p>
            <a:r>
              <a:rPr lang="en-US" dirty="0"/>
              <a:t>Flexible Schema</a:t>
            </a:r>
          </a:p>
          <a:p>
            <a:r>
              <a:rPr lang="en-US" dirty="0"/>
              <a:t>Multivalued Data Types</a:t>
            </a:r>
          </a:p>
          <a:p>
            <a:r>
              <a:rPr lang="en-US" dirty="0"/>
              <a:t>Nested Data Types</a:t>
            </a:r>
          </a:p>
          <a:p>
            <a:r>
              <a:rPr lang="en-US" dirty="0"/>
              <a:t>Knowledge Representation</a:t>
            </a:r>
          </a:p>
          <a:p>
            <a:endParaRPr lang="en-US" dirty="0"/>
          </a:p>
        </p:txBody>
      </p:sp>
      <p:sp>
        <p:nvSpPr>
          <p:cNvPr id="4" name="Slide Number Placeholder 3">
            <a:extLst>
              <a:ext uri="{FF2B5EF4-FFF2-40B4-BE49-F238E27FC236}">
                <a16:creationId xmlns:a16="http://schemas.microsoft.com/office/drawing/2014/main" id="{F90CB098-719E-6071-D326-B58936F4FF40}"/>
              </a:ext>
            </a:extLst>
          </p:cNvPr>
          <p:cNvSpPr>
            <a:spLocks noGrp="1"/>
          </p:cNvSpPr>
          <p:nvPr>
            <p:ph type="sldNum" sz="quarter" idx="12"/>
          </p:nvPr>
        </p:nvSpPr>
        <p:spPr/>
        <p:txBody>
          <a:bodyPr/>
          <a:lstStyle/>
          <a:p>
            <a:fld id="{6264BDCF-5269-49AC-A246-ED26C2B980E3}" type="slidenum">
              <a:rPr lang="en-US" smtClean="0"/>
              <a:t>9</a:t>
            </a:fld>
            <a:endParaRPr lang="en-US"/>
          </a:p>
        </p:txBody>
      </p:sp>
    </p:spTree>
    <p:extLst>
      <p:ext uri="{BB962C8B-B14F-4D97-AF65-F5344CB8AC3E}">
        <p14:creationId xmlns:p14="http://schemas.microsoft.com/office/powerpoint/2010/main" val="154302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DE3DF-B148-B22D-7760-D512C60253B5}"/>
              </a:ext>
            </a:extLst>
          </p:cNvPr>
          <p:cNvSpPr>
            <a:spLocks noGrp="1"/>
          </p:cNvSpPr>
          <p:nvPr>
            <p:ph type="title"/>
          </p:nvPr>
        </p:nvSpPr>
        <p:spPr/>
        <p:txBody>
          <a:bodyPr/>
          <a:lstStyle/>
          <a:p>
            <a:r>
              <a:rPr lang="en-US" dirty="0"/>
              <a:t>Flexible Schema</a:t>
            </a:r>
          </a:p>
        </p:txBody>
      </p:sp>
      <p:sp>
        <p:nvSpPr>
          <p:cNvPr id="3" name="Content Placeholder 2">
            <a:extLst>
              <a:ext uri="{FF2B5EF4-FFF2-40B4-BE49-F238E27FC236}">
                <a16:creationId xmlns:a16="http://schemas.microsoft.com/office/drawing/2014/main" id="{13DA5ADB-571F-7616-2E43-5220F73DDC0C}"/>
              </a:ext>
            </a:extLst>
          </p:cNvPr>
          <p:cNvSpPr>
            <a:spLocks noGrp="1"/>
          </p:cNvSpPr>
          <p:nvPr>
            <p:ph idx="1"/>
          </p:nvPr>
        </p:nvSpPr>
        <p:spPr/>
        <p:txBody>
          <a:bodyPr>
            <a:normAutofit/>
          </a:bodyPr>
          <a:lstStyle/>
          <a:p>
            <a:r>
              <a:rPr lang="en-US" dirty="0"/>
              <a:t>some database systems allow each tuple to potentially have a different set of attributes; such a representation is referred to as </a:t>
            </a:r>
            <a:r>
              <a:rPr lang="en-US" b="1" i="1" dirty="0"/>
              <a:t>wide column</a:t>
            </a:r>
            <a:r>
              <a:rPr lang="en-US" b="1" dirty="0"/>
              <a:t> </a:t>
            </a:r>
            <a:r>
              <a:rPr lang="en-US" dirty="0"/>
              <a:t>data representation - set of attributes is not fixed in such a representation; each tuple may have a different set of attributes, and new attributes may be added as needed</a:t>
            </a:r>
          </a:p>
          <a:p>
            <a:r>
              <a:rPr lang="en-US" dirty="0"/>
              <a:t>restricted form of this representation is to have a fixed but very large number of attributes, with each tuple using only those attributes that it needs, leaving the rest with null values; such a representation is referred to as </a:t>
            </a:r>
            <a:r>
              <a:rPr lang="en-US" b="1" i="1" dirty="0"/>
              <a:t>sparse column</a:t>
            </a:r>
            <a:r>
              <a:rPr lang="en-US" b="1" dirty="0"/>
              <a:t> </a:t>
            </a:r>
            <a:r>
              <a:rPr lang="en-US" dirty="0"/>
              <a:t>representation</a:t>
            </a:r>
          </a:p>
        </p:txBody>
      </p:sp>
      <p:sp>
        <p:nvSpPr>
          <p:cNvPr id="4" name="Slide Number Placeholder 3">
            <a:extLst>
              <a:ext uri="{FF2B5EF4-FFF2-40B4-BE49-F238E27FC236}">
                <a16:creationId xmlns:a16="http://schemas.microsoft.com/office/drawing/2014/main" id="{3A11D939-715F-7F55-7CD0-A37600EF3BD4}"/>
              </a:ext>
            </a:extLst>
          </p:cNvPr>
          <p:cNvSpPr>
            <a:spLocks noGrp="1"/>
          </p:cNvSpPr>
          <p:nvPr>
            <p:ph type="sldNum" sz="quarter" idx="12"/>
          </p:nvPr>
        </p:nvSpPr>
        <p:spPr/>
        <p:txBody>
          <a:bodyPr/>
          <a:lstStyle/>
          <a:p>
            <a:fld id="{6264BDCF-5269-49AC-A246-ED26C2B980E3}" type="slidenum">
              <a:rPr lang="en-US" smtClean="0"/>
              <a:t>10</a:t>
            </a:fld>
            <a:endParaRPr lang="en-US"/>
          </a:p>
        </p:txBody>
      </p:sp>
    </p:spTree>
    <p:extLst>
      <p:ext uri="{BB962C8B-B14F-4D97-AF65-F5344CB8AC3E}">
        <p14:creationId xmlns:p14="http://schemas.microsoft.com/office/powerpoint/2010/main" val="983362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D70F3-9A7C-5CBC-EA22-B840A2719179}"/>
              </a:ext>
            </a:extLst>
          </p:cNvPr>
          <p:cNvSpPr>
            <a:spLocks noGrp="1"/>
          </p:cNvSpPr>
          <p:nvPr>
            <p:ph type="title"/>
          </p:nvPr>
        </p:nvSpPr>
        <p:spPr/>
        <p:txBody>
          <a:bodyPr/>
          <a:lstStyle/>
          <a:p>
            <a:r>
              <a:rPr lang="en-US" dirty="0"/>
              <a:t>Multivalued Data Types</a:t>
            </a:r>
          </a:p>
        </p:txBody>
      </p:sp>
      <p:sp>
        <p:nvSpPr>
          <p:cNvPr id="3" name="Content Placeholder 2">
            <a:extLst>
              <a:ext uri="{FF2B5EF4-FFF2-40B4-BE49-F238E27FC236}">
                <a16:creationId xmlns:a16="http://schemas.microsoft.com/office/drawing/2014/main" id="{A63D0813-26FA-25BA-691C-A3011CE46131}"/>
              </a:ext>
            </a:extLst>
          </p:cNvPr>
          <p:cNvSpPr>
            <a:spLocks noGrp="1"/>
          </p:cNvSpPr>
          <p:nvPr>
            <p:ph idx="1"/>
          </p:nvPr>
        </p:nvSpPr>
        <p:spPr/>
        <p:txBody>
          <a:bodyPr>
            <a:normAutofit/>
          </a:bodyPr>
          <a:lstStyle/>
          <a:p>
            <a:r>
              <a:rPr lang="en-US" dirty="0"/>
              <a:t>allow attributes to contain non-atomic values</a:t>
            </a:r>
          </a:p>
          <a:p>
            <a:r>
              <a:rPr lang="en-US" dirty="0"/>
              <a:t>many databases (including </a:t>
            </a:r>
            <a:r>
              <a:rPr lang="en-US" dirty="0" err="1"/>
              <a:t>PostGreSQL</a:t>
            </a:r>
            <a:r>
              <a:rPr lang="en-US" dirty="0"/>
              <a:t>) allow the storage of </a:t>
            </a:r>
            <a:r>
              <a:rPr lang="en-US" b="1" i="1" dirty="0"/>
              <a:t>sets</a:t>
            </a:r>
            <a:r>
              <a:rPr lang="en-US" dirty="0"/>
              <a:t>, multisets, enumerated or arrays as attribute values</a:t>
            </a:r>
          </a:p>
          <a:p>
            <a:r>
              <a:rPr lang="en-US" dirty="0"/>
              <a:t>for example, application that stores topics of interest to a user, and uses topics to target articles to the user, may store topics as a set</a:t>
            </a:r>
          </a:p>
          <a:p>
            <a:r>
              <a:rPr lang="en-US" dirty="0"/>
              <a:t>{ faith, family, football}</a:t>
            </a:r>
          </a:p>
        </p:txBody>
      </p:sp>
      <p:sp>
        <p:nvSpPr>
          <p:cNvPr id="4" name="Slide Number Placeholder 3">
            <a:extLst>
              <a:ext uri="{FF2B5EF4-FFF2-40B4-BE49-F238E27FC236}">
                <a16:creationId xmlns:a16="http://schemas.microsoft.com/office/drawing/2014/main" id="{2A2DC098-EB80-FAED-9C65-24E368CCAF17}"/>
              </a:ext>
            </a:extLst>
          </p:cNvPr>
          <p:cNvSpPr>
            <a:spLocks noGrp="1"/>
          </p:cNvSpPr>
          <p:nvPr>
            <p:ph type="sldNum" sz="quarter" idx="12"/>
          </p:nvPr>
        </p:nvSpPr>
        <p:spPr/>
        <p:txBody>
          <a:bodyPr/>
          <a:lstStyle/>
          <a:p>
            <a:fld id="{6264BDCF-5269-49AC-A246-ED26C2B980E3}" type="slidenum">
              <a:rPr lang="en-US" smtClean="0"/>
              <a:t>11</a:t>
            </a:fld>
            <a:endParaRPr lang="en-US"/>
          </a:p>
        </p:txBody>
      </p:sp>
    </p:spTree>
    <p:extLst>
      <p:ext uri="{BB962C8B-B14F-4D97-AF65-F5344CB8AC3E}">
        <p14:creationId xmlns:p14="http://schemas.microsoft.com/office/powerpoint/2010/main" val="1549807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12796-DC91-45F9-8D77-D6EA65F4F0A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5B6613-F8C8-6E96-EB81-7896137F5C96}"/>
              </a:ext>
            </a:extLst>
          </p:cNvPr>
          <p:cNvSpPr>
            <a:spLocks noGrp="1"/>
          </p:cNvSpPr>
          <p:nvPr>
            <p:ph idx="1"/>
          </p:nvPr>
        </p:nvSpPr>
        <p:spPr>
          <a:xfrm>
            <a:off x="838199" y="1209368"/>
            <a:ext cx="11068665" cy="4967595"/>
          </a:xfrm>
        </p:spPr>
        <p:txBody>
          <a:bodyPr>
            <a:noAutofit/>
          </a:bodyPr>
          <a:lstStyle/>
          <a:p>
            <a:r>
              <a:rPr lang="en-US" dirty="0"/>
              <a:t>set-valued attribute can be stored in normalized form - doing so provides no benefits in this case, since lookups are always based on user, and normalization would significantly increase storage and querying</a:t>
            </a:r>
          </a:p>
          <a:p>
            <a:r>
              <a:rPr lang="en-US" dirty="0"/>
              <a:t>some representations allow attributes to store </a:t>
            </a:r>
            <a:r>
              <a:rPr lang="en-US" b="1" i="1" dirty="0"/>
              <a:t>key-value maps</a:t>
            </a:r>
            <a:r>
              <a:rPr lang="en-US" i="1" dirty="0"/>
              <a:t>, </a:t>
            </a:r>
            <a:r>
              <a:rPr lang="en-US" dirty="0"/>
              <a:t>which store key-value pairs</a:t>
            </a:r>
          </a:p>
          <a:p>
            <a:r>
              <a:rPr lang="en-US" dirty="0"/>
              <a:t>set of (</a:t>
            </a:r>
            <a:r>
              <a:rPr lang="en-US" i="1" dirty="0"/>
              <a:t>key, value</a:t>
            </a:r>
            <a:r>
              <a:rPr lang="en-US" dirty="0"/>
              <a:t>) pairs, such that each key occurs in at most one element</a:t>
            </a:r>
          </a:p>
          <a:p>
            <a:endParaRPr lang="en-US" sz="1800" dirty="0"/>
          </a:p>
          <a:p>
            <a:r>
              <a:rPr lang="en-US" sz="2700" dirty="0"/>
              <a:t>for example, e-commerce sites often list specifications or details for each product that they sell; set of specifications may be different for each product</a:t>
            </a:r>
          </a:p>
          <a:p>
            <a:r>
              <a:rPr lang="en-US" sz="2700" dirty="0"/>
              <a:t>{(brand, Apple), (ID, MacBook Air), (size, 13), (color, silver)}</a:t>
            </a:r>
          </a:p>
          <a:p>
            <a:r>
              <a:rPr lang="en-US" sz="2700" dirty="0"/>
              <a:t>{(brand, </a:t>
            </a:r>
            <a:r>
              <a:rPr lang="en-US" sz="2700" dirty="0" err="1"/>
              <a:t>Yonex</a:t>
            </a:r>
            <a:r>
              <a:rPr lang="en-US" sz="2700" dirty="0"/>
              <a:t>), (ID, EZONE), (weight, 285), (UM, g), (color, blue)}</a:t>
            </a:r>
          </a:p>
        </p:txBody>
      </p:sp>
      <p:sp>
        <p:nvSpPr>
          <p:cNvPr id="4" name="Slide Number Placeholder 3">
            <a:extLst>
              <a:ext uri="{FF2B5EF4-FFF2-40B4-BE49-F238E27FC236}">
                <a16:creationId xmlns:a16="http://schemas.microsoft.com/office/drawing/2014/main" id="{E68E1C38-9FF4-2977-EE4B-D6E4B82AA141}"/>
              </a:ext>
            </a:extLst>
          </p:cNvPr>
          <p:cNvSpPr>
            <a:spLocks noGrp="1"/>
          </p:cNvSpPr>
          <p:nvPr>
            <p:ph type="sldNum" sz="quarter" idx="12"/>
          </p:nvPr>
        </p:nvSpPr>
        <p:spPr/>
        <p:txBody>
          <a:bodyPr/>
          <a:lstStyle/>
          <a:p>
            <a:fld id="{6264BDCF-5269-49AC-A246-ED26C2B980E3}" type="slidenum">
              <a:rPr lang="en-US" smtClean="0"/>
              <a:t>12</a:t>
            </a:fld>
            <a:endParaRPr lang="en-US"/>
          </a:p>
        </p:txBody>
      </p:sp>
    </p:spTree>
    <p:extLst>
      <p:ext uri="{BB962C8B-B14F-4D97-AF65-F5344CB8AC3E}">
        <p14:creationId xmlns:p14="http://schemas.microsoft.com/office/powerpoint/2010/main" val="583158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05CC4-2104-061D-38E1-1B7CC0F7A4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56388E-0C7E-72A2-E832-96989E68CE73}"/>
              </a:ext>
            </a:extLst>
          </p:cNvPr>
          <p:cNvSpPr>
            <a:spLocks noGrp="1"/>
          </p:cNvSpPr>
          <p:nvPr>
            <p:ph idx="1"/>
          </p:nvPr>
        </p:nvSpPr>
        <p:spPr/>
        <p:txBody>
          <a:bodyPr>
            <a:normAutofit/>
          </a:bodyPr>
          <a:lstStyle/>
          <a:p>
            <a:r>
              <a:rPr lang="en-US" i="1" dirty="0"/>
              <a:t>put(key, value)</a:t>
            </a:r>
            <a:r>
              <a:rPr lang="en-US" b="1" dirty="0"/>
              <a:t> </a:t>
            </a:r>
            <a:r>
              <a:rPr lang="en-US" dirty="0"/>
              <a:t>method can be used to add a key-value pair</a:t>
            </a:r>
          </a:p>
          <a:p>
            <a:r>
              <a:rPr lang="en-US" i="1" dirty="0"/>
              <a:t>get(key</a:t>
            </a:r>
            <a:r>
              <a:rPr lang="en-US" b="1" dirty="0"/>
              <a:t>) </a:t>
            </a:r>
            <a:r>
              <a:rPr lang="en-US" dirty="0"/>
              <a:t>method can be used to retrieve value associated with key</a:t>
            </a:r>
          </a:p>
          <a:p>
            <a:r>
              <a:rPr lang="en-US" i="1" dirty="0"/>
              <a:t>delete(key) </a:t>
            </a:r>
            <a:r>
              <a:rPr lang="en-US" dirty="0"/>
              <a:t>method can be used to delete key-value pair from map</a:t>
            </a:r>
          </a:p>
          <a:p>
            <a:endParaRPr lang="en-US" dirty="0"/>
          </a:p>
        </p:txBody>
      </p:sp>
      <p:sp>
        <p:nvSpPr>
          <p:cNvPr id="4" name="Slide Number Placeholder 3">
            <a:extLst>
              <a:ext uri="{FF2B5EF4-FFF2-40B4-BE49-F238E27FC236}">
                <a16:creationId xmlns:a16="http://schemas.microsoft.com/office/drawing/2014/main" id="{1B08ED9F-000D-CCDC-11BA-7B83FE83EE9B}"/>
              </a:ext>
            </a:extLst>
          </p:cNvPr>
          <p:cNvSpPr>
            <a:spLocks noGrp="1"/>
          </p:cNvSpPr>
          <p:nvPr>
            <p:ph type="sldNum" sz="quarter" idx="12"/>
          </p:nvPr>
        </p:nvSpPr>
        <p:spPr/>
        <p:txBody>
          <a:bodyPr/>
          <a:lstStyle/>
          <a:p>
            <a:fld id="{6264BDCF-5269-49AC-A246-ED26C2B980E3}" type="slidenum">
              <a:rPr lang="en-US" smtClean="0"/>
              <a:t>13</a:t>
            </a:fld>
            <a:endParaRPr lang="en-US"/>
          </a:p>
        </p:txBody>
      </p:sp>
    </p:spTree>
    <p:extLst>
      <p:ext uri="{BB962C8B-B14F-4D97-AF65-F5344CB8AC3E}">
        <p14:creationId xmlns:p14="http://schemas.microsoft.com/office/powerpoint/2010/main" val="3310694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219F4-DE5F-6247-31DF-971AE8C36F51}"/>
              </a:ext>
            </a:extLst>
          </p:cNvPr>
          <p:cNvSpPr>
            <a:spLocks noGrp="1"/>
          </p:cNvSpPr>
          <p:nvPr>
            <p:ph type="title"/>
          </p:nvPr>
        </p:nvSpPr>
        <p:spPr/>
        <p:txBody>
          <a:bodyPr/>
          <a:lstStyle/>
          <a:p>
            <a:r>
              <a:rPr lang="en-US" dirty="0"/>
              <a:t>arrays</a:t>
            </a:r>
          </a:p>
        </p:txBody>
      </p:sp>
      <p:sp>
        <p:nvSpPr>
          <p:cNvPr id="3" name="Content Placeholder 2">
            <a:extLst>
              <a:ext uri="{FF2B5EF4-FFF2-40B4-BE49-F238E27FC236}">
                <a16:creationId xmlns:a16="http://schemas.microsoft.com/office/drawing/2014/main" id="{DC65D74C-9AA6-44D9-E966-9C431E08D7A7}"/>
              </a:ext>
            </a:extLst>
          </p:cNvPr>
          <p:cNvSpPr>
            <a:spLocks noGrp="1"/>
          </p:cNvSpPr>
          <p:nvPr>
            <p:ph idx="1"/>
          </p:nvPr>
        </p:nvSpPr>
        <p:spPr>
          <a:xfrm>
            <a:off x="838200" y="1238865"/>
            <a:ext cx="10515600" cy="4938098"/>
          </a:xfrm>
        </p:spPr>
        <p:txBody>
          <a:bodyPr>
            <a:noAutofit/>
          </a:bodyPr>
          <a:lstStyle/>
          <a:p>
            <a:r>
              <a:rPr lang="en-US" dirty="0"/>
              <a:t>are very important for scientific and monitoring applications, often use multiple sensors that provide readings at regular intervals - readings can be viewed as an array</a:t>
            </a:r>
          </a:p>
          <a:p>
            <a:r>
              <a:rPr lang="en-US" dirty="0"/>
              <a:t>support for multivalued attribute types was proposed early in the history of databases, and associated data model was called non first-normal form, or </a:t>
            </a:r>
            <a:r>
              <a:rPr lang="en-US" i="1" dirty="0"/>
              <a:t>NFNF</a:t>
            </a:r>
            <a:r>
              <a:rPr lang="en-US" dirty="0"/>
              <a:t>, data model</a:t>
            </a:r>
          </a:p>
          <a:p>
            <a:r>
              <a:rPr lang="en-US" dirty="0"/>
              <a:t>array database</a:t>
            </a:r>
            <a:r>
              <a:rPr lang="en-US" b="1" dirty="0"/>
              <a:t> </a:t>
            </a:r>
            <a:r>
              <a:rPr lang="en-US" dirty="0"/>
              <a:t>is a database that provides specialized support for arrays, including efficient compressed storage, and query language extensions to support operations on arrays</a:t>
            </a:r>
          </a:p>
          <a:p>
            <a:r>
              <a:rPr lang="en-US" dirty="0"/>
              <a:t>examples include the </a:t>
            </a:r>
            <a:r>
              <a:rPr lang="en-US" dirty="0" err="1"/>
              <a:t>PostGIS</a:t>
            </a:r>
            <a:r>
              <a:rPr lang="en-US" dirty="0"/>
              <a:t> extension to PostgreSQL with a number of features tailored for array data types</a:t>
            </a:r>
          </a:p>
        </p:txBody>
      </p:sp>
      <p:sp>
        <p:nvSpPr>
          <p:cNvPr id="4" name="Slide Number Placeholder 3">
            <a:extLst>
              <a:ext uri="{FF2B5EF4-FFF2-40B4-BE49-F238E27FC236}">
                <a16:creationId xmlns:a16="http://schemas.microsoft.com/office/drawing/2014/main" id="{3ACED37B-2940-9ED7-F4E9-4C77FFFCA548}"/>
              </a:ext>
            </a:extLst>
          </p:cNvPr>
          <p:cNvSpPr>
            <a:spLocks noGrp="1"/>
          </p:cNvSpPr>
          <p:nvPr>
            <p:ph type="sldNum" sz="quarter" idx="12"/>
          </p:nvPr>
        </p:nvSpPr>
        <p:spPr/>
        <p:txBody>
          <a:bodyPr/>
          <a:lstStyle/>
          <a:p>
            <a:fld id="{6264BDCF-5269-49AC-A246-ED26C2B980E3}" type="slidenum">
              <a:rPr lang="en-US" smtClean="0"/>
              <a:t>14</a:t>
            </a:fld>
            <a:endParaRPr lang="en-US"/>
          </a:p>
        </p:txBody>
      </p:sp>
    </p:spTree>
    <p:extLst>
      <p:ext uri="{BB962C8B-B14F-4D97-AF65-F5344CB8AC3E}">
        <p14:creationId xmlns:p14="http://schemas.microsoft.com/office/powerpoint/2010/main" val="395476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9EB5E-F39E-AD73-DE22-577B24329190}"/>
              </a:ext>
            </a:extLst>
          </p:cNvPr>
          <p:cNvSpPr>
            <a:spLocks noGrp="1"/>
          </p:cNvSpPr>
          <p:nvPr>
            <p:ph type="title"/>
          </p:nvPr>
        </p:nvSpPr>
        <p:spPr/>
        <p:txBody>
          <a:bodyPr/>
          <a:lstStyle/>
          <a:p>
            <a:r>
              <a:rPr lang="en-US" dirty="0"/>
              <a:t>Nested Data Types</a:t>
            </a:r>
          </a:p>
        </p:txBody>
      </p:sp>
      <p:sp>
        <p:nvSpPr>
          <p:cNvPr id="3" name="Content Placeholder 2">
            <a:extLst>
              <a:ext uri="{FF2B5EF4-FFF2-40B4-BE49-F238E27FC236}">
                <a16:creationId xmlns:a16="http://schemas.microsoft.com/office/drawing/2014/main" id="{A3986862-C61B-C33A-7D6A-00E5450E71FE}"/>
              </a:ext>
            </a:extLst>
          </p:cNvPr>
          <p:cNvSpPr>
            <a:spLocks noGrp="1"/>
          </p:cNvSpPr>
          <p:nvPr>
            <p:ph idx="1"/>
          </p:nvPr>
        </p:nvSpPr>
        <p:spPr/>
        <p:txBody>
          <a:bodyPr>
            <a:noAutofit/>
          </a:bodyPr>
          <a:lstStyle/>
          <a:p>
            <a:r>
              <a:rPr lang="en-US" dirty="0"/>
              <a:t>many data representations allow attributes to be structured, directly modeling composite attributes in the E-R model</a:t>
            </a:r>
          </a:p>
          <a:p>
            <a:r>
              <a:rPr lang="en-US" dirty="0"/>
              <a:t>for example, attribute </a:t>
            </a:r>
            <a:r>
              <a:rPr lang="en-US" i="1" dirty="0"/>
              <a:t>name </a:t>
            </a:r>
            <a:r>
              <a:rPr lang="en-US" dirty="0"/>
              <a:t>may have component attributes </a:t>
            </a:r>
            <a:r>
              <a:rPr lang="en-US" i="1" dirty="0" err="1"/>
              <a:t>firstname</a:t>
            </a:r>
            <a:r>
              <a:rPr lang="en-US" i="1" dirty="0"/>
              <a:t>, </a:t>
            </a:r>
            <a:r>
              <a:rPr lang="en-US" dirty="0"/>
              <a:t>and </a:t>
            </a:r>
            <a:r>
              <a:rPr lang="en-US" i="1" dirty="0" err="1"/>
              <a:t>lastname</a:t>
            </a:r>
            <a:r>
              <a:rPr lang="en-US" dirty="0"/>
              <a:t>; representations also support multivalued data types such as sets, arrays, and maps</a:t>
            </a:r>
          </a:p>
          <a:p>
            <a:r>
              <a:rPr lang="en-US" dirty="0"/>
              <a:t>data types represent a hierarchy of data types, and that structure leads to the use of the term </a:t>
            </a:r>
            <a:r>
              <a:rPr lang="en-US" i="1" dirty="0"/>
              <a:t>nested data types</a:t>
            </a:r>
          </a:p>
          <a:p>
            <a:r>
              <a:rPr lang="en-US" dirty="0"/>
              <a:t>many databases, including </a:t>
            </a:r>
            <a:r>
              <a:rPr lang="en-US" dirty="0" err="1"/>
              <a:t>PostGreSQL</a:t>
            </a:r>
            <a:r>
              <a:rPr lang="en-US" dirty="0"/>
              <a:t>, support such types as part of their support for object-oriented data</a:t>
            </a:r>
          </a:p>
        </p:txBody>
      </p:sp>
      <p:sp>
        <p:nvSpPr>
          <p:cNvPr id="4" name="Slide Number Placeholder 3">
            <a:extLst>
              <a:ext uri="{FF2B5EF4-FFF2-40B4-BE49-F238E27FC236}">
                <a16:creationId xmlns:a16="http://schemas.microsoft.com/office/drawing/2014/main" id="{58005D12-73FF-7285-C2C6-1FF6AA8C4EE2}"/>
              </a:ext>
            </a:extLst>
          </p:cNvPr>
          <p:cNvSpPr>
            <a:spLocks noGrp="1"/>
          </p:cNvSpPr>
          <p:nvPr>
            <p:ph type="sldNum" sz="quarter" idx="12"/>
          </p:nvPr>
        </p:nvSpPr>
        <p:spPr/>
        <p:txBody>
          <a:bodyPr/>
          <a:lstStyle/>
          <a:p>
            <a:fld id="{6264BDCF-5269-49AC-A246-ED26C2B980E3}" type="slidenum">
              <a:rPr lang="en-US" smtClean="0"/>
              <a:t>15</a:t>
            </a:fld>
            <a:endParaRPr lang="en-US"/>
          </a:p>
        </p:txBody>
      </p:sp>
    </p:spTree>
    <p:extLst>
      <p:ext uri="{BB962C8B-B14F-4D97-AF65-F5344CB8AC3E}">
        <p14:creationId xmlns:p14="http://schemas.microsoft.com/office/powerpoint/2010/main" val="1153309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7A534-FAAC-D9EE-484D-8D7B4EB9FC2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E83DBA-8213-EAF8-3ED3-9E7C6C750428}"/>
              </a:ext>
            </a:extLst>
          </p:cNvPr>
          <p:cNvSpPr>
            <a:spLocks noGrp="1"/>
          </p:cNvSpPr>
          <p:nvPr>
            <p:ph idx="1"/>
          </p:nvPr>
        </p:nvSpPr>
        <p:spPr/>
        <p:txBody>
          <a:bodyPr>
            <a:normAutofit/>
          </a:bodyPr>
          <a:lstStyle/>
          <a:p>
            <a:r>
              <a:rPr lang="en-US" dirty="0"/>
              <a:t>two widely used data representations that allow values to have complex internal structures and that are flexible in that values are not forced to adhere to a fixed schema:</a:t>
            </a:r>
          </a:p>
          <a:p>
            <a:pPr lvl="1"/>
            <a:r>
              <a:rPr lang="en-US" sz="2800" b="1" dirty="0"/>
              <a:t>JavaScript Object Notation </a:t>
            </a:r>
            <a:r>
              <a:rPr lang="en-US" sz="2800" dirty="0"/>
              <a:t>(</a:t>
            </a:r>
            <a:r>
              <a:rPr lang="en-US" sz="2800" b="1" dirty="0"/>
              <a:t>JSON</a:t>
            </a:r>
            <a:r>
              <a:rPr lang="en-US" sz="2800" dirty="0"/>
              <a:t>)</a:t>
            </a:r>
          </a:p>
          <a:p>
            <a:pPr lvl="1"/>
            <a:r>
              <a:rPr lang="en-US" sz="2800" b="1" dirty="0" err="1"/>
              <a:t>eXtensible</a:t>
            </a:r>
            <a:r>
              <a:rPr lang="en-US" sz="2800" b="1" dirty="0"/>
              <a:t> Markup Language </a:t>
            </a:r>
            <a:r>
              <a:rPr lang="en-US" sz="2800" dirty="0"/>
              <a:t>(</a:t>
            </a:r>
            <a:r>
              <a:rPr lang="en-US" sz="2800" b="1" dirty="0"/>
              <a:t>XML</a:t>
            </a:r>
            <a:r>
              <a:rPr lang="en-US" sz="2800" dirty="0"/>
              <a:t>)</a:t>
            </a:r>
          </a:p>
        </p:txBody>
      </p:sp>
      <p:sp>
        <p:nvSpPr>
          <p:cNvPr id="4" name="Slide Number Placeholder 3">
            <a:extLst>
              <a:ext uri="{FF2B5EF4-FFF2-40B4-BE49-F238E27FC236}">
                <a16:creationId xmlns:a16="http://schemas.microsoft.com/office/drawing/2014/main" id="{49323D77-415A-CD00-F07B-674CA3C721D5}"/>
              </a:ext>
            </a:extLst>
          </p:cNvPr>
          <p:cNvSpPr>
            <a:spLocks noGrp="1"/>
          </p:cNvSpPr>
          <p:nvPr>
            <p:ph type="sldNum" sz="quarter" idx="12"/>
          </p:nvPr>
        </p:nvSpPr>
        <p:spPr/>
        <p:txBody>
          <a:bodyPr/>
          <a:lstStyle/>
          <a:p>
            <a:fld id="{6264BDCF-5269-49AC-A246-ED26C2B980E3}" type="slidenum">
              <a:rPr lang="en-US" smtClean="0"/>
              <a:t>16</a:t>
            </a:fld>
            <a:endParaRPr lang="en-US"/>
          </a:p>
        </p:txBody>
      </p:sp>
    </p:spTree>
    <p:extLst>
      <p:ext uri="{BB962C8B-B14F-4D97-AF65-F5344CB8AC3E}">
        <p14:creationId xmlns:p14="http://schemas.microsoft.com/office/powerpoint/2010/main" val="35917320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0BC1D-DC22-8892-5941-0A8FEE5F55B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2998D89-A1F8-772D-BE69-28AF71099C3C}"/>
              </a:ext>
            </a:extLst>
          </p:cNvPr>
          <p:cNvSpPr>
            <a:spLocks noGrp="1"/>
          </p:cNvSpPr>
          <p:nvPr>
            <p:ph idx="1"/>
          </p:nvPr>
        </p:nvSpPr>
        <p:spPr/>
        <p:txBody>
          <a:bodyPr>
            <a:noAutofit/>
          </a:bodyPr>
          <a:lstStyle/>
          <a:p>
            <a:r>
              <a:rPr lang="en-US" dirty="0"/>
              <a:t>like the wide-table approach, the JSON and XML representations provide flexibility in the set of attributes that a record contains; JSON and XML representations permit a more flexible structuring of data, where objects could have sub-objects - each object thus corresponds to a tree structure</a:t>
            </a:r>
          </a:p>
          <a:p>
            <a:r>
              <a:rPr lang="en-US" dirty="0"/>
              <a:t>JSON and XML found significant acceptance in the context of data exchange between applications</a:t>
            </a:r>
          </a:p>
        </p:txBody>
      </p:sp>
      <p:sp>
        <p:nvSpPr>
          <p:cNvPr id="4" name="Slide Number Placeholder 3">
            <a:extLst>
              <a:ext uri="{FF2B5EF4-FFF2-40B4-BE49-F238E27FC236}">
                <a16:creationId xmlns:a16="http://schemas.microsoft.com/office/drawing/2014/main" id="{A061C4B0-E7ED-A58D-1C1E-4FF08B88C9D1}"/>
              </a:ext>
            </a:extLst>
          </p:cNvPr>
          <p:cNvSpPr>
            <a:spLocks noGrp="1"/>
          </p:cNvSpPr>
          <p:nvPr>
            <p:ph type="sldNum" sz="quarter" idx="12"/>
          </p:nvPr>
        </p:nvSpPr>
        <p:spPr/>
        <p:txBody>
          <a:bodyPr/>
          <a:lstStyle/>
          <a:p>
            <a:fld id="{6264BDCF-5269-49AC-A246-ED26C2B980E3}" type="slidenum">
              <a:rPr lang="en-US" smtClean="0"/>
              <a:t>17</a:t>
            </a:fld>
            <a:endParaRPr lang="en-US"/>
          </a:p>
        </p:txBody>
      </p:sp>
    </p:spTree>
    <p:extLst>
      <p:ext uri="{BB962C8B-B14F-4D97-AF65-F5344CB8AC3E}">
        <p14:creationId xmlns:p14="http://schemas.microsoft.com/office/powerpoint/2010/main" val="1258892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EDC5A-71A2-C308-7054-FA5CC4B8460C}"/>
              </a:ext>
            </a:extLst>
          </p:cNvPr>
          <p:cNvSpPr>
            <a:spLocks noGrp="1"/>
          </p:cNvSpPr>
          <p:nvPr>
            <p:ph type="title"/>
          </p:nvPr>
        </p:nvSpPr>
        <p:spPr/>
        <p:txBody>
          <a:bodyPr/>
          <a:lstStyle/>
          <a:p>
            <a:r>
              <a:rPr lang="en-US" dirty="0"/>
              <a:t>JSON</a:t>
            </a:r>
          </a:p>
        </p:txBody>
      </p:sp>
      <p:sp>
        <p:nvSpPr>
          <p:cNvPr id="3" name="Content Placeholder 2">
            <a:extLst>
              <a:ext uri="{FF2B5EF4-FFF2-40B4-BE49-F238E27FC236}">
                <a16:creationId xmlns:a16="http://schemas.microsoft.com/office/drawing/2014/main" id="{126C1A06-0A38-FF22-A510-E23435786B38}"/>
              </a:ext>
            </a:extLst>
          </p:cNvPr>
          <p:cNvSpPr>
            <a:spLocks noGrp="1"/>
          </p:cNvSpPr>
          <p:nvPr>
            <p:ph idx="1"/>
          </p:nvPr>
        </p:nvSpPr>
        <p:spPr/>
        <p:txBody>
          <a:bodyPr>
            <a:normAutofit/>
          </a:bodyPr>
          <a:lstStyle/>
          <a:p>
            <a:r>
              <a:rPr lang="en-US" dirty="0"/>
              <a:t>widely used for exchanging data between backends and user-facing sides of applications</a:t>
            </a:r>
          </a:p>
          <a:p>
            <a:r>
              <a:rPr lang="en-US" dirty="0"/>
              <a:t>storing complex objects in storage systems that collect different data related to domains into large objects (sometimes referred to as a documents), allowing data to be retrieved without the need for joins</a:t>
            </a:r>
          </a:p>
        </p:txBody>
      </p:sp>
      <p:sp>
        <p:nvSpPr>
          <p:cNvPr id="4" name="Slide Number Placeholder 3">
            <a:extLst>
              <a:ext uri="{FF2B5EF4-FFF2-40B4-BE49-F238E27FC236}">
                <a16:creationId xmlns:a16="http://schemas.microsoft.com/office/drawing/2014/main" id="{25ED90FF-1EC4-99D3-A195-67252017B8D2}"/>
              </a:ext>
            </a:extLst>
          </p:cNvPr>
          <p:cNvSpPr>
            <a:spLocks noGrp="1"/>
          </p:cNvSpPr>
          <p:nvPr>
            <p:ph type="sldNum" sz="quarter" idx="12"/>
          </p:nvPr>
        </p:nvSpPr>
        <p:spPr/>
        <p:txBody>
          <a:bodyPr/>
          <a:lstStyle/>
          <a:p>
            <a:fld id="{6264BDCF-5269-49AC-A246-ED26C2B980E3}" type="slidenum">
              <a:rPr lang="en-US" smtClean="0"/>
              <a:t>18</a:t>
            </a:fld>
            <a:endParaRPr lang="en-US"/>
          </a:p>
        </p:txBody>
      </p:sp>
    </p:spTree>
    <p:extLst>
      <p:ext uri="{BB962C8B-B14F-4D97-AF65-F5344CB8AC3E}">
        <p14:creationId xmlns:p14="http://schemas.microsoft.com/office/powerpoint/2010/main" val="493932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A2BA5-AE41-1109-C6EC-E819987185E0}"/>
              </a:ext>
            </a:extLst>
          </p:cNvPr>
          <p:cNvSpPr>
            <a:spLocks noGrp="1"/>
          </p:cNvSpPr>
          <p:nvPr>
            <p:ph type="title"/>
          </p:nvPr>
        </p:nvSpPr>
        <p:spPr/>
        <p:txBody>
          <a:bodyPr/>
          <a:lstStyle/>
          <a:p>
            <a:r>
              <a:rPr lang="en-US" dirty="0"/>
              <a:t>XML</a:t>
            </a:r>
          </a:p>
        </p:txBody>
      </p:sp>
      <p:sp>
        <p:nvSpPr>
          <p:cNvPr id="3" name="Content Placeholder 2">
            <a:extLst>
              <a:ext uri="{FF2B5EF4-FFF2-40B4-BE49-F238E27FC236}">
                <a16:creationId xmlns:a16="http://schemas.microsoft.com/office/drawing/2014/main" id="{24E871B5-DEBC-5CB5-4B25-CB93498A4CFE}"/>
              </a:ext>
            </a:extLst>
          </p:cNvPr>
          <p:cNvSpPr>
            <a:spLocks noGrp="1"/>
          </p:cNvSpPr>
          <p:nvPr>
            <p:ph idx="1"/>
          </p:nvPr>
        </p:nvSpPr>
        <p:spPr/>
        <p:txBody>
          <a:bodyPr>
            <a:normAutofit/>
          </a:bodyPr>
          <a:lstStyle/>
          <a:p>
            <a:r>
              <a:rPr lang="en-US" dirty="0"/>
              <a:t>used by many systems for storing configuration and other information and for data exchange</a:t>
            </a:r>
          </a:p>
          <a:p>
            <a:endParaRPr lang="en-US" dirty="0"/>
          </a:p>
        </p:txBody>
      </p:sp>
      <p:sp>
        <p:nvSpPr>
          <p:cNvPr id="4" name="Slide Number Placeholder 3">
            <a:extLst>
              <a:ext uri="{FF2B5EF4-FFF2-40B4-BE49-F238E27FC236}">
                <a16:creationId xmlns:a16="http://schemas.microsoft.com/office/drawing/2014/main" id="{1FA574CB-3A03-B74F-8AC6-1D09B4535088}"/>
              </a:ext>
            </a:extLst>
          </p:cNvPr>
          <p:cNvSpPr>
            <a:spLocks noGrp="1"/>
          </p:cNvSpPr>
          <p:nvPr>
            <p:ph type="sldNum" sz="quarter" idx="12"/>
          </p:nvPr>
        </p:nvSpPr>
        <p:spPr/>
        <p:txBody>
          <a:bodyPr/>
          <a:lstStyle/>
          <a:p>
            <a:fld id="{6264BDCF-5269-49AC-A246-ED26C2B980E3}" type="slidenum">
              <a:rPr lang="en-US" smtClean="0"/>
              <a:t>19</a:t>
            </a:fld>
            <a:endParaRPr lang="en-US"/>
          </a:p>
        </p:txBody>
      </p:sp>
    </p:spTree>
    <p:extLst>
      <p:ext uri="{BB962C8B-B14F-4D97-AF65-F5344CB8AC3E}">
        <p14:creationId xmlns:p14="http://schemas.microsoft.com/office/powerpoint/2010/main" val="24760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9A09-2792-D637-9A21-BB91A07B2AC9}"/>
              </a:ext>
            </a:extLst>
          </p:cNvPr>
          <p:cNvSpPr>
            <a:spLocks noGrp="1"/>
          </p:cNvSpPr>
          <p:nvPr>
            <p:ph type="title"/>
          </p:nvPr>
        </p:nvSpPr>
        <p:spPr/>
        <p:txBody>
          <a:bodyPr/>
          <a:lstStyle/>
          <a:p>
            <a:r>
              <a:rPr lang="en-US" dirty="0"/>
              <a:t>Knowledge Representation</a:t>
            </a:r>
          </a:p>
        </p:txBody>
      </p:sp>
      <p:sp>
        <p:nvSpPr>
          <p:cNvPr id="3" name="Content Placeholder 2">
            <a:extLst>
              <a:ext uri="{FF2B5EF4-FFF2-40B4-BE49-F238E27FC236}">
                <a16:creationId xmlns:a16="http://schemas.microsoft.com/office/drawing/2014/main" id="{3D79DA31-7431-0E8E-4092-20695DE4AD5A}"/>
              </a:ext>
            </a:extLst>
          </p:cNvPr>
          <p:cNvSpPr>
            <a:spLocks noGrp="1"/>
          </p:cNvSpPr>
          <p:nvPr>
            <p:ph idx="1"/>
          </p:nvPr>
        </p:nvSpPr>
        <p:spPr/>
        <p:txBody>
          <a:bodyPr>
            <a:noAutofit/>
          </a:bodyPr>
          <a:lstStyle/>
          <a:p>
            <a:r>
              <a:rPr lang="en-US" dirty="0"/>
              <a:t>representation of human knowledge has been a goal of Artificial Intelligence community</a:t>
            </a:r>
          </a:p>
          <a:p>
            <a:r>
              <a:rPr lang="en-US" dirty="0"/>
              <a:t>the </a:t>
            </a:r>
            <a:r>
              <a:rPr lang="en-US" b="1" i="1" dirty="0"/>
              <a:t>Resource Description Format (RDF</a:t>
            </a:r>
            <a:r>
              <a:rPr lang="en-US" b="1" dirty="0"/>
              <a:t>) </a:t>
            </a:r>
            <a:r>
              <a:rPr lang="en-US" dirty="0"/>
              <a:t>data representation is one such representation that has found very wide acceptance</a:t>
            </a:r>
          </a:p>
          <a:p>
            <a:r>
              <a:rPr lang="en-US" dirty="0"/>
              <a:t>RDF models data as objects that have attributes and have relationships with other objects</a:t>
            </a:r>
          </a:p>
          <a:p>
            <a:r>
              <a:rPr lang="en-US" dirty="0"/>
              <a:t>RDF data can be viewed as a set of triples (3-tuples), or as a graph, with objects and attribute values modeled as nodes and relationships and attribute names as edges</a:t>
            </a:r>
          </a:p>
        </p:txBody>
      </p:sp>
      <p:sp>
        <p:nvSpPr>
          <p:cNvPr id="4" name="Slide Number Placeholder 3">
            <a:extLst>
              <a:ext uri="{FF2B5EF4-FFF2-40B4-BE49-F238E27FC236}">
                <a16:creationId xmlns:a16="http://schemas.microsoft.com/office/drawing/2014/main" id="{9D66F82D-3C7A-2117-0DC6-D5FF4D1F05D3}"/>
              </a:ext>
            </a:extLst>
          </p:cNvPr>
          <p:cNvSpPr>
            <a:spLocks noGrp="1"/>
          </p:cNvSpPr>
          <p:nvPr>
            <p:ph type="sldNum" sz="quarter" idx="12"/>
          </p:nvPr>
        </p:nvSpPr>
        <p:spPr/>
        <p:txBody>
          <a:bodyPr/>
          <a:lstStyle/>
          <a:p>
            <a:fld id="{6264BDCF-5269-49AC-A246-ED26C2B980E3}" type="slidenum">
              <a:rPr lang="en-US" smtClean="0"/>
              <a:t>20</a:t>
            </a:fld>
            <a:endParaRPr lang="en-US"/>
          </a:p>
        </p:txBody>
      </p:sp>
    </p:spTree>
    <p:extLst>
      <p:ext uri="{BB962C8B-B14F-4D97-AF65-F5344CB8AC3E}">
        <p14:creationId xmlns:p14="http://schemas.microsoft.com/office/powerpoint/2010/main" val="1638215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74DA3C7-2305-F237-C17E-A3DCFE2F2CC4}"/>
              </a:ext>
            </a:extLst>
          </p:cNvPr>
          <p:cNvSpPr>
            <a:spLocks noGrp="1"/>
          </p:cNvSpPr>
          <p:nvPr>
            <p:ph type="title"/>
          </p:nvPr>
        </p:nvSpPr>
        <p:spPr/>
        <p:txBody>
          <a:bodyPr/>
          <a:lstStyle/>
          <a:p>
            <a:r>
              <a:rPr lang="en-US" dirty="0"/>
              <a:t>JSON</a:t>
            </a:r>
          </a:p>
        </p:txBody>
      </p:sp>
      <p:sp>
        <p:nvSpPr>
          <p:cNvPr id="6" name="Text Placeholder 5">
            <a:extLst>
              <a:ext uri="{FF2B5EF4-FFF2-40B4-BE49-F238E27FC236}">
                <a16:creationId xmlns:a16="http://schemas.microsoft.com/office/drawing/2014/main" id="{D6CF947C-F3D4-9653-C4D1-364971050AF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00F95F8-C356-D9D6-DA60-F66AE1B0D443}"/>
              </a:ext>
            </a:extLst>
          </p:cNvPr>
          <p:cNvSpPr>
            <a:spLocks noGrp="1"/>
          </p:cNvSpPr>
          <p:nvPr>
            <p:ph type="sldNum" sz="quarter" idx="12"/>
          </p:nvPr>
        </p:nvSpPr>
        <p:spPr/>
        <p:txBody>
          <a:bodyPr/>
          <a:lstStyle/>
          <a:p>
            <a:fld id="{6264BDCF-5269-49AC-A246-ED26C2B980E3}" type="slidenum">
              <a:rPr lang="en-US" smtClean="0"/>
              <a:t>21</a:t>
            </a:fld>
            <a:endParaRPr lang="en-US"/>
          </a:p>
        </p:txBody>
      </p:sp>
    </p:spTree>
    <p:extLst>
      <p:ext uri="{BB962C8B-B14F-4D97-AF65-F5344CB8AC3E}">
        <p14:creationId xmlns:p14="http://schemas.microsoft.com/office/powerpoint/2010/main" val="21910484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F83E9-345F-8A75-E001-021636EECBE7}"/>
              </a:ext>
            </a:extLst>
          </p:cNvPr>
          <p:cNvSpPr>
            <a:spLocks noGrp="1"/>
          </p:cNvSpPr>
          <p:nvPr>
            <p:ph type="title"/>
          </p:nvPr>
        </p:nvSpPr>
        <p:spPr/>
        <p:txBody>
          <a:bodyPr/>
          <a:lstStyle/>
          <a:p>
            <a:r>
              <a:rPr lang="en-US" b="1" dirty="0"/>
              <a:t>JavaScript Object Notation </a:t>
            </a:r>
            <a:r>
              <a:rPr lang="en-US" dirty="0"/>
              <a:t>(</a:t>
            </a:r>
            <a:r>
              <a:rPr lang="en-US" b="1" dirty="0"/>
              <a:t>JSON</a:t>
            </a:r>
            <a:r>
              <a:rPr lang="en-US" dirty="0"/>
              <a:t>)</a:t>
            </a:r>
          </a:p>
        </p:txBody>
      </p:sp>
      <p:sp>
        <p:nvSpPr>
          <p:cNvPr id="3" name="Content Placeholder 2">
            <a:extLst>
              <a:ext uri="{FF2B5EF4-FFF2-40B4-BE49-F238E27FC236}">
                <a16:creationId xmlns:a16="http://schemas.microsoft.com/office/drawing/2014/main" id="{B51343F5-03C6-75B3-4E0E-19B3004593CC}"/>
              </a:ext>
            </a:extLst>
          </p:cNvPr>
          <p:cNvSpPr>
            <a:spLocks noGrp="1"/>
          </p:cNvSpPr>
          <p:nvPr>
            <p:ph idx="1"/>
          </p:nvPr>
        </p:nvSpPr>
        <p:spPr/>
        <p:txBody>
          <a:bodyPr>
            <a:normAutofit/>
          </a:bodyPr>
          <a:lstStyle/>
          <a:p>
            <a:r>
              <a:rPr lang="en-US" dirty="0"/>
              <a:t>is a textual representation of complex data types that is widely used to transmit data between applications and to store complex, document, data</a:t>
            </a:r>
          </a:p>
          <a:p>
            <a:r>
              <a:rPr lang="en-US" dirty="0"/>
              <a:t>supports primitive data types integer, real and string, as well as arrays, and “objects” which are collection of (attribute name, value) pairs</a:t>
            </a:r>
          </a:p>
          <a:p>
            <a:r>
              <a:rPr lang="en-US" dirty="0"/>
              <a:t>since objects do not have to adhere to any fixed schema, they are basically the same as key-value maps, with attribute names as keys and attribute values as associated values</a:t>
            </a:r>
          </a:p>
        </p:txBody>
      </p:sp>
      <p:sp>
        <p:nvSpPr>
          <p:cNvPr id="4" name="Slide Number Placeholder 3">
            <a:extLst>
              <a:ext uri="{FF2B5EF4-FFF2-40B4-BE49-F238E27FC236}">
                <a16:creationId xmlns:a16="http://schemas.microsoft.com/office/drawing/2014/main" id="{5121508E-7111-69A1-D19D-792C6DE0252C}"/>
              </a:ext>
            </a:extLst>
          </p:cNvPr>
          <p:cNvSpPr>
            <a:spLocks noGrp="1"/>
          </p:cNvSpPr>
          <p:nvPr>
            <p:ph type="sldNum" sz="quarter" idx="12"/>
          </p:nvPr>
        </p:nvSpPr>
        <p:spPr/>
        <p:txBody>
          <a:bodyPr/>
          <a:lstStyle/>
          <a:p>
            <a:fld id="{6264BDCF-5269-49AC-A246-ED26C2B980E3}" type="slidenum">
              <a:rPr lang="en-US" smtClean="0"/>
              <a:t>22</a:t>
            </a:fld>
            <a:endParaRPr lang="en-US"/>
          </a:p>
        </p:txBody>
      </p:sp>
    </p:spTree>
    <p:extLst>
      <p:ext uri="{BB962C8B-B14F-4D97-AF65-F5344CB8AC3E}">
        <p14:creationId xmlns:p14="http://schemas.microsoft.com/office/powerpoint/2010/main" val="2700423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2B304-E8AA-64D2-2F81-286DD5961399}"/>
              </a:ext>
            </a:extLst>
          </p:cNvPr>
          <p:cNvSpPr>
            <a:spLocks noGrp="1"/>
          </p:cNvSpPr>
          <p:nvPr>
            <p:ph type="title"/>
          </p:nvPr>
        </p:nvSpPr>
        <p:spPr/>
        <p:txBody>
          <a:bodyPr/>
          <a:lstStyle/>
          <a:p>
            <a:r>
              <a:rPr lang="en-US" dirty="0"/>
              <a:t>Example of JSON data</a:t>
            </a:r>
          </a:p>
        </p:txBody>
      </p:sp>
      <p:pic>
        <p:nvPicPr>
          <p:cNvPr id="6" name="Content Placeholder 5">
            <a:extLst>
              <a:ext uri="{FF2B5EF4-FFF2-40B4-BE49-F238E27FC236}">
                <a16:creationId xmlns:a16="http://schemas.microsoft.com/office/drawing/2014/main" id="{50740BBA-395C-56ED-4D7D-AB0236ED82B6}"/>
              </a:ext>
            </a:extLst>
          </p:cNvPr>
          <p:cNvPicPr>
            <a:picLocks noGrp="1" noChangeAspect="1"/>
          </p:cNvPicPr>
          <p:nvPr>
            <p:ph idx="1"/>
          </p:nvPr>
        </p:nvPicPr>
        <p:blipFill>
          <a:blip r:embed="rId2"/>
          <a:stretch>
            <a:fillRect/>
          </a:stretch>
        </p:blipFill>
        <p:spPr>
          <a:xfrm>
            <a:off x="822960" y="1463040"/>
            <a:ext cx="10533888" cy="4933123"/>
          </a:xfrm>
          <a:prstGeom prst="rect">
            <a:avLst/>
          </a:prstGeom>
        </p:spPr>
      </p:pic>
      <p:sp>
        <p:nvSpPr>
          <p:cNvPr id="4" name="Slide Number Placeholder 3">
            <a:extLst>
              <a:ext uri="{FF2B5EF4-FFF2-40B4-BE49-F238E27FC236}">
                <a16:creationId xmlns:a16="http://schemas.microsoft.com/office/drawing/2014/main" id="{5D8B3BAC-4078-68EB-F7C6-F7C9BDBFC3D8}"/>
              </a:ext>
            </a:extLst>
          </p:cNvPr>
          <p:cNvSpPr>
            <a:spLocks noGrp="1"/>
          </p:cNvSpPr>
          <p:nvPr>
            <p:ph type="sldNum" sz="quarter" idx="12"/>
          </p:nvPr>
        </p:nvSpPr>
        <p:spPr/>
        <p:txBody>
          <a:bodyPr/>
          <a:lstStyle/>
          <a:p>
            <a:fld id="{6264BDCF-5269-49AC-A246-ED26C2B980E3}" type="slidenum">
              <a:rPr lang="en-US" smtClean="0"/>
              <a:t>23</a:t>
            </a:fld>
            <a:endParaRPr lang="en-US"/>
          </a:p>
        </p:txBody>
      </p:sp>
    </p:spTree>
    <p:extLst>
      <p:ext uri="{BB962C8B-B14F-4D97-AF65-F5344CB8AC3E}">
        <p14:creationId xmlns:p14="http://schemas.microsoft.com/office/powerpoint/2010/main" val="20503116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4E839-53D2-79F6-6EE7-75FFC56AD5A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5E0B6E-477C-9408-8EA2-C302C96F4BE3}"/>
              </a:ext>
            </a:extLst>
          </p:cNvPr>
          <p:cNvSpPr>
            <a:spLocks noGrp="1"/>
          </p:cNvSpPr>
          <p:nvPr>
            <p:ph idx="1"/>
          </p:nvPr>
        </p:nvSpPr>
        <p:spPr/>
        <p:txBody>
          <a:bodyPr>
            <a:normAutofit/>
          </a:bodyPr>
          <a:lstStyle/>
          <a:p>
            <a:r>
              <a:rPr lang="en-US" dirty="0"/>
              <a:t>arrays can be thought of as a map from integer offsets to values, with  [square-bracket syntax] viewed as just a convenient way of creating such maps</a:t>
            </a:r>
          </a:p>
          <a:p>
            <a:r>
              <a:rPr lang="en-US" i="1" dirty="0"/>
              <a:t>the </a:t>
            </a:r>
            <a:r>
              <a:rPr lang="en-US" dirty="0"/>
              <a:t>primary data representation used for communication between applications and web services; ability of JSON to represent complex structures, and to allow flexible structuring, make it a good fit for such applications</a:t>
            </a:r>
          </a:p>
        </p:txBody>
      </p:sp>
      <p:sp>
        <p:nvSpPr>
          <p:cNvPr id="4" name="Slide Number Placeholder 3">
            <a:extLst>
              <a:ext uri="{FF2B5EF4-FFF2-40B4-BE49-F238E27FC236}">
                <a16:creationId xmlns:a16="http://schemas.microsoft.com/office/drawing/2014/main" id="{39E4DAD2-E51A-05B4-3FD8-F978D471F604}"/>
              </a:ext>
            </a:extLst>
          </p:cNvPr>
          <p:cNvSpPr>
            <a:spLocks noGrp="1"/>
          </p:cNvSpPr>
          <p:nvPr>
            <p:ph type="sldNum" sz="quarter" idx="12"/>
          </p:nvPr>
        </p:nvSpPr>
        <p:spPr/>
        <p:txBody>
          <a:bodyPr/>
          <a:lstStyle/>
          <a:p>
            <a:fld id="{6264BDCF-5269-49AC-A246-ED26C2B980E3}" type="slidenum">
              <a:rPr lang="en-US" smtClean="0"/>
              <a:t>24</a:t>
            </a:fld>
            <a:endParaRPr lang="en-US"/>
          </a:p>
        </p:txBody>
      </p:sp>
    </p:spTree>
    <p:extLst>
      <p:ext uri="{BB962C8B-B14F-4D97-AF65-F5344CB8AC3E}">
        <p14:creationId xmlns:p14="http://schemas.microsoft.com/office/powerpoint/2010/main" val="856093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B6ECD-CFD6-C423-F57F-179DA6F296E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BD3B788-B554-2A2B-0B25-5DB2191CC60D}"/>
              </a:ext>
            </a:extLst>
          </p:cNvPr>
          <p:cNvSpPr>
            <a:spLocks noGrp="1"/>
          </p:cNvSpPr>
          <p:nvPr>
            <p:ph idx="1"/>
          </p:nvPr>
        </p:nvSpPr>
        <p:spPr/>
        <p:txBody>
          <a:bodyPr/>
          <a:lstStyle/>
          <a:p>
            <a:r>
              <a:rPr lang="en-US" dirty="0"/>
              <a:t>libraries are available that make it easy to transform data between JSON representation and object representation in languages such as JavaScript, Java, Python, PHP, and other languages …</a:t>
            </a:r>
          </a:p>
          <a:p>
            <a:endParaRPr lang="en-US" dirty="0"/>
          </a:p>
        </p:txBody>
      </p:sp>
      <p:sp>
        <p:nvSpPr>
          <p:cNvPr id="4" name="Slide Number Placeholder 3">
            <a:extLst>
              <a:ext uri="{FF2B5EF4-FFF2-40B4-BE49-F238E27FC236}">
                <a16:creationId xmlns:a16="http://schemas.microsoft.com/office/drawing/2014/main" id="{93B34CB2-1BDE-2BFA-F420-36F1D900828C}"/>
              </a:ext>
            </a:extLst>
          </p:cNvPr>
          <p:cNvSpPr>
            <a:spLocks noGrp="1"/>
          </p:cNvSpPr>
          <p:nvPr>
            <p:ph type="sldNum" sz="quarter" idx="12"/>
          </p:nvPr>
        </p:nvSpPr>
        <p:spPr/>
        <p:txBody>
          <a:bodyPr/>
          <a:lstStyle/>
          <a:p>
            <a:fld id="{6264BDCF-5269-49AC-A246-ED26C2B980E3}" type="slidenum">
              <a:rPr lang="en-US" smtClean="0"/>
              <a:t>25</a:t>
            </a:fld>
            <a:endParaRPr lang="en-US"/>
          </a:p>
        </p:txBody>
      </p:sp>
    </p:spTree>
    <p:extLst>
      <p:ext uri="{BB962C8B-B14F-4D97-AF65-F5344CB8AC3E}">
        <p14:creationId xmlns:p14="http://schemas.microsoft.com/office/powerpoint/2010/main" val="26859296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8FF14-6B62-66F5-09DF-9E411B3C5B0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540EB26-3C47-E0CB-5AAB-5C0D6099BF7C}"/>
              </a:ext>
            </a:extLst>
          </p:cNvPr>
          <p:cNvSpPr>
            <a:spLocks noGrp="1"/>
          </p:cNvSpPr>
          <p:nvPr>
            <p:ph idx="1"/>
          </p:nvPr>
        </p:nvSpPr>
        <p:spPr/>
        <p:txBody>
          <a:bodyPr>
            <a:normAutofit/>
          </a:bodyPr>
          <a:lstStyle/>
          <a:p>
            <a:r>
              <a:rPr lang="en-US" dirty="0"/>
              <a:t>JSON is verbose and takes up more storage space for the same data</a:t>
            </a:r>
          </a:p>
          <a:p>
            <a:r>
              <a:rPr lang="en-US" dirty="0"/>
              <a:t>parsing the text to retrieve required fields can be very CPU intensive</a:t>
            </a:r>
          </a:p>
          <a:p>
            <a:r>
              <a:rPr lang="en-US" dirty="0"/>
              <a:t>compressed representations that also make it easier to retrieve values without parsing are therefore popular for storage of data; for example, a compressed binary format called BSON (short for Binary JSON) is used in many systems for storing JSON data</a:t>
            </a:r>
          </a:p>
        </p:txBody>
      </p:sp>
      <p:sp>
        <p:nvSpPr>
          <p:cNvPr id="4" name="Slide Number Placeholder 3">
            <a:extLst>
              <a:ext uri="{FF2B5EF4-FFF2-40B4-BE49-F238E27FC236}">
                <a16:creationId xmlns:a16="http://schemas.microsoft.com/office/drawing/2014/main" id="{BB5E873A-F58F-222A-4102-E6CD17321FB2}"/>
              </a:ext>
            </a:extLst>
          </p:cNvPr>
          <p:cNvSpPr>
            <a:spLocks noGrp="1"/>
          </p:cNvSpPr>
          <p:nvPr>
            <p:ph type="sldNum" sz="quarter" idx="12"/>
          </p:nvPr>
        </p:nvSpPr>
        <p:spPr/>
        <p:txBody>
          <a:bodyPr/>
          <a:lstStyle/>
          <a:p>
            <a:fld id="{6264BDCF-5269-49AC-A246-ED26C2B980E3}" type="slidenum">
              <a:rPr lang="en-US" smtClean="0"/>
              <a:t>26</a:t>
            </a:fld>
            <a:endParaRPr lang="en-US"/>
          </a:p>
        </p:txBody>
      </p:sp>
    </p:spTree>
    <p:extLst>
      <p:ext uri="{BB962C8B-B14F-4D97-AF65-F5344CB8AC3E}">
        <p14:creationId xmlns:p14="http://schemas.microsoft.com/office/powerpoint/2010/main" val="34586984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6FC17-69E2-8088-A275-CDA753109BB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FD59051-C7C8-90AF-A396-A09570AEB32C}"/>
              </a:ext>
            </a:extLst>
          </p:cNvPr>
          <p:cNvSpPr>
            <a:spLocks noGrp="1"/>
          </p:cNvSpPr>
          <p:nvPr>
            <p:ph idx="1"/>
          </p:nvPr>
        </p:nvSpPr>
        <p:spPr/>
        <p:txBody>
          <a:bodyPr>
            <a:noAutofit/>
          </a:bodyPr>
          <a:lstStyle/>
          <a:p>
            <a:r>
              <a:rPr lang="en-US" dirty="0"/>
              <a:t>SQL language has been extended to support JSON</a:t>
            </a:r>
          </a:p>
          <a:p>
            <a:r>
              <a:rPr lang="en-US" dirty="0"/>
              <a:t>JSON data can be stored as a JSON data type</a:t>
            </a:r>
          </a:p>
          <a:p>
            <a:r>
              <a:rPr lang="en-US" dirty="0"/>
              <a:t>SQL queries can generate JSON data from relational data</a:t>
            </a:r>
          </a:p>
          <a:p>
            <a:r>
              <a:rPr lang="en-US" dirty="0"/>
              <a:t>there are SQL extensions that allow construction of JSON objects in each row of a query result</a:t>
            </a:r>
          </a:p>
          <a:p>
            <a:r>
              <a:rPr lang="en-US" dirty="0"/>
              <a:t>for example, </a:t>
            </a:r>
            <a:r>
              <a:rPr lang="en-US" dirty="0" err="1"/>
              <a:t>PostGreSQL</a:t>
            </a:r>
            <a:r>
              <a:rPr lang="en-US" dirty="0"/>
              <a:t> supports </a:t>
            </a:r>
            <a:r>
              <a:rPr lang="en-US" i="1" dirty="0" err="1"/>
              <a:t>json_build_object</a:t>
            </a:r>
            <a:r>
              <a:rPr lang="en-US" i="1" dirty="0"/>
              <a:t>()</a:t>
            </a:r>
            <a:r>
              <a:rPr lang="en-US" b="1" dirty="0"/>
              <a:t> </a:t>
            </a:r>
            <a:r>
              <a:rPr lang="en-US" dirty="0"/>
              <a:t>function, </a:t>
            </a:r>
            <a:r>
              <a:rPr lang="en-US" i="1" dirty="0" err="1"/>
              <a:t>json_agg</a:t>
            </a:r>
            <a:r>
              <a:rPr lang="en-US" b="1" dirty="0"/>
              <a:t> </a:t>
            </a:r>
            <a:r>
              <a:rPr lang="en-US" dirty="0"/>
              <a:t>aggregate function, SQL Server supports </a:t>
            </a:r>
            <a:r>
              <a:rPr lang="en-US" i="1" dirty="0"/>
              <a:t>FOR JSON AUTO</a:t>
            </a:r>
            <a:r>
              <a:rPr lang="en-US" b="1" dirty="0"/>
              <a:t> </a:t>
            </a:r>
            <a:r>
              <a:rPr lang="en-US" dirty="0"/>
              <a:t>clause that formats result of SQL query as a JSON array, with one element per row in SQL query</a:t>
            </a:r>
          </a:p>
        </p:txBody>
      </p:sp>
      <p:sp>
        <p:nvSpPr>
          <p:cNvPr id="4" name="Slide Number Placeholder 3">
            <a:extLst>
              <a:ext uri="{FF2B5EF4-FFF2-40B4-BE49-F238E27FC236}">
                <a16:creationId xmlns:a16="http://schemas.microsoft.com/office/drawing/2014/main" id="{48FCD0E7-F134-89E9-D7D2-3D854052F948}"/>
              </a:ext>
            </a:extLst>
          </p:cNvPr>
          <p:cNvSpPr>
            <a:spLocks noGrp="1"/>
          </p:cNvSpPr>
          <p:nvPr>
            <p:ph type="sldNum" sz="quarter" idx="12"/>
          </p:nvPr>
        </p:nvSpPr>
        <p:spPr/>
        <p:txBody>
          <a:bodyPr/>
          <a:lstStyle/>
          <a:p>
            <a:fld id="{6264BDCF-5269-49AC-A246-ED26C2B980E3}" type="slidenum">
              <a:rPr lang="en-US" smtClean="0"/>
              <a:t>27</a:t>
            </a:fld>
            <a:endParaRPr lang="en-US"/>
          </a:p>
        </p:txBody>
      </p:sp>
    </p:spTree>
    <p:extLst>
      <p:ext uri="{BB962C8B-B14F-4D97-AF65-F5344CB8AC3E}">
        <p14:creationId xmlns:p14="http://schemas.microsoft.com/office/powerpoint/2010/main" val="16518744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F3AD8-6358-2E2A-9328-2DC4C3CCE6F0}"/>
              </a:ext>
            </a:extLst>
          </p:cNvPr>
          <p:cNvSpPr>
            <a:spLocks noGrp="1"/>
          </p:cNvSpPr>
          <p:nvPr>
            <p:ph type="title"/>
          </p:nvPr>
        </p:nvSpPr>
        <p:spPr/>
        <p:txBody>
          <a:bodyPr/>
          <a:lstStyle/>
          <a:p>
            <a:r>
              <a:rPr lang="en-US" dirty="0">
                <a:hlinkClick r:id="rId2"/>
              </a:rPr>
              <a:t>JSON</a:t>
            </a:r>
            <a:r>
              <a:rPr lang="en-US" dirty="0"/>
              <a:t> </a:t>
            </a:r>
          </a:p>
        </p:txBody>
      </p:sp>
      <p:sp>
        <p:nvSpPr>
          <p:cNvPr id="3" name="Content Placeholder 2">
            <a:extLst>
              <a:ext uri="{FF2B5EF4-FFF2-40B4-BE49-F238E27FC236}">
                <a16:creationId xmlns:a16="http://schemas.microsoft.com/office/drawing/2014/main" id="{8355C25C-7F6F-65C0-E9BA-075FB8CCD654}"/>
              </a:ext>
            </a:extLst>
          </p:cNvPr>
          <p:cNvSpPr>
            <a:spLocks noGrp="1"/>
          </p:cNvSpPr>
          <p:nvPr>
            <p:ph idx="1"/>
          </p:nvPr>
        </p:nvSpPr>
        <p:spPr>
          <a:xfrm>
            <a:off x="838200" y="1278194"/>
            <a:ext cx="10515600" cy="4898769"/>
          </a:xfrm>
        </p:spPr>
        <p:txBody>
          <a:bodyPr>
            <a:noAutofit/>
          </a:bodyPr>
          <a:lstStyle/>
          <a:p>
            <a:r>
              <a:rPr lang="en-US" dirty="0"/>
              <a:t>{"</a:t>
            </a:r>
            <a:r>
              <a:rPr lang="en-US" dirty="0" err="1"/>
              <a:t>name":"John</a:t>
            </a:r>
            <a:r>
              <a:rPr lang="en-US" dirty="0"/>
              <a:t>", "age":30, "</a:t>
            </a:r>
            <a:r>
              <a:rPr lang="en-US" dirty="0" err="1"/>
              <a:t>car":null</a:t>
            </a:r>
            <a:r>
              <a:rPr lang="en-US" dirty="0"/>
              <a:t>}</a:t>
            </a:r>
          </a:p>
          <a:p>
            <a:r>
              <a:rPr lang="en-US" dirty="0"/>
              <a:t>example above defines an object with 3 properties: "name", "age", "car"; each property has a value: "John", 30, null</a:t>
            </a:r>
          </a:p>
          <a:p>
            <a:r>
              <a:rPr lang="en-US" dirty="0"/>
              <a:t>employees object with an array of 3 employee objects:</a:t>
            </a:r>
          </a:p>
          <a:p>
            <a:r>
              <a:rPr lang="en-US" dirty="0"/>
              <a:t>{</a:t>
            </a:r>
          </a:p>
          <a:p>
            <a:r>
              <a:rPr lang="en-US" dirty="0"/>
              <a:t>"employees":[</a:t>
            </a:r>
          </a:p>
          <a:p>
            <a:r>
              <a:rPr lang="en-US" dirty="0"/>
              <a:t>  {"</a:t>
            </a:r>
            <a:r>
              <a:rPr lang="en-US" dirty="0" err="1"/>
              <a:t>firstName</a:t>
            </a:r>
            <a:r>
              <a:rPr lang="en-US" dirty="0"/>
              <a:t>":"John", "</a:t>
            </a:r>
            <a:r>
              <a:rPr lang="en-US" dirty="0" err="1"/>
              <a:t>lastName</a:t>
            </a:r>
            <a:r>
              <a:rPr lang="en-US" dirty="0"/>
              <a:t>":"Doe"},</a:t>
            </a:r>
          </a:p>
          <a:p>
            <a:r>
              <a:rPr lang="en-US" dirty="0"/>
              <a:t>  {"</a:t>
            </a:r>
            <a:r>
              <a:rPr lang="en-US" dirty="0" err="1"/>
              <a:t>firstName</a:t>
            </a:r>
            <a:r>
              <a:rPr lang="en-US" dirty="0"/>
              <a:t>":"Anna", "</a:t>
            </a:r>
            <a:r>
              <a:rPr lang="en-US" dirty="0" err="1"/>
              <a:t>lastName</a:t>
            </a:r>
            <a:r>
              <a:rPr lang="en-US" dirty="0"/>
              <a:t>":"Smith"},</a:t>
            </a:r>
          </a:p>
          <a:p>
            <a:r>
              <a:rPr lang="en-US" dirty="0"/>
              <a:t>  {"</a:t>
            </a:r>
            <a:r>
              <a:rPr lang="en-US" dirty="0" err="1"/>
              <a:t>firstName</a:t>
            </a:r>
            <a:r>
              <a:rPr lang="en-US" dirty="0"/>
              <a:t>":"Peter", "</a:t>
            </a:r>
            <a:r>
              <a:rPr lang="en-US" dirty="0" err="1"/>
              <a:t>lastName</a:t>
            </a:r>
            <a:r>
              <a:rPr lang="en-US" dirty="0"/>
              <a:t>":"Jones"}</a:t>
            </a:r>
          </a:p>
          <a:p>
            <a:r>
              <a:rPr lang="en-US" dirty="0"/>
              <a:t>]	}</a:t>
            </a:r>
          </a:p>
        </p:txBody>
      </p:sp>
      <p:sp>
        <p:nvSpPr>
          <p:cNvPr id="4" name="Slide Number Placeholder 3">
            <a:extLst>
              <a:ext uri="{FF2B5EF4-FFF2-40B4-BE49-F238E27FC236}">
                <a16:creationId xmlns:a16="http://schemas.microsoft.com/office/drawing/2014/main" id="{D040F809-4C71-B157-99A0-E8A96AB0180D}"/>
              </a:ext>
            </a:extLst>
          </p:cNvPr>
          <p:cNvSpPr>
            <a:spLocks noGrp="1"/>
          </p:cNvSpPr>
          <p:nvPr>
            <p:ph type="sldNum" sz="quarter" idx="12"/>
          </p:nvPr>
        </p:nvSpPr>
        <p:spPr/>
        <p:txBody>
          <a:bodyPr/>
          <a:lstStyle/>
          <a:p>
            <a:fld id="{6264BDCF-5269-49AC-A246-ED26C2B980E3}" type="slidenum">
              <a:rPr lang="en-US" smtClean="0"/>
              <a:t>28</a:t>
            </a:fld>
            <a:endParaRPr lang="en-US"/>
          </a:p>
        </p:txBody>
      </p:sp>
    </p:spTree>
    <p:extLst>
      <p:ext uri="{BB962C8B-B14F-4D97-AF65-F5344CB8AC3E}">
        <p14:creationId xmlns:p14="http://schemas.microsoft.com/office/powerpoint/2010/main" val="34068683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BE132-EA01-A4CB-280A-2186A316C926}"/>
              </a:ext>
            </a:extLst>
          </p:cNvPr>
          <p:cNvSpPr>
            <a:spLocks noGrp="1"/>
          </p:cNvSpPr>
          <p:nvPr>
            <p:ph type="title"/>
          </p:nvPr>
        </p:nvSpPr>
        <p:spPr/>
        <p:txBody>
          <a:bodyPr/>
          <a:lstStyle/>
          <a:p>
            <a:r>
              <a:rPr lang="en-US" dirty="0">
                <a:hlinkClick r:id="rId2"/>
              </a:rPr>
              <a:t>JSON</a:t>
            </a:r>
            <a:r>
              <a:rPr lang="en-US" dirty="0"/>
              <a:t> </a:t>
            </a:r>
          </a:p>
        </p:txBody>
      </p:sp>
      <p:sp>
        <p:nvSpPr>
          <p:cNvPr id="3" name="Content Placeholder 2">
            <a:extLst>
              <a:ext uri="{FF2B5EF4-FFF2-40B4-BE49-F238E27FC236}">
                <a16:creationId xmlns:a16="http://schemas.microsoft.com/office/drawing/2014/main" id="{357F457D-68BB-7319-260D-BFF0B53EF869}"/>
              </a:ext>
            </a:extLst>
          </p:cNvPr>
          <p:cNvSpPr>
            <a:spLocks noGrp="1"/>
          </p:cNvSpPr>
          <p:nvPr>
            <p:ph idx="1"/>
          </p:nvPr>
        </p:nvSpPr>
        <p:spPr>
          <a:xfrm>
            <a:off x="838200" y="1248697"/>
            <a:ext cx="10515600" cy="4928266"/>
          </a:xfrm>
        </p:spPr>
        <p:txBody>
          <a:bodyPr>
            <a:noAutofit/>
          </a:bodyPr>
          <a:lstStyle/>
          <a:p>
            <a:r>
              <a:rPr lang="en-US" dirty="0"/>
              <a:t>JSON data is written as name/value pairs - name/value pair consists of a field name (in double quotes), followed by colon:, followed by a value: "</a:t>
            </a:r>
            <a:r>
              <a:rPr lang="en-US" dirty="0" err="1"/>
              <a:t>name":"John</a:t>
            </a:r>
            <a:r>
              <a:rPr lang="en-US" dirty="0"/>
              <a:t>"</a:t>
            </a:r>
          </a:p>
          <a:p>
            <a:r>
              <a:rPr lang="en-US" dirty="0"/>
              <a:t>JSON names require double quotes</a:t>
            </a:r>
          </a:p>
          <a:p>
            <a:r>
              <a:rPr lang="en-US" dirty="0"/>
              <a:t>JSON objects are written inside {curly braces} - objects can contain multiple name/value pairs: {"</a:t>
            </a:r>
            <a:r>
              <a:rPr lang="en-US" dirty="0" err="1"/>
              <a:t>firstName</a:t>
            </a:r>
            <a:r>
              <a:rPr lang="en-US" dirty="0"/>
              <a:t>":"John", "</a:t>
            </a:r>
            <a:r>
              <a:rPr lang="en-US" dirty="0" err="1"/>
              <a:t>lastName</a:t>
            </a:r>
            <a:r>
              <a:rPr lang="en-US" dirty="0"/>
              <a:t>":"Doe"}</a:t>
            </a:r>
          </a:p>
          <a:p>
            <a:r>
              <a:rPr lang="en-US" dirty="0"/>
              <a:t>JSON arrays are written inside [square brackets] - array can contain objects </a:t>
            </a:r>
          </a:p>
          <a:p>
            <a:r>
              <a:rPr lang="en-US" dirty="0"/>
              <a:t>in previous example, each object is a record of a person (with first name and a last name)</a:t>
            </a:r>
          </a:p>
        </p:txBody>
      </p:sp>
      <p:sp>
        <p:nvSpPr>
          <p:cNvPr id="4" name="Slide Number Placeholder 3">
            <a:extLst>
              <a:ext uri="{FF2B5EF4-FFF2-40B4-BE49-F238E27FC236}">
                <a16:creationId xmlns:a16="http://schemas.microsoft.com/office/drawing/2014/main" id="{C6AFA672-42FC-FC83-FAB1-475A463DEA88}"/>
              </a:ext>
            </a:extLst>
          </p:cNvPr>
          <p:cNvSpPr>
            <a:spLocks noGrp="1"/>
          </p:cNvSpPr>
          <p:nvPr>
            <p:ph type="sldNum" sz="quarter" idx="12"/>
          </p:nvPr>
        </p:nvSpPr>
        <p:spPr/>
        <p:txBody>
          <a:bodyPr/>
          <a:lstStyle/>
          <a:p>
            <a:fld id="{6264BDCF-5269-49AC-A246-ED26C2B980E3}" type="slidenum">
              <a:rPr lang="en-US" smtClean="0"/>
              <a:t>29</a:t>
            </a:fld>
            <a:endParaRPr lang="en-US"/>
          </a:p>
        </p:txBody>
      </p:sp>
    </p:spTree>
    <p:extLst>
      <p:ext uri="{BB962C8B-B14F-4D97-AF65-F5344CB8AC3E}">
        <p14:creationId xmlns:p14="http://schemas.microsoft.com/office/powerpoint/2010/main" val="29519836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D4C84-7D66-EA36-8C2F-E2E25CD7EA4E}"/>
              </a:ext>
            </a:extLst>
          </p:cNvPr>
          <p:cNvSpPr>
            <a:spLocks noGrp="1"/>
          </p:cNvSpPr>
          <p:nvPr>
            <p:ph type="title"/>
          </p:nvPr>
        </p:nvSpPr>
        <p:spPr/>
        <p:txBody>
          <a:bodyPr/>
          <a:lstStyle/>
          <a:p>
            <a:r>
              <a:rPr lang="en-US" dirty="0">
                <a:hlinkClick r:id="rId2"/>
              </a:rPr>
              <a:t>JSON</a:t>
            </a:r>
            <a:r>
              <a:rPr lang="en-US" dirty="0"/>
              <a:t> </a:t>
            </a:r>
          </a:p>
        </p:txBody>
      </p:sp>
      <p:sp>
        <p:nvSpPr>
          <p:cNvPr id="3" name="Content Placeholder 2">
            <a:extLst>
              <a:ext uri="{FF2B5EF4-FFF2-40B4-BE49-F238E27FC236}">
                <a16:creationId xmlns:a16="http://schemas.microsoft.com/office/drawing/2014/main" id="{168BC6E7-3892-5ACB-4967-41F34C40380B}"/>
              </a:ext>
            </a:extLst>
          </p:cNvPr>
          <p:cNvSpPr>
            <a:spLocks noGrp="1"/>
          </p:cNvSpPr>
          <p:nvPr>
            <p:ph idx="1"/>
          </p:nvPr>
        </p:nvSpPr>
        <p:spPr>
          <a:xfrm>
            <a:off x="838200" y="1268361"/>
            <a:ext cx="10515600" cy="4908602"/>
          </a:xfrm>
        </p:spPr>
        <p:txBody>
          <a:bodyPr>
            <a:noAutofit/>
          </a:bodyPr>
          <a:lstStyle/>
          <a:p>
            <a:r>
              <a:rPr lang="en-US" dirty="0"/>
              <a:t>Data is in name/value pairs</a:t>
            </a:r>
          </a:p>
          <a:p>
            <a:r>
              <a:rPr lang="en-US" dirty="0"/>
              <a:t>Data is separated by commas</a:t>
            </a:r>
          </a:p>
          <a:p>
            <a:r>
              <a:rPr lang="en-US" dirty="0"/>
              <a:t>Curly braces hold objects</a:t>
            </a:r>
          </a:p>
          <a:p>
            <a:r>
              <a:rPr lang="en-US" dirty="0"/>
              <a:t>Square brackets hold arrays</a:t>
            </a:r>
          </a:p>
          <a:p>
            <a:r>
              <a:rPr lang="en-US" dirty="0"/>
              <a:t>name/value pair consists of a field name (in double quotes), followed by a colon:, followed by a value</a:t>
            </a:r>
          </a:p>
          <a:p>
            <a:r>
              <a:rPr lang="en-US" dirty="0"/>
              <a:t>in JSON, keys must be strings, written with double quotes</a:t>
            </a:r>
          </a:p>
          <a:p>
            <a:r>
              <a:rPr lang="en-US" dirty="0"/>
              <a:t>In JSON, values must be one of following data types: string, number, object, array, Boolean or null</a:t>
            </a:r>
          </a:p>
          <a:p>
            <a:r>
              <a:rPr lang="en-US" dirty="0"/>
              <a:t>in JSON, string values must be written with double quotes</a:t>
            </a:r>
          </a:p>
        </p:txBody>
      </p:sp>
      <p:sp>
        <p:nvSpPr>
          <p:cNvPr id="4" name="Slide Number Placeholder 3">
            <a:extLst>
              <a:ext uri="{FF2B5EF4-FFF2-40B4-BE49-F238E27FC236}">
                <a16:creationId xmlns:a16="http://schemas.microsoft.com/office/drawing/2014/main" id="{0C0A730A-1E20-6489-6DCF-1FCC0ACCA58F}"/>
              </a:ext>
            </a:extLst>
          </p:cNvPr>
          <p:cNvSpPr>
            <a:spLocks noGrp="1"/>
          </p:cNvSpPr>
          <p:nvPr>
            <p:ph type="sldNum" sz="quarter" idx="12"/>
          </p:nvPr>
        </p:nvSpPr>
        <p:spPr/>
        <p:txBody>
          <a:bodyPr/>
          <a:lstStyle/>
          <a:p>
            <a:fld id="{6264BDCF-5269-49AC-A246-ED26C2B980E3}" type="slidenum">
              <a:rPr lang="en-US" smtClean="0"/>
              <a:t>30</a:t>
            </a:fld>
            <a:endParaRPr lang="en-US"/>
          </a:p>
        </p:txBody>
      </p:sp>
    </p:spTree>
    <p:extLst>
      <p:ext uri="{BB962C8B-B14F-4D97-AF65-F5344CB8AC3E}">
        <p14:creationId xmlns:p14="http://schemas.microsoft.com/office/powerpoint/2010/main" val="19655186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E8515-AA52-CF90-A142-79157299BB49}"/>
              </a:ext>
            </a:extLst>
          </p:cNvPr>
          <p:cNvSpPr>
            <a:spLocks noGrp="1"/>
          </p:cNvSpPr>
          <p:nvPr>
            <p:ph type="title"/>
          </p:nvPr>
        </p:nvSpPr>
        <p:spPr/>
        <p:txBody>
          <a:bodyPr/>
          <a:lstStyle/>
          <a:p>
            <a:r>
              <a:rPr lang="en-US" dirty="0">
                <a:hlinkClick r:id="rId2"/>
              </a:rPr>
              <a:t>JSON</a:t>
            </a:r>
            <a:r>
              <a:rPr lang="en-US" dirty="0"/>
              <a:t> </a:t>
            </a:r>
          </a:p>
        </p:txBody>
      </p:sp>
      <p:sp>
        <p:nvSpPr>
          <p:cNvPr id="3" name="Content Placeholder 2">
            <a:extLst>
              <a:ext uri="{FF2B5EF4-FFF2-40B4-BE49-F238E27FC236}">
                <a16:creationId xmlns:a16="http://schemas.microsoft.com/office/drawing/2014/main" id="{16469EDD-EC0A-DE34-0408-1DD071E7EDC1}"/>
              </a:ext>
            </a:extLst>
          </p:cNvPr>
          <p:cNvSpPr>
            <a:spLocks noGrp="1"/>
          </p:cNvSpPr>
          <p:nvPr>
            <p:ph idx="1"/>
          </p:nvPr>
        </p:nvSpPr>
        <p:spPr>
          <a:xfrm>
            <a:off x="838200" y="1268361"/>
            <a:ext cx="10515600" cy="4908602"/>
          </a:xfrm>
        </p:spPr>
        <p:txBody>
          <a:bodyPr>
            <a:noAutofit/>
          </a:bodyPr>
          <a:lstStyle/>
          <a:p>
            <a:r>
              <a:rPr lang="en-US" dirty="0"/>
              <a:t>with JavaScript you can create an object and assign data to it:</a:t>
            </a:r>
          </a:p>
          <a:p>
            <a:r>
              <a:rPr lang="en-US" dirty="0"/>
              <a:t>person = {</a:t>
            </a:r>
            <a:r>
              <a:rPr lang="en-US" dirty="0" err="1"/>
              <a:t>name:"John</a:t>
            </a:r>
            <a:r>
              <a:rPr lang="en-US" dirty="0"/>
              <a:t>", age:31, </a:t>
            </a:r>
            <a:r>
              <a:rPr lang="en-US" dirty="0" err="1"/>
              <a:t>city:"New</a:t>
            </a:r>
            <a:r>
              <a:rPr lang="en-US" dirty="0"/>
              <a:t> York"};</a:t>
            </a:r>
          </a:p>
          <a:p>
            <a:r>
              <a:rPr lang="en-US" dirty="0"/>
              <a:t>can access JavaScript object:</a:t>
            </a:r>
          </a:p>
          <a:p>
            <a:r>
              <a:rPr lang="en-US" dirty="0"/>
              <a:t>person.name;</a:t>
            </a:r>
          </a:p>
          <a:p>
            <a:r>
              <a:rPr lang="en-US" dirty="0"/>
              <a:t>// returns John</a:t>
            </a:r>
          </a:p>
          <a:p>
            <a:r>
              <a:rPr lang="en-US" dirty="0"/>
              <a:t>it can also be accessed like this:</a:t>
            </a:r>
          </a:p>
          <a:p>
            <a:r>
              <a:rPr lang="en-US" dirty="0"/>
              <a:t>person["name"];</a:t>
            </a:r>
          </a:p>
          <a:p>
            <a:endParaRPr lang="en-US" dirty="0"/>
          </a:p>
          <a:p>
            <a:r>
              <a:rPr lang="en-US" dirty="0"/>
              <a:t>file type for JSON files is ".</a:t>
            </a:r>
            <a:r>
              <a:rPr lang="en-US" dirty="0" err="1"/>
              <a:t>json</a:t>
            </a:r>
            <a:r>
              <a:rPr lang="en-US" dirty="0"/>
              <a:t>"</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57A64225-FEB0-C50C-F7EC-7707FB42047F}"/>
              </a:ext>
            </a:extLst>
          </p:cNvPr>
          <p:cNvSpPr>
            <a:spLocks noGrp="1"/>
          </p:cNvSpPr>
          <p:nvPr>
            <p:ph type="sldNum" sz="quarter" idx="12"/>
          </p:nvPr>
        </p:nvSpPr>
        <p:spPr/>
        <p:txBody>
          <a:bodyPr/>
          <a:lstStyle/>
          <a:p>
            <a:fld id="{6264BDCF-5269-49AC-A246-ED26C2B980E3}" type="slidenum">
              <a:rPr lang="en-US" smtClean="0"/>
              <a:t>31</a:t>
            </a:fld>
            <a:endParaRPr lang="en-US"/>
          </a:p>
        </p:txBody>
      </p:sp>
    </p:spTree>
    <p:extLst>
      <p:ext uri="{BB962C8B-B14F-4D97-AF65-F5344CB8AC3E}">
        <p14:creationId xmlns:p14="http://schemas.microsoft.com/office/powerpoint/2010/main" val="34586389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991D7-794A-3258-B339-D22E1A0CF806}"/>
              </a:ext>
            </a:extLst>
          </p:cNvPr>
          <p:cNvSpPr>
            <a:spLocks noGrp="1"/>
          </p:cNvSpPr>
          <p:nvPr>
            <p:ph type="title"/>
          </p:nvPr>
        </p:nvSpPr>
        <p:spPr/>
        <p:txBody>
          <a:bodyPr/>
          <a:lstStyle/>
          <a:p>
            <a:r>
              <a:rPr lang="en-US" dirty="0">
                <a:hlinkClick r:id="rId2"/>
              </a:rPr>
              <a:t>JSON</a:t>
            </a:r>
            <a:r>
              <a:rPr lang="en-US" dirty="0"/>
              <a:t> </a:t>
            </a:r>
          </a:p>
        </p:txBody>
      </p:sp>
      <p:sp>
        <p:nvSpPr>
          <p:cNvPr id="3" name="Content Placeholder 2">
            <a:extLst>
              <a:ext uri="{FF2B5EF4-FFF2-40B4-BE49-F238E27FC236}">
                <a16:creationId xmlns:a16="http://schemas.microsoft.com/office/drawing/2014/main" id="{232119BF-08BC-4B78-D3B1-A901335EB504}"/>
              </a:ext>
            </a:extLst>
          </p:cNvPr>
          <p:cNvSpPr>
            <a:spLocks noGrp="1"/>
          </p:cNvSpPr>
          <p:nvPr>
            <p:ph idx="1"/>
          </p:nvPr>
        </p:nvSpPr>
        <p:spPr>
          <a:xfrm>
            <a:off x="838200" y="1248697"/>
            <a:ext cx="10515600" cy="4928266"/>
          </a:xfrm>
        </p:spPr>
        <p:txBody>
          <a:bodyPr>
            <a:noAutofit/>
          </a:bodyPr>
          <a:lstStyle/>
          <a:p>
            <a:r>
              <a:rPr lang="en-US" dirty="0"/>
              <a:t>JSON values cannot be one of the following data types: function, date or undefined</a:t>
            </a:r>
          </a:p>
          <a:p>
            <a:r>
              <a:rPr lang="en-US" dirty="0"/>
              <a:t>Strings in JSON must be written in double quotes</a:t>
            </a:r>
          </a:p>
          <a:p>
            <a:r>
              <a:rPr lang="en-US" dirty="0"/>
              <a:t>Numbers in JSON must be an integer or a floating point</a:t>
            </a:r>
          </a:p>
          <a:p>
            <a:r>
              <a:rPr lang="en-US" dirty="0"/>
              <a:t>Objects as values in JSON must follow the JSON syntax</a:t>
            </a:r>
          </a:p>
          <a:p>
            <a:r>
              <a:rPr lang="en-US" dirty="0"/>
              <a:t>Values in JSON can be arrays</a:t>
            </a:r>
          </a:p>
          <a:p>
            <a:r>
              <a:rPr lang="en-US" dirty="0"/>
              <a:t>Values in JSON can be true/false.</a:t>
            </a:r>
          </a:p>
          <a:p>
            <a:r>
              <a:rPr lang="en-US" dirty="0"/>
              <a:t>Values in JSON can be null.</a:t>
            </a:r>
          </a:p>
        </p:txBody>
      </p:sp>
      <p:sp>
        <p:nvSpPr>
          <p:cNvPr id="4" name="Slide Number Placeholder 3">
            <a:extLst>
              <a:ext uri="{FF2B5EF4-FFF2-40B4-BE49-F238E27FC236}">
                <a16:creationId xmlns:a16="http://schemas.microsoft.com/office/drawing/2014/main" id="{7E823A48-3474-0F4F-3439-635C2C6299D4}"/>
              </a:ext>
            </a:extLst>
          </p:cNvPr>
          <p:cNvSpPr>
            <a:spLocks noGrp="1"/>
          </p:cNvSpPr>
          <p:nvPr>
            <p:ph type="sldNum" sz="quarter" idx="12"/>
          </p:nvPr>
        </p:nvSpPr>
        <p:spPr/>
        <p:txBody>
          <a:bodyPr/>
          <a:lstStyle/>
          <a:p>
            <a:fld id="{6264BDCF-5269-49AC-A246-ED26C2B980E3}" type="slidenum">
              <a:rPr lang="en-US" smtClean="0"/>
              <a:t>32</a:t>
            </a:fld>
            <a:endParaRPr lang="en-US"/>
          </a:p>
        </p:txBody>
      </p:sp>
    </p:spTree>
    <p:extLst>
      <p:ext uri="{BB962C8B-B14F-4D97-AF65-F5344CB8AC3E}">
        <p14:creationId xmlns:p14="http://schemas.microsoft.com/office/powerpoint/2010/main" val="78022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BA311A5-A0A4-8F25-B827-22A93A5FBF32}"/>
              </a:ext>
            </a:extLst>
          </p:cNvPr>
          <p:cNvSpPr>
            <a:spLocks noGrp="1"/>
          </p:cNvSpPr>
          <p:nvPr>
            <p:ph type="title"/>
          </p:nvPr>
        </p:nvSpPr>
        <p:spPr/>
        <p:txBody>
          <a:bodyPr/>
          <a:lstStyle/>
          <a:p>
            <a:r>
              <a:rPr lang="en-US" dirty="0"/>
              <a:t>XML</a:t>
            </a:r>
          </a:p>
        </p:txBody>
      </p:sp>
      <p:sp>
        <p:nvSpPr>
          <p:cNvPr id="6" name="Text Placeholder 5">
            <a:extLst>
              <a:ext uri="{FF2B5EF4-FFF2-40B4-BE49-F238E27FC236}">
                <a16:creationId xmlns:a16="http://schemas.microsoft.com/office/drawing/2014/main" id="{9470656A-424F-197F-C024-BCAD0CDB097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233AA4-D2B2-11D3-DEE8-248D78507703}"/>
              </a:ext>
            </a:extLst>
          </p:cNvPr>
          <p:cNvSpPr>
            <a:spLocks noGrp="1"/>
          </p:cNvSpPr>
          <p:nvPr>
            <p:ph type="sldNum" sz="quarter" idx="12"/>
          </p:nvPr>
        </p:nvSpPr>
        <p:spPr/>
        <p:txBody>
          <a:bodyPr/>
          <a:lstStyle/>
          <a:p>
            <a:fld id="{6264BDCF-5269-49AC-A246-ED26C2B980E3}" type="slidenum">
              <a:rPr lang="en-US" smtClean="0"/>
              <a:t>33</a:t>
            </a:fld>
            <a:endParaRPr lang="en-US"/>
          </a:p>
        </p:txBody>
      </p:sp>
    </p:spTree>
    <p:extLst>
      <p:ext uri="{BB962C8B-B14F-4D97-AF65-F5344CB8AC3E}">
        <p14:creationId xmlns:p14="http://schemas.microsoft.com/office/powerpoint/2010/main" val="16892509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4DE2B-D336-586C-67FE-1EF7A1318E82}"/>
              </a:ext>
            </a:extLst>
          </p:cNvPr>
          <p:cNvSpPr>
            <a:spLocks noGrp="1"/>
          </p:cNvSpPr>
          <p:nvPr>
            <p:ph type="title"/>
          </p:nvPr>
        </p:nvSpPr>
        <p:spPr/>
        <p:txBody>
          <a:bodyPr/>
          <a:lstStyle/>
          <a:p>
            <a:r>
              <a:rPr lang="en-US" b="1" dirty="0" err="1"/>
              <a:t>eXtensible</a:t>
            </a:r>
            <a:r>
              <a:rPr lang="en-US" b="1" dirty="0"/>
              <a:t> Markup Language (XML)</a:t>
            </a:r>
          </a:p>
        </p:txBody>
      </p:sp>
      <p:sp>
        <p:nvSpPr>
          <p:cNvPr id="3" name="Content Placeholder 2">
            <a:extLst>
              <a:ext uri="{FF2B5EF4-FFF2-40B4-BE49-F238E27FC236}">
                <a16:creationId xmlns:a16="http://schemas.microsoft.com/office/drawing/2014/main" id="{8A423038-681A-3B86-FE9F-5D983BA7CB2F}"/>
              </a:ext>
            </a:extLst>
          </p:cNvPr>
          <p:cNvSpPr>
            <a:spLocks noGrp="1"/>
          </p:cNvSpPr>
          <p:nvPr>
            <p:ph idx="1"/>
          </p:nvPr>
        </p:nvSpPr>
        <p:spPr/>
        <p:txBody>
          <a:bodyPr>
            <a:normAutofit/>
          </a:bodyPr>
          <a:lstStyle/>
          <a:p>
            <a:r>
              <a:rPr lang="en-US" dirty="0"/>
              <a:t>representation adds </a:t>
            </a:r>
            <a:r>
              <a:rPr lang="en-US" i="1" dirty="0"/>
              <a:t>tags</a:t>
            </a:r>
            <a:r>
              <a:rPr lang="en-US" b="1" dirty="0"/>
              <a:t> </a:t>
            </a:r>
            <a:r>
              <a:rPr lang="en-US" dirty="0"/>
              <a:t>enclosed in angle brackets, </a:t>
            </a:r>
            <a:r>
              <a:rPr lang="en-US" i="1" dirty="0"/>
              <a:t>&lt;&gt;</a:t>
            </a:r>
            <a:r>
              <a:rPr lang="en-US" dirty="0"/>
              <a:t>, to mark up information in a textual representation - tags are used in pairs, with </a:t>
            </a:r>
            <a:r>
              <a:rPr lang="en-US" i="1" dirty="0"/>
              <a:t>&lt;</a:t>
            </a:r>
            <a:r>
              <a:rPr lang="en-US" dirty="0"/>
              <a:t>tag</a:t>
            </a:r>
            <a:r>
              <a:rPr lang="en-US" i="1" dirty="0"/>
              <a:t>&gt; </a:t>
            </a:r>
            <a:r>
              <a:rPr lang="en-US" dirty="0"/>
              <a:t>and </a:t>
            </a:r>
            <a:r>
              <a:rPr lang="en-US" i="1" dirty="0"/>
              <a:t>&lt;</a:t>
            </a:r>
            <a:r>
              <a:rPr lang="en-US" dirty="0"/>
              <a:t>/tag</a:t>
            </a:r>
            <a:r>
              <a:rPr lang="en-US" i="1" dirty="0"/>
              <a:t>&gt; </a:t>
            </a:r>
            <a:r>
              <a:rPr lang="en-US" dirty="0"/>
              <a:t>delimiting beginning and end</a:t>
            </a:r>
          </a:p>
          <a:p>
            <a:r>
              <a:rPr lang="en-US" i="1" dirty="0"/>
              <a:t>&lt;</a:t>
            </a:r>
            <a:r>
              <a:rPr lang="en-US" dirty="0"/>
              <a:t>title</a:t>
            </a:r>
            <a:r>
              <a:rPr lang="en-US" i="1" dirty="0"/>
              <a:t>&gt;</a:t>
            </a:r>
            <a:r>
              <a:rPr lang="en-US" dirty="0" err="1"/>
              <a:t>DataBase</a:t>
            </a:r>
            <a:r>
              <a:rPr lang="en-US" dirty="0"/>
              <a:t> Course</a:t>
            </a:r>
            <a:r>
              <a:rPr lang="en-US" i="1" dirty="0"/>
              <a:t>&lt;</a:t>
            </a:r>
            <a:r>
              <a:rPr lang="en-US" dirty="0"/>
              <a:t>/title</a:t>
            </a:r>
            <a:r>
              <a:rPr lang="en-US" i="1" dirty="0"/>
              <a:t>&gt;</a:t>
            </a:r>
          </a:p>
          <a:p>
            <a:endParaRPr lang="en-US" dirty="0"/>
          </a:p>
        </p:txBody>
      </p:sp>
      <p:sp>
        <p:nvSpPr>
          <p:cNvPr id="4" name="Slide Number Placeholder 3">
            <a:extLst>
              <a:ext uri="{FF2B5EF4-FFF2-40B4-BE49-F238E27FC236}">
                <a16:creationId xmlns:a16="http://schemas.microsoft.com/office/drawing/2014/main" id="{A291CBFA-44BF-6226-8C54-8B72A22FF322}"/>
              </a:ext>
            </a:extLst>
          </p:cNvPr>
          <p:cNvSpPr>
            <a:spLocks noGrp="1"/>
          </p:cNvSpPr>
          <p:nvPr>
            <p:ph type="sldNum" sz="quarter" idx="12"/>
          </p:nvPr>
        </p:nvSpPr>
        <p:spPr/>
        <p:txBody>
          <a:bodyPr/>
          <a:lstStyle/>
          <a:p>
            <a:fld id="{6264BDCF-5269-49AC-A246-ED26C2B980E3}" type="slidenum">
              <a:rPr lang="en-US" smtClean="0"/>
              <a:t>34</a:t>
            </a:fld>
            <a:endParaRPr lang="en-US"/>
          </a:p>
        </p:txBody>
      </p:sp>
    </p:spTree>
    <p:extLst>
      <p:ext uri="{BB962C8B-B14F-4D97-AF65-F5344CB8AC3E}">
        <p14:creationId xmlns:p14="http://schemas.microsoft.com/office/powerpoint/2010/main" val="12331684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7A1A-211F-79D4-1793-576DF59514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FE11498-A43F-0166-3DE5-06E100783DEC}"/>
              </a:ext>
            </a:extLst>
          </p:cNvPr>
          <p:cNvSpPr>
            <a:spLocks noGrp="1"/>
          </p:cNvSpPr>
          <p:nvPr>
            <p:ph idx="1"/>
          </p:nvPr>
        </p:nvSpPr>
        <p:spPr/>
        <p:txBody>
          <a:bodyPr/>
          <a:lstStyle/>
          <a:p>
            <a:r>
              <a:rPr lang="en-US" dirty="0"/>
              <a:t>&lt;course&gt;</a:t>
            </a:r>
          </a:p>
          <a:p>
            <a:r>
              <a:rPr lang="en-US" dirty="0"/>
              <a:t> 	&lt;</a:t>
            </a:r>
            <a:r>
              <a:rPr lang="en-US" dirty="0" err="1"/>
              <a:t>course_id</a:t>
            </a:r>
            <a:r>
              <a:rPr lang="en-US" dirty="0"/>
              <a:t>&gt; CS-101 &lt;/</a:t>
            </a:r>
            <a:r>
              <a:rPr lang="en-US" dirty="0" err="1"/>
              <a:t>course_id</a:t>
            </a:r>
            <a:r>
              <a:rPr lang="en-US" dirty="0"/>
              <a:t>&gt;</a:t>
            </a:r>
          </a:p>
          <a:p>
            <a:r>
              <a:rPr lang="en-US" dirty="0"/>
              <a:t> 	&lt;title&gt; Intro. to </a:t>
            </a:r>
            <a:r>
              <a:rPr lang="en-US" dirty="0" err="1"/>
              <a:t>DataBase</a:t>
            </a:r>
            <a:r>
              <a:rPr lang="en-US" dirty="0"/>
              <a:t> Systems &lt;/title&gt;</a:t>
            </a:r>
          </a:p>
          <a:p>
            <a:r>
              <a:rPr lang="en-US" dirty="0"/>
              <a:t> 	&lt;</a:t>
            </a:r>
            <a:r>
              <a:rPr lang="en-US" dirty="0" err="1"/>
              <a:t>dept_name</a:t>
            </a:r>
            <a:r>
              <a:rPr lang="en-US" dirty="0"/>
              <a:t>&gt; Comp. Sci. &lt;/</a:t>
            </a:r>
            <a:r>
              <a:rPr lang="en-US" dirty="0" err="1"/>
              <a:t>dept_name</a:t>
            </a:r>
            <a:r>
              <a:rPr lang="en-US" dirty="0"/>
              <a:t>&gt;</a:t>
            </a:r>
          </a:p>
          <a:p>
            <a:r>
              <a:rPr lang="en-US" dirty="0"/>
              <a:t> 	&lt;credits&gt; 5 &lt;/credits&gt;</a:t>
            </a:r>
          </a:p>
          <a:p>
            <a:r>
              <a:rPr lang="en-US" dirty="0"/>
              <a:t>&lt;/course&gt;</a:t>
            </a:r>
          </a:p>
        </p:txBody>
      </p:sp>
      <p:sp>
        <p:nvSpPr>
          <p:cNvPr id="4" name="Slide Number Placeholder 3">
            <a:extLst>
              <a:ext uri="{FF2B5EF4-FFF2-40B4-BE49-F238E27FC236}">
                <a16:creationId xmlns:a16="http://schemas.microsoft.com/office/drawing/2014/main" id="{5AD0B04B-3294-03C2-C8E2-5DB595855F30}"/>
              </a:ext>
            </a:extLst>
          </p:cNvPr>
          <p:cNvSpPr>
            <a:spLocks noGrp="1"/>
          </p:cNvSpPr>
          <p:nvPr>
            <p:ph type="sldNum" sz="quarter" idx="12"/>
          </p:nvPr>
        </p:nvSpPr>
        <p:spPr/>
        <p:txBody>
          <a:bodyPr/>
          <a:lstStyle/>
          <a:p>
            <a:fld id="{6264BDCF-5269-49AC-A246-ED26C2B980E3}" type="slidenum">
              <a:rPr lang="en-US" smtClean="0"/>
              <a:t>35</a:t>
            </a:fld>
            <a:endParaRPr lang="en-US"/>
          </a:p>
        </p:txBody>
      </p:sp>
    </p:spTree>
    <p:extLst>
      <p:ext uri="{BB962C8B-B14F-4D97-AF65-F5344CB8AC3E}">
        <p14:creationId xmlns:p14="http://schemas.microsoft.com/office/powerpoint/2010/main" val="10464535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4B069-D970-581B-49A9-402CD734A01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D69E365-BC05-2660-D673-1F3BBC8CE260}"/>
              </a:ext>
            </a:extLst>
          </p:cNvPr>
          <p:cNvSpPr>
            <a:spLocks noGrp="1"/>
          </p:cNvSpPr>
          <p:nvPr>
            <p:ph idx="1"/>
          </p:nvPr>
        </p:nvSpPr>
        <p:spPr/>
        <p:txBody>
          <a:bodyPr/>
          <a:lstStyle/>
          <a:p>
            <a:r>
              <a:rPr lang="en-US" dirty="0"/>
              <a:t>unlike with a relational schema, new tags can be introduced easily, and with suitable names data are “self-documenting”</a:t>
            </a:r>
          </a:p>
          <a:p>
            <a:r>
              <a:rPr lang="en-US" dirty="0"/>
              <a:t>tags can be used to create hierarchical structures, which is not possible with relational model; hierarchical structures are particularly important for representing business objects</a:t>
            </a:r>
          </a:p>
          <a:p>
            <a:endParaRPr lang="en-US" dirty="0"/>
          </a:p>
          <a:p>
            <a:r>
              <a:rPr lang="en-US" dirty="0"/>
              <a:t>XML provides a standard way of tagging the data</a:t>
            </a:r>
          </a:p>
          <a:p>
            <a:r>
              <a:rPr lang="en-US" dirty="0"/>
              <a:t>organizations must of course agree on what tags appear and what they mean</a:t>
            </a:r>
          </a:p>
          <a:p>
            <a:endParaRPr lang="en-US" dirty="0"/>
          </a:p>
        </p:txBody>
      </p:sp>
      <p:sp>
        <p:nvSpPr>
          <p:cNvPr id="4" name="Slide Number Placeholder 3">
            <a:extLst>
              <a:ext uri="{FF2B5EF4-FFF2-40B4-BE49-F238E27FC236}">
                <a16:creationId xmlns:a16="http://schemas.microsoft.com/office/drawing/2014/main" id="{DF7E3E0D-A1EF-3D67-83B0-EBF23F412DC1}"/>
              </a:ext>
            </a:extLst>
          </p:cNvPr>
          <p:cNvSpPr>
            <a:spLocks noGrp="1"/>
          </p:cNvSpPr>
          <p:nvPr>
            <p:ph type="sldNum" sz="quarter" idx="12"/>
          </p:nvPr>
        </p:nvSpPr>
        <p:spPr/>
        <p:txBody>
          <a:bodyPr/>
          <a:lstStyle/>
          <a:p>
            <a:fld id="{6264BDCF-5269-49AC-A246-ED26C2B980E3}" type="slidenum">
              <a:rPr lang="en-US" smtClean="0"/>
              <a:t>36</a:t>
            </a:fld>
            <a:endParaRPr lang="en-US"/>
          </a:p>
        </p:txBody>
      </p:sp>
    </p:spTree>
    <p:extLst>
      <p:ext uri="{BB962C8B-B14F-4D97-AF65-F5344CB8AC3E}">
        <p14:creationId xmlns:p14="http://schemas.microsoft.com/office/powerpoint/2010/main" val="34177449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B0BFB-DC79-9E22-7F91-118151674D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0F0017B-2FF0-F244-9C54-DEBDB350CAA7}"/>
              </a:ext>
            </a:extLst>
          </p:cNvPr>
          <p:cNvSpPr>
            <a:spLocks noGrp="1"/>
          </p:cNvSpPr>
          <p:nvPr>
            <p:ph idx="1"/>
          </p:nvPr>
        </p:nvSpPr>
        <p:spPr>
          <a:xfrm>
            <a:off x="838200" y="1176696"/>
            <a:ext cx="10515600" cy="5179654"/>
          </a:xfrm>
        </p:spPr>
        <p:txBody>
          <a:bodyPr>
            <a:normAutofit/>
          </a:bodyPr>
          <a:lstStyle/>
          <a:p>
            <a:r>
              <a:rPr lang="en-US" dirty="0"/>
              <a:t>XQuery language was developed to support querying of XML data</a:t>
            </a:r>
          </a:p>
          <a:p>
            <a:r>
              <a:rPr lang="en-US" dirty="0"/>
              <a:t>SQL language has been extended to support XML in several ways:</a:t>
            </a:r>
          </a:p>
          <a:p>
            <a:r>
              <a:rPr lang="en-US" dirty="0"/>
              <a:t>XML data can be stored as an XML data type</a:t>
            </a:r>
          </a:p>
          <a:p>
            <a:r>
              <a:rPr lang="en-US" dirty="0"/>
              <a:t>SQL queries can generate XML data from relational data</a:t>
            </a:r>
          </a:p>
          <a:p>
            <a:r>
              <a:rPr lang="en-US" dirty="0"/>
              <a:t>extensions allow construction of XML representations from individual rows, as well as creation of an XML document from collection of rows by using  XMLAGG aggregate function</a:t>
            </a:r>
          </a:p>
          <a:p>
            <a:r>
              <a:rPr lang="en-US" dirty="0"/>
              <a:t>SQL queries can extract data from XML data type value</a:t>
            </a:r>
          </a:p>
          <a:p>
            <a:r>
              <a:rPr lang="en-US" dirty="0"/>
              <a:t>XPath language supports “path expressions” that allow extraction of desired parts of data from XML document</a:t>
            </a:r>
          </a:p>
        </p:txBody>
      </p:sp>
      <p:sp>
        <p:nvSpPr>
          <p:cNvPr id="4" name="Slide Number Placeholder 3">
            <a:extLst>
              <a:ext uri="{FF2B5EF4-FFF2-40B4-BE49-F238E27FC236}">
                <a16:creationId xmlns:a16="http://schemas.microsoft.com/office/drawing/2014/main" id="{215FBFD4-B8BC-27AE-940B-5E2B37209BCB}"/>
              </a:ext>
            </a:extLst>
          </p:cNvPr>
          <p:cNvSpPr>
            <a:spLocks noGrp="1"/>
          </p:cNvSpPr>
          <p:nvPr>
            <p:ph type="sldNum" sz="quarter" idx="12"/>
          </p:nvPr>
        </p:nvSpPr>
        <p:spPr/>
        <p:txBody>
          <a:bodyPr/>
          <a:lstStyle/>
          <a:p>
            <a:fld id="{6264BDCF-5269-49AC-A246-ED26C2B980E3}" type="slidenum">
              <a:rPr lang="en-US" smtClean="0"/>
              <a:t>37</a:t>
            </a:fld>
            <a:endParaRPr lang="en-US"/>
          </a:p>
        </p:txBody>
      </p:sp>
    </p:spTree>
    <p:extLst>
      <p:ext uri="{BB962C8B-B14F-4D97-AF65-F5344CB8AC3E}">
        <p14:creationId xmlns:p14="http://schemas.microsoft.com/office/powerpoint/2010/main" val="11608680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0618F-DE04-ADDD-D8C4-D4425728D255}"/>
              </a:ext>
            </a:extLst>
          </p:cNvPr>
          <p:cNvSpPr>
            <a:spLocks noGrp="1"/>
          </p:cNvSpPr>
          <p:nvPr>
            <p:ph type="title"/>
          </p:nvPr>
        </p:nvSpPr>
        <p:spPr/>
        <p:txBody>
          <a:bodyPr/>
          <a:lstStyle/>
          <a:p>
            <a:r>
              <a:rPr lang="en-US" b="1" dirty="0"/>
              <a:t>Resource Description Framework </a:t>
            </a:r>
            <a:r>
              <a:rPr lang="en-US" dirty="0"/>
              <a:t>(</a:t>
            </a:r>
            <a:r>
              <a:rPr lang="en-US" b="1" dirty="0"/>
              <a:t>RDF</a:t>
            </a:r>
            <a:r>
              <a:rPr lang="en-US" dirty="0"/>
              <a:t>)</a:t>
            </a:r>
            <a:br>
              <a:rPr lang="en-US" dirty="0"/>
            </a:br>
            <a:r>
              <a:rPr lang="en-US" b="1" dirty="0"/>
              <a:t>and Knowledge Graphs</a:t>
            </a:r>
            <a:endParaRPr lang="en-US" dirty="0"/>
          </a:p>
        </p:txBody>
      </p:sp>
      <p:sp>
        <p:nvSpPr>
          <p:cNvPr id="3" name="Content Placeholder 2">
            <a:extLst>
              <a:ext uri="{FF2B5EF4-FFF2-40B4-BE49-F238E27FC236}">
                <a16:creationId xmlns:a16="http://schemas.microsoft.com/office/drawing/2014/main" id="{30B831AA-3475-F1CA-D083-688B2DA554D9}"/>
              </a:ext>
            </a:extLst>
          </p:cNvPr>
          <p:cNvSpPr>
            <a:spLocks noGrp="1"/>
          </p:cNvSpPr>
          <p:nvPr>
            <p:ph idx="1"/>
          </p:nvPr>
        </p:nvSpPr>
        <p:spPr>
          <a:xfrm>
            <a:off x="838200" y="1592826"/>
            <a:ext cx="10515600" cy="4584137"/>
          </a:xfrm>
        </p:spPr>
        <p:txBody>
          <a:bodyPr>
            <a:noAutofit/>
          </a:bodyPr>
          <a:lstStyle/>
          <a:p>
            <a:r>
              <a:rPr lang="en-US" sz="2700" dirty="0"/>
              <a:t>data representation standard based on Entity-Relationship model</a:t>
            </a:r>
          </a:p>
          <a:p>
            <a:r>
              <a:rPr lang="en-US" sz="2700" dirty="0"/>
              <a:t>represents data by a set of triples that are in one of these two forms:</a:t>
            </a:r>
          </a:p>
          <a:p>
            <a:pPr marL="514350" indent="-514350">
              <a:buFont typeface="+mj-lt"/>
              <a:buAutoNum type="arabicPeriod"/>
            </a:pPr>
            <a:r>
              <a:rPr lang="en-US" sz="2700" dirty="0"/>
              <a:t>(ID, attribute-name, value)</a:t>
            </a:r>
          </a:p>
          <a:p>
            <a:pPr marL="514350" indent="-514350">
              <a:buFont typeface="+mj-lt"/>
              <a:buAutoNum type="arabicPeriod"/>
            </a:pPr>
            <a:r>
              <a:rPr lang="en-US" sz="2700" dirty="0"/>
              <a:t>(ID1, relationship-name, ID2)</a:t>
            </a:r>
          </a:p>
          <a:p>
            <a:r>
              <a:rPr lang="en-US" sz="2700" dirty="0"/>
              <a:t>where ID, ID1 and ID2 are identifiers of entities; entities are also referred to as resources in RDF</a:t>
            </a:r>
          </a:p>
          <a:p>
            <a:r>
              <a:rPr lang="en-US" sz="2700" dirty="0"/>
              <a:t>unlike the E-R model, RDF model only supports binary relationships, and it does not support more general n-</a:t>
            </a:r>
            <a:r>
              <a:rPr lang="en-US" sz="2700" dirty="0" err="1"/>
              <a:t>ary</a:t>
            </a:r>
            <a:r>
              <a:rPr lang="en-US" sz="2700" dirty="0"/>
              <a:t> relationships</a:t>
            </a:r>
          </a:p>
          <a:p>
            <a:r>
              <a:rPr lang="en-US" sz="2700" dirty="0"/>
              <a:t>first attribute of a triple is called its subject, second attribute is called its predicate, and last attribute is called its object</a:t>
            </a:r>
          </a:p>
          <a:p>
            <a:r>
              <a:rPr lang="en-US" sz="2700" dirty="0"/>
              <a:t>triple structure (subject, predicate, object)</a:t>
            </a:r>
          </a:p>
        </p:txBody>
      </p:sp>
      <p:sp>
        <p:nvSpPr>
          <p:cNvPr id="4" name="Slide Number Placeholder 3">
            <a:extLst>
              <a:ext uri="{FF2B5EF4-FFF2-40B4-BE49-F238E27FC236}">
                <a16:creationId xmlns:a16="http://schemas.microsoft.com/office/drawing/2014/main" id="{B279A22B-2781-441D-B4C0-18C62B63E430}"/>
              </a:ext>
            </a:extLst>
          </p:cNvPr>
          <p:cNvSpPr>
            <a:spLocks noGrp="1"/>
          </p:cNvSpPr>
          <p:nvPr>
            <p:ph type="sldNum" sz="quarter" idx="12"/>
          </p:nvPr>
        </p:nvSpPr>
        <p:spPr/>
        <p:txBody>
          <a:bodyPr/>
          <a:lstStyle/>
          <a:p>
            <a:fld id="{6264BDCF-5269-49AC-A246-ED26C2B980E3}" type="slidenum">
              <a:rPr lang="en-US" smtClean="0"/>
              <a:t>38</a:t>
            </a:fld>
            <a:endParaRPr lang="en-US"/>
          </a:p>
        </p:txBody>
      </p:sp>
    </p:spTree>
    <p:extLst>
      <p:ext uri="{BB962C8B-B14F-4D97-AF65-F5344CB8AC3E}">
        <p14:creationId xmlns:p14="http://schemas.microsoft.com/office/powerpoint/2010/main" val="40606754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F5694-AC69-D193-ACC2-1631E7616DB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8ED1AB7-D63F-F743-D7BF-735C953C1DAB}"/>
              </a:ext>
            </a:extLst>
          </p:cNvPr>
          <p:cNvSpPr>
            <a:spLocks noGrp="1"/>
          </p:cNvSpPr>
          <p:nvPr>
            <p:ph idx="1"/>
          </p:nvPr>
        </p:nvSpPr>
        <p:spPr/>
        <p:txBody>
          <a:bodyPr/>
          <a:lstStyle/>
          <a:p>
            <a:r>
              <a:rPr lang="en-US" dirty="0"/>
              <a:t>RDF expresses all facts as three-part {subject, predicate, object} statements known as triples</a:t>
            </a:r>
          </a:p>
          <a:p>
            <a:r>
              <a:rPr lang="en-US" dirty="0"/>
              <a:t>because same entity can be subject of some triples and object of others, a set of triples can represent a graph data structure</a:t>
            </a:r>
          </a:p>
          <a:p>
            <a:r>
              <a:rPr lang="en-US" dirty="0"/>
              <a:t>a large-scale storage system for triples is called a </a:t>
            </a:r>
            <a:r>
              <a:rPr lang="en-US" dirty="0" err="1"/>
              <a:t>triplestore</a:t>
            </a:r>
            <a:r>
              <a:rPr lang="en-US" dirty="0"/>
              <a:t>, and falls into the graph database category of NoSQL databases</a:t>
            </a:r>
          </a:p>
        </p:txBody>
      </p:sp>
      <p:sp>
        <p:nvSpPr>
          <p:cNvPr id="4" name="Slide Number Placeholder 3">
            <a:extLst>
              <a:ext uri="{FF2B5EF4-FFF2-40B4-BE49-F238E27FC236}">
                <a16:creationId xmlns:a16="http://schemas.microsoft.com/office/drawing/2014/main" id="{55E292B6-9F49-1032-4AD2-27318C68A5F0}"/>
              </a:ext>
            </a:extLst>
          </p:cNvPr>
          <p:cNvSpPr>
            <a:spLocks noGrp="1"/>
          </p:cNvSpPr>
          <p:nvPr>
            <p:ph type="sldNum" sz="quarter" idx="12"/>
          </p:nvPr>
        </p:nvSpPr>
        <p:spPr/>
        <p:txBody>
          <a:bodyPr/>
          <a:lstStyle/>
          <a:p>
            <a:fld id="{6264BDCF-5269-49AC-A246-ED26C2B980E3}" type="slidenum">
              <a:rPr lang="en-US" smtClean="0"/>
              <a:t>39</a:t>
            </a:fld>
            <a:endParaRPr lang="en-US"/>
          </a:p>
        </p:txBody>
      </p:sp>
    </p:spTree>
    <p:extLst>
      <p:ext uri="{BB962C8B-B14F-4D97-AF65-F5344CB8AC3E}">
        <p14:creationId xmlns:p14="http://schemas.microsoft.com/office/powerpoint/2010/main" val="21287067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5232F-7B64-5135-C441-94B58493E5C8}"/>
              </a:ext>
            </a:extLst>
          </p:cNvPr>
          <p:cNvSpPr>
            <a:spLocks noGrp="1"/>
          </p:cNvSpPr>
          <p:nvPr>
            <p:ph type="title"/>
          </p:nvPr>
        </p:nvSpPr>
        <p:spPr/>
        <p:txBody>
          <a:bodyPr/>
          <a:lstStyle/>
          <a:p>
            <a:r>
              <a:rPr lang="en-US" dirty="0"/>
              <a:t>Graph-based Data Model</a:t>
            </a:r>
          </a:p>
        </p:txBody>
      </p:sp>
      <p:sp>
        <p:nvSpPr>
          <p:cNvPr id="3" name="Content Placeholder 2">
            <a:extLst>
              <a:ext uri="{FF2B5EF4-FFF2-40B4-BE49-F238E27FC236}">
                <a16:creationId xmlns:a16="http://schemas.microsoft.com/office/drawing/2014/main" id="{0B872095-CAF5-B652-9FAC-FC0BD1A8050B}"/>
              </a:ext>
            </a:extLst>
          </p:cNvPr>
          <p:cNvSpPr>
            <a:spLocks noGrp="1"/>
          </p:cNvSpPr>
          <p:nvPr>
            <p:ph idx="1"/>
          </p:nvPr>
        </p:nvSpPr>
        <p:spPr/>
        <p:txBody>
          <a:bodyPr/>
          <a:lstStyle/>
          <a:p>
            <a:r>
              <a:rPr lang="en-US" dirty="0"/>
              <a:t>core structure of the abstract syntax is a set of triples {subject, predicate, object} </a:t>
            </a:r>
          </a:p>
          <a:p>
            <a:r>
              <a:rPr lang="en-US" dirty="0"/>
              <a:t>a set of such triples is called an RDF graph, visualized as a node and directed-arc diagram, in which each triple is represented as node-arc-node link</a:t>
            </a:r>
          </a:p>
          <a:p>
            <a:br>
              <a:rPr lang="en-US" dirty="0"/>
            </a:br>
            <a:endParaRPr lang="en-US" dirty="0"/>
          </a:p>
        </p:txBody>
      </p:sp>
      <p:sp>
        <p:nvSpPr>
          <p:cNvPr id="4" name="Slide Number Placeholder 3">
            <a:extLst>
              <a:ext uri="{FF2B5EF4-FFF2-40B4-BE49-F238E27FC236}">
                <a16:creationId xmlns:a16="http://schemas.microsoft.com/office/drawing/2014/main" id="{A7C15D41-8A0E-F781-7BAD-4A4D80608923}"/>
              </a:ext>
            </a:extLst>
          </p:cNvPr>
          <p:cNvSpPr>
            <a:spLocks noGrp="1"/>
          </p:cNvSpPr>
          <p:nvPr>
            <p:ph type="sldNum" sz="quarter" idx="12"/>
          </p:nvPr>
        </p:nvSpPr>
        <p:spPr/>
        <p:txBody>
          <a:bodyPr/>
          <a:lstStyle/>
          <a:p>
            <a:fld id="{6264BDCF-5269-49AC-A246-ED26C2B980E3}" type="slidenum">
              <a:rPr lang="en-US" smtClean="0"/>
              <a:t>40</a:t>
            </a:fld>
            <a:endParaRPr lang="en-US"/>
          </a:p>
        </p:txBody>
      </p:sp>
      <p:pic>
        <p:nvPicPr>
          <p:cNvPr id="6" name="Picture 5">
            <a:extLst>
              <a:ext uri="{FF2B5EF4-FFF2-40B4-BE49-F238E27FC236}">
                <a16:creationId xmlns:a16="http://schemas.microsoft.com/office/drawing/2014/main" id="{97942732-C410-B71C-D43B-A0A1B7A076F1}"/>
              </a:ext>
            </a:extLst>
          </p:cNvPr>
          <p:cNvPicPr>
            <a:picLocks noChangeAspect="1"/>
          </p:cNvPicPr>
          <p:nvPr/>
        </p:nvPicPr>
        <p:blipFill>
          <a:blip r:embed="rId2"/>
          <a:stretch>
            <a:fillRect/>
          </a:stretch>
        </p:blipFill>
        <p:spPr>
          <a:xfrm>
            <a:off x="3017520" y="4023360"/>
            <a:ext cx="8252260" cy="1385132"/>
          </a:xfrm>
          <a:prstGeom prst="rect">
            <a:avLst/>
          </a:prstGeom>
        </p:spPr>
      </p:pic>
    </p:spTree>
    <p:extLst>
      <p:ext uri="{BB962C8B-B14F-4D97-AF65-F5344CB8AC3E}">
        <p14:creationId xmlns:p14="http://schemas.microsoft.com/office/powerpoint/2010/main" val="37650029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28A1E-2D8B-8FAA-5C2D-B3032A9F7D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37B068-FAE7-C742-4AB2-2B45C9DE57F3}"/>
              </a:ext>
            </a:extLst>
          </p:cNvPr>
          <p:cNvSpPr>
            <a:spLocks noGrp="1"/>
          </p:cNvSpPr>
          <p:nvPr>
            <p:ph idx="1"/>
          </p:nvPr>
        </p:nvSpPr>
        <p:spPr>
          <a:xfrm>
            <a:off x="838199" y="1825625"/>
            <a:ext cx="11147323" cy="4351338"/>
          </a:xfrm>
        </p:spPr>
        <p:txBody>
          <a:bodyPr>
            <a:normAutofit/>
          </a:bodyPr>
          <a:lstStyle/>
          <a:p>
            <a:r>
              <a:rPr lang="en-US" dirty="0"/>
              <a:t>RDF representation has a very natural graph interpretation</a:t>
            </a:r>
          </a:p>
          <a:p>
            <a:r>
              <a:rPr lang="en-US" dirty="0"/>
              <a:t>entities and attribute values can be considered as nodes, and attribute names and relationships can be considered as edges between nodes</a:t>
            </a:r>
          </a:p>
          <a:p>
            <a:r>
              <a:rPr lang="en-US" dirty="0"/>
              <a:t>attribute/relationship name can be viewed as label of corresponding edge</a:t>
            </a:r>
          </a:p>
          <a:p>
            <a:r>
              <a:rPr lang="en-US" dirty="0"/>
              <a:t>objects are shown as ovals, attribute values in rectangles, and relationships as edges with associated labels identifying relationship</a:t>
            </a:r>
          </a:p>
        </p:txBody>
      </p:sp>
      <p:sp>
        <p:nvSpPr>
          <p:cNvPr id="4" name="Slide Number Placeholder 3">
            <a:extLst>
              <a:ext uri="{FF2B5EF4-FFF2-40B4-BE49-F238E27FC236}">
                <a16:creationId xmlns:a16="http://schemas.microsoft.com/office/drawing/2014/main" id="{F34EBD3D-FF7E-F497-B83F-C59813EB884F}"/>
              </a:ext>
            </a:extLst>
          </p:cNvPr>
          <p:cNvSpPr>
            <a:spLocks noGrp="1"/>
          </p:cNvSpPr>
          <p:nvPr>
            <p:ph type="sldNum" sz="quarter" idx="12"/>
          </p:nvPr>
        </p:nvSpPr>
        <p:spPr/>
        <p:txBody>
          <a:bodyPr/>
          <a:lstStyle/>
          <a:p>
            <a:fld id="{6264BDCF-5269-49AC-A246-ED26C2B980E3}" type="slidenum">
              <a:rPr lang="en-US" smtClean="0"/>
              <a:t>41</a:t>
            </a:fld>
            <a:endParaRPr lang="en-US"/>
          </a:p>
        </p:txBody>
      </p:sp>
    </p:spTree>
    <p:extLst>
      <p:ext uri="{BB962C8B-B14F-4D97-AF65-F5344CB8AC3E}">
        <p14:creationId xmlns:p14="http://schemas.microsoft.com/office/powerpoint/2010/main" val="3589718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55113-177A-A284-B16C-A291B8B33E62}"/>
              </a:ext>
            </a:extLst>
          </p:cNvPr>
          <p:cNvSpPr>
            <a:spLocks noGrp="1"/>
          </p:cNvSpPr>
          <p:nvPr>
            <p:ph type="title"/>
          </p:nvPr>
        </p:nvSpPr>
        <p:spPr>
          <a:xfrm>
            <a:off x="838200" y="365125"/>
            <a:ext cx="11353800" cy="1325563"/>
          </a:xfrm>
        </p:spPr>
        <p:txBody>
          <a:bodyPr/>
          <a:lstStyle/>
          <a:p>
            <a:r>
              <a:rPr lang="en-US" dirty="0"/>
              <a:t>RDF representation of part of University database</a:t>
            </a:r>
          </a:p>
        </p:txBody>
      </p:sp>
      <p:pic>
        <p:nvPicPr>
          <p:cNvPr id="6" name="Content Placeholder 5">
            <a:extLst>
              <a:ext uri="{FF2B5EF4-FFF2-40B4-BE49-F238E27FC236}">
                <a16:creationId xmlns:a16="http://schemas.microsoft.com/office/drawing/2014/main" id="{272B3B8B-4453-D18C-956D-930B9C07B999}"/>
              </a:ext>
            </a:extLst>
          </p:cNvPr>
          <p:cNvPicPr>
            <a:picLocks noGrp="1" noChangeAspect="1"/>
          </p:cNvPicPr>
          <p:nvPr>
            <p:ph idx="1"/>
          </p:nvPr>
        </p:nvPicPr>
        <p:blipFill>
          <a:blip r:embed="rId2"/>
          <a:stretch>
            <a:fillRect/>
          </a:stretch>
        </p:blipFill>
        <p:spPr>
          <a:xfrm>
            <a:off x="2743200" y="1828800"/>
            <a:ext cx="6217920" cy="4772910"/>
          </a:xfrm>
          <a:prstGeom prst="rect">
            <a:avLst/>
          </a:prstGeom>
        </p:spPr>
      </p:pic>
      <p:sp>
        <p:nvSpPr>
          <p:cNvPr id="4" name="Slide Number Placeholder 3">
            <a:extLst>
              <a:ext uri="{FF2B5EF4-FFF2-40B4-BE49-F238E27FC236}">
                <a16:creationId xmlns:a16="http://schemas.microsoft.com/office/drawing/2014/main" id="{42A871ED-4F66-F85C-66CA-BC619DCD8C39}"/>
              </a:ext>
            </a:extLst>
          </p:cNvPr>
          <p:cNvSpPr>
            <a:spLocks noGrp="1"/>
          </p:cNvSpPr>
          <p:nvPr>
            <p:ph type="sldNum" sz="quarter" idx="12"/>
          </p:nvPr>
        </p:nvSpPr>
        <p:spPr/>
        <p:txBody>
          <a:bodyPr/>
          <a:lstStyle/>
          <a:p>
            <a:fld id="{6264BDCF-5269-49AC-A246-ED26C2B980E3}" type="slidenum">
              <a:rPr lang="en-US" smtClean="0"/>
              <a:t>42</a:t>
            </a:fld>
            <a:endParaRPr lang="en-US"/>
          </a:p>
        </p:txBody>
      </p:sp>
    </p:spTree>
    <p:extLst>
      <p:ext uri="{BB962C8B-B14F-4D97-AF65-F5344CB8AC3E}">
        <p14:creationId xmlns:p14="http://schemas.microsoft.com/office/powerpoint/2010/main" val="27826273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8F76F-FE6F-3971-A3FE-FCB333F60E1C}"/>
              </a:ext>
            </a:extLst>
          </p:cNvPr>
          <p:cNvSpPr>
            <a:spLocks noGrp="1"/>
          </p:cNvSpPr>
          <p:nvPr>
            <p:ph type="title"/>
          </p:nvPr>
        </p:nvSpPr>
        <p:spPr/>
        <p:txBody>
          <a:bodyPr/>
          <a:lstStyle/>
          <a:p>
            <a:r>
              <a:rPr lang="en-US" dirty="0"/>
              <a:t>Graph representation of RDF data</a:t>
            </a:r>
          </a:p>
        </p:txBody>
      </p:sp>
      <p:sp>
        <p:nvSpPr>
          <p:cNvPr id="3" name="Content Placeholder 2">
            <a:extLst>
              <a:ext uri="{FF2B5EF4-FFF2-40B4-BE49-F238E27FC236}">
                <a16:creationId xmlns:a16="http://schemas.microsoft.com/office/drawing/2014/main" id="{894C97CB-7100-2C12-1466-C1128F0FCCEA}"/>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A300535C-EB13-3345-34EA-380A04D85609}"/>
              </a:ext>
            </a:extLst>
          </p:cNvPr>
          <p:cNvSpPr>
            <a:spLocks noGrp="1"/>
          </p:cNvSpPr>
          <p:nvPr>
            <p:ph type="sldNum" sz="quarter" idx="12"/>
          </p:nvPr>
        </p:nvSpPr>
        <p:spPr/>
        <p:txBody>
          <a:bodyPr/>
          <a:lstStyle/>
          <a:p>
            <a:fld id="{6264BDCF-5269-49AC-A246-ED26C2B980E3}" type="slidenum">
              <a:rPr lang="en-US" smtClean="0"/>
              <a:t>43</a:t>
            </a:fld>
            <a:endParaRPr lang="en-US"/>
          </a:p>
        </p:txBody>
      </p:sp>
      <p:pic>
        <p:nvPicPr>
          <p:cNvPr id="6" name="Picture 5">
            <a:extLst>
              <a:ext uri="{FF2B5EF4-FFF2-40B4-BE49-F238E27FC236}">
                <a16:creationId xmlns:a16="http://schemas.microsoft.com/office/drawing/2014/main" id="{219DB955-A6FF-898F-A117-705A8CD76ECA}"/>
              </a:ext>
            </a:extLst>
          </p:cNvPr>
          <p:cNvPicPr>
            <a:picLocks noChangeAspect="1"/>
          </p:cNvPicPr>
          <p:nvPr/>
        </p:nvPicPr>
        <p:blipFill>
          <a:blip r:embed="rId2"/>
          <a:stretch>
            <a:fillRect/>
          </a:stretch>
        </p:blipFill>
        <p:spPr>
          <a:xfrm>
            <a:off x="2011680" y="2011680"/>
            <a:ext cx="7891143" cy="4288665"/>
          </a:xfrm>
          <a:prstGeom prst="rect">
            <a:avLst/>
          </a:prstGeom>
        </p:spPr>
      </p:pic>
    </p:spTree>
    <p:extLst>
      <p:ext uri="{BB962C8B-B14F-4D97-AF65-F5344CB8AC3E}">
        <p14:creationId xmlns:p14="http://schemas.microsoft.com/office/powerpoint/2010/main" val="15760237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0D29A-A699-7473-855C-A69B5D4B922E}"/>
              </a:ext>
            </a:extLst>
          </p:cNvPr>
          <p:cNvSpPr>
            <a:spLocks noGrp="1"/>
          </p:cNvSpPr>
          <p:nvPr>
            <p:ph type="title"/>
          </p:nvPr>
        </p:nvSpPr>
        <p:spPr/>
        <p:txBody>
          <a:bodyPr/>
          <a:lstStyle/>
          <a:p>
            <a:r>
              <a:rPr lang="en-US" b="1" dirty="0"/>
              <a:t>knowledge graph</a:t>
            </a:r>
          </a:p>
        </p:txBody>
      </p:sp>
      <p:sp>
        <p:nvSpPr>
          <p:cNvPr id="3" name="Content Placeholder 2">
            <a:extLst>
              <a:ext uri="{FF2B5EF4-FFF2-40B4-BE49-F238E27FC236}">
                <a16:creationId xmlns:a16="http://schemas.microsoft.com/office/drawing/2014/main" id="{1109A375-D9D1-6FA3-85D6-657C7CCC2AA9}"/>
              </a:ext>
            </a:extLst>
          </p:cNvPr>
          <p:cNvSpPr>
            <a:spLocks noGrp="1"/>
          </p:cNvSpPr>
          <p:nvPr>
            <p:ph idx="1"/>
          </p:nvPr>
        </p:nvSpPr>
        <p:spPr/>
        <p:txBody>
          <a:bodyPr>
            <a:noAutofit/>
          </a:bodyPr>
          <a:lstStyle/>
          <a:p>
            <a:r>
              <a:rPr lang="en-US" sz="2700" dirty="0"/>
              <a:t>representation of information using RDF graph model is referred to as a </a:t>
            </a:r>
            <a:r>
              <a:rPr lang="en-US" sz="2700" b="1" i="1" dirty="0"/>
              <a:t>knowledge graph</a:t>
            </a:r>
          </a:p>
          <a:p>
            <a:r>
              <a:rPr lang="en-US" sz="2700" dirty="0"/>
              <a:t>knowledge graphs are used for a variety of purposes, one such application is to store facts that are harvested from a variety of data sources</a:t>
            </a:r>
          </a:p>
          <a:p>
            <a:r>
              <a:rPr lang="en-US" sz="2700" dirty="0"/>
              <a:t>“Washington, D. C. is the capital of U. S. A.” - a fact can be represented as edge labeled capital-of connecting two nodes, one representing  entity Washington, D. C., and other representing entity U. S. A.</a:t>
            </a:r>
          </a:p>
          <a:p>
            <a:r>
              <a:rPr lang="en-US" sz="2700" dirty="0"/>
              <a:t>questions about entities can be answered using knowledge graph</a:t>
            </a:r>
          </a:p>
        </p:txBody>
      </p:sp>
      <p:sp>
        <p:nvSpPr>
          <p:cNvPr id="4" name="Slide Number Placeholder 3">
            <a:extLst>
              <a:ext uri="{FF2B5EF4-FFF2-40B4-BE49-F238E27FC236}">
                <a16:creationId xmlns:a16="http://schemas.microsoft.com/office/drawing/2014/main" id="{450ABD75-E815-EFCF-FEB1-4B2CA75CC810}"/>
              </a:ext>
            </a:extLst>
          </p:cNvPr>
          <p:cNvSpPr>
            <a:spLocks noGrp="1"/>
          </p:cNvSpPr>
          <p:nvPr>
            <p:ph type="sldNum" sz="quarter" idx="12"/>
          </p:nvPr>
        </p:nvSpPr>
        <p:spPr/>
        <p:txBody>
          <a:bodyPr/>
          <a:lstStyle/>
          <a:p>
            <a:fld id="{6264BDCF-5269-49AC-A246-ED26C2B980E3}" type="slidenum">
              <a:rPr lang="en-US" smtClean="0"/>
              <a:t>44</a:t>
            </a:fld>
            <a:endParaRPr lang="en-US"/>
          </a:p>
        </p:txBody>
      </p:sp>
    </p:spTree>
    <p:extLst>
      <p:ext uri="{BB962C8B-B14F-4D97-AF65-F5344CB8AC3E}">
        <p14:creationId xmlns:p14="http://schemas.microsoft.com/office/powerpoint/2010/main" val="4387351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1E318-117A-B10F-3FBB-652AB869A75A}"/>
              </a:ext>
            </a:extLst>
          </p:cNvPr>
          <p:cNvSpPr>
            <a:spLocks noGrp="1"/>
          </p:cNvSpPr>
          <p:nvPr>
            <p:ph type="title"/>
          </p:nvPr>
        </p:nvSpPr>
        <p:spPr/>
        <p:txBody>
          <a:bodyPr/>
          <a:lstStyle/>
          <a:p>
            <a:r>
              <a:rPr lang="en-US" b="1" dirty="0"/>
              <a:t>SPARQL</a:t>
            </a:r>
            <a:endParaRPr lang="en-US" dirty="0"/>
          </a:p>
        </p:txBody>
      </p:sp>
      <p:sp>
        <p:nvSpPr>
          <p:cNvPr id="3" name="Content Placeholder 2">
            <a:extLst>
              <a:ext uri="{FF2B5EF4-FFF2-40B4-BE49-F238E27FC236}">
                <a16:creationId xmlns:a16="http://schemas.microsoft.com/office/drawing/2014/main" id="{FF9E10CE-5309-EC71-DB05-673341CFCA2E}"/>
              </a:ext>
            </a:extLst>
          </p:cNvPr>
          <p:cNvSpPr>
            <a:spLocks noGrp="1"/>
          </p:cNvSpPr>
          <p:nvPr>
            <p:ph idx="1"/>
          </p:nvPr>
        </p:nvSpPr>
        <p:spPr>
          <a:xfrm>
            <a:off x="838200" y="1317523"/>
            <a:ext cx="10515600" cy="4859440"/>
          </a:xfrm>
        </p:spPr>
        <p:txBody>
          <a:bodyPr>
            <a:normAutofit/>
          </a:bodyPr>
          <a:lstStyle/>
          <a:p>
            <a:r>
              <a:rPr lang="en-US" dirty="0"/>
              <a:t>query language designed to query RDF data</a:t>
            </a:r>
          </a:p>
          <a:p>
            <a:r>
              <a:rPr lang="en-US" dirty="0"/>
              <a:t>language is based on triple patterns, which look like RDF triples but may contain variables</a:t>
            </a:r>
          </a:p>
          <a:p>
            <a:r>
              <a:rPr lang="en-US" dirty="0"/>
              <a:t>for example, the triple pattern:</a:t>
            </a:r>
          </a:p>
          <a:p>
            <a:r>
              <a:rPr lang="en-US" dirty="0"/>
              <a:t>? </a:t>
            </a:r>
            <a:r>
              <a:rPr lang="en-US" dirty="0" err="1"/>
              <a:t>course_id</a:t>
            </a:r>
            <a:r>
              <a:rPr lang="en-US" dirty="0"/>
              <a:t> </a:t>
            </a:r>
            <a:r>
              <a:rPr lang="en-US" i="1" dirty="0"/>
              <a:t>title </a:t>
            </a:r>
            <a:r>
              <a:rPr lang="en-US" dirty="0"/>
              <a:t>"Intro. to </a:t>
            </a:r>
            <a:r>
              <a:rPr lang="en-US" dirty="0" err="1"/>
              <a:t>DataBase</a:t>
            </a:r>
            <a:r>
              <a:rPr lang="en-US" dirty="0"/>
              <a:t> Systems"</a:t>
            </a:r>
          </a:p>
          <a:p>
            <a:r>
              <a:rPr lang="en-US" dirty="0"/>
              <a:t>would match all triples whose predicate is “title” and object is “Intro. to </a:t>
            </a:r>
            <a:r>
              <a:rPr lang="en-US" dirty="0" err="1"/>
              <a:t>DataBase</a:t>
            </a:r>
            <a:r>
              <a:rPr lang="en-US" dirty="0"/>
              <a:t> Systems” - here,? </a:t>
            </a:r>
            <a:r>
              <a:rPr lang="en-US" dirty="0" err="1"/>
              <a:t>Course_id</a:t>
            </a:r>
            <a:r>
              <a:rPr lang="en-US" dirty="0"/>
              <a:t> is a variable that can match any value</a:t>
            </a:r>
          </a:p>
          <a:p>
            <a:r>
              <a:rPr lang="en-US" dirty="0"/>
              <a:t>queries can have multiple triple patterns, with variables shared across triples</a:t>
            </a:r>
          </a:p>
        </p:txBody>
      </p:sp>
      <p:sp>
        <p:nvSpPr>
          <p:cNvPr id="4" name="Slide Number Placeholder 3">
            <a:extLst>
              <a:ext uri="{FF2B5EF4-FFF2-40B4-BE49-F238E27FC236}">
                <a16:creationId xmlns:a16="http://schemas.microsoft.com/office/drawing/2014/main" id="{C3BB1F91-FEE1-8816-9E88-FBB3874700A4}"/>
              </a:ext>
            </a:extLst>
          </p:cNvPr>
          <p:cNvSpPr>
            <a:spLocks noGrp="1"/>
          </p:cNvSpPr>
          <p:nvPr>
            <p:ph type="sldNum" sz="quarter" idx="12"/>
          </p:nvPr>
        </p:nvSpPr>
        <p:spPr/>
        <p:txBody>
          <a:bodyPr/>
          <a:lstStyle/>
          <a:p>
            <a:fld id="{6264BDCF-5269-49AC-A246-ED26C2B980E3}" type="slidenum">
              <a:rPr lang="en-US" smtClean="0"/>
              <a:t>45</a:t>
            </a:fld>
            <a:endParaRPr lang="en-US"/>
          </a:p>
        </p:txBody>
      </p:sp>
    </p:spTree>
    <p:extLst>
      <p:ext uri="{BB962C8B-B14F-4D97-AF65-F5344CB8AC3E}">
        <p14:creationId xmlns:p14="http://schemas.microsoft.com/office/powerpoint/2010/main" val="33451241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7FDE4-6816-46AE-670A-EAED112D576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96045F3-E258-6507-2921-3D8310E82709}"/>
              </a:ext>
            </a:extLst>
          </p:cNvPr>
          <p:cNvSpPr>
            <a:spLocks noGrp="1"/>
          </p:cNvSpPr>
          <p:nvPr>
            <p:ph idx="1"/>
          </p:nvPr>
        </p:nvSpPr>
        <p:spPr/>
        <p:txBody>
          <a:bodyPr>
            <a:normAutofit/>
          </a:bodyPr>
          <a:lstStyle/>
          <a:p>
            <a:r>
              <a:rPr lang="en-US" dirty="0"/>
              <a:t>knowledge graphs have been extended to store more complex relationships</a:t>
            </a:r>
          </a:p>
          <a:p>
            <a:r>
              <a:rPr lang="en-US" dirty="0"/>
              <a:t>knowledge graphs have been extended with temporal information to record the time period during which a fact is true</a:t>
            </a:r>
          </a:p>
          <a:p>
            <a:r>
              <a:rPr lang="en-US" dirty="0"/>
              <a:t>an </a:t>
            </a:r>
            <a:r>
              <a:rPr lang="en-US" i="1" dirty="0"/>
              <a:t>n</a:t>
            </a:r>
            <a:r>
              <a:rPr lang="en-US" dirty="0"/>
              <a:t>-</a:t>
            </a:r>
            <a:r>
              <a:rPr lang="en-US" dirty="0" err="1"/>
              <a:t>ary</a:t>
            </a:r>
            <a:r>
              <a:rPr lang="en-US" dirty="0"/>
              <a:t> relationship can be represented using binary relationships by creating an artificial entity corresponding to a tuple in </a:t>
            </a:r>
            <a:r>
              <a:rPr lang="en-US" i="1" dirty="0"/>
              <a:t>n</a:t>
            </a:r>
            <a:r>
              <a:rPr lang="en-US" dirty="0"/>
              <a:t>-</a:t>
            </a:r>
            <a:r>
              <a:rPr lang="en-US" dirty="0" err="1"/>
              <a:t>ary</a:t>
            </a:r>
            <a:r>
              <a:rPr lang="en-US" dirty="0"/>
              <a:t> relationship and linking that artificial entity to each of the entities participating in the relationship</a:t>
            </a:r>
          </a:p>
        </p:txBody>
      </p:sp>
      <p:sp>
        <p:nvSpPr>
          <p:cNvPr id="4" name="Slide Number Placeholder 3">
            <a:extLst>
              <a:ext uri="{FF2B5EF4-FFF2-40B4-BE49-F238E27FC236}">
                <a16:creationId xmlns:a16="http://schemas.microsoft.com/office/drawing/2014/main" id="{61416A3B-0A31-0078-8781-95FEE1ED798A}"/>
              </a:ext>
            </a:extLst>
          </p:cNvPr>
          <p:cNvSpPr>
            <a:spLocks noGrp="1"/>
          </p:cNvSpPr>
          <p:nvPr>
            <p:ph type="sldNum" sz="quarter" idx="12"/>
          </p:nvPr>
        </p:nvSpPr>
        <p:spPr/>
        <p:txBody>
          <a:bodyPr/>
          <a:lstStyle/>
          <a:p>
            <a:fld id="{6264BDCF-5269-49AC-A246-ED26C2B980E3}" type="slidenum">
              <a:rPr lang="en-US" smtClean="0"/>
              <a:t>46</a:t>
            </a:fld>
            <a:endParaRPr lang="en-US"/>
          </a:p>
        </p:txBody>
      </p:sp>
    </p:spTree>
    <p:extLst>
      <p:ext uri="{BB962C8B-B14F-4D97-AF65-F5344CB8AC3E}">
        <p14:creationId xmlns:p14="http://schemas.microsoft.com/office/powerpoint/2010/main" val="38134696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EA034-FF6B-7D41-EABC-320519B4CE7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BFE590-E24F-5689-F30E-E28D2DA7E821}"/>
              </a:ext>
            </a:extLst>
          </p:cNvPr>
          <p:cNvSpPr>
            <a:spLocks noGrp="1"/>
          </p:cNvSpPr>
          <p:nvPr>
            <p:ph idx="1"/>
          </p:nvPr>
        </p:nvSpPr>
        <p:spPr/>
        <p:txBody>
          <a:bodyPr>
            <a:normAutofit/>
          </a:bodyPr>
          <a:lstStyle/>
          <a:p>
            <a:r>
              <a:rPr lang="en-US" dirty="0"/>
              <a:t>there are several knowledge bases, such as </a:t>
            </a:r>
          </a:p>
          <a:p>
            <a:r>
              <a:rPr lang="en-US" dirty="0" err="1">
                <a:hlinkClick r:id="rId2"/>
              </a:rPr>
              <a:t>Wikidata</a:t>
            </a:r>
            <a:r>
              <a:rPr lang="en-US" dirty="0"/>
              <a:t> </a:t>
            </a:r>
            <a:r>
              <a:rPr lang="en-US" dirty="0">
                <a:hlinkClick r:id="rId2"/>
              </a:rPr>
              <a:t>https://www.wikidata.org/wiki/Wikidata:Main_Page</a:t>
            </a:r>
            <a:endParaRPr lang="en-US" dirty="0"/>
          </a:p>
          <a:p>
            <a:r>
              <a:rPr lang="en-US" dirty="0" err="1">
                <a:hlinkClick r:id="rId3"/>
              </a:rPr>
              <a:t>DBpedia</a:t>
            </a:r>
            <a:r>
              <a:rPr lang="en-US" dirty="0"/>
              <a:t> </a:t>
            </a:r>
            <a:r>
              <a:rPr lang="en-US" dirty="0">
                <a:hlinkClick r:id="rId3"/>
              </a:rPr>
              <a:t>https://www.dbpedia.org/</a:t>
            </a:r>
            <a:endParaRPr lang="en-US" dirty="0"/>
          </a:p>
          <a:p>
            <a:r>
              <a:rPr lang="en-US" dirty="0">
                <a:hlinkClick r:id="rId4"/>
              </a:rPr>
              <a:t>Yago Yet Another Great Ontology</a:t>
            </a:r>
            <a:r>
              <a:rPr lang="en-US" dirty="0"/>
              <a:t> </a:t>
            </a:r>
            <a:r>
              <a:rPr lang="en-US" dirty="0">
                <a:hlinkClick r:id="rId4"/>
              </a:rPr>
              <a:t>https://yago-knowledge.org/</a:t>
            </a:r>
            <a:endParaRPr lang="en-US" dirty="0"/>
          </a:p>
          <a:p>
            <a:r>
              <a:rPr lang="en-US" dirty="0"/>
              <a:t>that provide an RDF/knowledge graph representation of a wide variety of knowledge</a:t>
            </a:r>
          </a:p>
          <a:p>
            <a:r>
              <a:rPr lang="en-US" dirty="0"/>
              <a:t>in addition, there are a very large number of domain specific knowledge graphs</a:t>
            </a:r>
          </a:p>
        </p:txBody>
      </p:sp>
      <p:sp>
        <p:nvSpPr>
          <p:cNvPr id="4" name="Slide Number Placeholder 3">
            <a:extLst>
              <a:ext uri="{FF2B5EF4-FFF2-40B4-BE49-F238E27FC236}">
                <a16:creationId xmlns:a16="http://schemas.microsoft.com/office/drawing/2014/main" id="{5CEA6013-564A-C299-6932-1EFBD0E9F531}"/>
              </a:ext>
            </a:extLst>
          </p:cNvPr>
          <p:cNvSpPr>
            <a:spLocks noGrp="1"/>
          </p:cNvSpPr>
          <p:nvPr>
            <p:ph type="sldNum" sz="quarter" idx="12"/>
          </p:nvPr>
        </p:nvSpPr>
        <p:spPr/>
        <p:txBody>
          <a:bodyPr/>
          <a:lstStyle/>
          <a:p>
            <a:fld id="{6264BDCF-5269-49AC-A246-ED26C2B980E3}" type="slidenum">
              <a:rPr lang="en-US" smtClean="0"/>
              <a:t>47</a:t>
            </a:fld>
            <a:endParaRPr lang="en-US"/>
          </a:p>
        </p:txBody>
      </p:sp>
    </p:spTree>
    <p:extLst>
      <p:ext uri="{BB962C8B-B14F-4D97-AF65-F5344CB8AC3E}">
        <p14:creationId xmlns:p14="http://schemas.microsoft.com/office/powerpoint/2010/main" val="24524101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C8E2A-49BF-627F-A950-A6AA256FB5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E64D77B-F778-4B72-6A6F-388269E6814A}"/>
              </a:ext>
            </a:extLst>
          </p:cNvPr>
          <p:cNvSpPr>
            <a:spLocks noGrp="1"/>
          </p:cNvSpPr>
          <p:nvPr>
            <p:ph idx="1"/>
          </p:nvPr>
        </p:nvSpPr>
        <p:spPr/>
        <p:txBody>
          <a:bodyPr>
            <a:normAutofit/>
          </a:bodyPr>
          <a:lstStyle/>
          <a:p>
            <a:r>
              <a:rPr lang="en-US" dirty="0"/>
              <a:t>the </a:t>
            </a:r>
            <a:r>
              <a:rPr lang="en-US" dirty="0">
                <a:hlinkClick r:id="rId2"/>
              </a:rPr>
              <a:t>Linked Open Data Cloud</a:t>
            </a:r>
            <a:r>
              <a:rPr lang="en-US" dirty="0"/>
              <a:t> </a:t>
            </a:r>
            <a:r>
              <a:rPr lang="en-US" dirty="0">
                <a:hlinkClick r:id="rId2"/>
              </a:rPr>
              <a:t>https://lod-cloud.net/</a:t>
            </a:r>
            <a:endParaRPr lang="en-US" dirty="0"/>
          </a:p>
          <a:p>
            <a:r>
              <a:rPr lang="en-US" dirty="0"/>
              <a:t>project is aimed at making a variety of such knowledge graphs open source and further creating links between these independently created knowledge graphs</a:t>
            </a:r>
          </a:p>
          <a:p>
            <a:r>
              <a:rPr lang="en-US" dirty="0"/>
              <a:t>such links allow queries to make inferences using information from multiple knowledge graphs </a:t>
            </a:r>
          </a:p>
        </p:txBody>
      </p:sp>
      <p:sp>
        <p:nvSpPr>
          <p:cNvPr id="4" name="Slide Number Placeholder 3">
            <a:extLst>
              <a:ext uri="{FF2B5EF4-FFF2-40B4-BE49-F238E27FC236}">
                <a16:creationId xmlns:a16="http://schemas.microsoft.com/office/drawing/2014/main" id="{131CE998-AB46-390D-4FEE-009EF874FD7E}"/>
              </a:ext>
            </a:extLst>
          </p:cNvPr>
          <p:cNvSpPr>
            <a:spLocks noGrp="1"/>
          </p:cNvSpPr>
          <p:nvPr>
            <p:ph type="sldNum" sz="quarter" idx="12"/>
          </p:nvPr>
        </p:nvSpPr>
        <p:spPr/>
        <p:txBody>
          <a:bodyPr/>
          <a:lstStyle/>
          <a:p>
            <a:fld id="{6264BDCF-5269-49AC-A246-ED26C2B980E3}" type="slidenum">
              <a:rPr lang="en-US" smtClean="0"/>
              <a:t>48</a:t>
            </a:fld>
            <a:endParaRPr lang="en-US"/>
          </a:p>
        </p:txBody>
      </p:sp>
    </p:spTree>
    <p:extLst>
      <p:ext uri="{BB962C8B-B14F-4D97-AF65-F5344CB8AC3E}">
        <p14:creationId xmlns:p14="http://schemas.microsoft.com/office/powerpoint/2010/main" val="10787474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E1074B9-4719-810B-8FEC-9B54B28713A2}"/>
              </a:ext>
            </a:extLst>
          </p:cNvPr>
          <p:cNvSpPr>
            <a:spLocks noGrp="1"/>
          </p:cNvSpPr>
          <p:nvPr>
            <p:ph type="title"/>
          </p:nvPr>
        </p:nvSpPr>
        <p:spPr/>
        <p:txBody>
          <a:bodyPr/>
          <a:lstStyle/>
          <a:p>
            <a:r>
              <a:rPr lang="en-US" dirty="0"/>
              <a:t>Object-Relational Data Model</a:t>
            </a:r>
          </a:p>
        </p:txBody>
      </p:sp>
      <p:sp>
        <p:nvSpPr>
          <p:cNvPr id="6" name="Text Placeholder 5">
            <a:extLst>
              <a:ext uri="{FF2B5EF4-FFF2-40B4-BE49-F238E27FC236}">
                <a16:creationId xmlns:a16="http://schemas.microsoft.com/office/drawing/2014/main" id="{003D7B39-E0DB-D1DE-59C4-49A7ED9EAC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1E754F4-C8A4-375C-C48A-580BC1E39A43}"/>
              </a:ext>
            </a:extLst>
          </p:cNvPr>
          <p:cNvSpPr>
            <a:spLocks noGrp="1"/>
          </p:cNvSpPr>
          <p:nvPr>
            <p:ph type="sldNum" sz="quarter" idx="12"/>
          </p:nvPr>
        </p:nvSpPr>
        <p:spPr/>
        <p:txBody>
          <a:bodyPr/>
          <a:lstStyle/>
          <a:p>
            <a:fld id="{6264BDCF-5269-49AC-A246-ED26C2B980E3}" type="slidenum">
              <a:rPr lang="en-US" smtClean="0"/>
              <a:t>49</a:t>
            </a:fld>
            <a:endParaRPr lang="en-US"/>
          </a:p>
        </p:txBody>
      </p:sp>
    </p:spTree>
    <p:extLst>
      <p:ext uri="{BB962C8B-B14F-4D97-AF65-F5344CB8AC3E}">
        <p14:creationId xmlns:p14="http://schemas.microsoft.com/office/powerpoint/2010/main" val="33698485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47FD8-5A16-D648-89CA-6BB39B207019}"/>
              </a:ext>
            </a:extLst>
          </p:cNvPr>
          <p:cNvSpPr>
            <a:spLocks noGrp="1"/>
          </p:cNvSpPr>
          <p:nvPr>
            <p:ph type="title"/>
          </p:nvPr>
        </p:nvSpPr>
        <p:spPr/>
        <p:txBody>
          <a:bodyPr/>
          <a:lstStyle/>
          <a:p>
            <a:r>
              <a:rPr lang="en-US" b="1" dirty="0"/>
              <a:t>Object-Relational Data Model</a:t>
            </a:r>
            <a:endParaRPr lang="en-US" dirty="0"/>
          </a:p>
        </p:txBody>
      </p:sp>
      <p:sp>
        <p:nvSpPr>
          <p:cNvPr id="3" name="Content Placeholder 2">
            <a:extLst>
              <a:ext uri="{FF2B5EF4-FFF2-40B4-BE49-F238E27FC236}">
                <a16:creationId xmlns:a16="http://schemas.microsoft.com/office/drawing/2014/main" id="{30F53842-E37F-DACD-1366-103510BF9B1F}"/>
              </a:ext>
            </a:extLst>
          </p:cNvPr>
          <p:cNvSpPr>
            <a:spLocks noGrp="1"/>
          </p:cNvSpPr>
          <p:nvPr>
            <p:ph idx="1"/>
          </p:nvPr>
        </p:nvSpPr>
        <p:spPr/>
        <p:txBody>
          <a:bodyPr>
            <a:normAutofit/>
          </a:bodyPr>
          <a:lstStyle/>
          <a:p>
            <a:r>
              <a:rPr lang="en-US" dirty="0"/>
              <a:t>extends the relational data model by providing a richer type system, including complex data types and object orientation</a:t>
            </a:r>
          </a:p>
          <a:p>
            <a:r>
              <a:rPr lang="en-US" dirty="0"/>
              <a:t>relational query languages, in particular SQL, have been extended correspondingly to deal with </a:t>
            </a:r>
          </a:p>
          <a:p>
            <a:r>
              <a:rPr lang="en-US" dirty="0"/>
              <a:t>extensions attempt to preserve the relational foundations while extending modeling power</a:t>
            </a:r>
          </a:p>
        </p:txBody>
      </p:sp>
      <p:sp>
        <p:nvSpPr>
          <p:cNvPr id="4" name="Slide Number Placeholder 3">
            <a:extLst>
              <a:ext uri="{FF2B5EF4-FFF2-40B4-BE49-F238E27FC236}">
                <a16:creationId xmlns:a16="http://schemas.microsoft.com/office/drawing/2014/main" id="{2151E195-54F1-26A6-A493-79DD42D2D95C}"/>
              </a:ext>
            </a:extLst>
          </p:cNvPr>
          <p:cNvSpPr>
            <a:spLocks noGrp="1"/>
          </p:cNvSpPr>
          <p:nvPr>
            <p:ph type="sldNum" sz="quarter" idx="12"/>
          </p:nvPr>
        </p:nvSpPr>
        <p:spPr/>
        <p:txBody>
          <a:bodyPr/>
          <a:lstStyle/>
          <a:p>
            <a:fld id="{6264BDCF-5269-49AC-A246-ED26C2B980E3}" type="slidenum">
              <a:rPr lang="en-US" smtClean="0"/>
              <a:t>50</a:t>
            </a:fld>
            <a:endParaRPr lang="en-US"/>
          </a:p>
        </p:txBody>
      </p:sp>
    </p:spTree>
    <p:extLst>
      <p:ext uri="{BB962C8B-B14F-4D97-AF65-F5344CB8AC3E}">
        <p14:creationId xmlns:p14="http://schemas.microsoft.com/office/powerpoint/2010/main" val="17742216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0DC47-2827-F328-0983-1F517B6301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87C9E76-E728-DD9D-8E32-9AECB108A7FA}"/>
              </a:ext>
            </a:extLst>
          </p:cNvPr>
          <p:cNvSpPr>
            <a:spLocks noGrp="1"/>
          </p:cNvSpPr>
          <p:nvPr>
            <p:ph idx="1"/>
          </p:nvPr>
        </p:nvSpPr>
        <p:spPr/>
        <p:txBody>
          <a:bodyPr>
            <a:normAutofit/>
          </a:bodyPr>
          <a:lstStyle/>
          <a:p>
            <a:r>
              <a:rPr lang="en-US" dirty="0"/>
              <a:t>native type system of the object oriented programming language </a:t>
            </a:r>
          </a:p>
          <a:p>
            <a:r>
              <a:rPr lang="en-US" dirty="0"/>
              <a:t>relational model supported by databases</a:t>
            </a:r>
          </a:p>
          <a:p>
            <a:r>
              <a:rPr lang="en-US" dirty="0"/>
              <a:t>data need to be translated between the two models </a:t>
            </a:r>
          </a:p>
          <a:p>
            <a:r>
              <a:rPr lang="en-US" dirty="0"/>
              <a:t>to express database access using a language (SQL) that is different from  programming language again makes the job harder</a:t>
            </a:r>
          </a:p>
          <a:p>
            <a:r>
              <a:rPr lang="en-US" dirty="0"/>
              <a:t>desirable to have programming language constructs or extensions that permit direct access to data in the database, without having to go through an intermediate language such as SQL</a:t>
            </a:r>
          </a:p>
        </p:txBody>
      </p:sp>
      <p:sp>
        <p:nvSpPr>
          <p:cNvPr id="4" name="Slide Number Placeholder 3">
            <a:extLst>
              <a:ext uri="{FF2B5EF4-FFF2-40B4-BE49-F238E27FC236}">
                <a16:creationId xmlns:a16="http://schemas.microsoft.com/office/drawing/2014/main" id="{A466577D-0EE8-4EB4-7C99-33BADBFE188C}"/>
              </a:ext>
            </a:extLst>
          </p:cNvPr>
          <p:cNvSpPr>
            <a:spLocks noGrp="1"/>
          </p:cNvSpPr>
          <p:nvPr>
            <p:ph type="sldNum" sz="quarter" idx="12"/>
          </p:nvPr>
        </p:nvSpPr>
        <p:spPr/>
        <p:txBody>
          <a:bodyPr/>
          <a:lstStyle/>
          <a:p>
            <a:fld id="{6264BDCF-5269-49AC-A246-ED26C2B980E3}" type="slidenum">
              <a:rPr lang="en-US" smtClean="0"/>
              <a:t>51</a:t>
            </a:fld>
            <a:endParaRPr lang="en-US"/>
          </a:p>
        </p:txBody>
      </p:sp>
    </p:spTree>
    <p:extLst>
      <p:ext uri="{BB962C8B-B14F-4D97-AF65-F5344CB8AC3E}">
        <p14:creationId xmlns:p14="http://schemas.microsoft.com/office/powerpoint/2010/main" val="40163705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57832-A554-51DC-6245-E789FA953F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3CD2873-9C3F-100F-5D63-C6830B654989}"/>
              </a:ext>
            </a:extLst>
          </p:cNvPr>
          <p:cNvSpPr>
            <a:spLocks noGrp="1"/>
          </p:cNvSpPr>
          <p:nvPr>
            <p:ph idx="1"/>
          </p:nvPr>
        </p:nvSpPr>
        <p:spPr/>
        <p:txBody>
          <a:bodyPr>
            <a:normAutofit/>
          </a:bodyPr>
          <a:lstStyle/>
          <a:p>
            <a:pPr marL="514350" indent="-514350">
              <a:buFont typeface="+mj-lt"/>
              <a:buAutoNum type="arabicPeriod"/>
            </a:pPr>
            <a:r>
              <a:rPr lang="en-US" dirty="0"/>
              <a:t>build an </a:t>
            </a:r>
            <a:r>
              <a:rPr lang="en-US" b="1" dirty="0"/>
              <a:t>object-relational database system</a:t>
            </a:r>
            <a:r>
              <a:rPr lang="en-US" dirty="0"/>
              <a:t>, which adds object oriented features to relational database system</a:t>
            </a:r>
          </a:p>
          <a:p>
            <a:pPr marL="514350" indent="-514350">
              <a:buFont typeface="+mj-lt"/>
              <a:buAutoNum type="arabicPeriod"/>
            </a:pPr>
            <a:r>
              <a:rPr lang="en-US" dirty="0"/>
              <a:t>convert data from native object-oriented type system of programming language to a relational representation for storage, and vice versa for retrieval; data conversion is specified using </a:t>
            </a:r>
            <a:r>
              <a:rPr lang="en-US" b="1" dirty="0"/>
              <a:t>Object-Relational Mapping</a:t>
            </a:r>
            <a:endParaRPr lang="en-US" dirty="0"/>
          </a:p>
          <a:p>
            <a:pPr marL="514350" indent="-514350">
              <a:buFont typeface="+mj-lt"/>
              <a:buAutoNum type="arabicPeriod"/>
            </a:pPr>
            <a:r>
              <a:rPr lang="en-US" dirty="0"/>
              <a:t>build an </a:t>
            </a:r>
            <a:r>
              <a:rPr lang="en-US" b="1" dirty="0"/>
              <a:t>object-oriented database system</a:t>
            </a:r>
            <a:r>
              <a:rPr lang="en-US" dirty="0"/>
              <a:t>, that is, a database system that natively supports object-oriented type system and allows direct access to data from Object-Oriented Programming language using the native type system of the language</a:t>
            </a:r>
          </a:p>
        </p:txBody>
      </p:sp>
      <p:sp>
        <p:nvSpPr>
          <p:cNvPr id="4" name="Slide Number Placeholder 3">
            <a:extLst>
              <a:ext uri="{FF2B5EF4-FFF2-40B4-BE49-F238E27FC236}">
                <a16:creationId xmlns:a16="http://schemas.microsoft.com/office/drawing/2014/main" id="{5F89127C-13B9-57CD-A9E5-922406BFC7C3}"/>
              </a:ext>
            </a:extLst>
          </p:cNvPr>
          <p:cNvSpPr>
            <a:spLocks noGrp="1"/>
          </p:cNvSpPr>
          <p:nvPr>
            <p:ph type="sldNum" sz="quarter" idx="12"/>
          </p:nvPr>
        </p:nvSpPr>
        <p:spPr/>
        <p:txBody>
          <a:bodyPr/>
          <a:lstStyle/>
          <a:p>
            <a:fld id="{6264BDCF-5269-49AC-A246-ED26C2B980E3}" type="slidenum">
              <a:rPr lang="en-US" smtClean="0"/>
              <a:t>52</a:t>
            </a:fld>
            <a:endParaRPr lang="en-US"/>
          </a:p>
        </p:txBody>
      </p:sp>
    </p:spTree>
    <p:extLst>
      <p:ext uri="{BB962C8B-B14F-4D97-AF65-F5344CB8AC3E}">
        <p14:creationId xmlns:p14="http://schemas.microsoft.com/office/powerpoint/2010/main" val="35707937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215F8-FE06-FC57-3BE2-A5B92D1C4D6B}"/>
              </a:ext>
            </a:extLst>
          </p:cNvPr>
          <p:cNvSpPr>
            <a:spLocks noGrp="1"/>
          </p:cNvSpPr>
          <p:nvPr>
            <p:ph type="title"/>
          </p:nvPr>
        </p:nvSpPr>
        <p:spPr/>
        <p:txBody>
          <a:bodyPr/>
          <a:lstStyle/>
          <a:p>
            <a:r>
              <a:rPr lang="en-US" b="1" dirty="0"/>
              <a:t>Object-Relational Database Systems</a:t>
            </a:r>
          </a:p>
        </p:txBody>
      </p:sp>
      <p:sp>
        <p:nvSpPr>
          <p:cNvPr id="3" name="Content Placeholder 2">
            <a:extLst>
              <a:ext uri="{FF2B5EF4-FFF2-40B4-BE49-F238E27FC236}">
                <a16:creationId xmlns:a16="http://schemas.microsoft.com/office/drawing/2014/main" id="{3E2545CA-0824-9DB5-B641-494F4DA17854}"/>
              </a:ext>
            </a:extLst>
          </p:cNvPr>
          <p:cNvSpPr>
            <a:spLocks noGrp="1"/>
          </p:cNvSpPr>
          <p:nvPr>
            <p:ph idx="1"/>
          </p:nvPr>
        </p:nvSpPr>
        <p:spPr/>
        <p:txBody>
          <a:bodyPr>
            <a:normAutofit/>
          </a:bodyPr>
          <a:lstStyle/>
          <a:p>
            <a:r>
              <a:rPr lang="en-US" dirty="0"/>
              <a:t>object-oriented features can be added to relational database systems</a:t>
            </a:r>
          </a:p>
          <a:p>
            <a:pPr lvl="1"/>
            <a:r>
              <a:rPr lang="en-US" sz="2800" dirty="0"/>
              <a:t>User-Defined Types</a:t>
            </a:r>
          </a:p>
          <a:p>
            <a:pPr lvl="1"/>
            <a:r>
              <a:rPr lang="en-US" sz="2800" dirty="0"/>
              <a:t>Type Inheritance</a:t>
            </a:r>
          </a:p>
          <a:p>
            <a:pPr lvl="1"/>
            <a:endParaRPr lang="en-US" sz="2800" dirty="0"/>
          </a:p>
        </p:txBody>
      </p:sp>
      <p:sp>
        <p:nvSpPr>
          <p:cNvPr id="4" name="Slide Number Placeholder 3">
            <a:extLst>
              <a:ext uri="{FF2B5EF4-FFF2-40B4-BE49-F238E27FC236}">
                <a16:creationId xmlns:a16="http://schemas.microsoft.com/office/drawing/2014/main" id="{D9299ACC-B1F1-A743-A57A-9B9D4255FA9D}"/>
              </a:ext>
            </a:extLst>
          </p:cNvPr>
          <p:cNvSpPr>
            <a:spLocks noGrp="1"/>
          </p:cNvSpPr>
          <p:nvPr>
            <p:ph type="sldNum" sz="quarter" idx="12"/>
          </p:nvPr>
        </p:nvSpPr>
        <p:spPr/>
        <p:txBody>
          <a:bodyPr/>
          <a:lstStyle/>
          <a:p>
            <a:fld id="{6264BDCF-5269-49AC-A246-ED26C2B980E3}" type="slidenum">
              <a:rPr lang="en-US" smtClean="0"/>
              <a:t>53</a:t>
            </a:fld>
            <a:endParaRPr lang="en-US"/>
          </a:p>
        </p:txBody>
      </p:sp>
    </p:spTree>
    <p:extLst>
      <p:ext uri="{BB962C8B-B14F-4D97-AF65-F5344CB8AC3E}">
        <p14:creationId xmlns:p14="http://schemas.microsoft.com/office/powerpoint/2010/main" val="28147417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1E3C3-43C2-F6CB-7768-BD708F9A4835}"/>
              </a:ext>
            </a:extLst>
          </p:cNvPr>
          <p:cNvSpPr>
            <a:spLocks noGrp="1"/>
          </p:cNvSpPr>
          <p:nvPr>
            <p:ph type="title"/>
          </p:nvPr>
        </p:nvSpPr>
        <p:spPr/>
        <p:txBody>
          <a:bodyPr/>
          <a:lstStyle/>
          <a:p>
            <a:r>
              <a:rPr lang="en-US" dirty="0"/>
              <a:t>User-Defined Types</a:t>
            </a:r>
          </a:p>
        </p:txBody>
      </p:sp>
      <p:sp>
        <p:nvSpPr>
          <p:cNvPr id="3" name="Content Placeholder 2">
            <a:extLst>
              <a:ext uri="{FF2B5EF4-FFF2-40B4-BE49-F238E27FC236}">
                <a16:creationId xmlns:a16="http://schemas.microsoft.com/office/drawing/2014/main" id="{18694C66-49C7-526C-5796-A0811D9F7BA3}"/>
              </a:ext>
            </a:extLst>
          </p:cNvPr>
          <p:cNvSpPr>
            <a:spLocks noGrp="1"/>
          </p:cNvSpPr>
          <p:nvPr>
            <p:ph idx="1"/>
          </p:nvPr>
        </p:nvSpPr>
        <p:spPr/>
        <p:txBody>
          <a:bodyPr>
            <a:normAutofit/>
          </a:bodyPr>
          <a:lstStyle/>
          <a:p>
            <a:r>
              <a:rPr lang="en-US" dirty="0"/>
              <a:t>object extensions to SQL allow creation of structured user-defined types, references to such types, and tables containing tuples of such types</a:t>
            </a:r>
          </a:p>
          <a:p>
            <a:r>
              <a:rPr lang="en-US" dirty="0"/>
              <a:t>user-defined types can also have methods associated with them</a:t>
            </a:r>
          </a:p>
          <a:p>
            <a:endParaRPr lang="en-US" b="1" dirty="0"/>
          </a:p>
          <a:p>
            <a:r>
              <a:rPr lang="en-US" b="1" dirty="0"/>
              <a:t>create type </a:t>
            </a:r>
            <a:r>
              <a:rPr lang="en-US" i="1" dirty="0"/>
              <a:t>Person</a:t>
            </a:r>
          </a:p>
          <a:p>
            <a:r>
              <a:rPr lang="en-US" dirty="0"/>
              <a:t> 	(</a:t>
            </a:r>
            <a:r>
              <a:rPr lang="en-US" i="1" dirty="0"/>
              <a:t>ID </a:t>
            </a:r>
            <a:r>
              <a:rPr lang="en-US" b="1" dirty="0"/>
              <a:t>varchar</a:t>
            </a:r>
            <a:r>
              <a:rPr lang="en-US" dirty="0"/>
              <a:t>(20) </a:t>
            </a:r>
            <a:r>
              <a:rPr lang="en-US" b="1" dirty="0"/>
              <a:t>primary key</a:t>
            </a:r>
            <a:r>
              <a:rPr lang="en-US" dirty="0"/>
              <a:t>, </a:t>
            </a:r>
          </a:p>
          <a:p>
            <a:r>
              <a:rPr lang="en-US" i="1" dirty="0"/>
              <a:t> 	name </a:t>
            </a:r>
            <a:r>
              <a:rPr lang="en-US" b="1" dirty="0"/>
              <a:t>varchar</a:t>
            </a:r>
            <a:r>
              <a:rPr lang="en-US" dirty="0"/>
              <a:t>(20), </a:t>
            </a:r>
            <a:r>
              <a:rPr lang="en-US" i="1" dirty="0"/>
              <a:t>address </a:t>
            </a:r>
            <a:r>
              <a:rPr lang="en-US" b="1" dirty="0"/>
              <a:t>varchar</a:t>
            </a:r>
            <a:r>
              <a:rPr lang="en-US" dirty="0"/>
              <a:t>(20)) </a:t>
            </a:r>
            <a:r>
              <a:rPr lang="en-US" b="1" dirty="0"/>
              <a:t>ref from</a:t>
            </a:r>
            <a:r>
              <a:rPr lang="en-US" dirty="0"/>
              <a:t>(</a:t>
            </a:r>
            <a:r>
              <a:rPr lang="en-US" i="1" dirty="0"/>
              <a:t>ID</a:t>
            </a:r>
            <a:r>
              <a:rPr lang="en-US" dirty="0"/>
              <a:t>);</a:t>
            </a:r>
          </a:p>
        </p:txBody>
      </p:sp>
      <p:sp>
        <p:nvSpPr>
          <p:cNvPr id="4" name="Slide Number Placeholder 3">
            <a:extLst>
              <a:ext uri="{FF2B5EF4-FFF2-40B4-BE49-F238E27FC236}">
                <a16:creationId xmlns:a16="http://schemas.microsoft.com/office/drawing/2014/main" id="{E0A7A28A-2D78-5414-3D91-C4FAF8CCA438}"/>
              </a:ext>
            </a:extLst>
          </p:cNvPr>
          <p:cNvSpPr>
            <a:spLocks noGrp="1"/>
          </p:cNvSpPr>
          <p:nvPr>
            <p:ph type="sldNum" sz="quarter" idx="12"/>
          </p:nvPr>
        </p:nvSpPr>
        <p:spPr/>
        <p:txBody>
          <a:bodyPr/>
          <a:lstStyle/>
          <a:p>
            <a:fld id="{6264BDCF-5269-49AC-A246-ED26C2B980E3}" type="slidenum">
              <a:rPr lang="en-US" smtClean="0"/>
              <a:t>54</a:t>
            </a:fld>
            <a:endParaRPr lang="en-US"/>
          </a:p>
        </p:txBody>
      </p:sp>
    </p:spTree>
    <p:extLst>
      <p:ext uri="{BB962C8B-B14F-4D97-AF65-F5344CB8AC3E}">
        <p14:creationId xmlns:p14="http://schemas.microsoft.com/office/powerpoint/2010/main" val="32915394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98765-5DF3-E657-0705-6F962CD337A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895787-39F7-6519-F699-063361E96A2C}"/>
              </a:ext>
            </a:extLst>
          </p:cNvPr>
          <p:cNvSpPr>
            <a:spLocks noGrp="1"/>
          </p:cNvSpPr>
          <p:nvPr>
            <p:ph idx="1"/>
          </p:nvPr>
        </p:nvSpPr>
        <p:spPr/>
        <p:txBody>
          <a:bodyPr/>
          <a:lstStyle/>
          <a:p>
            <a:r>
              <a:rPr lang="en-US" dirty="0"/>
              <a:t>can create a class:</a:t>
            </a:r>
          </a:p>
          <a:p>
            <a:r>
              <a:rPr lang="en-US" b="1" dirty="0"/>
              <a:t>create table </a:t>
            </a:r>
            <a:r>
              <a:rPr lang="en-US" i="1" dirty="0"/>
              <a:t>people </a:t>
            </a:r>
            <a:r>
              <a:rPr lang="en-US" b="1" dirty="0"/>
              <a:t>of </a:t>
            </a:r>
            <a:r>
              <a:rPr lang="en-US" i="1" dirty="0"/>
              <a:t>Person;</a:t>
            </a:r>
          </a:p>
          <a:p>
            <a:endParaRPr lang="en-US" dirty="0"/>
          </a:p>
          <a:p>
            <a:r>
              <a:rPr lang="en-US" dirty="0"/>
              <a:t>can create an object, new person:</a:t>
            </a:r>
          </a:p>
          <a:p>
            <a:r>
              <a:rPr lang="en-US" b="1" dirty="0"/>
              <a:t>insert into </a:t>
            </a:r>
            <a:r>
              <a:rPr lang="en-US" i="1" dirty="0"/>
              <a:t>people (ID, name, address</a:t>
            </a:r>
            <a:r>
              <a:rPr lang="en-US" dirty="0"/>
              <a:t>) </a:t>
            </a:r>
            <a:r>
              <a:rPr lang="en-US" b="1" dirty="0"/>
              <a:t>values </a:t>
            </a:r>
            <a:r>
              <a:rPr lang="en-US" dirty="0"/>
              <a:t>('12345', 'Calin CENAN', '28 </a:t>
            </a:r>
            <a:r>
              <a:rPr lang="en-US" dirty="0" err="1"/>
              <a:t>Baritiu</a:t>
            </a:r>
            <a:r>
              <a:rPr lang="en-US" dirty="0"/>
              <a:t>');</a:t>
            </a:r>
          </a:p>
          <a:p>
            <a:endParaRPr lang="en-US" dirty="0"/>
          </a:p>
        </p:txBody>
      </p:sp>
      <p:sp>
        <p:nvSpPr>
          <p:cNvPr id="4" name="Slide Number Placeholder 3">
            <a:extLst>
              <a:ext uri="{FF2B5EF4-FFF2-40B4-BE49-F238E27FC236}">
                <a16:creationId xmlns:a16="http://schemas.microsoft.com/office/drawing/2014/main" id="{AD3D94D8-E0D4-87DC-C402-EDBAC070324B}"/>
              </a:ext>
            </a:extLst>
          </p:cNvPr>
          <p:cNvSpPr>
            <a:spLocks noGrp="1"/>
          </p:cNvSpPr>
          <p:nvPr>
            <p:ph type="sldNum" sz="quarter" idx="12"/>
          </p:nvPr>
        </p:nvSpPr>
        <p:spPr/>
        <p:txBody>
          <a:bodyPr/>
          <a:lstStyle/>
          <a:p>
            <a:fld id="{6264BDCF-5269-49AC-A246-ED26C2B980E3}" type="slidenum">
              <a:rPr lang="en-US" smtClean="0"/>
              <a:t>55</a:t>
            </a:fld>
            <a:endParaRPr lang="en-US"/>
          </a:p>
        </p:txBody>
      </p:sp>
    </p:spTree>
    <p:extLst>
      <p:ext uri="{BB962C8B-B14F-4D97-AF65-F5344CB8AC3E}">
        <p14:creationId xmlns:p14="http://schemas.microsoft.com/office/powerpoint/2010/main" val="9441090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9CA71-7480-2916-15AA-254F9747B106}"/>
              </a:ext>
            </a:extLst>
          </p:cNvPr>
          <p:cNvSpPr>
            <a:spLocks noGrp="1"/>
          </p:cNvSpPr>
          <p:nvPr>
            <p:ph type="title"/>
          </p:nvPr>
        </p:nvSpPr>
        <p:spPr/>
        <p:txBody>
          <a:bodyPr/>
          <a:lstStyle/>
          <a:p>
            <a:r>
              <a:rPr lang="en-US" dirty="0"/>
              <a:t>Type Inheritance</a:t>
            </a:r>
          </a:p>
        </p:txBody>
      </p:sp>
      <p:sp>
        <p:nvSpPr>
          <p:cNvPr id="3" name="Content Placeholder 2">
            <a:extLst>
              <a:ext uri="{FF2B5EF4-FFF2-40B4-BE49-F238E27FC236}">
                <a16:creationId xmlns:a16="http://schemas.microsoft.com/office/drawing/2014/main" id="{2DBD1973-9949-1974-1D21-312F7601C9F4}"/>
              </a:ext>
            </a:extLst>
          </p:cNvPr>
          <p:cNvSpPr>
            <a:spLocks noGrp="1"/>
          </p:cNvSpPr>
          <p:nvPr>
            <p:ph idx="1"/>
          </p:nvPr>
        </p:nvSpPr>
        <p:spPr/>
        <p:txBody>
          <a:bodyPr>
            <a:normAutofit/>
          </a:bodyPr>
          <a:lstStyle/>
          <a:p>
            <a:r>
              <a:rPr lang="en-US" dirty="0"/>
              <a:t>may want to store extra information in the database about people who are students and about people who are teachers</a:t>
            </a:r>
          </a:p>
          <a:p>
            <a:r>
              <a:rPr lang="en-US" dirty="0"/>
              <a:t>since students and teachers are also people, we can use inheritance to define the student and teacher types:</a:t>
            </a:r>
          </a:p>
          <a:p>
            <a:endParaRPr lang="en-US" dirty="0"/>
          </a:p>
          <a:p>
            <a:r>
              <a:rPr lang="en-US" b="1" dirty="0"/>
              <a:t>create type </a:t>
            </a:r>
            <a:r>
              <a:rPr lang="en-US" i="1" dirty="0"/>
              <a:t>Student </a:t>
            </a:r>
            <a:r>
              <a:rPr lang="en-US" b="1" dirty="0"/>
              <a:t>under </a:t>
            </a:r>
            <a:r>
              <a:rPr lang="en-US" i="1" dirty="0"/>
              <a:t>Person (degree </a:t>
            </a:r>
            <a:r>
              <a:rPr lang="en-US" b="1" dirty="0"/>
              <a:t>varchar</a:t>
            </a:r>
            <a:r>
              <a:rPr lang="en-US" dirty="0"/>
              <a:t>(20)); </a:t>
            </a:r>
          </a:p>
          <a:p>
            <a:r>
              <a:rPr lang="en-US" b="1" dirty="0"/>
              <a:t>create type </a:t>
            </a:r>
            <a:r>
              <a:rPr lang="en-US" i="1" dirty="0"/>
              <a:t>Teacher </a:t>
            </a:r>
            <a:r>
              <a:rPr lang="en-US" b="1" dirty="0"/>
              <a:t>under </a:t>
            </a:r>
            <a:r>
              <a:rPr lang="en-US" i="1" dirty="0"/>
              <a:t>Person </a:t>
            </a:r>
            <a:r>
              <a:rPr lang="en-US" dirty="0"/>
              <a:t>(</a:t>
            </a:r>
            <a:r>
              <a:rPr lang="en-US" i="1" dirty="0"/>
              <a:t>salary </a:t>
            </a:r>
            <a:r>
              <a:rPr lang="en-US" b="1" dirty="0"/>
              <a:t>integer</a:t>
            </a:r>
            <a:r>
              <a:rPr lang="en-US" dirty="0"/>
              <a:t>);</a:t>
            </a:r>
          </a:p>
          <a:p>
            <a:endParaRPr lang="en-US" dirty="0"/>
          </a:p>
        </p:txBody>
      </p:sp>
      <p:sp>
        <p:nvSpPr>
          <p:cNvPr id="4" name="Slide Number Placeholder 3">
            <a:extLst>
              <a:ext uri="{FF2B5EF4-FFF2-40B4-BE49-F238E27FC236}">
                <a16:creationId xmlns:a16="http://schemas.microsoft.com/office/drawing/2014/main" id="{50B6AE50-AEDB-8889-B9F3-6E8FFA194908}"/>
              </a:ext>
            </a:extLst>
          </p:cNvPr>
          <p:cNvSpPr>
            <a:spLocks noGrp="1"/>
          </p:cNvSpPr>
          <p:nvPr>
            <p:ph type="sldNum" sz="quarter" idx="12"/>
          </p:nvPr>
        </p:nvSpPr>
        <p:spPr/>
        <p:txBody>
          <a:bodyPr/>
          <a:lstStyle/>
          <a:p>
            <a:fld id="{6264BDCF-5269-49AC-A246-ED26C2B980E3}" type="slidenum">
              <a:rPr lang="en-US" smtClean="0"/>
              <a:t>56</a:t>
            </a:fld>
            <a:endParaRPr lang="en-US"/>
          </a:p>
        </p:txBody>
      </p:sp>
    </p:spTree>
    <p:extLst>
      <p:ext uri="{BB962C8B-B14F-4D97-AF65-F5344CB8AC3E}">
        <p14:creationId xmlns:p14="http://schemas.microsoft.com/office/powerpoint/2010/main" val="12720642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13CE9-5A2C-85ED-B16E-D835911A2A4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A1E49A-BDF1-44F5-C9C7-536E290ECFAE}"/>
              </a:ext>
            </a:extLst>
          </p:cNvPr>
          <p:cNvSpPr>
            <a:spLocks noGrp="1"/>
          </p:cNvSpPr>
          <p:nvPr>
            <p:ph idx="1"/>
          </p:nvPr>
        </p:nvSpPr>
        <p:spPr/>
        <p:txBody>
          <a:bodyPr/>
          <a:lstStyle/>
          <a:p>
            <a:r>
              <a:rPr lang="en-US" dirty="0"/>
              <a:t>both </a:t>
            </a:r>
            <a:r>
              <a:rPr lang="en-US" i="1" dirty="0"/>
              <a:t>Student </a:t>
            </a:r>
            <a:r>
              <a:rPr lang="en-US" dirty="0"/>
              <a:t>and </a:t>
            </a:r>
            <a:r>
              <a:rPr lang="en-US" i="1" dirty="0"/>
              <a:t>Teacher </a:t>
            </a:r>
            <a:r>
              <a:rPr lang="en-US" dirty="0"/>
              <a:t>inherit attributes of </a:t>
            </a:r>
            <a:r>
              <a:rPr lang="en-US" i="1" dirty="0"/>
              <a:t>Person - </a:t>
            </a:r>
            <a:r>
              <a:rPr lang="en-US" dirty="0"/>
              <a:t>namely, </a:t>
            </a:r>
            <a:r>
              <a:rPr lang="en-US" i="1" dirty="0"/>
              <a:t>ID, name, </a:t>
            </a:r>
            <a:r>
              <a:rPr lang="en-US" dirty="0"/>
              <a:t>and </a:t>
            </a:r>
            <a:r>
              <a:rPr lang="en-US" i="1" dirty="0"/>
              <a:t>address</a:t>
            </a:r>
          </a:p>
          <a:p>
            <a:r>
              <a:rPr lang="en-US" i="1" dirty="0"/>
              <a:t>Student </a:t>
            </a:r>
            <a:r>
              <a:rPr lang="en-US" dirty="0"/>
              <a:t>and </a:t>
            </a:r>
            <a:r>
              <a:rPr lang="en-US" i="1" dirty="0"/>
              <a:t>Teacher </a:t>
            </a:r>
            <a:r>
              <a:rPr lang="en-US" dirty="0"/>
              <a:t>are said to be subtypes of </a:t>
            </a:r>
            <a:r>
              <a:rPr lang="en-US" i="1" dirty="0"/>
              <a:t>Person,</a:t>
            </a:r>
          </a:p>
          <a:p>
            <a:r>
              <a:rPr lang="en-US" dirty="0"/>
              <a:t>and </a:t>
            </a:r>
            <a:r>
              <a:rPr lang="en-US" i="1" dirty="0"/>
              <a:t>Person </a:t>
            </a:r>
            <a:r>
              <a:rPr lang="en-US" dirty="0"/>
              <a:t>is a supertype of </a:t>
            </a:r>
            <a:r>
              <a:rPr lang="en-US" i="1" dirty="0"/>
              <a:t>Student, </a:t>
            </a:r>
            <a:r>
              <a:rPr lang="en-US" dirty="0"/>
              <a:t>as well as of </a:t>
            </a:r>
            <a:r>
              <a:rPr lang="en-US" i="1" dirty="0"/>
              <a:t>Teacher</a:t>
            </a:r>
          </a:p>
          <a:p>
            <a:endParaRPr lang="en-US" dirty="0"/>
          </a:p>
          <a:p>
            <a:r>
              <a:rPr lang="en-US" dirty="0"/>
              <a:t>methods of a structured type are inherited by its subtypes, just as attributes are; however, subtype can redefine effect of a method</a:t>
            </a:r>
          </a:p>
        </p:txBody>
      </p:sp>
      <p:sp>
        <p:nvSpPr>
          <p:cNvPr id="4" name="Slide Number Placeholder 3">
            <a:extLst>
              <a:ext uri="{FF2B5EF4-FFF2-40B4-BE49-F238E27FC236}">
                <a16:creationId xmlns:a16="http://schemas.microsoft.com/office/drawing/2014/main" id="{668AB370-7844-CD71-C361-53C1E4C3CB06}"/>
              </a:ext>
            </a:extLst>
          </p:cNvPr>
          <p:cNvSpPr>
            <a:spLocks noGrp="1"/>
          </p:cNvSpPr>
          <p:nvPr>
            <p:ph type="sldNum" sz="quarter" idx="12"/>
          </p:nvPr>
        </p:nvSpPr>
        <p:spPr/>
        <p:txBody>
          <a:bodyPr/>
          <a:lstStyle/>
          <a:p>
            <a:fld id="{6264BDCF-5269-49AC-A246-ED26C2B980E3}" type="slidenum">
              <a:rPr lang="en-US" smtClean="0"/>
              <a:t>57</a:t>
            </a:fld>
            <a:endParaRPr lang="en-US"/>
          </a:p>
        </p:txBody>
      </p:sp>
    </p:spTree>
    <p:extLst>
      <p:ext uri="{BB962C8B-B14F-4D97-AF65-F5344CB8AC3E}">
        <p14:creationId xmlns:p14="http://schemas.microsoft.com/office/powerpoint/2010/main" val="32121393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FE020-75A2-9FA9-7609-1B4E8509254F}"/>
              </a:ext>
            </a:extLst>
          </p:cNvPr>
          <p:cNvSpPr>
            <a:spLocks noGrp="1"/>
          </p:cNvSpPr>
          <p:nvPr>
            <p:ph type="title"/>
          </p:nvPr>
        </p:nvSpPr>
        <p:spPr/>
        <p:txBody>
          <a:bodyPr/>
          <a:lstStyle/>
          <a:p>
            <a:r>
              <a:rPr lang="en-US" dirty="0"/>
              <a:t>table inheritance</a:t>
            </a:r>
          </a:p>
        </p:txBody>
      </p:sp>
      <p:sp>
        <p:nvSpPr>
          <p:cNvPr id="3" name="Content Placeholder 2">
            <a:extLst>
              <a:ext uri="{FF2B5EF4-FFF2-40B4-BE49-F238E27FC236}">
                <a16:creationId xmlns:a16="http://schemas.microsoft.com/office/drawing/2014/main" id="{8E2D3496-B905-7060-DC97-90645616B5B9}"/>
              </a:ext>
            </a:extLst>
          </p:cNvPr>
          <p:cNvSpPr>
            <a:spLocks noGrp="1"/>
          </p:cNvSpPr>
          <p:nvPr>
            <p:ph idx="1"/>
          </p:nvPr>
        </p:nvSpPr>
        <p:spPr>
          <a:xfrm>
            <a:off x="838200" y="1297858"/>
            <a:ext cx="10515600" cy="4879105"/>
          </a:xfrm>
        </p:spPr>
        <p:txBody>
          <a:bodyPr>
            <a:normAutofit/>
          </a:bodyPr>
          <a:lstStyle/>
          <a:p>
            <a:r>
              <a:rPr lang="en-US" dirty="0"/>
              <a:t>allows a table to be declared as a </a:t>
            </a:r>
            <a:r>
              <a:rPr lang="en-US" dirty="0" err="1"/>
              <a:t>subtable</a:t>
            </a:r>
            <a:r>
              <a:rPr lang="en-US" dirty="0"/>
              <a:t> of another table and corresponds to E-R notion of specialization/generalization</a:t>
            </a:r>
          </a:p>
          <a:p>
            <a:r>
              <a:rPr lang="en-US" dirty="0"/>
              <a:t>in PostgreSQL, we could create table </a:t>
            </a:r>
            <a:r>
              <a:rPr lang="en-US" i="1" dirty="0"/>
              <a:t>people </a:t>
            </a:r>
            <a:r>
              <a:rPr lang="en-US" dirty="0"/>
              <a:t>and then create tables </a:t>
            </a:r>
            <a:r>
              <a:rPr lang="en-US" i="1" dirty="0"/>
              <a:t>students </a:t>
            </a:r>
            <a:r>
              <a:rPr lang="en-US" dirty="0"/>
              <a:t>and </a:t>
            </a:r>
            <a:r>
              <a:rPr lang="en-US" i="1" dirty="0"/>
              <a:t>teachers </a:t>
            </a:r>
            <a:r>
              <a:rPr lang="en-US" dirty="0"/>
              <a:t>as </a:t>
            </a:r>
            <a:r>
              <a:rPr lang="en-US" dirty="0" err="1"/>
              <a:t>subtables</a:t>
            </a:r>
            <a:r>
              <a:rPr lang="en-US" dirty="0"/>
              <a:t> of </a:t>
            </a:r>
            <a:r>
              <a:rPr lang="en-US" i="1" dirty="0"/>
              <a:t>people</a:t>
            </a:r>
            <a:r>
              <a:rPr lang="en-US" dirty="0"/>
              <a:t>:</a:t>
            </a:r>
          </a:p>
          <a:p>
            <a:endParaRPr lang="en-US" b="1" dirty="0"/>
          </a:p>
          <a:p>
            <a:r>
              <a:rPr lang="en-US" b="1" dirty="0"/>
              <a:t>create table </a:t>
            </a:r>
            <a:r>
              <a:rPr lang="en-US" i="1" dirty="0"/>
              <a:t>students </a:t>
            </a:r>
            <a:r>
              <a:rPr lang="en-US" dirty="0"/>
              <a:t>(</a:t>
            </a:r>
            <a:r>
              <a:rPr lang="en-US" i="1" dirty="0"/>
              <a:t>degree </a:t>
            </a:r>
            <a:r>
              <a:rPr lang="en-US" b="1" dirty="0"/>
              <a:t>varchar</a:t>
            </a:r>
            <a:r>
              <a:rPr lang="en-US" dirty="0"/>
              <a:t>(20)) </a:t>
            </a:r>
            <a:r>
              <a:rPr lang="en-US" b="1" dirty="0"/>
              <a:t>inherits </a:t>
            </a:r>
            <a:r>
              <a:rPr lang="en-US" i="1" dirty="0"/>
              <a:t>people</a:t>
            </a:r>
            <a:r>
              <a:rPr lang="en-US" dirty="0"/>
              <a:t>;</a:t>
            </a:r>
          </a:p>
          <a:p>
            <a:r>
              <a:rPr lang="en-US" b="1" dirty="0"/>
              <a:t>create table </a:t>
            </a:r>
            <a:r>
              <a:rPr lang="en-US" i="1" dirty="0"/>
              <a:t>teachers (salary </a:t>
            </a:r>
            <a:r>
              <a:rPr lang="en-US" b="1" dirty="0"/>
              <a:t>integer</a:t>
            </a:r>
            <a:r>
              <a:rPr lang="en-US" dirty="0"/>
              <a:t>) </a:t>
            </a:r>
            <a:r>
              <a:rPr lang="en-US" b="1" dirty="0"/>
              <a:t>inherits </a:t>
            </a:r>
            <a:r>
              <a:rPr lang="en-US" i="1" dirty="0"/>
              <a:t>people</a:t>
            </a:r>
            <a:r>
              <a:rPr lang="en-US" dirty="0"/>
              <a:t>;</a:t>
            </a:r>
          </a:p>
          <a:p>
            <a:endParaRPr lang="en-US" dirty="0"/>
          </a:p>
          <a:p>
            <a:r>
              <a:rPr lang="en-US" dirty="0"/>
              <a:t>every attribute present in table </a:t>
            </a:r>
            <a:r>
              <a:rPr lang="en-US" i="1" dirty="0"/>
              <a:t>people </a:t>
            </a:r>
            <a:r>
              <a:rPr lang="en-US" dirty="0"/>
              <a:t>is also present in the </a:t>
            </a:r>
            <a:r>
              <a:rPr lang="en-US" dirty="0" err="1"/>
              <a:t>subtables</a:t>
            </a:r>
            <a:r>
              <a:rPr lang="en-US" dirty="0"/>
              <a:t> </a:t>
            </a:r>
            <a:r>
              <a:rPr lang="en-US" i="1" dirty="0"/>
              <a:t>students </a:t>
            </a:r>
            <a:r>
              <a:rPr lang="en-US" dirty="0"/>
              <a:t>and </a:t>
            </a:r>
            <a:r>
              <a:rPr lang="en-US" i="1" dirty="0"/>
              <a:t>teachers</a:t>
            </a:r>
            <a:endParaRPr lang="en-US" dirty="0"/>
          </a:p>
        </p:txBody>
      </p:sp>
      <p:sp>
        <p:nvSpPr>
          <p:cNvPr id="4" name="Slide Number Placeholder 3">
            <a:extLst>
              <a:ext uri="{FF2B5EF4-FFF2-40B4-BE49-F238E27FC236}">
                <a16:creationId xmlns:a16="http://schemas.microsoft.com/office/drawing/2014/main" id="{BAF9BBF3-91DD-0AF7-D7AF-45A0E7C995E7}"/>
              </a:ext>
            </a:extLst>
          </p:cNvPr>
          <p:cNvSpPr>
            <a:spLocks noGrp="1"/>
          </p:cNvSpPr>
          <p:nvPr>
            <p:ph type="sldNum" sz="quarter" idx="12"/>
          </p:nvPr>
        </p:nvSpPr>
        <p:spPr/>
        <p:txBody>
          <a:bodyPr/>
          <a:lstStyle/>
          <a:p>
            <a:fld id="{6264BDCF-5269-49AC-A246-ED26C2B980E3}" type="slidenum">
              <a:rPr lang="en-US" smtClean="0"/>
              <a:t>58</a:t>
            </a:fld>
            <a:endParaRPr lang="en-US"/>
          </a:p>
        </p:txBody>
      </p:sp>
    </p:spTree>
    <p:extLst>
      <p:ext uri="{BB962C8B-B14F-4D97-AF65-F5344CB8AC3E}">
        <p14:creationId xmlns:p14="http://schemas.microsoft.com/office/powerpoint/2010/main" val="36058153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F8789-86AB-E349-B567-AF456AB7923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96529DC-F0D6-8984-BA16-799E821A1D31}"/>
              </a:ext>
            </a:extLst>
          </p:cNvPr>
          <p:cNvSpPr>
            <a:spLocks noGrp="1"/>
          </p:cNvSpPr>
          <p:nvPr>
            <p:ph idx="1"/>
          </p:nvPr>
        </p:nvSpPr>
        <p:spPr>
          <a:xfrm>
            <a:off x="838200" y="1209368"/>
            <a:ext cx="10515600" cy="4967595"/>
          </a:xfrm>
        </p:spPr>
        <p:txBody>
          <a:bodyPr>
            <a:normAutofit lnSpcReduction="10000"/>
          </a:bodyPr>
          <a:lstStyle/>
          <a:p>
            <a:r>
              <a:rPr lang="en-US" dirty="0"/>
              <a:t>can insert tuple into </a:t>
            </a:r>
            <a:r>
              <a:rPr lang="en-US" i="1" dirty="0"/>
              <a:t>student </a:t>
            </a:r>
            <a:r>
              <a:rPr lang="en-US" dirty="0"/>
              <a:t>table:</a:t>
            </a:r>
          </a:p>
          <a:p>
            <a:endParaRPr lang="en-US" b="1" dirty="0"/>
          </a:p>
          <a:p>
            <a:r>
              <a:rPr lang="en-US" b="1" dirty="0"/>
              <a:t>insert into </a:t>
            </a:r>
            <a:r>
              <a:rPr lang="en-US" i="1" dirty="0"/>
              <a:t>student </a:t>
            </a:r>
            <a:r>
              <a:rPr lang="en-US" b="1" dirty="0"/>
              <a:t>values </a:t>
            </a:r>
          </a:p>
          <a:p>
            <a:r>
              <a:rPr lang="en-US" dirty="0"/>
              <a:t>('00128', 'Bogdan BINDEA', '</a:t>
            </a:r>
            <a:r>
              <a:rPr lang="en-US" dirty="0" err="1"/>
              <a:t>Observator</a:t>
            </a:r>
            <a:r>
              <a:rPr lang="en-US" dirty="0"/>
              <a:t> 1', 'Ph. D. ‘);</a:t>
            </a:r>
          </a:p>
          <a:p>
            <a:endParaRPr lang="en-US" dirty="0"/>
          </a:p>
          <a:p>
            <a:r>
              <a:rPr lang="en-US" dirty="0"/>
              <a:t>when we declare </a:t>
            </a:r>
            <a:r>
              <a:rPr lang="en-US" i="1" dirty="0"/>
              <a:t>students </a:t>
            </a:r>
            <a:r>
              <a:rPr lang="en-US" dirty="0"/>
              <a:t>and </a:t>
            </a:r>
            <a:r>
              <a:rPr lang="en-US" i="1" dirty="0"/>
              <a:t>teachers </a:t>
            </a:r>
            <a:r>
              <a:rPr lang="en-US" dirty="0"/>
              <a:t>as </a:t>
            </a:r>
            <a:r>
              <a:rPr lang="en-US" dirty="0" err="1"/>
              <a:t>subtables</a:t>
            </a:r>
            <a:r>
              <a:rPr lang="en-US" dirty="0"/>
              <a:t> of </a:t>
            </a:r>
            <a:r>
              <a:rPr lang="en-US" i="1" dirty="0"/>
              <a:t>people, </a:t>
            </a:r>
            <a:r>
              <a:rPr lang="en-US" dirty="0"/>
              <a:t>every tuple present in </a:t>
            </a:r>
            <a:r>
              <a:rPr lang="en-US" i="1" dirty="0"/>
              <a:t>students </a:t>
            </a:r>
            <a:r>
              <a:rPr lang="en-US" dirty="0"/>
              <a:t>or </a:t>
            </a:r>
            <a:r>
              <a:rPr lang="en-US" i="1" dirty="0"/>
              <a:t>teachers </a:t>
            </a:r>
            <a:r>
              <a:rPr lang="en-US" dirty="0"/>
              <a:t>becomes implicitly present in </a:t>
            </a:r>
            <a:r>
              <a:rPr lang="en-US" i="1" dirty="0"/>
              <a:t>people</a:t>
            </a:r>
          </a:p>
          <a:p>
            <a:r>
              <a:rPr lang="en-US" dirty="0"/>
              <a:t>if a query uses table </a:t>
            </a:r>
            <a:r>
              <a:rPr lang="en-US" i="1" dirty="0"/>
              <a:t>people</a:t>
            </a:r>
            <a:r>
              <a:rPr lang="en-US" dirty="0"/>
              <a:t>, it will find not only tuples directly inserted into that table but also tuples inserted into its </a:t>
            </a:r>
            <a:r>
              <a:rPr lang="en-US" dirty="0" err="1"/>
              <a:t>subtables</a:t>
            </a:r>
            <a:r>
              <a:rPr lang="en-US" dirty="0"/>
              <a:t>, namely, </a:t>
            </a:r>
            <a:r>
              <a:rPr lang="en-US" i="1" dirty="0"/>
              <a:t>students </a:t>
            </a:r>
            <a:r>
              <a:rPr lang="en-US" dirty="0"/>
              <a:t>and </a:t>
            </a:r>
            <a:r>
              <a:rPr lang="en-US" i="1" dirty="0"/>
              <a:t>teachers; </a:t>
            </a:r>
            <a:r>
              <a:rPr lang="en-US" dirty="0"/>
              <a:t>however, only those attributes that are present in </a:t>
            </a:r>
            <a:r>
              <a:rPr lang="en-US" i="1" dirty="0"/>
              <a:t>people </a:t>
            </a:r>
            <a:r>
              <a:rPr lang="en-US" dirty="0"/>
              <a:t>can be accessed by that query</a:t>
            </a:r>
          </a:p>
        </p:txBody>
      </p:sp>
      <p:sp>
        <p:nvSpPr>
          <p:cNvPr id="4" name="Slide Number Placeholder 3">
            <a:extLst>
              <a:ext uri="{FF2B5EF4-FFF2-40B4-BE49-F238E27FC236}">
                <a16:creationId xmlns:a16="http://schemas.microsoft.com/office/drawing/2014/main" id="{EAC0BCCC-2DB1-7816-A3C0-03EBACA4AD3A}"/>
              </a:ext>
            </a:extLst>
          </p:cNvPr>
          <p:cNvSpPr>
            <a:spLocks noGrp="1"/>
          </p:cNvSpPr>
          <p:nvPr>
            <p:ph type="sldNum" sz="quarter" idx="12"/>
          </p:nvPr>
        </p:nvSpPr>
        <p:spPr/>
        <p:txBody>
          <a:bodyPr/>
          <a:lstStyle/>
          <a:p>
            <a:fld id="{6264BDCF-5269-49AC-A246-ED26C2B980E3}" type="slidenum">
              <a:rPr lang="en-US" smtClean="0"/>
              <a:t>59</a:t>
            </a:fld>
            <a:endParaRPr lang="en-US"/>
          </a:p>
        </p:txBody>
      </p:sp>
    </p:spTree>
    <p:extLst>
      <p:ext uri="{BB962C8B-B14F-4D97-AF65-F5344CB8AC3E}">
        <p14:creationId xmlns:p14="http://schemas.microsoft.com/office/powerpoint/2010/main" val="28889859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726D8-05D9-EB33-28C1-743CC7FE30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848183-D51D-271F-A2CA-85CDF410C769}"/>
              </a:ext>
            </a:extLst>
          </p:cNvPr>
          <p:cNvSpPr>
            <a:spLocks noGrp="1"/>
          </p:cNvSpPr>
          <p:nvPr>
            <p:ph type="title"/>
          </p:nvPr>
        </p:nvSpPr>
        <p:spPr/>
        <p:txBody>
          <a:bodyPr>
            <a:normAutofit/>
          </a:bodyPr>
          <a:lstStyle/>
          <a:p>
            <a:r>
              <a:rPr lang="en-US" sz="4800" b="1" dirty="0"/>
              <a:t>Object-Relational Mapping (ORM)</a:t>
            </a:r>
          </a:p>
        </p:txBody>
      </p:sp>
      <p:sp>
        <p:nvSpPr>
          <p:cNvPr id="3" name="Content Placeholder 2">
            <a:extLst>
              <a:ext uri="{FF2B5EF4-FFF2-40B4-BE49-F238E27FC236}">
                <a16:creationId xmlns:a16="http://schemas.microsoft.com/office/drawing/2014/main" id="{045A1237-65D9-80F9-A4E4-C967E69D7FFA}"/>
              </a:ext>
            </a:extLst>
          </p:cNvPr>
          <p:cNvSpPr>
            <a:spLocks noGrp="1"/>
          </p:cNvSpPr>
          <p:nvPr>
            <p:ph idx="1"/>
          </p:nvPr>
        </p:nvSpPr>
        <p:spPr/>
        <p:txBody>
          <a:bodyPr>
            <a:noAutofit/>
          </a:bodyPr>
          <a:lstStyle/>
          <a:p>
            <a:r>
              <a:rPr lang="en-US" sz="3200" dirty="0"/>
              <a:t>object-relational mapping (ORM) systems allow a programmer to define a mapping between tuples in database relations and objects in the programming language</a:t>
            </a:r>
          </a:p>
          <a:p>
            <a:r>
              <a:rPr lang="en-US" sz="3200" dirty="0"/>
              <a:t>object, or set of objects, can be retrieved based on selection condition on its attributes; relevant data are retrieved from underlying database based on selection conditions, and one or more objects are created from retrieved data, based on prespecified mapping between objects and relations</a:t>
            </a:r>
          </a:p>
        </p:txBody>
      </p:sp>
      <p:sp>
        <p:nvSpPr>
          <p:cNvPr id="4" name="Slide Number Placeholder 3">
            <a:extLst>
              <a:ext uri="{FF2B5EF4-FFF2-40B4-BE49-F238E27FC236}">
                <a16:creationId xmlns:a16="http://schemas.microsoft.com/office/drawing/2014/main" id="{3264B9DC-7558-4F18-652D-1A1CF2EC9144}"/>
              </a:ext>
            </a:extLst>
          </p:cNvPr>
          <p:cNvSpPr>
            <a:spLocks noGrp="1"/>
          </p:cNvSpPr>
          <p:nvPr>
            <p:ph type="sldNum" sz="quarter" idx="12"/>
          </p:nvPr>
        </p:nvSpPr>
        <p:spPr/>
        <p:txBody>
          <a:bodyPr/>
          <a:lstStyle/>
          <a:p>
            <a:fld id="{6264BDCF-5269-49AC-A246-ED26C2B980E3}" type="slidenum">
              <a:rPr lang="en-US" smtClean="0"/>
              <a:t>60</a:t>
            </a:fld>
            <a:endParaRPr lang="en-US"/>
          </a:p>
        </p:txBody>
      </p:sp>
    </p:spTree>
    <p:extLst>
      <p:ext uri="{BB962C8B-B14F-4D97-AF65-F5344CB8AC3E}">
        <p14:creationId xmlns:p14="http://schemas.microsoft.com/office/powerpoint/2010/main" val="15622623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D3DC7-9ABD-24D3-EBD4-FBC8E25D31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85D351-E405-6695-6AC9-F67469A9ED09}"/>
              </a:ext>
            </a:extLst>
          </p:cNvPr>
          <p:cNvSpPr>
            <a:spLocks noGrp="1"/>
          </p:cNvSpPr>
          <p:nvPr>
            <p:ph type="title"/>
          </p:nvPr>
        </p:nvSpPr>
        <p:spPr/>
        <p:txBody>
          <a:bodyPr>
            <a:normAutofit/>
          </a:bodyPr>
          <a:lstStyle/>
          <a:p>
            <a:r>
              <a:rPr lang="en-US" sz="4800" b="1" dirty="0"/>
              <a:t>Object-Relational Mapping (ORM)</a:t>
            </a:r>
          </a:p>
        </p:txBody>
      </p:sp>
      <p:sp>
        <p:nvSpPr>
          <p:cNvPr id="3" name="Content Placeholder 2">
            <a:extLst>
              <a:ext uri="{FF2B5EF4-FFF2-40B4-BE49-F238E27FC236}">
                <a16:creationId xmlns:a16="http://schemas.microsoft.com/office/drawing/2014/main" id="{57931695-FC48-173B-27B7-18A240B8CBFE}"/>
              </a:ext>
            </a:extLst>
          </p:cNvPr>
          <p:cNvSpPr>
            <a:spLocks noGrp="1"/>
          </p:cNvSpPr>
          <p:nvPr>
            <p:ph idx="1"/>
          </p:nvPr>
        </p:nvSpPr>
        <p:spPr/>
        <p:txBody>
          <a:bodyPr>
            <a:noAutofit/>
          </a:bodyPr>
          <a:lstStyle/>
          <a:p>
            <a:r>
              <a:rPr lang="en-US" sz="3200" dirty="0"/>
              <a:t>program can update retrieved objects, create new objects, or specify that an object is to be deleted, and then issue a save command; the mapping from objects to relations is then used to correspondingly update, insert, or delete tuples in the database</a:t>
            </a:r>
          </a:p>
        </p:txBody>
      </p:sp>
      <p:sp>
        <p:nvSpPr>
          <p:cNvPr id="4" name="Slide Number Placeholder 3">
            <a:extLst>
              <a:ext uri="{FF2B5EF4-FFF2-40B4-BE49-F238E27FC236}">
                <a16:creationId xmlns:a16="http://schemas.microsoft.com/office/drawing/2014/main" id="{A8F2529C-A165-888A-1CE5-47EA2F0FB743}"/>
              </a:ext>
            </a:extLst>
          </p:cNvPr>
          <p:cNvSpPr>
            <a:spLocks noGrp="1"/>
          </p:cNvSpPr>
          <p:nvPr>
            <p:ph type="sldNum" sz="quarter" idx="12"/>
          </p:nvPr>
        </p:nvSpPr>
        <p:spPr/>
        <p:txBody>
          <a:bodyPr/>
          <a:lstStyle/>
          <a:p>
            <a:fld id="{6264BDCF-5269-49AC-A246-ED26C2B980E3}" type="slidenum">
              <a:rPr lang="en-US" smtClean="0"/>
              <a:t>61</a:t>
            </a:fld>
            <a:endParaRPr lang="en-US"/>
          </a:p>
        </p:txBody>
      </p:sp>
    </p:spTree>
    <p:extLst>
      <p:ext uri="{BB962C8B-B14F-4D97-AF65-F5344CB8AC3E}">
        <p14:creationId xmlns:p14="http://schemas.microsoft.com/office/powerpoint/2010/main" val="34884202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8CC5F-EB25-8C8E-1B5C-9B3732B773B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86F02F-C8C5-FE89-C15E-6CDBF52FC25E}"/>
              </a:ext>
            </a:extLst>
          </p:cNvPr>
          <p:cNvSpPr>
            <a:spLocks noGrp="1"/>
          </p:cNvSpPr>
          <p:nvPr>
            <p:ph idx="1"/>
          </p:nvPr>
        </p:nvSpPr>
        <p:spPr>
          <a:xfrm>
            <a:off x="838200" y="1229032"/>
            <a:ext cx="10515600" cy="4947931"/>
          </a:xfrm>
        </p:spPr>
        <p:txBody>
          <a:bodyPr>
            <a:noAutofit/>
          </a:bodyPr>
          <a:lstStyle/>
          <a:p>
            <a:r>
              <a:rPr lang="en-US" dirty="0"/>
              <a:t>primary goal of object-relational mapping systems is to ease the job of programmers who build applications by providing them an object model while retaining benefits of using robust relational database underneath</a:t>
            </a:r>
          </a:p>
          <a:p>
            <a:r>
              <a:rPr lang="en-US" dirty="0"/>
              <a:t>as added benefit, when operating on objects cached in memory, object relational systems can provide significant performance gains over direct access to the underlying database</a:t>
            </a:r>
          </a:p>
          <a:p>
            <a:r>
              <a:rPr lang="en-US" dirty="0"/>
              <a:t>Object-Relational Mapping ORM systems also provide query languages that allow programmers to write queries directly on object model; queries are translated into SQL queries on underlying relational database, and result objects are created from SQL query results</a:t>
            </a:r>
          </a:p>
        </p:txBody>
      </p:sp>
      <p:sp>
        <p:nvSpPr>
          <p:cNvPr id="4" name="Slide Number Placeholder 3">
            <a:extLst>
              <a:ext uri="{FF2B5EF4-FFF2-40B4-BE49-F238E27FC236}">
                <a16:creationId xmlns:a16="http://schemas.microsoft.com/office/drawing/2014/main" id="{00C974B7-D404-0AAA-2A7D-AA2D1CA6D6D3}"/>
              </a:ext>
            </a:extLst>
          </p:cNvPr>
          <p:cNvSpPr>
            <a:spLocks noGrp="1"/>
          </p:cNvSpPr>
          <p:nvPr>
            <p:ph type="sldNum" sz="quarter" idx="12"/>
          </p:nvPr>
        </p:nvSpPr>
        <p:spPr/>
        <p:txBody>
          <a:bodyPr/>
          <a:lstStyle/>
          <a:p>
            <a:fld id="{6264BDCF-5269-49AC-A246-ED26C2B980E3}" type="slidenum">
              <a:rPr lang="en-US" smtClean="0"/>
              <a:t>62</a:t>
            </a:fld>
            <a:endParaRPr lang="en-US"/>
          </a:p>
        </p:txBody>
      </p:sp>
    </p:spTree>
    <p:extLst>
      <p:ext uri="{BB962C8B-B14F-4D97-AF65-F5344CB8AC3E}">
        <p14:creationId xmlns:p14="http://schemas.microsoft.com/office/powerpoint/2010/main" val="25891729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8D275-8302-8A46-E936-7DE4F66D5C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2BBDD51-EBB5-DCD4-A0D5-0CBB58DB819D}"/>
              </a:ext>
            </a:extLst>
          </p:cNvPr>
          <p:cNvSpPr>
            <a:spLocks noGrp="1"/>
          </p:cNvSpPr>
          <p:nvPr>
            <p:ph idx="1"/>
          </p:nvPr>
        </p:nvSpPr>
        <p:spPr/>
        <p:txBody>
          <a:bodyPr/>
          <a:lstStyle/>
          <a:p>
            <a:r>
              <a:rPr lang="en-US" dirty="0"/>
              <a:t>fringe benefit of using ORM is that any of a number of databases can be used to store data, with exactly the same high-level code</a:t>
            </a:r>
          </a:p>
          <a:p>
            <a:r>
              <a:rPr lang="en-US" dirty="0"/>
              <a:t>ORMs hide minor SQL differences between databases from higher levels</a:t>
            </a:r>
          </a:p>
          <a:p>
            <a:r>
              <a:rPr lang="en-US" dirty="0"/>
              <a:t>migration from one database to another is thus relatively straightforward when using ORM, whereas SQL differences can make such migration significantly harder</a:t>
            </a:r>
          </a:p>
          <a:p>
            <a:endParaRPr lang="en-US" dirty="0"/>
          </a:p>
          <a:p>
            <a:endParaRPr lang="en-US" dirty="0"/>
          </a:p>
        </p:txBody>
      </p:sp>
      <p:sp>
        <p:nvSpPr>
          <p:cNvPr id="4" name="Slide Number Placeholder 3">
            <a:extLst>
              <a:ext uri="{FF2B5EF4-FFF2-40B4-BE49-F238E27FC236}">
                <a16:creationId xmlns:a16="http://schemas.microsoft.com/office/drawing/2014/main" id="{C7C50B05-0424-3E6A-95EC-7815277C8EC9}"/>
              </a:ext>
            </a:extLst>
          </p:cNvPr>
          <p:cNvSpPr>
            <a:spLocks noGrp="1"/>
          </p:cNvSpPr>
          <p:nvPr>
            <p:ph type="sldNum" sz="quarter" idx="12"/>
          </p:nvPr>
        </p:nvSpPr>
        <p:spPr/>
        <p:txBody>
          <a:bodyPr/>
          <a:lstStyle/>
          <a:p>
            <a:fld id="{6264BDCF-5269-49AC-A246-ED26C2B980E3}" type="slidenum">
              <a:rPr lang="en-US" smtClean="0"/>
              <a:t>63</a:t>
            </a:fld>
            <a:endParaRPr lang="en-US"/>
          </a:p>
        </p:txBody>
      </p:sp>
    </p:spTree>
    <p:extLst>
      <p:ext uri="{BB962C8B-B14F-4D97-AF65-F5344CB8AC3E}">
        <p14:creationId xmlns:p14="http://schemas.microsoft.com/office/powerpoint/2010/main" val="8127667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E1CDA-1DC5-6F6D-2A15-A2445035DAD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CAFD4E0-0E62-4DC3-FFA3-13ABDEC1616E}"/>
              </a:ext>
            </a:extLst>
          </p:cNvPr>
          <p:cNvSpPr>
            <a:spLocks noGrp="1"/>
          </p:cNvSpPr>
          <p:nvPr>
            <p:ph idx="1"/>
          </p:nvPr>
        </p:nvSpPr>
        <p:spPr/>
        <p:txBody>
          <a:bodyPr>
            <a:normAutofit/>
          </a:bodyPr>
          <a:lstStyle/>
          <a:p>
            <a:r>
              <a:rPr lang="en-US" dirty="0"/>
              <a:t>on the negative side, object-relational mapping systems can suffer from significant performance inefficiencies for bulk database updates, as well as for complex queries that are written directly in imperative language</a:t>
            </a:r>
          </a:p>
          <a:p>
            <a:r>
              <a:rPr lang="en-US" dirty="0"/>
              <a:t>it is possible to update database directly, bypassing object-relational mapping system, and to write complex queries directly in SQL</a:t>
            </a:r>
          </a:p>
        </p:txBody>
      </p:sp>
      <p:sp>
        <p:nvSpPr>
          <p:cNvPr id="4" name="Slide Number Placeholder 3">
            <a:extLst>
              <a:ext uri="{FF2B5EF4-FFF2-40B4-BE49-F238E27FC236}">
                <a16:creationId xmlns:a16="http://schemas.microsoft.com/office/drawing/2014/main" id="{32FE39C3-FC72-9E6A-F04B-B923FBD9D363}"/>
              </a:ext>
            </a:extLst>
          </p:cNvPr>
          <p:cNvSpPr>
            <a:spLocks noGrp="1"/>
          </p:cNvSpPr>
          <p:nvPr>
            <p:ph type="sldNum" sz="quarter" idx="12"/>
          </p:nvPr>
        </p:nvSpPr>
        <p:spPr/>
        <p:txBody>
          <a:bodyPr/>
          <a:lstStyle/>
          <a:p>
            <a:fld id="{6264BDCF-5269-49AC-A246-ED26C2B980E3}" type="slidenum">
              <a:rPr lang="en-US" smtClean="0"/>
              <a:t>64</a:t>
            </a:fld>
            <a:endParaRPr lang="en-US"/>
          </a:p>
        </p:txBody>
      </p:sp>
    </p:spTree>
    <p:extLst>
      <p:ext uri="{BB962C8B-B14F-4D97-AF65-F5344CB8AC3E}">
        <p14:creationId xmlns:p14="http://schemas.microsoft.com/office/powerpoint/2010/main" val="25762427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D9049-0586-6525-5644-A2E42567A62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444C183-22A4-1F6E-68BA-C0D971A5B2A0}"/>
              </a:ext>
            </a:extLst>
          </p:cNvPr>
          <p:cNvSpPr>
            <a:spLocks noGrp="1"/>
          </p:cNvSpPr>
          <p:nvPr>
            <p:ph idx="1"/>
          </p:nvPr>
        </p:nvSpPr>
        <p:spPr/>
        <p:txBody>
          <a:bodyPr>
            <a:normAutofit/>
          </a:bodyPr>
          <a:lstStyle/>
          <a:p>
            <a:r>
              <a:rPr lang="en-US" dirty="0"/>
              <a:t>benefits of object-relational models exceed the drawbacks for many applications</a:t>
            </a:r>
          </a:p>
          <a:p>
            <a:r>
              <a:rPr lang="en-US" dirty="0"/>
              <a:t>Object-Relational Mapping systems have seen widespread adoption</a:t>
            </a:r>
          </a:p>
          <a:p>
            <a:r>
              <a:rPr lang="en-US" dirty="0"/>
              <a:t>Hibernate has seen wide adoption with Java</a:t>
            </a:r>
          </a:p>
          <a:p>
            <a:r>
              <a:rPr lang="en-US" dirty="0"/>
              <a:t>several ORMs including Django and </a:t>
            </a:r>
            <a:r>
              <a:rPr lang="en-US" dirty="0" err="1"/>
              <a:t>SQLAlchemy</a:t>
            </a:r>
            <a:r>
              <a:rPr lang="en-US" dirty="0"/>
              <a:t> are widely used with Python</a:t>
            </a:r>
          </a:p>
        </p:txBody>
      </p:sp>
      <p:sp>
        <p:nvSpPr>
          <p:cNvPr id="4" name="Slide Number Placeholder 3">
            <a:extLst>
              <a:ext uri="{FF2B5EF4-FFF2-40B4-BE49-F238E27FC236}">
                <a16:creationId xmlns:a16="http://schemas.microsoft.com/office/drawing/2014/main" id="{02F4D661-2529-C64F-F94B-49A11E49D35D}"/>
              </a:ext>
            </a:extLst>
          </p:cNvPr>
          <p:cNvSpPr>
            <a:spLocks noGrp="1"/>
          </p:cNvSpPr>
          <p:nvPr>
            <p:ph type="sldNum" sz="quarter" idx="12"/>
          </p:nvPr>
        </p:nvSpPr>
        <p:spPr/>
        <p:txBody>
          <a:bodyPr/>
          <a:lstStyle/>
          <a:p>
            <a:fld id="{6264BDCF-5269-49AC-A246-ED26C2B980E3}" type="slidenum">
              <a:rPr lang="en-US" smtClean="0"/>
              <a:t>65</a:t>
            </a:fld>
            <a:endParaRPr lang="en-US"/>
          </a:p>
        </p:txBody>
      </p:sp>
    </p:spTree>
    <p:extLst>
      <p:ext uri="{BB962C8B-B14F-4D97-AF65-F5344CB8AC3E}">
        <p14:creationId xmlns:p14="http://schemas.microsoft.com/office/powerpoint/2010/main" val="11150229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3D21E-D094-FC50-E42F-E660D5333A7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91A2189-05C0-0372-A496-C70E54F94102}"/>
              </a:ext>
            </a:extLst>
          </p:cNvPr>
          <p:cNvSpPr>
            <a:spLocks noGrp="1"/>
          </p:cNvSpPr>
          <p:nvPr>
            <p:ph type="title"/>
          </p:nvPr>
        </p:nvSpPr>
        <p:spPr/>
        <p:txBody>
          <a:bodyPr/>
          <a:lstStyle/>
          <a:p>
            <a:r>
              <a:rPr lang="en-US" dirty="0"/>
              <a:t>Textual Data</a:t>
            </a:r>
          </a:p>
        </p:txBody>
      </p:sp>
      <p:sp>
        <p:nvSpPr>
          <p:cNvPr id="6" name="Text Placeholder 5">
            <a:extLst>
              <a:ext uri="{FF2B5EF4-FFF2-40B4-BE49-F238E27FC236}">
                <a16:creationId xmlns:a16="http://schemas.microsoft.com/office/drawing/2014/main" id="{F710AC4C-746E-54F5-573B-BEEAE3C4342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5FA7D4D-E573-A3CA-5ACC-F21BD3C16BAA}"/>
              </a:ext>
            </a:extLst>
          </p:cNvPr>
          <p:cNvSpPr>
            <a:spLocks noGrp="1"/>
          </p:cNvSpPr>
          <p:nvPr>
            <p:ph type="sldNum" sz="quarter" idx="12"/>
          </p:nvPr>
        </p:nvSpPr>
        <p:spPr/>
        <p:txBody>
          <a:bodyPr/>
          <a:lstStyle/>
          <a:p>
            <a:fld id="{6264BDCF-5269-49AC-A246-ED26C2B980E3}" type="slidenum">
              <a:rPr lang="en-US" smtClean="0"/>
              <a:t>66</a:t>
            </a:fld>
            <a:endParaRPr lang="en-US"/>
          </a:p>
        </p:txBody>
      </p:sp>
    </p:spTree>
    <p:extLst>
      <p:ext uri="{BB962C8B-B14F-4D97-AF65-F5344CB8AC3E}">
        <p14:creationId xmlns:p14="http://schemas.microsoft.com/office/powerpoint/2010/main" val="17207114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4A4C9-97C0-8311-031C-7BCACA3B133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63965E7-2C44-921D-92DB-0013142A6B53}"/>
              </a:ext>
            </a:extLst>
          </p:cNvPr>
          <p:cNvSpPr>
            <a:spLocks noGrp="1"/>
          </p:cNvSpPr>
          <p:nvPr>
            <p:ph idx="1"/>
          </p:nvPr>
        </p:nvSpPr>
        <p:spPr/>
        <p:txBody>
          <a:bodyPr/>
          <a:lstStyle/>
          <a:p>
            <a:r>
              <a:rPr lang="en-US" dirty="0"/>
              <a:t>textual data consists of unstructured text</a:t>
            </a:r>
          </a:p>
          <a:p>
            <a:r>
              <a:rPr lang="en-US" dirty="0"/>
              <a:t>term </a:t>
            </a:r>
            <a:r>
              <a:rPr lang="en-US" b="1" i="1" dirty="0"/>
              <a:t>information retrieval </a:t>
            </a:r>
            <a:r>
              <a:rPr lang="en-US" dirty="0"/>
              <a:t>generally, refers to the querying of unstructured textual data</a:t>
            </a:r>
          </a:p>
          <a:p>
            <a:r>
              <a:rPr lang="en-US" dirty="0"/>
              <a:t>in traditional model used in the field of information retrieval, textual information is organized into </a:t>
            </a:r>
            <a:r>
              <a:rPr lang="en-US" i="1" dirty="0"/>
              <a:t>documents</a:t>
            </a:r>
          </a:p>
          <a:p>
            <a:r>
              <a:rPr lang="en-US" dirty="0"/>
              <a:t>in a database, a text-valued attribute can be considered a document</a:t>
            </a:r>
          </a:p>
          <a:p>
            <a:r>
              <a:rPr lang="en-US" dirty="0"/>
              <a:t>in the context of web, each web page can be a document</a:t>
            </a:r>
          </a:p>
        </p:txBody>
      </p:sp>
      <p:sp>
        <p:nvSpPr>
          <p:cNvPr id="4" name="Slide Number Placeholder 3">
            <a:extLst>
              <a:ext uri="{FF2B5EF4-FFF2-40B4-BE49-F238E27FC236}">
                <a16:creationId xmlns:a16="http://schemas.microsoft.com/office/drawing/2014/main" id="{C49DA16F-39E6-59C7-3011-AA71AE3F3933}"/>
              </a:ext>
            </a:extLst>
          </p:cNvPr>
          <p:cNvSpPr>
            <a:spLocks noGrp="1"/>
          </p:cNvSpPr>
          <p:nvPr>
            <p:ph type="sldNum" sz="quarter" idx="12"/>
          </p:nvPr>
        </p:nvSpPr>
        <p:spPr/>
        <p:txBody>
          <a:bodyPr/>
          <a:lstStyle/>
          <a:p>
            <a:fld id="{6264BDCF-5269-49AC-A246-ED26C2B980E3}" type="slidenum">
              <a:rPr lang="en-US" smtClean="0"/>
              <a:t>67</a:t>
            </a:fld>
            <a:endParaRPr lang="en-US"/>
          </a:p>
        </p:txBody>
      </p:sp>
    </p:spTree>
    <p:extLst>
      <p:ext uri="{BB962C8B-B14F-4D97-AF65-F5344CB8AC3E}">
        <p14:creationId xmlns:p14="http://schemas.microsoft.com/office/powerpoint/2010/main" val="28300984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B2D79-CB6B-8F0B-1024-BFC85E6816EA}"/>
              </a:ext>
            </a:extLst>
          </p:cNvPr>
          <p:cNvSpPr>
            <a:spLocks noGrp="1"/>
          </p:cNvSpPr>
          <p:nvPr>
            <p:ph type="title"/>
          </p:nvPr>
        </p:nvSpPr>
        <p:spPr/>
        <p:txBody>
          <a:bodyPr/>
          <a:lstStyle/>
          <a:p>
            <a:r>
              <a:rPr lang="en-US" dirty="0"/>
              <a:t>Keyword Queries</a:t>
            </a:r>
          </a:p>
        </p:txBody>
      </p:sp>
      <p:sp>
        <p:nvSpPr>
          <p:cNvPr id="3" name="Content Placeholder 2">
            <a:extLst>
              <a:ext uri="{FF2B5EF4-FFF2-40B4-BE49-F238E27FC236}">
                <a16:creationId xmlns:a16="http://schemas.microsoft.com/office/drawing/2014/main" id="{A012389E-7E44-4F5E-6568-F048FAF840EE}"/>
              </a:ext>
            </a:extLst>
          </p:cNvPr>
          <p:cNvSpPr>
            <a:spLocks noGrp="1"/>
          </p:cNvSpPr>
          <p:nvPr>
            <p:ph idx="1"/>
          </p:nvPr>
        </p:nvSpPr>
        <p:spPr>
          <a:xfrm>
            <a:off x="838200" y="1238865"/>
            <a:ext cx="10515600" cy="4938098"/>
          </a:xfrm>
        </p:spPr>
        <p:txBody>
          <a:bodyPr>
            <a:normAutofit lnSpcReduction="10000"/>
          </a:bodyPr>
          <a:lstStyle/>
          <a:p>
            <a:r>
              <a:rPr lang="en-US" dirty="0"/>
              <a:t>Information Retrieval systems support the ability to retrieve documents with some desired information - typically described by a set of keywords</a:t>
            </a:r>
          </a:p>
          <a:p>
            <a:r>
              <a:rPr lang="en-US" dirty="0"/>
              <a:t>documents have associated with them a set of keywords</a:t>
            </a:r>
          </a:p>
          <a:p>
            <a:r>
              <a:rPr lang="en-US" dirty="0"/>
              <a:t>a </a:t>
            </a:r>
            <a:r>
              <a:rPr lang="en-US" i="1" dirty="0"/>
              <a:t>keyword query </a:t>
            </a:r>
            <a:r>
              <a:rPr lang="en-US" dirty="0"/>
              <a:t>retrieves documents whose set of keywords contains all the keywords in the query</a:t>
            </a:r>
          </a:p>
          <a:p>
            <a:r>
              <a:rPr lang="en-US" dirty="0"/>
              <a:t>more sophisticated systems estimate the relevance of documents to a query so that the documents can be shown in order</a:t>
            </a:r>
          </a:p>
          <a:p>
            <a:r>
              <a:rPr lang="en-US" dirty="0"/>
              <a:t>keyword-based information retrieval can be used not only for retrieving textual data, but also for retrieving other types of data, such as video and audio data, that have descriptive keywords associated with them</a:t>
            </a:r>
          </a:p>
        </p:txBody>
      </p:sp>
      <p:sp>
        <p:nvSpPr>
          <p:cNvPr id="4" name="Slide Number Placeholder 3">
            <a:extLst>
              <a:ext uri="{FF2B5EF4-FFF2-40B4-BE49-F238E27FC236}">
                <a16:creationId xmlns:a16="http://schemas.microsoft.com/office/drawing/2014/main" id="{6D9D8D48-8B23-66CB-E8A3-5BE424116829}"/>
              </a:ext>
            </a:extLst>
          </p:cNvPr>
          <p:cNvSpPr>
            <a:spLocks noGrp="1"/>
          </p:cNvSpPr>
          <p:nvPr>
            <p:ph type="sldNum" sz="quarter" idx="12"/>
          </p:nvPr>
        </p:nvSpPr>
        <p:spPr/>
        <p:txBody>
          <a:bodyPr/>
          <a:lstStyle/>
          <a:p>
            <a:fld id="{6264BDCF-5269-49AC-A246-ED26C2B980E3}" type="slidenum">
              <a:rPr lang="en-US" smtClean="0"/>
              <a:t>68</a:t>
            </a:fld>
            <a:endParaRPr lang="en-US"/>
          </a:p>
        </p:txBody>
      </p:sp>
    </p:spTree>
    <p:extLst>
      <p:ext uri="{BB962C8B-B14F-4D97-AF65-F5344CB8AC3E}">
        <p14:creationId xmlns:p14="http://schemas.microsoft.com/office/powerpoint/2010/main" val="35615805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5ECE1-3F64-8F1C-2B9E-EFD41BD2F94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7022DC4-8261-F422-D2D6-2D6AD8227105}"/>
              </a:ext>
            </a:extLst>
          </p:cNvPr>
          <p:cNvSpPr>
            <a:spLocks noGrp="1"/>
          </p:cNvSpPr>
          <p:nvPr>
            <p:ph idx="1"/>
          </p:nvPr>
        </p:nvSpPr>
        <p:spPr/>
        <p:txBody>
          <a:bodyPr>
            <a:normAutofit/>
          </a:bodyPr>
          <a:lstStyle/>
          <a:p>
            <a:r>
              <a:rPr lang="en-US" dirty="0"/>
              <a:t>Web search engines are, at core, Information Retrieval systems</a:t>
            </a:r>
          </a:p>
          <a:p>
            <a:r>
              <a:rPr lang="en-US" dirty="0"/>
              <a:t>retrieve and store web pages by </a:t>
            </a:r>
            <a:r>
              <a:rPr lang="en-US" i="1" dirty="0"/>
              <a:t>crawling </a:t>
            </a:r>
            <a:r>
              <a:rPr lang="en-US" dirty="0"/>
              <a:t>the web</a:t>
            </a:r>
          </a:p>
          <a:p>
            <a:r>
              <a:rPr lang="en-US" dirty="0"/>
              <a:t>search engines aim to satisfy a user’s information needs by judging what topic a query is about and displaying not only web pages judged as relevant but also other kinds of information about the topic</a:t>
            </a:r>
          </a:p>
        </p:txBody>
      </p:sp>
      <p:sp>
        <p:nvSpPr>
          <p:cNvPr id="4" name="Slide Number Placeholder 3">
            <a:extLst>
              <a:ext uri="{FF2B5EF4-FFF2-40B4-BE49-F238E27FC236}">
                <a16:creationId xmlns:a16="http://schemas.microsoft.com/office/drawing/2014/main" id="{B00AE439-CEC5-3EDC-4961-B23C199BABFC}"/>
              </a:ext>
            </a:extLst>
          </p:cNvPr>
          <p:cNvSpPr>
            <a:spLocks noGrp="1"/>
          </p:cNvSpPr>
          <p:nvPr>
            <p:ph type="sldNum" sz="quarter" idx="12"/>
          </p:nvPr>
        </p:nvSpPr>
        <p:spPr/>
        <p:txBody>
          <a:bodyPr/>
          <a:lstStyle/>
          <a:p>
            <a:fld id="{6264BDCF-5269-49AC-A246-ED26C2B980E3}" type="slidenum">
              <a:rPr lang="en-US" smtClean="0"/>
              <a:t>69</a:t>
            </a:fld>
            <a:endParaRPr lang="en-US"/>
          </a:p>
        </p:txBody>
      </p:sp>
    </p:spTree>
    <p:extLst>
      <p:ext uri="{BB962C8B-B14F-4D97-AF65-F5344CB8AC3E}">
        <p14:creationId xmlns:p14="http://schemas.microsoft.com/office/powerpoint/2010/main" val="27786332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DE648-9D18-EF08-F0C1-4AF058C7AF45}"/>
              </a:ext>
            </a:extLst>
          </p:cNvPr>
          <p:cNvSpPr>
            <a:spLocks noGrp="1"/>
          </p:cNvSpPr>
          <p:nvPr>
            <p:ph type="title"/>
          </p:nvPr>
        </p:nvSpPr>
        <p:spPr/>
        <p:txBody>
          <a:bodyPr/>
          <a:lstStyle/>
          <a:p>
            <a:r>
              <a:rPr lang="en-US" b="1" dirty="0"/>
              <a:t>Relevance Ranking</a:t>
            </a:r>
            <a:endParaRPr lang="en-US" dirty="0"/>
          </a:p>
        </p:txBody>
      </p:sp>
      <p:sp>
        <p:nvSpPr>
          <p:cNvPr id="3" name="Content Placeholder 2">
            <a:extLst>
              <a:ext uri="{FF2B5EF4-FFF2-40B4-BE49-F238E27FC236}">
                <a16:creationId xmlns:a16="http://schemas.microsoft.com/office/drawing/2014/main" id="{F5DFFD5F-861C-4EF6-F18C-24A20AB6C951}"/>
              </a:ext>
            </a:extLst>
          </p:cNvPr>
          <p:cNvSpPr>
            <a:spLocks noGrp="1"/>
          </p:cNvSpPr>
          <p:nvPr>
            <p:ph idx="1"/>
          </p:nvPr>
        </p:nvSpPr>
        <p:spPr/>
        <p:txBody>
          <a:bodyPr>
            <a:normAutofit/>
          </a:bodyPr>
          <a:lstStyle/>
          <a:p>
            <a:r>
              <a:rPr lang="en-US" dirty="0"/>
              <a:t>Information Retrieval systems estimate relevance of documents to a query and return only highly ranked documents as answers</a:t>
            </a:r>
          </a:p>
          <a:p>
            <a:r>
              <a:rPr lang="en-US" dirty="0"/>
              <a:t>relevance ranking is not an exact science, but there are some well-accepted approaches</a:t>
            </a:r>
          </a:p>
        </p:txBody>
      </p:sp>
      <p:sp>
        <p:nvSpPr>
          <p:cNvPr id="4" name="Slide Number Placeholder 3">
            <a:extLst>
              <a:ext uri="{FF2B5EF4-FFF2-40B4-BE49-F238E27FC236}">
                <a16:creationId xmlns:a16="http://schemas.microsoft.com/office/drawing/2014/main" id="{2500343F-3A85-6C28-69EB-8FB33754DB94}"/>
              </a:ext>
            </a:extLst>
          </p:cNvPr>
          <p:cNvSpPr>
            <a:spLocks noGrp="1"/>
          </p:cNvSpPr>
          <p:nvPr>
            <p:ph type="sldNum" sz="quarter" idx="12"/>
          </p:nvPr>
        </p:nvSpPr>
        <p:spPr/>
        <p:txBody>
          <a:bodyPr/>
          <a:lstStyle/>
          <a:p>
            <a:fld id="{6264BDCF-5269-49AC-A246-ED26C2B980E3}" type="slidenum">
              <a:rPr lang="en-US" smtClean="0"/>
              <a:t>70</a:t>
            </a:fld>
            <a:endParaRPr lang="en-US"/>
          </a:p>
        </p:txBody>
      </p:sp>
    </p:spTree>
    <p:extLst>
      <p:ext uri="{BB962C8B-B14F-4D97-AF65-F5344CB8AC3E}">
        <p14:creationId xmlns:p14="http://schemas.microsoft.com/office/powerpoint/2010/main" val="13393650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D26D2-A9A6-F4B4-9503-085368CFB953}"/>
              </a:ext>
            </a:extLst>
          </p:cNvPr>
          <p:cNvSpPr>
            <a:spLocks noGrp="1"/>
          </p:cNvSpPr>
          <p:nvPr>
            <p:ph type="title"/>
          </p:nvPr>
        </p:nvSpPr>
        <p:spPr/>
        <p:txBody>
          <a:bodyPr/>
          <a:lstStyle/>
          <a:p>
            <a:r>
              <a:rPr lang="en-US" dirty="0"/>
              <a:t>Ranking Using TF–IDF</a:t>
            </a:r>
          </a:p>
        </p:txBody>
      </p:sp>
      <p:sp>
        <p:nvSpPr>
          <p:cNvPr id="3" name="Content Placeholder 2">
            <a:extLst>
              <a:ext uri="{FF2B5EF4-FFF2-40B4-BE49-F238E27FC236}">
                <a16:creationId xmlns:a16="http://schemas.microsoft.com/office/drawing/2014/main" id="{7CA04577-DEDC-8376-6ECE-A1B66413DB57}"/>
              </a:ext>
            </a:extLst>
          </p:cNvPr>
          <p:cNvSpPr>
            <a:spLocks noGrp="1"/>
          </p:cNvSpPr>
          <p:nvPr>
            <p:ph idx="1"/>
          </p:nvPr>
        </p:nvSpPr>
        <p:spPr/>
        <p:txBody>
          <a:bodyPr>
            <a:normAutofit/>
          </a:bodyPr>
          <a:lstStyle/>
          <a:p>
            <a:r>
              <a:rPr lang="en-US" dirty="0"/>
              <a:t>question to address is, given a particular keyword / term </a:t>
            </a:r>
            <a:r>
              <a:rPr lang="en-US" i="1" dirty="0"/>
              <a:t>t</a:t>
            </a:r>
            <a:r>
              <a:rPr lang="en-US" dirty="0"/>
              <a:t>, how relevant is a particular document </a:t>
            </a:r>
            <a:r>
              <a:rPr lang="en-US" i="1" dirty="0"/>
              <a:t>d </a:t>
            </a:r>
            <a:r>
              <a:rPr lang="en-US" dirty="0"/>
              <a:t>to the term</a:t>
            </a:r>
          </a:p>
          <a:p>
            <a:r>
              <a:rPr lang="en-US" dirty="0"/>
              <a:t>one approach is to use the number of occurrences of term in document as a measure of its relevance, on the assumption that more relevant terms are likely to be mentioned many times in a document</a:t>
            </a:r>
          </a:p>
          <a:p>
            <a:r>
              <a:rPr lang="en-US" dirty="0"/>
              <a:t>counting the number of occurrences of term is usually not a good indicator: number of occurrences depends on length of document, and document containing 10 occurrences of term may not be 10 times as relevant as document containing one occurrence</a:t>
            </a:r>
          </a:p>
        </p:txBody>
      </p:sp>
      <p:sp>
        <p:nvSpPr>
          <p:cNvPr id="4" name="Slide Number Placeholder 3">
            <a:extLst>
              <a:ext uri="{FF2B5EF4-FFF2-40B4-BE49-F238E27FC236}">
                <a16:creationId xmlns:a16="http://schemas.microsoft.com/office/drawing/2014/main" id="{79443701-45B0-3191-938E-F990C5A343D9}"/>
              </a:ext>
            </a:extLst>
          </p:cNvPr>
          <p:cNvSpPr>
            <a:spLocks noGrp="1"/>
          </p:cNvSpPr>
          <p:nvPr>
            <p:ph type="sldNum" sz="quarter" idx="12"/>
          </p:nvPr>
        </p:nvSpPr>
        <p:spPr/>
        <p:txBody>
          <a:bodyPr/>
          <a:lstStyle/>
          <a:p>
            <a:fld id="{6264BDCF-5269-49AC-A246-ED26C2B980E3}" type="slidenum">
              <a:rPr lang="en-US" smtClean="0"/>
              <a:t>71</a:t>
            </a:fld>
            <a:endParaRPr lang="en-US"/>
          </a:p>
        </p:txBody>
      </p:sp>
    </p:spTree>
    <p:extLst>
      <p:ext uri="{BB962C8B-B14F-4D97-AF65-F5344CB8AC3E}">
        <p14:creationId xmlns:p14="http://schemas.microsoft.com/office/powerpoint/2010/main" val="30440272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FF386-60D3-AF6A-3E1A-8EE0FFF8721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45575D-7245-812A-9FC0-2042B8CD3ECE}"/>
              </a:ext>
            </a:extLst>
          </p:cNvPr>
          <p:cNvSpPr>
            <a:spLocks noGrp="1"/>
          </p:cNvSpPr>
          <p:nvPr>
            <p:ph idx="1"/>
          </p:nvPr>
        </p:nvSpPr>
        <p:spPr/>
        <p:txBody>
          <a:bodyPr>
            <a:normAutofit/>
          </a:bodyPr>
          <a:lstStyle/>
          <a:p>
            <a:r>
              <a:rPr lang="en-US" dirty="0"/>
              <a:t>way of measuring </a:t>
            </a:r>
            <a:r>
              <a:rPr lang="en-US" i="1" dirty="0"/>
              <a:t>TF(d, t), </a:t>
            </a:r>
            <a:r>
              <a:rPr lang="en-US" dirty="0"/>
              <a:t>the relevance of a term </a:t>
            </a:r>
            <a:r>
              <a:rPr lang="en-US" i="1" dirty="0"/>
              <a:t>t </a:t>
            </a:r>
            <a:r>
              <a:rPr lang="en-US" dirty="0"/>
              <a:t>to a document </a:t>
            </a:r>
            <a:r>
              <a:rPr lang="en-US" i="1" dirty="0"/>
              <a:t>d</a:t>
            </a:r>
          </a:p>
          <a:p>
            <a:endParaRPr lang="en-US" dirty="0"/>
          </a:p>
          <a:p>
            <a:endParaRPr lang="en-US" dirty="0"/>
          </a:p>
          <a:p>
            <a:endParaRPr lang="en-US" sz="1200" dirty="0"/>
          </a:p>
          <a:p>
            <a:r>
              <a:rPr lang="en-US" dirty="0"/>
              <a:t>where </a:t>
            </a:r>
            <a:r>
              <a:rPr lang="en-US" i="1" dirty="0"/>
              <a:t>n</a:t>
            </a:r>
            <a:r>
              <a:rPr lang="en-US" dirty="0"/>
              <a:t>(</a:t>
            </a:r>
            <a:r>
              <a:rPr lang="en-US" i="1" dirty="0"/>
              <a:t>d</a:t>
            </a:r>
            <a:r>
              <a:rPr lang="en-US" dirty="0"/>
              <a:t>) denotes number of term occurrences in document and </a:t>
            </a:r>
            <a:r>
              <a:rPr lang="en-US" i="1" dirty="0"/>
              <a:t>n</a:t>
            </a:r>
            <a:r>
              <a:rPr lang="en-US" dirty="0"/>
              <a:t>(</a:t>
            </a:r>
            <a:r>
              <a:rPr lang="en-US" i="1" dirty="0"/>
              <a:t>d</a:t>
            </a:r>
            <a:r>
              <a:rPr lang="en-US" dirty="0"/>
              <a:t>, </a:t>
            </a:r>
            <a:r>
              <a:rPr lang="en-US" i="1" dirty="0"/>
              <a:t>t</a:t>
            </a:r>
            <a:r>
              <a:rPr lang="en-US" dirty="0"/>
              <a:t>) denotes number of occurrences of term </a:t>
            </a:r>
            <a:r>
              <a:rPr lang="en-US" i="1" dirty="0"/>
              <a:t>t </a:t>
            </a:r>
            <a:r>
              <a:rPr lang="en-US" dirty="0"/>
              <a:t>in document </a:t>
            </a:r>
            <a:r>
              <a:rPr lang="en-US" i="1" dirty="0"/>
              <a:t>d</a:t>
            </a:r>
            <a:endParaRPr lang="en-US" dirty="0"/>
          </a:p>
          <a:p>
            <a:r>
              <a:rPr lang="en-US" dirty="0"/>
              <a:t>metric takes the length of the document into account</a:t>
            </a:r>
          </a:p>
          <a:p>
            <a:r>
              <a:rPr lang="en-US" dirty="0"/>
              <a:t>relevance grows with more occurrences of term in document, although it is not directly proportional to number of occurrences</a:t>
            </a:r>
          </a:p>
          <a:p>
            <a:endParaRPr lang="en-US" dirty="0"/>
          </a:p>
          <a:p>
            <a:endParaRPr lang="en-US" dirty="0"/>
          </a:p>
        </p:txBody>
      </p:sp>
      <p:sp>
        <p:nvSpPr>
          <p:cNvPr id="4" name="Slide Number Placeholder 3">
            <a:extLst>
              <a:ext uri="{FF2B5EF4-FFF2-40B4-BE49-F238E27FC236}">
                <a16:creationId xmlns:a16="http://schemas.microsoft.com/office/drawing/2014/main" id="{6D77C99E-E43B-40B4-ED77-195C8EEE2E6F}"/>
              </a:ext>
            </a:extLst>
          </p:cNvPr>
          <p:cNvSpPr>
            <a:spLocks noGrp="1"/>
          </p:cNvSpPr>
          <p:nvPr>
            <p:ph type="sldNum" sz="quarter" idx="12"/>
          </p:nvPr>
        </p:nvSpPr>
        <p:spPr/>
        <p:txBody>
          <a:bodyPr/>
          <a:lstStyle/>
          <a:p>
            <a:fld id="{6264BDCF-5269-49AC-A246-ED26C2B980E3}" type="slidenum">
              <a:rPr lang="en-US" smtClean="0"/>
              <a:t>72</a:t>
            </a:fld>
            <a:endParaRPr lang="en-US"/>
          </a:p>
        </p:txBody>
      </p:sp>
      <p:pic>
        <p:nvPicPr>
          <p:cNvPr id="6" name="Picture 5">
            <a:extLst>
              <a:ext uri="{FF2B5EF4-FFF2-40B4-BE49-F238E27FC236}">
                <a16:creationId xmlns:a16="http://schemas.microsoft.com/office/drawing/2014/main" id="{460AE085-1CC9-E86C-B6A2-75AC677962AB}"/>
              </a:ext>
            </a:extLst>
          </p:cNvPr>
          <p:cNvPicPr>
            <a:picLocks noChangeAspect="1"/>
          </p:cNvPicPr>
          <p:nvPr/>
        </p:nvPicPr>
        <p:blipFill>
          <a:blip r:embed="rId2"/>
          <a:stretch>
            <a:fillRect/>
          </a:stretch>
        </p:blipFill>
        <p:spPr>
          <a:xfrm>
            <a:off x="1188720" y="2468880"/>
            <a:ext cx="4117119" cy="900618"/>
          </a:xfrm>
          <a:prstGeom prst="rect">
            <a:avLst/>
          </a:prstGeom>
        </p:spPr>
      </p:pic>
    </p:spTree>
    <p:extLst>
      <p:ext uri="{BB962C8B-B14F-4D97-AF65-F5344CB8AC3E}">
        <p14:creationId xmlns:p14="http://schemas.microsoft.com/office/powerpoint/2010/main" val="298808583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6420F-167A-1207-978A-4D5AE309B4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2A9D3CB-98B5-CF43-D1B5-BBA3B319CEF4}"/>
              </a:ext>
            </a:extLst>
          </p:cNvPr>
          <p:cNvSpPr>
            <a:spLocks noGrp="1"/>
          </p:cNvSpPr>
          <p:nvPr>
            <p:ph idx="1"/>
          </p:nvPr>
        </p:nvSpPr>
        <p:spPr/>
        <p:txBody>
          <a:bodyPr>
            <a:normAutofit/>
          </a:bodyPr>
          <a:lstStyle/>
          <a:p>
            <a:r>
              <a:rPr lang="en-US" dirty="0"/>
              <a:t>systems refine above metric by using other information: for instance, if  term occurs in title, or author list, or the abstract, document would be considered more relevant; if first occurrence of term is late in document, the document may be considered less relevant than if first occurrence is early in document</a:t>
            </a:r>
          </a:p>
        </p:txBody>
      </p:sp>
      <p:sp>
        <p:nvSpPr>
          <p:cNvPr id="4" name="Slide Number Placeholder 3">
            <a:extLst>
              <a:ext uri="{FF2B5EF4-FFF2-40B4-BE49-F238E27FC236}">
                <a16:creationId xmlns:a16="http://schemas.microsoft.com/office/drawing/2014/main" id="{77D7E17D-9615-69FA-15B3-8B64B5FCD3BE}"/>
              </a:ext>
            </a:extLst>
          </p:cNvPr>
          <p:cNvSpPr>
            <a:spLocks noGrp="1"/>
          </p:cNvSpPr>
          <p:nvPr>
            <p:ph type="sldNum" sz="quarter" idx="12"/>
          </p:nvPr>
        </p:nvSpPr>
        <p:spPr/>
        <p:txBody>
          <a:bodyPr/>
          <a:lstStyle/>
          <a:p>
            <a:fld id="{6264BDCF-5269-49AC-A246-ED26C2B980E3}" type="slidenum">
              <a:rPr lang="en-US" smtClean="0"/>
              <a:t>73</a:t>
            </a:fld>
            <a:endParaRPr lang="en-US"/>
          </a:p>
        </p:txBody>
      </p:sp>
    </p:spTree>
    <p:extLst>
      <p:ext uri="{BB962C8B-B14F-4D97-AF65-F5344CB8AC3E}">
        <p14:creationId xmlns:p14="http://schemas.microsoft.com/office/powerpoint/2010/main" val="6782532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2DFCB-FA39-F3AE-98FE-66EAB612840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DD083DA-18EE-5309-0E07-9D61AF3C1A6E}"/>
              </a:ext>
            </a:extLst>
          </p:cNvPr>
          <p:cNvSpPr>
            <a:spLocks noGrp="1"/>
          </p:cNvSpPr>
          <p:nvPr>
            <p:ph idx="1"/>
          </p:nvPr>
        </p:nvSpPr>
        <p:spPr/>
        <p:txBody>
          <a:bodyPr>
            <a:normAutofit/>
          </a:bodyPr>
          <a:lstStyle/>
          <a:p>
            <a:r>
              <a:rPr lang="en-US" dirty="0"/>
              <a:t>query may contain multiple keywords, relevance of document to query with two or more keywords is estimated by combining relevance measures of document for each keyword</a:t>
            </a:r>
          </a:p>
          <a:p>
            <a:r>
              <a:rPr lang="en-US" dirty="0"/>
              <a:t>not all terms used as keywords are equal - query uses two terms, one of which occurs frequently, such as “database”, and another that is less frequent, such as “Cenan”</a:t>
            </a:r>
          </a:p>
        </p:txBody>
      </p:sp>
      <p:sp>
        <p:nvSpPr>
          <p:cNvPr id="4" name="Slide Number Placeholder 3">
            <a:extLst>
              <a:ext uri="{FF2B5EF4-FFF2-40B4-BE49-F238E27FC236}">
                <a16:creationId xmlns:a16="http://schemas.microsoft.com/office/drawing/2014/main" id="{D42524A4-FBB2-4D08-32BB-A0BD22168B47}"/>
              </a:ext>
            </a:extLst>
          </p:cNvPr>
          <p:cNvSpPr>
            <a:spLocks noGrp="1"/>
          </p:cNvSpPr>
          <p:nvPr>
            <p:ph type="sldNum" sz="quarter" idx="12"/>
          </p:nvPr>
        </p:nvSpPr>
        <p:spPr/>
        <p:txBody>
          <a:bodyPr/>
          <a:lstStyle/>
          <a:p>
            <a:fld id="{6264BDCF-5269-49AC-A246-ED26C2B980E3}" type="slidenum">
              <a:rPr lang="en-US" smtClean="0"/>
              <a:t>74</a:t>
            </a:fld>
            <a:endParaRPr lang="en-US"/>
          </a:p>
        </p:txBody>
      </p:sp>
    </p:spTree>
    <p:extLst>
      <p:ext uri="{BB962C8B-B14F-4D97-AF65-F5344CB8AC3E}">
        <p14:creationId xmlns:p14="http://schemas.microsoft.com/office/powerpoint/2010/main" val="263390392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932BA-1462-C4B6-7CF8-3D84FBEEC01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689E13D-D3D2-B59E-E238-8FC6C0B96EEC}"/>
              </a:ext>
            </a:extLst>
          </p:cNvPr>
          <p:cNvSpPr>
            <a:spLocks noGrp="1"/>
          </p:cNvSpPr>
          <p:nvPr>
            <p:ph idx="1"/>
          </p:nvPr>
        </p:nvSpPr>
        <p:spPr/>
        <p:txBody>
          <a:bodyPr/>
          <a:lstStyle/>
          <a:p>
            <a:r>
              <a:rPr lang="en-US" dirty="0"/>
              <a:t>weights are assigned to terms using the </a:t>
            </a:r>
            <a:r>
              <a:rPr lang="en-US" i="1" dirty="0"/>
              <a:t>inverse document frequency (IDF)</a:t>
            </a:r>
            <a:r>
              <a:rPr lang="en-US" dirty="0"/>
              <a:t>:</a:t>
            </a:r>
          </a:p>
          <a:p>
            <a:endParaRPr lang="en-US" dirty="0"/>
          </a:p>
          <a:p>
            <a:r>
              <a:rPr lang="en-US" dirty="0"/>
              <a:t>where </a:t>
            </a:r>
            <a:r>
              <a:rPr lang="en-US" i="1" dirty="0"/>
              <a:t>n</a:t>
            </a:r>
            <a:r>
              <a:rPr lang="en-US" dirty="0"/>
              <a:t>(</a:t>
            </a:r>
            <a:r>
              <a:rPr lang="en-US" i="1" dirty="0"/>
              <a:t>t</a:t>
            </a:r>
            <a:r>
              <a:rPr lang="en-US" dirty="0"/>
              <a:t>) denotes the number of documents (among those indexed by system) that contain term </a:t>
            </a:r>
            <a:r>
              <a:rPr lang="en-US" i="1" dirty="0"/>
              <a:t>t</a:t>
            </a:r>
            <a:r>
              <a:rPr lang="en-US" dirty="0"/>
              <a:t> </a:t>
            </a:r>
          </a:p>
          <a:p>
            <a:r>
              <a:rPr lang="en-US" i="1" dirty="0"/>
              <a:t>relevance</a:t>
            </a:r>
            <a:r>
              <a:rPr lang="en-US" b="1" dirty="0"/>
              <a:t> </a:t>
            </a:r>
            <a:r>
              <a:rPr lang="en-US" dirty="0"/>
              <a:t>of document </a:t>
            </a:r>
            <a:r>
              <a:rPr lang="en-US" i="1" dirty="0"/>
              <a:t>d </a:t>
            </a:r>
            <a:r>
              <a:rPr lang="en-US" dirty="0"/>
              <a:t>to a set of terms </a:t>
            </a:r>
            <a:r>
              <a:rPr lang="en-US" i="1" dirty="0"/>
              <a:t>Q </a:t>
            </a:r>
            <a:r>
              <a:rPr lang="en-US" dirty="0"/>
              <a:t>is then defined as:</a:t>
            </a:r>
          </a:p>
        </p:txBody>
      </p:sp>
      <p:sp>
        <p:nvSpPr>
          <p:cNvPr id="4" name="Slide Number Placeholder 3">
            <a:extLst>
              <a:ext uri="{FF2B5EF4-FFF2-40B4-BE49-F238E27FC236}">
                <a16:creationId xmlns:a16="http://schemas.microsoft.com/office/drawing/2014/main" id="{1CCF43B0-F640-516B-B13E-EF5A47A2122E}"/>
              </a:ext>
            </a:extLst>
          </p:cNvPr>
          <p:cNvSpPr>
            <a:spLocks noGrp="1"/>
          </p:cNvSpPr>
          <p:nvPr>
            <p:ph type="sldNum" sz="quarter" idx="12"/>
          </p:nvPr>
        </p:nvSpPr>
        <p:spPr/>
        <p:txBody>
          <a:bodyPr/>
          <a:lstStyle/>
          <a:p>
            <a:fld id="{6264BDCF-5269-49AC-A246-ED26C2B980E3}" type="slidenum">
              <a:rPr lang="en-US" smtClean="0"/>
              <a:t>75</a:t>
            </a:fld>
            <a:endParaRPr lang="en-US"/>
          </a:p>
        </p:txBody>
      </p:sp>
      <p:pic>
        <p:nvPicPr>
          <p:cNvPr id="8" name="Picture 7">
            <a:extLst>
              <a:ext uri="{FF2B5EF4-FFF2-40B4-BE49-F238E27FC236}">
                <a16:creationId xmlns:a16="http://schemas.microsoft.com/office/drawing/2014/main" id="{14CEBF04-202A-BBD2-5E0D-1AC52AC5DE6A}"/>
              </a:ext>
            </a:extLst>
          </p:cNvPr>
          <p:cNvPicPr>
            <a:picLocks noChangeAspect="1"/>
          </p:cNvPicPr>
          <p:nvPr/>
        </p:nvPicPr>
        <p:blipFill>
          <a:blip r:embed="rId2"/>
          <a:stretch>
            <a:fillRect/>
          </a:stretch>
        </p:blipFill>
        <p:spPr>
          <a:xfrm>
            <a:off x="2286000" y="2286000"/>
            <a:ext cx="2058559" cy="793402"/>
          </a:xfrm>
          <a:prstGeom prst="rect">
            <a:avLst/>
          </a:prstGeom>
        </p:spPr>
      </p:pic>
      <p:pic>
        <p:nvPicPr>
          <p:cNvPr id="10" name="Picture 9">
            <a:extLst>
              <a:ext uri="{FF2B5EF4-FFF2-40B4-BE49-F238E27FC236}">
                <a16:creationId xmlns:a16="http://schemas.microsoft.com/office/drawing/2014/main" id="{2CF89858-34BA-3E78-2C8C-4AC6B9298EBA}"/>
              </a:ext>
            </a:extLst>
          </p:cNvPr>
          <p:cNvPicPr>
            <a:picLocks noChangeAspect="1"/>
          </p:cNvPicPr>
          <p:nvPr/>
        </p:nvPicPr>
        <p:blipFill>
          <a:blip r:embed="rId3"/>
          <a:stretch>
            <a:fillRect/>
          </a:stretch>
        </p:blipFill>
        <p:spPr>
          <a:xfrm>
            <a:off x="2011680" y="4754880"/>
            <a:ext cx="4460212" cy="771961"/>
          </a:xfrm>
          <a:prstGeom prst="rect">
            <a:avLst/>
          </a:prstGeom>
        </p:spPr>
      </p:pic>
    </p:spTree>
    <p:extLst>
      <p:ext uri="{BB962C8B-B14F-4D97-AF65-F5344CB8AC3E}">
        <p14:creationId xmlns:p14="http://schemas.microsoft.com/office/powerpoint/2010/main" val="338734981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D52561D-34A3-BE28-B0E6-3EE062D9F082}"/>
              </a:ext>
            </a:extLst>
          </p:cNvPr>
          <p:cNvSpPr>
            <a:spLocks noGrp="1"/>
          </p:cNvSpPr>
          <p:nvPr>
            <p:ph type="title"/>
          </p:nvPr>
        </p:nvSpPr>
        <p:spPr/>
        <p:txBody>
          <a:bodyPr/>
          <a:lstStyle/>
          <a:p>
            <a:r>
              <a:rPr lang="en-US" dirty="0"/>
              <a:t>Spatial Data</a:t>
            </a:r>
          </a:p>
        </p:txBody>
      </p:sp>
      <p:sp>
        <p:nvSpPr>
          <p:cNvPr id="6" name="Text Placeholder 5">
            <a:extLst>
              <a:ext uri="{FF2B5EF4-FFF2-40B4-BE49-F238E27FC236}">
                <a16:creationId xmlns:a16="http://schemas.microsoft.com/office/drawing/2014/main" id="{3B85B501-0A5E-90DF-8C15-3CF36DFA0F1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443AE9C-0341-7EE6-35DD-E678696CA51D}"/>
              </a:ext>
            </a:extLst>
          </p:cNvPr>
          <p:cNvSpPr>
            <a:spLocks noGrp="1"/>
          </p:cNvSpPr>
          <p:nvPr>
            <p:ph type="sldNum" sz="quarter" idx="12"/>
          </p:nvPr>
        </p:nvSpPr>
        <p:spPr/>
        <p:txBody>
          <a:bodyPr/>
          <a:lstStyle/>
          <a:p>
            <a:fld id="{6264BDCF-5269-49AC-A246-ED26C2B980E3}" type="slidenum">
              <a:rPr lang="en-US" smtClean="0"/>
              <a:t>76</a:t>
            </a:fld>
            <a:endParaRPr lang="en-US"/>
          </a:p>
        </p:txBody>
      </p:sp>
    </p:spTree>
    <p:extLst>
      <p:ext uri="{BB962C8B-B14F-4D97-AF65-F5344CB8AC3E}">
        <p14:creationId xmlns:p14="http://schemas.microsoft.com/office/powerpoint/2010/main" val="22004797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683C2-1F9A-1837-1A90-0B0EA58F6E1D}"/>
              </a:ext>
            </a:extLst>
          </p:cNvPr>
          <p:cNvSpPr>
            <a:spLocks noGrp="1"/>
          </p:cNvSpPr>
          <p:nvPr>
            <p:ph type="title"/>
          </p:nvPr>
        </p:nvSpPr>
        <p:spPr/>
        <p:txBody>
          <a:bodyPr/>
          <a:lstStyle/>
          <a:p>
            <a:r>
              <a:rPr lang="en-US" b="1" dirty="0"/>
              <a:t>Spatial Data</a:t>
            </a:r>
            <a:endParaRPr lang="en-US" dirty="0"/>
          </a:p>
        </p:txBody>
      </p:sp>
      <p:sp>
        <p:nvSpPr>
          <p:cNvPr id="3" name="Content Placeholder 2">
            <a:extLst>
              <a:ext uri="{FF2B5EF4-FFF2-40B4-BE49-F238E27FC236}">
                <a16:creationId xmlns:a16="http://schemas.microsoft.com/office/drawing/2014/main" id="{23680E65-2E6F-994A-6C83-D91E8AF9DAEB}"/>
              </a:ext>
            </a:extLst>
          </p:cNvPr>
          <p:cNvSpPr>
            <a:spLocks noGrp="1"/>
          </p:cNvSpPr>
          <p:nvPr>
            <p:ph idx="1"/>
          </p:nvPr>
        </p:nvSpPr>
        <p:spPr/>
        <p:txBody>
          <a:bodyPr>
            <a:normAutofit fontScale="92500" lnSpcReduction="20000"/>
          </a:bodyPr>
          <a:lstStyle/>
          <a:p>
            <a:r>
              <a:rPr lang="en-US" dirty="0"/>
              <a:t>Spatial data support in database systems is important for efficiently storing, indexing, and querying of data on the basis of spatial locations</a:t>
            </a:r>
          </a:p>
          <a:p>
            <a:pPr marL="514350" indent="-514350">
              <a:buFont typeface="+mj-lt"/>
              <a:buAutoNum type="arabicPeriod"/>
            </a:pPr>
            <a:r>
              <a:rPr lang="en-US" b="1" dirty="0"/>
              <a:t>Geographic data </a:t>
            </a:r>
            <a:r>
              <a:rPr lang="en-US" dirty="0"/>
              <a:t>such as road maps, land-usage maps, topographic elevation maps, political maps showing boundaries, land-ownership maps, and so on; </a:t>
            </a:r>
            <a:r>
              <a:rPr lang="en-US" b="1" dirty="0"/>
              <a:t>Geographic Information Systems (GIS) </a:t>
            </a:r>
            <a:r>
              <a:rPr lang="en-US" dirty="0"/>
              <a:t>are special purpose database systems tailored for storing geographic data</a:t>
            </a:r>
          </a:p>
          <a:p>
            <a:r>
              <a:rPr lang="en-US" dirty="0"/>
              <a:t>Geographic data is based on a round-earth coordinate system, with latitude, longitude, and elevation</a:t>
            </a:r>
          </a:p>
          <a:p>
            <a:pPr marL="514350" indent="-514350">
              <a:buFont typeface="+mj-lt"/>
              <a:buAutoNum type="arabicPeriod" startAt="2"/>
            </a:pPr>
            <a:r>
              <a:rPr lang="en-US" b="1" dirty="0"/>
              <a:t>Geometric data</a:t>
            </a:r>
            <a:r>
              <a:rPr lang="en-US" dirty="0"/>
              <a:t>, which include spatial information about how objects -such as buildings, cars, or aircraft – are constructed</a:t>
            </a:r>
          </a:p>
          <a:p>
            <a:r>
              <a:rPr lang="en-US" dirty="0"/>
              <a:t>Geometric data is based on a two-dimensional or three dimensional Euclidean space, with </a:t>
            </a:r>
            <a:r>
              <a:rPr lang="en-US" i="1" dirty="0"/>
              <a:t>X</a:t>
            </a:r>
            <a:r>
              <a:rPr lang="en-US" dirty="0"/>
              <a:t>, </a:t>
            </a:r>
            <a:r>
              <a:rPr lang="en-US" i="1" dirty="0"/>
              <a:t>Y</a:t>
            </a:r>
            <a:r>
              <a:rPr lang="en-US" dirty="0"/>
              <a:t>, and </a:t>
            </a:r>
            <a:r>
              <a:rPr lang="en-US" i="1" dirty="0"/>
              <a:t>Z </a:t>
            </a:r>
            <a:r>
              <a:rPr lang="en-US" dirty="0"/>
              <a:t>coordinates</a:t>
            </a:r>
          </a:p>
        </p:txBody>
      </p:sp>
      <p:sp>
        <p:nvSpPr>
          <p:cNvPr id="4" name="Slide Number Placeholder 3">
            <a:extLst>
              <a:ext uri="{FF2B5EF4-FFF2-40B4-BE49-F238E27FC236}">
                <a16:creationId xmlns:a16="http://schemas.microsoft.com/office/drawing/2014/main" id="{43EA8683-1B2D-4590-91B9-836E237AD008}"/>
              </a:ext>
            </a:extLst>
          </p:cNvPr>
          <p:cNvSpPr>
            <a:spLocks noGrp="1"/>
          </p:cNvSpPr>
          <p:nvPr>
            <p:ph type="sldNum" sz="quarter" idx="12"/>
          </p:nvPr>
        </p:nvSpPr>
        <p:spPr/>
        <p:txBody>
          <a:bodyPr/>
          <a:lstStyle/>
          <a:p>
            <a:fld id="{6264BDCF-5269-49AC-A246-ED26C2B980E3}" type="slidenum">
              <a:rPr lang="en-US" smtClean="0"/>
              <a:t>77</a:t>
            </a:fld>
            <a:endParaRPr lang="en-US"/>
          </a:p>
        </p:txBody>
      </p:sp>
    </p:spTree>
    <p:extLst>
      <p:ext uri="{BB962C8B-B14F-4D97-AF65-F5344CB8AC3E}">
        <p14:creationId xmlns:p14="http://schemas.microsoft.com/office/powerpoint/2010/main" val="6650574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00A89-10E2-2747-4B01-9366070FF31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A7F0094-FFD6-7516-5737-9825DF5A21F3}"/>
              </a:ext>
            </a:extLst>
          </p:cNvPr>
          <p:cNvSpPr>
            <a:spLocks noGrp="1"/>
          </p:cNvSpPr>
          <p:nvPr>
            <p:ph idx="1"/>
          </p:nvPr>
        </p:nvSpPr>
        <p:spPr/>
        <p:txBody>
          <a:bodyPr/>
          <a:lstStyle/>
          <a:p>
            <a:r>
              <a:rPr lang="en-US" dirty="0"/>
              <a:t>Geographic and Geometric data types are supported by many database systems, such as the </a:t>
            </a:r>
            <a:r>
              <a:rPr lang="en-US" dirty="0" err="1"/>
              <a:t>PostGIS</a:t>
            </a:r>
            <a:r>
              <a:rPr lang="en-US" dirty="0"/>
              <a:t> extension of </a:t>
            </a:r>
            <a:r>
              <a:rPr lang="en-US" dirty="0" err="1"/>
              <a:t>PostGreSQL</a:t>
            </a:r>
            <a:endParaRPr lang="en-US" dirty="0"/>
          </a:p>
        </p:txBody>
      </p:sp>
      <p:sp>
        <p:nvSpPr>
          <p:cNvPr id="4" name="Slide Number Placeholder 3">
            <a:extLst>
              <a:ext uri="{FF2B5EF4-FFF2-40B4-BE49-F238E27FC236}">
                <a16:creationId xmlns:a16="http://schemas.microsoft.com/office/drawing/2014/main" id="{45AF2AF1-4BF4-F733-ABC7-705723DAB943}"/>
              </a:ext>
            </a:extLst>
          </p:cNvPr>
          <p:cNvSpPr>
            <a:spLocks noGrp="1"/>
          </p:cNvSpPr>
          <p:nvPr>
            <p:ph type="sldNum" sz="quarter" idx="12"/>
          </p:nvPr>
        </p:nvSpPr>
        <p:spPr/>
        <p:txBody>
          <a:bodyPr/>
          <a:lstStyle/>
          <a:p>
            <a:fld id="{6264BDCF-5269-49AC-A246-ED26C2B980E3}" type="slidenum">
              <a:rPr lang="en-US" smtClean="0"/>
              <a:t>78</a:t>
            </a:fld>
            <a:endParaRPr lang="en-US"/>
          </a:p>
        </p:txBody>
      </p:sp>
    </p:spTree>
    <p:extLst>
      <p:ext uri="{BB962C8B-B14F-4D97-AF65-F5344CB8AC3E}">
        <p14:creationId xmlns:p14="http://schemas.microsoft.com/office/powerpoint/2010/main" val="24290416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D1F13D339BA04089B6530E3063BBB0" ma:contentTypeVersion="3" ma:contentTypeDescription="Create a new document." ma:contentTypeScope="" ma:versionID="53edffdedc90a5cc23417a2d239f45a4">
  <xsd:schema xmlns:xsd="http://www.w3.org/2001/XMLSchema" xmlns:xs="http://www.w3.org/2001/XMLSchema" xmlns:p="http://schemas.microsoft.com/office/2006/metadata/properties" xmlns:ns2="a1338ef3-f957-4fbb-b33a-3b606fe126b3" targetNamespace="http://schemas.microsoft.com/office/2006/metadata/properties" ma:root="true" ma:fieldsID="9f407ff9521a5dcbcc967750435157a3" ns2:_="">
    <xsd:import namespace="a1338ef3-f957-4fbb-b33a-3b606fe126b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338ef3-f957-4fbb-b33a-3b606fe126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03A4F51-1F06-422B-AB61-B1107E4095DB}"/>
</file>

<file path=customXml/itemProps2.xml><?xml version="1.0" encoding="utf-8"?>
<ds:datastoreItem xmlns:ds="http://schemas.openxmlformats.org/officeDocument/2006/customXml" ds:itemID="{C38EE7DD-5BD0-47F7-A63C-83989D3446ED}"/>
</file>

<file path=customXml/itemProps3.xml><?xml version="1.0" encoding="utf-8"?>
<ds:datastoreItem xmlns:ds="http://schemas.openxmlformats.org/officeDocument/2006/customXml" ds:itemID="{9F6750EF-1DBD-48C1-824B-C14A606C3A14}"/>
</file>

<file path=docProps/app.xml><?xml version="1.0" encoding="utf-8"?>
<Properties xmlns="http://schemas.openxmlformats.org/officeDocument/2006/extended-properties" xmlns:vt="http://schemas.openxmlformats.org/officeDocument/2006/docPropsVTypes">
  <TotalTime>4319</TotalTime>
  <Words>4686</Words>
  <Application>Microsoft Office PowerPoint</Application>
  <PresentationFormat>Widescreen</PresentationFormat>
  <Paragraphs>397</Paragraphs>
  <Slides>78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78</vt:i4>
      </vt:variant>
    </vt:vector>
  </HeadingPairs>
  <TitlesOfParts>
    <vt:vector size="82" baseType="lpstr">
      <vt:lpstr>Arial</vt:lpstr>
      <vt:lpstr>Calibri</vt:lpstr>
      <vt:lpstr>Calibri Light</vt:lpstr>
      <vt:lpstr>Office Theme</vt:lpstr>
      <vt:lpstr>DataBase</vt:lpstr>
      <vt:lpstr>DataBase</vt:lpstr>
      <vt:lpstr>Complex Data Types</vt:lpstr>
      <vt:lpstr>Complex Data Types</vt:lpstr>
      <vt:lpstr>Semi-Structured Data</vt:lpstr>
      <vt:lpstr>PowerPoint Presentation</vt:lpstr>
      <vt:lpstr>PowerPoint Presentation</vt:lpstr>
      <vt:lpstr>PowerPoint Presentation</vt:lpstr>
      <vt:lpstr>Semi-Structured Data Models</vt:lpstr>
      <vt:lpstr>Flexible Schema</vt:lpstr>
      <vt:lpstr>Multivalued Data Types</vt:lpstr>
      <vt:lpstr>PowerPoint Presentation</vt:lpstr>
      <vt:lpstr>PowerPoint Presentation</vt:lpstr>
      <vt:lpstr>arrays</vt:lpstr>
      <vt:lpstr>Nested Data Types</vt:lpstr>
      <vt:lpstr>PowerPoint Presentation</vt:lpstr>
      <vt:lpstr>PowerPoint Presentation</vt:lpstr>
      <vt:lpstr>JSON</vt:lpstr>
      <vt:lpstr>XML</vt:lpstr>
      <vt:lpstr>Knowledge Representation</vt:lpstr>
      <vt:lpstr>JSON</vt:lpstr>
      <vt:lpstr>JavaScript Object Notation (JSON)</vt:lpstr>
      <vt:lpstr>Example of JSON data</vt:lpstr>
      <vt:lpstr>PowerPoint Presentation</vt:lpstr>
      <vt:lpstr>PowerPoint Presentation</vt:lpstr>
      <vt:lpstr>PowerPoint Presentation</vt:lpstr>
      <vt:lpstr>PowerPoint Presentation</vt:lpstr>
      <vt:lpstr>JSON </vt:lpstr>
      <vt:lpstr>JSON </vt:lpstr>
      <vt:lpstr>JSON </vt:lpstr>
      <vt:lpstr>JSON </vt:lpstr>
      <vt:lpstr>JSON </vt:lpstr>
      <vt:lpstr>XML</vt:lpstr>
      <vt:lpstr>eXtensible Markup Language (XML)</vt:lpstr>
      <vt:lpstr>PowerPoint Presentation</vt:lpstr>
      <vt:lpstr>PowerPoint Presentation</vt:lpstr>
      <vt:lpstr>PowerPoint Presentation</vt:lpstr>
      <vt:lpstr>Resource Description Framework (RDF) and Knowledge Graphs</vt:lpstr>
      <vt:lpstr>PowerPoint Presentation</vt:lpstr>
      <vt:lpstr>Graph-based Data Model</vt:lpstr>
      <vt:lpstr>PowerPoint Presentation</vt:lpstr>
      <vt:lpstr>RDF representation of part of University database</vt:lpstr>
      <vt:lpstr>Graph representation of RDF data</vt:lpstr>
      <vt:lpstr>knowledge graph</vt:lpstr>
      <vt:lpstr>SPARQL</vt:lpstr>
      <vt:lpstr>PowerPoint Presentation</vt:lpstr>
      <vt:lpstr>PowerPoint Presentation</vt:lpstr>
      <vt:lpstr>PowerPoint Presentation</vt:lpstr>
      <vt:lpstr>Object-Relational Data Model</vt:lpstr>
      <vt:lpstr>Object-Relational Data Model</vt:lpstr>
      <vt:lpstr>PowerPoint Presentation</vt:lpstr>
      <vt:lpstr>PowerPoint Presentation</vt:lpstr>
      <vt:lpstr>Object-Relational Database Systems</vt:lpstr>
      <vt:lpstr>User-Defined Types</vt:lpstr>
      <vt:lpstr>PowerPoint Presentation</vt:lpstr>
      <vt:lpstr>Type Inheritance</vt:lpstr>
      <vt:lpstr>PowerPoint Presentation</vt:lpstr>
      <vt:lpstr>table inheritance</vt:lpstr>
      <vt:lpstr>PowerPoint Presentation</vt:lpstr>
      <vt:lpstr>Object-Relational Mapping (ORM)</vt:lpstr>
      <vt:lpstr>Object-Relational Mapping (ORM)</vt:lpstr>
      <vt:lpstr>PowerPoint Presentation</vt:lpstr>
      <vt:lpstr>PowerPoint Presentation</vt:lpstr>
      <vt:lpstr>PowerPoint Presentation</vt:lpstr>
      <vt:lpstr>PowerPoint Presentation</vt:lpstr>
      <vt:lpstr>Textual Data</vt:lpstr>
      <vt:lpstr>PowerPoint Presentation</vt:lpstr>
      <vt:lpstr>Keyword Queries</vt:lpstr>
      <vt:lpstr>PowerPoint Presentation</vt:lpstr>
      <vt:lpstr>Relevance Ranking</vt:lpstr>
      <vt:lpstr>Ranking Using TF–IDF</vt:lpstr>
      <vt:lpstr>PowerPoint Presentation</vt:lpstr>
      <vt:lpstr>PowerPoint Presentation</vt:lpstr>
      <vt:lpstr>PowerPoint Presentation</vt:lpstr>
      <vt:lpstr>PowerPoint Presentation</vt:lpstr>
      <vt:lpstr>Spatial Data</vt:lpstr>
      <vt:lpstr>Spatial Data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dc:title>
  <dc:creator>Calin Cenan</dc:creator>
  <cp:lastModifiedBy>Calin Cenan</cp:lastModifiedBy>
  <cp:revision>113</cp:revision>
  <dcterms:created xsi:type="dcterms:W3CDTF">2023-08-06T12:55:35Z</dcterms:created>
  <dcterms:modified xsi:type="dcterms:W3CDTF">2026-01-04T06:14:05Z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2023-08-06T13:14:17Z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de879172-8bb0-4294-827c-110d21e2f193</vt:lpwstr>
  </property>
  <property fmtid="{D5CDD505-2E9C-101B-9397-08002B2CF9AE}" pid="8" name="MSIP_Label_5b58b62f-6f94-46bd-8089-18e64b0a9abb_ContentBits">
    <vt:lpwstr>0</vt:lpwstr>
  </property>
  <property fmtid="{D5CDD505-2E9C-101B-9397-08002B2CF9AE}" pid="9" name="ContentTypeId">
    <vt:lpwstr>0x01010042D1F13D339BA04089B6530E3063BBB0</vt:lpwstr>
  </property>
</Properties>
</file>