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1"/>
  </p:notesMasterIdLst>
  <p:sldIdLst>
    <p:sldId id="256" r:id="rId2"/>
    <p:sldId id="271" r:id="rId3"/>
    <p:sldId id="272" r:id="rId4"/>
    <p:sldId id="270" r:id="rId5"/>
    <p:sldId id="273" r:id="rId6"/>
    <p:sldId id="274" r:id="rId7"/>
    <p:sldId id="288" r:id="rId8"/>
    <p:sldId id="289" r:id="rId9"/>
    <p:sldId id="302" r:id="rId10"/>
    <p:sldId id="334" r:id="rId11"/>
    <p:sldId id="335" r:id="rId12"/>
    <p:sldId id="336" r:id="rId13"/>
    <p:sldId id="337" r:id="rId14"/>
    <p:sldId id="338" r:id="rId15"/>
    <p:sldId id="339" r:id="rId16"/>
    <p:sldId id="340" r:id="rId17"/>
    <p:sldId id="341" r:id="rId18"/>
    <p:sldId id="342" r:id="rId19"/>
    <p:sldId id="344" r:id="rId20"/>
    <p:sldId id="343" r:id="rId21"/>
    <p:sldId id="345" r:id="rId22"/>
    <p:sldId id="346" r:id="rId23"/>
    <p:sldId id="347" r:id="rId24"/>
    <p:sldId id="348" r:id="rId25"/>
    <p:sldId id="349" r:id="rId26"/>
    <p:sldId id="350" r:id="rId27"/>
    <p:sldId id="353" r:id="rId28"/>
    <p:sldId id="354" r:id="rId29"/>
    <p:sldId id="355" r:id="rId30"/>
    <p:sldId id="356" r:id="rId31"/>
    <p:sldId id="352" r:id="rId32"/>
    <p:sldId id="357" r:id="rId33"/>
    <p:sldId id="358" r:id="rId34"/>
    <p:sldId id="359" r:id="rId35"/>
    <p:sldId id="360" r:id="rId36"/>
    <p:sldId id="362" r:id="rId37"/>
    <p:sldId id="361" r:id="rId38"/>
    <p:sldId id="363" r:id="rId39"/>
    <p:sldId id="364" r:id="rId40"/>
    <p:sldId id="365" r:id="rId41"/>
    <p:sldId id="366" r:id="rId42"/>
    <p:sldId id="368" r:id="rId43"/>
    <p:sldId id="367" r:id="rId44"/>
    <p:sldId id="369" r:id="rId45"/>
    <p:sldId id="370" r:id="rId46"/>
    <p:sldId id="371" r:id="rId47"/>
    <p:sldId id="374" r:id="rId48"/>
    <p:sldId id="372" r:id="rId49"/>
    <p:sldId id="373" r:id="rId50"/>
    <p:sldId id="375" r:id="rId51"/>
    <p:sldId id="376" r:id="rId52"/>
    <p:sldId id="377" r:id="rId53"/>
    <p:sldId id="378" r:id="rId54"/>
    <p:sldId id="379" r:id="rId55"/>
    <p:sldId id="380" r:id="rId56"/>
    <p:sldId id="381" r:id="rId57"/>
    <p:sldId id="382" r:id="rId58"/>
    <p:sldId id="385" r:id="rId59"/>
    <p:sldId id="383" r:id="rId60"/>
    <p:sldId id="386" r:id="rId61"/>
    <p:sldId id="384" r:id="rId62"/>
    <p:sldId id="387" r:id="rId63"/>
    <p:sldId id="390" r:id="rId64"/>
    <p:sldId id="388" r:id="rId65"/>
    <p:sldId id="389" r:id="rId66"/>
    <p:sldId id="391" r:id="rId67"/>
    <p:sldId id="392" r:id="rId68"/>
    <p:sldId id="393" r:id="rId69"/>
    <p:sldId id="394" r:id="rId70"/>
    <p:sldId id="395" r:id="rId71"/>
    <p:sldId id="396" r:id="rId72"/>
    <p:sldId id="397" r:id="rId73"/>
    <p:sldId id="398" r:id="rId74"/>
    <p:sldId id="399" r:id="rId75"/>
    <p:sldId id="402" r:id="rId76"/>
    <p:sldId id="400" r:id="rId77"/>
    <p:sldId id="404" r:id="rId78"/>
    <p:sldId id="406" r:id="rId79"/>
    <p:sldId id="405" r:id="rId80"/>
    <p:sldId id="407" r:id="rId81"/>
    <p:sldId id="408" r:id="rId82"/>
    <p:sldId id="409" r:id="rId83"/>
    <p:sldId id="410" r:id="rId84"/>
    <p:sldId id="411" r:id="rId85"/>
    <p:sldId id="412" r:id="rId86"/>
    <p:sldId id="413" r:id="rId87"/>
    <p:sldId id="414" r:id="rId88"/>
    <p:sldId id="416" r:id="rId89"/>
    <p:sldId id="415" r:id="rId90"/>
    <p:sldId id="417" r:id="rId91"/>
    <p:sldId id="418" r:id="rId92"/>
    <p:sldId id="419" r:id="rId93"/>
    <p:sldId id="420" r:id="rId94"/>
    <p:sldId id="422" r:id="rId95"/>
    <p:sldId id="421" r:id="rId96"/>
    <p:sldId id="423" r:id="rId97"/>
    <p:sldId id="424" r:id="rId98"/>
    <p:sldId id="425" r:id="rId99"/>
    <p:sldId id="427" r:id="rId100"/>
    <p:sldId id="426" r:id="rId101"/>
    <p:sldId id="428" r:id="rId102"/>
    <p:sldId id="429" r:id="rId103"/>
    <p:sldId id="430" r:id="rId104"/>
    <p:sldId id="431" r:id="rId105"/>
    <p:sldId id="432" r:id="rId106"/>
    <p:sldId id="433" r:id="rId107"/>
    <p:sldId id="434" r:id="rId108"/>
    <p:sldId id="435" r:id="rId109"/>
    <p:sldId id="436" r:id="rId1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customXml" Target="../customXml/item2.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118" Type="http://schemas.openxmlformats.org/officeDocument/2006/relationships/customXml" Target="../customXml/item3.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F28022-3C0D-418B-A8D0-6F07DD708D64}" type="datetimeFigureOut">
              <a:rPr lang="en-US" smtClean="0"/>
              <a:pPr/>
              <a:t>7/27/2025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77C1943-EA29-41FC-8FD0-B2CFE1435960}" type="slidenum">
              <a:rPr lang="en-US" smtClean="0"/>
              <a:pPr/>
              <a:t>‹#›</a:t>
            </a:fld>
            <a:endParaRPr lang="en-US"/>
          </a:p>
        </p:txBody>
      </p:sp>
    </p:spTree>
    <p:extLst>
      <p:ext uri="{BB962C8B-B14F-4D97-AF65-F5344CB8AC3E}">
        <p14:creationId xmlns:p14="http://schemas.microsoft.com/office/powerpoint/2010/main" val="136918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D2F0693-3796-4872-A646-36E9DD818325}" type="datetime1">
              <a:rPr lang="en-US" smtClean="0"/>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E15C6B-A99D-4376-B85D-B9F8AA4AA6C2}" type="datetime1">
              <a:rPr lang="en-US" smtClean="0"/>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C161B2-CFBA-4340-AEA4-5D8542C068CF}" type="datetime1">
              <a:rPr lang="en-US" smtClean="0"/>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D18B736-50EF-48EA-AB03-2E3302D67BCB}" type="datetime1">
              <a:rPr lang="en-US" smtClean="0"/>
              <a:t>7/27/2025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BB244C6-2BE6-4274-9647-B45DDA121EF7}" type="datetime1">
              <a:rPr lang="en-US" smtClean="0"/>
              <a:t>7/27/2025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C68B19-1A13-4694-8113-01153F41A6A1}" type="datetime1">
              <a:rPr lang="en-US" smtClean="0"/>
              <a:t>7/27/2025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F223B1-26B7-4927-8A17-9A12A0387197}" type="datetime1">
              <a:rPr lang="en-US" smtClean="0"/>
              <a:t>7/27/2025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5A93DA-D41D-4C3D-9F59-01152E6E7804}" type="datetime1">
              <a:rPr lang="en-US" smtClean="0"/>
              <a:t>7/27/2025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4753F7-2318-4A49-BA8C-91D00DE5893F}" type="datetime1">
              <a:rPr lang="en-US" smtClean="0"/>
              <a:t>7/27/2025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CA11B2-A719-45B9-A2C8-422707F433E0}" type="datetime1">
              <a:rPr lang="en-US" smtClean="0"/>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70C866-4B19-4831-BC60-0FCF548618BC}" type="datetime1">
              <a:rPr lang="en-US" smtClean="0"/>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EDA98C-EC19-43B6-9880-785FFE0C27DA}" type="datetime1">
              <a:rPr lang="en-US" smtClean="0"/>
              <a:t>7/27/2025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Structured Query Language</a:t>
            </a:r>
          </a:p>
        </p:txBody>
      </p:sp>
      <p:sp>
        <p:nvSpPr>
          <p:cNvPr id="3" name="Subtitle 2"/>
          <p:cNvSpPr>
            <a:spLocks noGrp="1"/>
          </p:cNvSpPr>
          <p:nvPr>
            <p:ph type="subTitle" idx="1"/>
          </p:nvPr>
        </p:nvSpPr>
        <p:spPr/>
        <p:txBody>
          <a:bodyPr/>
          <a:lstStyle/>
          <a:p>
            <a:endParaRPr lang="en-US" dirty="0"/>
          </a:p>
        </p:txBody>
      </p:sp>
      <p:sp>
        <p:nvSpPr>
          <p:cNvPr id="5" name="Slide Number Placeholder 4"/>
          <p:cNvSpPr>
            <a:spLocks noGrp="1"/>
          </p:cNvSpPr>
          <p:nvPr>
            <p:ph type="sldNum" sz="quarter" idx="12"/>
          </p:nvPr>
        </p:nvSpPr>
        <p:spPr/>
        <p:txBody>
          <a:bodyPr/>
          <a:lstStyle/>
          <a:p>
            <a:fld id="{1E923D44-A265-4C35-B3D9-34A1C005FE0F}" type="slidenum">
              <a:rPr lang="en-US" smtClean="0"/>
              <a:pPr/>
              <a:t>1</a:t>
            </a:fld>
            <a:endParaRPr lang="en-US"/>
          </a:p>
        </p:txBody>
      </p:sp>
    </p:spTree>
    <p:extLst>
      <p:ext uri="{BB962C8B-B14F-4D97-AF65-F5344CB8AC3E}">
        <p14:creationId xmlns:p14="http://schemas.microsoft.com/office/powerpoint/2010/main" val="2470713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82A5C3E-A73C-8FA1-AD38-F3575B8FD94C}"/>
              </a:ext>
            </a:extLst>
          </p:cNvPr>
          <p:cNvSpPr>
            <a:spLocks noGrp="1"/>
          </p:cNvSpPr>
          <p:nvPr>
            <p:ph type="title"/>
          </p:nvPr>
        </p:nvSpPr>
        <p:spPr>
          <a:xfrm>
            <a:off x="722312" y="4406900"/>
            <a:ext cx="8269287" cy="1362075"/>
          </a:xfrm>
        </p:spPr>
        <p:txBody>
          <a:bodyPr/>
          <a:lstStyle/>
          <a:p>
            <a:r>
              <a:rPr lang="en-US" dirty="0"/>
              <a:t>Structured Query Language SQL</a:t>
            </a:r>
          </a:p>
        </p:txBody>
      </p:sp>
      <p:sp>
        <p:nvSpPr>
          <p:cNvPr id="6" name="Text Placeholder 5">
            <a:extLst>
              <a:ext uri="{FF2B5EF4-FFF2-40B4-BE49-F238E27FC236}">
                <a16:creationId xmlns:a16="http://schemas.microsoft.com/office/drawing/2014/main" id="{A37001C3-D56B-B8B5-5F76-6427CDD83FD0}"/>
              </a:ext>
            </a:extLst>
          </p:cNvPr>
          <p:cNvSpPr>
            <a:spLocks noGrp="1"/>
          </p:cNvSpPr>
          <p:nvPr>
            <p:ph type="body" idx="1"/>
          </p:nvPr>
        </p:nvSpPr>
        <p:spPr/>
        <p:txBody>
          <a:bodyPr/>
          <a:lstStyle/>
          <a:p>
            <a:r>
              <a:rPr lang="en-US" dirty="0"/>
              <a:t>SQL language</a:t>
            </a:r>
          </a:p>
        </p:txBody>
      </p:sp>
      <p:sp>
        <p:nvSpPr>
          <p:cNvPr id="4" name="Slide Number Placeholder 3">
            <a:extLst>
              <a:ext uri="{FF2B5EF4-FFF2-40B4-BE49-F238E27FC236}">
                <a16:creationId xmlns:a16="http://schemas.microsoft.com/office/drawing/2014/main" id="{D5BED1D5-F651-2F57-303E-5CF382AA2D1B}"/>
              </a:ext>
            </a:extLst>
          </p:cNvPr>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233232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2501-8409-1C3F-20D5-C3BE00C04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E867E-B912-7D23-8FFE-5FD86F9E7C57}"/>
              </a:ext>
            </a:extLst>
          </p:cNvPr>
          <p:cNvSpPr>
            <a:spLocks noGrp="1"/>
          </p:cNvSpPr>
          <p:nvPr>
            <p:ph type="title"/>
          </p:nvPr>
        </p:nvSpPr>
        <p:spPr/>
        <p:txBody>
          <a:bodyPr>
            <a:normAutofit fontScale="90000"/>
          </a:bodyPr>
          <a:lstStyle/>
          <a:p>
            <a:r>
              <a:rPr lang="en-US" dirty="0"/>
              <a:t>Structured Query Language </a:t>
            </a:r>
            <a:br>
              <a:rPr lang="en-US" dirty="0"/>
            </a:br>
            <a:r>
              <a:rPr lang="en-US" dirty="0"/>
              <a:t>SQL language</a:t>
            </a:r>
          </a:p>
        </p:txBody>
      </p:sp>
      <p:sp>
        <p:nvSpPr>
          <p:cNvPr id="3" name="Content Placeholder 2">
            <a:extLst>
              <a:ext uri="{FF2B5EF4-FFF2-40B4-BE49-F238E27FC236}">
                <a16:creationId xmlns:a16="http://schemas.microsoft.com/office/drawing/2014/main" id="{2F71A06F-ECAA-4B10-F5F6-F12FE6FF07AF}"/>
              </a:ext>
            </a:extLst>
          </p:cNvPr>
          <p:cNvSpPr>
            <a:spLocks noGrp="1"/>
          </p:cNvSpPr>
          <p:nvPr>
            <p:ph idx="1"/>
          </p:nvPr>
        </p:nvSpPr>
        <p:spPr/>
        <p:txBody>
          <a:bodyPr>
            <a:noAutofit/>
          </a:bodyPr>
          <a:lstStyle/>
          <a:p>
            <a:r>
              <a:rPr lang="en-US" sz="2800" dirty="0"/>
              <a:t>Data Manipulation Language (DML): subset of SQL allows users to pose queries and do CRUD operations: insert, delete, and modify rows</a:t>
            </a:r>
          </a:p>
          <a:p>
            <a:pPr lvl="1"/>
            <a:r>
              <a:rPr lang="en-US" sz="2700" dirty="0"/>
              <a:t>SELECT Queries are the main focus of this part</a:t>
            </a:r>
          </a:p>
          <a:p>
            <a:r>
              <a:rPr lang="en-US" sz="2800" dirty="0"/>
              <a:t>Data Definition Language (DDL): subset of SQL supports the creation, deletion, and modification of definitions for tables and views and Integrity Constraints</a:t>
            </a:r>
          </a:p>
        </p:txBody>
      </p:sp>
      <p:sp>
        <p:nvSpPr>
          <p:cNvPr id="4" name="Slide Number Placeholder 3">
            <a:extLst>
              <a:ext uri="{FF2B5EF4-FFF2-40B4-BE49-F238E27FC236}">
                <a16:creationId xmlns:a16="http://schemas.microsoft.com/office/drawing/2014/main" id="{A0410F31-C6E3-A302-8E6D-8585FFFA5F1A}"/>
              </a:ext>
            </a:extLst>
          </p:cNvPr>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2383277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9F886-9DF9-86C5-6B6A-E5A8694A5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F3E87-2498-03A6-5858-9B3775D976D1}"/>
              </a:ext>
            </a:extLst>
          </p:cNvPr>
          <p:cNvSpPr>
            <a:spLocks noGrp="1"/>
          </p:cNvSpPr>
          <p:nvPr>
            <p:ph type="title"/>
          </p:nvPr>
        </p:nvSpPr>
        <p:spPr/>
        <p:txBody>
          <a:bodyPr>
            <a:normAutofit fontScale="90000"/>
          </a:bodyPr>
          <a:lstStyle/>
          <a:p>
            <a:r>
              <a:rPr lang="en-US" dirty="0"/>
              <a:t>Structured Query Language </a:t>
            </a:r>
            <a:br>
              <a:rPr lang="en-US" dirty="0"/>
            </a:br>
            <a:r>
              <a:rPr lang="en-US" dirty="0"/>
              <a:t>SQL language</a:t>
            </a:r>
          </a:p>
        </p:txBody>
      </p:sp>
      <p:sp>
        <p:nvSpPr>
          <p:cNvPr id="3" name="Content Placeholder 2">
            <a:extLst>
              <a:ext uri="{FF2B5EF4-FFF2-40B4-BE49-F238E27FC236}">
                <a16:creationId xmlns:a16="http://schemas.microsoft.com/office/drawing/2014/main" id="{CDD491BC-F14A-3333-B84F-D1B92EEE9A56}"/>
              </a:ext>
            </a:extLst>
          </p:cNvPr>
          <p:cNvSpPr>
            <a:spLocks noGrp="1"/>
          </p:cNvSpPr>
          <p:nvPr>
            <p:ph idx="1"/>
          </p:nvPr>
        </p:nvSpPr>
        <p:spPr/>
        <p:txBody>
          <a:bodyPr>
            <a:normAutofit/>
          </a:bodyPr>
          <a:lstStyle/>
          <a:p>
            <a:r>
              <a:rPr lang="en-US" sz="2800" dirty="0"/>
              <a:t>Embedded and Dynamic SQL: embedded SQL features allow SQL code to be called from a host language such as C, Java or Python. </a:t>
            </a:r>
          </a:p>
          <a:p>
            <a:r>
              <a:rPr lang="en-US" sz="2800" dirty="0"/>
              <a:t>Security: SQL provides mechanisms to control users' access to data objects.</a:t>
            </a:r>
          </a:p>
          <a:p>
            <a:r>
              <a:rPr lang="en-US" sz="2800" dirty="0"/>
              <a:t>Advanced features: the SQL:1999 standard includes object-oriented features and many others</a:t>
            </a:r>
          </a:p>
          <a:p>
            <a:endParaRPr lang="en-US" sz="2800" dirty="0"/>
          </a:p>
        </p:txBody>
      </p:sp>
      <p:sp>
        <p:nvSpPr>
          <p:cNvPr id="4" name="Slide Number Placeholder 3">
            <a:extLst>
              <a:ext uri="{FF2B5EF4-FFF2-40B4-BE49-F238E27FC236}">
                <a16:creationId xmlns:a16="http://schemas.microsoft.com/office/drawing/2014/main" id="{9AF2046C-E6B4-0167-6EFD-62B07EEB523B}"/>
              </a:ext>
            </a:extLst>
          </p:cNvPr>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3280671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B8A76-A30D-4D90-4791-796FFDB725F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06A4C2-8EF4-578F-E92A-8E0B32E7E38C}"/>
              </a:ext>
            </a:extLst>
          </p:cNvPr>
          <p:cNvSpPr>
            <a:spLocks noGrp="1"/>
          </p:cNvSpPr>
          <p:nvPr>
            <p:ph idx="1"/>
          </p:nvPr>
        </p:nvSpPr>
        <p:spPr/>
        <p:txBody>
          <a:bodyPr>
            <a:noAutofit/>
          </a:bodyPr>
          <a:lstStyle/>
          <a:p>
            <a:pPr marR="0" algn="just" rtl="0"/>
            <a:r>
              <a:rPr lang="en-US" sz="2800" b="0" i="0" u="none" strike="noStrike" kern="100" baseline="0" dirty="0"/>
              <a:t>we will present a number of sample queries using the following table definitions:</a:t>
            </a:r>
          </a:p>
          <a:p>
            <a:pPr lvl="1" algn="just"/>
            <a:r>
              <a:rPr lang="en-US" sz="2700" b="0" i="0" u="none" strike="noStrike" kern="100" baseline="0" dirty="0"/>
              <a:t>Sailors( </a:t>
            </a:r>
            <a:r>
              <a:rPr lang="en-US" sz="2700" b="0" i="0" u="sng" strike="noStrike" kern="100" baseline="0" dirty="0" err="1"/>
              <a:t>sid</a:t>
            </a:r>
            <a:r>
              <a:rPr lang="en-US" sz="2700" b="0" i="0" u="none" strike="noStrike" kern="100" baseline="0" dirty="0"/>
              <a:t>: integer, </a:t>
            </a:r>
            <a:r>
              <a:rPr lang="en-US" sz="2700" b="0" i="0" u="none" strike="noStrike" kern="100" baseline="0" dirty="0" err="1"/>
              <a:t>sname</a:t>
            </a:r>
            <a:r>
              <a:rPr lang="en-US" sz="2700" b="0" i="0" u="none" strike="noStrike" kern="100" baseline="0" dirty="0"/>
              <a:t>: string, rating: integer, age: real)</a:t>
            </a:r>
          </a:p>
          <a:p>
            <a:pPr lvl="1" algn="just"/>
            <a:r>
              <a:rPr lang="en-US" sz="2700" b="0" i="0" u="none" strike="noStrike" kern="100" baseline="0" dirty="0"/>
              <a:t>Boats( </a:t>
            </a:r>
            <a:r>
              <a:rPr lang="en-US" sz="2700" b="0" i="0" u="sng" strike="noStrike" kern="100" baseline="0" dirty="0"/>
              <a:t>bid</a:t>
            </a:r>
            <a:r>
              <a:rPr lang="en-US" sz="2700" b="0" i="0" u="none" strike="noStrike" kern="100" baseline="0" dirty="0"/>
              <a:t>: integer, </a:t>
            </a:r>
            <a:r>
              <a:rPr lang="en-US" sz="2700" b="0" i="0" u="none" strike="noStrike" kern="100" baseline="0" dirty="0" err="1"/>
              <a:t>bname</a:t>
            </a:r>
            <a:r>
              <a:rPr lang="en-US" sz="2700" b="0" i="0" u="none" strike="noStrike" kern="100" baseline="0" dirty="0"/>
              <a:t>: string, color: string)</a:t>
            </a:r>
          </a:p>
          <a:p>
            <a:pPr lvl="1" algn="just"/>
            <a:r>
              <a:rPr lang="en-US" sz="2700" b="0" i="0" u="none" strike="noStrike" kern="100" baseline="0" dirty="0"/>
              <a:t>Reserves (</a:t>
            </a:r>
            <a:r>
              <a:rPr lang="en-US" sz="2700" b="0" i="0" u="sng" strike="noStrike" kern="100" baseline="0" dirty="0" err="1"/>
              <a:t>sid</a:t>
            </a:r>
            <a:r>
              <a:rPr lang="en-US" sz="2700" b="0" i="0" u="none" strike="noStrike" kern="100" baseline="0" dirty="0"/>
              <a:t>: integer, </a:t>
            </a:r>
            <a:r>
              <a:rPr lang="en-US" sz="2700" b="0" i="0" u="sng" strike="noStrike" kern="100" baseline="0" dirty="0"/>
              <a:t>bid</a:t>
            </a:r>
            <a:r>
              <a:rPr lang="en-US" sz="2700" b="0" i="0" u="none" strike="noStrike" kern="100" baseline="0" dirty="0"/>
              <a:t>: integer, </a:t>
            </a:r>
            <a:r>
              <a:rPr lang="en-US" sz="2700" b="0" i="0" u="sng" strike="noStrike" kern="100" baseline="0" dirty="0"/>
              <a:t>day</a:t>
            </a:r>
            <a:r>
              <a:rPr lang="en-US" sz="2700" b="0" i="0" u="none" strike="noStrike" kern="100" baseline="0" dirty="0"/>
              <a:t>: date)</a:t>
            </a:r>
          </a:p>
          <a:p>
            <a:pPr marR="0" algn="just" rtl="0"/>
            <a:r>
              <a:rPr lang="en-US" sz="2800" b="0" i="0" u="none" strike="noStrike" kern="100" baseline="0" dirty="0"/>
              <a:t>the key fields are underlined, and the domain of each field is listed after the field name. Thus, </a:t>
            </a:r>
            <a:r>
              <a:rPr lang="en-US" sz="2800" b="0" i="0" u="none" strike="noStrike" kern="100" baseline="0" dirty="0" err="1"/>
              <a:t>sid</a:t>
            </a:r>
            <a:r>
              <a:rPr lang="en-US" sz="2800" b="0" i="0" u="none" strike="noStrike" kern="100" baseline="0" dirty="0"/>
              <a:t> is the key for Sailors, bid is the key for Boats, and all three fields together form the key for Reserves</a:t>
            </a:r>
            <a:endParaRPr lang="en-US" sz="2800" dirty="0"/>
          </a:p>
        </p:txBody>
      </p:sp>
      <p:sp>
        <p:nvSpPr>
          <p:cNvPr id="4" name="Slide Number Placeholder 3">
            <a:extLst>
              <a:ext uri="{FF2B5EF4-FFF2-40B4-BE49-F238E27FC236}">
                <a16:creationId xmlns:a16="http://schemas.microsoft.com/office/drawing/2014/main" id="{750CD958-71EA-7C34-A4A5-08AD8C0AF9D6}"/>
              </a:ext>
            </a:extLst>
          </p:cNvPr>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212009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9CA21-2AA1-E15B-4B5F-313E9B2C941A}"/>
              </a:ext>
            </a:extLst>
          </p:cNvPr>
          <p:cNvSpPr>
            <a:spLocks noGrp="1"/>
          </p:cNvSpPr>
          <p:nvPr>
            <p:ph type="title"/>
          </p:nvPr>
        </p:nvSpPr>
        <p:spPr/>
        <p:txBody>
          <a:bodyPr/>
          <a:lstStyle/>
          <a:p>
            <a:r>
              <a:rPr lang="en-US" dirty="0"/>
              <a:t>basic form of an SQL query</a:t>
            </a:r>
          </a:p>
        </p:txBody>
      </p:sp>
      <p:sp>
        <p:nvSpPr>
          <p:cNvPr id="3" name="Content Placeholder 2">
            <a:extLst>
              <a:ext uri="{FF2B5EF4-FFF2-40B4-BE49-F238E27FC236}">
                <a16:creationId xmlns:a16="http://schemas.microsoft.com/office/drawing/2014/main" id="{84F4D846-5B21-D2F0-BBFC-DD43045928D9}"/>
              </a:ext>
            </a:extLst>
          </p:cNvPr>
          <p:cNvSpPr>
            <a:spLocks noGrp="1"/>
          </p:cNvSpPr>
          <p:nvPr>
            <p:ph idx="1"/>
          </p:nvPr>
        </p:nvSpPr>
        <p:spPr/>
        <p:txBody>
          <a:bodyPr>
            <a:normAutofit/>
          </a:bodyPr>
          <a:lstStyle/>
          <a:p>
            <a:r>
              <a:rPr lang="en-US" dirty="0"/>
              <a:t>SELECT [DISTINCT] select-list</a:t>
            </a:r>
          </a:p>
          <a:p>
            <a:r>
              <a:rPr lang="en-US" dirty="0"/>
              <a:t>FROM from-list</a:t>
            </a:r>
          </a:p>
          <a:p>
            <a:r>
              <a:rPr lang="en-US" dirty="0"/>
              <a:t>WHERE qualification</a:t>
            </a:r>
          </a:p>
        </p:txBody>
      </p:sp>
      <p:sp>
        <p:nvSpPr>
          <p:cNvPr id="4" name="Slide Number Placeholder 3">
            <a:extLst>
              <a:ext uri="{FF2B5EF4-FFF2-40B4-BE49-F238E27FC236}">
                <a16:creationId xmlns:a16="http://schemas.microsoft.com/office/drawing/2014/main" id="{FE32C61A-851E-5E13-C464-E74AAC32EBF5}"/>
              </a:ext>
            </a:extLst>
          </p:cNvPr>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741169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E354-C4DE-AD58-BD88-0EB91930804F}"/>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ACB0CB8E-F63A-10D3-D500-0BE4CE410CE2}"/>
              </a:ext>
            </a:extLst>
          </p:cNvPr>
          <p:cNvSpPr>
            <a:spLocks noGrp="1"/>
          </p:cNvSpPr>
          <p:nvPr>
            <p:ph type="sldNum" sz="quarter" idx="12"/>
          </p:nvPr>
        </p:nvSpPr>
        <p:spPr/>
        <p:txBody>
          <a:bodyPr/>
          <a:lstStyle/>
          <a:p>
            <a:fld id="{B6F15528-21DE-4FAA-801E-634DDDAF4B2B}" type="slidenum">
              <a:rPr lang="en-US" smtClean="0"/>
              <a:pPr/>
              <a:t>7</a:t>
            </a:fld>
            <a:endParaRPr lang="en-US"/>
          </a:p>
        </p:txBody>
      </p:sp>
      <p:pic>
        <p:nvPicPr>
          <p:cNvPr id="5" name="Content Placeholder 4">
            <a:extLst>
              <a:ext uri="{FF2B5EF4-FFF2-40B4-BE49-F238E27FC236}">
                <a16:creationId xmlns:a16="http://schemas.microsoft.com/office/drawing/2014/main" id="{41FC0032-AC44-BB16-4D7A-7DDDD8911B44}"/>
              </a:ext>
            </a:extLst>
          </p:cNvPr>
          <p:cNvPicPr>
            <a:picLocks noGrp="1" noChangeAspect="1"/>
          </p:cNvPicPr>
          <p:nvPr>
            <p:ph idx="1"/>
          </p:nvPr>
        </p:nvPicPr>
        <p:blipFill>
          <a:blip r:embed="rId2"/>
          <a:stretch>
            <a:fillRect/>
          </a:stretch>
        </p:blipFill>
        <p:spPr>
          <a:xfrm>
            <a:off x="182880" y="914400"/>
            <a:ext cx="8827462" cy="5023362"/>
          </a:xfrm>
          <a:prstGeom prst="rect">
            <a:avLst/>
          </a:prstGeom>
        </p:spPr>
      </p:pic>
    </p:spTree>
    <p:extLst>
      <p:ext uri="{BB962C8B-B14F-4D97-AF65-F5344CB8AC3E}">
        <p14:creationId xmlns:p14="http://schemas.microsoft.com/office/powerpoint/2010/main" val="3685686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C53D5-BA48-2968-1625-B376B8C58A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4FDC57-7D24-036D-DDB3-A016E2323894}"/>
              </a:ext>
            </a:extLst>
          </p:cNvPr>
          <p:cNvSpPr>
            <a:spLocks noGrp="1"/>
          </p:cNvSpPr>
          <p:nvPr>
            <p:ph idx="1"/>
          </p:nvPr>
        </p:nvSpPr>
        <p:spPr/>
        <p:txBody>
          <a:bodyPr>
            <a:normAutofit/>
          </a:bodyPr>
          <a:lstStyle/>
          <a:p>
            <a:r>
              <a:rPr lang="en-US" sz="2800" i="1" dirty="0"/>
              <a:t>things get complicated …</a:t>
            </a:r>
          </a:p>
        </p:txBody>
      </p:sp>
      <p:sp>
        <p:nvSpPr>
          <p:cNvPr id="4" name="Slide Number Placeholder 3">
            <a:extLst>
              <a:ext uri="{FF2B5EF4-FFF2-40B4-BE49-F238E27FC236}">
                <a16:creationId xmlns:a16="http://schemas.microsoft.com/office/drawing/2014/main" id="{77378B5C-751D-365F-B11E-EEDA6CE76B4B}"/>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889793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BC27D-12DE-7571-ADF5-6D04578F4792}"/>
              </a:ext>
            </a:extLst>
          </p:cNvPr>
          <p:cNvSpPr>
            <a:spLocks noGrp="1"/>
          </p:cNvSpPr>
          <p:nvPr>
            <p:ph type="title"/>
          </p:nvPr>
        </p:nvSpPr>
        <p:spPr/>
        <p:txBody>
          <a:bodyPr>
            <a:normAutofit/>
          </a:bodyPr>
          <a:lstStyle/>
          <a:p>
            <a:r>
              <a:rPr lang="en-US" b="1" dirty="0"/>
              <a:t>UNION, INTERSECT, AND EXCEPT</a:t>
            </a:r>
            <a:endParaRPr lang="en-US" dirty="0"/>
          </a:p>
        </p:txBody>
      </p:sp>
      <p:sp>
        <p:nvSpPr>
          <p:cNvPr id="3" name="Content Placeholder 2">
            <a:extLst>
              <a:ext uri="{FF2B5EF4-FFF2-40B4-BE49-F238E27FC236}">
                <a16:creationId xmlns:a16="http://schemas.microsoft.com/office/drawing/2014/main" id="{23AEB426-621C-E655-F13B-D1DE2CBE1D64}"/>
              </a:ext>
            </a:extLst>
          </p:cNvPr>
          <p:cNvSpPr>
            <a:spLocks noGrp="1"/>
          </p:cNvSpPr>
          <p:nvPr>
            <p:ph idx="1"/>
          </p:nvPr>
        </p:nvSpPr>
        <p:spPr/>
        <p:txBody>
          <a:bodyPr>
            <a:normAutofit/>
          </a:bodyPr>
          <a:lstStyle/>
          <a:p>
            <a:r>
              <a:rPr lang="en-US" sz="2800" dirty="0"/>
              <a:t>SQL provides three set-manipulation constructs that extend the basic query form presented earlier</a:t>
            </a:r>
          </a:p>
          <a:p>
            <a:r>
              <a:rPr lang="en-US" sz="2800" dirty="0"/>
              <a:t>since the answer to a query is a multi</a:t>
            </a:r>
            <a:r>
              <a:rPr lang="en-US" sz="2800" b="1" i="1" dirty="0"/>
              <a:t>set</a:t>
            </a:r>
            <a:r>
              <a:rPr lang="en-US" sz="2800" dirty="0"/>
              <a:t> of rows, it is natural to consider the use of operations such as union, intersection, and </a:t>
            </a:r>
            <a:r>
              <a:rPr lang="en-US" sz="2800" b="1" i="1" dirty="0"/>
              <a:t>set</a:t>
            </a:r>
            <a:r>
              <a:rPr lang="en-US" sz="2800" dirty="0"/>
              <a:t> difference</a:t>
            </a:r>
          </a:p>
          <a:p>
            <a:r>
              <a:rPr lang="en-US" sz="2800" dirty="0"/>
              <a:t>SQL supports these operations under the names UNION, INTERSECT, and EXCEPT</a:t>
            </a:r>
          </a:p>
        </p:txBody>
      </p:sp>
      <p:sp>
        <p:nvSpPr>
          <p:cNvPr id="4" name="Slide Number Placeholder 3">
            <a:extLst>
              <a:ext uri="{FF2B5EF4-FFF2-40B4-BE49-F238E27FC236}">
                <a16:creationId xmlns:a16="http://schemas.microsoft.com/office/drawing/2014/main" id="{BAB2F491-F4AF-ED18-4814-721A763E69E6}"/>
              </a:ext>
            </a:extLst>
          </p:cNvPr>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3071695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2CB64-1813-8FD0-15E9-C9D88E8212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D4D393-D883-B3FC-64C2-D5D5B66793B7}"/>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53CC386-4ECB-E20E-0AC4-7ECFDD42B036}"/>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3968206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02621-3FAC-0C4D-84C5-03AB7AD778AA}"/>
              </a:ext>
            </a:extLst>
          </p:cNvPr>
          <p:cNvSpPr>
            <a:spLocks noGrp="1"/>
          </p:cNvSpPr>
          <p:nvPr>
            <p:ph type="title"/>
          </p:nvPr>
        </p:nvSpPr>
        <p:spPr/>
        <p:txBody>
          <a:bodyPr/>
          <a:lstStyle/>
          <a:p>
            <a:r>
              <a:rPr lang="en-US" b="1" dirty="0"/>
              <a:t>Nested Queries</a:t>
            </a:r>
          </a:p>
        </p:txBody>
      </p:sp>
      <p:sp>
        <p:nvSpPr>
          <p:cNvPr id="3" name="Content Placeholder 2">
            <a:extLst>
              <a:ext uri="{FF2B5EF4-FFF2-40B4-BE49-F238E27FC236}">
                <a16:creationId xmlns:a16="http://schemas.microsoft.com/office/drawing/2014/main" id="{7DBC4485-0BB4-8435-4F99-0BB62EF52E9D}"/>
              </a:ext>
            </a:extLst>
          </p:cNvPr>
          <p:cNvSpPr>
            <a:spLocks noGrp="1"/>
          </p:cNvSpPr>
          <p:nvPr>
            <p:ph idx="1"/>
          </p:nvPr>
        </p:nvSpPr>
        <p:spPr>
          <a:xfrm>
            <a:off x="457200" y="1600200"/>
            <a:ext cx="8686800" cy="4525963"/>
          </a:xfrm>
        </p:spPr>
        <p:txBody>
          <a:bodyPr>
            <a:noAutofit/>
          </a:bodyPr>
          <a:lstStyle/>
          <a:p>
            <a:r>
              <a:rPr lang="en-US" sz="2800" dirty="0"/>
              <a:t>query that has another query embedded within it</a:t>
            </a:r>
          </a:p>
          <a:p>
            <a:r>
              <a:rPr lang="en-US" sz="2800" dirty="0"/>
              <a:t>the embedded query is called a subquery</a:t>
            </a:r>
          </a:p>
          <a:p>
            <a:r>
              <a:rPr lang="en-US" sz="2800" dirty="0"/>
              <a:t>embedded query can of course be a nested query itself</a:t>
            </a:r>
          </a:p>
          <a:p>
            <a:pPr lvl="1"/>
            <a:r>
              <a:rPr lang="en-US" sz="2700" dirty="0"/>
              <a:t>deeply nested structures are possible</a:t>
            </a:r>
          </a:p>
          <a:p>
            <a:r>
              <a:rPr lang="en-US" sz="2800" dirty="0"/>
              <a:t>writing a query, we sometimes need to express a condition that refers to a table that must itself be computed</a:t>
            </a:r>
          </a:p>
          <a:p>
            <a:pPr lvl="1"/>
            <a:r>
              <a:rPr lang="en-US" sz="2700" dirty="0"/>
              <a:t>query used to compute this subsidiary table is a subquery and appears as part of the main query</a:t>
            </a:r>
          </a:p>
        </p:txBody>
      </p:sp>
      <p:sp>
        <p:nvSpPr>
          <p:cNvPr id="4" name="Slide Number Placeholder 3">
            <a:extLst>
              <a:ext uri="{FF2B5EF4-FFF2-40B4-BE49-F238E27FC236}">
                <a16:creationId xmlns:a16="http://schemas.microsoft.com/office/drawing/2014/main" id="{0141C231-11A4-A3D6-36B7-5645BD6CCF71}"/>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2626306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EE296-8756-49E7-7CD1-5F4B86B5C0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53A62C-480A-83B0-55EE-DAE32C86AF2A}"/>
              </a:ext>
            </a:extLst>
          </p:cNvPr>
          <p:cNvSpPr>
            <a:spLocks noGrp="1"/>
          </p:cNvSpPr>
          <p:nvPr>
            <p:ph idx="1"/>
          </p:nvPr>
        </p:nvSpPr>
        <p:spPr/>
        <p:txBody>
          <a:bodyPr>
            <a:normAutofit/>
          </a:bodyPr>
          <a:lstStyle/>
          <a:p>
            <a:r>
              <a:rPr lang="en-US" sz="2800" dirty="0"/>
              <a:t>subquery typically appears within the WHERE clause of a query</a:t>
            </a:r>
          </a:p>
          <a:p>
            <a:r>
              <a:rPr lang="en-US" sz="2800" dirty="0"/>
              <a:t>subqueries can sometimes appear in the FROM clause or the HAVING clause</a:t>
            </a:r>
          </a:p>
          <a:p>
            <a:endParaRPr lang="en-US" sz="2800" dirty="0"/>
          </a:p>
        </p:txBody>
      </p:sp>
      <p:sp>
        <p:nvSpPr>
          <p:cNvPr id="4" name="Slide Number Placeholder 3">
            <a:extLst>
              <a:ext uri="{FF2B5EF4-FFF2-40B4-BE49-F238E27FC236}">
                <a16:creationId xmlns:a16="http://schemas.microsoft.com/office/drawing/2014/main" id="{EB7904EC-A537-C828-0640-108D46DF29B9}"/>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952496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CAB3E-495B-0400-CEE7-9E23CFD6E193}"/>
              </a:ext>
            </a:extLst>
          </p:cNvPr>
          <p:cNvSpPr>
            <a:spLocks noGrp="1"/>
          </p:cNvSpPr>
          <p:nvPr>
            <p:ph type="title"/>
          </p:nvPr>
        </p:nvSpPr>
        <p:spPr/>
        <p:txBody>
          <a:bodyPr>
            <a:normAutofit fontScale="90000"/>
          </a:bodyPr>
          <a:lstStyle/>
          <a:p>
            <a:r>
              <a:rPr lang="en-US" i="1" dirty="0"/>
              <a:t>Find the names of sailors who have reserved boat number 103.</a:t>
            </a:r>
          </a:p>
        </p:txBody>
      </p:sp>
      <p:sp>
        <p:nvSpPr>
          <p:cNvPr id="3" name="Content Placeholder 2">
            <a:extLst>
              <a:ext uri="{FF2B5EF4-FFF2-40B4-BE49-F238E27FC236}">
                <a16:creationId xmlns:a16="http://schemas.microsoft.com/office/drawing/2014/main" id="{53CF29CD-38BB-0447-A56C-701D6D27074C}"/>
              </a:ext>
            </a:extLst>
          </p:cNvPr>
          <p:cNvSpPr>
            <a:spLocks noGrp="1"/>
          </p:cNvSpPr>
          <p:nvPr>
            <p:ph idx="1"/>
          </p:nvPr>
        </p:nvSpPr>
        <p:spPr/>
        <p:txBody>
          <a:bodyPr>
            <a:normAutofit/>
          </a:bodyPr>
          <a:lstStyle/>
          <a:p>
            <a:r>
              <a:rPr lang="en-US" sz="2800" dirty="0"/>
              <a:t>SELECT </a:t>
            </a:r>
            <a:r>
              <a:rPr lang="en-US" sz="2800" dirty="0" err="1"/>
              <a:t>S.sname</a:t>
            </a:r>
            <a:endParaRPr lang="en-US" sz="2800" dirty="0"/>
          </a:p>
          <a:p>
            <a:r>
              <a:rPr lang="en-US" sz="2800" dirty="0"/>
              <a:t>FROM Sailors S</a:t>
            </a:r>
          </a:p>
          <a:p>
            <a:r>
              <a:rPr lang="en-US" sz="2800" dirty="0"/>
              <a:t>WHERE</a:t>
            </a:r>
          </a:p>
          <a:p>
            <a:r>
              <a:rPr lang="en-US" sz="2800" dirty="0"/>
              <a:t> 	</a:t>
            </a:r>
            <a:r>
              <a:rPr lang="en-US" sz="2800" dirty="0" err="1"/>
              <a:t>S.sid</a:t>
            </a:r>
            <a:r>
              <a:rPr lang="en-US" sz="2800" dirty="0"/>
              <a:t> IN ( SELECT </a:t>
            </a:r>
            <a:r>
              <a:rPr lang="en-US" sz="2800" dirty="0" err="1"/>
              <a:t>R.sid</a:t>
            </a:r>
            <a:endParaRPr lang="en-US" sz="2800" dirty="0"/>
          </a:p>
          <a:p>
            <a:r>
              <a:rPr lang="en-US" sz="2800" dirty="0"/>
              <a:t> 	FROM Reserves R</a:t>
            </a:r>
          </a:p>
          <a:p>
            <a:r>
              <a:rPr lang="en-US" sz="2800" dirty="0"/>
              <a:t> 	WHERE </a:t>
            </a:r>
            <a:r>
              <a:rPr lang="en-US" sz="2800" dirty="0" err="1"/>
              <a:t>R.bid</a:t>
            </a:r>
            <a:r>
              <a:rPr lang="en-US" sz="2800" dirty="0"/>
              <a:t> = 103 )</a:t>
            </a:r>
          </a:p>
          <a:p>
            <a:endParaRPr lang="en-US" dirty="0"/>
          </a:p>
        </p:txBody>
      </p:sp>
      <p:sp>
        <p:nvSpPr>
          <p:cNvPr id="4" name="Slide Number Placeholder 3">
            <a:extLst>
              <a:ext uri="{FF2B5EF4-FFF2-40B4-BE49-F238E27FC236}">
                <a16:creationId xmlns:a16="http://schemas.microsoft.com/office/drawing/2014/main" id="{C0C181B6-F5E1-8172-7BE0-488B15C50246}"/>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1918894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EA201-4071-80D2-210B-916243A8A0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B847191-EC7E-D762-ACAF-D444CF15E1A5}"/>
              </a:ext>
            </a:extLst>
          </p:cNvPr>
          <p:cNvSpPr>
            <a:spLocks noGrp="1"/>
          </p:cNvSpPr>
          <p:nvPr>
            <p:ph idx="1"/>
          </p:nvPr>
        </p:nvSpPr>
        <p:spPr/>
        <p:txBody>
          <a:bodyPr>
            <a:normAutofit/>
          </a:bodyPr>
          <a:lstStyle/>
          <a:p>
            <a:r>
              <a:rPr lang="en-US" sz="2800" dirty="0"/>
              <a:t>the nested subquery computes the (multi)set of </a:t>
            </a:r>
            <a:r>
              <a:rPr lang="en-US" sz="2800" dirty="0" err="1"/>
              <a:t>sids</a:t>
            </a:r>
            <a:r>
              <a:rPr lang="en-US" sz="2800" dirty="0"/>
              <a:t> for sailors who have reserved boat 103 (the set contains 22,31, and 74)</a:t>
            </a:r>
          </a:p>
          <a:p>
            <a:r>
              <a:rPr lang="en-US" sz="2800" dirty="0"/>
              <a:t>and the top-level query retrieves the names of sailors whose </a:t>
            </a:r>
            <a:r>
              <a:rPr lang="en-US" sz="2800" dirty="0" err="1"/>
              <a:t>sid</a:t>
            </a:r>
            <a:r>
              <a:rPr lang="en-US" sz="2800" dirty="0"/>
              <a:t> is in this set</a:t>
            </a:r>
          </a:p>
          <a:p>
            <a:r>
              <a:rPr lang="en-US" sz="2800" dirty="0"/>
              <a:t>IN operator allows us to test whether value is in set of elements; SQL query is used to generate the set to be tested</a:t>
            </a:r>
          </a:p>
        </p:txBody>
      </p:sp>
      <p:sp>
        <p:nvSpPr>
          <p:cNvPr id="4" name="Slide Number Placeholder 3">
            <a:extLst>
              <a:ext uri="{FF2B5EF4-FFF2-40B4-BE49-F238E27FC236}">
                <a16:creationId xmlns:a16="http://schemas.microsoft.com/office/drawing/2014/main" id="{676AA928-39BB-3DB7-66C5-B14AF934C3F8}"/>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1937119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35CF8-5E98-7A52-6122-39CFD38751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4721055-B74C-75AD-3979-B1F9959154EF}"/>
              </a:ext>
            </a:extLst>
          </p:cNvPr>
          <p:cNvSpPr>
            <a:spLocks noGrp="1"/>
          </p:cNvSpPr>
          <p:nvPr>
            <p:ph idx="1"/>
          </p:nvPr>
        </p:nvSpPr>
        <p:spPr/>
        <p:txBody>
          <a:bodyPr>
            <a:normAutofit/>
          </a:bodyPr>
          <a:lstStyle/>
          <a:p>
            <a:r>
              <a:rPr lang="en-US" sz="2800" dirty="0"/>
              <a:t>easy to modify this query to find all sailors who have not reserved boat 103 - just replace IN by NOT IN!</a:t>
            </a:r>
          </a:p>
          <a:p>
            <a:endParaRPr lang="en-US" sz="2800" dirty="0"/>
          </a:p>
        </p:txBody>
      </p:sp>
      <p:sp>
        <p:nvSpPr>
          <p:cNvPr id="4" name="Slide Number Placeholder 3">
            <a:extLst>
              <a:ext uri="{FF2B5EF4-FFF2-40B4-BE49-F238E27FC236}">
                <a16:creationId xmlns:a16="http://schemas.microsoft.com/office/drawing/2014/main" id="{AE47FDD7-6DCA-0A27-90EB-5918E3BF87DA}"/>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162960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EDCB2-7E89-7B5D-D4AD-D15C6E8A8AE0}"/>
              </a:ext>
            </a:extLst>
          </p:cNvPr>
          <p:cNvSpPr>
            <a:spLocks noGrp="1"/>
          </p:cNvSpPr>
          <p:nvPr>
            <p:ph type="title"/>
          </p:nvPr>
        </p:nvSpPr>
        <p:spPr/>
        <p:txBody>
          <a:bodyPr>
            <a:normAutofit fontScale="90000"/>
          </a:bodyPr>
          <a:lstStyle/>
          <a:p>
            <a:r>
              <a:rPr lang="en-US" i="1" dirty="0"/>
              <a:t>Find the names of sailors who have not reserved a red boat.</a:t>
            </a:r>
          </a:p>
        </p:txBody>
      </p:sp>
      <p:sp>
        <p:nvSpPr>
          <p:cNvPr id="3" name="Content Placeholder 2">
            <a:extLst>
              <a:ext uri="{FF2B5EF4-FFF2-40B4-BE49-F238E27FC236}">
                <a16:creationId xmlns:a16="http://schemas.microsoft.com/office/drawing/2014/main" id="{CD122312-B50E-9B97-F3BF-4FCA1486C202}"/>
              </a:ext>
            </a:extLst>
          </p:cNvPr>
          <p:cNvSpPr>
            <a:spLocks noGrp="1"/>
          </p:cNvSpPr>
          <p:nvPr>
            <p:ph idx="1"/>
          </p:nvPr>
        </p:nvSpPr>
        <p:spPr/>
        <p:txBody>
          <a:bodyPr>
            <a:normAutofit/>
          </a:bodyPr>
          <a:lstStyle/>
          <a:p>
            <a:r>
              <a:rPr lang="en-US" sz="2800" dirty="0"/>
              <a:t>SELECT </a:t>
            </a:r>
            <a:r>
              <a:rPr lang="en-US" sz="2800" dirty="0" err="1"/>
              <a:t>S.sname</a:t>
            </a:r>
            <a:endParaRPr lang="en-US" sz="2800" dirty="0"/>
          </a:p>
          <a:p>
            <a:r>
              <a:rPr lang="en-US" sz="2800" dirty="0"/>
              <a:t>FROM Sailors S</a:t>
            </a:r>
          </a:p>
          <a:p>
            <a:r>
              <a:rPr lang="en-US" sz="2800" dirty="0"/>
              <a:t>WHERE </a:t>
            </a:r>
            <a:r>
              <a:rPr lang="en-US" sz="2800" dirty="0" err="1"/>
              <a:t>S.sid</a:t>
            </a:r>
            <a:r>
              <a:rPr lang="en-US" sz="2800" dirty="0"/>
              <a:t> NOT IN ( SELECT </a:t>
            </a:r>
            <a:r>
              <a:rPr lang="en-US" sz="2800" dirty="0" err="1"/>
              <a:t>R.sid</a:t>
            </a:r>
            <a:endParaRPr lang="en-US" sz="2800" dirty="0"/>
          </a:p>
          <a:p>
            <a:r>
              <a:rPr lang="en-US" sz="2800" dirty="0"/>
              <a:t> 	FROM Reserves R</a:t>
            </a:r>
          </a:p>
          <a:p>
            <a:r>
              <a:rPr lang="en-US" sz="2800" dirty="0"/>
              <a:t> 	WHERE R. bid IN (SELECT </a:t>
            </a:r>
            <a:r>
              <a:rPr lang="en-US" sz="2800" dirty="0" err="1"/>
              <a:t>B.bid</a:t>
            </a:r>
            <a:endParaRPr lang="en-US" sz="2800" dirty="0"/>
          </a:p>
          <a:p>
            <a:r>
              <a:rPr lang="en-US" sz="2800" dirty="0"/>
              <a:t> 		FROM Boats B</a:t>
            </a:r>
          </a:p>
          <a:p>
            <a:r>
              <a:rPr lang="en-US" sz="2800" dirty="0"/>
              <a:t> 		WHERE </a:t>
            </a:r>
            <a:r>
              <a:rPr lang="en-US" sz="2800" dirty="0" err="1"/>
              <a:t>B.color</a:t>
            </a:r>
            <a:r>
              <a:rPr lang="en-US" sz="2800" dirty="0"/>
              <a:t> = 'red'))</a:t>
            </a:r>
          </a:p>
          <a:p>
            <a:endParaRPr lang="en-US" dirty="0"/>
          </a:p>
        </p:txBody>
      </p:sp>
      <p:sp>
        <p:nvSpPr>
          <p:cNvPr id="4" name="Slide Number Placeholder 3">
            <a:extLst>
              <a:ext uri="{FF2B5EF4-FFF2-40B4-BE49-F238E27FC236}">
                <a16:creationId xmlns:a16="http://schemas.microsoft.com/office/drawing/2014/main" id="{01F1AD68-4A26-B61A-0E84-11D859B6B18B}"/>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3420082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A0E28-A107-507F-30AF-BF02AECF0D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E851F0-0FE6-638C-55D0-C3A484CA5E31}"/>
              </a:ext>
            </a:extLst>
          </p:cNvPr>
          <p:cNvSpPr>
            <a:spLocks noGrp="1"/>
          </p:cNvSpPr>
          <p:nvPr>
            <p:ph idx="1"/>
          </p:nvPr>
        </p:nvSpPr>
        <p:spPr/>
        <p:txBody>
          <a:bodyPr>
            <a:normAutofit/>
          </a:bodyPr>
          <a:lstStyle/>
          <a:p>
            <a:r>
              <a:rPr lang="en-US" sz="2800" dirty="0"/>
              <a:t>in the nested queries seen thus far, the inner subquery has been completely independent of the outer query</a:t>
            </a:r>
          </a:p>
          <a:p>
            <a:r>
              <a:rPr lang="en-US" sz="2800" dirty="0"/>
              <a:t>the inner subquery could depend on the row currently being examined in the outer query (in terms of our conceptual evaluation strategy)</a:t>
            </a:r>
          </a:p>
          <a:p>
            <a:endParaRPr lang="en-US" sz="2800" dirty="0"/>
          </a:p>
        </p:txBody>
      </p:sp>
      <p:sp>
        <p:nvSpPr>
          <p:cNvPr id="4" name="Slide Number Placeholder 3">
            <a:extLst>
              <a:ext uri="{FF2B5EF4-FFF2-40B4-BE49-F238E27FC236}">
                <a16:creationId xmlns:a16="http://schemas.microsoft.com/office/drawing/2014/main" id="{5CC58D3E-6129-E61B-78D9-FF40E854D6B4}"/>
              </a:ext>
            </a:extLst>
          </p:cNvPr>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353631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D357C-5308-AB71-BA67-E801DED5159F}"/>
              </a:ext>
            </a:extLst>
          </p:cNvPr>
          <p:cNvSpPr>
            <a:spLocks noGrp="1"/>
          </p:cNvSpPr>
          <p:nvPr>
            <p:ph type="title"/>
          </p:nvPr>
        </p:nvSpPr>
        <p:spPr/>
        <p:txBody>
          <a:bodyPr>
            <a:normAutofit fontScale="90000"/>
          </a:bodyPr>
          <a:lstStyle/>
          <a:p>
            <a:r>
              <a:rPr lang="en-US" i="1" dirty="0"/>
              <a:t>Find the names of sailors who have reserved boat number 103.</a:t>
            </a:r>
          </a:p>
        </p:txBody>
      </p:sp>
      <p:sp>
        <p:nvSpPr>
          <p:cNvPr id="3" name="Content Placeholder 2">
            <a:extLst>
              <a:ext uri="{FF2B5EF4-FFF2-40B4-BE49-F238E27FC236}">
                <a16:creationId xmlns:a16="http://schemas.microsoft.com/office/drawing/2014/main" id="{31AA2BE1-735A-9F0D-5CA6-9C6DF24A2EE6}"/>
              </a:ext>
            </a:extLst>
          </p:cNvPr>
          <p:cNvSpPr>
            <a:spLocks noGrp="1"/>
          </p:cNvSpPr>
          <p:nvPr>
            <p:ph idx="1"/>
          </p:nvPr>
        </p:nvSpPr>
        <p:spPr/>
        <p:txBody>
          <a:bodyPr>
            <a:normAutofit/>
          </a:bodyPr>
          <a:lstStyle/>
          <a:p>
            <a:r>
              <a:rPr lang="en-US" sz="2800" dirty="0"/>
              <a:t>SELECT </a:t>
            </a:r>
            <a:r>
              <a:rPr lang="en-US" sz="2800" dirty="0" err="1"/>
              <a:t>S.sname</a:t>
            </a:r>
            <a:endParaRPr lang="en-US" sz="2800" dirty="0"/>
          </a:p>
          <a:p>
            <a:r>
              <a:rPr lang="en-US" sz="2800" dirty="0"/>
              <a:t>FROM Sailors S</a:t>
            </a:r>
          </a:p>
          <a:p>
            <a:r>
              <a:rPr lang="en-US" sz="2800" dirty="0"/>
              <a:t>WHERE EXISTS ( SELECT *</a:t>
            </a:r>
          </a:p>
          <a:p>
            <a:r>
              <a:rPr lang="en-US" sz="2800" dirty="0"/>
              <a:t> 	FROM Reserves R</a:t>
            </a:r>
          </a:p>
          <a:p>
            <a:r>
              <a:rPr lang="en-US" sz="2800" dirty="0"/>
              <a:t> 	WHERE </a:t>
            </a:r>
            <a:r>
              <a:rPr lang="en-US" sz="2800" dirty="0" err="1"/>
              <a:t>R.bid</a:t>
            </a:r>
            <a:r>
              <a:rPr lang="en-US" sz="2800" dirty="0"/>
              <a:t> = 103 AND </a:t>
            </a:r>
            <a:r>
              <a:rPr lang="en-US" sz="2800" dirty="0" err="1"/>
              <a:t>R.sid</a:t>
            </a:r>
            <a:r>
              <a:rPr lang="en-US" sz="2800" dirty="0"/>
              <a:t> = </a:t>
            </a:r>
            <a:r>
              <a:rPr lang="en-US" sz="2800" dirty="0" err="1"/>
              <a:t>S.sid</a:t>
            </a:r>
            <a:r>
              <a:rPr lang="en-US" sz="2800" dirty="0"/>
              <a:t> )</a:t>
            </a:r>
          </a:p>
          <a:p>
            <a:endParaRPr lang="en-US" sz="2800" dirty="0"/>
          </a:p>
        </p:txBody>
      </p:sp>
      <p:sp>
        <p:nvSpPr>
          <p:cNvPr id="4" name="Slide Number Placeholder 3">
            <a:extLst>
              <a:ext uri="{FF2B5EF4-FFF2-40B4-BE49-F238E27FC236}">
                <a16:creationId xmlns:a16="http://schemas.microsoft.com/office/drawing/2014/main" id="{33007B41-5AC2-176A-319E-5302DD944F3D}"/>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2028739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96891-C12A-ADAE-55BE-639AA6638045}"/>
              </a:ext>
            </a:extLst>
          </p:cNvPr>
          <p:cNvSpPr>
            <a:spLocks noGrp="1"/>
          </p:cNvSpPr>
          <p:nvPr>
            <p:ph type="title"/>
          </p:nvPr>
        </p:nvSpPr>
        <p:spPr/>
        <p:txBody>
          <a:bodyPr/>
          <a:lstStyle/>
          <a:p>
            <a:r>
              <a:rPr lang="en-US" dirty="0"/>
              <a:t>Nested corelated queries</a:t>
            </a:r>
          </a:p>
        </p:txBody>
      </p:sp>
      <p:sp>
        <p:nvSpPr>
          <p:cNvPr id="3" name="Content Placeholder 2">
            <a:extLst>
              <a:ext uri="{FF2B5EF4-FFF2-40B4-BE49-F238E27FC236}">
                <a16:creationId xmlns:a16="http://schemas.microsoft.com/office/drawing/2014/main" id="{5D24416E-65FA-9A62-B67B-B475970369F0}"/>
              </a:ext>
            </a:extLst>
          </p:cNvPr>
          <p:cNvSpPr>
            <a:spLocks noGrp="1"/>
          </p:cNvSpPr>
          <p:nvPr>
            <p:ph idx="1"/>
          </p:nvPr>
        </p:nvSpPr>
        <p:spPr/>
        <p:txBody>
          <a:bodyPr>
            <a:noAutofit/>
          </a:bodyPr>
          <a:lstStyle/>
          <a:p>
            <a:r>
              <a:rPr lang="en-US" sz="2800" dirty="0"/>
              <a:t>the subquery clearly depends on the current row S and must be re-evaluated for each row in Sailors</a:t>
            </a:r>
          </a:p>
          <a:p>
            <a:r>
              <a:rPr lang="en-US" sz="2800" dirty="0"/>
              <a:t>the occurrence of S in subquery (in the form of literal </a:t>
            </a:r>
            <a:r>
              <a:rPr lang="en-US" sz="2800" dirty="0" err="1"/>
              <a:t>S.sid</a:t>
            </a:r>
            <a:r>
              <a:rPr lang="en-US" sz="2800" dirty="0"/>
              <a:t>) is called a correlation and such queries are called nested corelated queries</a:t>
            </a:r>
          </a:p>
        </p:txBody>
      </p:sp>
      <p:sp>
        <p:nvSpPr>
          <p:cNvPr id="4" name="Slide Number Placeholder 3">
            <a:extLst>
              <a:ext uri="{FF2B5EF4-FFF2-40B4-BE49-F238E27FC236}">
                <a16:creationId xmlns:a16="http://schemas.microsoft.com/office/drawing/2014/main" id="{79A6C9BB-6064-857C-BA99-972F02C4EA6B}"/>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2061643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B53B1-06DD-12DF-D8B1-5316B03E27D4}"/>
              </a:ext>
            </a:extLst>
          </p:cNvPr>
          <p:cNvSpPr>
            <a:spLocks noGrp="1"/>
          </p:cNvSpPr>
          <p:nvPr>
            <p:ph type="title"/>
          </p:nvPr>
        </p:nvSpPr>
        <p:spPr/>
        <p:txBody>
          <a:bodyPr/>
          <a:lstStyle/>
          <a:p>
            <a:r>
              <a:rPr lang="en-US" dirty="0"/>
              <a:t>EXISTS</a:t>
            </a:r>
          </a:p>
        </p:txBody>
      </p:sp>
      <p:sp>
        <p:nvSpPr>
          <p:cNvPr id="3" name="Content Placeholder 2">
            <a:extLst>
              <a:ext uri="{FF2B5EF4-FFF2-40B4-BE49-F238E27FC236}">
                <a16:creationId xmlns:a16="http://schemas.microsoft.com/office/drawing/2014/main" id="{2A6D6562-8548-F9CE-AACF-2BE71E35CB20}"/>
              </a:ext>
            </a:extLst>
          </p:cNvPr>
          <p:cNvSpPr>
            <a:spLocks noGrp="1"/>
          </p:cNvSpPr>
          <p:nvPr>
            <p:ph idx="1"/>
          </p:nvPr>
        </p:nvSpPr>
        <p:spPr/>
        <p:txBody>
          <a:bodyPr>
            <a:noAutofit/>
          </a:bodyPr>
          <a:lstStyle/>
          <a:p>
            <a:r>
              <a:rPr lang="en-US" sz="2800" dirty="0"/>
              <a:t>the EXISTS operator is another set comparison operator</a:t>
            </a:r>
            <a:r>
              <a:rPr lang="en-US" sz="2400" dirty="0"/>
              <a:t>, such as IN</a:t>
            </a:r>
            <a:endParaRPr lang="en-US" sz="2800" dirty="0"/>
          </a:p>
          <a:p>
            <a:r>
              <a:rPr lang="en-US" sz="2800" dirty="0"/>
              <a:t>allows to test whether a set is nonempty, implicit comparison with the empty set</a:t>
            </a:r>
          </a:p>
          <a:p>
            <a:r>
              <a:rPr lang="en-US" sz="2800" dirty="0"/>
              <a:t>thus, for each Sailor row S, we test whether the set of Reserves rows R such that </a:t>
            </a:r>
            <a:r>
              <a:rPr lang="en-US" sz="2800" dirty="0" err="1"/>
              <a:t>R.bid</a:t>
            </a:r>
            <a:r>
              <a:rPr lang="en-US" sz="2800" dirty="0"/>
              <a:t> = 103 AND </a:t>
            </a:r>
            <a:r>
              <a:rPr lang="en-US" sz="2800" dirty="0" err="1"/>
              <a:t>S.sid</a:t>
            </a:r>
            <a:r>
              <a:rPr lang="en-US" sz="2800" dirty="0"/>
              <a:t> = </a:t>
            </a:r>
            <a:r>
              <a:rPr lang="en-US" sz="2800" dirty="0" err="1"/>
              <a:t>R.sid</a:t>
            </a:r>
            <a:r>
              <a:rPr lang="en-US" sz="2800" dirty="0"/>
              <a:t> is nonempty</a:t>
            </a:r>
          </a:p>
          <a:p>
            <a:pPr lvl="1"/>
            <a:r>
              <a:rPr lang="en-US" sz="2700" dirty="0"/>
              <a:t>if so, sailor S has reserved boat 103, and we retrieve the name</a:t>
            </a:r>
          </a:p>
          <a:p>
            <a:r>
              <a:rPr lang="en-US" sz="2800" dirty="0"/>
              <a:t> </a:t>
            </a:r>
          </a:p>
        </p:txBody>
      </p:sp>
      <p:sp>
        <p:nvSpPr>
          <p:cNvPr id="4" name="Slide Number Placeholder 3">
            <a:extLst>
              <a:ext uri="{FF2B5EF4-FFF2-40B4-BE49-F238E27FC236}">
                <a16:creationId xmlns:a16="http://schemas.microsoft.com/office/drawing/2014/main" id="{C45FB11C-7DE0-F1FD-5EF8-6E2ECD7F98F8}"/>
              </a:ext>
            </a:extLst>
          </p:cNvPr>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378011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4BA79-72D5-D89B-923D-BD6F409205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A82736-22D2-9B07-46A8-A7AB4A523670}"/>
              </a:ext>
            </a:extLst>
          </p:cNvPr>
          <p:cNvSpPr>
            <a:spLocks noGrp="1"/>
          </p:cNvSpPr>
          <p:nvPr>
            <p:ph idx="1"/>
          </p:nvPr>
        </p:nvSpPr>
        <p:spPr/>
        <p:txBody>
          <a:bodyPr>
            <a:normAutofit/>
          </a:bodyPr>
          <a:lstStyle/>
          <a:p>
            <a:r>
              <a:rPr lang="en-US" sz="2800" dirty="0"/>
              <a:t>query also illustrates the use of the special symbol * in situations where all we want to do is to check that a qualifying row exists, and do not really want to retrieve any columns from the row. </a:t>
            </a:r>
          </a:p>
          <a:p>
            <a:endParaRPr lang="en-US" sz="2800" dirty="0"/>
          </a:p>
        </p:txBody>
      </p:sp>
      <p:sp>
        <p:nvSpPr>
          <p:cNvPr id="4" name="Slide Number Placeholder 3">
            <a:extLst>
              <a:ext uri="{FF2B5EF4-FFF2-40B4-BE49-F238E27FC236}">
                <a16:creationId xmlns:a16="http://schemas.microsoft.com/office/drawing/2014/main" id="{80971E7B-7518-4C03-A0F1-A11F85026DB1}"/>
              </a:ext>
            </a:extLst>
          </p:cNvPr>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3773046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049CC-2305-8206-1FE4-5595EA07B3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3DAAF4-B09C-1126-5552-A723708B9B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3472A19-3A92-2350-F05B-43BC51EC773C}"/>
              </a:ext>
            </a:extLst>
          </p:cNvPr>
          <p:cNvSpPr>
            <a:spLocks noGrp="1"/>
          </p:cNvSpPr>
          <p:nvPr>
            <p:ph idx="1"/>
          </p:nvPr>
        </p:nvSpPr>
        <p:spPr/>
        <p:txBody>
          <a:bodyPr>
            <a:normAutofit/>
          </a:bodyPr>
          <a:lstStyle/>
          <a:p>
            <a:r>
              <a:rPr lang="en-US" sz="2800" dirty="0"/>
              <a:t>as a further example, by using NOT EXISTS instead of EXISTS, we can compute the names of sailors who have not reserved boat number 100 or the names of sailors who have not reserved a red boat</a:t>
            </a:r>
          </a:p>
          <a:p>
            <a:endParaRPr lang="en-US" sz="2800" dirty="0"/>
          </a:p>
        </p:txBody>
      </p:sp>
      <p:sp>
        <p:nvSpPr>
          <p:cNvPr id="4" name="Slide Number Placeholder 3">
            <a:extLst>
              <a:ext uri="{FF2B5EF4-FFF2-40B4-BE49-F238E27FC236}">
                <a16:creationId xmlns:a16="http://schemas.microsoft.com/office/drawing/2014/main" id="{81B670E6-5BC3-985F-EFA6-916B196DAE31}"/>
              </a:ext>
            </a:extLst>
          </p:cNvPr>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9685497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19F0B-98B8-9459-2508-BC29DC0BDB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212F45D-3D4A-9997-E4CE-403EE54AAC8C}"/>
              </a:ext>
            </a:extLst>
          </p:cNvPr>
          <p:cNvSpPr>
            <a:spLocks noGrp="1"/>
          </p:cNvSpPr>
          <p:nvPr>
            <p:ph idx="1"/>
          </p:nvPr>
        </p:nvSpPr>
        <p:spPr/>
        <p:txBody>
          <a:bodyPr>
            <a:normAutofit/>
          </a:bodyPr>
          <a:lstStyle/>
          <a:p>
            <a:r>
              <a:rPr lang="en-US" sz="2800" dirty="0"/>
              <a:t>SELECT </a:t>
            </a:r>
            <a:r>
              <a:rPr lang="en-US" sz="2800" dirty="0" err="1"/>
              <a:t>S.sname</a:t>
            </a:r>
            <a:endParaRPr lang="en-US" sz="2800" dirty="0"/>
          </a:p>
          <a:p>
            <a:r>
              <a:rPr lang="en-US" sz="2800" dirty="0"/>
              <a:t>FROM Sailors S</a:t>
            </a:r>
          </a:p>
          <a:p>
            <a:r>
              <a:rPr lang="en-US" sz="2800" dirty="0"/>
              <a:t>WHERE NOT EXISTS ( SELECT *</a:t>
            </a:r>
          </a:p>
          <a:p>
            <a:r>
              <a:rPr lang="en-US" sz="2800" dirty="0"/>
              <a:t> 	FROM Reserves R, Boats B</a:t>
            </a:r>
          </a:p>
          <a:p>
            <a:r>
              <a:rPr lang="en-US" sz="2800" dirty="0"/>
              <a:t> 	WHERE </a:t>
            </a:r>
            <a:r>
              <a:rPr lang="en-US" sz="2800" dirty="0" err="1"/>
              <a:t>R.bid</a:t>
            </a:r>
            <a:r>
              <a:rPr lang="en-US" sz="2800" dirty="0"/>
              <a:t> = </a:t>
            </a:r>
            <a:r>
              <a:rPr lang="en-US" sz="2800" dirty="0" err="1"/>
              <a:t>B.bid</a:t>
            </a:r>
            <a:r>
              <a:rPr lang="en-US" sz="2800" dirty="0"/>
              <a:t> AND </a:t>
            </a:r>
            <a:r>
              <a:rPr lang="en-US" sz="2800" dirty="0" err="1"/>
              <a:t>R.sid</a:t>
            </a:r>
            <a:r>
              <a:rPr lang="en-US" sz="2800" dirty="0"/>
              <a:t> = </a:t>
            </a:r>
            <a:r>
              <a:rPr lang="en-US" sz="2800" dirty="0" err="1"/>
              <a:t>S.sid</a:t>
            </a:r>
            <a:r>
              <a:rPr lang="en-US" sz="2800" dirty="0"/>
              <a:t> AND </a:t>
            </a:r>
            <a:r>
              <a:rPr lang="en-US" sz="2800" dirty="0" err="1"/>
              <a:t>b.color</a:t>
            </a:r>
            <a:r>
              <a:rPr lang="en-US" sz="2800" dirty="0"/>
              <a:t> = 'red')</a:t>
            </a:r>
          </a:p>
          <a:p>
            <a:endParaRPr lang="en-US" sz="2800" dirty="0"/>
          </a:p>
        </p:txBody>
      </p:sp>
      <p:sp>
        <p:nvSpPr>
          <p:cNvPr id="4" name="Slide Number Placeholder 3">
            <a:extLst>
              <a:ext uri="{FF2B5EF4-FFF2-40B4-BE49-F238E27FC236}">
                <a16:creationId xmlns:a16="http://schemas.microsoft.com/office/drawing/2014/main" id="{D6211685-4908-395D-805B-4CDAEE319108}"/>
              </a:ext>
            </a:extLst>
          </p:cNvPr>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32429072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7EC71-1AB9-4A68-3ECF-5C95A59904E1}"/>
              </a:ext>
            </a:extLst>
          </p:cNvPr>
          <p:cNvSpPr>
            <a:spLocks noGrp="1"/>
          </p:cNvSpPr>
          <p:nvPr>
            <p:ph type="title"/>
          </p:nvPr>
        </p:nvSpPr>
        <p:spPr/>
        <p:txBody>
          <a:bodyPr/>
          <a:lstStyle/>
          <a:p>
            <a:r>
              <a:rPr lang="en-US" dirty="0"/>
              <a:t>op ANY and op ALL</a:t>
            </a:r>
          </a:p>
        </p:txBody>
      </p:sp>
      <p:sp>
        <p:nvSpPr>
          <p:cNvPr id="3" name="Content Placeholder 2">
            <a:extLst>
              <a:ext uri="{FF2B5EF4-FFF2-40B4-BE49-F238E27FC236}">
                <a16:creationId xmlns:a16="http://schemas.microsoft.com/office/drawing/2014/main" id="{659AC38A-78B7-C58C-4089-75ADFC98EB2C}"/>
              </a:ext>
            </a:extLst>
          </p:cNvPr>
          <p:cNvSpPr>
            <a:spLocks noGrp="1"/>
          </p:cNvSpPr>
          <p:nvPr>
            <p:ph idx="1"/>
          </p:nvPr>
        </p:nvSpPr>
        <p:spPr/>
        <p:txBody>
          <a:bodyPr>
            <a:normAutofit/>
          </a:bodyPr>
          <a:lstStyle/>
          <a:p>
            <a:r>
              <a:rPr lang="en-US" sz="2800" dirty="0"/>
              <a:t>SQL also supports op ANY and op ALL, where op is one of the arithmetic comparison operators {&lt;, &lt;=, =, &lt;&gt;, &gt;=, &gt;}</a:t>
            </a:r>
          </a:p>
          <a:p>
            <a:r>
              <a:rPr lang="en-US" sz="2700" dirty="0"/>
              <a:t>SOME is also available, but it is just a synonym for ANY</a:t>
            </a:r>
          </a:p>
        </p:txBody>
      </p:sp>
      <p:sp>
        <p:nvSpPr>
          <p:cNvPr id="4" name="Slide Number Placeholder 3">
            <a:extLst>
              <a:ext uri="{FF2B5EF4-FFF2-40B4-BE49-F238E27FC236}">
                <a16:creationId xmlns:a16="http://schemas.microsoft.com/office/drawing/2014/main" id="{63DA2503-6076-F3D8-DF1E-87166084920D}"/>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446688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04A87-3D05-FCBC-83DC-AD6FC67E1F69}"/>
              </a:ext>
            </a:extLst>
          </p:cNvPr>
          <p:cNvSpPr>
            <a:spLocks noGrp="1"/>
          </p:cNvSpPr>
          <p:nvPr>
            <p:ph type="title"/>
          </p:nvPr>
        </p:nvSpPr>
        <p:spPr/>
        <p:txBody>
          <a:bodyPr>
            <a:normAutofit fontScale="90000"/>
          </a:bodyPr>
          <a:lstStyle/>
          <a:p>
            <a:r>
              <a:rPr lang="en-US" i="1" dirty="0"/>
              <a:t>Find sailors whose rating is better than some sailor called Horatio</a:t>
            </a:r>
          </a:p>
        </p:txBody>
      </p:sp>
      <p:sp>
        <p:nvSpPr>
          <p:cNvPr id="3" name="Content Placeholder 2">
            <a:extLst>
              <a:ext uri="{FF2B5EF4-FFF2-40B4-BE49-F238E27FC236}">
                <a16:creationId xmlns:a16="http://schemas.microsoft.com/office/drawing/2014/main" id="{A681ABCF-6EF6-0675-16EB-549DAA059663}"/>
              </a:ext>
            </a:extLst>
          </p:cNvPr>
          <p:cNvSpPr>
            <a:spLocks noGrp="1"/>
          </p:cNvSpPr>
          <p:nvPr>
            <p:ph idx="1"/>
          </p:nvPr>
        </p:nvSpPr>
        <p:spPr/>
        <p:txBody>
          <a:bodyPr>
            <a:normAutofit/>
          </a:bodyPr>
          <a:lstStyle/>
          <a:p>
            <a:r>
              <a:rPr lang="en-US" sz="2800" dirty="0"/>
              <a:t>SELECT </a:t>
            </a:r>
            <a:r>
              <a:rPr lang="en-US" sz="2800" dirty="0" err="1"/>
              <a:t>S.sid</a:t>
            </a:r>
            <a:endParaRPr lang="en-US" sz="2800" dirty="0"/>
          </a:p>
          <a:p>
            <a:r>
              <a:rPr lang="en-US" sz="2800" dirty="0"/>
              <a:t>FROM Sailors S</a:t>
            </a:r>
          </a:p>
          <a:p>
            <a:r>
              <a:rPr lang="en-US" sz="2800" dirty="0"/>
              <a:t>WHERE </a:t>
            </a:r>
            <a:r>
              <a:rPr lang="en-US" sz="2800" dirty="0" err="1"/>
              <a:t>S.rating</a:t>
            </a:r>
            <a:r>
              <a:rPr lang="en-US" sz="2800" dirty="0"/>
              <a:t> &gt; ANY ( </a:t>
            </a:r>
          </a:p>
          <a:p>
            <a:r>
              <a:rPr lang="en-US" sz="2800" dirty="0"/>
              <a:t> 	SELECT S2.rating</a:t>
            </a:r>
          </a:p>
          <a:p>
            <a:r>
              <a:rPr lang="en-US" sz="2800" dirty="0"/>
              <a:t> 	FROM Sailors S2</a:t>
            </a:r>
          </a:p>
          <a:p>
            <a:r>
              <a:rPr lang="en-US" sz="2800" dirty="0"/>
              <a:t> 	WHERE S2.sname = 'Horatio' )</a:t>
            </a:r>
          </a:p>
        </p:txBody>
      </p:sp>
      <p:sp>
        <p:nvSpPr>
          <p:cNvPr id="4" name="Slide Number Placeholder 3">
            <a:extLst>
              <a:ext uri="{FF2B5EF4-FFF2-40B4-BE49-F238E27FC236}">
                <a16:creationId xmlns:a16="http://schemas.microsoft.com/office/drawing/2014/main" id="{5CAF10B8-2CB7-CC2B-29B2-29D20B139D50}"/>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3528960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B788B-52ED-22C5-3E40-0E4459C47143}"/>
              </a:ext>
            </a:extLst>
          </p:cNvPr>
          <p:cNvSpPr>
            <a:spLocks noGrp="1"/>
          </p:cNvSpPr>
          <p:nvPr>
            <p:ph type="title"/>
          </p:nvPr>
        </p:nvSpPr>
        <p:spPr/>
        <p:txBody>
          <a:bodyPr>
            <a:normAutofit fontScale="90000"/>
          </a:bodyPr>
          <a:lstStyle/>
          <a:p>
            <a:r>
              <a:rPr lang="en-US" i="1" dirty="0"/>
              <a:t>Find sailors whose rating is better than every sailor called Horatio.</a:t>
            </a:r>
          </a:p>
        </p:txBody>
      </p:sp>
      <p:sp>
        <p:nvSpPr>
          <p:cNvPr id="3" name="Content Placeholder 2">
            <a:extLst>
              <a:ext uri="{FF2B5EF4-FFF2-40B4-BE49-F238E27FC236}">
                <a16:creationId xmlns:a16="http://schemas.microsoft.com/office/drawing/2014/main" id="{FF9E3D08-72EB-6D5E-0750-DCE1739064BA}"/>
              </a:ext>
            </a:extLst>
          </p:cNvPr>
          <p:cNvSpPr>
            <a:spLocks noGrp="1"/>
          </p:cNvSpPr>
          <p:nvPr>
            <p:ph idx="1"/>
          </p:nvPr>
        </p:nvSpPr>
        <p:spPr/>
        <p:txBody>
          <a:bodyPr>
            <a:normAutofit/>
          </a:bodyPr>
          <a:lstStyle/>
          <a:p>
            <a:r>
              <a:rPr lang="en-US" dirty="0"/>
              <a:t>SELECT </a:t>
            </a:r>
            <a:r>
              <a:rPr lang="en-US" dirty="0" err="1"/>
              <a:t>S.sid</a:t>
            </a:r>
            <a:endParaRPr lang="en-US" dirty="0"/>
          </a:p>
          <a:p>
            <a:r>
              <a:rPr lang="en-US" dirty="0"/>
              <a:t>FROM Sailors S</a:t>
            </a:r>
          </a:p>
          <a:p>
            <a:r>
              <a:rPr lang="en-US" dirty="0"/>
              <a:t>WHERE </a:t>
            </a:r>
            <a:r>
              <a:rPr lang="en-US" dirty="0" err="1"/>
              <a:t>S.rating</a:t>
            </a:r>
            <a:r>
              <a:rPr lang="en-US" dirty="0"/>
              <a:t> &gt; ALL ( </a:t>
            </a:r>
          </a:p>
          <a:p>
            <a:r>
              <a:rPr lang="en-US" dirty="0"/>
              <a:t> 	SELECT S2.rating</a:t>
            </a:r>
          </a:p>
          <a:p>
            <a:r>
              <a:rPr lang="en-US" dirty="0"/>
              <a:t> 	FROM Sailors S2</a:t>
            </a:r>
          </a:p>
          <a:p>
            <a:r>
              <a:rPr lang="en-US" dirty="0"/>
              <a:t> 	WHERE S2.sname = 'Horatio' )</a:t>
            </a:r>
          </a:p>
        </p:txBody>
      </p:sp>
      <p:sp>
        <p:nvSpPr>
          <p:cNvPr id="4" name="Slide Number Placeholder 3">
            <a:extLst>
              <a:ext uri="{FF2B5EF4-FFF2-40B4-BE49-F238E27FC236}">
                <a16:creationId xmlns:a16="http://schemas.microsoft.com/office/drawing/2014/main" id="{D905386E-9E9E-30E0-0923-62551943977A}"/>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804441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8A239-FD88-A90F-6077-7BD4F47D3F4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45092C-293A-CABC-2C30-BB693FCFF251}"/>
              </a:ext>
            </a:extLst>
          </p:cNvPr>
          <p:cNvSpPr>
            <a:spLocks noGrp="1"/>
          </p:cNvSpPr>
          <p:nvPr>
            <p:ph idx="1"/>
          </p:nvPr>
        </p:nvSpPr>
        <p:spPr>
          <a:xfrm>
            <a:off x="457200" y="1600200"/>
            <a:ext cx="8534400" cy="4525963"/>
          </a:xfrm>
        </p:spPr>
        <p:txBody>
          <a:bodyPr>
            <a:normAutofit/>
          </a:bodyPr>
          <a:lstStyle/>
          <a:p>
            <a:r>
              <a:rPr lang="en-US" sz="2800" dirty="0"/>
              <a:t>to understand comparisons involving ANY, it is useful to think of the comparison being carried out repeatedly</a:t>
            </a:r>
          </a:p>
          <a:p>
            <a:r>
              <a:rPr lang="en-US" sz="2800" dirty="0"/>
              <a:t>in this example, </a:t>
            </a:r>
            <a:r>
              <a:rPr lang="en-US" sz="2800" dirty="0" err="1"/>
              <a:t>S.rating</a:t>
            </a:r>
            <a:r>
              <a:rPr lang="en-US" sz="2800" dirty="0"/>
              <a:t> is successively compared with each rating value that is an answer to the nested query</a:t>
            </a:r>
          </a:p>
          <a:p>
            <a:r>
              <a:rPr lang="en-US" sz="2800" dirty="0"/>
              <a:t>intuitively, the subquery must return a row that makes the comparison true, in order for </a:t>
            </a:r>
            <a:r>
              <a:rPr lang="en-US" sz="2800" dirty="0" err="1"/>
              <a:t>S.rating</a:t>
            </a:r>
            <a:r>
              <a:rPr lang="en-US" sz="2800" dirty="0"/>
              <a:t> &gt; ANY ... to return true</a:t>
            </a:r>
          </a:p>
        </p:txBody>
      </p:sp>
      <p:sp>
        <p:nvSpPr>
          <p:cNvPr id="4" name="Slide Number Placeholder 3">
            <a:extLst>
              <a:ext uri="{FF2B5EF4-FFF2-40B4-BE49-F238E27FC236}">
                <a16:creationId xmlns:a16="http://schemas.microsoft.com/office/drawing/2014/main" id="{6D171D14-0385-4706-D0AC-E87A37681A1A}"/>
              </a:ext>
            </a:extLst>
          </p:cNvPr>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491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595F8-65D1-EDFF-DBE5-F27F8DA738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4FEDC1-3360-CD45-F919-2A983863287C}"/>
              </a:ext>
            </a:extLst>
          </p:cNvPr>
          <p:cNvSpPr>
            <a:spLocks noGrp="1"/>
          </p:cNvSpPr>
          <p:nvPr>
            <p:ph idx="1"/>
          </p:nvPr>
        </p:nvSpPr>
        <p:spPr/>
        <p:txBody>
          <a:bodyPr>
            <a:normAutofit/>
          </a:bodyPr>
          <a:lstStyle/>
          <a:p>
            <a:r>
              <a:rPr lang="en-US" sz="2800" dirty="0"/>
              <a:t>useful to think of comparison being carried out repeatedly</a:t>
            </a:r>
          </a:p>
          <a:p>
            <a:r>
              <a:rPr lang="en-US" sz="2800" dirty="0"/>
              <a:t>intuitively, the comparison must be true for every returned row for </a:t>
            </a:r>
            <a:r>
              <a:rPr lang="en-US" sz="2800" dirty="0" err="1"/>
              <a:t>S.rating</a:t>
            </a:r>
            <a:r>
              <a:rPr lang="en-US" sz="2800" dirty="0"/>
              <a:t>&gt; ALL ... to </a:t>
            </a:r>
            <a:r>
              <a:rPr lang="en-US" sz="2800"/>
              <a:t>return true</a:t>
            </a:r>
            <a:endParaRPr lang="en-US" sz="2800" dirty="0"/>
          </a:p>
        </p:txBody>
      </p:sp>
      <p:sp>
        <p:nvSpPr>
          <p:cNvPr id="4" name="Slide Number Placeholder 3">
            <a:extLst>
              <a:ext uri="{FF2B5EF4-FFF2-40B4-BE49-F238E27FC236}">
                <a16:creationId xmlns:a16="http://schemas.microsoft.com/office/drawing/2014/main" id="{E228DBDE-7FFF-DCC1-9B4D-CB63559FFE9D}"/>
              </a:ext>
            </a:extLst>
          </p:cNvPr>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8931168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32D82-1D8A-0BA3-7794-D489137A7819}"/>
              </a:ext>
            </a:extLst>
          </p:cNvPr>
          <p:cNvSpPr>
            <a:spLocks noGrp="1"/>
          </p:cNvSpPr>
          <p:nvPr>
            <p:ph type="title"/>
          </p:nvPr>
        </p:nvSpPr>
        <p:spPr/>
        <p:txBody>
          <a:bodyPr>
            <a:normAutofit/>
          </a:bodyPr>
          <a:lstStyle/>
          <a:p>
            <a:r>
              <a:rPr lang="en-US" i="1" dirty="0"/>
              <a:t>Find the oldest sailors.</a:t>
            </a:r>
          </a:p>
        </p:txBody>
      </p:sp>
      <p:sp>
        <p:nvSpPr>
          <p:cNvPr id="3" name="Content Placeholder 2">
            <a:extLst>
              <a:ext uri="{FF2B5EF4-FFF2-40B4-BE49-F238E27FC236}">
                <a16:creationId xmlns:a16="http://schemas.microsoft.com/office/drawing/2014/main" id="{0D04A761-5E07-253D-F99A-1676AF2542E7}"/>
              </a:ext>
            </a:extLst>
          </p:cNvPr>
          <p:cNvSpPr>
            <a:spLocks noGrp="1"/>
          </p:cNvSpPr>
          <p:nvPr>
            <p:ph idx="1"/>
          </p:nvPr>
        </p:nvSpPr>
        <p:spPr/>
        <p:txBody>
          <a:bodyPr/>
          <a:lstStyle/>
          <a:p>
            <a:r>
              <a:rPr lang="en-US" sz="2800" dirty="0"/>
              <a:t>SELECT </a:t>
            </a:r>
            <a:r>
              <a:rPr lang="en-US" sz="2800" dirty="0" err="1"/>
              <a:t>S.sname</a:t>
            </a:r>
            <a:r>
              <a:rPr lang="en-US" sz="2800" dirty="0"/>
              <a:t>, </a:t>
            </a:r>
            <a:r>
              <a:rPr lang="en-US" sz="2800" dirty="0" err="1"/>
              <a:t>S.age</a:t>
            </a:r>
            <a:endParaRPr lang="en-US" sz="2800" dirty="0"/>
          </a:p>
          <a:p>
            <a:r>
              <a:rPr lang="en-US" sz="2800" dirty="0"/>
              <a:t>FROM Sailors S</a:t>
            </a:r>
          </a:p>
          <a:p>
            <a:r>
              <a:rPr lang="en-US" sz="2800" dirty="0"/>
              <a:t>WHERE </a:t>
            </a:r>
            <a:r>
              <a:rPr lang="en-US" sz="2800" dirty="0" err="1"/>
              <a:t>S.age</a:t>
            </a:r>
            <a:r>
              <a:rPr lang="en-US" sz="2800" dirty="0"/>
              <a:t> &gt;= ALL ( SELECT S2.age</a:t>
            </a:r>
          </a:p>
          <a:p>
            <a:r>
              <a:rPr lang="en-US" sz="2800" dirty="0"/>
              <a:t> 	FROM Sailors S2 )</a:t>
            </a:r>
          </a:p>
          <a:p>
            <a:endParaRPr lang="en-US" dirty="0"/>
          </a:p>
        </p:txBody>
      </p:sp>
      <p:sp>
        <p:nvSpPr>
          <p:cNvPr id="4" name="Slide Number Placeholder 3">
            <a:extLst>
              <a:ext uri="{FF2B5EF4-FFF2-40B4-BE49-F238E27FC236}">
                <a16:creationId xmlns:a16="http://schemas.microsoft.com/office/drawing/2014/main" id="{EEB96BEF-7C42-64AA-7ADF-067154AFD3B7}"/>
              </a:ext>
            </a:extLst>
          </p:cNvPr>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3233998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1AA68-59DD-AB04-9524-F99A689FC42A}"/>
              </a:ext>
            </a:extLst>
          </p:cNvPr>
          <p:cNvSpPr>
            <a:spLocks noGrp="1"/>
          </p:cNvSpPr>
          <p:nvPr>
            <p:ph type="title"/>
          </p:nvPr>
        </p:nvSpPr>
        <p:spPr/>
        <p:txBody>
          <a:bodyPr>
            <a:normAutofit fontScale="90000"/>
          </a:bodyPr>
          <a:lstStyle/>
          <a:p>
            <a:r>
              <a:rPr lang="en-US" i="1" dirty="0"/>
              <a:t>Find the oldest sailors in each rating</a:t>
            </a:r>
          </a:p>
        </p:txBody>
      </p:sp>
      <p:sp>
        <p:nvSpPr>
          <p:cNvPr id="3" name="Content Placeholder 2">
            <a:extLst>
              <a:ext uri="{FF2B5EF4-FFF2-40B4-BE49-F238E27FC236}">
                <a16:creationId xmlns:a16="http://schemas.microsoft.com/office/drawing/2014/main" id="{96EB5944-5635-F1B0-A4FD-B54377892C74}"/>
              </a:ext>
            </a:extLst>
          </p:cNvPr>
          <p:cNvSpPr>
            <a:spLocks noGrp="1"/>
          </p:cNvSpPr>
          <p:nvPr>
            <p:ph idx="1"/>
          </p:nvPr>
        </p:nvSpPr>
        <p:spPr/>
        <p:txBody>
          <a:bodyPr/>
          <a:lstStyle/>
          <a:p>
            <a:r>
              <a:rPr lang="en-US" sz="2800" dirty="0"/>
              <a:t>SELECT </a:t>
            </a:r>
            <a:r>
              <a:rPr lang="en-US" sz="2800" dirty="0" err="1"/>
              <a:t>S.sname</a:t>
            </a:r>
            <a:r>
              <a:rPr lang="en-US" sz="2800" dirty="0"/>
              <a:t>, </a:t>
            </a:r>
            <a:r>
              <a:rPr lang="en-US" sz="2800" dirty="0" err="1"/>
              <a:t>S.age</a:t>
            </a:r>
            <a:r>
              <a:rPr lang="en-US" sz="2800" dirty="0"/>
              <a:t>, </a:t>
            </a:r>
            <a:r>
              <a:rPr lang="en-US" sz="2800" dirty="0" err="1"/>
              <a:t>S.rating</a:t>
            </a:r>
            <a:endParaRPr lang="en-US" sz="2800" dirty="0"/>
          </a:p>
          <a:p>
            <a:r>
              <a:rPr lang="en-US" sz="2800" dirty="0"/>
              <a:t>FROM Sailors S</a:t>
            </a:r>
          </a:p>
          <a:p>
            <a:r>
              <a:rPr lang="en-US" sz="2800" dirty="0"/>
              <a:t>WHERE </a:t>
            </a:r>
            <a:r>
              <a:rPr lang="en-US" sz="2800" dirty="0" err="1"/>
              <a:t>S.age</a:t>
            </a:r>
            <a:r>
              <a:rPr lang="en-US" sz="2800" dirty="0"/>
              <a:t> &gt;= ALL ( SELECT S2.age</a:t>
            </a:r>
          </a:p>
          <a:p>
            <a:r>
              <a:rPr lang="en-US" sz="2800" dirty="0"/>
              <a:t> 	FROM Sailors S2 </a:t>
            </a:r>
          </a:p>
          <a:p>
            <a:r>
              <a:rPr lang="en-US" sz="2800" dirty="0"/>
              <a:t> 	WHERE S2.rating = </a:t>
            </a:r>
            <a:r>
              <a:rPr lang="en-US" sz="2800" dirty="0" err="1"/>
              <a:t>S.rating</a:t>
            </a:r>
            <a:r>
              <a:rPr lang="en-US" sz="2800" dirty="0"/>
              <a:t>)</a:t>
            </a:r>
          </a:p>
          <a:p>
            <a:endParaRPr lang="en-US" dirty="0"/>
          </a:p>
        </p:txBody>
      </p:sp>
      <p:sp>
        <p:nvSpPr>
          <p:cNvPr id="4" name="Slide Number Placeholder 3">
            <a:extLst>
              <a:ext uri="{FF2B5EF4-FFF2-40B4-BE49-F238E27FC236}">
                <a16:creationId xmlns:a16="http://schemas.microsoft.com/office/drawing/2014/main" id="{FFC3C57C-6061-EAE8-9AC4-2AB55C41F78B}"/>
              </a:ext>
            </a:extLst>
          </p:cNvPr>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65184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E5140-A343-DFB5-7307-CEE5AD81CF3E}"/>
              </a:ext>
            </a:extLst>
          </p:cNvPr>
          <p:cNvSpPr>
            <a:spLocks noGrp="1"/>
          </p:cNvSpPr>
          <p:nvPr>
            <p:ph type="title"/>
          </p:nvPr>
        </p:nvSpPr>
        <p:spPr/>
        <p:txBody>
          <a:bodyPr/>
          <a:lstStyle/>
          <a:p>
            <a:r>
              <a:rPr lang="en-US" i="1" dirty="0"/>
              <a:t>Pay attention</a:t>
            </a:r>
          </a:p>
        </p:txBody>
      </p:sp>
      <p:sp>
        <p:nvSpPr>
          <p:cNvPr id="3" name="Content Placeholder 2">
            <a:extLst>
              <a:ext uri="{FF2B5EF4-FFF2-40B4-BE49-F238E27FC236}">
                <a16:creationId xmlns:a16="http://schemas.microsoft.com/office/drawing/2014/main" id="{5EF2C9A9-CDBD-5D2F-C81B-C1081F92A4E3}"/>
              </a:ext>
            </a:extLst>
          </p:cNvPr>
          <p:cNvSpPr>
            <a:spLocks noGrp="1"/>
          </p:cNvSpPr>
          <p:nvPr>
            <p:ph idx="1"/>
          </p:nvPr>
        </p:nvSpPr>
        <p:spPr/>
        <p:txBody>
          <a:bodyPr>
            <a:normAutofit/>
          </a:bodyPr>
          <a:lstStyle/>
          <a:p>
            <a:r>
              <a:rPr lang="en-US" sz="2800" dirty="0"/>
              <a:t>I doubt that there is an ALL() operator in SQLite</a:t>
            </a:r>
          </a:p>
          <a:p>
            <a:pPr lvl="1"/>
            <a:r>
              <a:rPr lang="en-US" sz="2700" i="1" dirty="0"/>
              <a:t>however, you can write something that is functionally equivalent using MAX() and MIN()</a:t>
            </a:r>
          </a:p>
          <a:p>
            <a:pPr lvl="2"/>
            <a:r>
              <a:rPr lang="en-US" sz="2700" b="1" i="1" dirty="0"/>
              <a:t>More than one way to skin a cat</a:t>
            </a:r>
          </a:p>
          <a:p>
            <a:r>
              <a:rPr lang="en-US" sz="2800" dirty="0"/>
              <a:t>&lt;= ALL is working</a:t>
            </a:r>
          </a:p>
          <a:p>
            <a:r>
              <a:rPr lang="en-US" sz="2800" dirty="0"/>
              <a:t>&lt;  ALL is not working</a:t>
            </a:r>
          </a:p>
          <a:p>
            <a:r>
              <a:rPr lang="en-US" sz="2800" dirty="0"/>
              <a:t> pay attention to NULL values </a:t>
            </a:r>
          </a:p>
        </p:txBody>
      </p:sp>
      <p:sp>
        <p:nvSpPr>
          <p:cNvPr id="4" name="Slide Number Placeholder 3">
            <a:extLst>
              <a:ext uri="{FF2B5EF4-FFF2-40B4-BE49-F238E27FC236}">
                <a16:creationId xmlns:a16="http://schemas.microsoft.com/office/drawing/2014/main" id="{5BDCA691-94D4-9AE9-9B0E-963A281F8322}"/>
              </a:ext>
            </a:extLst>
          </p:cNvPr>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702759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1EE8C-8195-3E60-969A-5EE9E6FF3B5B}"/>
              </a:ext>
            </a:extLst>
          </p:cNvPr>
          <p:cNvSpPr>
            <a:spLocks noGrp="1"/>
          </p:cNvSpPr>
          <p:nvPr>
            <p:ph type="title"/>
          </p:nvPr>
        </p:nvSpPr>
        <p:spPr/>
        <p:txBody>
          <a:bodyPr>
            <a:normAutofit fontScale="90000"/>
          </a:bodyPr>
          <a:lstStyle/>
          <a:p>
            <a:r>
              <a:rPr lang="en-US" i="1" dirty="0"/>
              <a:t>Find the names of sailors who have reserved all boats</a:t>
            </a:r>
          </a:p>
        </p:txBody>
      </p:sp>
      <p:sp>
        <p:nvSpPr>
          <p:cNvPr id="3" name="Content Placeholder 2">
            <a:extLst>
              <a:ext uri="{FF2B5EF4-FFF2-40B4-BE49-F238E27FC236}">
                <a16:creationId xmlns:a16="http://schemas.microsoft.com/office/drawing/2014/main" id="{05718995-4E53-1251-8CCC-11CDC504BFB7}"/>
              </a:ext>
            </a:extLst>
          </p:cNvPr>
          <p:cNvSpPr>
            <a:spLocks noGrp="1"/>
          </p:cNvSpPr>
          <p:nvPr>
            <p:ph idx="1"/>
          </p:nvPr>
        </p:nvSpPr>
        <p:spPr/>
        <p:txBody>
          <a:bodyPr>
            <a:normAutofit/>
          </a:bodyPr>
          <a:lstStyle/>
          <a:p>
            <a:r>
              <a:rPr lang="en-US" sz="2800" dirty="0"/>
              <a:t>SELECT </a:t>
            </a:r>
            <a:r>
              <a:rPr lang="en-US" sz="2800" dirty="0" err="1"/>
              <a:t>S.sname</a:t>
            </a:r>
            <a:endParaRPr lang="en-US" sz="2800" dirty="0"/>
          </a:p>
          <a:p>
            <a:r>
              <a:rPr lang="en-US" sz="2800" dirty="0"/>
              <a:t>FROM Sailors S</a:t>
            </a:r>
          </a:p>
          <a:p>
            <a:r>
              <a:rPr lang="en-US" sz="2800" dirty="0"/>
              <a:t>WHERE NOT EXISTS (</a:t>
            </a:r>
          </a:p>
          <a:p>
            <a:r>
              <a:rPr lang="en-US" sz="2800" dirty="0"/>
              <a:t> 	SELECT </a:t>
            </a:r>
            <a:r>
              <a:rPr lang="en-US" sz="2800" dirty="0" err="1"/>
              <a:t>B.bid</a:t>
            </a:r>
            <a:r>
              <a:rPr lang="en-US" sz="2800" dirty="0"/>
              <a:t> FROM Boats B</a:t>
            </a:r>
          </a:p>
          <a:p>
            <a:r>
              <a:rPr lang="en-US" sz="2800" dirty="0"/>
              <a:t> 	EXCEPT</a:t>
            </a:r>
          </a:p>
          <a:p>
            <a:r>
              <a:rPr lang="en-US" sz="2800" dirty="0"/>
              <a:t> 	SELECT R. bid FROM Reserves R </a:t>
            </a:r>
          </a:p>
          <a:p>
            <a:r>
              <a:rPr lang="en-US" sz="2800" dirty="0"/>
              <a:t> 		WHERE </a:t>
            </a:r>
            <a:r>
              <a:rPr lang="en-US" sz="2800" dirty="0" err="1"/>
              <a:t>R.sid</a:t>
            </a:r>
            <a:r>
              <a:rPr lang="en-US" sz="2800" dirty="0"/>
              <a:t> = </a:t>
            </a:r>
            <a:r>
              <a:rPr lang="en-US" sz="2800" dirty="0" err="1"/>
              <a:t>S.sid</a:t>
            </a:r>
            <a:r>
              <a:rPr lang="en-US" sz="2800" dirty="0"/>
              <a:t> )</a:t>
            </a:r>
          </a:p>
        </p:txBody>
      </p:sp>
      <p:sp>
        <p:nvSpPr>
          <p:cNvPr id="4" name="Slide Number Placeholder 3">
            <a:extLst>
              <a:ext uri="{FF2B5EF4-FFF2-40B4-BE49-F238E27FC236}">
                <a16:creationId xmlns:a16="http://schemas.microsoft.com/office/drawing/2014/main" id="{60AC8E5F-E3E3-5DBF-F2DD-D81024F18F5D}"/>
              </a:ext>
            </a:extLst>
          </p:cNvPr>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3692641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2E501-CDA9-1F98-43F6-F2017C5C3E62}"/>
              </a:ext>
            </a:extLst>
          </p:cNvPr>
          <p:cNvSpPr>
            <a:spLocks noGrp="1"/>
          </p:cNvSpPr>
          <p:nvPr>
            <p:ph type="title"/>
          </p:nvPr>
        </p:nvSpPr>
        <p:spPr/>
        <p:txBody>
          <a:bodyPr>
            <a:normAutofit fontScale="90000"/>
          </a:bodyPr>
          <a:lstStyle/>
          <a:p>
            <a:r>
              <a:rPr lang="en-US" i="1" dirty="0"/>
              <a:t>Find the names of sailors who have reserved all red boats</a:t>
            </a:r>
          </a:p>
        </p:txBody>
      </p:sp>
      <p:sp>
        <p:nvSpPr>
          <p:cNvPr id="3" name="Content Placeholder 2">
            <a:extLst>
              <a:ext uri="{FF2B5EF4-FFF2-40B4-BE49-F238E27FC236}">
                <a16:creationId xmlns:a16="http://schemas.microsoft.com/office/drawing/2014/main" id="{75750E58-729D-BAF6-4DD0-E217C86B061B}"/>
              </a:ext>
            </a:extLst>
          </p:cNvPr>
          <p:cNvSpPr>
            <a:spLocks noGrp="1"/>
          </p:cNvSpPr>
          <p:nvPr>
            <p:ph idx="1"/>
          </p:nvPr>
        </p:nvSpPr>
        <p:spPr/>
        <p:txBody>
          <a:bodyPr>
            <a:normAutofit/>
          </a:bodyPr>
          <a:lstStyle/>
          <a:p>
            <a:r>
              <a:rPr lang="en-US" sz="2800" dirty="0"/>
              <a:t>SELECT </a:t>
            </a:r>
            <a:r>
              <a:rPr lang="en-US" sz="2800" dirty="0" err="1"/>
              <a:t>S.sname</a:t>
            </a:r>
            <a:endParaRPr lang="en-US" sz="2800" dirty="0"/>
          </a:p>
          <a:p>
            <a:r>
              <a:rPr lang="en-US" sz="2800" dirty="0"/>
              <a:t>FROM Sailors S</a:t>
            </a:r>
          </a:p>
          <a:p>
            <a:r>
              <a:rPr lang="en-US" sz="2800" dirty="0"/>
              <a:t>WHERE NOT EXISTS (</a:t>
            </a:r>
          </a:p>
          <a:p>
            <a:r>
              <a:rPr lang="en-US" sz="2800" dirty="0"/>
              <a:t> 	SELECT </a:t>
            </a:r>
            <a:r>
              <a:rPr lang="en-US" sz="2800" dirty="0" err="1"/>
              <a:t>B.bid</a:t>
            </a:r>
            <a:r>
              <a:rPr lang="en-US" sz="2800" dirty="0"/>
              <a:t> FROM Boats B WHERE </a:t>
            </a:r>
            <a:r>
              <a:rPr lang="en-US" sz="2800" dirty="0" err="1"/>
              <a:t>B.color</a:t>
            </a:r>
            <a:r>
              <a:rPr lang="en-US" sz="2800" dirty="0"/>
              <a:t> = 'red'</a:t>
            </a:r>
          </a:p>
          <a:p>
            <a:r>
              <a:rPr lang="en-US" sz="2800" dirty="0"/>
              <a:t> 	EXCEPT</a:t>
            </a:r>
          </a:p>
          <a:p>
            <a:r>
              <a:rPr lang="en-US" sz="2800" dirty="0"/>
              <a:t> 	SELECT </a:t>
            </a:r>
            <a:r>
              <a:rPr lang="en-US" sz="2800" dirty="0" err="1"/>
              <a:t>R.bid</a:t>
            </a:r>
            <a:r>
              <a:rPr lang="en-US" sz="2800" dirty="0"/>
              <a:t> FROM Reserves R, Boats B </a:t>
            </a:r>
          </a:p>
          <a:p>
            <a:r>
              <a:rPr lang="en-US" sz="2800" dirty="0"/>
              <a:t> 		WHERE </a:t>
            </a:r>
            <a:r>
              <a:rPr lang="en-US" sz="2800" dirty="0" err="1"/>
              <a:t>R.bid</a:t>
            </a:r>
            <a:r>
              <a:rPr lang="en-US" sz="2800" dirty="0"/>
              <a:t> = </a:t>
            </a:r>
            <a:r>
              <a:rPr lang="en-US" sz="2800" dirty="0" err="1"/>
              <a:t>B.bid</a:t>
            </a:r>
            <a:r>
              <a:rPr lang="en-US" sz="2800" dirty="0"/>
              <a:t> AND </a:t>
            </a:r>
            <a:r>
              <a:rPr lang="en-US" sz="2800" dirty="0" err="1"/>
              <a:t>R.sid</a:t>
            </a:r>
            <a:r>
              <a:rPr lang="en-US" sz="2800" dirty="0"/>
              <a:t> = </a:t>
            </a:r>
            <a:r>
              <a:rPr lang="en-US" sz="2800" dirty="0" err="1"/>
              <a:t>S.sid</a:t>
            </a:r>
            <a:r>
              <a:rPr lang="en-US" sz="2800" dirty="0"/>
              <a:t> AND </a:t>
            </a:r>
            <a:r>
              <a:rPr lang="en-US" sz="2800" dirty="0" err="1"/>
              <a:t>B.color</a:t>
            </a:r>
            <a:r>
              <a:rPr lang="en-US" sz="2800" dirty="0"/>
              <a:t> = 'red')</a:t>
            </a:r>
          </a:p>
        </p:txBody>
      </p:sp>
      <p:sp>
        <p:nvSpPr>
          <p:cNvPr id="4" name="Slide Number Placeholder 3">
            <a:extLst>
              <a:ext uri="{FF2B5EF4-FFF2-40B4-BE49-F238E27FC236}">
                <a16:creationId xmlns:a16="http://schemas.microsoft.com/office/drawing/2014/main" id="{D881E80C-1933-10E2-645E-A67D4D757ACF}"/>
              </a:ext>
            </a:extLst>
          </p:cNvPr>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14242429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B6AD3-DB15-3C4A-88E1-BDD49ACCA0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00D487-4A68-EC2F-B6B4-2E179E3BE2DA}"/>
              </a:ext>
            </a:extLst>
          </p:cNvPr>
          <p:cNvSpPr>
            <a:spLocks noGrp="1"/>
          </p:cNvSpPr>
          <p:nvPr>
            <p:ph idx="1"/>
          </p:nvPr>
        </p:nvSpPr>
        <p:spPr/>
        <p:txBody>
          <a:bodyPr/>
          <a:lstStyle/>
          <a:p>
            <a:r>
              <a:rPr lang="en-US" sz="2800" dirty="0"/>
              <a:t>query is correlated - for each sailor S, we check to see that the set of boats reserved by S includes every boat or every red boat</a:t>
            </a:r>
          </a:p>
          <a:p>
            <a:endParaRPr lang="en-US" sz="2800" dirty="0"/>
          </a:p>
        </p:txBody>
      </p:sp>
      <p:sp>
        <p:nvSpPr>
          <p:cNvPr id="4" name="Slide Number Placeholder 3">
            <a:extLst>
              <a:ext uri="{FF2B5EF4-FFF2-40B4-BE49-F238E27FC236}">
                <a16:creationId xmlns:a16="http://schemas.microsoft.com/office/drawing/2014/main" id="{E75D57EF-A159-0E27-A793-15E75E68DFA8}"/>
              </a:ext>
            </a:extLst>
          </p:cNvPr>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36643760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D0374-3EE2-A7EB-4974-58ECCA81BC1D}"/>
              </a:ext>
            </a:extLst>
          </p:cNvPr>
          <p:cNvSpPr>
            <a:spLocks noGrp="1"/>
          </p:cNvSpPr>
          <p:nvPr>
            <p:ph type="title"/>
          </p:nvPr>
        </p:nvSpPr>
        <p:spPr/>
        <p:txBody>
          <a:bodyPr/>
          <a:lstStyle/>
          <a:p>
            <a:r>
              <a:rPr lang="en-US" b="1" dirty="0"/>
              <a:t>Aggregate Functions</a:t>
            </a:r>
          </a:p>
        </p:txBody>
      </p:sp>
      <p:sp>
        <p:nvSpPr>
          <p:cNvPr id="3" name="Content Placeholder 2">
            <a:extLst>
              <a:ext uri="{FF2B5EF4-FFF2-40B4-BE49-F238E27FC236}">
                <a16:creationId xmlns:a16="http://schemas.microsoft.com/office/drawing/2014/main" id="{387F50F4-3D42-7F49-A7B5-6974A70D1D26}"/>
              </a:ext>
            </a:extLst>
          </p:cNvPr>
          <p:cNvSpPr>
            <a:spLocks noGrp="1"/>
          </p:cNvSpPr>
          <p:nvPr>
            <p:ph idx="1"/>
          </p:nvPr>
        </p:nvSpPr>
        <p:spPr/>
        <p:txBody>
          <a:bodyPr>
            <a:normAutofit/>
          </a:bodyPr>
          <a:lstStyle/>
          <a:p>
            <a:r>
              <a:rPr lang="en-US" sz="2800" dirty="0"/>
              <a:t>to perform some computation or summarization</a:t>
            </a:r>
          </a:p>
          <a:p>
            <a:r>
              <a:rPr lang="en-US" sz="2800" dirty="0"/>
              <a:t>powerful class of constructs for computing aggregate values such as MIN and SUM</a:t>
            </a:r>
          </a:p>
          <a:p>
            <a:endParaRPr lang="en-US" sz="2800" dirty="0"/>
          </a:p>
          <a:p>
            <a:r>
              <a:rPr lang="en-US" sz="2800" dirty="0"/>
              <a:t>functions and arithmetic operators have one or two or three or many parameters / operands</a:t>
            </a:r>
          </a:p>
          <a:p>
            <a:r>
              <a:rPr lang="en-US" sz="2800" dirty="0"/>
              <a:t>aggregate functions and operators have only one single such parameter / operand which happen to be a set of values</a:t>
            </a:r>
          </a:p>
        </p:txBody>
      </p:sp>
      <p:sp>
        <p:nvSpPr>
          <p:cNvPr id="4" name="Slide Number Placeholder 3">
            <a:extLst>
              <a:ext uri="{FF2B5EF4-FFF2-40B4-BE49-F238E27FC236}">
                <a16:creationId xmlns:a16="http://schemas.microsoft.com/office/drawing/2014/main" id="{5FA6C901-CB59-67B6-2ECA-F534A37B9BCC}"/>
              </a:ext>
            </a:extLst>
          </p:cNvPr>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147980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38BFD-0E8C-77FA-4D89-628F7AB4D8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1E83DC-E48D-EF0E-CC96-5B7A3F60AF8B}"/>
              </a:ext>
            </a:extLst>
          </p:cNvPr>
          <p:cNvSpPr>
            <a:spLocks noGrp="1"/>
          </p:cNvSpPr>
          <p:nvPr>
            <p:ph type="title"/>
          </p:nvPr>
        </p:nvSpPr>
        <p:spPr/>
        <p:txBody>
          <a:bodyPr/>
          <a:lstStyle/>
          <a:p>
            <a:r>
              <a:rPr lang="en-US" dirty="0"/>
              <a:t>Aggregate Functions</a:t>
            </a:r>
          </a:p>
        </p:txBody>
      </p:sp>
      <p:sp>
        <p:nvSpPr>
          <p:cNvPr id="3" name="Content Placeholder 2">
            <a:extLst>
              <a:ext uri="{FF2B5EF4-FFF2-40B4-BE49-F238E27FC236}">
                <a16:creationId xmlns:a16="http://schemas.microsoft.com/office/drawing/2014/main" id="{3F45D594-D3BD-935C-41C2-15F11AACE024}"/>
              </a:ext>
            </a:extLst>
          </p:cNvPr>
          <p:cNvSpPr>
            <a:spLocks noGrp="1"/>
          </p:cNvSpPr>
          <p:nvPr>
            <p:ph idx="1"/>
          </p:nvPr>
        </p:nvSpPr>
        <p:spPr/>
        <p:txBody>
          <a:bodyPr>
            <a:noAutofit/>
          </a:bodyPr>
          <a:lstStyle/>
          <a:p>
            <a:r>
              <a:rPr lang="en-US" sz="2800" dirty="0"/>
              <a:t>Structured Query Language SQL supports five aggregate operations, which can be applied on any column, say A, of a relation:</a:t>
            </a:r>
          </a:p>
        </p:txBody>
      </p:sp>
      <p:sp>
        <p:nvSpPr>
          <p:cNvPr id="4" name="Slide Number Placeholder 3">
            <a:extLst>
              <a:ext uri="{FF2B5EF4-FFF2-40B4-BE49-F238E27FC236}">
                <a16:creationId xmlns:a16="http://schemas.microsoft.com/office/drawing/2014/main" id="{5AC41507-DD66-721A-D087-5FBB293BE117}"/>
              </a:ext>
            </a:extLst>
          </p:cNvPr>
          <p:cNvSpPr>
            <a:spLocks noGrp="1"/>
          </p:cNvSpPr>
          <p:nvPr>
            <p:ph type="sldNum" sz="quarter" idx="12"/>
          </p:nvPr>
        </p:nvSpPr>
        <p:spPr/>
        <p:txBody>
          <a:bodyPr/>
          <a:lstStyle/>
          <a:p>
            <a:fld id="{B6F15528-21DE-4FAA-801E-634DDDAF4B2B}" type="slidenum">
              <a:rPr lang="en-US" smtClean="0"/>
              <a:pPr/>
              <a:t>36</a:t>
            </a:fld>
            <a:endParaRPr lang="en-US" dirty="0"/>
          </a:p>
        </p:txBody>
      </p:sp>
    </p:spTree>
    <p:extLst>
      <p:ext uri="{BB962C8B-B14F-4D97-AF65-F5344CB8AC3E}">
        <p14:creationId xmlns:p14="http://schemas.microsoft.com/office/powerpoint/2010/main" val="21421095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3712-DCA3-1612-1031-F0420BC7FBD0}"/>
              </a:ext>
            </a:extLst>
          </p:cNvPr>
          <p:cNvSpPr>
            <a:spLocks noGrp="1"/>
          </p:cNvSpPr>
          <p:nvPr>
            <p:ph type="title"/>
          </p:nvPr>
        </p:nvSpPr>
        <p:spPr/>
        <p:txBody>
          <a:bodyPr/>
          <a:lstStyle/>
          <a:p>
            <a:r>
              <a:rPr lang="en-US" dirty="0"/>
              <a:t>Aggregate Functions</a:t>
            </a:r>
          </a:p>
        </p:txBody>
      </p:sp>
      <p:sp>
        <p:nvSpPr>
          <p:cNvPr id="3" name="Content Placeholder 2">
            <a:extLst>
              <a:ext uri="{FF2B5EF4-FFF2-40B4-BE49-F238E27FC236}">
                <a16:creationId xmlns:a16="http://schemas.microsoft.com/office/drawing/2014/main" id="{7298CCE5-1B44-DA04-3CD6-886C3A9D5FEE}"/>
              </a:ext>
            </a:extLst>
          </p:cNvPr>
          <p:cNvSpPr>
            <a:spLocks noGrp="1"/>
          </p:cNvSpPr>
          <p:nvPr>
            <p:ph idx="1"/>
          </p:nvPr>
        </p:nvSpPr>
        <p:spPr/>
        <p:txBody>
          <a:bodyPr>
            <a:noAutofit/>
          </a:bodyPr>
          <a:lstStyle/>
          <a:p>
            <a:pPr marL="514350" lvl="0" indent="-514350">
              <a:buFont typeface="+mj-lt"/>
              <a:buAutoNum type="arabicPeriod"/>
            </a:pPr>
            <a:r>
              <a:rPr lang="en-US" sz="2800" dirty="0"/>
              <a:t>COUNT ([DISTINCT] A): the number of (unique) values in the A column.</a:t>
            </a:r>
          </a:p>
          <a:p>
            <a:pPr marL="514350" lvl="0" indent="-514350">
              <a:buFont typeface="+mj-lt"/>
              <a:buAutoNum type="arabicPeriod"/>
            </a:pPr>
            <a:r>
              <a:rPr lang="en-US" sz="2800" dirty="0"/>
              <a:t>SUM ([DISTINCT] A): the sum of all (unique) values in the A column.</a:t>
            </a:r>
          </a:p>
          <a:p>
            <a:pPr marL="514350" lvl="0" indent="-514350">
              <a:buFont typeface="+mj-lt"/>
              <a:buAutoNum type="arabicPeriod"/>
            </a:pPr>
            <a:r>
              <a:rPr lang="en-US" sz="2800" dirty="0"/>
              <a:t>AVG ([DISTINCT] A): the average of all (unique) values in the A column.</a:t>
            </a:r>
          </a:p>
          <a:p>
            <a:pPr marL="514350" lvl="0" indent="-514350">
              <a:buFont typeface="+mj-lt"/>
              <a:buAutoNum type="arabicPeriod"/>
            </a:pPr>
            <a:r>
              <a:rPr lang="en-US" sz="2800" dirty="0"/>
              <a:t>MIN (A): the minimum value in column A.</a:t>
            </a:r>
          </a:p>
          <a:p>
            <a:pPr marL="514350" lvl="0" indent="-514350">
              <a:buFont typeface="+mj-lt"/>
              <a:buAutoNum type="arabicPeriod"/>
            </a:pPr>
            <a:r>
              <a:rPr lang="en-US" sz="2800" dirty="0"/>
              <a:t>MAX (A): the maximum value in column A.</a:t>
            </a:r>
          </a:p>
        </p:txBody>
      </p:sp>
      <p:sp>
        <p:nvSpPr>
          <p:cNvPr id="4" name="Slide Number Placeholder 3">
            <a:extLst>
              <a:ext uri="{FF2B5EF4-FFF2-40B4-BE49-F238E27FC236}">
                <a16:creationId xmlns:a16="http://schemas.microsoft.com/office/drawing/2014/main" id="{2EDE4651-92E8-7BEC-F26B-CCAA9E136EAA}"/>
              </a:ext>
            </a:extLst>
          </p:cNvPr>
          <p:cNvSpPr>
            <a:spLocks noGrp="1"/>
          </p:cNvSpPr>
          <p:nvPr>
            <p:ph type="sldNum" sz="quarter" idx="12"/>
          </p:nvPr>
        </p:nvSpPr>
        <p:spPr/>
        <p:txBody>
          <a:bodyPr/>
          <a:lstStyle/>
          <a:p>
            <a:fld id="{B6F15528-21DE-4FAA-801E-634DDDAF4B2B}" type="slidenum">
              <a:rPr lang="en-US" smtClean="0"/>
              <a:pPr/>
              <a:t>37</a:t>
            </a:fld>
            <a:endParaRPr lang="en-US" dirty="0"/>
          </a:p>
        </p:txBody>
      </p:sp>
    </p:spTree>
    <p:extLst>
      <p:ext uri="{BB962C8B-B14F-4D97-AF65-F5344CB8AC3E}">
        <p14:creationId xmlns:p14="http://schemas.microsoft.com/office/powerpoint/2010/main" val="41327278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25A19-83DC-5B6B-F04A-2D7B471FFC03}"/>
              </a:ext>
            </a:extLst>
          </p:cNvPr>
          <p:cNvSpPr>
            <a:spLocks noGrp="1"/>
          </p:cNvSpPr>
          <p:nvPr>
            <p:ph type="title"/>
          </p:nvPr>
        </p:nvSpPr>
        <p:spPr/>
        <p:txBody>
          <a:bodyPr/>
          <a:lstStyle/>
          <a:p>
            <a:r>
              <a:rPr lang="en-US" i="1" dirty="0"/>
              <a:t>Find the average age of all sailors</a:t>
            </a:r>
          </a:p>
        </p:txBody>
      </p:sp>
      <p:sp>
        <p:nvSpPr>
          <p:cNvPr id="3" name="Content Placeholder 2">
            <a:extLst>
              <a:ext uri="{FF2B5EF4-FFF2-40B4-BE49-F238E27FC236}">
                <a16:creationId xmlns:a16="http://schemas.microsoft.com/office/drawing/2014/main" id="{1B661B31-65F6-143C-5B39-524934C4BA16}"/>
              </a:ext>
            </a:extLst>
          </p:cNvPr>
          <p:cNvSpPr>
            <a:spLocks noGrp="1"/>
          </p:cNvSpPr>
          <p:nvPr>
            <p:ph idx="1"/>
          </p:nvPr>
        </p:nvSpPr>
        <p:spPr/>
        <p:txBody>
          <a:bodyPr>
            <a:normAutofit/>
          </a:bodyPr>
          <a:lstStyle/>
          <a:p>
            <a:r>
              <a:rPr lang="en-US" sz="2800" dirty="0"/>
              <a:t>SELECT AVG (</a:t>
            </a:r>
            <a:r>
              <a:rPr lang="en-US" sz="2800" dirty="0" err="1"/>
              <a:t>S.age</a:t>
            </a:r>
            <a:r>
              <a:rPr lang="en-US" sz="2800" dirty="0"/>
              <a:t>)</a:t>
            </a:r>
          </a:p>
          <a:p>
            <a:r>
              <a:rPr lang="en-US" sz="2800" dirty="0"/>
              <a:t>FROM Sailors S</a:t>
            </a:r>
          </a:p>
          <a:p>
            <a:endParaRPr lang="en-US" sz="2800" dirty="0"/>
          </a:p>
          <a:p>
            <a:r>
              <a:rPr lang="en-US" sz="2800" dirty="0"/>
              <a:t>36.9</a:t>
            </a:r>
          </a:p>
          <a:p>
            <a:endParaRPr lang="en-US" sz="2800" dirty="0"/>
          </a:p>
        </p:txBody>
      </p:sp>
      <p:sp>
        <p:nvSpPr>
          <p:cNvPr id="4" name="Slide Number Placeholder 3">
            <a:extLst>
              <a:ext uri="{FF2B5EF4-FFF2-40B4-BE49-F238E27FC236}">
                <a16:creationId xmlns:a16="http://schemas.microsoft.com/office/drawing/2014/main" id="{46888417-39A3-F9B4-907A-EAA22DBBF990}"/>
              </a:ext>
            </a:extLst>
          </p:cNvPr>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8334747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823A4-3C1D-8CB0-8DE6-48A0D5853D0E}"/>
              </a:ext>
            </a:extLst>
          </p:cNvPr>
          <p:cNvSpPr>
            <a:spLocks noGrp="1"/>
          </p:cNvSpPr>
          <p:nvPr>
            <p:ph type="title"/>
          </p:nvPr>
        </p:nvSpPr>
        <p:spPr/>
        <p:txBody>
          <a:bodyPr>
            <a:normAutofit fontScale="90000"/>
          </a:bodyPr>
          <a:lstStyle/>
          <a:p>
            <a:r>
              <a:rPr lang="en-US" i="1" dirty="0"/>
              <a:t>Find the average age of all sailors with a rating of 10</a:t>
            </a:r>
          </a:p>
        </p:txBody>
      </p:sp>
      <p:sp>
        <p:nvSpPr>
          <p:cNvPr id="3" name="Content Placeholder 2">
            <a:extLst>
              <a:ext uri="{FF2B5EF4-FFF2-40B4-BE49-F238E27FC236}">
                <a16:creationId xmlns:a16="http://schemas.microsoft.com/office/drawing/2014/main" id="{2B12BE18-598F-7204-781B-7981C12DABAB}"/>
              </a:ext>
            </a:extLst>
          </p:cNvPr>
          <p:cNvSpPr>
            <a:spLocks noGrp="1"/>
          </p:cNvSpPr>
          <p:nvPr>
            <p:ph idx="1"/>
          </p:nvPr>
        </p:nvSpPr>
        <p:spPr/>
        <p:txBody>
          <a:bodyPr>
            <a:normAutofit/>
          </a:bodyPr>
          <a:lstStyle/>
          <a:p>
            <a:r>
              <a:rPr lang="en-US" sz="2800" dirty="0"/>
              <a:t>SELECT AVG (</a:t>
            </a:r>
            <a:r>
              <a:rPr lang="en-US" sz="2800" dirty="0" err="1"/>
              <a:t>S.age</a:t>
            </a:r>
            <a:r>
              <a:rPr lang="en-US" sz="2800" dirty="0"/>
              <a:t>)</a:t>
            </a:r>
          </a:p>
          <a:p>
            <a:r>
              <a:rPr lang="en-US" sz="2800" dirty="0"/>
              <a:t>FROM Sailors S </a:t>
            </a:r>
          </a:p>
          <a:p>
            <a:r>
              <a:rPr lang="en-US" sz="2800" dirty="0"/>
              <a:t>WHERE </a:t>
            </a:r>
            <a:r>
              <a:rPr lang="en-US" sz="2800" dirty="0" err="1"/>
              <a:t>S.rating</a:t>
            </a:r>
            <a:r>
              <a:rPr lang="en-US" sz="2800" dirty="0"/>
              <a:t> = 10</a:t>
            </a:r>
          </a:p>
          <a:p>
            <a:endParaRPr lang="en-US" sz="2800" dirty="0"/>
          </a:p>
          <a:p>
            <a:r>
              <a:rPr lang="en-US" sz="2800" dirty="0"/>
              <a:t>25.5</a:t>
            </a:r>
          </a:p>
          <a:p>
            <a:endParaRPr lang="en-US" sz="2800" dirty="0"/>
          </a:p>
        </p:txBody>
      </p:sp>
      <p:sp>
        <p:nvSpPr>
          <p:cNvPr id="4" name="Slide Number Placeholder 3">
            <a:extLst>
              <a:ext uri="{FF2B5EF4-FFF2-40B4-BE49-F238E27FC236}">
                <a16:creationId xmlns:a16="http://schemas.microsoft.com/office/drawing/2014/main" id="{7E44A786-BFD9-E41C-402D-90F0AA647F7C}"/>
              </a:ext>
            </a:extLst>
          </p:cNvPr>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4328004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00E83-0B13-923F-6360-B38C5458AD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C96C93-DC72-98D3-0D36-2DFA875EF657}"/>
              </a:ext>
            </a:extLst>
          </p:cNvPr>
          <p:cNvSpPr>
            <a:spLocks noGrp="1"/>
          </p:cNvSpPr>
          <p:nvPr>
            <p:ph idx="1"/>
          </p:nvPr>
        </p:nvSpPr>
        <p:spPr/>
        <p:txBody>
          <a:bodyPr>
            <a:normAutofit/>
          </a:bodyPr>
          <a:lstStyle/>
          <a:p>
            <a:r>
              <a:rPr lang="en-US" sz="2800" dirty="0"/>
              <a:t>WHERE clause can be used to restrict the sailors considered in computing the average age</a:t>
            </a:r>
          </a:p>
          <a:p>
            <a:endParaRPr lang="en-US" sz="2800" dirty="0"/>
          </a:p>
          <a:p>
            <a:r>
              <a:rPr lang="en-US" sz="2800" dirty="0"/>
              <a:t>MIN (or MAX) can be used instead of AVG in the above queries to find the age of the youngest (oldest) sailor</a:t>
            </a:r>
          </a:p>
          <a:p>
            <a:endParaRPr lang="en-US" sz="2800" dirty="0"/>
          </a:p>
          <a:p>
            <a:r>
              <a:rPr lang="en-US" sz="2800" dirty="0"/>
              <a:t>however, finding both the name and the age of the oldest sailor is trickier</a:t>
            </a:r>
          </a:p>
          <a:p>
            <a:endParaRPr lang="en-US" sz="2800" dirty="0"/>
          </a:p>
        </p:txBody>
      </p:sp>
      <p:sp>
        <p:nvSpPr>
          <p:cNvPr id="4" name="Slide Number Placeholder 3">
            <a:extLst>
              <a:ext uri="{FF2B5EF4-FFF2-40B4-BE49-F238E27FC236}">
                <a16:creationId xmlns:a16="http://schemas.microsoft.com/office/drawing/2014/main" id="{7DC91BC3-3C7A-A3A0-C72D-13ABD84D6AFD}"/>
              </a:ext>
            </a:extLst>
          </p:cNvPr>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24676991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3059D-C7DF-150C-DDD3-FB43FD8608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6E9C52-A5D7-87C5-7C2A-093C5C05EE37}"/>
              </a:ext>
            </a:extLst>
          </p:cNvPr>
          <p:cNvSpPr>
            <a:spLocks noGrp="1"/>
          </p:cNvSpPr>
          <p:nvPr>
            <p:ph idx="1"/>
          </p:nvPr>
        </p:nvSpPr>
        <p:spPr/>
        <p:txBody>
          <a:bodyPr>
            <a:noAutofit/>
          </a:bodyPr>
          <a:lstStyle/>
          <a:p>
            <a:r>
              <a:rPr lang="en-US" sz="2800" dirty="0"/>
              <a:t>Find the name and age of the oldest sailor.</a:t>
            </a:r>
          </a:p>
          <a:p>
            <a:r>
              <a:rPr lang="en-US" sz="2800" dirty="0"/>
              <a:t>SELECT </a:t>
            </a:r>
            <a:r>
              <a:rPr lang="en-US" sz="2800" dirty="0" err="1"/>
              <a:t>S.sname</a:t>
            </a:r>
            <a:r>
              <a:rPr lang="en-US" sz="2800" dirty="0"/>
              <a:t>, MAX (</a:t>
            </a:r>
            <a:r>
              <a:rPr lang="en-US" sz="2800" dirty="0" err="1"/>
              <a:t>S.age</a:t>
            </a:r>
            <a:r>
              <a:rPr lang="en-US" sz="2800" dirty="0"/>
              <a:t>) FROM Sailors S</a:t>
            </a:r>
          </a:p>
          <a:p>
            <a:endParaRPr lang="en-US" sz="2800" dirty="0"/>
          </a:p>
          <a:p>
            <a:r>
              <a:rPr lang="en-US" sz="2800" dirty="0"/>
              <a:t>intent is for this query to return not only the maximum age but also the name of the sailors having that age</a:t>
            </a:r>
          </a:p>
          <a:p>
            <a:r>
              <a:rPr lang="en-US" sz="2800" b="1" i="1" dirty="0"/>
              <a:t>query is illegal in SQL</a:t>
            </a:r>
          </a:p>
          <a:p>
            <a:r>
              <a:rPr lang="en-US" sz="2800" b="1" i="1" dirty="0"/>
              <a:t>if SELECT clause uses an aggregate operation, then it must use only aggregate operations unless query contains a GROUP BY clause! </a:t>
            </a:r>
          </a:p>
          <a:p>
            <a:endParaRPr lang="en-US" sz="2800" dirty="0"/>
          </a:p>
        </p:txBody>
      </p:sp>
      <p:sp>
        <p:nvSpPr>
          <p:cNvPr id="4" name="Slide Number Placeholder 3">
            <a:extLst>
              <a:ext uri="{FF2B5EF4-FFF2-40B4-BE49-F238E27FC236}">
                <a16:creationId xmlns:a16="http://schemas.microsoft.com/office/drawing/2014/main" id="{277FED03-4E3A-773E-544E-5D3B2800029E}"/>
              </a:ext>
            </a:extLst>
          </p:cNvPr>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22563541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1AA81-1D8B-503B-10A0-12F6290073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5E3DD3-2F38-01D2-529E-A86B8FBC6CE9}"/>
              </a:ext>
            </a:extLst>
          </p:cNvPr>
          <p:cNvSpPr>
            <a:spLocks noGrp="1"/>
          </p:cNvSpPr>
          <p:nvPr>
            <p:ph idx="1"/>
          </p:nvPr>
        </p:nvSpPr>
        <p:spPr/>
        <p:txBody>
          <a:bodyPr>
            <a:normAutofit/>
          </a:bodyPr>
          <a:lstStyle/>
          <a:p>
            <a:r>
              <a:rPr lang="en-US" sz="2800" dirty="0"/>
              <a:t>must use a nested query to compute the desired answer</a:t>
            </a:r>
          </a:p>
          <a:p>
            <a:endParaRPr lang="en-US" dirty="0"/>
          </a:p>
        </p:txBody>
      </p:sp>
      <p:sp>
        <p:nvSpPr>
          <p:cNvPr id="4" name="Slide Number Placeholder 3">
            <a:extLst>
              <a:ext uri="{FF2B5EF4-FFF2-40B4-BE49-F238E27FC236}">
                <a16:creationId xmlns:a16="http://schemas.microsoft.com/office/drawing/2014/main" id="{1F9F5D02-447E-D192-97D0-258D4CCC7E08}"/>
              </a:ext>
            </a:extLst>
          </p:cNvPr>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36150778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BF0B9-20C0-740B-83AF-6F082FEC33A1}"/>
              </a:ext>
            </a:extLst>
          </p:cNvPr>
          <p:cNvSpPr>
            <a:spLocks noGrp="1"/>
          </p:cNvSpPr>
          <p:nvPr>
            <p:ph type="title"/>
          </p:nvPr>
        </p:nvSpPr>
        <p:spPr/>
        <p:txBody>
          <a:bodyPr>
            <a:normAutofit fontScale="90000"/>
          </a:bodyPr>
          <a:lstStyle/>
          <a:p>
            <a:r>
              <a:rPr lang="en-US" i="1" dirty="0"/>
              <a:t>Find the name and age of the oldest sailor</a:t>
            </a:r>
          </a:p>
        </p:txBody>
      </p:sp>
      <p:sp>
        <p:nvSpPr>
          <p:cNvPr id="3" name="Content Placeholder 2">
            <a:extLst>
              <a:ext uri="{FF2B5EF4-FFF2-40B4-BE49-F238E27FC236}">
                <a16:creationId xmlns:a16="http://schemas.microsoft.com/office/drawing/2014/main" id="{6CE7F648-9C5F-D0A3-1763-FC0EFFF87133}"/>
              </a:ext>
            </a:extLst>
          </p:cNvPr>
          <p:cNvSpPr>
            <a:spLocks noGrp="1"/>
          </p:cNvSpPr>
          <p:nvPr>
            <p:ph idx="1"/>
          </p:nvPr>
        </p:nvSpPr>
        <p:spPr/>
        <p:txBody>
          <a:bodyPr>
            <a:normAutofit/>
          </a:bodyPr>
          <a:lstStyle/>
          <a:p>
            <a:r>
              <a:rPr lang="en-US" sz="2800" dirty="0"/>
              <a:t>SELECT </a:t>
            </a:r>
            <a:r>
              <a:rPr lang="en-US" sz="2800" dirty="0" err="1"/>
              <a:t>S.sname</a:t>
            </a:r>
            <a:r>
              <a:rPr lang="en-US" sz="2800" dirty="0"/>
              <a:t>, </a:t>
            </a:r>
            <a:r>
              <a:rPr lang="en-US" sz="2800" dirty="0" err="1"/>
              <a:t>S.age</a:t>
            </a:r>
            <a:endParaRPr lang="en-US" sz="2800" dirty="0"/>
          </a:p>
          <a:p>
            <a:r>
              <a:rPr lang="en-US" sz="2800" dirty="0"/>
              <a:t>FROM Sailors S</a:t>
            </a:r>
          </a:p>
          <a:p>
            <a:r>
              <a:rPr lang="en-US" sz="2800" dirty="0"/>
              <a:t>WHERE </a:t>
            </a:r>
            <a:r>
              <a:rPr lang="en-US" sz="2800" dirty="0" err="1"/>
              <a:t>S.age</a:t>
            </a:r>
            <a:r>
              <a:rPr lang="en-US" sz="2800" dirty="0"/>
              <a:t> = ( </a:t>
            </a:r>
          </a:p>
          <a:p>
            <a:r>
              <a:rPr lang="en-US" sz="2800" dirty="0"/>
              <a:t> 	SELECT MAX (S2.age) FROM Sailors S2 )</a:t>
            </a:r>
          </a:p>
          <a:p>
            <a:endParaRPr lang="en-US" sz="2800" dirty="0"/>
          </a:p>
        </p:txBody>
      </p:sp>
      <p:sp>
        <p:nvSpPr>
          <p:cNvPr id="4" name="Slide Number Placeholder 3">
            <a:extLst>
              <a:ext uri="{FF2B5EF4-FFF2-40B4-BE49-F238E27FC236}">
                <a16:creationId xmlns:a16="http://schemas.microsoft.com/office/drawing/2014/main" id="{36A4FFC3-11B1-13F9-E34D-861CBDBA28A3}"/>
              </a:ext>
            </a:extLst>
          </p:cNvPr>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25274663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959B6-B06D-F56B-BEB7-4B8539A59C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DBB612B-DFA6-C543-CD75-EC615D4C5A3A}"/>
              </a:ext>
            </a:extLst>
          </p:cNvPr>
          <p:cNvSpPr>
            <a:spLocks noGrp="1"/>
          </p:cNvSpPr>
          <p:nvPr>
            <p:ph idx="1"/>
          </p:nvPr>
        </p:nvSpPr>
        <p:spPr/>
        <p:txBody>
          <a:bodyPr>
            <a:normAutofit/>
          </a:bodyPr>
          <a:lstStyle/>
          <a:p>
            <a:r>
              <a:rPr lang="en-US" sz="2800" dirty="0"/>
              <a:t>used the result of an aggregate operation in the subquery as an argument to a comparison operation</a:t>
            </a:r>
          </a:p>
          <a:p>
            <a:r>
              <a:rPr lang="en-US" sz="2800" dirty="0"/>
              <a:t>strictly speaking, we are comparing an age value with the result of the subquery, which is a relation (set)</a:t>
            </a:r>
          </a:p>
          <a:p>
            <a:r>
              <a:rPr lang="en-US" sz="2800" i="1" dirty="0"/>
              <a:t>because of the use of the aggregate operation, the subquery is guaranteed to return a single tuple with a single field, and SQL converts such a relation to a field value for the sake of the comparison</a:t>
            </a:r>
          </a:p>
          <a:p>
            <a:endParaRPr lang="en-US" sz="2800" dirty="0"/>
          </a:p>
        </p:txBody>
      </p:sp>
      <p:sp>
        <p:nvSpPr>
          <p:cNvPr id="4" name="Slide Number Placeholder 3">
            <a:extLst>
              <a:ext uri="{FF2B5EF4-FFF2-40B4-BE49-F238E27FC236}">
                <a16:creationId xmlns:a16="http://schemas.microsoft.com/office/drawing/2014/main" id="{792FE78D-F8CB-896B-4230-A24D16661A5F}"/>
              </a:ext>
            </a:extLst>
          </p:cNvPr>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3708377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EDB6EC8-F5F6-5750-82CB-D686FCBCA31E}"/>
              </a:ext>
            </a:extLst>
          </p:cNvPr>
          <p:cNvSpPr>
            <a:spLocks noGrp="1"/>
          </p:cNvSpPr>
          <p:nvPr>
            <p:ph type="title"/>
          </p:nvPr>
        </p:nvSpPr>
        <p:spPr/>
        <p:txBody>
          <a:bodyPr/>
          <a:lstStyle/>
          <a:p>
            <a:r>
              <a:rPr lang="en-US" i="1" dirty="0"/>
              <a:t>Count the number of sailors</a:t>
            </a:r>
          </a:p>
        </p:txBody>
      </p:sp>
      <p:sp>
        <p:nvSpPr>
          <p:cNvPr id="6" name="Content Placeholder 5">
            <a:extLst>
              <a:ext uri="{FF2B5EF4-FFF2-40B4-BE49-F238E27FC236}">
                <a16:creationId xmlns:a16="http://schemas.microsoft.com/office/drawing/2014/main" id="{1132C659-AFCB-1424-F449-F7F368172F10}"/>
              </a:ext>
            </a:extLst>
          </p:cNvPr>
          <p:cNvSpPr>
            <a:spLocks noGrp="1"/>
          </p:cNvSpPr>
          <p:nvPr>
            <p:ph sz="half" idx="1"/>
          </p:nvPr>
        </p:nvSpPr>
        <p:spPr>
          <a:xfrm>
            <a:off x="457200" y="1600200"/>
            <a:ext cx="3200400" cy="4525963"/>
          </a:xfrm>
        </p:spPr>
        <p:txBody>
          <a:bodyPr>
            <a:normAutofit/>
          </a:bodyPr>
          <a:lstStyle/>
          <a:p>
            <a:r>
              <a:rPr lang="en-US" sz="2700" dirty="0"/>
              <a:t>SELECT COUNT (*)</a:t>
            </a:r>
          </a:p>
          <a:p>
            <a:r>
              <a:rPr lang="en-US" sz="2700" dirty="0"/>
              <a:t>FROM Sailors S</a:t>
            </a:r>
          </a:p>
          <a:p>
            <a:endParaRPr lang="en-US" sz="2700" dirty="0"/>
          </a:p>
          <a:p>
            <a:r>
              <a:rPr lang="en-US" sz="2700" dirty="0"/>
              <a:t>10</a:t>
            </a:r>
          </a:p>
          <a:p>
            <a:endParaRPr lang="en-US" sz="2700" dirty="0"/>
          </a:p>
          <a:p>
            <a:endParaRPr lang="en-US" sz="2700" dirty="0"/>
          </a:p>
        </p:txBody>
      </p:sp>
      <p:sp>
        <p:nvSpPr>
          <p:cNvPr id="7" name="Content Placeholder 6">
            <a:extLst>
              <a:ext uri="{FF2B5EF4-FFF2-40B4-BE49-F238E27FC236}">
                <a16:creationId xmlns:a16="http://schemas.microsoft.com/office/drawing/2014/main" id="{9AB0AA86-A87D-A03E-4ADA-6984F5BC2F75}"/>
              </a:ext>
            </a:extLst>
          </p:cNvPr>
          <p:cNvSpPr>
            <a:spLocks noGrp="1"/>
          </p:cNvSpPr>
          <p:nvPr>
            <p:ph sz="half" idx="2"/>
          </p:nvPr>
        </p:nvSpPr>
        <p:spPr>
          <a:xfrm>
            <a:off x="3581400" y="1600200"/>
            <a:ext cx="5562600" cy="4525963"/>
          </a:xfrm>
        </p:spPr>
        <p:txBody>
          <a:bodyPr>
            <a:normAutofit/>
          </a:bodyPr>
          <a:lstStyle/>
          <a:p>
            <a:r>
              <a:rPr lang="en-US" sz="2700" dirty="0"/>
              <a:t>SELECT COUNT (DISTINCT </a:t>
            </a:r>
            <a:r>
              <a:rPr lang="en-US" sz="2700" dirty="0" err="1"/>
              <a:t>S.sname</a:t>
            </a:r>
            <a:r>
              <a:rPr lang="en-US" sz="2700" dirty="0"/>
              <a:t>) </a:t>
            </a:r>
          </a:p>
          <a:p>
            <a:r>
              <a:rPr lang="en-US" sz="2700" dirty="0"/>
              <a:t>FROM Sailors S</a:t>
            </a:r>
          </a:p>
          <a:p>
            <a:endParaRPr lang="en-US" sz="2700" dirty="0"/>
          </a:p>
          <a:p>
            <a:r>
              <a:rPr lang="en-US" sz="2700" dirty="0"/>
              <a:t>9</a:t>
            </a:r>
          </a:p>
          <a:p>
            <a:endParaRPr lang="en-US" sz="2700" dirty="0"/>
          </a:p>
        </p:txBody>
      </p:sp>
      <p:sp>
        <p:nvSpPr>
          <p:cNvPr id="4" name="Slide Number Placeholder 3">
            <a:extLst>
              <a:ext uri="{FF2B5EF4-FFF2-40B4-BE49-F238E27FC236}">
                <a16:creationId xmlns:a16="http://schemas.microsoft.com/office/drawing/2014/main" id="{9E5615DE-7D7B-005B-1343-5652F6FF1801}"/>
              </a:ext>
            </a:extLst>
          </p:cNvPr>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40083363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FFF82-78A6-9D8C-EDB5-EC688A430B76}"/>
              </a:ext>
            </a:extLst>
          </p:cNvPr>
          <p:cNvSpPr>
            <a:spLocks noGrp="1"/>
          </p:cNvSpPr>
          <p:nvPr>
            <p:ph type="title"/>
          </p:nvPr>
        </p:nvSpPr>
        <p:spPr/>
        <p:txBody>
          <a:bodyPr>
            <a:noAutofit/>
          </a:bodyPr>
          <a:lstStyle/>
          <a:p>
            <a:r>
              <a:rPr lang="en-US" sz="3600" dirty="0"/>
              <a:t>can count number of sailors using COUNT</a:t>
            </a:r>
          </a:p>
        </p:txBody>
      </p:sp>
      <p:sp>
        <p:nvSpPr>
          <p:cNvPr id="3" name="Content Placeholder 2">
            <a:extLst>
              <a:ext uri="{FF2B5EF4-FFF2-40B4-BE49-F238E27FC236}">
                <a16:creationId xmlns:a16="http://schemas.microsoft.com/office/drawing/2014/main" id="{360C30BA-A983-8927-3FB0-BF55703F50B2}"/>
              </a:ext>
            </a:extLst>
          </p:cNvPr>
          <p:cNvSpPr>
            <a:spLocks noGrp="1"/>
          </p:cNvSpPr>
          <p:nvPr>
            <p:ph idx="1"/>
          </p:nvPr>
        </p:nvSpPr>
        <p:spPr/>
        <p:txBody>
          <a:bodyPr>
            <a:normAutofit/>
          </a:bodyPr>
          <a:lstStyle/>
          <a:p>
            <a:r>
              <a:rPr lang="en-US" sz="2800" dirty="0"/>
              <a:t>example illustrates the use of * as an argument to COUNT, which is useful when we want to count all rows</a:t>
            </a:r>
          </a:p>
          <a:p>
            <a:endParaRPr lang="en-US" sz="2800" dirty="0"/>
          </a:p>
          <a:p>
            <a:r>
              <a:rPr lang="en-US" sz="2800" dirty="0"/>
              <a:t>contrast this previously queries, which computes the number of sailors and the number of distinct sailor names</a:t>
            </a:r>
          </a:p>
          <a:p>
            <a:pPr lvl="1"/>
            <a:r>
              <a:rPr lang="en-US" sz="2700" dirty="0"/>
              <a:t>remember that </a:t>
            </a:r>
            <a:r>
              <a:rPr lang="en-US" sz="2700" dirty="0" err="1"/>
              <a:t>sname</a:t>
            </a:r>
            <a:r>
              <a:rPr lang="en-US" sz="2700" dirty="0"/>
              <a:t> is not a key! and there are two Horatio in the instance</a:t>
            </a:r>
          </a:p>
          <a:p>
            <a:endParaRPr lang="en-US" sz="2800" dirty="0"/>
          </a:p>
        </p:txBody>
      </p:sp>
      <p:sp>
        <p:nvSpPr>
          <p:cNvPr id="4" name="Slide Number Placeholder 3">
            <a:extLst>
              <a:ext uri="{FF2B5EF4-FFF2-40B4-BE49-F238E27FC236}">
                <a16:creationId xmlns:a16="http://schemas.microsoft.com/office/drawing/2014/main" id="{E5016D8D-864F-41B7-7561-ACC29EE537C0}"/>
              </a:ext>
            </a:extLst>
          </p:cNvPr>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12867466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96EA2-873A-0048-9CAA-DC93EA2FDF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E4E666-8EB1-C861-7DA6-B07B41A0F8AE}"/>
              </a:ext>
            </a:extLst>
          </p:cNvPr>
          <p:cNvSpPr>
            <a:spLocks noGrp="1"/>
          </p:cNvSpPr>
          <p:nvPr>
            <p:ph idx="1"/>
          </p:nvPr>
        </p:nvSpPr>
        <p:spPr>
          <a:xfrm>
            <a:off x="304800" y="1600200"/>
            <a:ext cx="8839200" cy="4525963"/>
          </a:xfrm>
        </p:spPr>
        <p:txBody>
          <a:bodyPr/>
          <a:lstStyle/>
          <a:p>
            <a:endParaRPr lang="en-US" dirty="0"/>
          </a:p>
          <a:p>
            <a:r>
              <a:rPr lang="en-US" dirty="0"/>
              <a:t>in SQL there are more ways to skin a cat! …</a:t>
            </a:r>
          </a:p>
          <a:p>
            <a:endParaRPr lang="en-US" dirty="0"/>
          </a:p>
          <a:p>
            <a:r>
              <a:rPr lang="en-US" dirty="0"/>
              <a:t>This is not an invitation to cruelty against animals!</a:t>
            </a:r>
          </a:p>
        </p:txBody>
      </p:sp>
      <p:sp>
        <p:nvSpPr>
          <p:cNvPr id="4" name="Slide Number Placeholder 3">
            <a:extLst>
              <a:ext uri="{FF2B5EF4-FFF2-40B4-BE49-F238E27FC236}">
                <a16:creationId xmlns:a16="http://schemas.microsoft.com/office/drawing/2014/main" id="{800CD310-92A6-5B15-D83D-FBC694C5615A}"/>
              </a:ext>
            </a:extLst>
          </p:cNvPr>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27694091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6BBE-7C52-2B5E-FF3D-EF9F769A2213}"/>
              </a:ext>
            </a:extLst>
          </p:cNvPr>
          <p:cNvSpPr>
            <a:spLocks noGrp="1"/>
          </p:cNvSpPr>
          <p:nvPr>
            <p:ph type="title"/>
          </p:nvPr>
        </p:nvSpPr>
        <p:spPr/>
        <p:txBody>
          <a:bodyPr>
            <a:noAutofit/>
          </a:bodyPr>
          <a:lstStyle/>
          <a:p>
            <a:r>
              <a:rPr lang="en-US" sz="3600" i="1" dirty="0"/>
              <a:t>Find the names of sailors who are older than the oldest sailor with a rating of 10</a:t>
            </a:r>
          </a:p>
        </p:txBody>
      </p:sp>
      <p:sp>
        <p:nvSpPr>
          <p:cNvPr id="3" name="Content Placeholder 2">
            <a:extLst>
              <a:ext uri="{FF2B5EF4-FFF2-40B4-BE49-F238E27FC236}">
                <a16:creationId xmlns:a16="http://schemas.microsoft.com/office/drawing/2014/main" id="{18021974-82CA-5664-6C28-44346AE3E344}"/>
              </a:ext>
            </a:extLst>
          </p:cNvPr>
          <p:cNvSpPr>
            <a:spLocks noGrp="1"/>
          </p:cNvSpPr>
          <p:nvPr>
            <p:ph idx="1"/>
          </p:nvPr>
        </p:nvSpPr>
        <p:spPr/>
        <p:txBody>
          <a:bodyPr>
            <a:normAutofit/>
          </a:bodyPr>
          <a:lstStyle/>
          <a:p>
            <a:r>
              <a:rPr lang="en-US" sz="2800" dirty="0"/>
              <a:t>SELECT </a:t>
            </a:r>
            <a:r>
              <a:rPr lang="en-US" sz="2800" dirty="0" err="1"/>
              <a:t>S.sname</a:t>
            </a:r>
            <a:endParaRPr lang="en-US" sz="2800" dirty="0"/>
          </a:p>
          <a:p>
            <a:r>
              <a:rPr lang="en-US" sz="2800" dirty="0"/>
              <a:t>FROM Sailors S</a:t>
            </a:r>
          </a:p>
          <a:p>
            <a:r>
              <a:rPr lang="en-US" sz="2800" dirty="0"/>
              <a:t>WHERE </a:t>
            </a:r>
            <a:r>
              <a:rPr lang="en-US" sz="2800" dirty="0" err="1"/>
              <a:t>S.age</a:t>
            </a:r>
            <a:r>
              <a:rPr lang="en-US" sz="2800" dirty="0"/>
              <a:t> &gt; ALL ( SELECT </a:t>
            </a:r>
          </a:p>
          <a:p>
            <a:r>
              <a:rPr lang="en-US" sz="2800" dirty="0"/>
              <a:t>   S2.age</a:t>
            </a:r>
          </a:p>
          <a:p>
            <a:r>
              <a:rPr lang="en-US" sz="2800" dirty="0"/>
              <a:t>      FROM Sailors S2</a:t>
            </a:r>
          </a:p>
          <a:p>
            <a:r>
              <a:rPr lang="en-US" sz="2800" dirty="0"/>
              <a:t>      WHERE S2.rating = 10 )</a:t>
            </a:r>
          </a:p>
          <a:p>
            <a:endParaRPr lang="en-US" sz="2800" dirty="0"/>
          </a:p>
        </p:txBody>
      </p:sp>
      <p:sp>
        <p:nvSpPr>
          <p:cNvPr id="4" name="Slide Number Placeholder 3">
            <a:extLst>
              <a:ext uri="{FF2B5EF4-FFF2-40B4-BE49-F238E27FC236}">
                <a16:creationId xmlns:a16="http://schemas.microsoft.com/office/drawing/2014/main" id="{1EFB6590-A41A-7645-744B-1E86D6B443C9}"/>
              </a:ext>
            </a:extLst>
          </p:cNvPr>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23607408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99589-4CBA-1ADC-90BC-50CCC1A1DD07}"/>
              </a:ext>
            </a:extLst>
          </p:cNvPr>
          <p:cNvSpPr>
            <a:spLocks noGrp="1"/>
          </p:cNvSpPr>
          <p:nvPr>
            <p:ph type="title"/>
          </p:nvPr>
        </p:nvSpPr>
        <p:spPr/>
        <p:txBody>
          <a:bodyPr>
            <a:noAutofit/>
          </a:bodyPr>
          <a:lstStyle/>
          <a:p>
            <a:r>
              <a:rPr lang="en-US" sz="3600" i="1" dirty="0"/>
              <a:t>Find the names of sailors who are older than the oldest sailor with a rating of 10</a:t>
            </a:r>
            <a:endParaRPr lang="en-US" sz="3600" dirty="0"/>
          </a:p>
        </p:txBody>
      </p:sp>
      <p:sp>
        <p:nvSpPr>
          <p:cNvPr id="3" name="Content Placeholder 2">
            <a:extLst>
              <a:ext uri="{FF2B5EF4-FFF2-40B4-BE49-F238E27FC236}">
                <a16:creationId xmlns:a16="http://schemas.microsoft.com/office/drawing/2014/main" id="{7936617C-37AB-4B6D-E10A-9BE5643EFB11}"/>
              </a:ext>
            </a:extLst>
          </p:cNvPr>
          <p:cNvSpPr>
            <a:spLocks noGrp="1"/>
          </p:cNvSpPr>
          <p:nvPr>
            <p:ph idx="1"/>
          </p:nvPr>
        </p:nvSpPr>
        <p:spPr/>
        <p:txBody>
          <a:bodyPr>
            <a:normAutofit/>
          </a:bodyPr>
          <a:lstStyle/>
          <a:p>
            <a:r>
              <a:rPr lang="en-US" sz="2800" dirty="0"/>
              <a:t>SELECT </a:t>
            </a:r>
            <a:r>
              <a:rPr lang="en-US" sz="2800" dirty="0" err="1"/>
              <a:t>S.sname</a:t>
            </a:r>
            <a:endParaRPr lang="en-US" sz="2800" dirty="0"/>
          </a:p>
          <a:p>
            <a:r>
              <a:rPr lang="en-US" sz="2800" dirty="0"/>
              <a:t>FROM Sailors S</a:t>
            </a:r>
          </a:p>
          <a:p>
            <a:r>
              <a:rPr lang="en-US" sz="2800" dirty="0"/>
              <a:t>WHERE </a:t>
            </a:r>
            <a:r>
              <a:rPr lang="en-US" sz="2800" dirty="0" err="1"/>
              <a:t>S.age</a:t>
            </a:r>
            <a:r>
              <a:rPr lang="en-US" sz="2800" dirty="0"/>
              <a:t> &gt; ( SELECT </a:t>
            </a:r>
          </a:p>
          <a:p>
            <a:r>
              <a:rPr lang="en-US" sz="2800" dirty="0"/>
              <a:t>   MAX ( S2.age)</a:t>
            </a:r>
          </a:p>
          <a:p>
            <a:r>
              <a:rPr lang="en-US" sz="2800" dirty="0"/>
              <a:t>      FROM Sailors S2</a:t>
            </a:r>
          </a:p>
          <a:p>
            <a:r>
              <a:rPr lang="en-US" sz="2800" dirty="0"/>
              <a:t>      WHERE S2.rating = 10 )</a:t>
            </a:r>
          </a:p>
          <a:p>
            <a:endParaRPr lang="en-US" sz="2800" dirty="0"/>
          </a:p>
        </p:txBody>
      </p:sp>
      <p:sp>
        <p:nvSpPr>
          <p:cNvPr id="4" name="Slide Number Placeholder 3">
            <a:extLst>
              <a:ext uri="{FF2B5EF4-FFF2-40B4-BE49-F238E27FC236}">
                <a16:creationId xmlns:a16="http://schemas.microsoft.com/office/drawing/2014/main" id="{E0C9DD50-3F37-B5CA-8E54-C4FA47BF8900}"/>
              </a:ext>
            </a:extLst>
          </p:cNvPr>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12672542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ECA18-4ADE-EEB6-364A-39CC0ACF53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67E246-AD1C-AA0A-C0A0-A128953F91C2}"/>
              </a:ext>
            </a:extLst>
          </p:cNvPr>
          <p:cNvSpPr>
            <a:spLocks noGrp="1"/>
          </p:cNvSpPr>
          <p:nvPr>
            <p:ph idx="1"/>
          </p:nvPr>
        </p:nvSpPr>
        <p:spPr/>
        <p:txBody>
          <a:bodyPr>
            <a:normAutofit/>
          </a:bodyPr>
          <a:lstStyle/>
          <a:p>
            <a:r>
              <a:rPr lang="en-US" sz="2800" dirty="0"/>
              <a:t>thus far, we have applied aggregate operations to all (qualifying) rows in a relation</a:t>
            </a:r>
          </a:p>
          <a:p>
            <a:endParaRPr lang="en-US" sz="2800" dirty="0"/>
          </a:p>
        </p:txBody>
      </p:sp>
      <p:sp>
        <p:nvSpPr>
          <p:cNvPr id="4" name="Slide Number Placeholder 3">
            <a:extLst>
              <a:ext uri="{FF2B5EF4-FFF2-40B4-BE49-F238E27FC236}">
                <a16:creationId xmlns:a16="http://schemas.microsoft.com/office/drawing/2014/main" id="{22A03CF1-E22F-51C4-CCB4-E50015DFD2B4}"/>
              </a:ext>
            </a:extLst>
          </p:cNvPr>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435519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6A91D-634B-AA2C-9404-D03D32C84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4271D-D1B7-0D83-2A44-73B747F28C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73E68F-BE63-21EA-F413-3D58C55E64D9}"/>
              </a:ext>
            </a:extLst>
          </p:cNvPr>
          <p:cNvSpPr>
            <a:spLocks noGrp="1"/>
          </p:cNvSpPr>
          <p:nvPr>
            <p:ph idx="1"/>
          </p:nvPr>
        </p:nvSpPr>
        <p:spPr/>
        <p:txBody>
          <a:bodyPr>
            <a:normAutofit fontScale="85000" lnSpcReduction="10000"/>
          </a:bodyPr>
          <a:lstStyle/>
          <a:p>
            <a:r>
              <a:rPr lang="en-US" dirty="0"/>
              <a:t>often, we want to apply aggregate operations to each of several groups of rows in a relation, where the number of groups depends on the relation instance (i.e., is not known in advance)</a:t>
            </a:r>
          </a:p>
          <a:p>
            <a:r>
              <a:rPr lang="en-US" dirty="0"/>
              <a:t>for example, consider following query: </a:t>
            </a:r>
            <a:r>
              <a:rPr lang="en-US" i="1" dirty="0"/>
              <a:t>Find the age of the youngest sailor for each rating level</a:t>
            </a:r>
            <a:r>
              <a:rPr lang="en-US" dirty="0"/>
              <a:t> </a:t>
            </a:r>
          </a:p>
          <a:p>
            <a:r>
              <a:rPr lang="en-US" dirty="0"/>
              <a:t>if we know that ratings are integers in range 1 to 10, we could write 10 queries: SELECT MIN (</a:t>
            </a:r>
            <a:r>
              <a:rPr lang="en-US" dirty="0" err="1"/>
              <a:t>S.age</a:t>
            </a:r>
            <a:r>
              <a:rPr lang="en-US" dirty="0"/>
              <a:t>) FROM Sailors S WHERE </a:t>
            </a:r>
            <a:r>
              <a:rPr lang="en-US" dirty="0" err="1"/>
              <a:t>S.rating</a:t>
            </a:r>
            <a:r>
              <a:rPr lang="en-US" dirty="0"/>
              <a:t> = </a:t>
            </a:r>
            <a:r>
              <a:rPr lang="en-US" i="1" dirty="0" err="1"/>
              <a:t>i</a:t>
            </a:r>
            <a:r>
              <a:rPr lang="en-US" dirty="0"/>
              <a:t> where </a:t>
            </a:r>
            <a:r>
              <a:rPr lang="en-US" dirty="0" err="1"/>
              <a:t>i</a:t>
            </a:r>
            <a:r>
              <a:rPr lang="en-US" dirty="0"/>
              <a:t>=1...10</a:t>
            </a:r>
          </a:p>
          <a:p>
            <a:r>
              <a:rPr lang="en-US" dirty="0"/>
              <a:t>writing 10 such queries is tedious and more important; we may not know in advance what rating levels exist.</a:t>
            </a:r>
          </a:p>
          <a:p>
            <a:endParaRPr lang="en-US" dirty="0"/>
          </a:p>
        </p:txBody>
      </p:sp>
      <p:sp>
        <p:nvSpPr>
          <p:cNvPr id="4" name="Slide Number Placeholder 3">
            <a:extLst>
              <a:ext uri="{FF2B5EF4-FFF2-40B4-BE49-F238E27FC236}">
                <a16:creationId xmlns:a16="http://schemas.microsoft.com/office/drawing/2014/main" id="{E15B4FF9-A21B-B1E5-0F2E-B48F8E62745F}"/>
              </a:ext>
            </a:extLst>
          </p:cNvPr>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9482842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FFC41-E6C8-F19A-22CB-A090727D18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A5AE13A-D2A0-06D9-4D7B-F798CEBC33F6}"/>
              </a:ext>
            </a:extLst>
          </p:cNvPr>
          <p:cNvSpPr>
            <a:spLocks noGrp="1"/>
          </p:cNvSpPr>
          <p:nvPr>
            <p:ph idx="1"/>
          </p:nvPr>
        </p:nvSpPr>
        <p:spPr>
          <a:xfrm>
            <a:off x="457200" y="1600200"/>
            <a:ext cx="8534400" cy="4525963"/>
          </a:xfrm>
        </p:spPr>
        <p:txBody>
          <a:bodyPr>
            <a:normAutofit/>
          </a:bodyPr>
          <a:lstStyle/>
          <a:p>
            <a:r>
              <a:rPr lang="en-US" sz="2800" dirty="0"/>
              <a:t>to write such queries, we need a major extension to basic SQL query form, namely, the GROUP BY clause</a:t>
            </a:r>
          </a:p>
          <a:p>
            <a:r>
              <a:rPr lang="en-US" sz="2800" dirty="0"/>
              <a:t>extension also includes an optional HAVING clause that can be used to specify qualifications over groups</a:t>
            </a:r>
          </a:p>
          <a:p>
            <a:r>
              <a:rPr lang="en-US" sz="2800" dirty="0"/>
              <a:t>general form of an SQL query with these extensions is:</a:t>
            </a:r>
          </a:p>
          <a:p>
            <a:endParaRPr lang="en-US" sz="2800" dirty="0"/>
          </a:p>
        </p:txBody>
      </p:sp>
      <p:sp>
        <p:nvSpPr>
          <p:cNvPr id="4" name="Slide Number Placeholder 3">
            <a:extLst>
              <a:ext uri="{FF2B5EF4-FFF2-40B4-BE49-F238E27FC236}">
                <a16:creationId xmlns:a16="http://schemas.microsoft.com/office/drawing/2014/main" id="{56C35640-E9F1-4B07-4121-6D6929FE58BB}"/>
              </a:ext>
            </a:extLst>
          </p:cNvPr>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33116195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650CC-65F9-0C47-ABC4-DF373475B2A1}"/>
              </a:ext>
            </a:extLst>
          </p:cNvPr>
          <p:cNvSpPr>
            <a:spLocks noGrp="1"/>
          </p:cNvSpPr>
          <p:nvPr>
            <p:ph type="title"/>
          </p:nvPr>
        </p:nvSpPr>
        <p:spPr/>
        <p:txBody>
          <a:bodyPr/>
          <a:lstStyle/>
          <a:p>
            <a:r>
              <a:rPr lang="en-US" dirty="0"/>
              <a:t>general form of SQL query</a:t>
            </a:r>
          </a:p>
        </p:txBody>
      </p:sp>
      <p:sp>
        <p:nvSpPr>
          <p:cNvPr id="3" name="Content Placeholder 2">
            <a:extLst>
              <a:ext uri="{FF2B5EF4-FFF2-40B4-BE49-F238E27FC236}">
                <a16:creationId xmlns:a16="http://schemas.microsoft.com/office/drawing/2014/main" id="{8F3CF12F-E2CC-81BD-E57E-B2DD35F249DB}"/>
              </a:ext>
            </a:extLst>
          </p:cNvPr>
          <p:cNvSpPr>
            <a:spLocks noGrp="1"/>
          </p:cNvSpPr>
          <p:nvPr>
            <p:ph idx="1"/>
          </p:nvPr>
        </p:nvSpPr>
        <p:spPr/>
        <p:txBody>
          <a:bodyPr/>
          <a:lstStyle/>
          <a:p>
            <a:r>
              <a:rPr lang="en-US" dirty="0"/>
              <a:t>SELECT [ DISTINCT] </a:t>
            </a:r>
            <a:r>
              <a:rPr lang="en-US" i="1" dirty="0"/>
              <a:t>select-list</a:t>
            </a:r>
            <a:endParaRPr lang="en-US" dirty="0"/>
          </a:p>
          <a:p>
            <a:r>
              <a:rPr lang="en-US" dirty="0"/>
              <a:t>FROM </a:t>
            </a:r>
            <a:r>
              <a:rPr lang="en-US" i="1" dirty="0"/>
              <a:t>from-list</a:t>
            </a:r>
            <a:endParaRPr lang="en-US" dirty="0"/>
          </a:p>
          <a:p>
            <a:r>
              <a:rPr lang="en-US" dirty="0"/>
              <a:t>WHERE q</a:t>
            </a:r>
            <a:r>
              <a:rPr lang="en-US" i="1" dirty="0"/>
              <a:t>ualification</a:t>
            </a:r>
            <a:endParaRPr lang="en-US" dirty="0"/>
          </a:p>
          <a:p>
            <a:r>
              <a:rPr lang="en-US" dirty="0"/>
              <a:t>GROUP BY </a:t>
            </a:r>
            <a:r>
              <a:rPr lang="en-US" i="1" dirty="0"/>
              <a:t>grouping-list</a:t>
            </a:r>
            <a:endParaRPr lang="en-US" dirty="0"/>
          </a:p>
          <a:p>
            <a:r>
              <a:rPr lang="en-US" dirty="0"/>
              <a:t>HAVING </a:t>
            </a:r>
            <a:r>
              <a:rPr lang="en-US" i="1" dirty="0"/>
              <a:t>group-qualification</a:t>
            </a:r>
          </a:p>
          <a:p>
            <a:endParaRPr lang="en-US" dirty="0"/>
          </a:p>
        </p:txBody>
      </p:sp>
      <p:sp>
        <p:nvSpPr>
          <p:cNvPr id="4" name="Slide Number Placeholder 3">
            <a:extLst>
              <a:ext uri="{FF2B5EF4-FFF2-40B4-BE49-F238E27FC236}">
                <a16:creationId xmlns:a16="http://schemas.microsoft.com/office/drawing/2014/main" id="{E236B585-7D65-447F-54AC-E4581C048C5F}"/>
              </a:ext>
            </a:extLst>
          </p:cNvPr>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515790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66A71-D137-E81C-BCEA-C2CF225326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1E265-720B-7DAF-3098-8A1EF1639057}"/>
              </a:ext>
            </a:extLst>
          </p:cNvPr>
          <p:cNvSpPr>
            <a:spLocks noGrp="1"/>
          </p:cNvSpPr>
          <p:nvPr>
            <p:ph type="title"/>
          </p:nvPr>
        </p:nvSpPr>
        <p:spPr/>
        <p:txBody>
          <a:bodyPr/>
          <a:lstStyle/>
          <a:p>
            <a:r>
              <a:rPr lang="en-US" dirty="0"/>
              <a:t>general form of SQL query.</a:t>
            </a:r>
          </a:p>
        </p:txBody>
      </p:sp>
      <p:sp>
        <p:nvSpPr>
          <p:cNvPr id="3" name="Content Placeholder 2">
            <a:extLst>
              <a:ext uri="{FF2B5EF4-FFF2-40B4-BE49-F238E27FC236}">
                <a16:creationId xmlns:a16="http://schemas.microsoft.com/office/drawing/2014/main" id="{6A0BF133-848C-6485-1A64-2D8C114B4CF5}"/>
              </a:ext>
            </a:extLst>
          </p:cNvPr>
          <p:cNvSpPr>
            <a:spLocks noGrp="1"/>
          </p:cNvSpPr>
          <p:nvPr>
            <p:ph idx="1"/>
          </p:nvPr>
        </p:nvSpPr>
        <p:spPr/>
        <p:txBody>
          <a:bodyPr/>
          <a:lstStyle/>
          <a:p>
            <a:r>
              <a:rPr lang="en-US" dirty="0"/>
              <a:t>SELECT [ DISTINCT] </a:t>
            </a:r>
            <a:r>
              <a:rPr lang="en-US" i="1" dirty="0"/>
              <a:t>select-list</a:t>
            </a:r>
            <a:endParaRPr lang="en-US" dirty="0"/>
          </a:p>
          <a:p>
            <a:r>
              <a:rPr lang="en-US" dirty="0"/>
              <a:t>FROM </a:t>
            </a:r>
            <a:r>
              <a:rPr lang="en-US" i="1" dirty="0"/>
              <a:t>from-list</a:t>
            </a:r>
            <a:endParaRPr lang="en-US" dirty="0"/>
          </a:p>
          <a:p>
            <a:r>
              <a:rPr lang="en-US" dirty="0"/>
              <a:t>WHERE q</a:t>
            </a:r>
            <a:r>
              <a:rPr lang="en-US" i="1" dirty="0"/>
              <a:t>ualification</a:t>
            </a:r>
            <a:endParaRPr lang="en-US" dirty="0"/>
          </a:p>
          <a:p>
            <a:r>
              <a:rPr lang="en-US" dirty="0"/>
              <a:t>GROUP BY </a:t>
            </a:r>
            <a:r>
              <a:rPr lang="en-US" i="1" dirty="0"/>
              <a:t>grouping-list</a:t>
            </a:r>
            <a:endParaRPr lang="en-US" dirty="0"/>
          </a:p>
          <a:p>
            <a:r>
              <a:rPr lang="en-US" dirty="0"/>
              <a:t>HAVING </a:t>
            </a:r>
            <a:r>
              <a:rPr lang="en-US" i="1" dirty="0"/>
              <a:t>group-qualification</a:t>
            </a:r>
          </a:p>
          <a:p>
            <a:r>
              <a:rPr lang="en-US" dirty="0"/>
              <a:t>ORDER BY </a:t>
            </a:r>
            <a:r>
              <a:rPr lang="en-US" i="1" dirty="0"/>
              <a:t>order-list</a:t>
            </a:r>
          </a:p>
          <a:p>
            <a:endParaRPr lang="en-US" dirty="0"/>
          </a:p>
        </p:txBody>
      </p:sp>
      <p:sp>
        <p:nvSpPr>
          <p:cNvPr id="4" name="Slide Number Placeholder 3">
            <a:extLst>
              <a:ext uri="{FF2B5EF4-FFF2-40B4-BE49-F238E27FC236}">
                <a16:creationId xmlns:a16="http://schemas.microsoft.com/office/drawing/2014/main" id="{30A03382-B0FF-067E-0FD4-9FCF24446966}"/>
              </a:ext>
            </a:extLst>
          </p:cNvPr>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15822181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D6DE5-9325-0177-BB1C-CDEF0DDAB298}"/>
              </a:ext>
            </a:extLst>
          </p:cNvPr>
          <p:cNvSpPr>
            <a:spLocks noGrp="1"/>
          </p:cNvSpPr>
          <p:nvPr>
            <p:ph type="title"/>
          </p:nvPr>
        </p:nvSpPr>
        <p:spPr/>
        <p:txBody>
          <a:bodyPr>
            <a:normAutofit fontScale="90000"/>
          </a:bodyPr>
          <a:lstStyle/>
          <a:p>
            <a:r>
              <a:rPr lang="en-US" i="1" dirty="0"/>
              <a:t>Find the age of the youngest sailor for each rating level</a:t>
            </a:r>
          </a:p>
        </p:txBody>
      </p:sp>
      <p:sp>
        <p:nvSpPr>
          <p:cNvPr id="3" name="Content Placeholder 2">
            <a:extLst>
              <a:ext uri="{FF2B5EF4-FFF2-40B4-BE49-F238E27FC236}">
                <a16:creationId xmlns:a16="http://schemas.microsoft.com/office/drawing/2014/main" id="{C8DC0140-EA2D-F1FD-109B-224324DD9730}"/>
              </a:ext>
            </a:extLst>
          </p:cNvPr>
          <p:cNvSpPr>
            <a:spLocks noGrp="1"/>
          </p:cNvSpPr>
          <p:nvPr>
            <p:ph idx="1"/>
          </p:nvPr>
        </p:nvSpPr>
        <p:spPr/>
        <p:txBody>
          <a:bodyPr>
            <a:normAutofit/>
          </a:bodyPr>
          <a:lstStyle/>
          <a:p>
            <a:r>
              <a:rPr lang="en-US" sz="2800" dirty="0"/>
              <a:t>SELECT </a:t>
            </a:r>
            <a:r>
              <a:rPr lang="en-US" sz="2800" dirty="0" err="1"/>
              <a:t>S.rating</a:t>
            </a:r>
            <a:r>
              <a:rPr lang="en-US" sz="2800" dirty="0"/>
              <a:t>, MIN (</a:t>
            </a:r>
            <a:r>
              <a:rPr lang="en-US" sz="2800" dirty="0" err="1"/>
              <a:t>S.age</a:t>
            </a:r>
            <a:r>
              <a:rPr lang="en-US" sz="2800" dirty="0"/>
              <a:t>)</a:t>
            </a:r>
          </a:p>
          <a:p>
            <a:r>
              <a:rPr lang="en-US" sz="2800" dirty="0"/>
              <a:t>FROM Sailors S</a:t>
            </a:r>
          </a:p>
          <a:p>
            <a:r>
              <a:rPr lang="en-US" sz="2800" dirty="0"/>
              <a:t>GROUP BY </a:t>
            </a:r>
            <a:r>
              <a:rPr lang="en-US" sz="2800" dirty="0" err="1"/>
              <a:t>S.rating</a:t>
            </a:r>
            <a:endParaRPr lang="en-US" sz="2800" dirty="0"/>
          </a:p>
          <a:p>
            <a:endParaRPr lang="en-US" sz="2800" dirty="0"/>
          </a:p>
        </p:txBody>
      </p:sp>
      <p:sp>
        <p:nvSpPr>
          <p:cNvPr id="4" name="Slide Number Placeholder 3">
            <a:extLst>
              <a:ext uri="{FF2B5EF4-FFF2-40B4-BE49-F238E27FC236}">
                <a16:creationId xmlns:a16="http://schemas.microsoft.com/office/drawing/2014/main" id="{F4ABD116-99B4-BADF-A0A5-080B88A35FE3}"/>
              </a:ext>
            </a:extLst>
          </p:cNvPr>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38091725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C3B20-A564-468D-C554-ACC765778BFB}"/>
              </a:ext>
            </a:extLst>
          </p:cNvPr>
          <p:cNvSpPr>
            <a:spLocks noGrp="1"/>
          </p:cNvSpPr>
          <p:nvPr>
            <p:ph type="title"/>
          </p:nvPr>
        </p:nvSpPr>
        <p:spPr/>
        <p:txBody>
          <a:bodyPr/>
          <a:lstStyle/>
          <a:p>
            <a:r>
              <a:rPr lang="en-US" dirty="0"/>
              <a:t>GROUP BY is partitioning</a:t>
            </a:r>
          </a:p>
        </p:txBody>
      </p:sp>
      <p:sp>
        <p:nvSpPr>
          <p:cNvPr id="3" name="Content Placeholder 2">
            <a:extLst>
              <a:ext uri="{FF2B5EF4-FFF2-40B4-BE49-F238E27FC236}">
                <a16:creationId xmlns:a16="http://schemas.microsoft.com/office/drawing/2014/main" id="{B0030074-A774-2424-6413-D82437CC9BDA}"/>
              </a:ext>
            </a:extLst>
          </p:cNvPr>
          <p:cNvSpPr>
            <a:spLocks noGrp="1"/>
          </p:cNvSpPr>
          <p:nvPr>
            <p:ph idx="1"/>
          </p:nvPr>
        </p:nvSpPr>
        <p:spPr/>
        <p:txBody>
          <a:bodyPr>
            <a:noAutofit/>
          </a:bodyPr>
          <a:lstStyle/>
          <a:p>
            <a:r>
              <a:rPr lang="en-US" sz="2700" dirty="0">
                <a:highlight>
                  <a:srgbClr val="FFFF00"/>
                </a:highlight>
              </a:rPr>
              <a:t>29	Brutus		1	33.0</a:t>
            </a:r>
          </a:p>
          <a:p>
            <a:r>
              <a:rPr lang="en-US" sz="2700" dirty="0">
                <a:highlight>
                  <a:srgbClr val="00FF00"/>
                </a:highlight>
              </a:rPr>
              <a:t>85	Art		3	25.5</a:t>
            </a:r>
          </a:p>
          <a:p>
            <a:r>
              <a:rPr lang="en-US" sz="2700" dirty="0">
                <a:highlight>
                  <a:srgbClr val="00FF00"/>
                </a:highlight>
              </a:rPr>
              <a:t>95	Bob		3	63.5</a:t>
            </a:r>
          </a:p>
          <a:p>
            <a:r>
              <a:rPr lang="en-US" sz="2700" dirty="0">
                <a:highlight>
                  <a:srgbClr val="00FFFF"/>
                </a:highlight>
              </a:rPr>
              <a:t>22	Dustin		7	45.0</a:t>
            </a:r>
          </a:p>
          <a:p>
            <a:r>
              <a:rPr lang="en-US" sz="2700" dirty="0">
                <a:highlight>
                  <a:srgbClr val="00FFFF"/>
                </a:highlight>
              </a:rPr>
              <a:t>64	Horatio	7	35.0</a:t>
            </a:r>
          </a:p>
          <a:p>
            <a:r>
              <a:rPr lang="en-US" sz="2700" dirty="0">
                <a:highlight>
                  <a:srgbClr val="FF00FF"/>
                </a:highlight>
              </a:rPr>
              <a:t>31	Lubber	8	55.5</a:t>
            </a:r>
          </a:p>
          <a:p>
            <a:r>
              <a:rPr lang="en-US" sz="2700" dirty="0">
                <a:highlight>
                  <a:srgbClr val="FF00FF"/>
                </a:highlight>
              </a:rPr>
              <a:t>32	Andy		8	25.5</a:t>
            </a:r>
          </a:p>
          <a:p>
            <a:r>
              <a:rPr lang="en-US" sz="2700" dirty="0">
                <a:highlight>
                  <a:srgbClr val="0000FF"/>
                </a:highlight>
              </a:rPr>
              <a:t>74	Horatio	9	35.0</a:t>
            </a:r>
          </a:p>
          <a:p>
            <a:r>
              <a:rPr lang="en-US" sz="2700" dirty="0">
                <a:highlight>
                  <a:srgbClr val="FF0000"/>
                </a:highlight>
              </a:rPr>
              <a:t>58	Rusty		10	35.0</a:t>
            </a:r>
          </a:p>
          <a:p>
            <a:r>
              <a:rPr lang="en-US" sz="2700" dirty="0">
                <a:highlight>
                  <a:srgbClr val="FF0000"/>
                </a:highlight>
              </a:rPr>
              <a:t>71	Zorba		10	16.0</a:t>
            </a:r>
          </a:p>
          <a:p>
            <a:endParaRPr lang="en-US" sz="2700" dirty="0"/>
          </a:p>
        </p:txBody>
      </p:sp>
      <p:sp>
        <p:nvSpPr>
          <p:cNvPr id="4" name="Slide Number Placeholder 3">
            <a:extLst>
              <a:ext uri="{FF2B5EF4-FFF2-40B4-BE49-F238E27FC236}">
                <a16:creationId xmlns:a16="http://schemas.microsoft.com/office/drawing/2014/main" id="{0B2271A7-0D1B-D584-8DC8-EDD04743426F}"/>
              </a:ext>
            </a:extLst>
          </p:cNvPr>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38871531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235A6-4C32-D3E2-2935-5AE237A2FC11}"/>
              </a:ext>
            </a:extLst>
          </p:cNvPr>
          <p:cNvSpPr>
            <a:spLocks noGrp="1"/>
          </p:cNvSpPr>
          <p:nvPr>
            <p:ph type="title"/>
          </p:nvPr>
        </p:nvSpPr>
        <p:spPr/>
        <p:txBody>
          <a:bodyPr>
            <a:normAutofit fontScale="90000"/>
          </a:bodyPr>
          <a:lstStyle/>
          <a:p>
            <a:r>
              <a:rPr lang="en-US" dirty="0"/>
              <a:t>SELECT * FROM sailors</a:t>
            </a:r>
            <a:br>
              <a:rPr lang="en-US" dirty="0"/>
            </a:br>
            <a:r>
              <a:rPr lang="en-US" dirty="0"/>
              <a:t>ORDER BY rating</a:t>
            </a:r>
          </a:p>
        </p:txBody>
      </p:sp>
      <p:sp>
        <p:nvSpPr>
          <p:cNvPr id="3" name="Content Placeholder 2">
            <a:extLst>
              <a:ext uri="{FF2B5EF4-FFF2-40B4-BE49-F238E27FC236}">
                <a16:creationId xmlns:a16="http://schemas.microsoft.com/office/drawing/2014/main" id="{52CDA45A-BAF8-17BB-1276-1A305421F544}"/>
              </a:ext>
            </a:extLst>
          </p:cNvPr>
          <p:cNvSpPr>
            <a:spLocks noGrp="1"/>
          </p:cNvSpPr>
          <p:nvPr>
            <p:ph idx="1"/>
          </p:nvPr>
        </p:nvSpPr>
        <p:spPr/>
        <p:txBody>
          <a:bodyPr>
            <a:noAutofit/>
          </a:bodyPr>
          <a:lstStyle/>
          <a:p>
            <a:r>
              <a:rPr lang="en-US" sz="2700" dirty="0">
                <a:highlight>
                  <a:srgbClr val="FFFF00"/>
                </a:highlight>
              </a:rPr>
              <a:t>29	Brutus		1	33.0</a:t>
            </a:r>
          </a:p>
          <a:p>
            <a:r>
              <a:rPr lang="en-US" sz="2700" dirty="0">
                <a:highlight>
                  <a:srgbClr val="00FF00"/>
                </a:highlight>
              </a:rPr>
              <a:t>85	Art		3	25.5</a:t>
            </a:r>
          </a:p>
          <a:p>
            <a:r>
              <a:rPr lang="en-US" sz="2700" dirty="0">
                <a:highlight>
                  <a:srgbClr val="00FF00"/>
                </a:highlight>
              </a:rPr>
              <a:t>95	Bob		3	63.5</a:t>
            </a:r>
          </a:p>
          <a:p>
            <a:r>
              <a:rPr lang="en-US" sz="2700" dirty="0">
                <a:highlight>
                  <a:srgbClr val="00FFFF"/>
                </a:highlight>
              </a:rPr>
              <a:t>22	Dustin		7	45.0</a:t>
            </a:r>
          </a:p>
          <a:p>
            <a:r>
              <a:rPr lang="en-US" sz="2700" dirty="0">
                <a:highlight>
                  <a:srgbClr val="00FFFF"/>
                </a:highlight>
              </a:rPr>
              <a:t>64	Horatio	7	35.0</a:t>
            </a:r>
          </a:p>
          <a:p>
            <a:r>
              <a:rPr lang="en-US" sz="2700" dirty="0">
                <a:highlight>
                  <a:srgbClr val="FF00FF"/>
                </a:highlight>
              </a:rPr>
              <a:t>31	Lubber	8	55.5</a:t>
            </a:r>
          </a:p>
          <a:p>
            <a:r>
              <a:rPr lang="en-US" sz="2700" dirty="0">
                <a:highlight>
                  <a:srgbClr val="FF00FF"/>
                </a:highlight>
              </a:rPr>
              <a:t>32	Andy		8	25.5</a:t>
            </a:r>
          </a:p>
          <a:p>
            <a:r>
              <a:rPr lang="en-US" sz="2700" dirty="0">
                <a:highlight>
                  <a:srgbClr val="0000FF"/>
                </a:highlight>
              </a:rPr>
              <a:t>74	Horatio	9	35.0</a:t>
            </a:r>
          </a:p>
          <a:p>
            <a:r>
              <a:rPr lang="en-US" sz="2700" dirty="0">
                <a:highlight>
                  <a:srgbClr val="FF0000"/>
                </a:highlight>
              </a:rPr>
              <a:t>58	Rusty		10	35.0</a:t>
            </a:r>
          </a:p>
          <a:p>
            <a:r>
              <a:rPr lang="en-US" sz="2700" dirty="0">
                <a:highlight>
                  <a:srgbClr val="FF0000"/>
                </a:highlight>
              </a:rPr>
              <a:t>71	Zorba		10	16.0</a:t>
            </a:r>
          </a:p>
        </p:txBody>
      </p:sp>
      <p:sp>
        <p:nvSpPr>
          <p:cNvPr id="4" name="Slide Number Placeholder 3">
            <a:extLst>
              <a:ext uri="{FF2B5EF4-FFF2-40B4-BE49-F238E27FC236}">
                <a16:creationId xmlns:a16="http://schemas.microsoft.com/office/drawing/2014/main" id="{3A8362BF-FADF-000E-6A7F-C9DE01602366}"/>
              </a:ext>
            </a:extLst>
          </p:cNvPr>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14761998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96494-2C2E-A683-59E5-402E08D6A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EE4371-EC94-2447-9F60-C0126E4C62B6}"/>
              </a:ext>
            </a:extLst>
          </p:cNvPr>
          <p:cNvSpPr>
            <a:spLocks noGrp="1"/>
          </p:cNvSpPr>
          <p:nvPr>
            <p:ph type="title"/>
          </p:nvPr>
        </p:nvSpPr>
        <p:spPr/>
        <p:txBody>
          <a:bodyPr/>
          <a:lstStyle/>
          <a:p>
            <a:r>
              <a:rPr lang="en-US" dirty="0"/>
              <a:t>general form of SQL query</a:t>
            </a:r>
          </a:p>
        </p:txBody>
      </p:sp>
      <p:sp>
        <p:nvSpPr>
          <p:cNvPr id="3" name="Content Placeholder 2">
            <a:extLst>
              <a:ext uri="{FF2B5EF4-FFF2-40B4-BE49-F238E27FC236}">
                <a16:creationId xmlns:a16="http://schemas.microsoft.com/office/drawing/2014/main" id="{0EDBCB10-1CC8-C317-812A-338EE4A3C401}"/>
              </a:ext>
            </a:extLst>
          </p:cNvPr>
          <p:cNvSpPr>
            <a:spLocks noGrp="1"/>
          </p:cNvSpPr>
          <p:nvPr>
            <p:ph idx="1"/>
          </p:nvPr>
        </p:nvSpPr>
        <p:spPr/>
        <p:txBody>
          <a:bodyPr/>
          <a:lstStyle/>
          <a:p>
            <a:r>
              <a:rPr lang="en-US" dirty="0"/>
              <a:t>SELECT [ DISTINCT] </a:t>
            </a:r>
            <a:r>
              <a:rPr lang="en-US" i="1" dirty="0"/>
              <a:t>select-list</a:t>
            </a:r>
            <a:endParaRPr lang="en-US" dirty="0"/>
          </a:p>
          <a:p>
            <a:r>
              <a:rPr lang="en-US" dirty="0"/>
              <a:t>FROM </a:t>
            </a:r>
            <a:r>
              <a:rPr lang="en-US" i="1" dirty="0"/>
              <a:t>from-list</a:t>
            </a:r>
            <a:endParaRPr lang="en-US" dirty="0"/>
          </a:p>
          <a:p>
            <a:r>
              <a:rPr lang="en-US" dirty="0"/>
              <a:t>WHERE q</a:t>
            </a:r>
            <a:r>
              <a:rPr lang="en-US" i="1" dirty="0"/>
              <a:t>ualification</a:t>
            </a:r>
            <a:endParaRPr lang="en-US" dirty="0"/>
          </a:p>
          <a:p>
            <a:r>
              <a:rPr lang="en-US" dirty="0"/>
              <a:t>GROUP BY </a:t>
            </a:r>
            <a:r>
              <a:rPr lang="en-US" i="1" dirty="0"/>
              <a:t>grouping-list</a:t>
            </a:r>
            <a:endParaRPr lang="en-US" dirty="0"/>
          </a:p>
          <a:p>
            <a:r>
              <a:rPr lang="en-US" dirty="0"/>
              <a:t>HAVING </a:t>
            </a:r>
            <a:r>
              <a:rPr lang="en-US" i="1" dirty="0"/>
              <a:t>group-qualification</a:t>
            </a:r>
          </a:p>
          <a:p>
            <a:endParaRPr lang="en-US" dirty="0"/>
          </a:p>
        </p:txBody>
      </p:sp>
      <p:sp>
        <p:nvSpPr>
          <p:cNvPr id="4" name="Slide Number Placeholder 3">
            <a:extLst>
              <a:ext uri="{FF2B5EF4-FFF2-40B4-BE49-F238E27FC236}">
                <a16:creationId xmlns:a16="http://schemas.microsoft.com/office/drawing/2014/main" id="{9163B290-9A5B-9EE3-C7FF-1BA133C0C3E0}"/>
              </a:ext>
            </a:extLst>
          </p:cNvPr>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8469047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B108C-9239-FB3F-8B4C-725F8007C8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C8C7959-C388-AF56-86DB-908B49CECF94}"/>
              </a:ext>
            </a:extLst>
          </p:cNvPr>
          <p:cNvSpPr>
            <a:spLocks noGrp="1"/>
          </p:cNvSpPr>
          <p:nvPr>
            <p:ph idx="1"/>
          </p:nvPr>
        </p:nvSpPr>
        <p:spPr/>
        <p:txBody>
          <a:bodyPr>
            <a:normAutofit/>
          </a:bodyPr>
          <a:lstStyle/>
          <a:p>
            <a:r>
              <a:rPr lang="en-US" sz="2800" dirty="0"/>
              <a:t>the </a:t>
            </a:r>
            <a:r>
              <a:rPr lang="en-US" sz="2800" i="1" dirty="0"/>
              <a:t>select-list</a:t>
            </a:r>
            <a:r>
              <a:rPr lang="en-US" sz="2800" dirty="0"/>
              <a:t> in the SELECT clause consists of</a:t>
            </a:r>
          </a:p>
          <a:p>
            <a:pPr lvl="1"/>
            <a:r>
              <a:rPr lang="en-US" dirty="0"/>
              <a:t>(1) a list of column names, expressions with column names</a:t>
            </a:r>
          </a:p>
          <a:p>
            <a:pPr lvl="1"/>
            <a:r>
              <a:rPr lang="en-US" dirty="0"/>
              <a:t>(2) a list of terms having the form aggregate-operator( column-name) AS newname</a:t>
            </a:r>
          </a:p>
          <a:p>
            <a:r>
              <a:rPr lang="en-US" sz="2800" dirty="0"/>
              <a:t>columns that are result of aggregate operators do not already have a column name, and therefore giving the column a name with AS is especially useful</a:t>
            </a:r>
          </a:p>
        </p:txBody>
      </p:sp>
      <p:sp>
        <p:nvSpPr>
          <p:cNvPr id="4" name="Slide Number Placeholder 3">
            <a:extLst>
              <a:ext uri="{FF2B5EF4-FFF2-40B4-BE49-F238E27FC236}">
                <a16:creationId xmlns:a16="http://schemas.microsoft.com/office/drawing/2014/main" id="{D0A577F5-9D55-4A8A-3805-7F287DBCEA45}"/>
              </a:ext>
            </a:extLst>
          </p:cNvPr>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val="21780374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75B0D-2D7D-6700-CA3D-573680195C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C96B55-CFDC-7B9C-76F3-8DFBF647C9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00B3E5-306B-FEBB-690A-2EFE62E2DCFC}"/>
              </a:ext>
            </a:extLst>
          </p:cNvPr>
          <p:cNvSpPr>
            <a:spLocks noGrp="1"/>
          </p:cNvSpPr>
          <p:nvPr>
            <p:ph idx="1"/>
          </p:nvPr>
        </p:nvSpPr>
        <p:spPr/>
        <p:txBody>
          <a:bodyPr>
            <a:normAutofit fontScale="92500" lnSpcReduction="20000"/>
          </a:bodyPr>
          <a:lstStyle/>
          <a:p>
            <a:r>
              <a:rPr lang="en-US" dirty="0"/>
              <a:t>every column that appears in (1) must also appear in </a:t>
            </a:r>
            <a:r>
              <a:rPr lang="en-US" i="1" dirty="0"/>
              <a:t>grouping-list</a:t>
            </a:r>
          </a:p>
          <a:p>
            <a:endParaRPr lang="en-US" sz="2800" dirty="0"/>
          </a:p>
          <a:p>
            <a:r>
              <a:rPr lang="en-US" sz="3000" dirty="0"/>
              <a:t>reason is that each row in result of query corresponds to one group / partition, which is a collection of rows that agree on the values of columns in </a:t>
            </a:r>
            <a:r>
              <a:rPr lang="en-US" sz="3000" i="1" dirty="0"/>
              <a:t>grouping-list</a:t>
            </a:r>
          </a:p>
          <a:p>
            <a:r>
              <a:rPr lang="en-US" sz="3000" dirty="0"/>
              <a:t>if a column appears in list (1), but not in grouping-list, there can be multiple rows within a group that have different values in this column, and it is not clear what value should be assigned to this column in answer row</a:t>
            </a:r>
          </a:p>
          <a:p>
            <a:endParaRPr lang="en-US" sz="2800" dirty="0"/>
          </a:p>
        </p:txBody>
      </p:sp>
      <p:sp>
        <p:nvSpPr>
          <p:cNvPr id="4" name="Slide Number Placeholder 3">
            <a:extLst>
              <a:ext uri="{FF2B5EF4-FFF2-40B4-BE49-F238E27FC236}">
                <a16:creationId xmlns:a16="http://schemas.microsoft.com/office/drawing/2014/main" id="{A6C85C26-FA7D-BD3D-A3CB-3DC0724F3679}"/>
              </a:ext>
            </a:extLst>
          </p:cNvPr>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23030149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4FA28-57D7-FCC4-5482-4C398A65F9F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396B01-95CB-7B21-BDBE-F8FCE9CAA2DF}"/>
              </a:ext>
            </a:extLst>
          </p:cNvPr>
          <p:cNvSpPr>
            <a:spLocks noGrp="1"/>
          </p:cNvSpPr>
          <p:nvPr>
            <p:ph idx="1"/>
          </p:nvPr>
        </p:nvSpPr>
        <p:spPr/>
        <p:txBody>
          <a:bodyPr>
            <a:normAutofit/>
          </a:bodyPr>
          <a:lstStyle/>
          <a:p>
            <a:r>
              <a:rPr lang="en-US" sz="2800" dirty="0"/>
              <a:t>expressions appearing in the </a:t>
            </a:r>
            <a:r>
              <a:rPr lang="en-US" sz="2800" i="1" dirty="0"/>
              <a:t>group-qualification</a:t>
            </a:r>
            <a:r>
              <a:rPr lang="en-US" sz="2800" dirty="0"/>
              <a:t> in the HAVING clause must have a single value per group</a:t>
            </a:r>
          </a:p>
          <a:p>
            <a:r>
              <a:rPr lang="en-US" sz="2800" dirty="0"/>
              <a:t>HAVING clause determines whether an answer row is to be generated for a given group</a:t>
            </a:r>
          </a:p>
          <a:p>
            <a:endParaRPr lang="en-US" sz="2800" dirty="0"/>
          </a:p>
          <a:p>
            <a:r>
              <a:rPr lang="en-US" sz="2800" dirty="0"/>
              <a:t>if GROUP BY is omitted, entire table is regarded as a single group</a:t>
            </a:r>
          </a:p>
        </p:txBody>
      </p:sp>
      <p:sp>
        <p:nvSpPr>
          <p:cNvPr id="4" name="Slide Number Placeholder 3">
            <a:extLst>
              <a:ext uri="{FF2B5EF4-FFF2-40B4-BE49-F238E27FC236}">
                <a16:creationId xmlns:a16="http://schemas.microsoft.com/office/drawing/2014/main" id="{A3493CC1-A947-2700-7D19-E1534EB35BEB}"/>
              </a:ext>
            </a:extLst>
          </p:cNvPr>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p14="http://schemas.microsoft.com/office/powerpoint/2010/main" val="11554664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02EAA-AC85-2FB4-496D-28D677301DB1}"/>
              </a:ext>
            </a:extLst>
          </p:cNvPr>
          <p:cNvSpPr>
            <a:spLocks noGrp="1"/>
          </p:cNvSpPr>
          <p:nvPr>
            <p:ph type="title"/>
          </p:nvPr>
        </p:nvSpPr>
        <p:spPr>
          <a:xfrm>
            <a:off x="457200" y="274638"/>
            <a:ext cx="8686800" cy="1782762"/>
          </a:xfrm>
        </p:spPr>
        <p:txBody>
          <a:bodyPr>
            <a:noAutofit/>
          </a:bodyPr>
          <a:lstStyle/>
          <a:p>
            <a:r>
              <a:rPr lang="en-US" sz="3600" i="1" dirty="0"/>
              <a:t>Find the age of the youngest sailor who is eligible to vote (at least 18 years old) for each rating level with at least two such sailors</a:t>
            </a:r>
          </a:p>
        </p:txBody>
      </p:sp>
      <p:sp>
        <p:nvSpPr>
          <p:cNvPr id="3" name="Content Placeholder 2">
            <a:extLst>
              <a:ext uri="{FF2B5EF4-FFF2-40B4-BE49-F238E27FC236}">
                <a16:creationId xmlns:a16="http://schemas.microsoft.com/office/drawing/2014/main" id="{E0DBEF51-452E-C34C-9B8B-8B87362A31D4}"/>
              </a:ext>
            </a:extLst>
          </p:cNvPr>
          <p:cNvSpPr>
            <a:spLocks noGrp="1"/>
          </p:cNvSpPr>
          <p:nvPr>
            <p:ph idx="1"/>
          </p:nvPr>
        </p:nvSpPr>
        <p:spPr>
          <a:xfrm>
            <a:off x="457200" y="2362200"/>
            <a:ext cx="8229600" cy="3763963"/>
          </a:xfrm>
        </p:spPr>
        <p:txBody>
          <a:bodyPr>
            <a:normAutofit/>
          </a:bodyPr>
          <a:lstStyle/>
          <a:p>
            <a:r>
              <a:rPr lang="en-US" sz="2800" dirty="0"/>
              <a:t>SELECT </a:t>
            </a:r>
            <a:r>
              <a:rPr lang="en-US" sz="2800" dirty="0" err="1"/>
              <a:t>S.rating</a:t>
            </a:r>
            <a:r>
              <a:rPr lang="en-US" sz="2800" dirty="0"/>
              <a:t>, MIN (</a:t>
            </a:r>
            <a:r>
              <a:rPr lang="en-US" sz="2800" dirty="0" err="1"/>
              <a:t>S.age</a:t>
            </a:r>
            <a:r>
              <a:rPr lang="en-US" sz="2800" dirty="0"/>
              <a:t>) AS </a:t>
            </a:r>
            <a:r>
              <a:rPr lang="en-US" sz="2800" dirty="0" err="1"/>
              <a:t>minage</a:t>
            </a:r>
            <a:endParaRPr lang="en-US" sz="2800" dirty="0"/>
          </a:p>
          <a:p>
            <a:r>
              <a:rPr lang="en-US" sz="2800" dirty="0"/>
              <a:t>FROM Sailors S</a:t>
            </a:r>
          </a:p>
          <a:p>
            <a:r>
              <a:rPr lang="en-US" sz="2800" dirty="0"/>
              <a:t>WHERE </a:t>
            </a:r>
            <a:r>
              <a:rPr lang="en-US" sz="2800" dirty="0" err="1"/>
              <a:t>S.age</a:t>
            </a:r>
            <a:r>
              <a:rPr lang="en-US" sz="2800" dirty="0"/>
              <a:t> &gt;= 18</a:t>
            </a:r>
          </a:p>
          <a:p>
            <a:r>
              <a:rPr lang="en-US" sz="2800" dirty="0"/>
              <a:t>GROUP BY </a:t>
            </a:r>
            <a:r>
              <a:rPr lang="en-US" sz="2800" dirty="0" err="1"/>
              <a:t>S.rating</a:t>
            </a:r>
            <a:endParaRPr lang="en-US" sz="2800" dirty="0"/>
          </a:p>
          <a:p>
            <a:r>
              <a:rPr lang="en-US" sz="2800" dirty="0"/>
              <a:t>HAVING COUNT (*) &gt;= 2</a:t>
            </a:r>
          </a:p>
          <a:p>
            <a:endParaRPr lang="en-US" sz="2800" dirty="0"/>
          </a:p>
        </p:txBody>
      </p:sp>
      <p:sp>
        <p:nvSpPr>
          <p:cNvPr id="4" name="Slide Number Placeholder 3">
            <a:extLst>
              <a:ext uri="{FF2B5EF4-FFF2-40B4-BE49-F238E27FC236}">
                <a16:creationId xmlns:a16="http://schemas.microsoft.com/office/drawing/2014/main" id="{9237ED41-195F-6836-634E-14BC8624C2B5}"/>
              </a:ext>
            </a:extLst>
          </p:cNvPr>
          <p:cNvSpPr>
            <a:spLocks noGrp="1"/>
          </p:cNvSpPr>
          <p:nvPr>
            <p:ph type="sldNum" sz="quarter" idx="12"/>
          </p:nvPr>
        </p:nvSpPr>
        <p:spPr/>
        <p:txBody>
          <a:bodyPr/>
          <a:lstStyle/>
          <a:p>
            <a:fld id="{B6F15528-21DE-4FAA-801E-634DDDAF4B2B}" type="slidenum">
              <a:rPr lang="en-US" smtClean="0"/>
              <a:pPr/>
              <a:t>62</a:t>
            </a:fld>
            <a:endParaRPr lang="en-US"/>
          </a:p>
        </p:txBody>
      </p:sp>
    </p:spTree>
    <p:extLst>
      <p:ext uri="{BB962C8B-B14F-4D97-AF65-F5344CB8AC3E}">
        <p14:creationId xmlns:p14="http://schemas.microsoft.com/office/powerpoint/2010/main" val="21921363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D35C7F-225E-97A3-B403-32F5563AD14E}"/>
              </a:ext>
            </a:extLst>
          </p:cNvPr>
          <p:cNvSpPr>
            <a:spLocks noGrp="1"/>
          </p:cNvSpPr>
          <p:nvPr>
            <p:ph type="title"/>
          </p:nvPr>
        </p:nvSpPr>
        <p:spPr/>
        <p:txBody>
          <a:bodyPr/>
          <a:lstStyle/>
          <a:p>
            <a:endParaRPr lang="en-US" dirty="0"/>
          </a:p>
        </p:txBody>
      </p:sp>
      <p:sp>
        <p:nvSpPr>
          <p:cNvPr id="6" name="Text Placeholder 5">
            <a:extLst>
              <a:ext uri="{FF2B5EF4-FFF2-40B4-BE49-F238E27FC236}">
                <a16:creationId xmlns:a16="http://schemas.microsoft.com/office/drawing/2014/main" id="{FF261E8B-EB20-ECF5-AA05-F61BEB939DB0}"/>
              </a:ext>
            </a:extLst>
          </p:cNvPr>
          <p:cNvSpPr>
            <a:spLocks noGrp="1"/>
          </p:cNvSpPr>
          <p:nvPr>
            <p:ph type="body" idx="1"/>
          </p:nvPr>
        </p:nvSpPr>
        <p:spPr/>
        <p:txBody>
          <a:bodyPr>
            <a:normAutofit/>
          </a:bodyPr>
          <a:lstStyle/>
          <a:p>
            <a:r>
              <a:rPr lang="en-US" sz="3200" dirty="0"/>
              <a:t>Extending the conceptual evaluation strategy</a:t>
            </a:r>
          </a:p>
        </p:txBody>
      </p:sp>
      <p:sp>
        <p:nvSpPr>
          <p:cNvPr id="4" name="Slide Number Placeholder 3">
            <a:extLst>
              <a:ext uri="{FF2B5EF4-FFF2-40B4-BE49-F238E27FC236}">
                <a16:creationId xmlns:a16="http://schemas.microsoft.com/office/drawing/2014/main" id="{0FB4AB06-C466-FC69-B735-1F7FD4A37B96}"/>
              </a:ext>
            </a:extLst>
          </p:cNvPr>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val="19828546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9DCC4-DA8D-5929-4188-5901FC5B58D9}"/>
              </a:ext>
            </a:extLst>
          </p:cNvPr>
          <p:cNvSpPr>
            <a:spLocks noGrp="1"/>
          </p:cNvSpPr>
          <p:nvPr>
            <p:ph type="title"/>
          </p:nvPr>
        </p:nvSpPr>
        <p:spPr/>
        <p:txBody>
          <a:bodyPr>
            <a:normAutofit fontScale="90000"/>
          </a:bodyPr>
          <a:lstStyle/>
          <a:p>
            <a:r>
              <a:rPr lang="en-US" dirty="0"/>
              <a:t>instance of Sailors on which this query is to be evaluated</a:t>
            </a:r>
          </a:p>
        </p:txBody>
      </p:sp>
      <p:sp>
        <p:nvSpPr>
          <p:cNvPr id="3" name="Content Placeholder 2">
            <a:extLst>
              <a:ext uri="{FF2B5EF4-FFF2-40B4-BE49-F238E27FC236}">
                <a16:creationId xmlns:a16="http://schemas.microsoft.com/office/drawing/2014/main" id="{46DC0DF0-0C0B-8F75-5B01-381EDB6B4C16}"/>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77E40D3D-4AA6-003F-E484-13DE2BD9D88A}"/>
              </a:ext>
            </a:extLst>
          </p:cNvPr>
          <p:cNvSpPr>
            <a:spLocks noGrp="1"/>
          </p:cNvSpPr>
          <p:nvPr>
            <p:ph type="sldNum" sz="quarter" idx="12"/>
          </p:nvPr>
        </p:nvSpPr>
        <p:spPr/>
        <p:txBody>
          <a:bodyPr/>
          <a:lstStyle/>
          <a:p>
            <a:fld id="{B6F15528-21DE-4FAA-801E-634DDDAF4B2B}" type="slidenum">
              <a:rPr lang="en-US" smtClean="0"/>
              <a:pPr/>
              <a:t>64</a:t>
            </a:fld>
            <a:endParaRPr lang="en-US"/>
          </a:p>
        </p:txBody>
      </p:sp>
      <p:pic>
        <p:nvPicPr>
          <p:cNvPr id="5" name="Picture 4">
            <a:extLst>
              <a:ext uri="{FF2B5EF4-FFF2-40B4-BE49-F238E27FC236}">
                <a16:creationId xmlns:a16="http://schemas.microsoft.com/office/drawing/2014/main" id="{EE3C67DD-7423-A11E-0CD0-3E56C1671094}"/>
              </a:ext>
            </a:extLst>
          </p:cNvPr>
          <p:cNvPicPr>
            <a:picLocks noChangeAspect="1"/>
          </p:cNvPicPr>
          <p:nvPr/>
        </p:nvPicPr>
        <p:blipFill>
          <a:blip r:embed="rId2"/>
          <a:stretch>
            <a:fillRect/>
          </a:stretch>
        </p:blipFill>
        <p:spPr>
          <a:xfrm>
            <a:off x="731520" y="1645920"/>
            <a:ext cx="7562286" cy="4973852"/>
          </a:xfrm>
          <a:prstGeom prst="rect">
            <a:avLst/>
          </a:prstGeom>
        </p:spPr>
      </p:pic>
    </p:spTree>
    <p:extLst>
      <p:ext uri="{BB962C8B-B14F-4D97-AF65-F5344CB8AC3E}">
        <p14:creationId xmlns:p14="http://schemas.microsoft.com/office/powerpoint/2010/main" val="2562551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E8F28-03A2-021B-D5F2-F804107C9F1D}"/>
              </a:ext>
            </a:extLst>
          </p:cNvPr>
          <p:cNvSpPr>
            <a:spLocks noGrp="1"/>
          </p:cNvSpPr>
          <p:nvPr>
            <p:ph type="title"/>
          </p:nvPr>
        </p:nvSpPr>
        <p:spPr/>
        <p:txBody>
          <a:bodyPr>
            <a:normAutofit fontScale="90000"/>
          </a:bodyPr>
          <a:lstStyle/>
          <a:p>
            <a:r>
              <a:rPr lang="en-US" dirty="0"/>
              <a:t>1</a:t>
            </a:r>
            <a:r>
              <a:rPr lang="en-US" baseline="30000" dirty="0"/>
              <a:t>st</a:t>
            </a:r>
            <a:r>
              <a:rPr lang="en-US" dirty="0"/>
              <a:t> step is to construct the cross product of tables in the </a:t>
            </a:r>
            <a:r>
              <a:rPr lang="en-US" i="1" dirty="0"/>
              <a:t>from-list</a:t>
            </a:r>
            <a:endParaRPr lang="en-US" dirty="0"/>
          </a:p>
        </p:txBody>
      </p:sp>
      <p:sp>
        <p:nvSpPr>
          <p:cNvPr id="3" name="Content Placeholder 2">
            <a:extLst>
              <a:ext uri="{FF2B5EF4-FFF2-40B4-BE49-F238E27FC236}">
                <a16:creationId xmlns:a16="http://schemas.microsoft.com/office/drawing/2014/main" id="{A47F4565-A3BD-B56B-AEB8-0093B8E523C3}"/>
              </a:ext>
            </a:extLst>
          </p:cNvPr>
          <p:cNvSpPr>
            <a:spLocks noGrp="1"/>
          </p:cNvSpPr>
          <p:nvPr>
            <p:ph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9344E048-DEEA-2326-D223-BF2707B8EEC8}"/>
              </a:ext>
            </a:extLst>
          </p:cNvPr>
          <p:cNvSpPr>
            <a:spLocks noGrp="1"/>
          </p:cNvSpPr>
          <p:nvPr>
            <p:ph type="sldNum" sz="quarter" idx="12"/>
          </p:nvPr>
        </p:nvSpPr>
        <p:spPr/>
        <p:txBody>
          <a:bodyPr/>
          <a:lstStyle/>
          <a:p>
            <a:fld id="{B6F15528-21DE-4FAA-801E-634DDDAF4B2B}" type="slidenum">
              <a:rPr lang="en-US" smtClean="0"/>
              <a:pPr/>
              <a:t>65</a:t>
            </a:fld>
            <a:endParaRPr lang="en-US"/>
          </a:p>
        </p:txBody>
      </p:sp>
      <p:pic>
        <p:nvPicPr>
          <p:cNvPr id="5" name="Picture 4">
            <a:extLst>
              <a:ext uri="{FF2B5EF4-FFF2-40B4-BE49-F238E27FC236}">
                <a16:creationId xmlns:a16="http://schemas.microsoft.com/office/drawing/2014/main" id="{6F0129A6-323A-93A9-6CB9-BA9DD82274BB}"/>
              </a:ext>
            </a:extLst>
          </p:cNvPr>
          <p:cNvPicPr>
            <a:picLocks noChangeAspect="1"/>
          </p:cNvPicPr>
          <p:nvPr/>
        </p:nvPicPr>
        <p:blipFill>
          <a:blip r:embed="rId2"/>
          <a:stretch>
            <a:fillRect/>
          </a:stretch>
        </p:blipFill>
        <p:spPr>
          <a:xfrm>
            <a:off x="731520" y="1645920"/>
            <a:ext cx="7562286" cy="4973852"/>
          </a:xfrm>
          <a:prstGeom prst="rect">
            <a:avLst/>
          </a:prstGeom>
        </p:spPr>
      </p:pic>
    </p:spTree>
    <p:extLst>
      <p:ext uri="{BB962C8B-B14F-4D97-AF65-F5344CB8AC3E}">
        <p14:creationId xmlns:p14="http://schemas.microsoft.com/office/powerpoint/2010/main" val="25884497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DF00B-3EA1-B9C7-9F50-595DC4C0979C}"/>
              </a:ext>
            </a:extLst>
          </p:cNvPr>
          <p:cNvSpPr>
            <a:spLocks noGrp="1"/>
          </p:cNvSpPr>
          <p:nvPr>
            <p:ph type="title"/>
          </p:nvPr>
        </p:nvSpPr>
        <p:spPr/>
        <p:txBody>
          <a:bodyPr>
            <a:normAutofit fontScale="90000"/>
          </a:bodyPr>
          <a:lstStyle/>
          <a:p>
            <a:r>
              <a:rPr lang="en-US" dirty="0"/>
              <a:t>2</a:t>
            </a:r>
            <a:r>
              <a:rPr lang="en-US" baseline="30000" dirty="0"/>
              <a:t>nd</a:t>
            </a:r>
            <a:r>
              <a:rPr lang="en-US" dirty="0"/>
              <a:t> step is to apply the qualification in the WHERE clause, S. age &gt;= 18</a:t>
            </a:r>
          </a:p>
        </p:txBody>
      </p:sp>
      <p:sp>
        <p:nvSpPr>
          <p:cNvPr id="4" name="Slide Number Placeholder 3">
            <a:extLst>
              <a:ext uri="{FF2B5EF4-FFF2-40B4-BE49-F238E27FC236}">
                <a16:creationId xmlns:a16="http://schemas.microsoft.com/office/drawing/2014/main" id="{0BAE79C8-66F4-67E4-D142-18CC043E2FDB}"/>
              </a:ext>
            </a:extLst>
          </p:cNvPr>
          <p:cNvSpPr>
            <a:spLocks noGrp="1"/>
          </p:cNvSpPr>
          <p:nvPr>
            <p:ph type="sldNum" sz="quarter" idx="12"/>
          </p:nvPr>
        </p:nvSpPr>
        <p:spPr/>
        <p:txBody>
          <a:bodyPr/>
          <a:lstStyle/>
          <a:p>
            <a:fld id="{B6F15528-21DE-4FAA-801E-634DDDAF4B2B}" type="slidenum">
              <a:rPr lang="en-US" smtClean="0"/>
              <a:pPr/>
              <a:t>66</a:t>
            </a:fld>
            <a:endParaRPr lang="en-US"/>
          </a:p>
        </p:txBody>
      </p:sp>
      <p:pic>
        <p:nvPicPr>
          <p:cNvPr id="5" name="Content Placeholder 4">
            <a:extLst>
              <a:ext uri="{FF2B5EF4-FFF2-40B4-BE49-F238E27FC236}">
                <a16:creationId xmlns:a16="http://schemas.microsoft.com/office/drawing/2014/main" id="{B29A4F1A-07FF-3009-75DB-EC91357FD6D2}"/>
              </a:ext>
            </a:extLst>
          </p:cNvPr>
          <p:cNvPicPr>
            <a:picLocks noGrp="1" noChangeAspect="1"/>
          </p:cNvPicPr>
          <p:nvPr>
            <p:ph idx="1"/>
          </p:nvPr>
        </p:nvPicPr>
        <p:blipFill>
          <a:blip r:embed="rId2"/>
          <a:stretch>
            <a:fillRect/>
          </a:stretch>
        </p:blipFill>
        <p:spPr>
          <a:xfrm>
            <a:off x="914400" y="1828800"/>
            <a:ext cx="6851735" cy="4347892"/>
          </a:xfrm>
          <a:prstGeom prst="rect">
            <a:avLst/>
          </a:prstGeom>
        </p:spPr>
      </p:pic>
    </p:spTree>
    <p:extLst>
      <p:ext uri="{BB962C8B-B14F-4D97-AF65-F5344CB8AC3E}">
        <p14:creationId xmlns:p14="http://schemas.microsoft.com/office/powerpoint/2010/main" val="10050775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E571F-C9E1-AA56-9050-A9B4E1E87C5C}"/>
              </a:ext>
            </a:extLst>
          </p:cNvPr>
          <p:cNvSpPr>
            <a:spLocks noGrp="1"/>
          </p:cNvSpPr>
          <p:nvPr>
            <p:ph type="title"/>
          </p:nvPr>
        </p:nvSpPr>
        <p:spPr/>
        <p:txBody>
          <a:bodyPr>
            <a:normAutofit fontScale="90000"/>
          </a:bodyPr>
          <a:lstStyle/>
          <a:p>
            <a:r>
              <a:rPr lang="en-US" dirty="0"/>
              <a:t>3</a:t>
            </a:r>
            <a:r>
              <a:rPr lang="en-US" baseline="30000" dirty="0"/>
              <a:t>rd</a:t>
            </a:r>
            <a:r>
              <a:rPr lang="en-US" dirty="0"/>
              <a:t> step is to eliminate unwanted columns</a:t>
            </a:r>
          </a:p>
        </p:txBody>
      </p:sp>
      <p:sp>
        <p:nvSpPr>
          <p:cNvPr id="4" name="Slide Number Placeholder 3">
            <a:extLst>
              <a:ext uri="{FF2B5EF4-FFF2-40B4-BE49-F238E27FC236}">
                <a16:creationId xmlns:a16="http://schemas.microsoft.com/office/drawing/2014/main" id="{16425F14-7FD9-7FEE-2EB3-813CBEBF97D3}"/>
              </a:ext>
            </a:extLst>
          </p:cNvPr>
          <p:cNvSpPr>
            <a:spLocks noGrp="1"/>
          </p:cNvSpPr>
          <p:nvPr>
            <p:ph type="sldNum" sz="quarter" idx="12"/>
          </p:nvPr>
        </p:nvSpPr>
        <p:spPr/>
        <p:txBody>
          <a:bodyPr/>
          <a:lstStyle/>
          <a:p>
            <a:fld id="{B6F15528-21DE-4FAA-801E-634DDDAF4B2B}" type="slidenum">
              <a:rPr lang="en-US" smtClean="0"/>
              <a:pPr/>
              <a:t>67</a:t>
            </a:fld>
            <a:endParaRPr lang="en-US"/>
          </a:p>
        </p:txBody>
      </p:sp>
      <p:pic>
        <p:nvPicPr>
          <p:cNvPr id="5" name="Content Placeholder 4">
            <a:extLst>
              <a:ext uri="{FF2B5EF4-FFF2-40B4-BE49-F238E27FC236}">
                <a16:creationId xmlns:a16="http://schemas.microsoft.com/office/drawing/2014/main" id="{90157F87-7F56-42C6-7383-BD675A60B709}"/>
              </a:ext>
            </a:extLst>
          </p:cNvPr>
          <p:cNvPicPr>
            <a:picLocks noGrp="1" noChangeAspect="1"/>
          </p:cNvPicPr>
          <p:nvPr>
            <p:ph idx="1"/>
          </p:nvPr>
        </p:nvPicPr>
        <p:blipFill>
          <a:blip r:embed="rId2"/>
          <a:stretch>
            <a:fillRect/>
          </a:stretch>
        </p:blipFill>
        <p:spPr>
          <a:xfrm>
            <a:off x="2468880" y="1554480"/>
            <a:ext cx="3637799" cy="4618577"/>
          </a:xfrm>
          <a:prstGeom prst="rect">
            <a:avLst/>
          </a:prstGeom>
        </p:spPr>
      </p:pic>
    </p:spTree>
    <p:extLst>
      <p:ext uri="{BB962C8B-B14F-4D97-AF65-F5344CB8AC3E}">
        <p14:creationId xmlns:p14="http://schemas.microsoft.com/office/powerpoint/2010/main" val="9894263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9995A-5E82-B47D-66F7-74193C8AC7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5188F6-9F82-FBBC-2613-0B407B7DD469}"/>
              </a:ext>
            </a:extLst>
          </p:cNvPr>
          <p:cNvSpPr>
            <a:spLocks noGrp="1"/>
          </p:cNvSpPr>
          <p:nvPr>
            <p:ph idx="1"/>
          </p:nvPr>
        </p:nvSpPr>
        <p:spPr/>
        <p:txBody>
          <a:bodyPr>
            <a:normAutofit/>
          </a:bodyPr>
          <a:lstStyle/>
          <a:p>
            <a:r>
              <a:rPr lang="en-US" sz="2800" dirty="0"/>
              <a:t>only columns mentioned in SELECT clause, GROUP BY clause, or HAVING clause are necessary</a:t>
            </a:r>
          </a:p>
        </p:txBody>
      </p:sp>
      <p:sp>
        <p:nvSpPr>
          <p:cNvPr id="4" name="Slide Number Placeholder 3">
            <a:extLst>
              <a:ext uri="{FF2B5EF4-FFF2-40B4-BE49-F238E27FC236}">
                <a16:creationId xmlns:a16="http://schemas.microsoft.com/office/drawing/2014/main" id="{28FFB28F-0444-A485-3E81-D4B9E84D7BA4}"/>
              </a:ext>
            </a:extLst>
          </p:cNvPr>
          <p:cNvSpPr>
            <a:spLocks noGrp="1"/>
          </p:cNvSpPr>
          <p:nvPr>
            <p:ph type="sldNum" sz="quarter" idx="12"/>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val="7164557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11300-384A-FDEE-FFB3-6BF56B4E21ED}"/>
              </a:ext>
            </a:extLst>
          </p:cNvPr>
          <p:cNvSpPr>
            <a:spLocks noGrp="1"/>
          </p:cNvSpPr>
          <p:nvPr>
            <p:ph type="title"/>
          </p:nvPr>
        </p:nvSpPr>
        <p:spPr/>
        <p:txBody>
          <a:bodyPr>
            <a:noAutofit/>
          </a:bodyPr>
          <a:lstStyle/>
          <a:p>
            <a:r>
              <a:rPr lang="en-US" sz="3900" dirty="0"/>
              <a:t>4</a:t>
            </a:r>
            <a:r>
              <a:rPr lang="en-US" sz="3900" baseline="30000" dirty="0"/>
              <a:t>th</a:t>
            </a:r>
            <a:r>
              <a:rPr lang="en-US" sz="3900" dirty="0"/>
              <a:t> step is to sort table according to GROUP BY clause to identify the groups</a:t>
            </a:r>
          </a:p>
        </p:txBody>
      </p:sp>
      <p:sp>
        <p:nvSpPr>
          <p:cNvPr id="4" name="Slide Number Placeholder 3">
            <a:extLst>
              <a:ext uri="{FF2B5EF4-FFF2-40B4-BE49-F238E27FC236}">
                <a16:creationId xmlns:a16="http://schemas.microsoft.com/office/drawing/2014/main" id="{0065AF43-35A7-E67A-D607-4819C7147B72}"/>
              </a:ext>
            </a:extLst>
          </p:cNvPr>
          <p:cNvSpPr>
            <a:spLocks noGrp="1"/>
          </p:cNvSpPr>
          <p:nvPr>
            <p:ph type="sldNum" sz="quarter" idx="12"/>
          </p:nvPr>
        </p:nvSpPr>
        <p:spPr/>
        <p:txBody>
          <a:bodyPr/>
          <a:lstStyle/>
          <a:p>
            <a:fld id="{B6F15528-21DE-4FAA-801E-634DDDAF4B2B}" type="slidenum">
              <a:rPr lang="en-US" smtClean="0"/>
              <a:pPr/>
              <a:t>69</a:t>
            </a:fld>
            <a:endParaRPr lang="en-US"/>
          </a:p>
        </p:txBody>
      </p:sp>
      <p:pic>
        <p:nvPicPr>
          <p:cNvPr id="5" name="Content Placeholder 4">
            <a:extLst>
              <a:ext uri="{FF2B5EF4-FFF2-40B4-BE49-F238E27FC236}">
                <a16:creationId xmlns:a16="http://schemas.microsoft.com/office/drawing/2014/main" id="{CB463AF8-9153-3417-8384-22F4D9BA87D5}"/>
              </a:ext>
            </a:extLst>
          </p:cNvPr>
          <p:cNvPicPr>
            <a:picLocks noGrp="1" noChangeAspect="1"/>
          </p:cNvPicPr>
          <p:nvPr>
            <p:ph idx="1"/>
          </p:nvPr>
        </p:nvPicPr>
        <p:blipFill>
          <a:blip r:embed="rId2"/>
          <a:stretch>
            <a:fillRect/>
          </a:stretch>
        </p:blipFill>
        <p:spPr>
          <a:xfrm>
            <a:off x="2468869" y="1554452"/>
            <a:ext cx="3655630" cy="4565080"/>
          </a:xfrm>
          <a:prstGeom prst="rect">
            <a:avLst/>
          </a:prstGeom>
        </p:spPr>
      </p:pic>
    </p:spTree>
    <p:extLst>
      <p:ext uri="{BB962C8B-B14F-4D97-AF65-F5344CB8AC3E}">
        <p14:creationId xmlns:p14="http://schemas.microsoft.com/office/powerpoint/2010/main" val="2449638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2431D-D3BB-3651-F275-BE12412418C0}"/>
              </a:ext>
            </a:extLst>
          </p:cNvPr>
          <p:cNvSpPr>
            <a:spLocks noGrp="1"/>
          </p:cNvSpPr>
          <p:nvPr>
            <p:ph type="title"/>
          </p:nvPr>
        </p:nvSpPr>
        <p:spPr>
          <a:xfrm>
            <a:off x="457200" y="274638"/>
            <a:ext cx="8229600" cy="1782762"/>
          </a:xfrm>
        </p:spPr>
        <p:txBody>
          <a:bodyPr>
            <a:normAutofit fontScale="90000"/>
          </a:bodyPr>
          <a:lstStyle/>
          <a:p>
            <a:r>
              <a:rPr lang="en-US" dirty="0"/>
              <a:t>5th step ,is to apply group-qualification in HAVING clause, </a:t>
            </a:r>
            <a:br>
              <a:rPr lang="en-US" dirty="0"/>
            </a:br>
            <a:r>
              <a:rPr lang="en-US" dirty="0"/>
              <a:t>that is, the condition COUNT (*) &gt;= 2 </a:t>
            </a:r>
          </a:p>
        </p:txBody>
      </p:sp>
      <p:sp>
        <p:nvSpPr>
          <p:cNvPr id="4" name="Slide Number Placeholder 3">
            <a:extLst>
              <a:ext uri="{FF2B5EF4-FFF2-40B4-BE49-F238E27FC236}">
                <a16:creationId xmlns:a16="http://schemas.microsoft.com/office/drawing/2014/main" id="{5A9A65B9-5572-97B5-5159-B97C34296189}"/>
              </a:ext>
            </a:extLst>
          </p:cNvPr>
          <p:cNvSpPr>
            <a:spLocks noGrp="1"/>
          </p:cNvSpPr>
          <p:nvPr>
            <p:ph type="sldNum" sz="quarter" idx="12"/>
          </p:nvPr>
        </p:nvSpPr>
        <p:spPr/>
        <p:txBody>
          <a:bodyPr/>
          <a:lstStyle/>
          <a:p>
            <a:fld id="{B6F15528-21DE-4FAA-801E-634DDDAF4B2B}" type="slidenum">
              <a:rPr lang="en-US" smtClean="0"/>
              <a:pPr/>
              <a:t>70</a:t>
            </a:fld>
            <a:endParaRPr lang="en-US"/>
          </a:p>
        </p:txBody>
      </p:sp>
      <p:pic>
        <p:nvPicPr>
          <p:cNvPr id="5" name="Content Placeholder 4">
            <a:extLst>
              <a:ext uri="{FF2B5EF4-FFF2-40B4-BE49-F238E27FC236}">
                <a16:creationId xmlns:a16="http://schemas.microsoft.com/office/drawing/2014/main" id="{D6678A94-477F-28B3-F377-4299B49F8769}"/>
              </a:ext>
            </a:extLst>
          </p:cNvPr>
          <p:cNvPicPr>
            <a:picLocks noGrp="1" noChangeAspect="1"/>
          </p:cNvPicPr>
          <p:nvPr>
            <p:ph idx="1"/>
          </p:nvPr>
        </p:nvPicPr>
        <p:blipFill>
          <a:blip r:embed="rId2"/>
          <a:stretch>
            <a:fillRect/>
          </a:stretch>
        </p:blipFill>
        <p:spPr>
          <a:xfrm>
            <a:off x="2468825" y="2468879"/>
            <a:ext cx="3726960" cy="3281153"/>
          </a:xfrm>
          <a:prstGeom prst="rect">
            <a:avLst/>
          </a:prstGeom>
        </p:spPr>
      </p:pic>
    </p:spTree>
    <p:extLst>
      <p:ext uri="{BB962C8B-B14F-4D97-AF65-F5344CB8AC3E}">
        <p14:creationId xmlns:p14="http://schemas.microsoft.com/office/powerpoint/2010/main" val="29674880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68EE1-2563-2DB7-FA7C-D5EB393579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D0B2D41-5160-5771-0A1A-4C1718EFC85A}"/>
              </a:ext>
            </a:extLst>
          </p:cNvPr>
          <p:cNvSpPr>
            <a:spLocks noGrp="1"/>
          </p:cNvSpPr>
          <p:nvPr>
            <p:ph idx="1"/>
          </p:nvPr>
        </p:nvSpPr>
        <p:spPr/>
        <p:txBody>
          <a:bodyPr>
            <a:normAutofit/>
          </a:bodyPr>
          <a:lstStyle/>
          <a:p>
            <a:r>
              <a:rPr lang="en-US" sz="2800" dirty="0"/>
              <a:t>order in which the WHERE and GROUP BY clauses are considered is significant</a:t>
            </a:r>
          </a:p>
          <a:p>
            <a:r>
              <a:rPr lang="en-US" sz="2800" dirty="0"/>
              <a:t>if the WHERE clause were not considered before, the group with rating = 10 would have met the </a:t>
            </a:r>
            <a:r>
              <a:rPr lang="en-US" sz="2800" i="1" dirty="0"/>
              <a:t>group-qualification </a:t>
            </a:r>
            <a:r>
              <a:rPr lang="en-US" sz="2800" dirty="0"/>
              <a:t>in the HAVING clause</a:t>
            </a:r>
          </a:p>
        </p:txBody>
      </p:sp>
      <p:sp>
        <p:nvSpPr>
          <p:cNvPr id="4" name="Slide Number Placeholder 3">
            <a:extLst>
              <a:ext uri="{FF2B5EF4-FFF2-40B4-BE49-F238E27FC236}">
                <a16:creationId xmlns:a16="http://schemas.microsoft.com/office/drawing/2014/main" id="{22528788-9D79-FE59-AE0F-BED20141E762}"/>
              </a:ext>
            </a:extLst>
          </p:cNvPr>
          <p:cNvSpPr>
            <a:spLocks noGrp="1"/>
          </p:cNvSpPr>
          <p:nvPr>
            <p:ph type="sldNum" sz="quarter" idx="12"/>
          </p:nvPr>
        </p:nvSpPr>
        <p:spPr/>
        <p:txBody>
          <a:bodyPr/>
          <a:lstStyle/>
          <a:p>
            <a:fld id="{B6F15528-21DE-4FAA-801E-634DDDAF4B2B}" type="slidenum">
              <a:rPr lang="en-US" smtClean="0"/>
              <a:pPr/>
              <a:t>71</a:t>
            </a:fld>
            <a:endParaRPr lang="en-US"/>
          </a:p>
        </p:txBody>
      </p:sp>
    </p:spTree>
    <p:extLst>
      <p:ext uri="{BB962C8B-B14F-4D97-AF65-F5344CB8AC3E}">
        <p14:creationId xmlns:p14="http://schemas.microsoft.com/office/powerpoint/2010/main" val="16379553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CD2FA-662B-3584-1E32-0DC2A0B465CF}"/>
              </a:ext>
            </a:extLst>
          </p:cNvPr>
          <p:cNvSpPr>
            <a:spLocks noGrp="1"/>
          </p:cNvSpPr>
          <p:nvPr>
            <p:ph type="title"/>
          </p:nvPr>
        </p:nvSpPr>
        <p:spPr/>
        <p:txBody>
          <a:bodyPr>
            <a:normAutofit fontScale="90000"/>
          </a:bodyPr>
          <a:lstStyle/>
          <a:p>
            <a:r>
              <a:rPr lang="en-US" dirty="0"/>
              <a:t>6</a:t>
            </a:r>
            <a:r>
              <a:rPr lang="en-US" baseline="30000" dirty="0"/>
              <a:t>th</a:t>
            </a:r>
            <a:r>
              <a:rPr lang="en-US" dirty="0"/>
              <a:t> step is to generate one answer row for each remaining group</a:t>
            </a:r>
          </a:p>
        </p:txBody>
      </p:sp>
      <p:sp>
        <p:nvSpPr>
          <p:cNvPr id="4" name="Slide Number Placeholder 3">
            <a:extLst>
              <a:ext uri="{FF2B5EF4-FFF2-40B4-BE49-F238E27FC236}">
                <a16:creationId xmlns:a16="http://schemas.microsoft.com/office/drawing/2014/main" id="{17C70516-F116-AA3F-15E3-B4D8E437953C}"/>
              </a:ext>
            </a:extLst>
          </p:cNvPr>
          <p:cNvSpPr>
            <a:spLocks noGrp="1"/>
          </p:cNvSpPr>
          <p:nvPr>
            <p:ph type="sldNum" sz="quarter" idx="12"/>
          </p:nvPr>
        </p:nvSpPr>
        <p:spPr/>
        <p:txBody>
          <a:bodyPr/>
          <a:lstStyle/>
          <a:p>
            <a:fld id="{B6F15528-21DE-4FAA-801E-634DDDAF4B2B}" type="slidenum">
              <a:rPr lang="en-US" smtClean="0"/>
              <a:pPr/>
              <a:t>72</a:t>
            </a:fld>
            <a:endParaRPr lang="en-US"/>
          </a:p>
        </p:txBody>
      </p:sp>
      <p:pic>
        <p:nvPicPr>
          <p:cNvPr id="5" name="Content Placeholder 4">
            <a:extLst>
              <a:ext uri="{FF2B5EF4-FFF2-40B4-BE49-F238E27FC236}">
                <a16:creationId xmlns:a16="http://schemas.microsoft.com/office/drawing/2014/main" id="{DF691A7E-7C42-C986-11CF-3D1C68C42A1E}"/>
              </a:ext>
            </a:extLst>
          </p:cNvPr>
          <p:cNvPicPr>
            <a:picLocks noGrp="1" noChangeAspect="1"/>
          </p:cNvPicPr>
          <p:nvPr>
            <p:ph idx="1"/>
          </p:nvPr>
        </p:nvPicPr>
        <p:blipFill>
          <a:blip r:embed="rId2"/>
          <a:stretch>
            <a:fillRect/>
          </a:stretch>
        </p:blipFill>
        <p:spPr>
          <a:xfrm>
            <a:off x="1828800" y="1828800"/>
            <a:ext cx="5760534" cy="2943710"/>
          </a:xfrm>
          <a:prstGeom prst="rect">
            <a:avLst/>
          </a:prstGeom>
        </p:spPr>
      </p:pic>
    </p:spTree>
    <p:extLst>
      <p:ext uri="{BB962C8B-B14F-4D97-AF65-F5344CB8AC3E}">
        <p14:creationId xmlns:p14="http://schemas.microsoft.com/office/powerpoint/2010/main" val="18171277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77171-EF38-6FB8-C971-EC4D14EAF3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B4D0B1-5588-6E18-1464-BA042A0E1AF1}"/>
              </a:ext>
            </a:extLst>
          </p:cNvPr>
          <p:cNvSpPr>
            <a:spLocks noGrp="1"/>
          </p:cNvSpPr>
          <p:nvPr>
            <p:ph idx="1"/>
          </p:nvPr>
        </p:nvSpPr>
        <p:spPr/>
        <p:txBody>
          <a:bodyPr>
            <a:normAutofit/>
          </a:bodyPr>
          <a:lstStyle/>
          <a:p>
            <a:r>
              <a:rPr lang="en-US" sz="2800" dirty="0"/>
              <a:t>generate one answer row for each remaining group and each answer row has a rating column and a </a:t>
            </a:r>
            <a:r>
              <a:rPr lang="en-US" sz="2800" dirty="0" err="1"/>
              <a:t>minage</a:t>
            </a:r>
            <a:r>
              <a:rPr lang="en-US" sz="2800" dirty="0"/>
              <a:t> column, which is computed by applying MIN to the values in the age column of the corresponding group</a:t>
            </a:r>
          </a:p>
          <a:p>
            <a:endParaRPr lang="en-US" sz="2800" dirty="0"/>
          </a:p>
        </p:txBody>
      </p:sp>
      <p:sp>
        <p:nvSpPr>
          <p:cNvPr id="4" name="Slide Number Placeholder 3">
            <a:extLst>
              <a:ext uri="{FF2B5EF4-FFF2-40B4-BE49-F238E27FC236}">
                <a16:creationId xmlns:a16="http://schemas.microsoft.com/office/drawing/2014/main" id="{9AE9393A-1E14-40EC-304A-12EACE90713D}"/>
              </a:ext>
            </a:extLst>
          </p:cNvPr>
          <p:cNvSpPr>
            <a:spLocks noGrp="1"/>
          </p:cNvSpPr>
          <p:nvPr>
            <p:ph type="sldNum" sz="quarter" idx="12"/>
          </p:nvPr>
        </p:nvSpPr>
        <p:spPr/>
        <p:txBody>
          <a:bodyPr/>
          <a:lstStyle/>
          <a:p>
            <a:fld id="{B6F15528-21DE-4FAA-801E-634DDDAF4B2B}" type="slidenum">
              <a:rPr lang="en-US" smtClean="0"/>
              <a:pPr/>
              <a:t>73</a:t>
            </a:fld>
            <a:endParaRPr lang="en-US"/>
          </a:p>
        </p:txBody>
      </p:sp>
    </p:spTree>
    <p:extLst>
      <p:ext uri="{BB962C8B-B14F-4D97-AF65-F5344CB8AC3E}">
        <p14:creationId xmlns:p14="http://schemas.microsoft.com/office/powerpoint/2010/main" val="8569346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DE5C6-A347-F7A0-0A8F-49F4841EDD95}"/>
              </a:ext>
            </a:extLst>
          </p:cNvPr>
          <p:cNvSpPr>
            <a:spLocks noGrp="1"/>
          </p:cNvSpPr>
          <p:nvPr>
            <p:ph type="title"/>
          </p:nvPr>
        </p:nvSpPr>
        <p:spPr/>
        <p:txBody>
          <a:bodyPr>
            <a:noAutofit/>
          </a:bodyPr>
          <a:lstStyle/>
          <a:p>
            <a:r>
              <a:rPr lang="en-US" sz="3600" i="1" dirty="0"/>
              <a:t>For each red boat, find the number of reservations for this boat</a:t>
            </a:r>
          </a:p>
        </p:txBody>
      </p:sp>
      <p:sp>
        <p:nvSpPr>
          <p:cNvPr id="3" name="Content Placeholder 2">
            <a:extLst>
              <a:ext uri="{FF2B5EF4-FFF2-40B4-BE49-F238E27FC236}">
                <a16:creationId xmlns:a16="http://schemas.microsoft.com/office/drawing/2014/main" id="{8B81C1C1-13A1-ACA9-ECF8-3BE868F60BB9}"/>
              </a:ext>
            </a:extLst>
          </p:cNvPr>
          <p:cNvSpPr>
            <a:spLocks noGrp="1"/>
          </p:cNvSpPr>
          <p:nvPr>
            <p:ph idx="1"/>
          </p:nvPr>
        </p:nvSpPr>
        <p:spPr/>
        <p:txBody>
          <a:bodyPr>
            <a:normAutofit/>
          </a:bodyPr>
          <a:lstStyle/>
          <a:p>
            <a:r>
              <a:rPr lang="en-US" sz="2800" dirty="0"/>
              <a:t>SELECT </a:t>
            </a:r>
            <a:r>
              <a:rPr lang="en-US" sz="2800" dirty="0" err="1"/>
              <a:t>B.bid</a:t>
            </a:r>
            <a:r>
              <a:rPr lang="en-US" sz="2800" dirty="0"/>
              <a:t>, COUNT (*) AS </a:t>
            </a:r>
            <a:r>
              <a:rPr lang="en-US" sz="2800" dirty="0" err="1"/>
              <a:t>reservationcount</a:t>
            </a:r>
            <a:endParaRPr lang="en-US" sz="2800" dirty="0"/>
          </a:p>
          <a:p>
            <a:r>
              <a:rPr lang="en-US" sz="2800" dirty="0"/>
              <a:t>FROM Boats B, Reserves R</a:t>
            </a:r>
          </a:p>
          <a:p>
            <a:r>
              <a:rPr lang="en-US" sz="2800" dirty="0"/>
              <a:t>WHERE </a:t>
            </a:r>
            <a:r>
              <a:rPr lang="en-US" sz="2800" dirty="0" err="1"/>
              <a:t>R.bid</a:t>
            </a:r>
            <a:r>
              <a:rPr lang="en-US" sz="2800" dirty="0"/>
              <a:t> = </a:t>
            </a:r>
            <a:r>
              <a:rPr lang="en-US" sz="2800" dirty="0" err="1"/>
              <a:t>B.bid</a:t>
            </a:r>
            <a:r>
              <a:rPr lang="en-US" sz="2800" dirty="0"/>
              <a:t> AND </a:t>
            </a:r>
            <a:r>
              <a:rPr lang="en-US" sz="2800" dirty="0" err="1"/>
              <a:t>B.color</a:t>
            </a:r>
            <a:r>
              <a:rPr lang="en-US" sz="2800" dirty="0"/>
              <a:t> = 'red'</a:t>
            </a:r>
          </a:p>
          <a:p>
            <a:r>
              <a:rPr lang="en-US" sz="2800" dirty="0"/>
              <a:t>GROUP BY </a:t>
            </a:r>
            <a:r>
              <a:rPr lang="en-US" sz="2800" dirty="0" err="1"/>
              <a:t>B.bid</a:t>
            </a:r>
            <a:endParaRPr lang="en-US" sz="2800" dirty="0"/>
          </a:p>
          <a:p>
            <a:endParaRPr lang="en-US" sz="2800" dirty="0"/>
          </a:p>
        </p:txBody>
      </p:sp>
      <p:sp>
        <p:nvSpPr>
          <p:cNvPr id="4" name="Slide Number Placeholder 3">
            <a:extLst>
              <a:ext uri="{FF2B5EF4-FFF2-40B4-BE49-F238E27FC236}">
                <a16:creationId xmlns:a16="http://schemas.microsoft.com/office/drawing/2014/main" id="{BD931ACA-A8EC-4777-2A7B-791D837B0110}"/>
              </a:ext>
            </a:extLst>
          </p:cNvPr>
          <p:cNvSpPr>
            <a:spLocks noGrp="1"/>
          </p:cNvSpPr>
          <p:nvPr>
            <p:ph type="sldNum" sz="quarter" idx="12"/>
          </p:nvPr>
        </p:nvSpPr>
        <p:spPr/>
        <p:txBody>
          <a:bodyPr/>
          <a:lstStyle/>
          <a:p>
            <a:fld id="{B6F15528-21DE-4FAA-801E-634DDDAF4B2B}" type="slidenum">
              <a:rPr lang="en-US" smtClean="0"/>
              <a:pPr/>
              <a:t>74</a:t>
            </a:fld>
            <a:endParaRPr lang="en-US"/>
          </a:p>
        </p:txBody>
      </p:sp>
    </p:spTree>
    <p:extLst>
      <p:ext uri="{BB962C8B-B14F-4D97-AF65-F5344CB8AC3E}">
        <p14:creationId xmlns:p14="http://schemas.microsoft.com/office/powerpoint/2010/main" val="3817068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F3359-7695-32DD-B1AA-D786E9BF9E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D42DF-DB2E-B388-AF18-D9A6B39D6C33}"/>
              </a:ext>
            </a:extLst>
          </p:cNvPr>
          <p:cNvSpPr>
            <a:spLocks noGrp="1"/>
          </p:cNvSpPr>
          <p:nvPr>
            <p:ph type="title"/>
          </p:nvPr>
        </p:nvSpPr>
        <p:spPr>
          <a:xfrm>
            <a:off x="457200" y="274638"/>
            <a:ext cx="8686800" cy="1782762"/>
          </a:xfrm>
        </p:spPr>
        <p:txBody>
          <a:bodyPr>
            <a:noAutofit/>
          </a:bodyPr>
          <a:lstStyle/>
          <a:p>
            <a:r>
              <a:rPr lang="en-US" sz="3600" i="1" dirty="0"/>
              <a:t>Find the age of the youngest sailor who is eligible to vote (at least 18 years old) for each rating level with at least two such sailors</a:t>
            </a:r>
          </a:p>
        </p:txBody>
      </p:sp>
      <p:sp>
        <p:nvSpPr>
          <p:cNvPr id="3" name="Content Placeholder 2">
            <a:extLst>
              <a:ext uri="{FF2B5EF4-FFF2-40B4-BE49-F238E27FC236}">
                <a16:creationId xmlns:a16="http://schemas.microsoft.com/office/drawing/2014/main" id="{4A1E623D-F1E2-80AA-E2DA-BC50B989CEA0}"/>
              </a:ext>
            </a:extLst>
          </p:cNvPr>
          <p:cNvSpPr>
            <a:spLocks noGrp="1"/>
          </p:cNvSpPr>
          <p:nvPr>
            <p:ph idx="1"/>
          </p:nvPr>
        </p:nvSpPr>
        <p:spPr>
          <a:xfrm>
            <a:off x="457200" y="2362200"/>
            <a:ext cx="8229600" cy="3763963"/>
          </a:xfrm>
        </p:spPr>
        <p:txBody>
          <a:bodyPr>
            <a:normAutofit/>
          </a:bodyPr>
          <a:lstStyle/>
          <a:p>
            <a:r>
              <a:rPr lang="en-US" sz="2800" dirty="0"/>
              <a:t>SELECT </a:t>
            </a:r>
            <a:r>
              <a:rPr lang="en-US" sz="2800" dirty="0" err="1"/>
              <a:t>S.rating</a:t>
            </a:r>
            <a:r>
              <a:rPr lang="en-US" sz="2800" dirty="0"/>
              <a:t>, MIN (</a:t>
            </a:r>
            <a:r>
              <a:rPr lang="en-US" sz="2800" dirty="0" err="1"/>
              <a:t>S.age</a:t>
            </a:r>
            <a:r>
              <a:rPr lang="en-US" sz="2800" dirty="0"/>
              <a:t>) AS </a:t>
            </a:r>
            <a:r>
              <a:rPr lang="en-US" sz="2800" dirty="0" err="1"/>
              <a:t>minage</a:t>
            </a:r>
            <a:endParaRPr lang="en-US" sz="2800" dirty="0"/>
          </a:p>
          <a:p>
            <a:r>
              <a:rPr lang="en-US" sz="2800" dirty="0"/>
              <a:t>FROM Sailors S</a:t>
            </a:r>
          </a:p>
          <a:p>
            <a:r>
              <a:rPr lang="en-US" sz="2800" dirty="0"/>
              <a:t>WHERE </a:t>
            </a:r>
            <a:r>
              <a:rPr lang="en-US" sz="2800" dirty="0" err="1"/>
              <a:t>S.age</a:t>
            </a:r>
            <a:r>
              <a:rPr lang="en-US" sz="2800" dirty="0"/>
              <a:t> &gt;= 18</a:t>
            </a:r>
          </a:p>
          <a:p>
            <a:r>
              <a:rPr lang="en-US" sz="2800" dirty="0"/>
              <a:t>GROUP BY </a:t>
            </a:r>
            <a:r>
              <a:rPr lang="en-US" sz="2800" dirty="0" err="1"/>
              <a:t>S.rating</a:t>
            </a:r>
            <a:endParaRPr lang="en-US" sz="2800" dirty="0"/>
          </a:p>
          <a:p>
            <a:r>
              <a:rPr lang="en-US" sz="2800" dirty="0"/>
              <a:t>HAVING COUNT (*) &gt;= 2</a:t>
            </a:r>
          </a:p>
          <a:p>
            <a:endParaRPr lang="en-US" sz="2800" dirty="0"/>
          </a:p>
        </p:txBody>
      </p:sp>
      <p:sp>
        <p:nvSpPr>
          <p:cNvPr id="4" name="Slide Number Placeholder 3">
            <a:extLst>
              <a:ext uri="{FF2B5EF4-FFF2-40B4-BE49-F238E27FC236}">
                <a16:creationId xmlns:a16="http://schemas.microsoft.com/office/drawing/2014/main" id="{2C9EE3C2-5082-B31C-279C-464075C9C29B}"/>
              </a:ext>
            </a:extLst>
          </p:cNvPr>
          <p:cNvSpPr>
            <a:spLocks noGrp="1"/>
          </p:cNvSpPr>
          <p:nvPr>
            <p:ph type="sldNum" sz="quarter" idx="12"/>
          </p:nvPr>
        </p:nvSpPr>
        <p:spPr/>
        <p:txBody>
          <a:bodyPr/>
          <a:lstStyle/>
          <a:p>
            <a:fld id="{B6F15528-21DE-4FAA-801E-634DDDAF4B2B}" type="slidenum">
              <a:rPr lang="en-US" smtClean="0"/>
              <a:pPr/>
              <a:t>75</a:t>
            </a:fld>
            <a:endParaRPr lang="en-US"/>
          </a:p>
        </p:txBody>
      </p:sp>
    </p:spTree>
    <p:extLst>
      <p:ext uri="{BB962C8B-B14F-4D97-AF65-F5344CB8AC3E}">
        <p14:creationId xmlns:p14="http://schemas.microsoft.com/office/powerpoint/2010/main" val="403672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6FA3C-5AF0-2ECD-F1EF-3B4C790A8839}"/>
              </a:ext>
            </a:extLst>
          </p:cNvPr>
          <p:cNvSpPr>
            <a:spLocks noGrp="1"/>
          </p:cNvSpPr>
          <p:nvPr>
            <p:ph type="title"/>
          </p:nvPr>
        </p:nvSpPr>
        <p:spPr/>
        <p:txBody>
          <a:bodyPr>
            <a:noAutofit/>
          </a:bodyPr>
          <a:lstStyle/>
          <a:p>
            <a:r>
              <a:rPr lang="en-US" sz="3900" i="1" dirty="0"/>
              <a:t>Find the average age of sailors for each rating level that has at least two sailors</a:t>
            </a:r>
          </a:p>
        </p:txBody>
      </p:sp>
      <p:sp>
        <p:nvSpPr>
          <p:cNvPr id="3" name="Content Placeholder 2">
            <a:extLst>
              <a:ext uri="{FF2B5EF4-FFF2-40B4-BE49-F238E27FC236}">
                <a16:creationId xmlns:a16="http://schemas.microsoft.com/office/drawing/2014/main" id="{D6257249-3550-B358-C6CE-741B733AB46B}"/>
              </a:ext>
            </a:extLst>
          </p:cNvPr>
          <p:cNvSpPr>
            <a:spLocks noGrp="1"/>
          </p:cNvSpPr>
          <p:nvPr>
            <p:ph idx="1"/>
          </p:nvPr>
        </p:nvSpPr>
        <p:spPr/>
        <p:txBody>
          <a:bodyPr>
            <a:normAutofit/>
          </a:bodyPr>
          <a:lstStyle/>
          <a:p>
            <a:r>
              <a:rPr lang="en-US" sz="2800" dirty="0"/>
              <a:t>SELECT </a:t>
            </a:r>
            <a:r>
              <a:rPr lang="en-US" sz="2800" dirty="0" err="1"/>
              <a:t>S.rating</a:t>
            </a:r>
            <a:r>
              <a:rPr lang="en-US" sz="2800" dirty="0"/>
              <a:t>, AVG (</a:t>
            </a:r>
            <a:r>
              <a:rPr lang="en-US" sz="2800" dirty="0" err="1"/>
              <a:t>S.age</a:t>
            </a:r>
            <a:r>
              <a:rPr lang="en-US" sz="2800" dirty="0"/>
              <a:t>) AS </a:t>
            </a:r>
            <a:r>
              <a:rPr lang="en-US" sz="2800" dirty="0" err="1"/>
              <a:t>avgage</a:t>
            </a:r>
            <a:endParaRPr lang="en-US" sz="2800" dirty="0"/>
          </a:p>
          <a:p>
            <a:r>
              <a:rPr lang="en-US" sz="2800" dirty="0"/>
              <a:t>FROM Sailors S</a:t>
            </a:r>
          </a:p>
          <a:p>
            <a:r>
              <a:rPr lang="en-US" sz="2800" dirty="0"/>
              <a:t>GROUP BY </a:t>
            </a:r>
            <a:r>
              <a:rPr lang="en-US" sz="2800" dirty="0" err="1"/>
              <a:t>S.rating</a:t>
            </a:r>
            <a:endParaRPr lang="en-US" sz="2800" dirty="0"/>
          </a:p>
          <a:p>
            <a:r>
              <a:rPr lang="en-US" sz="2800" dirty="0"/>
              <a:t>HAVING COUNT (*) &gt;= 2</a:t>
            </a:r>
          </a:p>
          <a:p>
            <a:endParaRPr lang="en-US" sz="2800" dirty="0"/>
          </a:p>
        </p:txBody>
      </p:sp>
      <p:sp>
        <p:nvSpPr>
          <p:cNvPr id="4" name="Slide Number Placeholder 3">
            <a:extLst>
              <a:ext uri="{FF2B5EF4-FFF2-40B4-BE49-F238E27FC236}">
                <a16:creationId xmlns:a16="http://schemas.microsoft.com/office/drawing/2014/main" id="{90F85912-7B44-9A17-BEF7-44A687C28CFF}"/>
              </a:ext>
            </a:extLst>
          </p:cNvPr>
          <p:cNvSpPr>
            <a:spLocks noGrp="1"/>
          </p:cNvSpPr>
          <p:nvPr>
            <p:ph type="sldNum" sz="quarter" idx="12"/>
          </p:nvPr>
        </p:nvSpPr>
        <p:spPr/>
        <p:txBody>
          <a:bodyPr/>
          <a:lstStyle/>
          <a:p>
            <a:fld id="{B6F15528-21DE-4FAA-801E-634DDDAF4B2B}" type="slidenum">
              <a:rPr lang="en-US" smtClean="0"/>
              <a:pPr/>
              <a:t>76</a:t>
            </a:fld>
            <a:endParaRPr lang="en-US"/>
          </a:p>
        </p:txBody>
      </p:sp>
    </p:spTree>
    <p:extLst>
      <p:ext uri="{BB962C8B-B14F-4D97-AF65-F5344CB8AC3E}">
        <p14:creationId xmlns:p14="http://schemas.microsoft.com/office/powerpoint/2010/main" val="15275890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7DC2E-731E-6B98-995D-DD8AFEE26722}"/>
              </a:ext>
            </a:extLst>
          </p:cNvPr>
          <p:cNvSpPr>
            <a:spLocks noGrp="1"/>
          </p:cNvSpPr>
          <p:nvPr>
            <p:ph type="title"/>
          </p:nvPr>
        </p:nvSpPr>
        <p:spPr>
          <a:xfrm>
            <a:off x="457200" y="274637"/>
            <a:ext cx="8229600" cy="2009775"/>
          </a:xfrm>
        </p:spPr>
        <p:txBody>
          <a:bodyPr>
            <a:noAutofit/>
          </a:bodyPr>
          <a:lstStyle/>
          <a:p>
            <a:r>
              <a:rPr lang="en-US" sz="3700" i="1" dirty="0"/>
              <a:t>Find the average age of sailors who are of voting age (i.e. at least 18 year8 old) for each rating level that has at least two sailors</a:t>
            </a:r>
          </a:p>
        </p:txBody>
      </p:sp>
      <p:sp>
        <p:nvSpPr>
          <p:cNvPr id="3" name="Content Placeholder 2">
            <a:extLst>
              <a:ext uri="{FF2B5EF4-FFF2-40B4-BE49-F238E27FC236}">
                <a16:creationId xmlns:a16="http://schemas.microsoft.com/office/drawing/2014/main" id="{54A0F493-29C3-DE1F-44EC-3031C09C1964}"/>
              </a:ext>
            </a:extLst>
          </p:cNvPr>
          <p:cNvSpPr>
            <a:spLocks noGrp="1"/>
          </p:cNvSpPr>
          <p:nvPr>
            <p:ph idx="1"/>
          </p:nvPr>
        </p:nvSpPr>
        <p:spPr>
          <a:xfrm>
            <a:off x="457200" y="2514600"/>
            <a:ext cx="8229600" cy="3611563"/>
          </a:xfrm>
        </p:spPr>
        <p:txBody>
          <a:bodyPr>
            <a:normAutofit fontScale="92500" lnSpcReduction="10000"/>
          </a:bodyPr>
          <a:lstStyle/>
          <a:p>
            <a:r>
              <a:rPr lang="en-US" dirty="0"/>
              <a:t>SELECT </a:t>
            </a:r>
            <a:r>
              <a:rPr lang="en-US" dirty="0" err="1"/>
              <a:t>S.rating</a:t>
            </a:r>
            <a:r>
              <a:rPr lang="en-US" dirty="0"/>
              <a:t>, AVG ( </a:t>
            </a:r>
            <a:r>
              <a:rPr lang="en-US" dirty="0" err="1"/>
              <a:t>S.age</a:t>
            </a:r>
            <a:r>
              <a:rPr lang="en-US" dirty="0"/>
              <a:t> ) AS </a:t>
            </a:r>
            <a:r>
              <a:rPr lang="en-US" dirty="0" err="1"/>
              <a:t>avgage</a:t>
            </a:r>
            <a:endParaRPr lang="en-US" dirty="0"/>
          </a:p>
          <a:p>
            <a:r>
              <a:rPr lang="en-US" dirty="0"/>
              <a:t>FROM Sailors S</a:t>
            </a:r>
          </a:p>
          <a:p>
            <a:r>
              <a:rPr lang="en-US" dirty="0"/>
              <a:t>WHERE S. age &gt;= 18</a:t>
            </a:r>
          </a:p>
          <a:p>
            <a:r>
              <a:rPr lang="en-US" dirty="0"/>
              <a:t>GROUP BY </a:t>
            </a:r>
            <a:r>
              <a:rPr lang="en-US" dirty="0" err="1"/>
              <a:t>S.rating</a:t>
            </a:r>
            <a:endParaRPr lang="en-US" dirty="0"/>
          </a:p>
          <a:p>
            <a:r>
              <a:rPr lang="en-US" dirty="0"/>
              <a:t>HAVING 2 &lt;= ( SELECT COUNT (*)</a:t>
            </a:r>
          </a:p>
          <a:p>
            <a:r>
              <a:rPr lang="en-US" dirty="0"/>
              <a:t> 	FROM Sailors S2</a:t>
            </a:r>
          </a:p>
          <a:p>
            <a:r>
              <a:rPr lang="en-US" dirty="0"/>
              <a:t> 	WHERE </a:t>
            </a:r>
            <a:r>
              <a:rPr lang="en-US" dirty="0" err="1"/>
              <a:t>S.rating</a:t>
            </a:r>
            <a:r>
              <a:rPr lang="en-US" dirty="0"/>
              <a:t> = S2.rating )</a:t>
            </a:r>
          </a:p>
          <a:p>
            <a:endParaRPr lang="en-US" dirty="0"/>
          </a:p>
        </p:txBody>
      </p:sp>
      <p:sp>
        <p:nvSpPr>
          <p:cNvPr id="4" name="Slide Number Placeholder 3">
            <a:extLst>
              <a:ext uri="{FF2B5EF4-FFF2-40B4-BE49-F238E27FC236}">
                <a16:creationId xmlns:a16="http://schemas.microsoft.com/office/drawing/2014/main" id="{F1F71210-20AD-2555-4605-89311D8E156C}"/>
              </a:ext>
            </a:extLst>
          </p:cNvPr>
          <p:cNvSpPr>
            <a:spLocks noGrp="1"/>
          </p:cNvSpPr>
          <p:nvPr>
            <p:ph type="sldNum" sz="quarter" idx="12"/>
          </p:nvPr>
        </p:nvSpPr>
        <p:spPr/>
        <p:txBody>
          <a:bodyPr/>
          <a:lstStyle/>
          <a:p>
            <a:fld id="{B6F15528-21DE-4FAA-801E-634DDDAF4B2B}" type="slidenum">
              <a:rPr lang="en-US" smtClean="0"/>
              <a:pPr/>
              <a:t>77</a:t>
            </a:fld>
            <a:endParaRPr lang="en-US"/>
          </a:p>
        </p:txBody>
      </p:sp>
    </p:spTree>
    <p:extLst>
      <p:ext uri="{BB962C8B-B14F-4D97-AF65-F5344CB8AC3E}">
        <p14:creationId xmlns:p14="http://schemas.microsoft.com/office/powerpoint/2010/main" val="36777248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9F959-AED5-CFC7-A10F-D88443C75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F295C0-D6AD-AE32-F2EE-2148C87802D3}"/>
              </a:ext>
            </a:extLst>
          </p:cNvPr>
          <p:cNvSpPr>
            <a:spLocks noGrp="1"/>
          </p:cNvSpPr>
          <p:nvPr>
            <p:ph type="title"/>
          </p:nvPr>
        </p:nvSpPr>
        <p:spPr>
          <a:xfrm>
            <a:off x="457200" y="274637"/>
            <a:ext cx="8229600" cy="2009775"/>
          </a:xfrm>
        </p:spPr>
        <p:txBody>
          <a:bodyPr>
            <a:noAutofit/>
          </a:bodyPr>
          <a:lstStyle/>
          <a:p>
            <a:r>
              <a:rPr lang="en-US" sz="3700" i="1" dirty="0"/>
              <a:t>Find the average age of sailors who are of voting age (i.e., at least 18 years old) for each rating level that has at least two such sailors</a:t>
            </a:r>
          </a:p>
        </p:txBody>
      </p:sp>
      <p:sp>
        <p:nvSpPr>
          <p:cNvPr id="3" name="Content Placeholder 2">
            <a:extLst>
              <a:ext uri="{FF2B5EF4-FFF2-40B4-BE49-F238E27FC236}">
                <a16:creationId xmlns:a16="http://schemas.microsoft.com/office/drawing/2014/main" id="{9963DC77-F717-4050-1718-FA1E472CC94E}"/>
              </a:ext>
            </a:extLst>
          </p:cNvPr>
          <p:cNvSpPr>
            <a:spLocks noGrp="1"/>
          </p:cNvSpPr>
          <p:nvPr>
            <p:ph idx="1"/>
          </p:nvPr>
        </p:nvSpPr>
        <p:spPr>
          <a:xfrm>
            <a:off x="457200" y="2514600"/>
            <a:ext cx="8229600" cy="3611563"/>
          </a:xfrm>
        </p:spPr>
        <p:txBody>
          <a:bodyPr>
            <a:normAutofit/>
          </a:bodyPr>
          <a:lstStyle/>
          <a:p>
            <a:r>
              <a:rPr lang="en-US" sz="2800" dirty="0"/>
              <a:t>SELECT </a:t>
            </a:r>
            <a:r>
              <a:rPr lang="en-US" sz="2800" dirty="0" err="1"/>
              <a:t>S.rating</a:t>
            </a:r>
            <a:r>
              <a:rPr lang="en-US" sz="2800" dirty="0"/>
              <a:t>, AVG ( </a:t>
            </a:r>
            <a:r>
              <a:rPr lang="en-US" sz="2800" dirty="0" err="1"/>
              <a:t>S.age</a:t>
            </a:r>
            <a:r>
              <a:rPr lang="en-US" sz="2800" dirty="0"/>
              <a:t> ) AS </a:t>
            </a:r>
            <a:r>
              <a:rPr lang="en-US" sz="2800" dirty="0" err="1"/>
              <a:t>avgage</a:t>
            </a:r>
            <a:endParaRPr lang="en-US" sz="2800" dirty="0"/>
          </a:p>
          <a:p>
            <a:r>
              <a:rPr lang="en-US" sz="2800" dirty="0"/>
              <a:t>FROM Sailors S</a:t>
            </a:r>
          </a:p>
          <a:p>
            <a:r>
              <a:rPr lang="en-US" sz="2800" dirty="0"/>
              <a:t>WHERE S. age&gt; 18</a:t>
            </a:r>
          </a:p>
          <a:p>
            <a:r>
              <a:rPr lang="en-US" sz="2800" dirty="0"/>
              <a:t>GROUP BY </a:t>
            </a:r>
            <a:r>
              <a:rPr lang="en-US" sz="2800" dirty="0" err="1"/>
              <a:t>S.rating</a:t>
            </a:r>
            <a:endParaRPr lang="en-US" sz="2800" dirty="0"/>
          </a:p>
          <a:p>
            <a:r>
              <a:rPr lang="en-US" sz="2800" dirty="0"/>
              <a:t>HAVING 2 &lt; ( SELECT COUNT (*)</a:t>
            </a:r>
          </a:p>
          <a:p>
            <a:r>
              <a:rPr lang="en-US" sz="2800" dirty="0"/>
              <a:t> 	FROM Sailors S2</a:t>
            </a:r>
          </a:p>
          <a:p>
            <a:endParaRPr lang="en-US" sz="2800" dirty="0"/>
          </a:p>
        </p:txBody>
      </p:sp>
      <p:sp>
        <p:nvSpPr>
          <p:cNvPr id="4" name="Slide Number Placeholder 3">
            <a:extLst>
              <a:ext uri="{FF2B5EF4-FFF2-40B4-BE49-F238E27FC236}">
                <a16:creationId xmlns:a16="http://schemas.microsoft.com/office/drawing/2014/main" id="{3D133DC2-107D-F9BA-1E73-B1D34B742E82}"/>
              </a:ext>
            </a:extLst>
          </p:cNvPr>
          <p:cNvSpPr>
            <a:spLocks noGrp="1"/>
          </p:cNvSpPr>
          <p:nvPr>
            <p:ph type="sldNum" sz="quarter" idx="12"/>
          </p:nvPr>
        </p:nvSpPr>
        <p:spPr/>
        <p:txBody>
          <a:bodyPr/>
          <a:lstStyle/>
          <a:p>
            <a:fld id="{B6F15528-21DE-4FAA-801E-634DDDAF4B2B}" type="slidenum">
              <a:rPr lang="en-US" smtClean="0"/>
              <a:pPr/>
              <a:t>78</a:t>
            </a:fld>
            <a:endParaRPr lang="en-US"/>
          </a:p>
        </p:txBody>
      </p:sp>
    </p:spTree>
    <p:extLst>
      <p:ext uri="{BB962C8B-B14F-4D97-AF65-F5344CB8AC3E}">
        <p14:creationId xmlns:p14="http://schemas.microsoft.com/office/powerpoint/2010/main" val="47814758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35432-9FC2-EC19-B91F-51A1839EFFAC}"/>
              </a:ext>
            </a:extLst>
          </p:cNvPr>
          <p:cNvSpPr>
            <a:spLocks noGrp="1"/>
          </p:cNvSpPr>
          <p:nvPr>
            <p:ph type="title"/>
          </p:nvPr>
        </p:nvSpPr>
        <p:spPr/>
        <p:txBody>
          <a:bodyPr>
            <a:normAutofit/>
          </a:bodyPr>
          <a:lstStyle/>
          <a:p>
            <a:r>
              <a:rPr lang="en-US" b="1" dirty="0"/>
              <a:t>NULL Values</a:t>
            </a:r>
            <a:endParaRPr lang="en-US" dirty="0"/>
          </a:p>
        </p:txBody>
      </p:sp>
      <p:sp>
        <p:nvSpPr>
          <p:cNvPr id="3" name="Content Placeholder 2">
            <a:extLst>
              <a:ext uri="{FF2B5EF4-FFF2-40B4-BE49-F238E27FC236}">
                <a16:creationId xmlns:a16="http://schemas.microsoft.com/office/drawing/2014/main" id="{49E8469E-0A38-5BC2-1CCE-7C0E632B86DD}"/>
              </a:ext>
            </a:extLst>
          </p:cNvPr>
          <p:cNvSpPr>
            <a:spLocks noGrp="1"/>
          </p:cNvSpPr>
          <p:nvPr>
            <p:ph idx="1"/>
          </p:nvPr>
        </p:nvSpPr>
        <p:spPr/>
        <p:txBody>
          <a:bodyPr>
            <a:normAutofit/>
          </a:bodyPr>
          <a:lstStyle/>
          <a:p>
            <a:r>
              <a:rPr lang="en-US" i="1" dirty="0"/>
              <a:t>column values can be unknown …</a:t>
            </a:r>
          </a:p>
        </p:txBody>
      </p:sp>
      <p:sp>
        <p:nvSpPr>
          <p:cNvPr id="4" name="Slide Number Placeholder 3">
            <a:extLst>
              <a:ext uri="{FF2B5EF4-FFF2-40B4-BE49-F238E27FC236}">
                <a16:creationId xmlns:a16="http://schemas.microsoft.com/office/drawing/2014/main" id="{2B11DAE2-F360-FAF1-DF9F-5C4624F0236B}"/>
              </a:ext>
            </a:extLst>
          </p:cNvPr>
          <p:cNvSpPr>
            <a:spLocks noGrp="1"/>
          </p:cNvSpPr>
          <p:nvPr>
            <p:ph type="sldNum" sz="quarter" idx="12"/>
          </p:nvPr>
        </p:nvSpPr>
        <p:spPr/>
        <p:txBody>
          <a:bodyPr/>
          <a:lstStyle/>
          <a:p>
            <a:fld id="{B6F15528-21DE-4FAA-801E-634DDDAF4B2B}" type="slidenum">
              <a:rPr lang="en-US" smtClean="0"/>
              <a:pPr/>
              <a:t>79</a:t>
            </a:fld>
            <a:endParaRPr lang="en-US"/>
          </a:p>
        </p:txBody>
      </p:sp>
    </p:spTree>
    <p:extLst>
      <p:ext uri="{BB962C8B-B14F-4D97-AF65-F5344CB8AC3E}">
        <p14:creationId xmlns:p14="http://schemas.microsoft.com/office/powerpoint/2010/main" val="36046018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17D92-448A-3BD8-FB09-DE32D3022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5D7BF1-2674-0206-4A9E-D5CC0AA663D2}"/>
              </a:ext>
            </a:extLst>
          </p:cNvPr>
          <p:cNvSpPr>
            <a:spLocks noGrp="1"/>
          </p:cNvSpPr>
          <p:nvPr>
            <p:ph type="title"/>
          </p:nvPr>
        </p:nvSpPr>
        <p:spPr/>
        <p:txBody>
          <a:bodyPr>
            <a:normAutofit/>
          </a:bodyPr>
          <a:lstStyle/>
          <a:p>
            <a:r>
              <a:rPr lang="en-US" b="1" dirty="0"/>
              <a:t>NULL Values</a:t>
            </a:r>
            <a:endParaRPr lang="en-US" dirty="0"/>
          </a:p>
        </p:txBody>
      </p:sp>
      <p:sp>
        <p:nvSpPr>
          <p:cNvPr id="3" name="Content Placeholder 2">
            <a:extLst>
              <a:ext uri="{FF2B5EF4-FFF2-40B4-BE49-F238E27FC236}">
                <a16:creationId xmlns:a16="http://schemas.microsoft.com/office/drawing/2014/main" id="{52481860-0841-3FEE-C565-955D5FE032EC}"/>
              </a:ext>
            </a:extLst>
          </p:cNvPr>
          <p:cNvSpPr>
            <a:spLocks noGrp="1"/>
          </p:cNvSpPr>
          <p:nvPr>
            <p:ph idx="1"/>
          </p:nvPr>
        </p:nvSpPr>
        <p:spPr/>
        <p:txBody>
          <a:bodyPr>
            <a:normAutofit lnSpcReduction="10000"/>
          </a:bodyPr>
          <a:lstStyle/>
          <a:p>
            <a:r>
              <a:rPr lang="en-US" sz="2800" dirty="0"/>
              <a:t>for example, when a new sailor joins a club, she/he may not yet have a rating assigned; since the definition for Sailors table has a rating column, what value should be inserted in the row</a:t>
            </a:r>
          </a:p>
          <a:p>
            <a:r>
              <a:rPr lang="en-US" sz="2800" dirty="0"/>
              <a:t>needed here is a special value that denotes </a:t>
            </a:r>
            <a:r>
              <a:rPr lang="en-US" sz="2800" b="1" dirty="0"/>
              <a:t>unknown</a:t>
            </a:r>
          </a:p>
          <a:p>
            <a:r>
              <a:rPr lang="en-US" sz="2800" dirty="0"/>
              <a:t>if the Sailor table definition modified to include a maiden-name column, only married women who take their husband's last name have a maiden name</a:t>
            </a:r>
          </a:p>
          <a:p>
            <a:r>
              <a:rPr lang="en-US" sz="2800" dirty="0"/>
              <a:t>for women who do not take their husband's name and for men, maiden-name column is </a:t>
            </a:r>
            <a:r>
              <a:rPr lang="en-US" sz="2800" b="1" dirty="0"/>
              <a:t>inapplicable</a:t>
            </a:r>
          </a:p>
        </p:txBody>
      </p:sp>
      <p:sp>
        <p:nvSpPr>
          <p:cNvPr id="4" name="Slide Number Placeholder 3">
            <a:extLst>
              <a:ext uri="{FF2B5EF4-FFF2-40B4-BE49-F238E27FC236}">
                <a16:creationId xmlns:a16="http://schemas.microsoft.com/office/drawing/2014/main" id="{3B9AAB84-0F3A-9D18-754D-84B081FCA5FD}"/>
              </a:ext>
            </a:extLst>
          </p:cNvPr>
          <p:cNvSpPr>
            <a:spLocks noGrp="1"/>
          </p:cNvSpPr>
          <p:nvPr>
            <p:ph type="sldNum" sz="quarter" idx="12"/>
          </p:nvPr>
        </p:nvSpPr>
        <p:spPr/>
        <p:txBody>
          <a:bodyPr/>
          <a:lstStyle/>
          <a:p>
            <a:fld id="{B6F15528-21DE-4FAA-801E-634DDDAF4B2B}" type="slidenum">
              <a:rPr lang="en-US" smtClean="0"/>
              <a:pPr/>
              <a:t>80</a:t>
            </a:fld>
            <a:endParaRPr lang="en-US"/>
          </a:p>
        </p:txBody>
      </p:sp>
    </p:spTree>
    <p:extLst>
      <p:ext uri="{BB962C8B-B14F-4D97-AF65-F5344CB8AC3E}">
        <p14:creationId xmlns:p14="http://schemas.microsoft.com/office/powerpoint/2010/main" val="30536495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37CD3-4048-D6A9-A8E3-A476D0E97C98}"/>
              </a:ext>
            </a:extLst>
          </p:cNvPr>
          <p:cNvSpPr>
            <a:spLocks noGrp="1"/>
          </p:cNvSpPr>
          <p:nvPr>
            <p:ph type="title"/>
          </p:nvPr>
        </p:nvSpPr>
        <p:spPr/>
        <p:txBody>
          <a:bodyPr/>
          <a:lstStyle/>
          <a:p>
            <a:r>
              <a:rPr lang="en-US" b="1" dirty="0"/>
              <a:t>NULL Values</a:t>
            </a:r>
            <a:endParaRPr lang="en-US" dirty="0"/>
          </a:p>
        </p:txBody>
      </p:sp>
      <p:sp>
        <p:nvSpPr>
          <p:cNvPr id="3" name="Content Placeholder 2">
            <a:extLst>
              <a:ext uri="{FF2B5EF4-FFF2-40B4-BE49-F238E27FC236}">
                <a16:creationId xmlns:a16="http://schemas.microsoft.com/office/drawing/2014/main" id="{2776E415-496C-B79E-83D7-4D4817599734}"/>
              </a:ext>
            </a:extLst>
          </p:cNvPr>
          <p:cNvSpPr>
            <a:spLocks noGrp="1"/>
          </p:cNvSpPr>
          <p:nvPr>
            <p:ph idx="1"/>
          </p:nvPr>
        </p:nvSpPr>
        <p:spPr/>
        <p:txBody>
          <a:bodyPr>
            <a:normAutofit/>
          </a:bodyPr>
          <a:lstStyle/>
          <a:p>
            <a:r>
              <a:rPr lang="en-US" sz="2800" dirty="0"/>
              <a:t>SQL provides a special column value called null to use in such situations</a:t>
            </a:r>
          </a:p>
          <a:p>
            <a:r>
              <a:rPr lang="en-US" sz="2800" dirty="0"/>
              <a:t>use null when column value is either unknown or inapplicable</a:t>
            </a:r>
          </a:p>
          <a:p>
            <a:r>
              <a:rPr lang="en-US" sz="2800" dirty="0"/>
              <a:t>might enter in Sailor table the row (98, Calin, null, 55) to represent a new sailor</a:t>
            </a:r>
          </a:p>
        </p:txBody>
      </p:sp>
      <p:sp>
        <p:nvSpPr>
          <p:cNvPr id="4" name="Slide Number Placeholder 3">
            <a:extLst>
              <a:ext uri="{FF2B5EF4-FFF2-40B4-BE49-F238E27FC236}">
                <a16:creationId xmlns:a16="http://schemas.microsoft.com/office/drawing/2014/main" id="{8A93126B-FFAA-7D30-292D-2904E889491C}"/>
              </a:ext>
            </a:extLst>
          </p:cNvPr>
          <p:cNvSpPr>
            <a:spLocks noGrp="1"/>
          </p:cNvSpPr>
          <p:nvPr>
            <p:ph type="sldNum" sz="quarter" idx="12"/>
          </p:nvPr>
        </p:nvSpPr>
        <p:spPr/>
        <p:txBody>
          <a:bodyPr/>
          <a:lstStyle/>
          <a:p>
            <a:fld id="{B6F15528-21DE-4FAA-801E-634DDDAF4B2B}" type="slidenum">
              <a:rPr lang="en-US" smtClean="0"/>
              <a:pPr/>
              <a:t>81</a:t>
            </a:fld>
            <a:endParaRPr lang="en-US"/>
          </a:p>
        </p:txBody>
      </p:sp>
    </p:spTree>
    <p:extLst>
      <p:ext uri="{BB962C8B-B14F-4D97-AF65-F5344CB8AC3E}">
        <p14:creationId xmlns:p14="http://schemas.microsoft.com/office/powerpoint/2010/main" val="37932793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C4A0A-CCC8-72D7-7EA2-C2731323828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EFEA26-C3E6-19C2-B53E-3E7D6AF75C57}"/>
              </a:ext>
            </a:extLst>
          </p:cNvPr>
          <p:cNvSpPr>
            <a:spLocks noGrp="1"/>
          </p:cNvSpPr>
          <p:nvPr>
            <p:ph idx="1"/>
          </p:nvPr>
        </p:nvSpPr>
        <p:spPr/>
        <p:txBody>
          <a:bodyPr/>
          <a:lstStyle/>
          <a:p>
            <a:r>
              <a:rPr lang="en-US" sz="3000" dirty="0"/>
              <a:t>null is null</a:t>
            </a:r>
          </a:p>
          <a:p>
            <a:r>
              <a:rPr lang="en-US" sz="3000" dirty="0"/>
              <a:t>number, character strings, calendar date and time could be null</a:t>
            </a:r>
          </a:p>
          <a:p>
            <a:endParaRPr lang="en-US" dirty="0"/>
          </a:p>
          <a:p>
            <a:r>
              <a:rPr lang="en-US" sz="3000" dirty="0"/>
              <a:t>presence of null values complicates many issues</a:t>
            </a:r>
          </a:p>
          <a:p>
            <a:endParaRPr lang="en-US" dirty="0"/>
          </a:p>
        </p:txBody>
      </p:sp>
      <p:sp>
        <p:nvSpPr>
          <p:cNvPr id="4" name="Slide Number Placeholder 3">
            <a:extLst>
              <a:ext uri="{FF2B5EF4-FFF2-40B4-BE49-F238E27FC236}">
                <a16:creationId xmlns:a16="http://schemas.microsoft.com/office/drawing/2014/main" id="{4E7D554D-81B7-8AE7-52AE-9779EF2C9F5B}"/>
              </a:ext>
            </a:extLst>
          </p:cNvPr>
          <p:cNvSpPr>
            <a:spLocks noGrp="1"/>
          </p:cNvSpPr>
          <p:nvPr>
            <p:ph type="sldNum" sz="quarter" idx="12"/>
          </p:nvPr>
        </p:nvSpPr>
        <p:spPr/>
        <p:txBody>
          <a:bodyPr/>
          <a:lstStyle/>
          <a:p>
            <a:fld id="{B6F15528-21DE-4FAA-801E-634DDDAF4B2B}" type="slidenum">
              <a:rPr lang="en-US" smtClean="0"/>
              <a:pPr/>
              <a:t>82</a:t>
            </a:fld>
            <a:endParaRPr lang="en-US"/>
          </a:p>
        </p:txBody>
      </p:sp>
    </p:spTree>
    <p:extLst>
      <p:ext uri="{BB962C8B-B14F-4D97-AF65-F5344CB8AC3E}">
        <p14:creationId xmlns:p14="http://schemas.microsoft.com/office/powerpoint/2010/main" val="7084718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BF5F1-A0B0-29B1-4BFF-1D0D9ED724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90F93D2-1CB7-4B72-7787-B50ACDEAEB94}"/>
              </a:ext>
            </a:extLst>
          </p:cNvPr>
          <p:cNvSpPr>
            <a:spLocks noGrp="1"/>
          </p:cNvSpPr>
          <p:nvPr>
            <p:ph idx="1"/>
          </p:nvPr>
        </p:nvSpPr>
        <p:spPr/>
        <p:txBody>
          <a:bodyPr>
            <a:noAutofit/>
          </a:bodyPr>
          <a:lstStyle/>
          <a:p>
            <a:r>
              <a:rPr lang="en-US" sz="2800" dirty="0"/>
              <a:t>reasonable to say that comparison between values and null should be evaluated to value unknown, null</a:t>
            </a:r>
          </a:p>
          <a:p>
            <a:r>
              <a:rPr lang="en-US" sz="2800" dirty="0"/>
              <a:t>SQL provides a special comparison operator IS NULL to test whether a column value is null;</a:t>
            </a:r>
          </a:p>
          <a:p>
            <a:r>
              <a:rPr lang="en-US" sz="2800" dirty="0"/>
              <a:t>must define the logical operators AND, OR, and NOT using a three-valued logic in which expressions evaluate to true, false, or unknown null</a:t>
            </a:r>
          </a:p>
        </p:txBody>
      </p:sp>
      <p:sp>
        <p:nvSpPr>
          <p:cNvPr id="4" name="Slide Number Placeholder 3">
            <a:extLst>
              <a:ext uri="{FF2B5EF4-FFF2-40B4-BE49-F238E27FC236}">
                <a16:creationId xmlns:a16="http://schemas.microsoft.com/office/drawing/2014/main" id="{6951C519-2D6C-6FEB-E221-CA29E66A9C91}"/>
              </a:ext>
            </a:extLst>
          </p:cNvPr>
          <p:cNvSpPr>
            <a:spLocks noGrp="1"/>
          </p:cNvSpPr>
          <p:nvPr>
            <p:ph type="sldNum" sz="quarter" idx="12"/>
          </p:nvPr>
        </p:nvSpPr>
        <p:spPr/>
        <p:txBody>
          <a:bodyPr/>
          <a:lstStyle/>
          <a:p>
            <a:fld id="{B6F15528-21DE-4FAA-801E-634DDDAF4B2B}" type="slidenum">
              <a:rPr lang="en-US" smtClean="0"/>
              <a:pPr/>
              <a:t>83</a:t>
            </a:fld>
            <a:endParaRPr lang="en-US"/>
          </a:p>
        </p:txBody>
      </p:sp>
    </p:spTree>
    <p:extLst>
      <p:ext uri="{BB962C8B-B14F-4D97-AF65-F5344CB8AC3E}">
        <p14:creationId xmlns:p14="http://schemas.microsoft.com/office/powerpoint/2010/main" val="15153830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14E8B-3433-8962-BDA6-A8FF79ACC5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88784F1-E29C-1BE2-5802-5679E8B02D0A}"/>
              </a:ext>
            </a:extLst>
          </p:cNvPr>
          <p:cNvSpPr>
            <a:spLocks noGrp="1"/>
          </p:cNvSpPr>
          <p:nvPr>
            <p:ph idx="1"/>
          </p:nvPr>
        </p:nvSpPr>
        <p:spPr>
          <a:xfrm>
            <a:off x="457200" y="1600200"/>
            <a:ext cx="8686800" cy="4525963"/>
          </a:xfrm>
        </p:spPr>
        <p:txBody>
          <a:bodyPr>
            <a:noAutofit/>
          </a:bodyPr>
          <a:lstStyle/>
          <a:p>
            <a:r>
              <a:rPr lang="en-US" sz="2800" dirty="0"/>
              <a:t>eliminating rows that evaluate to unknown null have a subtle but significant impact on queries, especially nested queries involving EXISTS</a:t>
            </a:r>
          </a:p>
          <a:p>
            <a:r>
              <a:rPr lang="en-US" sz="2800" dirty="0"/>
              <a:t>definition of when two rows in a relation instance are regarded as duplicates: two rows are duplicates if corresponding columns are either equal, or both contain null</a:t>
            </a:r>
          </a:p>
          <a:p>
            <a:pPr lvl="1"/>
            <a:r>
              <a:rPr lang="en-US" sz="2700" dirty="0"/>
              <a:t>contradicting definition with the fact that if we compare two null values using =, the result is unknown</a:t>
            </a:r>
          </a:p>
          <a:p>
            <a:endParaRPr lang="en-US" sz="2800" dirty="0"/>
          </a:p>
          <a:p>
            <a:endParaRPr lang="en-US" sz="2800" dirty="0"/>
          </a:p>
        </p:txBody>
      </p:sp>
      <p:sp>
        <p:nvSpPr>
          <p:cNvPr id="4" name="Slide Number Placeholder 3">
            <a:extLst>
              <a:ext uri="{FF2B5EF4-FFF2-40B4-BE49-F238E27FC236}">
                <a16:creationId xmlns:a16="http://schemas.microsoft.com/office/drawing/2014/main" id="{24639154-FEB2-DF10-9C26-EA44A1108FF5}"/>
              </a:ext>
            </a:extLst>
          </p:cNvPr>
          <p:cNvSpPr>
            <a:spLocks noGrp="1"/>
          </p:cNvSpPr>
          <p:nvPr>
            <p:ph type="sldNum" sz="quarter" idx="12"/>
          </p:nvPr>
        </p:nvSpPr>
        <p:spPr/>
        <p:txBody>
          <a:bodyPr/>
          <a:lstStyle/>
          <a:p>
            <a:fld id="{B6F15528-21DE-4FAA-801E-634DDDAF4B2B}" type="slidenum">
              <a:rPr lang="en-US" smtClean="0"/>
              <a:pPr/>
              <a:t>84</a:t>
            </a:fld>
            <a:endParaRPr lang="en-US"/>
          </a:p>
        </p:txBody>
      </p:sp>
    </p:spTree>
    <p:extLst>
      <p:ext uri="{BB962C8B-B14F-4D97-AF65-F5344CB8AC3E}">
        <p14:creationId xmlns:p14="http://schemas.microsoft.com/office/powerpoint/2010/main" val="364806291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13EF6-D066-508E-E9DE-DB483934355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CA1A74B-E1AC-1096-DB44-CD235D595386}"/>
              </a:ext>
            </a:extLst>
          </p:cNvPr>
          <p:cNvSpPr>
            <a:spLocks noGrp="1"/>
          </p:cNvSpPr>
          <p:nvPr>
            <p:ph idx="1"/>
          </p:nvPr>
        </p:nvSpPr>
        <p:spPr/>
        <p:txBody>
          <a:bodyPr>
            <a:normAutofit/>
          </a:bodyPr>
          <a:lstStyle/>
          <a:p>
            <a:r>
              <a:rPr lang="en-US" sz="2800" dirty="0"/>
              <a:t>arithmetic operations +, -, *, and / all return null if one of their arguments is null</a:t>
            </a:r>
          </a:p>
          <a:p>
            <a:r>
              <a:rPr lang="en-US" sz="2800" dirty="0"/>
              <a:t>nulls can cause some unexpected behavior with aggregate operations</a:t>
            </a:r>
          </a:p>
          <a:p>
            <a:pPr lvl="1"/>
            <a:r>
              <a:rPr lang="en-US" sz="2700" dirty="0"/>
              <a:t>COUNT(*) handles null values just like other values; that is, they get counted</a:t>
            </a:r>
          </a:p>
          <a:p>
            <a:pPr lvl="1"/>
            <a:r>
              <a:rPr lang="en-US" sz="2700" dirty="0"/>
              <a:t>all the other aggregate operations (COUNT, SUM, AVG, MIN, MAX, and variations using DISTINCT) simply discard null values</a:t>
            </a:r>
          </a:p>
        </p:txBody>
      </p:sp>
      <p:sp>
        <p:nvSpPr>
          <p:cNvPr id="4" name="Slide Number Placeholder 3">
            <a:extLst>
              <a:ext uri="{FF2B5EF4-FFF2-40B4-BE49-F238E27FC236}">
                <a16:creationId xmlns:a16="http://schemas.microsoft.com/office/drawing/2014/main" id="{B2EB74CF-6DD1-3E27-0743-E4CA94EC9DC8}"/>
              </a:ext>
            </a:extLst>
          </p:cNvPr>
          <p:cNvSpPr>
            <a:spLocks noGrp="1"/>
          </p:cNvSpPr>
          <p:nvPr>
            <p:ph type="sldNum" sz="quarter" idx="12"/>
          </p:nvPr>
        </p:nvSpPr>
        <p:spPr/>
        <p:txBody>
          <a:bodyPr/>
          <a:lstStyle/>
          <a:p>
            <a:fld id="{B6F15528-21DE-4FAA-801E-634DDDAF4B2B}" type="slidenum">
              <a:rPr lang="en-US" smtClean="0"/>
              <a:pPr/>
              <a:t>85</a:t>
            </a:fld>
            <a:endParaRPr lang="en-US"/>
          </a:p>
        </p:txBody>
      </p:sp>
    </p:spTree>
    <p:extLst>
      <p:ext uri="{BB962C8B-B14F-4D97-AF65-F5344CB8AC3E}">
        <p14:creationId xmlns:p14="http://schemas.microsoft.com/office/powerpoint/2010/main" val="28531062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307EF3-D3E2-13FA-9F50-3AE105EB86E5}"/>
              </a:ext>
            </a:extLst>
          </p:cNvPr>
          <p:cNvSpPr>
            <a:spLocks noGrp="1"/>
          </p:cNvSpPr>
          <p:nvPr>
            <p:ph type="title"/>
          </p:nvPr>
        </p:nvSpPr>
        <p:spPr/>
        <p:txBody>
          <a:bodyPr>
            <a:normAutofit fontScale="90000"/>
          </a:bodyPr>
          <a:lstStyle/>
          <a:p>
            <a:r>
              <a:rPr lang="en-US" b="1" dirty="0"/>
              <a:t>JOIN</a:t>
            </a:r>
            <a:br>
              <a:rPr lang="en-US" dirty="0"/>
            </a:br>
            <a:r>
              <a:rPr lang="en-US" dirty="0"/>
              <a:t>following queries return the same data</a:t>
            </a:r>
          </a:p>
        </p:txBody>
      </p:sp>
      <p:sp>
        <p:nvSpPr>
          <p:cNvPr id="6" name="Text Placeholder 5">
            <a:extLst>
              <a:ext uri="{FF2B5EF4-FFF2-40B4-BE49-F238E27FC236}">
                <a16:creationId xmlns:a16="http://schemas.microsoft.com/office/drawing/2014/main" id="{2D3BA73E-8613-65F8-A2F9-FD6C6FCC3AF0}"/>
              </a:ext>
            </a:extLst>
          </p:cNvPr>
          <p:cNvSpPr>
            <a:spLocks noGrp="1"/>
          </p:cNvSpPr>
          <p:nvPr>
            <p:ph type="body" idx="1"/>
          </p:nvPr>
        </p:nvSpPr>
        <p:spPr/>
        <p:txBody>
          <a:bodyPr>
            <a:normAutofit fontScale="92500" lnSpcReduction="20000"/>
          </a:bodyPr>
          <a:lstStyle/>
          <a:p>
            <a:r>
              <a:rPr lang="en-US" dirty="0"/>
              <a:t>Find the names of sailors and the boats reserved </a:t>
            </a:r>
          </a:p>
        </p:txBody>
      </p:sp>
      <p:sp>
        <p:nvSpPr>
          <p:cNvPr id="7" name="Content Placeholder 6">
            <a:extLst>
              <a:ext uri="{FF2B5EF4-FFF2-40B4-BE49-F238E27FC236}">
                <a16:creationId xmlns:a16="http://schemas.microsoft.com/office/drawing/2014/main" id="{F81F0AE4-9E05-0E5E-134A-0426FD0C7DEF}"/>
              </a:ext>
            </a:extLst>
          </p:cNvPr>
          <p:cNvSpPr>
            <a:spLocks noGrp="1"/>
          </p:cNvSpPr>
          <p:nvPr>
            <p:ph sz="half" idx="2"/>
          </p:nvPr>
        </p:nvSpPr>
        <p:spPr>
          <a:xfrm>
            <a:off x="304800" y="2174875"/>
            <a:ext cx="4192588" cy="3951288"/>
          </a:xfrm>
        </p:spPr>
        <p:txBody>
          <a:bodyPr/>
          <a:lstStyle/>
          <a:p>
            <a:r>
              <a:rPr lang="en-US" dirty="0"/>
              <a:t>SELECT </a:t>
            </a:r>
            <a:r>
              <a:rPr lang="en-US" dirty="0" err="1"/>
              <a:t>S.sid</a:t>
            </a:r>
            <a:r>
              <a:rPr lang="en-US" dirty="0"/>
              <a:t>, </a:t>
            </a:r>
            <a:r>
              <a:rPr lang="en-US" dirty="0" err="1"/>
              <a:t>S.sname</a:t>
            </a:r>
            <a:r>
              <a:rPr lang="en-US" dirty="0"/>
              <a:t>, </a:t>
            </a:r>
            <a:r>
              <a:rPr lang="en-US" dirty="0" err="1"/>
              <a:t>B.bid</a:t>
            </a:r>
            <a:r>
              <a:rPr lang="en-US" dirty="0"/>
              <a:t>, </a:t>
            </a:r>
            <a:r>
              <a:rPr lang="en-US" dirty="0" err="1"/>
              <a:t>B.bname</a:t>
            </a:r>
            <a:r>
              <a:rPr lang="en-US" dirty="0"/>
              <a:t>, </a:t>
            </a:r>
            <a:r>
              <a:rPr lang="en-US" dirty="0" err="1"/>
              <a:t>B.color</a:t>
            </a:r>
            <a:r>
              <a:rPr lang="en-US" dirty="0"/>
              <a:t>, </a:t>
            </a:r>
            <a:r>
              <a:rPr lang="en-US" dirty="0" err="1"/>
              <a:t>R.day</a:t>
            </a:r>
            <a:r>
              <a:rPr lang="en-US" dirty="0"/>
              <a:t> </a:t>
            </a:r>
          </a:p>
          <a:p>
            <a:r>
              <a:rPr lang="en-US" dirty="0"/>
              <a:t>FROM Sailors S, Reserves R, Boats B</a:t>
            </a:r>
          </a:p>
          <a:p>
            <a:r>
              <a:rPr lang="en-US" dirty="0"/>
              <a:t>WHERE </a:t>
            </a:r>
            <a:r>
              <a:rPr lang="en-US" dirty="0" err="1"/>
              <a:t>S.sid</a:t>
            </a:r>
            <a:r>
              <a:rPr lang="en-US" dirty="0"/>
              <a:t> = </a:t>
            </a:r>
            <a:r>
              <a:rPr lang="en-US" dirty="0" err="1"/>
              <a:t>R.sid</a:t>
            </a:r>
            <a:r>
              <a:rPr lang="en-US" dirty="0"/>
              <a:t> AND </a:t>
            </a:r>
            <a:r>
              <a:rPr lang="en-US" dirty="0" err="1"/>
              <a:t>R.bid</a:t>
            </a:r>
            <a:r>
              <a:rPr lang="en-US" dirty="0"/>
              <a:t> = </a:t>
            </a:r>
            <a:r>
              <a:rPr lang="en-US" dirty="0" err="1"/>
              <a:t>B.bid</a:t>
            </a:r>
            <a:r>
              <a:rPr lang="en-US" dirty="0"/>
              <a:t> </a:t>
            </a:r>
          </a:p>
        </p:txBody>
      </p:sp>
      <p:sp>
        <p:nvSpPr>
          <p:cNvPr id="8" name="Text Placeholder 7">
            <a:extLst>
              <a:ext uri="{FF2B5EF4-FFF2-40B4-BE49-F238E27FC236}">
                <a16:creationId xmlns:a16="http://schemas.microsoft.com/office/drawing/2014/main" id="{AA47C175-EFDF-1B2C-6D29-E867CE7E7232}"/>
              </a:ext>
            </a:extLst>
          </p:cNvPr>
          <p:cNvSpPr>
            <a:spLocks noGrp="1"/>
          </p:cNvSpPr>
          <p:nvPr>
            <p:ph type="body" sz="quarter" idx="3"/>
          </p:nvPr>
        </p:nvSpPr>
        <p:spPr/>
        <p:txBody>
          <a:bodyPr>
            <a:normAutofit fontScale="92500" lnSpcReduction="20000"/>
          </a:bodyPr>
          <a:lstStyle/>
          <a:p>
            <a:r>
              <a:rPr lang="en-US" dirty="0"/>
              <a:t>Find the names of sailors and the boats reserved </a:t>
            </a:r>
          </a:p>
        </p:txBody>
      </p:sp>
      <p:sp>
        <p:nvSpPr>
          <p:cNvPr id="9" name="Content Placeholder 8">
            <a:extLst>
              <a:ext uri="{FF2B5EF4-FFF2-40B4-BE49-F238E27FC236}">
                <a16:creationId xmlns:a16="http://schemas.microsoft.com/office/drawing/2014/main" id="{FBEBFEDB-DE16-B0FB-9306-1AD7B34666E1}"/>
              </a:ext>
            </a:extLst>
          </p:cNvPr>
          <p:cNvSpPr>
            <a:spLocks noGrp="1"/>
          </p:cNvSpPr>
          <p:nvPr>
            <p:ph sz="quarter" idx="4"/>
          </p:nvPr>
        </p:nvSpPr>
        <p:spPr>
          <a:xfrm>
            <a:off x="4343400" y="2174875"/>
            <a:ext cx="4494213" cy="3951288"/>
          </a:xfrm>
        </p:spPr>
        <p:txBody>
          <a:bodyPr/>
          <a:lstStyle/>
          <a:p>
            <a:r>
              <a:rPr lang="en-US" dirty="0"/>
              <a:t>SELECT </a:t>
            </a:r>
            <a:r>
              <a:rPr lang="en-US" dirty="0" err="1"/>
              <a:t>S.sid</a:t>
            </a:r>
            <a:r>
              <a:rPr lang="en-US" dirty="0"/>
              <a:t>, </a:t>
            </a:r>
            <a:r>
              <a:rPr lang="en-US" dirty="0" err="1"/>
              <a:t>S.sname</a:t>
            </a:r>
            <a:r>
              <a:rPr lang="en-US" dirty="0"/>
              <a:t>, </a:t>
            </a:r>
            <a:r>
              <a:rPr lang="en-US" dirty="0" err="1"/>
              <a:t>B.bid</a:t>
            </a:r>
            <a:r>
              <a:rPr lang="en-US" dirty="0"/>
              <a:t>, </a:t>
            </a:r>
            <a:r>
              <a:rPr lang="en-US" dirty="0" err="1"/>
              <a:t>B.bname</a:t>
            </a:r>
            <a:r>
              <a:rPr lang="en-US" dirty="0"/>
              <a:t>, </a:t>
            </a:r>
            <a:r>
              <a:rPr lang="en-US" dirty="0" err="1"/>
              <a:t>B.color</a:t>
            </a:r>
            <a:r>
              <a:rPr lang="en-US" dirty="0"/>
              <a:t>, </a:t>
            </a:r>
            <a:r>
              <a:rPr lang="en-US" dirty="0" err="1"/>
              <a:t>R.day</a:t>
            </a:r>
            <a:r>
              <a:rPr lang="en-US" dirty="0"/>
              <a:t> </a:t>
            </a:r>
          </a:p>
          <a:p>
            <a:r>
              <a:rPr lang="en-US" dirty="0"/>
              <a:t>FROM Sailors S </a:t>
            </a:r>
          </a:p>
          <a:p>
            <a:r>
              <a:rPr lang="en-US" dirty="0"/>
              <a:t>JOIN Reserves R ON </a:t>
            </a:r>
            <a:r>
              <a:rPr lang="en-US" dirty="0" err="1"/>
              <a:t>S.sid</a:t>
            </a:r>
            <a:r>
              <a:rPr lang="en-US" dirty="0"/>
              <a:t> = </a:t>
            </a:r>
            <a:r>
              <a:rPr lang="en-US" dirty="0" err="1"/>
              <a:t>R.sid</a:t>
            </a:r>
            <a:r>
              <a:rPr lang="en-US" dirty="0"/>
              <a:t> </a:t>
            </a:r>
          </a:p>
          <a:p>
            <a:r>
              <a:rPr lang="en-US" dirty="0"/>
              <a:t>JOIN Boats B ON </a:t>
            </a:r>
            <a:r>
              <a:rPr lang="en-US" dirty="0" err="1"/>
              <a:t>R.bid</a:t>
            </a:r>
            <a:r>
              <a:rPr lang="en-US" dirty="0"/>
              <a:t> = </a:t>
            </a:r>
            <a:r>
              <a:rPr lang="en-US" dirty="0" err="1"/>
              <a:t>B.bid</a:t>
            </a:r>
            <a:endParaRPr lang="en-US" dirty="0"/>
          </a:p>
        </p:txBody>
      </p:sp>
      <p:sp>
        <p:nvSpPr>
          <p:cNvPr id="4" name="Slide Number Placeholder 3">
            <a:extLst>
              <a:ext uri="{FF2B5EF4-FFF2-40B4-BE49-F238E27FC236}">
                <a16:creationId xmlns:a16="http://schemas.microsoft.com/office/drawing/2014/main" id="{BA2FC7B5-8567-8751-2571-D358A02C3A9F}"/>
              </a:ext>
            </a:extLst>
          </p:cNvPr>
          <p:cNvSpPr>
            <a:spLocks noGrp="1"/>
          </p:cNvSpPr>
          <p:nvPr>
            <p:ph type="sldNum" sz="quarter" idx="12"/>
          </p:nvPr>
        </p:nvSpPr>
        <p:spPr/>
        <p:txBody>
          <a:bodyPr/>
          <a:lstStyle/>
          <a:p>
            <a:fld id="{B6F15528-21DE-4FAA-801E-634DDDAF4B2B}" type="slidenum">
              <a:rPr lang="en-US" smtClean="0"/>
              <a:pPr/>
              <a:t>86</a:t>
            </a:fld>
            <a:endParaRPr lang="en-US"/>
          </a:p>
        </p:txBody>
      </p:sp>
    </p:spTree>
    <p:extLst>
      <p:ext uri="{BB962C8B-B14F-4D97-AF65-F5344CB8AC3E}">
        <p14:creationId xmlns:p14="http://schemas.microsoft.com/office/powerpoint/2010/main" val="34318806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6E523-1B41-F2A9-9FC7-EAEDDCF51A5C}"/>
              </a:ext>
            </a:extLst>
          </p:cNvPr>
          <p:cNvSpPr>
            <a:spLocks noGrp="1"/>
          </p:cNvSpPr>
          <p:nvPr>
            <p:ph type="title"/>
          </p:nvPr>
        </p:nvSpPr>
        <p:spPr/>
        <p:txBody>
          <a:bodyPr/>
          <a:lstStyle/>
          <a:p>
            <a:r>
              <a:rPr lang="en-US" dirty="0"/>
              <a:t>JOIN</a:t>
            </a:r>
          </a:p>
        </p:txBody>
      </p:sp>
      <p:sp>
        <p:nvSpPr>
          <p:cNvPr id="3" name="Content Placeholder 2">
            <a:extLst>
              <a:ext uri="{FF2B5EF4-FFF2-40B4-BE49-F238E27FC236}">
                <a16:creationId xmlns:a16="http://schemas.microsoft.com/office/drawing/2014/main" id="{F5BB330C-711B-A108-7D61-1FED4C10886D}"/>
              </a:ext>
            </a:extLst>
          </p:cNvPr>
          <p:cNvSpPr>
            <a:spLocks noGrp="1"/>
          </p:cNvSpPr>
          <p:nvPr>
            <p:ph idx="1"/>
          </p:nvPr>
        </p:nvSpPr>
        <p:spPr/>
        <p:txBody>
          <a:bodyPr>
            <a:normAutofit/>
          </a:bodyPr>
          <a:lstStyle/>
          <a:p>
            <a:r>
              <a:rPr lang="en-US" sz="2800" dirty="0"/>
              <a:t>join operation allow programmers to write some queries in a more natural way</a:t>
            </a:r>
          </a:p>
          <a:p>
            <a:r>
              <a:rPr lang="en-US" sz="2800" dirty="0"/>
              <a:t>NATURAL JOIN, NATURAL keyword specifies that the join condition is equality on all common attributes (in this example, </a:t>
            </a:r>
            <a:r>
              <a:rPr lang="en-US" sz="2800" dirty="0" err="1"/>
              <a:t>sid</a:t>
            </a:r>
            <a:r>
              <a:rPr lang="en-US" sz="2800" dirty="0"/>
              <a:t> and bid), and the WHERE clause is not required (unless we want to specify additional, non-join conditions)</a:t>
            </a:r>
          </a:p>
        </p:txBody>
      </p:sp>
      <p:sp>
        <p:nvSpPr>
          <p:cNvPr id="4" name="Slide Number Placeholder 3">
            <a:extLst>
              <a:ext uri="{FF2B5EF4-FFF2-40B4-BE49-F238E27FC236}">
                <a16:creationId xmlns:a16="http://schemas.microsoft.com/office/drawing/2014/main" id="{59DD3BC8-D2C8-40C8-C409-F199BB521261}"/>
              </a:ext>
            </a:extLst>
          </p:cNvPr>
          <p:cNvSpPr>
            <a:spLocks noGrp="1"/>
          </p:cNvSpPr>
          <p:nvPr>
            <p:ph type="sldNum" sz="quarter" idx="12"/>
          </p:nvPr>
        </p:nvSpPr>
        <p:spPr/>
        <p:txBody>
          <a:bodyPr/>
          <a:lstStyle/>
          <a:p>
            <a:fld id="{B6F15528-21DE-4FAA-801E-634DDDAF4B2B}" type="slidenum">
              <a:rPr lang="en-US" smtClean="0"/>
              <a:pPr/>
              <a:t>87</a:t>
            </a:fld>
            <a:endParaRPr lang="en-US"/>
          </a:p>
        </p:txBody>
      </p:sp>
    </p:spTree>
    <p:extLst>
      <p:ext uri="{BB962C8B-B14F-4D97-AF65-F5344CB8AC3E}">
        <p14:creationId xmlns:p14="http://schemas.microsoft.com/office/powerpoint/2010/main" val="4957146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D4715-494F-94F8-4A62-84B104BEC1A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9AA2BBA-AA69-733D-25DB-16E8E69ECB60}"/>
              </a:ext>
            </a:extLst>
          </p:cNvPr>
          <p:cNvSpPr>
            <a:spLocks noGrp="1"/>
          </p:cNvSpPr>
          <p:nvPr>
            <p:ph type="title"/>
          </p:nvPr>
        </p:nvSpPr>
        <p:spPr/>
        <p:txBody>
          <a:bodyPr>
            <a:normAutofit fontScale="90000"/>
          </a:bodyPr>
          <a:lstStyle/>
          <a:p>
            <a:r>
              <a:rPr lang="en-US" dirty="0"/>
              <a:t>JOIN</a:t>
            </a:r>
            <a:br>
              <a:rPr lang="en-US" dirty="0"/>
            </a:br>
            <a:r>
              <a:rPr lang="en-US" dirty="0"/>
              <a:t>following queries return the same data</a:t>
            </a:r>
          </a:p>
        </p:txBody>
      </p:sp>
      <p:sp>
        <p:nvSpPr>
          <p:cNvPr id="6" name="Text Placeholder 5">
            <a:extLst>
              <a:ext uri="{FF2B5EF4-FFF2-40B4-BE49-F238E27FC236}">
                <a16:creationId xmlns:a16="http://schemas.microsoft.com/office/drawing/2014/main" id="{70D4BB76-939E-3CE4-B8D7-412D1BD4099D}"/>
              </a:ext>
            </a:extLst>
          </p:cNvPr>
          <p:cNvSpPr>
            <a:spLocks noGrp="1"/>
          </p:cNvSpPr>
          <p:nvPr>
            <p:ph type="body" idx="1"/>
          </p:nvPr>
        </p:nvSpPr>
        <p:spPr/>
        <p:txBody>
          <a:bodyPr>
            <a:normAutofit fontScale="92500" lnSpcReduction="20000"/>
          </a:bodyPr>
          <a:lstStyle/>
          <a:p>
            <a:r>
              <a:rPr lang="en-US" dirty="0"/>
              <a:t>Find the names of sailors and the boats reserved </a:t>
            </a:r>
          </a:p>
        </p:txBody>
      </p:sp>
      <p:sp>
        <p:nvSpPr>
          <p:cNvPr id="7" name="Content Placeholder 6">
            <a:extLst>
              <a:ext uri="{FF2B5EF4-FFF2-40B4-BE49-F238E27FC236}">
                <a16:creationId xmlns:a16="http://schemas.microsoft.com/office/drawing/2014/main" id="{CD63D7AA-39CC-FB08-63DC-ADF56E3877F0}"/>
              </a:ext>
            </a:extLst>
          </p:cNvPr>
          <p:cNvSpPr>
            <a:spLocks noGrp="1"/>
          </p:cNvSpPr>
          <p:nvPr>
            <p:ph sz="half" idx="2"/>
          </p:nvPr>
        </p:nvSpPr>
        <p:spPr>
          <a:xfrm>
            <a:off x="304800" y="2174875"/>
            <a:ext cx="4192588" cy="3951288"/>
          </a:xfrm>
        </p:spPr>
        <p:txBody>
          <a:bodyPr/>
          <a:lstStyle/>
          <a:p>
            <a:r>
              <a:rPr lang="en-US" dirty="0"/>
              <a:t>SELECT </a:t>
            </a:r>
            <a:r>
              <a:rPr lang="en-US" dirty="0" err="1"/>
              <a:t>S.sid</a:t>
            </a:r>
            <a:r>
              <a:rPr lang="en-US" dirty="0"/>
              <a:t>, </a:t>
            </a:r>
            <a:r>
              <a:rPr lang="en-US" dirty="0" err="1"/>
              <a:t>S.sname</a:t>
            </a:r>
            <a:r>
              <a:rPr lang="en-US" dirty="0"/>
              <a:t>, </a:t>
            </a:r>
            <a:r>
              <a:rPr lang="en-US" dirty="0" err="1"/>
              <a:t>B.bid</a:t>
            </a:r>
            <a:r>
              <a:rPr lang="en-US" dirty="0"/>
              <a:t>, </a:t>
            </a:r>
            <a:r>
              <a:rPr lang="en-US" dirty="0" err="1"/>
              <a:t>B.bname</a:t>
            </a:r>
            <a:r>
              <a:rPr lang="en-US" dirty="0"/>
              <a:t>, </a:t>
            </a:r>
            <a:r>
              <a:rPr lang="en-US" dirty="0" err="1"/>
              <a:t>B.color</a:t>
            </a:r>
            <a:r>
              <a:rPr lang="en-US" dirty="0"/>
              <a:t>, </a:t>
            </a:r>
            <a:r>
              <a:rPr lang="en-US" dirty="0" err="1"/>
              <a:t>R.day</a:t>
            </a:r>
            <a:r>
              <a:rPr lang="en-US" dirty="0"/>
              <a:t> </a:t>
            </a:r>
          </a:p>
          <a:p>
            <a:r>
              <a:rPr lang="en-US" dirty="0"/>
              <a:t>FROM Sailors S, Reserves R, Boats B</a:t>
            </a:r>
          </a:p>
          <a:p>
            <a:r>
              <a:rPr lang="en-US" dirty="0"/>
              <a:t>WHERE </a:t>
            </a:r>
            <a:r>
              <a:rPr lang="en-US" dirty="0" err="1"/>
              <a:t>S.sid</a:t>
            </a:r>
            <a:r>
              <a:rPr lang="en-US" dirty="0"/>
              <a:t> = </a:t>
            </a:r>
            <a:r>
              <a:rPr lang="en-US" dirty="0" err="1"/>
              <a:t>R.sid</a:t>
            </a:r>
            <a:r>
              <a:rPr lang="en-US" dirty="0"/>
              <a:t> AND </a:t>
            </a:r>
            <a:r>
              <a:rPr lang="en-US" dirty="0" err="1"/>
              <a:t>R.bid</a:t>
            </a:r>
            <a:r>
              <a:rPr lang="en-US" dirty="0"/>
              <a:t> = </a:t>
            </a:r>
            <a:r>
              <a:rPr lang="en-US" dirty="0" err="1"/>
              <a:t>B.bid</a:t>
            </a:r>
            <a:r>
              <a:rPr lang="en-US" dirty="0"/>
              <a:t> </a:t>
            </a:r>
          </a:p>
        </p:txBody>
      </p:sp>
      <p:sp>
        <p:nvSpPr>
          <p:cNvPr id="8" name="Text Placeholder 7">
            <a:extLst>
              <a:ext uri="{FF2B5EF4-FFF2-40B4-BE49-F238E27FC236}">
                <a16:creationId xmlns:a16="http://schemas.microsoft.com/office/drawing/2014/main" id="{0C306DDF-6C17-EA66-CF1F-39341BC3AC04}"/>
              </a:ext>
            </a:extLst>
          </p:cNvPr>
          <p:cNvSpPr>
            <a:spLocks noGrp="1"/>
          </p:cNvSpPr>
          <p:nvPr>
            <p:ph type="body" sz="quarter" idx="3"/>
          </p:nvPr>
        </p:nvSpPr>
        <p:spPr/>
        <p:txBody>
          <a:bodyPr>
            <a:normAutofit fontScale="92500" lnSpcReduction="20000"/>
          </a:bodyPr>
          <a:lstStyle/>
          <a:p>
            <a:r>
              <a:rPr lang="en-US" dirty="0"/>
              <a:t>Find the names of sailors and the boats reserved </a:t>
            </a:r>
          </a:p>
        </p:txBody>
      </p:sp>
      <p:sp>
        <p:nvSpPr>
          <p:cNvPr id="9" name="Content Placeholder 8">
            <a:extLst>
              <a:ext uri="{FF2B5EF4-FFF2-40B4-BE49-F238E27FC236}">
                <a16:creationId xmlns:a16="http://schemas.microsoft.com/office/drawing/2014/main" id="{FEDB728B-472E-CA7D-096D-76BD71C06A9F}"/>
              </a:ext>
            </a:extLst>
          </p:cNvPr>
          <p:cNvSpPr>
            <a:spLocks noGrp="1"/>
          </p:cNvSpPr>
          <p:nvPr>
            <p:ph sz="quarter" idx="4"/>
          </p:nvPr>
        </p:nvSpPr>
        <p:spPr>
          <a:xfrm>
            <a:off x="4343400" y="2174875"/>
            <a:ext cx="4494213" cy="3951288"/>
          </a:xfrm>
        </p:spPr>
        <p:txBody>
          <a:bodyPr/>
          <a:lstStyle/>
          <a:p>
            <a:r>
              <a:rPr lang="en-US" dirty="0"/>
              <a:t>SELECT </a:t>
            </a:r>
            <a:r>
              <a:rPr lang="en-US" dirty="0" err="1"/>
              <a:t>S.sid</a:t>
            </a:r>
            <a:r>
              <a:rPr lang="en-US" dirty="0"/>
              <a:t>, </a:t>
            </a:r>
            <a:r>
              <a:rPr lang="en-US" dirty="0" err="1"/>
              <a:t>S.sname</a:t>
            </a:r>
            <a:r>
              <a:rPr lang="en-US" dirty="0"/>
              <a:t>, </a:t>
            </a:r>
            <a:r>
              <a:rPr lang="en-US" dirty="0" err="1"/>
              <a:t>B.bid</a:t>
            </a:r>
            <a:r>
              <a:rPr lang="en-US" dirty="0"/>
              <a:t>, </a:t>
            </a:r>
            <a:r>
              <a:rPr lang="en-US" dirty="0" err="1"/>
              <a:t>B.bname</a:t>
            </a:r>
            <a:r>
              <a:rPr lang="en-US" dirty="0"/>
              <a:t>, </a:t>
            </a:r>
            <a:r>
              <a:rPr lang="en-US" dirty="0" err="1"/>
              <a:t>B.color</a:t>
            </a:r>
            <a:r>
              <a:rPr lang="en-US" dirty="0"/>
              <a:t>, </a:t>
            </a:r>
            <a:r>
              <a:rPr lang="en-US" dirty="0" err="1"/>
              <a:t>R.day</a:t>
            </a:r>
            <a:r>
              <a:rPr lang="en-US" dirty="0"/>
              <a:t> </a:t>
            </a:r>
          </a:p>
          <a:p>
            <a:r>
              <a:rPr lang="en-US" dirty="0"/>
              <a:t>FROM Sailors S </a:t>
            </a:r>
          </a:p>
          <a:p>
            <a:r>
              <a:rPr lang="en-US" dirty="0"/>
              <a:t>JOIN Reserves R ON </a:t>
            </a:r>
            <a:r>
              <a:rPr lang="en-US" dirty="0" err="1"/>
              <a:t>S.sid</a:t>
            </a:r>
            <a:r>
              <a:rPr lang="en-US" dirty="0"/>
              <a:t> = </a:t>
            </a:r>
            <a:r>
              <a:rPr lang="en-US" dirty="0" err="1"/>
              <a:t>R.sid</a:t>
            </a:r>
            <a:r>
              <a:rPr lang="en-US" dirty="0"/>
              <a:t> </a:t>
            </a:r>
          </a:p>
          <a:p>
            <a:r>
              <a:rPr lang="en-US" dirty="0"/>
              <a:t>JOIN Boats B ON </a:t>
            </a:r>
            <a:r>
              <a:rPr lang="en-US" dirty="0" err="1"/>
              <a:t>R.bid</a:t>
            </a:r>
            <a:r>
              <a:rPr lang="en-US" dirty="0"/>
              <a:t> = </a:t>
            </a:r>
            <a:r>
              <a:rPr lang="en-US" dirty="0" err="1"/>
              <a:t>B.bid</a:t>
            </a:r>
            <a:endParaRPr lang="en-US" dirty="0"/>
          </a:p>
        </p:txBody>
      </p:sp>
      <p:sp>
        <p:nvSpPr>
          <p:cNvPr id="4" name="Slide Number Placeholder 3">
            <a:extLst>
              <a:ext uri="{FF2B5EF4-FFF2-40B4-BE49-F238E27FC236}">
                <a16:creationId xmlns:a16="http://schemas.microsoft.com/office/drawing/2014/main" id="{1DDC7E9F-A5EF-FB68-AB23-11B1448EE587}"/>
              </a:ext>
            </a:extLst>
          </p:cNvPr>
          <p:cNvSpPr>
            <a:spLocks noGrp="1"/>
          </p:cNvSpPr>
          <p:nvPr>
            <p:ph type="sldNum" sz="quarter" idx="12"/>
          </p:nvPr>
        </p:nvSpPr>
        <p:spPr/>
        <p:txBody>
          <a:bodyPr/>
          <a:lstStyle/>
          <a:p>
            <a:fld id="{B6F15528-21DE-4FAA-801E-634DDDAF4B2B}" type="slidenum">
              <a:rPr lang="en-US" smtClean="0"/>
              <a:pPr/>
              <a:t>88</a:t>
            </a:fld>
            <a:endParaRPr lang="en-US"/>
          </a:p>
        </p:txBody>
      </p:sp>
    </p:spTree>
    <p:extLst>
      <p:ext uri="{BB962C8B-B14F-4D97-AF65-F5344CB8AC3E}">
        <p14:creationId xmlns:p14="http://schemas.microsoft.com/office/powerpoint/2010/main" val="11216142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CE1C7-A338-5AA6-501F-3016EE5D55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E892D28-DE10-D380-E17C-28866FD09A43}"/>
              </a:ext>
            </a:extLst>
          </p:cNvPr>
          <p:cNvSpPr>
            <a:spLocks noGrp="1"/>
          </p:cNvSpPr>
          <p:nvPr>
            <p:ph idx="1"/>
          </p:nvPr>
        </p:nvSpPr>
        <p:spPr/>
        <p:txBody>
          <a:bodyPr>
            <a:normAutofit lnSpcReduction="10000"/>
          </a:bodyPr>
          <a:lstStyle/>
          <a:p>
            <a:r>
              <a:rPr lang="en-US" sz="2800" dirty="0"/>
              <a:t>first query can be written more concisely using the join operation in SQL and both above queries will generate the same result data set</a:t>
            </a:r>
          </a:p>
          <a:p>
            <a:r>
              <a:rPr lang="en-US" sz="2800" dirty="0"/>
              <a:t>result of natural join operation is relation (also the Cartesian product of relation it is a relation)</a:t>
            </a:r>
          </a:p>
          <a:p>
            <a:r>
              <a:rPr lang="en-US" sz="2800" dirty="0"/>
              <a:t>conceptually, expression “Sailors natural join Reserves” in the from clause is replaced by relation obtained by evaluating natural join</a:t>
            </a:r>
          </a:p>
          <a:p>
            <a:r>
              <a:rPr lang="en-US" sz="2800" dirty="0"/>
              <a:t>where and select clauses are evaluated on this resulted new relation</a:t>
            </a:r>
          </a:p>
          <a:p>
            <a:endParaRPr lang="en-US" sz="2800" dirty="0"/>
          </a:p>
        </p:txBody>
      </p:sp>
      <p:sp>
        <p:nvSpPr>
          <p:cNvPr id="4" name="Slide Number Placeholder 3">
            <a:extLst>
              <a:ext uri="{FF2B5EF4-FFF2-40B4-BE49-F238E27FC236}">
                <a16:creationId xmlns:a16="http://schemas.microsoft.com/office/drawing/2014/main" id="{CD71CE84-078C-BA14-F275-DDCDD64E96BE}"/>
              </a:ext>
            </a:extLst>
          </p:cNvPr>
          <p:cNvSpPr>
            <a:spLocks noGrp="1"/>
          </p:cNvSpPr>
          <p:nvPr>
            <p:ph type="sldNum" sz="quarter" idx="12"/>
          </p:nvPr>
        </p:nvSpPr>
        <p:spPr/>
        <p:txBody>
          <a:bodyPr/>
          <a:lstStyle/>
          <a:p>
            <a:fld id="{B6F15528-21DE-4FAA-801E-634DDDAF4B2B}" type="slidenum">
              <a:rPr lang="en-US" smtClean="0"/>
              <a:pPr/>
              <a:t>89</a:t>
            </a:fld>
            <a:endParaRPr lang="en-US"/>
          </a:p>
        </p:txBody>
      </p:sp>
    </p:spTree>
    <p:extLst>
      <p:ext uri="{BB962C8B-B14F-4D97-AF65-F5344CB8AC3E}">
        <p14:creationId xmlns:p14="http://schemas.microsoft.com/office/powerpoint/2010/main" val="74894643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9EC76-2980-1838-71EC-CE857E29877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85AD50-7A3D-4FA9-21A9-50B30ACDC581}"/>
              </a:ext>
            </a:extLst>
          </p:cNvPr>
          <p:cNvSpPr>
            <a:spLocks noGrp="1"/>
          </p:cNvSpPr>
          <p:nvPr>
            <p:ph idx="1"/>
          </p:nvPr>
        </p:nvSpPr>
        <p:spPr/>
        <p:txBody>
          <a:bodyPr>
            <a:normAutofit/>
          </a:bodyPr>
          <a:lstStyle/>
          <a:p>
            <a:r>
              <a:rPr lang="en-US" sz="2800" dirty="0"/>
              <a:t>from clause in an SQL query can have multiple relations combined using natural join or join</a:t>
            </a:r>
          </a:p>
          <a:p>
            <a:endParaRPr lang="en-US" sz="2800" dirty="0"/>
          </a:p>
        </p:txBody>
      </p:sp>
      <p:sp>
        <p:nvSpPr>
          <p:cNvPr id="4" name="Slide Number Placeholder 3">
            <a:extLst>
              <a:ext uri="{FF2B5EF4-FFF2-40B4-BE49-F238E27FC236}">
                <a16:creationId xmlns:a16="http://schemas.microsoft.com/office/drawing/2014/main" id="{7CC00B53-2306-AA89-4D94-A63DFFFF623D}"/>
              </a:ext>
            </a:extLst>
          </p:cNvPr>
          <p:cNvSpPr>
            <a:spLocks noGrp="1"/>
          </p:cNvSpPr>
          <p:nvPr>
            <p:ph type="sldNum" sz="quarter" idx="12"/>
          </p:nvPr>
        </p:nvSpPr>
        <p:spPr/>
        <p:txBody>
          <a:bodyPr/>
          <a:lstStyle/>
          <a:p>
            <a:fld id="{B6F15528-21DE-4FAA-801E-634DDDAF4B2B}" type="slidenum">
              <a:rPr lang="en-US" smtClean="0"/>
              <a:pPr/>
              <a:t>90</a:t>
            </a:fld>
            <a:endParaRPr lang="en-US"/>
          </a:p>
        </p:txBody>
      </p:sp>
    </p:spTree>
    <p:extLst>
      <p:ext uri="{BB962C8B-B14F-4D97-AF65-F5344CB8AC3E}">
        <p14:creationId xmlns:p14="http://schemas.microsoft.com/office/powerpoint/2010/main" val="19959953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0EC23-7F02-1B89-D7F2-8EE957F66EC5}"/>
              </a:ext>
            </a:extLst>
          </p:cNvPr>
          <p:cNvSpPr>
            <a:spLocks noGrp="1"/>
          </p:cNvSpPr>
          <p:nvPr>
            <p:ph type="title"/>
          </p:nvPr>
        </p:nvSpPr>
        <p:spPr/>
        <p:txBody>
          <a:bodyPr/>
          <a:lstStyle/>
          <a:p>
            <a:r>
              <a:rPr lang="en-US" dirty="0"/>
              <a:t>JOIN</a:t>
            </a:r>
          </a:p>
        </p:txBody>
      </p:sp>
      <p:sp>
        <p:nvSpPr>
          <p:cNvPr id="3" name="Content Placeholder 2">
            <a:extLst>
              <a:ext uri="{FF2B5EF4-FFF2-40B4-BE49-F238E27FC236}">
                <a16:creationId xmlns:a16="http://schemas.microsoft.com/office/drawing/2014/main" id="{DBC53C00-5BF0-D0EE-941F-4EEAF9AECFC9}"/>
              </a:ext>
            </a:extLst>
          </p:cNvPr>
          <p:cNvSpPr>
            <a:spLocks noGrp="1"/>
          </p:cNvSpPr>
          <p:nvPr>
            <p:ph idx="1"/>
          </p:nvPr>
        </p:nvSpPr>
        <p:spPr/>
        <p:txBody>
          <a:bodyPr>
            <a:noAutofit/>
          </a:bodyPr>
          <a:lstStyle/>
          <a:p>
            <a:r>
              <a:rPr lang="en-US" sz="2800" dirty="0"/>
              <a:t>Equi Join non Equi Join and Non-Equi Join in SQL</a:t>
            </a:r>
          </a:p>
          <a:p>
            <a:r>
              <a:rPr lang="en-US" sz="2800" dirty="0"/>
              <a:t>Equi Join is any JOIN operation that uses only and only the equals sign</a:t>
            </a:r>
          </a:p>
          <a:p>
            <a:r>
              <a:rPr lang="en-US" sz="2800" dirty="0"/>
              <a:t>Non-Equi Join joins table on the basis of conditions other than the equality conditions, such as !=, &gt;, &lt;, BETWEEN, etc.</a:t>
            </a:r>
          </a:p>
          <a:p>
            <a:r>
              <a:rPr lang="en-US" sz="2800" dirty="0"/>
              <a:t>Natural Join specifies that the join condition is equality on all common attributes, attributes with </a:t>
            </a:r>
            <a:r>
              <a:rPr lang="en-US" sz="2800"/>
              <a:t>same name</a:t>
            </a:r>
            <a:endParaRPr lang="en-US" sz="2800" dirty="0"/>
          </a:p>
        </p:txBody>
      </p:sp>
      <p:sp>
        <p:nvSpPr>
          <p:cNvPr id="4" name="Slide Number Placeholder 3">
            <a:extLst>
              <a:ext uri="{FF2B5EF4-FFF2-40B4-BE49-F238E27FC236}">
                <a16:creationId xmlns:a16="http://schemas.microsoft.com/office/drawing/2014/main" id="{C113BB3D-EEEF-C240-3154-F0354250A1FC}"/>
              </a:ext>
            </a:extLst>
          </p:cNvPr>
          <p:cNvSpPr>
            <a:spLocks noGrp="1"/>
          </p:cNvSpPr>
          <p:nvPr>
            <p:ph type="sldNum" sz="quarter" idx="12"/>
          </p:nvPr>
        </p:nvSpPr>
        <p:spPr/>
        <p:txBody>
          <a:bodyPr/>
          <a:lstStyle/>
          <a:p>
            <a:fld id="{B6F15528-21DE-4FAA-801E-634DDDAF4B2B}" type="slidenum">
              <a:rPr lang="en-US" smtClean="0"/>
              <a:pPr/>
              <a:t>91</a:t>
            </a:fld>
            <a:endParaRPr lang="en-US"/>
          </a:p>
        </p:txBody>
      </p:sp>
    </p:spTree>
    <p:extLst>
      <p:ext uri="{BB962C8B-B14F-4D97-AF65-F5344CB8AC3E}">
        <p14:creationId xmlns:p14="http://schemas.microsoft.com/office/powerpoint/2010/main" val="146525854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8E5D9-B39A-28D3-9C45-918F57DB4A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732E5AD-7745-C6ED-B1AB-9EF7B38E5C33}"/>
              </a:ext>
            </a:extLst>
          </p:cNvPr>
          <p:cNvSpPr>
            <a:spLocks noGrp="1"/>
          </p:cNvSpPr>
          <p:nvPr>
            <p:ph idx="1"/>
          </p:nvPr>
        </p:nvSpPr>
        <p:spPr>
          <a:xfrm>
            <a:off x="457200" y="1600200"/>
            <a:ext cx="8382000" cy="4525963"/>
          </a:xfrm>
        </p:spPr>
        <p:txBody>
          <a:bodyPr>
            <a:normAutofit/>
          </a:bodyPr>
          <a:lstStyle/>
          <a:p>
            <a:r>
              <a:rPr lang="en-US" sz="2800" dirty="0"/>
              <a:t>to provide benefit of natural join while avoiding danger of equating attributes erroneously, SQL provides form of natural join construct that allows you to specify exactly which columns should be equated</a:t>
            </a:r>
          </a:p>
          <a:p>
            <a:endParaRPr lang="en-US" sz="2800" dirty="0"/>
          </a:p>
          <a:p>
            <a:r>
              <a:rPr lang="en-US" sz="2800" dirty="0"/>
              <a:t>SELECT </a:t>
            </a:r>
            <a:r>
              <a:rPr lang="en-US" sz="2800" dirty="0" err="1"/>
              <a:t>S.sid</a:t>
            </a:r>
            <a:r>
              <a:rPr lang="en-US" sz="2800" dirty="0"/>
              <a:t>, </a:t>
            </a:r>
            <a:r>
              <a:rPr lang="en-US" sz="2800" dirty="0" err="1"/>
              <a:t>S.sname</a:t>
            </a:r>
            <a:r>
              <a:rPr lang="en-US" sz="2800" dirty="0"/>
              <a:t>, </a:t>
            </a:r>
            <a:r>
              <a:rPr lang="en-US" sz="2800" dirty="0" err="1"/>
              <a:t>B.bid</a:t>
            </a:r>
            <a:r>
              <a:rPr lang="en-US" sz="2800" dirty="0"/>
              <a:t>, </a:t>
            </a:r>
            <a:r>
              <a:rPr lang="en-US" sz="2800" dirty="0" err="1"/>
              <a:t>B.bname</a:t>
            </a:r>
            <a:r>
              <a:rPr lang="en-US" sz="2800" dirty="0"/>
              <a:t>, </a:t>
            </a:r>
            <a:r>
              <a:rPr lang="en-US" sz="2800" dirty="0" err="1"/>
              <a:t>B.color</a:t>
            </a:r>
            <a:r>
              <a:rPr lang="en-US" sz="2800" dirty="0"/>
              <a:t>, </a:t>
            </a:r>
            <a:r>
              <a:rPr lang="en-US" sz="2800" dirty="0" err="1"/>
              <a:t>R.day</a:t>
            </a:r>
            <a:r>
              <a:rPr lang="en-US" sz="2800" dirty="0"/>
              <a:t> </a:t>
            </a:r>
          </a:p>
          <a:p>
            <a:r>
              <a:rPr lang="en-US" sz="2800" dirty="0"/>
              <a:t>FROM Sailors S </a:t>
            </a:r>
          </a:p>
          <a:p>
            <a:r>
              <a:rPr lang="en-US" sz="2800" dirty="0"/>
              <a:t>JOIN Reserves R ON </a:t>
            </a:r>
            <a:r>
              <a:rPr lang="en-US" sz="2800" dirty="0" err="1"/>
              <a:t>S.sid</a:t>
            </a:r>
            <a:r>
              <a:rPr lang="en-US" sz="2800" dirty="0"/>
              <a:t> = </a:t>
            </a:r>
            <a:r>
              <a:rPr lang="en-US" sz="2800" dirty="0" err="1"/>
              <a:t>R.sid</a:t>
            </a:r>
            <a:r>
              <a:rPr lang="en-US" sz="2800" dirty="0"/>
              <a:t> </a:t>
            </a:r>
          </a:p>
          <a:p>
            <a:r>
              <a:rPr lang="en-US" sz="2800" dirty="0"/>
              <a:t>JOIN Boats B ON </a:t>
            </a:r>
            <a:r>
              <a:rPr lang="en-US" sz="2800" dirty="0" err="1"/>
              <a:t>R.bid</a:t>
            </a:r>
            <a:r>
              <a:rPr lang="en-US" sz="2800" dirty="0"/>
              <a:t> = </a:t>
            </a:r>
            <a:r>
              <a:rPr lang="en-US" sz="2800" dirty="0" err="1"/>
              <a:t>B.bid</a:t>
            </a:r>
            <a:endParaRPr lang="en-US" sz="2800" dirty="0"/>
          </a:p>
          <a:p>
            <a:endParaRPr lang="en-US" sz="2800" dirty="0"/>
          </a:p>
        </p:txBody>
      </p:sp>
      <p:sp>
        <p:nvSpPr>
          <p:cNvPr id="4" name="Slide Number Placeholder 3">
            <a:extLst>
              <a:ext uri="{FF2B5EF4-FFF2-40B4-BE49-F238E27FC236}">
                <a16:creationId xmlns:a16="http://schemas.microsoft.com/office/drawing/2014/main" id="{A14A7E22-ED19-0273-B824-7C065E44B141}"/>
              </a:ext>
            </a:extLst>
          </p:cNvPr>
          <p:cNvSpPr>
            <a:spLocks noGrp="1"/>
          </p:cNvSpPr>
          <p:nvPr>
            <p:ph type="sldNum" sz="quarter" idx="12"/>
          </p:nvPr>
        </p:nvSpPr>
        <p:spPr/>
        <p:txBody>
          <a:bodyPr/>
          <a:lstStyle/>
          <a:p>
            <a:fld id="{B6F15528-21DE-4FAA-801E-634DDDAF4B2B}" type="slidenum">
              <a:rPr lang="en-US" smtClean="0"/>
              <a:pPr/>
              <a:t>92</a:t>
            </a:fld>
            <a:endParaRPr lang="en-US"/>
          </a:p>
        </p:txBody>
      </p:sp>
    </p:spTree>
    <p:extLst>
      <p:ext uri="{BB962C8B-B14F-4D97-AF65-F5344CB8AC3E}">
        <p14:creationId xmlns:p14="http://schemas.microsoft.com/office/powerpoint/2010/main" val="14656435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4AB60-20BB-E8B0-2527-28963DC47B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36119B0-4E5F-7180-F38B-2B84DF730D59}"/>
              </a:ext>
            </a:extLst>
          </p:cNvPr>
          <p:cNvSpPr>
            <a:spLocks noGrp="1"/>
          </p:cNvSpPr>
          <p:nvPr>
            <p:ph idx="1"/>
          </p:nvPr>
        </p:nvSpPr>
        <p:spPr/>
        <p:txBody>
          <a:bodyPr>
            <a:noAutofit/>
          </a:bodyPr>
          <a:lstStyle/>
          <a:p>
            <a:r>
              <a:rPr lang="en-US" sz="2800" dirty="0"/>
              <a:t>SQL supports join, in which arbitrary join condition can be specified</a:t>
            </a:r>
          </a:p>
          <a:p>
            <a:r>
              <a:rPr lang="en-US" sz="2800" dirty="0"/>
              <a:t>the </a:t>
            </a:r>
            <a:r>
              <a:rPr lang="en-US" sz="2800" i="1" dirty="0"/>
              <a:t>on</a:t>
            </a:r>
            <a:r>
              <a:rPr lang="en-US" sz="2800" dirty="0"/>
              <a:t> condition allows general predicate over relations being joined; predicate written like a where clause predicate except for the use of keyword on rather than where</a:t>
            </a:r>
          </a:p>
          <a:p>
            <a:r>
              <a:rPr lang="en-US" sz="2800" dirty="0"/>
              <a:t>on condition specifies that a tuple from Sailors matches a tuple from Reserves if their </a:t>
            </a:r>
            <a:r>
              <a:rPr lang="en-US" sz="2800" dirty="0" err="1"/>
              <a:t>sid</a:t>
            </a:r>
            <a:r>
              <a:rPr lang="en-US" sz="2800" dirty="0"/>
              <a:t> values are equal</a:t>
            </a:r>
          </a:p>
        </p:txBody>
      </p:sp>
      <p:sp>
        <p:nvSpPr>
          <p:cNvPr id="4" name="Slide Number Placeholder 3">
            <a:extLst>
              <a:ext uri="{FF2B5EF4-FFF2-40B4-BE49-F238E27FC236}">
                <a16:creationId xmlns:a16="http://schemas.microsoft.com/office/drawing/2014/main" id="{AD685832-9D57-6FE4-8B7D-2ECE592F42F9}"/>
              </a:ext>
            </a:extLst>
          </p:cNvPr>
          <p:cNvSpPr>
            <a:spLocks noGrp="1"/>
          </p:cNvSpPr>
          <p:nvPr>
            <p:ph type="sldNum" sz="quarter" idx="12"/>
          </p:nvPr>
        </p:nvSpPr>
        <p:spPr/>
        <p:txBody>
          <a:bodyPr/>
          <a:lstStyle/>
          <a:p>
            <a:fld id="{B6F15528-21DE-4FAA-801E-634DDDAF4B2B}" type="slidenum">
              <a:rPr lang="en-US" smtClean="0"/>
              <a:pPr/>
              <a:t>93</a:t>
            </a:fld>
            <a:endParaRPr lang="en-US"/>
          </a:p>
        </p:txBody>
      </p:sp>
    </p:spTree>
    <p:extLst>
      <p:ext uri="{BB962C8B-B14F-4D97-AF65-F5344CB8AC3E}">
        <p14:creationId xmlns:p14="http://schemas.microsoft.com/office/powerpoint/2010/main" val="127385598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85240-28E3-189C-3F1D-AD49457B5A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161A56-F32B-8202-F1D9-03A4C0C764F8}"/>
              </a:ext>
            </a:extLst>
          </p:cNvPr>
          <p:cNvSpPr>
            <a:spLocks noGrp="1"/>
          </p:cNvSpPr>
          <p:nvPr>
            <p:ph idx="1"/>
          </p:nvPr>
        </p:nvSpPr>
        <p:spPr/>
        <p:txBody>
          <a:bodyPr>
            <a:normAutofit lnSpcReduction="10000"/>
          </a:bodyPr>
          <a:lstStyle/>
          <a:p>
            <a:r>
              <a:rPr lang="en-US" sz="2800" dirty="0"/>
              <a:t>difference between on and natural is that the result has the </a:t>
            </a:r>
            <a:r>
              <a:rPr lang="en-US" sz="2800" dirty="0" err="1"/>
              <a:t>sid</a:t>
            </a:r>
            <a:r>
              <a:rPr lang="en-US" sz="2800" dirty="0"/>
              <a:t> attribute listed twice, in join result, once for sailor and once for reserve, even though their </a:t>
            </a:r>
            <a:r>
              <a:rPr lang="en-US" sz="2800" dirty="0" err="1"/>
              <a:t>sid</a:t>
            </a:r>
            <a:r>
              <a:rPr lang="en-US" sz="2800" dirty="0"/>
              <a:t> values must be the same in natural join</a:t>
            </a:r>
          </a:p>
          <a:p>
            <a:pPr marR="0" algn="just" rtl="0"/>
            <a:r>
              <a:rPr lang="en-US" sz="2800" b="0" i="0" u="none" strike="noStrike" kern="100" baseline="0" dirty="0"/>
              <a:t>the relation’s name is used to disambiguate the attribute name </a:t>
            </a:r>
            <a:r>
              <a:rPr lang="en-US" sz="2800" b="0" i="0" u="none" strike="noStrike" kern="100" baseline="0" dirty="0" err="1"/>
              <a:t>sid</a:t>
            </a:r>
            <a:r>
              <a:rPr lang="en-US" sz="2800" b="0" i="0" u="none" strike="noStrike" kern="100" baseline="0" dirty="0"/>
              <a:t>, and thus the two occurrences can be referred to as </a:t>
            </a:r>
            <a:r>
              <a:rPr lang="en-US" sz="2800" b="0" i="0" u="none" strike="noStrike" kern="100" baseline="0" dirty="0" err="1"/>
              <a:t>sailors.sid</a:t>
            </a:r>
            <a:r>
              <a:rPr lang="en-US" sz="2800" b="0" i="0" u="none" strike="noStrike" kern="100" baseline="0" dirty="0"/>
              <a:t> and </a:t>
            </a:r>
            <a:r>
              <a:rPr lang="en-US" sz="2800" b="0" i="0" u="none" strike="noStrike" kern="100" baseline="0" dirty="0" err="1"/>
              <a:t>reserves.sid</a:t>
            </a:r>
            <a:r>
              <a:rPr lang="en-US" sz="2800" b="0" i="0" u="none" strike="noStrike" kern="100" baseline="0" dirty="0"/>
              <a:t>, respectively</a:t>
            </a:r>
          </a:p>
          <a:p>
            <a:pPr marR="0" algn="just" rtl="0"/>
            <a:r>
              <a:rPr lang="en-US" sz="2800" b="0" i="0" u="none" strike="noStrike" kern="100" baseline="0" dirty="0"/>
              <a:t>result of this query is the same as the result of the natural join</a:t>
            </a:r>
          </a:p>
          <a:p>
            <a:endParaRPr lang="en-US" sz="2800" dirty="0"/>
          </a:p>
          <a:p>
            <a:endParaRPr lang="en-US" sz="2800" dirty="0"/>
          </a:p>
        </p:txBody>
      </p:sp>
      <p:sp>
        <p:nvSpPr>
          <p:cNvPr id="4" name="Slide Number Placeholder 3">
            <a:extLst>
              <a:ext uri="{FF2B5EF4-FFF2-40B4-BE49-F238E27FC236}">
                <a16:creationId xmlns:a16="http://schemas.microsoft.com/office/drawing/2014/main" id="{01DC321C-4D0A-F151-0F27-6CA592717D1D}"/>
              </a:ext>
            </a:extLst>
          </p:cNvPr>
          <p:cNvSpPr>
            <a:spLocks noGrp="1"/>
          </p:cNvSpPr>
          <p:nvPr>
            <p:ph type="sldNum" sz="quarter" idx="12"/>
          </p:nvPr>
        </p:nvSpPr>
        <p:spPr/>
        <p:txBody>
          <a:bodyPr/>
          <a:lstStyle/>
          <a:p>
            <a:fld id="{B6F15528-21DE-4FAA-801E-634DDDAF4B2B}" type="slidenum">
              <a:rPr lang="en-US" smtClean="0"/>
              <a:pPr/>
              <a:t>94</a:t>
            </a:fld>
            <a:endParaRPr lang="en-US"/>
          </a:p>
        </p:txBody>
      </p:sp>
    </p:spTree>
    <p:extLst>
      <p:ext uri="{BB962C8B-B14F-4D97-AF65-F5344CB8AC3E}">
        <p14:creationId xmlns:p14="http://schemas.microsoft.com/office/powerpoint/2010/main" val="21548972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FF6BD-65DF-02B9-A1B8-16A2BC8BE5C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F4E6AE8-D5E6-0272-6CC5-E19C1A43280A}"/>
              </a:ext>
            </a:extLst>
          </p:cNvPr>
          <p:cNvSpPr>
            <a:spLocks noGrp="1"/>
          </p:cNvSpPr>
          <p:nvPr>
            <p:ph type="title"/>
          </p:nvPr>
        </p:nvSpPr>
        <p:spPr/>
        <p:txBody>
          <a:bodyPr>
            <a:normAutofit fontScale="90000"/>
          </a:bodyPr>
          <a:lstStyle/>
          <a:p>
            <a:r>
              <a:rPr lang="en-US" dirty="0"/>
              <a:t>JOIN</a:t>
            </a:r>
            <a:br>
              <a:rPr lang="en-US" dirty="0"/>
            </a:br>
            <a:r>
              <a:rPr lang="en-US" dirty="0"/>
              <a:t>following queries return the same data</a:t>
            </a:r>
          </a:p>
        </p:txBody>
      </p:sp>
      <p:sp>
        <p:nvSpPr>
          <p:cNvPr id="6" name="Text Placeholder 5">
            <a:extLst>
              <a:ext uri="{FF2B5EF4-FFF2-40B4-BE49-F238E27FC236}">
                <a16:creationId xmlns:a16="http://schemas.microsoft.com/office/drawing/2014/main" id="{D5AA3A67-A151-CFED-3957-3890B1805058}"/>
              </a:ext>
            </a:extLst>
          </p:cNvPr>
          <p:cNvSpPr>
            <a:spLocks noGrp="1"/>
          </p:cNvSpPr>
          <p:nvPr>
            <p:ph type="body" idx="1"/>
          </p:nvPr>
        </p:nvSpPr>
        <p:spPr/>
        <p:txBody>
          <a:bodyPr>
            <a:normAutofit fontScale="92500" lnSpcReduction="20000"/>
          </a:bodyPr>
          <a:lstStyle/>
          <a:p>
            <a:r>
              <a:rPr lang="en-US" dirty="0"/>
              <a:t>Find the names of sailors and the boats reserved </a:t>
            </a:r>
          </a:p>
        </p:txBody>
      </p:sp>
      <p:sp>
        <p:nvSpPr>
          <p:cNvPr id="7" name="Content Placeholder 6">
            <a:extLst>
              <a:ext uri="{FF2B5EF4-FFF2-40B4-BE49-F238E27FC236}">
                <a16:creationId xmlns:a16="http://schemas.microsoft.com/office/drawing/2014/main" id="{1AD6F398-E2D5-F4B7-BFF8-2A6D1C6F9E59}"/>
              </a:ext>
            </a:extLst>
          </p:cNvPr>
          <p:cNvSpPr>
            <a:spLocks noGrp="1"/>
          </p:cNvSpPr>
          <p:nvPr>
            <p:ph sz="half" idx="2"/>
          </p:nvPr>
        </p:nvSpPr>
        <p:spPr>
          <a:xfrm>
            <a:off x="304800" y="2174875"/>
            <a:ext cx="4192588" cy="3951288"/>
          </a:xfrm>
        </p:spPr>
        <p:txBody>
          <a:bodyPr/>
          <a:lstStyle/>
          <a:p>
            <a:r>
              <a:rPr lang="en-US" dirty="0"/>
              <a:t>SELECT </a:t>
            </a:r>
            <a:r>
              <a:rPr lang="en-US" dirty="0" err="1"/>
              <a:t>S.sid</a:t>
            </a:r>
            <a:r>
              <a:rPr lang="en-US" dirty="0"/>
              <a:t>, </a:t>
            </a:r>
            <a:r>
              <a:rPr lang="en-US" dirty="0" err="1"/>
              <a:t>S.sname</a:t>
            </a:r>
            <a:r>
              <a:rPr lang="en-US" dirty="0"/>
              <a:t>, </a:t>
            </a:r>
            <a:r>
              <a:rPr lang="en-US" dirty="0" err="1"/>
              <a:t>B.bid</a:t>
            </a:r>
            <a:r>
              <a:rPr lang="en-US" dirty="0"/>
              <a:t>, </a:t>
            </a:r>
            <a:r>
              <a:rPr lang="en-US" dirty="0" err="1"/>
              <a:t>B.bname</a:t>
            </a:r>
            <a:r>
              <a:rPr lang="en-US" dirty="0"/>
              <a:t>, </a:t>
            </a:r>
            <a:r>
              <a:rPr lang="en-US" dirty="0" err="1"/>
              <a:t>B.color</a:t>
            </a:r>
            <a:r>
              <a:rPr lang="en-US" dirty="0"/>
              <a:t>, </a:t>
            </a:r>
            <a:r>
              <a:rPr lang="en-US" dirty="0" err="1"/>
              <a:t>R.day</a:t>
            </a:r>
            <a:r>
              <a:rPr lang="en-US" dirty="0"/>
              <a:t> </a:t>
            </a:r>
          </a:p>
          <a:p>
            <a:r>
              <a:rPr lang="en-US" dirty="0"/>
              <a:t>FROM Sailors S, Reserves R, Boats B</a:t>
            </a:r>
          </a:p>
          <a:p>
            <a:r>
              <a:rPr lang="en-US" dirty="0"/>
              <a:t>WHERE </a:t>
            </a:r>
            <a:r>
              <a:rPr lang="en-US" dirty="0" err="1"/>
              <a:t>S.sid</a:t>
            </a:r>
            <a:r>
              <a:rPr lang="en-US" dirty="0"/>
              <a:t> = </a:t>
            </a:r>
            <a:r>
              <a:rPr lang="en-US" dirty="0" err="1"/>
              <a:t>R.sid</a:t>
            </a:r>
            <a:r>
              <a:rPr lang="en-US" dirty="0"/>
              <a:t> AND </a:t>
            </a:r>
            <a:r>
              <a:rPr lang="en-US" dirty="0" err="1"/>
              <a:t>R.bid</a:t>
            </a:r>
            <a:r>
              <a:rPr lang="en-US" dirty="0"/>
              <a:t> = </a:t>
            </a:r>
            <a:r>
              <a:rPr lang="en-US" dirty="0" err="1"/>
              <a:t>B.bid</a:t>
            </a:r>
            <a:r>
              <a:rPr lang="en-US" dirty="0"/>
              <a:t> </a:t>
            </a:r>
          </a:p>
        </p:txBody>
      </p:sp>
      <p:sp>
        <p:nvSpPr>
          <p:cNvPr id="8" name="Text Placeholder 7">
            <a:extLst>
              <a:ext uri="{FF2B5EF4-FFF2-40B4-BE49-F238E27FC236}">
                <a16:creationId xmlns:a16="http://schemas.microsoft.com/office/drawing/2014/main" id="{D411D4AA-DE60-13E9-6898-5AF18780AFEA}"/>
              </a:ext>
            </a:extLst>
          </p:cNvPr>
          <p:cNvSpPr>
            <a:spLocks noGrp="1"/>
          </p:cNvSpPr>
          <p:nvPr>
            <p:ph type="body" sz="quarter" idx="3"/>
          </p:nvPr>
        </p:nvSpPr>
        <p:spPr/>
        <p:txBody>
          <a:bodyPr>
            <a:normAutofit fontScale="92500" lnSpcReduction="20000"/>
          </a:bodyPr>
          <a:lstStyle/>
          <a:p>
            <a:r>
              <a:rPr lang="en-US" sz="2700" dirty="0"/>
              <a:t>better …</a:t>
            </a:r>
          </a:p>
        </p:txBody>
      </p:sp>
      <p:sp>
        <p:nvSpPr>
          <p:cNvPr id="9" name="Content Placeholder 8">
            <a:extLst>
              <a:ext uri="{FF2B5EF4-FFF2-40B4-BE49-F238E27FC236}">
                <a16:creationId xmlns:a16="http://schemas.microsoft.com/office/drawing/2014/main" id="{DD38F987-B42C-61AC-0130-8ECB1BBAAAEE}"/>
              </a:ext>
            </a:extLst>
          </p:cNvPr>
          <p:cNvSpPr>
            <a:spLocks noGrp="1"/>
          </p:cNvSpPr>
          <p:nvPr>
            <p:ph sz="quarter" idx="4"/>
          </p:nvPr>
        </p:nvSpPr>
        <p:spPr>
          <a:xfrm>
            <a:off x="4343400" y="2174875"/>
            <a:ext cx="4494213" cy="3951288"/>
          </a:xfrm>
        </p:spPr>
        <p:txBody>
          <a:bodyPr/>
          <a:lstStyle/>
          <a:p>
            <a:r>
              <a:rPr lang="en-US" dirty="0"/>
              <a:t>SELECT </a:t>
            </a:r>
            <a:r>
              <a:rPr lang="en-US" dirty="0" err="1"/>
              <a:t>S.sid</a:t>
            </a:r>
            <a:r>
              <a:rPr lang="en-US" dirty="0"/>
              <a:t>, </a:t>
            </a:r>
            <a:r>
              <a:rPr lang="en-US" dirty="0" err="1"/>
              <a:t>S.sname</a:t>
            </a:r>
            <a:r>
              <a:rPr lang="en-US" dirty="0"/>
              <a:t>, </a:t>
            </a:r>
            <a:r>
              <a:rPr lang="en-US" dirty="0" err="1"/>
              <a:t>B.bid</a:t>
            </a:r>
            <a:r>
              <a:rPr lang="en-US" dirty="0"/>
              <a:t>, </a:t>
            </a:r>
            <a:r>
              <a:rPr lang="en-US" dirty="0" err="1"/>
              <a:t>B.bname</a:t>
            </a:r>
            <a:r>
              <a:rPr lang="en-US" dirty="0"/>
              <a:t>, </a:t>
            </a:r>
            <a:r>
              <a:rPr lang="en-US" dirty="0" err="1"/>
              <a:t>B.color</a:t>
            </a:r>
            <a:r>
              <a:rPr lang="en-US" dirty="0"/>
              <a:t>, </a:t>
            </a:r>
            <a:r>
              <a:rPr lang="en-US" dirty="0" err="1"/>
              <a:t>R.day</a:t>
            </a:r>
            <a:r>
              <a:rPr lang="en-US" dirty="0"/>
              <a:t> </a:t>
            </a:r>
          </a:p>
          <a:p>
            <a:r>
              <a:rPr lang="en-US" dirty="0"/>
              <a:t>FROM Sailors S </a:t>
            </a:r>
          </a:p>
          <a:p>
            <a:r>
              <a:rPr lang="en-US" dirty="0"/>
              <a:t>JOIN Reserves R ON </a:t>
            </a:r>
            <a:r>
              <a:rPr lang="en-US" dirty="0" err="1"/>
              <a:t>S.sid</a:t>
            </a:r>
            <a:r>
              <a:rPr lang="en-US" dirty="0"/>
              <a:t> = </a:t>
            </a:r>
            <a:r>
              <a:rPr lang="en-US" dirty="0" err="1"/>
              <a:t>R.sid</a:t>
            </a:r>
            <a:r>
              <a:rPr lang="en-US" dirty="0"/>
              <a:t> </a:t>
            </a:r>
          </a:p>
          <a:p>
            <a:r>
              <a:rPr lang="en-US" dirty="0"/>
              <a:t>JOIN Boats B ON </a:t>
            </a:r>
            <a:r>
              <a:rPr lang="en-US" dirty="0" err="1"/>
              <a:t>R.bid</a:t>
            </a:r>
            <a:r>
              <a:rPr lang="en-US" dirty="0"/>
              <a:t> = </a:t>
            </a:r>
            <a:r>
              <a:rPr lang="en-US" dirty="0" err="1"/>
              <a:t>B.bid</a:t>
            </a:r>
            <a:endParaRPr lang="en-US" dirty="0"/>
          </a:p>
        </p:txBody>
      </p:sp>
      <p:sp>
        <p:nvSpPr>
          <p:cNvPr id="4" name="Slide Number Placeholder 3">
            <a:extLst>
              <a:ext uri="{FF2B5EF4-FFF2-40B4-BE49-F238E27FC236}">
                <a16:creationId xmlns:a16="http://schemas.microsoft.com/office/drawing/2014/main" id="{B2E82E0F-14CF-E812-9496-530FBD586C80}"/>
              </a:ext>
            </a:extLst>
          </p:cNvPr>
          <p:cNvSpPr>
            <a:spLocks noGrp="1"/>
          </p:cNvSpPr>
          <p:nvPr>
            <p:ph type="sldNum" sz="quarter" idx="12"/>
          </p:nvPr>
        </p:nvSpPr>
        <p:spPr/>
        <p:txBody>
          <a:bodyPr/>
          <a:lstStyle/>
          <a:p>
            <a:fld id="{B6F15528-21DE-4FAA-801E-634DDDAF4B2B}" type="slidenum">
              <a:rPr lang="en-US" smtClean="0"/>
              <a:pPr/>
              <a:t>95</a:t>
            </a:fld>
            <a:endParaRPr lang="en-US"/>
          </a:p>
        </p:txBody>
      </p:sp>
    </p:spTree>
    <p:extLst>
      <p:ext uri="{BB962C8B-B14F-4D97-AF65-F5344CB8AC3E}">
        <p14:creationId xmlns:p14="http://schemas.microsoft.com/office/powerpoint/2010/main" val="22875946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F6E11AA-A9EA-A43C-93FF-B32BA053ED37}"/>
              </a:ext>
            </a:extLst>
          </p:cNvPr>
          <p:cNvSpPr>
            <a:spLocks noGrp="1"/>
          </p:cNvSpPr>
          <p:nvPr>
            <p:ph type="title"/>
          </p:nvPr>
        </p:nvSpPr>
        <p:spPr/>
        <p:txBody>
          <a:bodyPr/>
          <a:lstStyle/>
          <a:p>
            <a:endParaRPr lang="en-US"/>
          </a:p>
        </p:txBody>
      </p:sp>
      <p:sp>
        <p:nvSpPr>
          <p:cNvPr id="9" name="Content Placeholder 8">
            <a:extLst>
              <a:ext uri="{FF2B5EF4-FFF2-40B4-BE49-F238E27FC236}">
                <a16:creationId xmlns:a16="http://schemas.microsoft.com/office/drawing/2014/main" id="{D7BDDBF4-AEF2-1578-8362-65E87708CF04}"/>
              </a:ext>
            </a:extLst>
          </p:cNvPr>
          <p:cNvSpPr>
            <a:spLocks noGrp="1"/>
          </p:cNvSpPr>
          <p:nvPr>
            <p:ph idx="1"/>
          </p:nvPr>
        </p:nvSpPr>
        <p:spPr/>
        <p:txBody>
          <a:bodyPr>
            <a:noAutofit/>
          </a:bodyPr>
          <a:lstStyle/>
          <a:p>
            <a:r>
              <a:rPr lang="en-US" sz="2800" dirty="0"/>
              <a:t>the </a:t>
            </a:r>
            <a:r>
              <a:rPr lang="en-US" sz="2800" i="1" dirty="0"/>
              <a:t>on</a:t>
            </a:r>
            <a:r>
              <a:rPr lang="en-US" sz="2800" dirty="0"/>
              <a:t> condition can express any SQL predicate and thus join expressions using on condition can express a richer class of join conditions than natural join</a:t>
            </a:r>
          </a:p>
        </p:txBody>
      </p:sp>
      <p:sp>
        <p:nvSpPr>
          <p:cNvPr id="7" name="Slide Number Placeholder 6">
            <a:extLst>
              <a:ext uri="{FF2B5EF4-FFF2-40B4-BE49-F238E27FC236}">
                <a16:creationId xmlns:a16="http://schemas.microsoft.com/office/drawing/2014/main" id="{B6DE2FD2-897D-3D9E-19DE-58B5FD66209A}"/>
              </a:ext>
            </a:extLst>
          </p:cNvPr>
          <p:cNvSpPr>
            <a:spLocks noGrp="1"/>
          </p:cNvSpPr>
          <p:nvPr>
            <p:ph type="sldNum" sz="quarter" idx="12"/>
          </p:nvPr>
        </p:nvSpPr>
        <p:spPr/>
        <p:txBody>
          <a:bodyPr/>
          <a:lstStyle/>
          <a:p>
            <a:fld id="{B6F15528-21DE-4FAA-801E-634DDDAF4B2B}" type="slidenum">
              <a:rPr lang="en-US" smtClean="0"/>
              <a:pPr/>
              <a:t>96</a:t>
            </a:fld>
            <a:endParaRPr lang="en-US"/>
          </a:p>
        </p:txBody>
      </p:sp>
    </p:spTree>
    <p:extLst>
      <p:ext uri="{BB962C8B-B14F-4D97-AF65-F5344CB8AC3E}">
        <p14:creationId xmlns:p14="http://schemas.microsoft.com/office/powerpoint/2010/main" val="168514944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D0469-AE84-C547-1BEA-BE5DC7B1C6B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070D3C8-C016-263D-D44E-E44E11F675EB}"/>
              </a:ext>
            </a:extLst>
          </p:cNvPr>
          <p:cNvSpPr>
            <a:spLocks noGrp="1"/>
          </p:cNvSpPr>
          <p:nvPr>
            <p:ph type="title"/>
          </p:nvPr>
        </p:nvSpPr>
        <p:spPr/>
        <p:txBody>
          <a:bodyPr/>
          <a:lstStyle/>
          <a:p>
            <a:endParaRPr lang="en-US"/>
          </a:p>
        </p:txBody>
      </p:sp>
      <p:sp>
        <p:nvSpPr>
          <p:cNvPr id="9" name="Content Placeholder 8">
            <a:extLst>
              <a:ext uri="{FF2B5EF4-FFF2-40B4-BE49-F238E27FC236}">
                <a16:creationId xmlns:a16="http://schemas.microsoft.com/office/drawing/2014/main" id="{A6736F56-F421-06C6-5570-0BFFEFA5B420}"/>
              </a:ext>
            </a:extLst>
          </p:cNvPr>
          <p:cNvSpPr>
            <a:spLocks noGrp="1"/>
          </p:cNvSpPr>
          <p:nvPr>
            <p:ph idx="1"/>
          </p:nvPr>
        </p:nvSpPr>
        <p:spPr/>
        <p:txBody>
          <a:bodyPr>
            <a:noAutofit/>
          </a:bodyPr>
          <a:lstStyle/>
          <a:p>
            <a:r>
              <a:rPr lang="en-US" sz="2800" dirty="0"/>
              <a:t>two very good reasons for introducing </a:t>
            </a:r>
            <a:r>
              <a:rPr lang="en-US" sz="2800" i="1" dirty="0"/>
              <a:t>on</a:t>
            </a:r>
            <a:r>
              <a:rPr lang="en-US" sz="2800" dirty="0"/>
              <a:t> condition</a:t>
            </a:r>
          </a:p>
          <a:p>
            <a:pPr marL="914400" lvl="1" indent="-457200">
              <a:buFont typeface="+mj-lt"/>
              <a:buAutoNum type="arabicPeriod"/>
            </a:pPr>
            <a:r>
              <a:rPr lang="en-US" sz="2700" dirty="0"/>
              <a:t>we shall see shortly that for a kind of join called an outer join, on conditions do behave in a manner different from where conditions</a:t>
            </a:r>
          </a:p>
          <a:p>
            <a:pPr marL="914400" lvl="1" indent="-457200">
              <a:buFont typeface="+mj-lt"/>
              <a:buAutoNum type="arabicPeriod"/>
            </a:pPr>
            <a:r>
              <a:rPr lang="en-US" sz="2700" dirty="0"/>
              <a:t>an SQL query is often more readable by humans if the join condition is specified in the on clause and the rest of the conditions appear in the where clause</a:t>
            </a:r>
          </a:p>
          <a:p>
            <a:pPr marL="914400" lvl="1" indent="-457200">
              <a:buFont typeface="+mj-lt"/>
              <a:buAutoNum type="arabicPeriod"/>
            </a:pPr>
            <a:r>
              <a:rPr lang="en-US" sz="2700" dirty="0"/>
              <a:t>execution could be optimized …</a:t>
            </a:r>
          </a:p>
        </p:txBody>
      </p:sp>
      <p:sp>
        <p:nvSpPr>
          <p:cNvPr id="7" name="Slide Number Placeholder 6">
            <a:extLst>
              <a:ext uri="{FF2B5EF4-FFF2-40B4-BE49-F238E27FC236}">
                <a16:creationId xmlns:a16="http://schemas.microsoft.com/office/drawing/2014/main" id="{0246AC27-F4AB-DEE8-2FD2-2266E8FE7506}"/>
              </a:ext>
            </a:extLst>
          </p:cNvPr>
          <p:cNvSpPr>
            <a:spLocks noGrp="1"/>
          </p:cNvSpPr>
          <p:nvPr>
            <p:ph type="sldNum" sz="quarter" idx="12"/>
          </p:nvPr>
        </p:nvSpPr>
        <p:spPr/>
        <p:txBody>
          <a:bodyPr/>
          <a:lstStyle/>
          <a:p>
            <a:fld id="{B6F15528-21DE-4FAA-801E-634DDDAF4B2B}" type="slidenum">
              <a:rPr lang="en-US" smtClean="0"/>
              <a:pPr/>
              <a:t>97</a:t>
            </a:fld>
            <a:endParaRPr lang="en-US"/>
          </a:p>
        </p:txBody>
      </p:sp>
    </p:spTree>
    <p:extLst>
      <p:ext uri="{BB962C8B-B14F-4D97-AF65-F5344CB8AC3E}">
        <p14:creationId xmlns:p14="http://schemas.microsoft.com/office/powerpoint/2010/main" val="14416523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19735-C4A3-E928-8F56-2F4F41AD174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0EC9662-3431-FEF1-B451-FC235A24F17A}"/>
              </a:ext>
            </a:extLst>
          </p:cNvPr>
          <p:cNvSpPr>
            <a:spLocks noGrp="1"/>
          </p:cNvSpPr>
          <p:nvPr>
            <p:ph type="title"/>
          </p:nvPr>
        </p:nvSpPr>
        <p:spPr/>
        <p:txBody>
          <a:bodyPr>
            <a:normAutofit fontScale="90000"/>
          </a:bodyPr>
          <a:lstStyle/>
          <a:p>
            <a:r>
              <a:rPr lang="en-US" dirty="0"/>
              <a:t>JOIN</a:t>
            </a:r>
            <a:br>
              <a:rPr lang="en-US" dirty="0"/>
            </a:br>
            <a:r>
              <a:rPr lang="en-US" dirty="0"/>
              <a:t>following queries return the same data</a:t>
            </a:r>
          </a:p>
        </p:txBody>
      </p:sp>
      <p:sp>
        <p:nvSpPr>
          <p:cNvPr id="6" name="Text Placeholder 5">
            <a:extLst>
              <a:ext uri="{FF2B5EF4-FFF2-40B4-BE49-F238E27FC236}">
                <a16:creationId xmlns:a16="http://schemas.microsoft.com/office/drawing/2014/main" id="{E05186B2-FD90-399C-282B-200BCD15A591}"/>
              </a:ext>
            </a:extLst>
          </p:cNvPr>
          <p:cNvSpPr>
            <a:spLocks noGrp="1"/>
          </p:cNvSpPr>
          <p:nvPr>
            <p:ph type="body" idx="1"/>
          </p:nvPr>
        </p:nvSpPr>
        <p:spPr/>
        <p:txBody>
          <a:bodyPr>
            <a:normAutofit fontScale="92500" lnSpcReduction="20000"/>
          </a:bodyPr>
          <a:lstStyle/>
          <a:p>
            <a:r>
              <a:rPr lang="en-US" dirty="0"/>
              <a:t>Find the names of sailors and the red boats reserved </a:t>
            </a:r>
          </a:p>
        </p:txBody>
      </p:sp>
      <p:sp>
        <p:nvSpPr>
          <p:cNvPr id="7" name="Content Placeholder 6">
            <a:extLst>
              <a:ext uri="{FF2B5EF4-FFF2-40B4-BE49-F238E27FC236}">
                <a16:creationId xmlns:a16="http://schemas.microsoft.com/office/drawing/2014/main" id="{676AECCC-FEE0-BDB0-B8EB-33C021829418}"/>
              </a:ext>
            </a:extLst>
          </p:cNvPr>
          <p:cNvSpPr>
            <a:spLocks noGrp="1"/>
          </p:cNvSpPr>
          <p:nvPr>
            <p:ph sz="half" idx="2"/>
          </p:nvPr>
        </p:nvSpPr>
        <p:spPr>
          <a:xfrm>
            <a:off x="304800" y="2174875"/>
            <a:ext cx="4192588" cy="3951288"/>
          </a:xfrm>
        </p:spPr>
        <p:txBody>
          <a:bodyPr/>
          <a:lstStyle/>
          <a:p>
            <a:r>
              <a:rPr lang="en-US" dirty="0"/>
              <a:t>SELECT </a:t>
            </a:r>
            <a:r>
              <a:rPr lang="en-US" dirty="0" err="1"/>
              <a:t>S.sid</a:t>
            </a:r>
            <a:r>
              <a:rPr lang="en-US" dirty="0"/>
              <a:t>, </a:t>
            </a:r>
            <a:r>
              <a:rPr lang="en-US" dirty="0" err="1"/>
              <a:t>S.sname</a:t>
            </a:r>
            <a:r>
              <a:rPr lang="en-US" dirty="0"/>
              <a:t>, </a:t>
            </a:r>
            <a:r>
              <a:rPr lang="en-US" dirty="0" err="1"/>
              <a:t>B.bid</a:t>
            </a:r>
            <a:r>
              <a:rPr lang="en-US" dirty="0"/>
              <a:t>, </a:t>
            </a:r>
            <a:r>
              <a:rPr lang="en-US" dirty="0" err="1"/>
              <a:t>B.bname</a:t>
            </a:r>
            <a:r>
              <a:rPr lang="en-US" dirty="0"/>
              <a:t>, </a:t>
            </a:r>
            <a:r>
              <a:rPr lang="en-US" dirty="0" err="1"/>
              <a:t>B.color</a:t>
            </a:r>
            <a:r>
              <a:rPr lang="en-US" dirty="0"/>
              <a:t>, </a:t>
            </a:r>
            <a:r>
              <a:rPr lang="en-US" dirty="0" err="1"/>
              <a:t>R.day</a:t>
            </a:r>
            <a:r>
              <a:rPr lang="en-US" dirty="0"/>
              <a:t> </a:t>
            </a:r>
          </a:p>
          <a:p>
            <a:r>
              <a:rPr lang="en-US" dirty="0"/>
              <a:t>FROM Sailors S, Reserves R, Boats B</a:t>
            </a:r>
          </a:p>
          <a:p>
            <a:r>
              <a:rPr lang="en-US" dirty="0"/>
              <a:t>WHERE </a:t>
            </a:r>
            <a:r>
              <a:rPr lang="en-US" dirty="0" err="1"/>
              <a:t>S.sid</a:t>
            </a:r>
            <a:r>
              <a:rPr lang="en-US" dirty="0"/>
              <a:t> = </a:t>
            </a:r>
            <a:r>
              <a:rPr lang="en-US" dirty="0" err="1"/>
              <a:t>R.sid</a:t>
            </a:r>
            <a:r>
              <a:rPr lang="en-US" dirty="0"/>
              <a:t> AND </a:t>
            </a:r>
            <a:r>
              <a:rPr lang="en-US" dirty="0" err="1"/>
              <a:t>R.bid</a:t>
            </a:r>
            <a:r>
              <a:rPr lang="en-US" dirty="0"/>
              <a:t> = </a:t>
            </a:r>
            <a:r>
              <a:rPr lang="en-US" dirty="0" err="1"/>
              <a:t>B.bid</a:t>
            </a:r>
            <a:r>
              <a:rPr lang="en-US" dirty="0"/>
              <a:t> AND </a:t>
            </a:r>
            <a:r>
              <a:rPr lang="en-US" dirty="0" err="1"/>
              <a:t>B.color</a:t>
            </a:r>
            <a:r>
              <a:rPr lang="en-US" dirty="0"/>
              <a:t> – 'red'</a:t>
            </a:r>
          </a:p>
        </p:txBody>
      </p:sp>
      <p:sp>
        <p:nvSpPr>
          <p:cNvPr id="8" name="Text Placeholder 7">
            <a:extLst>
              <a:ext uri="{FF2B5EF4-FFF2-40B4-BE49-F238E27FC236}">
                <a16:creationId xmlns:a16="http://schemas.microsoft.com/office/drawing/2014/main" id="{EDEC2FED-F405-B831-6E74-5978EF6B705B}"/>
              </a:ext>
            </a:extLst>
          </p:cNvPr>
          <p:cNvSpPr>
            <a:spLocks noGrp="1"/>
          </p:cNvSpPr>
          <p:nvPr>
            <p:ph type="body" sz="quarter" idx="3"/>
          </p:nvPr>
        </p:nvSpPr>
        <p:spPr/>
        <p:txBody>
          <a:bodyPr>
            <a:normAutofit fontScale="92500" lnSpcReduction="20000"/>
          </a:bodyPr>
          <a:lstStyle/>
          <a:p>
            <a:r>
              <a:rPr lang="en-US" dirty="0"/>
              <a:t>Find the names of sailors and the red boats reserved </a:t>
            </a:r>
          </a:p>
        </p:txBody>
      </p:sp>
      <p:sp>
        <p:nvSpPr>
          <p:cNvPr id="9" name="Content Placeholder 8">
            <a:extLst>
              <a:ext uri="{FF2B5EF4-FFF2-40B4-BE49-F238E27FC236}">
                <a16:creationId xmlns:a16="http://schemas.microsoft.com/office/drawing/2014/main" id="{AD146360-3BA8-9E30-AD22-20818BCD580F}"/>
              </a:ext>
            </a:extLst>
          </p:cNvPr>
          <p:cNvSpPr>
            <a:spLocks noGrp="1"/>
          </p:cNvSpPr>
          <p:nvPr>
            <p:ph sz="quarter" idx="4"/>
          </p:nvPr>
        </p:nvSpPr>
        <p:spPr>
          <a:xfrm>
            <a:off x="4343400" y="2174875"/>
            <a:ext cx="4494213" cy="3951288"/>
          </a:xfrm>
        </p:spPr>
        <p:txBody>
          <a:bodyPr/>
          <a:lstStyle/>
          <a:p>
            <a:r>
              <a:rPr lang="en-US" dirty="0"/>
              <a:t>SELECT </a:t>
            </a:r>
            <a:r>
              <a:rPr lang="en-US" dirty="0" err="1"/>
              <a:t>S.sid</a:t>
            </a:r>
            <a:r>
              <a:rPr lang="en-US" dirty="0"/>
              <a:t>, </a:t>
            </a:r>
            <a:r>
              <a:rPr lang="en-US" dirty="0" err="1"/>
              <a:t>S.sname</a:t>
            </a:r>
            <a:r>
              <a:rPr lang="en-US" dirty="0"/>
              <a:t>, </a:t>
            </a:r>
            <a:r>
              <a:rPr lang="en-US" dirty="0" err="1"/>
              <a:t>B.bid</a:t>
            </a:r>
            <a:r>
              <a:rPr lang="en-US" dirty="0"/>
              <a:t>, </a:t>
            </a:r>
            <a:r>
              <a:rPr lang="en-US" dirty="0" err="1"/>
              <a:t>B.bname</a:t>
            </a:r>
            <a:r>
              <a:rPr lang="en-US" dirty="0"/>
              <a:t>, </a:t>
            </a:r>
            <a:r>
              <a:rPr lang="en-US" dirty="0" err="1"/>
              <a:t>B.color</a:t>
            </a:r>
            <a:r>
              <a:rPr lang="en-US" dirty="0"/>
              <a:t>, </a:t>
            </a:r>
            <a:r>
              <a:rPr lang="en-US" dirty="0" err="1"/>
              <a:t>R.day</a:t>
            </a:r>
            <a:r>
              <a:rPr lang="en-US" dirty="0"/>
              <a:t> </a:t>
            </a:r>
          </a:p>
          <a:p>
            <a:r>
              <a:rPr lang="en-US" dirty="0"/>
              <a:t>FROM Sailors S </a:t>
            </a:r>
          </a:p>
          <a:p>
            <a:r>
              <a:rPr lang="en-US" dirty="0"/>
              <a:t>JOIN Reserves R ON </a:t>
            </a:r>
            <a:r>
              <a:rPr lang="en-US" dirty="0" err="1"/>
              <a:t>S.sid</a:t>
            </a:r>
            <a:r>
              <a:rPr lang="en-US" dirty="0"/>
              <a:t> = </a:t>
            </a:r>
            <a:r>
              <a:rPr lang="en-US" dirty="0" err="1"/>
              <a:t>R.sid</a:t>
            </a:r>
            <a:r>
              <a:rPr lang="en-US" dirty="0"/>
              <a:t> </a:t>
            </a:r>
          </a:p>
          <a:p>
            <a:r>
              <a:rPr lang="en-US" dirty="0"/>
              <a:t>JOIN Boats B ON </a:t>
            </a:r>
            <a:r>
              <a:rPr lang="en-US" dirty="0" err="1"/>
              <a:t>R.bid</a:t>
            </a:r>
            <a:r>
              <a:rPr lang="en-US" dirty="0"/>
              <a:t> = </a:t>
            </a:r>
            <a:r>
              <a:rPr lang="en-US" dirty="0" err="1"/>
              <a:t>B.bid</a:t>
            </a:r>
            <a:endParaRPr lang="en-US" dirty="0"/>
          </a:p>
          <a:p>
            <a:r>
              <a:rPr lang="en-US" dirty="0"/>
              <a:t>WHERE </a:t>
            </a:r>
            <a:r>
              <a:rPr lang="en-US" dirty="0" err="1"/>
              <a:t>B.color</a:t>
            </a:r>
            <a:r>
              <a:rPr lang="en-US" dirty="0"/>
              <a:t> = 'red'</a:t>
            </a:r>
          </a:p>
          <a:p>
            <a:endParaRPr lang="en-US" dirty="0"/>
          </a:p>
        </p:txBody>
      </p:sp>
      <p:sp>
        <p:nvSpPr>
          <p:cNvPr id="4" name="Slide Number Placeholder 3">
            <a:extLst>
              <a:ext uri="{FF2B5EF4-FFF2-40B4-BE49-F238E27FC236}">
                <a16:creationId xmlns:a16="http://schemas.microsoft.com/office/drawing/2014/main" id="{766401FC-0F40-E9A3-525F-F78C433E1821}"/>
              </a:ext>
            </a:extLst>
          </p:cNvPr>
          <p:cNvSpPr>
            <a:spLocks noGrp="1"/>
          </p:cNvSpPr>
          <p:nvPr>
            <p:ph type="sldNum" sz="quarter" idx="12"/>
          </p:nvPr>
        </p:nvSpPr>
        <p:spPr/>
        <p:txBody>
          <a:bodyPr/>
          <a:lstStyle/>
          <a:p>
            <a:fld id="{B6F15528-21DE-4FAA-801E-634DDDAF4B2B}" type="slidenum">
              <a:rPr lang="en-US" smtClean="0"/>
              <a:pPr/>
              <a:t>98</a:t>
            </a:fld>
            <a:endParaRPr lang="en-US"/>
          </a:p>
        </p:txBody>
      </p:sp>
    </p:spTree>
    <p:extLst>
      <p:ext uri="{BB962C8B-B14F-4D97-AF65-F5344CB8AC3E}">
        <p14:creationId xmlns:p14="http://schemas.microsoft.com/office/powerpoint/2010/main" val="141946084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0EBED-C9F3-59A9-E46C-67C4D1DE353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1DE59EE-C203-DB6D-85C2-3EF267BAE1A9}"/>
              </a:ext>
            </a:extLst>
          </p:cNvPr>
          <p:cNvSpPr>
            <a:spLocks noGrp="1"/>
          </p:cNvSpPr>
          <p:nvPr>
            <p:ph type="title"/>
          </p:nvPr>
        </p:nvSpPr>
        <p:spPr/>
        <p:txBody>
          <a:bodyPr>
            <a:normAutofit fontScale="90000"/>
          </a:bodyPr>
          <a:lstStyle/>
          <a:p>
            <a:r>
              <a:rPr lang="en-US" dirty="0"/>
              <a:t>JOIN </a:t>
            </a:r>
            <a:br>
              <a:rPr lang="en-US" dirty="0"/>
            </a:br>
            <a:r>
              <a:rPr lang="en-US" dirty="0"/>
              <a:t>default is Inner Join</a:t>
            </a:r>
          </a:p>
        </p:txBody>
      </p:sp>
      <p:sp>
        <p:nvSpPr>
          <p:cNvPr id="6" name="Text Placeholder 5">
            <a:extLst>
              <a:ext uri="{FF2B5EF4-FFF2-40B4-BE49-F238E27FC236}">
                <a16:creationId xmlns:a16="http://schemas.microsoft.com/office/drawing/2014/main" id="{6BF65D22-68C5-1901-F02B-18A04765FCA4}"/>
              </a:ext>
            </a:extLst>
          </p:cNvPr>
          <p:cNvSpPr>
            <a:spLocks noGrp="1"/>
          </p:cNvSpPr>
          <p:nvPr>
            <p:ph type="body" idx="1"/>
          </p:nvPr>
        </p:nvSpPr>
        <p:spPr/>
        <p:txBody>
          <a:bodyPr>
            <a:normAutofit fontScale="92500" lnSpcReduction="20000"/>
          </a:bodyPr>
          <a:lstStyle/>
          <a:p>
            <a:r>
              <a:rPr lang="en-US" dirty="0"/>
              <a:t>Find the names of sailors and the red boats reserved </a:t>
            </a:r>
          </a:p>
        </p:txBody>
      </p:sp>
      <p:sp>
        <p:nvSpPr>
          <p:cNvPr id="7" name="Content Placeholder 6">
            <a:extLst>
              <a:ext uri="{FF2B5EF4-FFF2-40B4-BE49-F238E27FC236}">
                <a16:creationId xmlns:a16="http://schemas.microsoft.com/office/drawing/2014/main" id="{6D13F908-8535-CDD5-17E0-89D072F3A384}"/>
              </a:ext>
            </a:extLst>
          </p:cNvPr>
          <p:cNvSpPr>
            <a:spLocks noGrp="1"/>
          </p:cNvSpPr>
          <p:nvPr>
            <p:ph sz="half" idx="2"/>
          </p:nvPr>
        </p:nvSpPr>
        <p:spPr>
          <a:xfrm>
            <a:off x="0" y="2174875"/>
            <a:ext cx="4497388" cy="3951288"/>
          </a:xfrm>
        </p:spPr>
        <p:txBody>
          <a:bodyPr/>
          <a:lstStyle/>
          <a:p>
            <a:r>
              <a:rPr lang="en-US" dirty="0"/>
              <a:t>SELECT </a:t>
            </a:r>
            <a:r>
              <a:rPr lang="en-US" dirty="0" err="1"/>
              <a:t>S.sid</a:t>
            </a:r>
            <a:r>
              <a:rPr lang="en-US" dirty="0"/>
              <a:t>, </a:t>
            </a:r>
            <a:r>
              <a:rPr lang="en-US" dirty="0" err="1"/>
              <a:t>S.sname</a:t>
            </a:r>
            <a:r>
              <a:rPr lang="en-US" dirty="0"/>
              <a:t>, </a:t>
            </a:r>
            <a:r>
              <a:rPr lang="en-US" dirty="0" err="1"/>
              <a:t>B.bid</a:t>
            </a:r>
            <a:r>
              <a:rPr lang="en-US" dirty="0"/>
              <a:t>, </a:t>
            </a:r>
            <a:r>
              <a:rPr lang="en-US" dirty="0" err="1"/>
              <a:t>B.bname</a:t>
            </a:r>
            <a:r>
              <a:rPr lang="en-US" dirty="0"/>
              <a:t>, </a:t>
            </a:r>
            <a:r>
              <a:rPr lang="en-US" dirty="0" err="1"/>
              <a:t>B.color</a:t>
            </a:r>
            <a:r>
              <a:rPr lang="en-US" dirty="0"/>
              <a:t>, </a:t>
            </a:r>
            <a:r>
              <a:rPr lang="en-US" dirty="0" err="1"/>
              <a:t>R.day</a:t>
            </a:r>
            <a:r>
              <a:rPr lang="en-US" dirty="0"/>
              <a:t> </a:t>
            </a:r>
          </a:p>
          <a:p>
            <a:r>
              <a:rPr lang="en-US" dirty="0"/>
              <a:t>FROM Sailors S </a:t>
            </a:r>
          </a:p>
          <a:p>
            <a:r>
              <a:rPr lang="en-US" dirty="0"/>
              <a:t>JOIN Reserves R ON </a:t>
            </a:r>
            <a:r>
              <a:rPr lang="en-US" dirty="0" err="1"/>
              <a:t>S.sid</a:t>
            </a:r>
            <a:r>
              <a:rPr lang="en-US" dirty="0"/>
              <a:t> = </a:t>
            </a:r>
            <a:r>
              <a:rPr lang="en-US" dirty="0" err="1"/>
              <a:t>R.sid</a:t>
            </a:r>
            <a:r>
              <a:rPr lang="en-US" dirty="0"/>
              <a:t> </a:t>
            </a:r>
          </a:p>
          <a:p>
            <a:r>
              <a:rPr lang="en-US" dirty="0"/>
              <a:t>JOIN Boats B ON </a:t>
            </a:r>
            <a:r>
              <a:rPr lang="en-US" dirty="0" err="1"/>
              <a:t>R.bid</a:t>
            </a:r>
            <a:r>
              <a:rPr lang="en-US" dirty="0"/>
              <a:t> = </a:t>
            </a:r>
            <a:r>
              <a:rPr lang="en-US" dirty="0" err="1"/>
              <a:t>B.bid</a:t>
            </a:r>
            <a:endParaRPr lang="en-US" dirty="0"/>
          </a:p>
          <a:p>
            <a:r>
              <a:rPr lang="en-US" dirty="0"/>
              <a:t>WHERE </a:t>
            </a:r>
            <a:r>
              <a:rPr lang="en-US" dirty="0" err="1"/>
              <a:t>B.color</a:t>
            </a:r>
            <a:r>
              <a:rPr lang="en-US" dirty="0"/>
              <a:t> = 'red'</a:t>
            </a:r>
          </a:p>
          <a:p>
            <a:endParaRPr lang="en-US" dirty="0"/>
          </a:p>
        </p:txBody>
      </p:sp>
      <p:sp>
        <p:nvSpPr>
          <p:cNvPr id="8" name="Text Placeholder 7">
            <a:extLst>
              <a:ext uri="{FF2B5EF4-FFF2-40B4-BE49-F238E27FC236}">
                <a16:creationId xmlns:a16="http://schemas.microsoft.com/office/drawing/2014/main" id="{CE4F57E1-93EB-B884-A510-883C518ECEF6}"/>
              </a:ext>
            </a:extLst>
          </p:cNvPr>
          <p:cNvSpPr>
            <a:spLocks noGrp="1"/>
          </p:cNvSpPr>
          <p:nvPr>
            <p:ph type="body" sz="quarter" idx="3"/>
          </p:nvPr>
        </p:nvSpPr>
        <p:spPr/>
        <p:txBody>
          <a:bodyPr>
            <a:normAutofit fontScale="92500" lnSpcReduction="20000"/>
          </a:bodyPr>
          <a:lstStyle/>
          <a:p>
            <a:r>
              <a:rPr lang="en-US" dirty="0"/>
              <a:t>Find the names of sailors and the red boats reserved </a:t>
            </a:r>
          </a:p>
        </p:txBody>
      </p:sp>
      <p:sp>
        <p:nvSpPr>
          <p:cNvPr id="9" name="Content Placeholder 8">
            <a:extLst>
              <a:ext uri="{FF2B5EF4-FFF2-40B4-BE49-F238E27FC236}">
                <a16:creationId xmlns:a16="http://schemas.microsoft.com/office/drawing/2014/main" id="{8D1EF59D-9D90-DFAF-82FF-83231A1F32BE}"/>
              </a:ext>
            </a:extLst>
          </p:cNvPr>
          <p:cNvSpPr>
            <a:spLocks noGrp="1"/>
          </p:cNvSpPr>
          <p:nvPr>
            <p:ph sz="quarter" idx="4"/>
          </p:nvPr>
        </p:nvSpPr>
        <p:spPr>
          <a:xfrm>
            <a:off x="4343400" y="2174875"/>
            <a:ext cx="4494213" cy="3951288"/>
          </a:xfrm>
        </p:spPr>
        <p:txBody>
          <a:bodyPr>
            <a:normAutofit/>
          </a:bodyPr>
          <a:lstStyle/>
          <a:p>
            <a:r>
              <a:rPr lang="en-US" dirty="0"/>
              <a:t>SELECT </a:t>
            </a:r>
            <a:r>
              <a:rPr lang="en-US" dirty="0" err="1"/>
              <a:t>S.sid</a:t>
            </a:r>
            <a:r>
              <a:rPr lang="en-US" dirty="0"/>
              <a:t>, </a:t>
            </a:r>
            <a:r>
              <a:rPr lang="en-US" dirty="0" err="1"/>
              <a:t>S.sname</a:t>
            </a:r>
            <a:r>
              <a:rPr lang="en-US" dirty="0"/>
              <a:t>, </a:t>
            </a:r>
            <a:r>
              <a:rPr lang="en-US" dirty="0" err="1"/>
              <a:t>B.bid</a:t>
            </a:r>
            <a:r>
              <a:rPr lang="en-US" dirty="0"/>
              <a:t>, </a:t>
            </a:r>
            <a:r>
              <a:rPr lang="en-US" dirty="0" err="1"/>
              <a:t>B.bname</a:t>
            </a:r>
            <a:r>
              <a:rPr lang="en-US" dirty="0"/>
              <a:t>, </a:t>
            </a:r>
            <a:r>
              <a:rPr lang="en-US" dirty="0" err="1"/>
              <a:t>B.color</a:t>
            </a:r>
            <a:r>
              <a:rPr lang="en-US" dirty="0"/>
              <a:t>, </a:t>
            </a:r>
            <a:r>
              <a:rPr lang="en-US" dirty="0" err="1"/>
              <a:t>R.day</a:t>
            </a:r>
            <a:r>
              <a:rPr lang="en-US" dirty="0"/>
              <a:t> </a:t>
            </a:r>
          </a:p>
          <a:p>
            <a:r>
              <a:rPr lang="en-US" dirty="0"/>
              <a:t>FROM Sailors S </a:t>
            </a:r>
          </a:p>
          <a:p>
            <a:r>
              <a:rPr lang="en-US" dirty="0"/>
              <a:t>INNER JOIN Reserves R </a:t>
            </a:r>
          </a:p>
          <a:p>
            <a:pPr lvl="1"/>
            <a:r>
              <a:rPr lang="en-US" sz="2400" dirty="0"/>
              <a:t>ON </a:t>
            </a:r>
            <a:r>
              <a:rPr lang="en-US" sz="2400" dirty="0" err="1"/>
              <a:t>S.sid</a:t>
            </a:r>
            <a:r>
              <a:rPr lang="en-US" sz="2400" dirty="0"/>
              <a:t> = </a:t>
            </a:r>
            <a:r>
              <a:rPr lang="en-US" sz="2400" dirty="0" err="1"/>
              <a:t>R.sid</a:t>
            </a:r>
            <a:r>
              <a:rPr lang="en-US" sz="2400" dirty="0"/>
              <a:t> </a:t>
            </a:r>
          </a:p>
          <a:p>
            <a:r>
              <a:rPr lang="en-US" dirty="0"/>
              <a:t>INNER JOIN Boats B </a:t>
            </a:r>
          </a:p>
          <a:p>
            <a:pPr lvl="1"/>
            <a:r>
              <a:rPr lang="en-US" sz="2400" dirty="0"/>
              <a:t>ON </a:t>
            </a:r>
            <a:r>
              <a:rPr lang="en-US" sz="2400" dirty="0" err="1"/>
              <a:t>R.bid</a:t>
            </a:r>
            <a:r>
              <a:rPr lang="en-US" sz="2400" dirty="0"/>
              <a:t> = </a:t>
            </a:r>
            <a:r>
              <a:rPr lang="en-US" sz="2400" dirty="0" err="1"/>
              <a:t>B.bid</a:t>
            </a:r>
            <a:endParaRPr lang="en-US" sz="2400" dirty="0"/>
          </a:p>
          <a:p>
            <a:r>
              <a:rPr lang="en-US" dirty="0"/>
              <a:t>WHERE </a:t>
            </a:r>
            <a:r>
              <a:rPr lang="en-US" dirty="0" err="1"/>
              <a:t>B.color</a:t>
            </a:r>
            <a:r>
              <a:rPr lang="en-US" dirty="0"/>
              <a:t> = 'red'</a:t>
            </a:r>
          </a:p>
          <a:p>
            <a:endParaRPr lang="en-US" dirty="0"/>
          </a:p>
        </p:txBody>
      </p:sp>
      <p:sp>
        <p:nvSpPr>
          <p:cNvPr id="4" name="Slide Number Placeholder 3">
            <a:extLst>
              <a:ext uri="{FF2B5EF4-FFF2-40B4-BE49-F238E27FC236}">
                <a16:creationId xmlns:a16="http://schemas.microsoft.com/office/drawing/2014/main" id="{E4DC69B0-4C28-616D-069F-C73FC6615FAD}"/>
              </a:ext>
            </a:extLst>
          </p:cNvPr>
          <p:cNvSpPr>
            <a:spLocks noGrp="1"/>
          </p:cNvSpPr>
          <p:nvPr>
            <p:ph type="sldNum" sz="quarter" idx="12"/>
          </p:nvPr>
        </p:nvSpPr>
        <p:spPr/>
        <p:txBody>
          <a:bodyPr/>
          <a:lstStyle/>
          <a:p>
            <a:fld id="{B6F15528-21DE-4FAA-801E-634DDDAF4B2B}" type="slidenum">
              <a:rPr lang="en-US" smtClean="0"/>
              <a:pPr/>
              <a:t>99</a:t>
            </a:fld>
            <a:endParaRPr lang="en-US"/>
          </a:p>
        </p:txBody>
      </p:sp>
    </p:spTree>
    <p:extLst>
      <p:ext uri="{BB962C8B-B14F-4D97-AF65-F5344CB8AC3E}">
        <p14:creationId xmlns:p14="http://schemas.microsoft.com/office/powerpoint/2010/main" val="56938306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3499FF6-637F-D769-CCD5-1FC1E9C376D6}"/>
              </a:ext>
            </a:extLst>
          </p:cNvPr>
          <p:cNvSpPr>
            <a:spLocks noGrp="1"/>
          </p:cNvSpPr>
          <p:nvPr>
            <p:ph type="title"/>
          </p:nvPr>
        </p:nvSpPr>
        <p:spPr/>
        <p:txBody>
          <a:bodyPr/>
          <a:lstStyle/>
          <a:p>
            <a:r>
              <a:rPr lang="en-US" dirty="0"/>
              <a:t>Outer JOIN</a:t>
            </a:r>
          </a:p>
        </p:txBody>
      </p:sp>
      <p:sp>
        <p:nvSpPr>
          <p:cNvPr id="9" name="Content Placeholder 8">
            <a:extLst>
              <a:ext uri="{FF2B5EF4-FFF2-40B4-BE49-F238E27FC236}">
                <a16:creationId xmlns:a16="http://schemas.microsoft.com/office/drawing/2014/main" id="{D5DEC05F-A46B-AE1C-9DE0-2D878703B3C4}"/>
              </a:ext>
            </a:extLst>
          </p:cNvPr>
          <p:cNvSpPr>
            <a:spLocks noGrp="1"/>
          </p:cNvSpPr>
          <p:nvPr>
            <p:ph idx="1"/>
          </p:nvPr>
        </p:nvSpPr>
        <p:spPr/>
        <p:txBody>
          <a:bodyPr>
            <a:noAutofit/>
          </a:bodyPr>
          <a:lstStyle/>
          <a:p>
            <a:r>
              <a:rPr lang="en-US" sz="2800" dirty="0"/>
              <a:t>to display a list of all sailors, displaying their name, along with the boats that they have taken, displaying their boat name and color together with the day of the reservation</a:t>
            </a:r>
          </a:p>
          <a:p>
            <a:r>
              <a:rPr lang="en-US" sz="2800" dirty="0"/>
              <a:t>query does not work quite as intended if there are some sailors who reserves no boat</a:t>
            </a:r>
          </a:p>
          <a:p>
            <a:r>
              <a:rPr lang="en-US" sz="2800" dirty="0"/>
              <a:t>tuple in Sailors relation for that particular sailor would not satisfy the condition of a natural join with any tuple in the Reserves relation, and that sailor’s data would not appear in the result</a:t>
            </a:r>
          </a:p>
        </p:txBody>
      </p:sp>
      <p:sp>
        <p:nvSpPr>
          <p:cNvPr id="7" name="Slide Number Placeholder 6">
            <a:extLst>
              <a:ext uri="{FF2B5EF4-FFF2-40B4-BE49-F238E27FC236}">
                <a16:creationId xmlns:a16="http://schemas.microsoft.com/office/drawing/2014/main" id="{527B37E2-54B6-4E4A-27A7-ED5F2CEED531}"/>
              </a:ext>
            </a:extLst>
          </p:cNvPr>
          <p:cNvSpPr>
            <a:spLocks noGrp="1"/>
          </p:cNvSpPr>
          <p:nvPr>
            <p:ph type="sldNum" sz="quarter" idx="12"/>
          </p:nvPr>
        </p:nvSpPr>
        <p:spPr/>
        <p:txBody>
          <a:bodyPr/>
          <a:lstStyle/>
          <a:p>
            <a:fld id="{B6F15528-21DE-4FAA-801E-634DDDAF4B2B}" type="slidenum">
              <a:rPr lang="en-US" smtClean="0"/>
              <a:pPr/>
              <a:t>100</a:t>
            </a:fld>
            <a:endParaRPr lang="en-US"/>
          </a:p>
        </p:txBody>
      </p:sp>
    </p:spTree>
    <p:extLst>
      <p:ext uri="{BB962C8B-B14F-4D97-AF65-F5344CB8AC3E}">
        <p14:creationId xmlns:p14="http://schemas.microsoft.com/office/powerpoint/2010/main" val="304044166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3C81E-1252-438F-4193-B1B484C39C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F52062-9DC8-EFE8-6F8B-4C10F6529E15}"/>
              </a:ext>
            </a:extLst>
          </p:cNvPr>
          <p:cNvSpPr>
            <a:spLocks noGrp="1"/>
          </p:cNvSpPr>
          <p:nvPr>
            <p:ph idx="1"/>
          </p:nvPr>
        </p:nvSpPr>
        <p:spPr/>
        <p:txBody>
          <a:bodyPr>
            <a:normAutofit/>
          </a:bodyPr>
          <a:lstStyle/>
          <a:p>
            <a:r>
              <a:rPr lang="en-US" sz="2800" dirty="0"/>
              <a:t>thus, not see any information about sailors who have not reserved any boats</a:t>
            </a:r>
          </a:p>
          <a:p>
            <a:r>
              <a:rPr lang="en-US" sz="2800" dirty="0"/>
              <a:t>for example, Andy (together with Rusty, Brutus, Art, Bob and Zorba) has made no reserve on boats; appears in Sailor, but Andy’s </a:t>
            </a:r>
            <a:r>
              <a:rPr lang="en-US" sz="2800" dirty="0" err="1"/>
              <a:t>sid</a:t>
            </a:r>
            <a:r>
              <a:rPr lang="en-US" sz="2800" dirty="0"/>
              <a:t> number does not appear in the </a:t>
            </a:r>
            <a:r>
              <a:rPr lang="en-US" sz="2800" dirty="0" err="1"/>
              <a:t>sid</a:t>
            </a:r>
            <a:r>
              <a:rPr lang="en-US" sz="2800" dirty="0"/>
              <a:t> column of Reserves</a:t>
            </a:r>
          </a:p>
          <a:p>
            <a:r>
              <a:rPr lang="en-US" sz="2800" dirty="0"/>
              <a:t>thus, Andy does not appear in result of natural join</a:t>
            </a:r>
          </a:p>
        </p:txBody>
      </p:sp>
      <p:sp>
        <p:nvSpPr>
          <p:cNvPr id="4" name="Slide Number Placeholder 3">
            <a:extLst>
              <a:ext uri="{FF2B5EF4-FFF2-40B4-BE49-F238E27FC236}">
                <a16:creationId xmlns:a16="http://schemas.microsoft.com/office/drawing/2014/main" id="{5EC2DB87-C044-8488-87A4-3EB3D2A90A04}"/>
              </a:ext>
            </a:extLst>
          </p:cNvPr>
          <p:cNvSpPr>
            <a:spLocks noGrp="1"/>
          </p:cNvSpPr>
          <p:nvPr>
            <p:ph type="sldNum" sz="quarter" idx="12"/>
          </p:nvPr>
        </p:nvSpPr>
        <p:spPr/>
        <p:txBody>
          <a:bodyPr/>
          <a:lstStyle/>
          <a:p>
            <a:fld id="{B6F15528-21DE-4FAA-801E-634DDDAF4B2B}" type="slidenum">
              <a:rPr lang="en-US" smtClean="0"/>
              <a:pPr/>
              <a:t>101</a:t>
            </a:fld>
            <a:endParaRPr lang="en-US"/>
          </a:p>
        </p:txBody>
      </p:sp>
    </p:spTree>
    <p:extLst>
      <p:ext uri="{BB962C8B-B14F-4D97-AF65-F5344CB8AC3E}">
        <p14:creationId xmlns:p14="http://schemas.microsoft.com/office/powerpoint/2010/main" val="36281961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58D1E34-863D-6FA4-A4BF-8DE471A28723}"/>
              </a:ext>
            </a:extLst>
          </p:cNvPr>
          <p:cNvSpPr>
            <a:spLocks noGrp="1"/>
          </p:cNvSpPr>
          <p:nvPr>
            <p:ph type="title"/>
          </p:nvPr>
        </p:nvSpPr>
        <p:spPr/>
        <p:txBody>
          <a:bodyPr/>
          <a:lstStyle/>
          <a:p>
            <a:endParaRPr lang="en-US" dirty="0"/>
          </a:p>
        </p:txBody>
      </p:sp>
      <p:sp>
        <p:nvSpPr>
          <p:cNvPr id="9" name="Text Placeholder 8">
            <a:extLst>
              <a:ext uri="{FF2B5EF4-FFF2-40B4-BE49-F238E27FC236}">
                <a16:creationId xmlns:a16="http://schemas.microsoft.com/office/drawing/2014/main" id="{DBDED041-FB07-96DF-E37B-D22FB7D369DD}"/>
              </a:ext>
            </a:extLst>
          </p:cNvPr>
          <p:cNvSpPr>
            <a:spLocks noGrp="1"/>
          </p:cNvSpPr>
          <p:nvPr>
            <p:ph type="body" idx="1"/>
          </p:nvPr>
        </p:nvSpPr>
        <p:spPr/>
        <p:txBody>
          <a:bodyPr>
            <a:normAutofit fontScale="85000" lnSpcReduction="20000"/>
          </a:bodyPr>
          <a:lstStyle/>
          <a:p>
            <a:r>
              <a:rPr lang="en-US" dirty="0"/>
              <a:t>Find the names of sailors and the boats reserved </a:t>
            </a:r>
          </a:p>
        </p:txBody>
      </p:sp>
      <p:sp>
        <p:nvSpPr>
          <p:cNvPr id="10" name="Content Placeholder 9">
            <a:extLst>
              <a:ext uri="{FF2B5EF4-FFF2-40B4-BE49-F238E27FC236}">
                <a16:creationId xmlns:a16="http://schemas.microsoft.com/office/drawing/2014/main" id="{941BFABD-2EA2-DA9E-8E13-7C2DD5DF5B75}"/>
              </a:ext>
            </a:extLst>
          </p:cNvPr>
          <p:cNvSpPr>
            <a:spLocks noGrp="1"/>
          </p:cNvSpPr>
          <p:nvPr>
            <p:ph sz="half" idx="2"/>
          </p:nvPr>
        </p:nvSpPr>
        <p:spPr>
          <a:xfrm>
            <a:off x="152400" y="2174875"/>
            <a:ext cx="4572000" cy="3951288"/>
          </a:xfrm>
        </p:spPr>
        <p:txBody>
          <a:bodyPr>
            <a:normAutofit/>
          </a:bodyPr>
          <a:lstStyle/>
          <a:p>
            <a:r>
              <a:rPr lang="en-US" dirty="0"/>
              <a:t>SELECT </a:t>
            </a:r>
            <a:r>
              <a:rPr lang="en-US" dirty="0" err="1"/>
              <a:t>S.sid</a:t>
            </a:r>
            <a:r>
              <a:rPr lang="en-US" dirty="0"/>
              <a:t>, </a:t>
            </a:r>
            <a:r>
              <a:rPr lang="en-US" dirty="0" err="1"/>
              <a:t>S.sname</a:t>
            </a:r>
            <a:r>
              <a:rPr lang="en-US" dirty="0"/>
              <a:t>, </a:t>
            </a:r>
            <a:r>
              <a:rPr lang="en-US" dirty="0" err="1"/>
              <a:t>B.bid</a:t>
            </a:r>
            <a:r>
              <a:rPr lang="en-US" dirty="0"/>
              <a:t>, </a:t>
            </a:r>
            <a:r>
              <a:rPr lang="en-US" dirty="0" err="1"/>
              <a:t>B.bname</a:t>
            </a:r>
            <a:r>
              <a:rPr lang="en-US" dirty="0"/>
              <a:t>, </a:t>
            </a:r>
            <a:r>
              <a:rPr lang="en-US" dirty="0" err="1"/>
              <a:t>B.color</a:t>
            </a:r>
            <a:r>
              <a:rPr lang="en-US" dirty="0"/>
              <a:t>, </a:t>
            </a:r>
            <a:r>
              <a:rPr lang="en-US" dirty="0" err="1"/>
              <a:t>R.day</a:t>
            </a:r>
            <a:r>
              <a:rPr lang="en-US" dirty="0"/>
              <a:t> </a:t>
            </a:r>
          </a:p>
          <a:p>
            <a:r>
              <a:rPr lang="en-US" dirty="0"/>
              <a:t>FROM Sailors S </a:t>
            </a:r>
          </a:p>
          <a:p>
            <a:r>
              <a:rPr lang="en-US" dirty="0"/>
              <a:t>JOIN Reserves R ON </a:t>
            </a:r>
            <a:r>
              <a:rPr lang="en-US" dirty="0" err="1"/>
              <a:t>S.sid</a:t>
            </a:r>
            <a:r>
              <a:rPr lang="en-US" dirty="0"/>
              <a:t> = </a:t>
            </a:r>
            <a:r>
              <a:rPr lang="en-US" dirty="0" err="1"/>
              <a:t>R.sid</a:t>
            </a:r>
            <a:r>
              <a:rPr lang="en-US" dirty="0"/>
              <a:t> </a:t>
            </a:r>
          </a:p>
          <a:p>
            <a:r>
              <a:rPr lang="en-US" dirty="0"/>
              <a:t>JOIN Boats B ON </a:t>
            </a:r>
            <a:r>
              <a:rPr lang="en-US" dirty="0" err="1"/>
              <a:t>R.bid</a:t>
            </a:r>
            <a:r>
              <a:rPr lang="en-US" dirty="0"/>
              <a:t> = </a:t>
            </a:r>
            <a:r>
              <a:rPr lang="en-US" dirty="0" err="1"/>
              <a:t>B.bid</a:t>
            </a:r>
            <a:r>
              <a:rPr lang="en-US" dirty="0"/>
              <a:t> </a:t>
            </a:r>
          </a:p>
        </p:txBody>
      </p:sp>
      <p:sp>
        <p:nvSpPr>
          <p:cNvPr id="11" name="Text Placeholder 10">
            <a:extLst>
              <a:ext uri="{FF2B5EF4-FFF2-40B4-BE49-F238E27FC236}">
                <a16:creationId xmlns:a16="http://schemas.microsoft.com/office/drawing/2014/main" id="{A1532EEF-F03A-964F-7D66-0BEF4969B61B}"/>
              </a:ext>
            </a:extLst>
          </p:cNvPr>
          <p:cNvSpPr>
            <a:spLocks noGrp="1"/>
          </p:cNvSpPr>
          <p:nvPr>
            <p:ph type="body" sz="quarter" idx="3"/>
          </p:nvPr>
        </p:nvSpPr>
        <p:spPr/>
        <p:txBody>
          <a:bodyPr>
            <a:normAutofit fontScale="85000" lnSpcReduction="20000"/>
          </a:bodyPr>
          <a:lstStyle/>
          <a:p>
            <a:r>
              <a:rPr lang="en-US" dirty="0"/>
              <a:t>Find the names of </a:t>
            </a:r>
            <a:r>
              <a:rPr lang="en-US" sz="2800" dirty="0"/>
              <a:t>all</a:t>
            </a:r>
            <a:r>
              <a:rPr lang="en-US" dirty="0"/>
              <a:t> sailors and the boats reserved </a:t>
            </a:r>
          </a:p>
        </p:txBody>
      </p:sp>
      <p:sp>
        <p:nvSpPr>
          <p:cNvPr id="12" name="Content Placeholder 11">
            <a:extLst>
              <a:ext uri="{FF2B5EF4-FFF2-40B4-BE49-F238E27FC236}">
                <a16:creationId xmlns:a16="http://schemas.microsoft.com/office/drawing/2014/main" id="{1B2CC117-489B-52BE-14C7-ED5B68DEF539}"/>
              </a:ext>
            </a:extLst>
          </p:cNvPr>
          <p:cNvSpPr>
            <a:spLocks noGrp="1"/>
          </p:cNvSpPr>
          <p:nvPr>
            <p:ph sz="quarter" idx="4"/>
          </p:nvPr>
        </p:nvSpPr>
        <p:spPr>
          <a:xfrm>
            <a:off x="4645025" y="2174875"/>
            <a:ext cx="4344988" cy="3951288"/>
          </a:xfrm>
        </p:spPr>
        <p:txBody>
          <a:bodyPr>
            <a:normAutofit/>
          </a:bodyPr>
          <a:lstStyle/>
          <a:p>
            <a:r>
              <a:rPr lang="en-US" dirty="0"/>
              <a:t>SELECT </a:t>
            </a:r>
            <a:r>
              <a:rPr lang="en-US" i="1" dirty="0" err="1"/>
              <a:t>S</a:t>
            </a:r>
            <a:r>
              <a:rPr lang="en-US" dirty="0" err="1"/>
              <a:t>.sid</a:t>
            </a:r>
            <a:r>
              <a:rPr lang="en-US" dirty="0"/>
              <a:t>, </a:t>
            </a:r>
            <a:r>
              <a:rPr lang="en-US" i="1" dirty="0" err="1"/>
              <a:t>S</a:t>
            </a:r>
            <a:r>
              <a:rPr lang="en-US" dirty="0" err="1"/>
              <a:t>.sname</a:t>
            </a:r>
            <a:r>
              <a:rPr lang="en-US" dirty="0"/>
              <a:t>, </a:t>
            </a:r>
            <a:r>
              <a:rPr lang="en-US" i="1" dirty="0" err="1"/>
              <a:t>B</a:t>
            </a:r>
            <a:r>
              <a:rPr lang="en-US" dirty="0" err="1"/>
              <a:t>.bid</a:t>
            </a:r>
            <a:r>
              <a:rPr lang="en-US" dirty="0"/>
              <a:t>, </a:t>
            </a:r>
            <a:r>
              <a:rPr lang="en-US" i="1" dirty="0" err="1"/>
              <a:t>B</a:t>
            </a:r>
            <a:r>
              <a:rPr lang="en-US" dirty="0" err="1"/>
              <a:t>.bname</a:t>
            </a:r>
            <a:r>
              <a:rPr lang="en-US" dirty="0"/>
              <a:t>, </a:t>
            </a:r>
            <a:r>
              <a:rPr lang="en-US" i="1" dirty="0" err="1"/>
              <a:t>B</a:t>
            </a:r>
            <a:r>
              <a:rPr lang="en-US" dirty="0" err="1"/>
              <a:t>.color</a:t>
            </a:r>
            <a:r>
              <a:rPr lang="en-US" dirty="0"/>
              <a:t>, </a:t>
            </a:r>
            <a:r>
              <a:rPr lang="en-US" i="1" dirty="0" err="1"/>
              <a:t>R</a:t>
            </a:r>
            <a:r>
              <a:rPr lang="en-US" dirty="0" err="1"/>
              <a:t>.day</a:t>
            </a:r>
            <a:r>
              <a:rPr lang="en-US" dirty="0"/>
              <a:t> </a:t>
            </a:r>
          </a:p>
          <a:p>
            <a:r>
              <a:rPr lang="en-US" dirty="0"/>
              <a:t>FROM Sailors </a:t>
            </a:r>
            <a:r>
              <a:rPr lang="en-US" i="1" dirty="0"/>
              <a:t>S</a:t>
            </a:r>
            <a:r>
              <a:rPr lang="en-US" dirty="0"/>
              <a:t> </a:t>
            </a:r>
          </a:p>
          <a:p>
            <a:r>
              <a:rPr lang="en-US" dirty="0"/>
              <a:t>LEFT OUTER JOIN Reserves </a:t>
            </a:r>
            <a:r>
              <a:rPr lang="en-US" i="1" dirty="0"/>
              <a:t>R</a:t>
            </a:r>
            <a:r>
              <a:rPr lang="en-US" dirty="0"/>
              <a:t> ON </a:t>
            </a:r>
            <a:r>
              <a:rPr lang="en-US" i="1" dirty="0" err="1"/>
              <a:t>S</a:t>
            </a:r>
            <a:r>
              <a:rPr lang="en-US" dirty="0" err="1"/>
              <a:t>.sid</a:t>
            </a:r>
            <a:r>
              <a:rPr lang="en-US" dirty="0"/>
              <a:t> = </a:t>
            </a:r>
            <a:r>
              <a:rPr lang="en-US" i="1" dirty="0" err="1"/>
              <a:t>R</a:t>
            </a:r>
            <a:r>
              <a:rPr lang="en-US" dirty="0" err="1"/>
              <a:t>.sid</a:t>
            </a:r>
            <a:r>
              <a:rPr lang="en-US" dirty="0"/>
              <a:t> </a:t>
            </a:r>
          </a:p>
          <a:p>
            <a:r>
              <a:rPr lang="en-US" dirty="0"/>
              <a:t>LEFT OUTER JOIN Boats </a:t>
            </a:r>
            <a:r>
              <a:rPr lang="en-US" i="1" dirty="0"/>
              <a:t>B</a:t>
            </a:r>
            <a:r>
              <a:rPr lang="en-US" dirty="0"/>
              <a:t> ON </a:t>
            </a:r>
            <a:r>
              <a:rPr lang="en-US" i="1" dirty="0" err="1"/>
              <a:t>R</a:t>
            </a:r>
            <a:r>
              <a:rPr lang="en-US" dirty="0" err="1"/>
              <a:t>.bid</a:t>
            </a:r>
            <a:r>
              <a:rPr lang="en-US" dirty="0"/>
              <a:t> = </a:t>
            </a:r>
            <a:r>
              <a:rPr lang="en-US" i="1" dirty="0" err="1"/>
              <a:t>B</a:t>
            </a:r>
            <a:r>
              <a:rPr lang="en-US" dirty="0" err="1"/>
              <a:t>.bid</a:t>
            </a:r>
            <a:endParaRPr lang="en-US" dirty="0"/>
          </a:p>
          <a:p>
            <a:endParaRPr lang="en-US" dirty="0"/>
          </a:p>
        </p:txBody>
      </p:sp>
      <p:sp>
        <p:nvSpPr>
          <p:cNvPr id="4" name="Slide Number Placeholder 3">
            <a:extLst>
              <a:ext uri="{FF2B5EF4-FFF2-40B4-BE49-F238E27FC236}">
                <a16:creationId xmlns:a16="http://schemas.microsoft.com/office/drawing/2014/main" id="{AC218937-9973-6E3A-15D3-F8AA1C0FDB31}"/>
              </a:ext>
            </a:extLst>
          </p:cNvPr>
          <p:cNvSpPr>
            <a:spLocks noGrp="1"/>
          </p:cNvSpPr>
          <p:nvPr>
            <p:ph type="sldNum" sz="quarter" idx="12"/>
          </p:nvPr>
        </p:nvSpPr>
        <p:spPr/>
        <p:txBody>
          <a:bodyPr/>
          <a:lstStyle/>
          <a:p>
            <a:fld id="{B6F15528-21DE-4FAA-801E-634DDDAF4B2B}" type="slidenum">
              <a:rPr lang="en-US" smtClean="0"/>
              <a:pPr/>
              <a:t>102</a:t>
            </a:fld>
            <a:endParaRPr lang="en-US"/>
          </a:p>
        </p:txBody>
      </p:sp>
    </p:spTree>
    <p:extLst>
      <p:ext uri="{BB962C8B-B14F-4D97-AF65-F5344CB8AC3E}">
        <p14:creationId xmlns:p14="http://schemas.microsoft.com/office/powerpoint/2010/main" val="336158565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4DCA746-BBA7-7284-66D1-F407582FAC5F}"/>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E2FBEDA7-A0A2-016B-30DF-AAFCBB289088}"/>
              </a:ext>
            </a:extLst>
          </p:cNvPr>
          <p:cNvSpPr>
            <a:spLocks noGrp="1"/>
          </p:cNvSpPr>
          <p:nvPr>
            <p:ph sz="half" idx="1"/>
          </p:nvPr>
        </p:nvSpPr>
        <p:spPr>
          <a:xfrm>
            <a:off x="0" y="1417638"/>
            <a:ext cx="4876800" cy="4708525"/>
          </a:xfrm>
        </p:spPr>
        <p:txBody>
          <a:bodyPr>
            <a:normAutofit/>
          </a:bodyPr>
          <a:lstStyle/>
          <a:p>
            <a:r>
              <a:rPr lang="en-US" sz="1000" dirty="0"/>
              <a:t>22	Dustin	101	Interlake	blue	1</a:t>
            </a:r>
          </a:p>
          <a:p>
            <a:r>
              <a:rPr lang="en-US" sz="1000" dirty="0"/>
              <a:t>22	Dustin	102	Interlake	red	1</a:t>
            </a:r>
          </a:p>
          <a:p>
            <a:r>
              <a:rPr lang="en-US" sz="1000" dirty="0"/>
              <a:t>22	Dustin	103	Clipper	green	2</a:t>
            </a:r>
          </a:p>
          <a:p>
            <a:r>
              <a:rPr lang="en-US" sz="1000" dirty="0"/>
              <a:t>22	Dustin	104	Marine	red	3</a:t>
            </a:r>
          </a:p>
          <a:p>
            <a:r>
              <a:rPr lang="en-US" sz="1000" dirty="0"/>
              <a:t>31	Lubber	102	Interlake	red	4</a:t>
            </a:r>
          </a:p>
          <a:p>
            <a:r>
              <a:rPr lang="en-US" sz="1000" dirty="0"/>
              <a:t>31	Lubber	103	Clipper	green	5</a:t>
            </a:r>
          </a:p>
          <a:p>
            <a:r>
              <a:rPr lang="en-US" sz="1000" dirty="0"/>
              <a:t>31	Lubber	104	Marine	red	6</a:t>
            </a:r>
          </a:p>
          <a:p>
            <a:r>
              <a:rPr lang="en-US" sz="1000" dirty="0"/>
              <a:t>64	Horatio	101	Interlake	blue	7</a:t>
            </a:r>
          </a:p>
          <a:p>
            <a:r>
              <a:rPr lang="en-US" sz="1000" dirty="0"/>
              <a:t>64	Horatio	102	Interlake	red	8</a:t>
            </a:r>
          </a:p>
          <a:p>
            <a:r>
              <a:rPr lang="en-US" sz="1000" dirty="0"/>
              <a:t>74	Horatio	103	Clipper	green	8</a:t>
            </a:r>
          </a:p>
        </p:txBody>
      </p:sp>
      <p:sp>
        <p:nvSpPr>
          <p:cNvPr id="7" name="Content Placeholder 6">
            <a:extLst>
              <a:ext uri="{FF2B5EF4-FFF2-40B4-BE49-F238E27FC236}">
                <a16:creationId xmlns:a16="http://schemas.microsoft.com/office/drawing/2014/main" id="{1CC11635-DA29-E5D9-A51B-73D27DBA79CB}"/>
              </a:ext>
            </a:extLst>
          </p:cNvPr>
          <p:cNvSpPr>
            <a:spLocks noGrp="1"/>
          </p:cNvSpPr>
          <p:nvPr>
            <p:ph sz="half" idx="2"/>
          </p:nvPr>
        </p:nvSpPr>
        <p:spPr>
          <a:xfrm>
            <a:off x="4267200" y="1417638"/>
            <a:ext cx="4876800" cy="4708525"/>
          </a:xfrm>
        </p:spPr>
        <p:txBody>
          <a:bodyPr>
            <a:noAutofit/>
          </a:bodyPr>
          <a:lstStyle/>
          <a:p>
            <a:r>
              <a:rPr lang="en-US" sz="1050" dirty="0"/>
              <a:t>22	Dustin	101	Interlake	blue	1</a:t>
            </a:r>
          </a:p>
          <a:p>
            <a:r>
              <a:rPr lang="en-US" sz="1050" dirty="0"/>
              <a:t>22	Dustin	102	Interlake	red	1</a:t>
            </a:r>
          </a:p>
          <a:p>
            <a:r>
              <a:rPr lang="en-US" sz="1050" dirty="0"/>
              <a:t>22	Dustin	103	Clipper	green	2</a:t>
            </a:r>
          </a:p>
          <a:p>
            <a:r>
              <a:rPr lang="en-US" sz="1050" dirty="0"/>
              <a:t>22	Dustin	104	Marine	red	3</a:t>
            </a:r>
          </a:p>
          <a:p>
            <a:r>
              <a:rPr lang="en-US" sz="1050" dirty="0"/>
              <a:t>29	Brutus				</a:t>
            </a:r>
          </a:p>
          <a:p>
            <a:r>
              <a:rPr lang="en-US" sz="1050" dirty="0"/>
              <a:t>31	Lubber	102	Interlake	red	4</a:t>
            </a:r>
          </a:p>
          <a:p>
            <a:r>
              <a:rPr lang="en-US" sz="1050" dirty="0"/>
              <a:t>31	Lubber	103	Clipper	green	5</a:t>
            </a:r>
          </a:p>
          <a:p>
            <a:r>
              <a:rPr lang="en-US" sz="1050" dirty="0"/>
              <a:t>31	Lubber	104	Marine	red	6</a:t>
            </a:r>
          </a:p>
          <a:p>
            <a:r>
              <a:rPr lang="en-US" sz="1050" dirty="0"/>
              <a:t>32	Andy				</a:t>
            </a:r>
          </a:p>
          <a:p>
            <a:r>
              <a:rPr lang="en-US" sz="1050" dirty="0"/>
              <a:t>58	Rusty				</a:t>
            </a:r>
          </a:p>
          <a:p>
            <a:r>
              <a:rPr lang="en-US" sz="1050" dirty="0"/>
              <a:t>64	Horatio	101	Interlake	blue	7</a:t>
            </a:r>
          </a:p>
          <a:p>
            <a:r>
              <a:rPr lang="en-US" sz="1050" dirty="0"/>
              <a:t>64	Horatio	102	Interlake	red	8</a:t>
            </a:r>
          </a:p>
          <a:p>
            <a:r>
              <a:rPr lang="en-US" sz="1050" dirty="0"/>
              <a:t>71	Zorba				</a:t>
            </a:r>
          </a:p>
          <a:p>
            <a:r>
              <a:rPr lang="en-US" sz="1050" dirty="0"/>
              <a:t>74	Horatio	103	Clipper	green	8</a:t>
            </a:r>
          </a:p>
          <a:p>
            <a:r>
              <a:rPr lang="en-US" sz="1050" dirty="0"/>
              <a:t>85	Art				</a:t>
            </a:r>
          </a:p>
          <a:p>
            <a:r>
              <a:rPr lang="en-US" sz="1050" dirty="0"/>
              <a:t>95	Bob</a:t>
            </a:r>
          </a:p>
          <a:p>
            <a:r>
              <a:rPr lang="en-US" sz="1050" dirty="0"/>
              <a:t>	</a:t>
            </a:r>
          </a:p>
        </p:txBody>
      </p:sp>
      <p:sp>
        <p:nvSpPr>
          <p:cNvPr id="4" name="Slide Number Placeholder 3">
            <a:extLst>
              <a:ext uri="{FF2B5EF4-FFF2-40B4-BE49-F238E27FC236}">
                <a16:creationId xmlns:a16="http://schemas.microsoft.com/office/drawing/2014/main" id="{CD4582DE-A539-FEAD-51F4-13D8B41C1689}"/>
              </a:ext>
            </a:extLst>
          </p:cNvPr>
          <p:cNvSpPr>
            <a:spLocks noGrp="1"/>
          </p:cNvSpPr>
          <p:nvPr>
            <p:ph type="sldNum" sz="quarter" idx="12"/>
          </p:nvPr>
        </p:nvSpPr>
        <p:spPr/>
        <p:txBody>
          <a:bodyPr/>
          <a:lstStyle/>
          <a:p>
            <a:fld id="{B6F15528-21DE-4FAA-801E-634DDDAF4B2B}" type="slidenum">
              <a:rPr lang="en-US" smtClean="0"/>
              <a:pPr/>
              <a:t>103</a:t>
            </a:fld>
            <a:endParaRPr lang="en-US"/>
          </a:p>
        </p:txBody>
      </p:sp>
    </p:spTree>
    <p:extLst>
      <p:ext uri="{BB962C8B-B14F-4D97-AF65-F5344CB8AC3E}">
        <p14:creationId xmlns:p14="http://schemas.microsoft.com/office/powerpoint/2010/main" val="374269293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0B0CB-DC16-0678-9D45-A8CC7C70AF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FAE0BF-C188-8D34-1A76-0EF463538D43}"/>
              </a:ext>
            </a:extLst>
          </p:cNvPr>
          <p:cNvSpPr>
            <a:spLocks noGrp="1"/>
          </p:cNvSpPr>
          <p:nvPr>
            <p:ph idx="1"/>
          </p:nvPr>
        </p:nvSpPr>
        <p:spPr/>
        <p:txBody>
          <a:bodyPr>
            <a:normAutofit fontScale="55000" lnSpcReduction="20000"/>
          </a:bodyPr>
          <a:lstStyle/>
          <a:p>
            <a:r>
              <a:rPr lang="en-US" dirty="0"/>
              <a:t>22	Dustin	101	Interlake	blue	1</a:t>
            </a:r>
          </a:p>
          <a:p>
            <a:r>
              <a:rPr lang="en-US" dirty="0"/>
              <a:t>22	Dustin	102	Interlake	red	1</a:t>
            </a:r>
          </a:p>
          <a:p>
            <a:r>
              <a:rPr lang="en-US" dirty="0"/>
              <a:t>22	Dustin	103	Clipper	green	2</a:t>
            </a:r>
          </a:p>
          <a:p>
            <a:r>
              <a:rPr lang="en-US" dirty="0"/>
              <a:t>22	Dustin	104	Marine	red	3</a:t>
            </a:r>
          </a:p>
          <a:p>
            <a:r>
              <a:rPr lang="en-US" dirty="0"/>
              <a:t>29	Brutus				</a:t>
            </a:r>
          </a:p>
          <a:p>
            <a:r>
              <a:rPr lang="en-US" dirty="0"/>
              <a:t>31	Lubber	102	Interlake	red	4</a:t>
            </a:r>
          </a:p>
          <a:p>
            <a:r>
              <a:rPr lang="en-US" dirty="0"/>
              <a:t>31	Lubber	103	Clipper	green	5</a:t>
            </a:r>
          </a:p>
          <a:p>
            <a:r>
              <a:rPr lang="en-US" dirty="0"/>
              <a:t>31	Lubber	104	Marine	red	6</a:t>
            </a:r>
          </a:p>
          <a:p>
            <a:r>
              <a:rPr lang="en-US" dirty="0"/>
              <a:t>32	Andy				</a:t>
            </a:r>
          </a:p>
          <a:p>
            <a:r>
              <a:rPr lang="en-US" dirty="0"/>
              <a:t>58	Rusty				</a:t>
            </a:r>
          </a:p>
          <a:p>
            <a:r>
              <a:rPr lang="en-US" dirty="0"/>
              <a:t>64	Horatio	101	Interlake	blue	7</a:t>
            </a:r>
          </a:p>
          <a:p>
            <a:r>
              <a:rPr lang="en-US" dirty="0"/>
              <a:t>64	Horatio	102	Interlake	red	8</a:t>
            </a:r>
          </a:p>
          <a:p>
            <a:r>
              <a:rPr lang="en-US" dirty="0"/>
              <a:t>71	Zorba				</a:t>
            </a:r>
          </a:p>
          <a:p>
            <a:r>
              <a:rPr lang="en-US" dirty="0"/>
              <a:t>74	Horatio	103	Clipper	green	8</a:t>
            </a:r>
          </a:p>
          <a:p>
            <a:r>
              <a:rPr lang="en-US" dirty="0"/>
              <a:t>85	Art				</a:t>
            </a:r>
          </a:p>
          <a:p>
            <a:r>
              <a:rPr lang="en-US" dirty="0"/>
              <a:t>95	Bob				</a:t>
            </a:r>
          </a:p>
        </p:txBody>
      </p:sp>
      <p:sp>
        <p:nvSpPr>
          <p:cNvPr id="4" name="Slide Number Placeholder 3">
            <a:extLst>
              <a:ext uri="{FF2B5EF4-FFF2-40B4-BE49-F238E27FC236}">
                <a16:creationId xmlns:a16="http://schemas.microsoft.com/office/drawing/2014/main" id="{6C66FE61-9517-0A7B-4FEF-88188B5797FE}"/>
              </a:ext>
            </a:extLst>
          </p:cNvPr>
          <p:cNvSpPr>
            <a:spLocks noGrp="1"/>
          </p:cNvSpPr>
          <p:nvPr>
            <p:ph type="sldNum" sz="quarter" idx="12"/>
          </p:nvPr>
        </p:nvSpPr>
        <p:spPr/>
        <p:txBody>
          <a:bodyPr/>
          <a:lstStyle/>
          <a:p>
            <a:fld id="{B6F15528-21DE-4FAA-801E-634DDDAF4B2B}" type="slidenum">
              <a:rPr lang="en-US" smtClean="0"/>
              <a:pPr/>
              <a:t>104</a:t>
            </a:fld>
            <a:endParaRPr lang="en-US"/>
          </a:p>
        </p:txBody>
      </p:sp>
    </p:spTree>
    <p:extLst>
      <p:ext uri="{BB962C8B-B14F-4D97-AF65-F5344CB8AC3E}">
        <p14:creationId xmlns:p14="http://schemas.microsoft.com/office/powerpoint/2010/main" val="313295493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39890-DE4F-4882-DDBE-431C90097B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37E6C3-64F3-9D56-8E7B-78F2DA325860}"/>
              </a:ext>
            </a:extLst>
          </p:cNvPr>
          <p:cNvSpPr>
            <a:spLocks noGrp="1"/>
          </p:cNvSpPr>
          <p:nvPr>
            <p:ph idx="1"/>
          </p:nvPr>
        </p:nvSpPr>
        <p:spPr/>
        <p:txBody>
          <a:bodyPr>
            <a:noAutofit/>
          </a:bodyPr>
          <a:lstStyle/>
          <a:p>
            <a:r>
              <a:rPr lang="en-US" sz="2800" dirty="0"/>
              <a:t>generally, some tuples in either or both of the relations being joined may be “lost” in this inner way</a:t>
            </a:r>
          </a:p>
          <a:p>
            <a:r>
              <a:rPr lang="en-US" sz="2800" dirty="0"/>
              <a:t>outer-join operation works in a manner similar to the default inner join operations, but it preserves those tuples that would be lost in a join by creating tuples in the result containing null values</a:t>
            </a:r>
          </a:p>
        </p:txBody>
      </p:sp>
      <p:sp>
        <p:nvSpPr>
          <p:cNvPr id="4" name="Slide Number Placeholder 3">
            <a:extLst>
              <a:ext uri="{FF2B5EF4-FFF2-40B4-BE49-F238E27FC236}">
                <a16:creationId xmlns:a16="http://schemas.microsoft.com/office/drawing/2014/main" id="{B9EB31B1-2BD9-4C3F-DD83-C43F897B28CF}"/>
              </a:ext>
            </a:extLst>
          </p:cNvPr>
          <p:cNvSpPr>
            <a:spLocks noGrp="1"/>
          </p:cNvSpPr>
          <p:nvPr>
            <p:ph type="sldNum" sz="quarter" idx="12"/>
          </p:nvPr>
        </p:nvSpPr>
        <p:spPr/>
        <p:txBody>
          <a:bodyPr/>
          <a:lstStyle/>
          <a:p>
            <a:fld id="{B6F15528-21DE-4FAA-801E-634DDDAF4B2B}" type="slidenum">
              <a:rPr lang="en-US" smtClean="0"/>
              <a:pPr/>
              <a:t>105</a:t>
            </a:fld>
            <a:endParaRPr lang="en-US"/>
          </a:p>
        </p:txBody>
      </p:sp>
    </p:spTree>
    <p:extLst>
      <p:ext uri="{BB962C8B-B14F-4D97-AF65-F5344CB8AC3E}">
        <p14:creationId xmlns:p14="http://schemas.microsoft.com/office/powerpoint/2010/main" val="408476409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F92BB-FC7E-09AC-7609-B8A2143155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D829A7-50E8-EEC3-AF62-2D6DCD7DA8B1}"/>
              </a:ext>
            </a:extLst>
          </p:cNvPr>
          <p:cNvSpPr>
            <a:spLocks noGrp="1"/>
          </p:cNvSpPr>
          <p:nvPr>
            <p:ph idx="1"/>
          </p:nvPr>
        </p:nvSpPr>
        <p:spPr/>
        <p:txBody>
          <a:bodyPr>
            <a:normAutofit/>
          </a:bodyPr>
          <a:lstStyle/>
          <a:p>
            <a:r>
              <a:rPr lang="en-US" sz="2800" dirty="0"/>
              <a:t>for example, to ensure that sailor named Andy from our earlier example appears in the result, a tuple could be added to the join result with all attributes from the Sailors relation set to the corresponding values for Andy and all the remaining attributes which come from the Reserves and Boats relation set to null</a:t>
            </a:r>
          </a:p>
          <a:p>
            <a:r>
              <a:rPr lang="en-US" sz="2800" dirty="0"/>
              <a:t>thus, the tuple for the sailor Andy is preserved in the result of the outer join</a:t>
            </a:r>
          </a:p>
          <a:p>
            <a:endParaRPr lang="en-US" sz="2800" dirty="0"/>
          </a:p>
          <a:p>
            <a:endParaRPr lang="en-US" sz="2800" dirty="0"/>
          </a:p>
        </p:txBody>
      </p:sp>
      <p:sp>
        <p:nvSpPr>
          <p:cNvPr id="4" name="Slide Number Placeholder 3">
            <a:extLst>
              <a:ext uri="{FF2B5EF4-FFF2-40B4-BE49-F238E27FC236}">
                <a16:creationId xmlns:a16="http://schemas.microsoft.com/office/drawing/2014/main" id="{D7744322-6649-8FE7-E240-BE2F31EEE27B}"/>
              </a:ext>
            </a:extLst>
          </p:cNvPr>
          <p:cNvSpPr>
            <a:spLocks noGrp="1"/>
          </p:cNvSpPr>
          <p:nvPr>
            <p:ph type="sldNum" sz="quarter" idx="12"/>
          </p:nvPr>
        </p:nvSpPr>
        <p:spPr/>
        <p:txBody>
          <a:bodyPr/>
          <a:lstStyle/>
          <a:p>
            <a:fld id="{B6F15528-21DE-4FAA-801E-634DDDAF4B2B}" type="slidenum">
              <a:rPr lang="en-US" smtClean="0"/>
              <a:pPr/>
              <a:t>106</a:t>
            </a:fld>
            <a:endParaRPr lang="en-US"/>
          </a:p>
        </p:txBody>
      </p:sp>
    </p:spTree>
    <p:extLst>
      <p:ext uri="{BB962C8B-B14F-4D97-AF65-F5344CB8AC3E}">
        <p14:creationId xmlns:p14="http://schemas.microsoft.com/office/powerpoint/2010/main" val="36618205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8F5C-5CE9-C484-C955-B0096BDE6C56}"/>
              </a:ext>
            </a:extLst>
          </p:cNvPr>
          <p:cNvSpPr>
            <a:spLocks noGrp="1"/>
          </p:cNvSpPr>
          <p:nvPr>
            <p:ph type="title"/>
          </p:nvPr>
        </p:nvSpPr>
        <p:spPr/>
        <p:txBody>
          <a:bodyPr/>
          <a:lstStyle/>
          <a:p>
            <a:r>
              <a:rPr lang="en-US" dirty="0"/>
              <a:t>Forms of outer join</a:t>
            </a:r>
          </a:p>
        </p:txBody>
      </p:sp>
      <p:sp>
        <p:nvSpPr>
          <p:cNvPr id="3" name="Content Placeholder 2">
            <a:extLst>
              <a:ext uri="{FF2B5EF4-FFF2-40B4-BE49-F238E27FC236}">
                <a16:creationId xmlns:a16="http://schemas.microsoft.com/office/drawing/2014/main" id="{90072E53-6C01-1493-7E6C-8FE51146190A}"/>
              </a:ext>
            </a:extLst>
          </p:cNvPr>
          <p:cNvSpPr>
            <a:spLocks noGrp="1"/>
          </p:cNvSpPr>
          <p:nvPr>
            <p:ph idx="1"/>
          </p:nvPr>
        </p:nvSpPr>
        <p:spPr>
          <a:xfrm>
            <a:off x="457200" y="1600200"/>
            <a:ext cx="8305800" cy="4525963"/>
          </a:xfrm>
        </p:spPr>
        <p:txBody>
          <a:bodyPr>
            <a:normAutofit lnSpcReduction="10000"/>
          </a:bodyPr>
          <a:lstStyle/>
          <a:p>
            <a:pPr marL="514350" lvl="0" indent="-514350">
              <a:buFont typeface="+mj-lt"/>
              <a:buAutoNum type="arabicPeriod"/>
            </a:pPr>
            <a:r>
              <a:rPr lang="en-US" sz="2800" dirty="0"/>
              <a:t>left outer join preserves tuples only in the relation named before (to the left of) the left outer join operation</a:t>
            </a:r>
          </a:p>
          <a:p>
            <a:pPr marL="514350" lvl="0" indent="-514350">
              <a:buFont typeface="+mj-lt"/>
              <a:buAutoNum type="arabicPeriod"/>
            </a:pPr>
            <a:r>
              <a:rPr lang="en-US" sz="2800" dirty="0"/>
              <a:t>right outer join preserves tuples only in the relation named after (to the right of) the right outer join operation</a:t>
            </a:r>
          </a:p>
          <a:p>
            <a:pPr marL="514350" lvl="0" indent="-514350">
              <a:buFont typeface="+mj-lt"/>
              <a:buAutoNum type="arabicPeriod"/>
            </a:pPr>
            <a:r>
              <a:rPr lang="en-US" sz="2800" dirty="0"/>
              <a:t>full outer join preserves tuples in both relations</a:t>
            </a:r>
          </a:p>
          <a:p>
            <a:r>
              <a:rPr lang="en-US" sz="2800" dirty="0"/>
              <a:t>right outer join is symmetrical to left outer join</a:t>
            </a:r>
          </a:p>
          <a:p>
            <a:r>
              <a:rPr lang="en-US" sz="2800" dirty="0"/>
              <a:t>full outer join is a combination of left and right outer join types</a:t>
            </a:r>
          </a:p>
          <a:p>
            <a:endParaRPr lang="en-US" sz="2800" dirty="0"/>
          </a:p>
        </p:txBody>
      </p:sp>
      <p:sp>
        <p:nvSpPr>
          <p:cNvPr id="4" name="Slide Number Placeholder 3">
            <a:extLst>
              <a:ext uri="{FF2B5EF4-FFF2-40B4-BE49-F238E27FC236}">
                <a16:creationId xmlns:a16="http://schemas.microsoft.com/office/drawing/2014/main" id="{32DF984A-01AB-7408-5F70-B97BC421193F}"/>
              </a:ext>
            </a:extLst>
          </p:cNvPr>
          <p:cNvSpPr>
            <a:spLocks noGrp="1"/>
          </p:cNvSpPr>
          <p:nvPr>
            <p:ph type="sldNum" sz="quarter" idx="12"/>
          </p:nvPr>
        </p:nvSpPr>
        <p:spPr/>
        <p:txBody>
          <a:bodyPr/>
          <a:lstStyle/>
          <a:p>
            <a:fld id="{B6F15528-21DE-4FAA-801E-634DDDAF4B2B}" type="slidenum">
              <a:rPr lang="en-US" smtClean="0"/>
              <a:pPr/>
              <a:t>107</a:t>
            </a:fld>
            <a:endParaRPr lang="en-US"/>
          </a:p>
        </p:txBody>
      </p:sp>
    </p:spTree>
    <p:extLst>
      <p:ext uri="{BB962C8B-B14F-4D97-AF65-F5344CB8AC3E}">
        <p14:creationId xmlns:p14="http://schemas.microsoft.com/office/powerpoint/2010/main" val="299364760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5204B-4BD0-3C41-9490-18D8BE17F7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0731D6-FEE4-FD30-F605-A3AEC5F79DA9}"/>
              </a:ext>
            </a:extLst>
          </p:cNvPr>
          <p:cNvSpPr>
            <a:spLocks noGrp="1"/>
          </p:cNvSpPr>
          <p:nvPr>
            <p:ph idx="1"/>
          </p:nvPr>
        </p:nvSpPr>
        <p:spPr/>
        <p:txBody>
          <a:bodyPr>
            <a:normAutofit/>
          </a:bodyPr>
          <a:lstStyle/>
          <a:p>
            <a:r>
              <a:rPr lang="en-US" sz="2800" dirty="0"/>
              <a:t>in contrast, the join operations we presented earlier that do not preserve nonmatched tuples are called inner join operations, to distinguish them from  outer join operations</a:t>
            </a:r>
          </a:p>
          <a:p>
            <a:r>
              <a:rPr lang="en-US" sz="2800" dirty="0"/>
              <a:t>keyword inner is optional; default join type, when the join clause is used without outer prefix, is the inner join</a:t>
            </a:r>
          </a:p>
          <a:p>
            <a:endParaRPr lang="en-US" sz="2800" dirty="0"/>
          </a:p>
          <a:p>
            <a:endParaRPr lang="en-US" sz="2800" dirty="0"/>
          </a:p>
        </p:txBody>
      </p:sp>
      <p:sp>
        <p:nvSpPr>
          <p:cNvPr id="4" name="Slide Number Placeholder 3">
            <a:extLst>
              <a:ext uri="{FF2B5EF4-FFF2-40B4-BE49-F238E27FC236}">
                <a16:creationId xmlns:a16="http://schemas.microsoft.com/office/drawing/2014/main" id="{5AC14489-BFF1-A0C6-D7A6-F4395EE7FBF3}"/>
              </a:ext>
            </a:extLst>
          </p:cNvPr>
          <p:cNvSpPr>
            <a:spLocks noGrp="1"/>
          </p:cNvSpPr>
          <p:nvPr>
            <p:ph type="sldNum" sz="quarter" idx="12"/>
          </p:nvPr>
        </p:nvSpPr>
        <p:spPr/>
        <p:txBody>
          <a:bodyPr/>
          <a:lstStyle/>
          <a:p>
            <a:fld id="{B6F15528-21DE-4FAA-801E-634DDDAF4B2B}" type="slidenum">
              <a:rPr lang="en-US" smtClean="0"/>
              <a:pPr/>
              <a:t>108</a:t>
            </a:fld>
            <a:endParaRPr lang="en-US"/>
          </a:p>
        </p:txBody>
      </p:sp>
    </p:spTree>
    <p:extLst>
      <p:ext uri="{BB962C8B-B14F-4D97-AF65-F5344CB8AC3E}">
        <p14:creationId xmlns:p14="http://schemas.microsoft.com/office/powerpoint/2010/main" val="92715085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595B4-B38D-BF82-26C1-3E5C501E90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8E91A8-8F54-5F9B-D0D9-CDF3DCD0AC45}"/>
              </a:ext>
            </a:extLst>
          </p:cNvPr>
          <p:cNvSpPr>
            <a:spLocks noGrp="1"/>
          </p:cNvSpPr>
          <p:nvPr>
            <p:ph idx="1"/>
          </p:nvPr>
        </p:nvSpPr>
        <p:spPr/>
        <p:txBody>
          <a:bodyPr>
            <a:noAutofit/>
          </a:bodyPr>
          <a:lstStyle/>
          <a:p>
            <a:r>
              <a:rPr lang="en-US" sz="2800" dirty="0"/>
              <a:t>compute the left outer-join operation as follows:</a:t>
            </a:r>
          </a:p>
          <a:p>
            <a:r>
              <a:rPr lang="en-US" sz="2800" dirty="0"/>
              <a:t>compute result of inner join</a:t>
            </a:r>
          </a:p>
          <a:p>
            <a:r>
              <a:rPr lang="en-US" sz="2800" dirty="0"/>
              <a:t>for every tuple </a:t>
            </a:r>
            <a:r>
              <a:rPr lang="en-US" sz="2800" i="1" dirty="0"/>
              <a:t>t</a:t>
            </a:r>
            <a:r>
              <a:rPr lang="en-US" sz="2800" dirty="0"/>
              <a:t> in left-hand-side relation that does not match any tuple in right-hand-side relation in inner join, add a tuple </a:t>
            </a:r>
            <a:r>
              <a:rPr lang="en-US" sz="2800" i="1" dirty="0"/>
              <a:t>r</a:t>
            </a:r>
            <a:r>
              <a:rPr lang="en-US" sz="2800" dirty="0"/>
              <a:t> to result of the join constructed as follows:</a:t>
            </a:r>
          </a:p>
          <a:p>
            <a:pPr lvl="1"/>
            <a:r>
              <a:rPr lang="en-US" dirty="0"/>
              <a:t>attributes of tuple </a:t>
            </a:r>
            <a:r>
              <a:rPr lang="en-US" i="1" dirty="0"/>
              <a:t>r</a:t>
            </a:r>
            <a:r>
              <a:rPr lang="en-US" dirty="0"/>
              <a:t> that are derived from left-hand-side relation are filled in with the values from tuple </a:t>
            </a:r>
            <a:r>
              <a:rPr lang="en-US" i="1" dirty="0"/>
              <a:t>t</a:t>
            </a:r>
          </a:p>
          <a:p>
            <a:pPr lvl="1"/>
            <a:r>
              <a:rPr lang="en-US" dirty="0"/>
              <a:t>remaining attributes of </a:t>
            </a:r>
            <a:r>
              <a:rPr lang="en-US" i="1" dirty="0"/>
              <a:t>r</a:t>
            </a:r>
            <a:r>
              <a:rPr lang="en-US" dirty="0"/>
              <a:t> are filled with null values</a:t>
            </a:r>
          </a:p>
          <a:p>
            <a:endParaRPr lang="en-US" sz="2800" dirty="0"/>
          </a:p>
        </p:txBody>
      </p:sp>
      <p:sp>
        <p:nvSpPr>
          <p:cNvPr id="4" name="Slide Number Placeholder 3">
            <a:extLst>
              <a:ext uri="{FF2B5EF4-FFF2-40B4-BE49-F238E27FC236}">
                <a16:creationId xmlns:a16="http://schemas.microsoft.com/office/drawing/2014/main" id="{990CE7F3-91E6-63C3-4820-955BC8366499}"/>
              </a:ext>
            </a:extLst>
          </p:cNvPr>
          <p:cNvSpPr>
            <a:spLocks noGrp="1"/>
          </p:cNvSpPr>
          <p:nvPr>
            <p:ph type="sldNum" sz="quarter" idx="12"/>
          </p:nvPr>
        </p:nvSpPr>
        <p:spPr/>
        <p:txBody>
          <a:bodyPr/>
          <a:lstStyle/>
          <a:p>
            <a:fld id="{B6F15528-21DE-4FAA-801E-634DDDAF4B2B}" type="slidenum">
              <a:rPr lang="en-US" smtClean="0"/>
              <a:pPr/>
              <a:t>109</a:t>
            </a:fld>
            <a:endParaRPr lang="en-US"/>
          </a:p>
        </p:txBody>
      </p:sp>
    </p:spTree>
    <p:extLst>
      <p:ext uri="{BB962C8B-B14F-4D97-AF65-F5344CB8AC3E}">
        <p14:creationId xmlns:p14="http://schemas.microsoft.com/office/powerpoint/2010/main" val="14230777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8DB2D6C-310A-44BE-A594-BDE5C2DCD003}"/>
</file>

<file path=customXml/itemProps2.xml><?xml version="1.0" encoding="utf-8"?>
<ds:datastoreItem xmlns:ds="http://schemas.openxmlformats.org/officeDocument/2006/customXml" ds:itemID="{EA4407F7-AD1A-4799-98EE-3DC22B135CAA}"/>
</file>

<file path=customXml/itemProps3.xml><?xml version="1.0" encoding="utf-8"?>
<ds:datastoreItem xmlns:ds="http://schemas.openxmlformats.org/officeDocument/2006/customXml" ds:itemID="{91E1321E-3490-4403-80D2-6D5669FFAEDE}"/>
</file>

<file path=docProps/app.xml><?xml version="1.0" encoding="utf-8"?>
<Properties xmlns="http://schemas.openxmlformats.org/officeDocument/2006/extended-properties" xmlns:vt="http://schemas.openxmlformats.org/officeDocument/2006/docPropsVTypes">
  <TotalTime>1665</TotalTime>
  <Words>6030</Words>
  <Application>Microsoft Office PowerPoint</Application>
  <PresentationFormat>On-screen Show (4:3)</PresentationFormat>
  <Paragraphs>622</Paragraphs>
  <Slides>109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109</vt:i4>
      </vt:variant>
    </vt:vector>
  </HeadingPairs>
  <TitlesOfParts>
    <vt:vector size="112" baseType="lpstr">
      <vt:lpstr>Arial</vt:lpstr>
      <vt:lpstr>Calibri</vt:lpstr>
      <vt:lpstr>Office Theme</vt:lpstr>
      <vt:lpstr>Structured Query Language</vt:lpstr>
      <vt:lpstr>Structured Query Language SQL</vt:lpstr>
      <vt:lpstr>Structured Query Language  SQL language</vt:lpstr>
      <vt:lpstr>Structured Query Language  SQL language</vt:lpstr>
      <vt:lpstr>PowerPoint Presentation</vt:lpstr>
      <vt:lpstr>basic form of an SQL query</vt:lpstr>
      <vt:lpstr>PowerPoint Presentation</vt:lpstr>
      <vt:lpstr>PowerPoint Presentation</vt:lpstr>
      <vt:lpstr>UNION, INTERSECT, AND EXCEPT</vt:lpstr>
      <vt:lpstr>PowerPoint Presentation</vt:lpstr>
      <vt:lpstr>Nested Queries</vt:lpstr>
      <vt:lpstr>PowerPoint Presentation</vt:lpstr>
      <vt:lpstr>Find the names of sailors who have reserved boat number 103.</vt:lpstr>
      <vt:lpstr>PowerPoint Presentation</vt:lpstr>
      <vt:lpstr>PowerPoint Presentation</vt:lpstr>
      <vt:lpstr>Find the names of sailors who have not reserved a red boat.</vt:lpstr>
      <vt:lpstr>PowerPoint Presentation</vt:lpstr>
      <vt:lpstr>Find the names of sailors who have reserved boat number 103.</vt:lpstr>
      <vt:lpstr>Nested corelated queries</vt:lpstr>
      <vt:lpstr>EXISTS</vt:lpstr>
      <vt:lpstr>PowerPoint Presentation</vt:lpstr>
      <vt:lpstr>PowerPoint Presentation</vt:lpstr>
      <vt:lpstr>PowerPoint Presentation</vt:lpstr>
      <vt:lpstr>op ANY and op ALL</vt:lpstr>
      <vt:lpstr>Find sailors whose rating is better than some sailor called Horatio</vt:lpstr>
      <vt:lpstr>Find sailors whose rating is better than every sailor called Horatio.</vt:lpstr>
      <vt:lpstr>PowerPoint Presentation</vt:lpstr>
      <vt:lpstr>PowerPoint Presentation</vt:lpstr>
      <vt:lpstr>Find the oldest sailors.</vt:lpstr>
      <vt:lpstr>Find the oldest sailors in each rating</vt:lpstr>
      <vt:lpstr>Pay attention</vt:lpstr>
      <vt:lpstr>Find the names of sailors who have reserved all boats</vt:lpstr>
      <vt:lpstr>Find the names of sailors who have reserved all red boats</vt:lpstr>
      <vt:lpstr>PowerPoint Presentation</vt:lpstr>
      <vt:lpstr>Aggregate Functions</vt:lpstr>
      <vt:lpstr>Aggregate Functions</vt:lpstr>
      <vt:lpstr>Aggregate Functions</vt:lpstr>
      <vt:lpstr>Find the average age of all sailors</vt:lpstr>
      <vt:lpstr>Find the average age of all sailors with a rating of 10</vt:lpstr>
      <vt:lpstr>PowerPoint Presentation</vt:lpstr>
      <vt:lpstr>PowerPoint Presentation</vt:lpstr>
      <vt:lpstr>PowerPoint Presentation</vt:lpstr>
      <vt:lpstr>Find the name and age of the oldest sailor</vt:lpstr>
      <vt:lpstr>PowerPoint Presentation</vt:lpstr>
      <vt:lpstr>Count the number of sailors</vt:lpstr>
      <vt:lpstr>can count number of sailors using COUNT</vt:lpstr>
      <vt:lpstr>PowerPoint Presentation</vt:lpstr>
      <vt:lpstr>Find the names of sailors who are older than the oldest sailor with a rating of 10</vt:lpstr>
      <vt:lpstr>Find the names of sailors who are older than the oldest sailor with a rating of 10</vt:lpstr>
      <vt:lpstr>PowerPoint Presentation</vt:lpstr>
      <vt:lpstr>PowerPoint Presentation</vt:lpstr>
      <vt:lpstr>PowerPoint Presentation</vt:lpstr>
      <vt:lpstr>general form of SQL query</vt:lpstr>
      <vt:lpstr>general form of SQL query.</vt:lpstr>
      <vt:lpstr>Find the age of the youngest sailor for each rating level</vt:lpstr>
      <vt:lpstr>GROUP BY is partitioning</vt:lpstr>
      <vt:lpstr>SELECT * FROM sailors ORDER BY rating</vt:lpstr>
      <vt:lpstr>general form of SQL query</vt:lpstr>
      <vt:lpstr>PowerPoint Presentation</vt:lpstr>
      <vt:lpstr>PowerPoint Presentation</vt:lpstr>
      <vt:lpstr>PowerPoint Presentation</vt:lpstr>
      <vt:lpstr>Find the age of the youngest sailor who is eligible to vote (at least 18 years old) for each rating level with at least two such sailors</vt:lpstr>
      <vt:lpstr>PowerPoint Presentation</vt:lpstr>
      <vt:lpstr>instance of Sailors on which this query is to be evaluated</vt:lpstr>
      <vt:lpstr>1st step is to construct the cross product of tables in the from-list</vt:lpstr>
      <vt:lpstr>2nd step is to apply the qualification in the WHERE clause, S. age &gt;= 18</vt:lpstr>
      <vt:lpstr>3rd step is to eliminate unwanted columns</vt:lpstr>
      <vt:lpstr>PowerPoint Presentation</vt:lpstr>
      <vt:lpstr>4th step is to sort table according to GROUP BY clause to identify the groups</vt:lpstr>
      <vt:lpstr>5th step ,is to apply group-qualification in HAVING clause,  that is, the condition COUNT (*) &gt;= 2 </vt:lpstr>
      <vt:lpstr>PowerPoint Presentation</vt:lpstr>
      <vt:lpstr>6th step is to generate one answer row for each remaining group</vt:lpstr>
      <vt:lpstr>PowerPoint Presentation</vt:lpstr>
      <vt:lpstr>For each red boat, find the number of reservations for this boat</vt:lpstr>
      <vt:lpstr>Find the age of the youngest sailor who is eligible to vote (at least 18 years old) for each rating level with at least two such sailors</vt:lpstr>
      <vt:lpstr>Find the average age of sailors for each rating level that has at least two sailors</vt:lpstr>
      <vt:lpstr>Find the average age of sailors who are of voting age (i.e. at least 18 year8 old) for each rating level that has at least two sailors</vt:lpstr>
      <vt:lpstr>Find the average age of sailors who are of voting age (i.e., at least 18 years old) for each rating level that has at least two such sailors</vt:lpstr>
      <vt:lpstr>NULL Values</vt:lpstr>
      <vt:lpstr>NULL Values</vt:lpstr>
      <vt:lpstr>NULL Values</vt:lpstr>
      <vt:lpstr>PowerPoint Presentation</vt:lpstr>
      <vt:lpstr>PowerPoint Presentation</vt:lpstr>
      <vt:lpstr>PowerPoint Presentation</vt:lpstr>
      <vt:lpstr>PowerPoint Presentation</vt:lpstr>
      <vt:lpstr>JOIN following queries return the same data</vt:lpstr>
      <vt:lpstr>JOIN</vt:lpstr>
      <vt:lpstr>JOIN following queries return the same data</vt:lpstr>
      <vt:lpstr>PowerPoint Presentation</vt:lpstr>
      <vt:lpstr>PowerPoint Presentation</vt:lpstr>
      <vt:lpstr>JOIN</vt:lpstr>
      <vt:lpstr>PowerPoint Presentation</vt:lpstr>
      <vt:lpstr>PowerPoint Presentation</vt:lpstr>
      <vt:lpstr>PowerPoint Presentation</vt:lpstr>
      <vt:lpstr>JOIN following queries return the same data</vt:lpstr>
      <vt:lpstr>PowerPoint Presentation</vt:lpstr>
      <vt:lpstr>PowerPoint Presentation</vt:lpstr>
      <vt:lpstr>JOIN following queries return the same data</vt:lpstr>
      <vt:lpstr>JOIN  default is Inner Join</vt:lpstr>
      <vt:lpstr>Outer JOIN</vt:lpstr>
      <vt:lpstr>PowerPoint Presentation</vt:lpstr>
      <vt:lpstr>PowerPoint Presentation</vt:lpstr>
      <vt:lpstr>PowerPoint Presentation</vt:lpstr>
      <vt:lpstr>PowerPoint Presentation</vt:lpstr>
      <vt:lpstr>PowerPoint Presentation</vt:lpstr>
      <vt:lpstr>PowerPoint Presentation</vt:lpstr>
      <vt:lpstr>Forms of outer join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Structured Query Language</dc:title>
  <dc:creator>User</dc:creator>
  <cp:lastModifiedBy>Calin Cenan</cp:lastModifiedBy>
  <cp:revision>140</cp:revision>
  <dcterms:created xsi:type="dcterms:W3CDTF">2006-08-16T00:00:00Z</dcterms:created>
  <dcterms:modified xsi:type="dcterms:W3CDTF">2025-07-27T09:58:51Z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2023-10-01T19:39:36Z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2454985f-5804-4626-9bb0-7c76d223e4a8</vt:lpwstr>
  </property>
  <property fmtid="{D5CDD505-2E9C-101B-9397-08002B2CF9AE}" pid="8" name="MSIP_Label_5b58b62f-6f94-46bd-8089-18e64b0a9abb_ContentBits">
    <vt:lpwstr>0</vt:lpwstr>
  </property>
  <property fmtid="{D5CDD505-2E9C-101B-9397-08002B2CF9AE}" pid="9" name="ContentTypeId">
    <vt:lpwstr>0x01010042D1F13D339BA04089B6530E3063BBB0</vt:lpwstr>
  </property>
</Properties>
</file>