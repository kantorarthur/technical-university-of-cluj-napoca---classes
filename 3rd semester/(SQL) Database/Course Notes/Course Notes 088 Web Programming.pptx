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6"/>
  </p:notesMasterIdLst>
  <p:sldIdLst>
    <p:sldId id="256" r:id="rId2"/>
    <p:sldId id="391" r:id="rId3"/>
    <p:sldId id="475" r:id="rId4"/>
    <p:sldId id="476" r:id="rId5"/>
    <p:sldId id="477" r:id="rId6"/>
    <p:sldId id="479" r:id="rId7"/>
    <p:sldId id="478" r:id="rId8"/>
    <p:sldId id="480" r:id="rId9"/>
    <p:sldId id="481" r:id="rId10"/>
    <p:sldId id="482" r:id="rId11"/>
    <p:sldId id="483" r:id="rId12"/>
    <p:sldId id="485" r:id="rId13"/>
    <p:sldId id="484" r:id="rId14"/>
    <p:sldId id="486" r:id="rId15"/>
    <p:sldId id="487" r:id="rId16"/>
    <p:sldId id="488" r:id="rId17"/>
    <p:sldId id="489" r:id="rId18"/>
    <p:sldId id="490" r:id="rId19"/>
    <p:sldId id="491" r:id="rId20"/>
    <p:sldId id="492" r:id="rId21"/>
    <p:sldId id="493" r:id="rId22"/>
    <p:sldId id="494" r:id="rId23"/>
    <p:sldId id="495" r:id="rId24"/>
    <p:sldId id="496" r:id="rId25"/>
    <p:sldId id="497" r:id="rId26"/>
    <p:sldId id="498" r:id="rId27"/>
    <p:sldId id="499" r:id="rId28"/>
    <p:sldId id="502" r:id="rId29"/>
    <p:sldId id="500" r:id="rId30"/>
    <p:sldId id="501" r:id="rId31"/>
    <p:sldId id="503" r:id="rId32"/>
    <p:sldId id="504" r:id="rId33"/>
    <p:sldId id="505" r:id="rId34"/>
    <p:sldId id="506" r:id="rId35"/>
    <p:sldId id="507" r:id="rId36"/>
    <p:sldId id="508" r:id="rId37"/>
    <p:sldId id="509" r:id="rId38"/>
    <p:sldId id="510" r:id="rId39"/>
    <p:sldId id="511" r:id="rId40"/>
    <p:sldId id="512" r:id="rId41"/>
    <p:sldId id="513" r:id="rId42"/>
    <p:sldId id="514" r:id="rId43"/>
    <p:sldId id="515" r:id="rId44"/>
    <p:sldId id="516" r:id="rId45"/>
    <p:sldId id="517" r:id="rId46"/>
    <p:sldId id="518" r:id="rId47"/>
    <p:sldId id="519" r:id="rId48"/>
    <p:sldId id="524" r:id="rId49"/>
    <p:sldId id="520" r:id="rId50"/>
    <p:sldId id="525" r:id="rId51"/>
    <p:sldId id="526" r:id="rId52"/>
    <p:sldId id="527" r:id="rId53"/>
    <p:sldId id="528" r:id="rId54"/>
    <p:sldId id="529" r:id="rId55"/>
    <p:sldId id="530" r:id="rId56"/>
    <p:sldId id="521" r:id="rId57"/>
    <p:sldId id="531" r:id="rId58"/>
    <p:sldId id="532" r:id="rId59"/>
    <p:sldId id="533" r:id="rId60"/>
    <p:sldId id="522" r:id="rId61"/>
    <p:sldId id="523" r:id="rId62"/>
    <p:sldId id="534" r:id="rId63"/>
    <p:sldId id="535" r:id="rId64"/>
    <p:sldId id="536" r:id="rId6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customXml" Target="../customXml/item2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31EAB0-20EB-4DF7-837B-371DDD1B95C0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4AE39B-1103-4190-9942-3807C5A66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525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5930C-760D-5883-ECC1-F5CB6465DF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364E95-C921-0CB2-83A2-29CEC570C7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4FD1E-FFDF-6B9B-391C-832B885E6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C430E-5A65-442F-9064-DEB17858D8F1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AFC09-CB58-1A98-44F8-DBDC4F500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FBC4E-168F-EAEF-CFF4-122B5A788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470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1843C-D16F-310D-4FA1-1770C7C42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DEFEC-D274-3CE4-42AD-5111479AB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A0F2E-18F9-69C4-3350-10D366326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4E179-45D9-45BE-AAA6-FF7B7D57AEF0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32DEE-4207-0B12-6389-B20CBEF9D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92F1E-3EC2-CF71-F9CB-EC8DC8862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296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6A0F8-BF06-2ADC-8889-D45C2EC9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45234B-00B7-B1C8-175F-A98E178C1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476CC-1FA3-98AE-E860-9DB0608A4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34156-D111-4B8A-9649-E929320D3996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DB7F2-4B1B-DDD7-9588-D2C9C263F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58A86-DB04-E206-C61A-28D61489D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622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37934-58E2-6C87-8517-91D784E60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54FA1-51FD-BDD7-08D8-CB22949ED9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0A14B0-AB9F-84A5-DCFF-AF29D610B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74DE0-D4E6-B98A-0A7A-6199C46FA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F7365-BEFC-4E6B-9F2A-FA9474576F81}" type="datetime1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27B8B2-CEA6-EA62-4C6E-6C903F935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196544-3A77-9F6F-A9A9-143400239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620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45363-41F2-E6A8-F4B1-CD1FFAB37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AC76C-821C-A4CF-E20D-28A35FB1A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B10B08-0A91-BC33-F467-764F5842D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6E10F4-B1CD-E882-ADC7-E67EB67958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208411-74C8-D893-F7D4-63FB702F18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3A8843-6A85-EBA5-EACE-D31AE341B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37B2F-B566-42C1-8C47-FE2D3202CF99}" type="datetime1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EBBCF3-2913-461E-AD28-FDC7B6BCA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5B7710-25A1-0BB7-4D14-D8B4331A5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21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F97EF-6A4C-4E15-3A3D-09B6216B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5C6005-4DF2-B1D3-F14D-C8E8D586F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40BE3-421C-4D71-A3C6-49D639A19F9F}" type="datetime1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1B5121-2E4F-976C-B042-58478DDE8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32A568-1B5A-A844-5FEE-3C9477D8E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491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C6BE25-6954-DC36-134A-6597CFDF6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5E47-D439-4284-AE0D-962FCB75FAB6}" type="datetime1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303941-91C4-7A76-45CF-7066AD1A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FCB0C5-B44E-B54F-CFD1-EDD7E30FA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72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ADF43-2516-CD44-C72D-9495FB26D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BC6C8-737E-06B7-89DA-D63713584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52FE81-C2D0-FEAE-8767-51F60ADA88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DE62AB-E046-F609-762A-CFEDAB936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BECBD-8257-458C-AEE3-AE942135D6AE}" type="datetime1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AECE13-A79A-69BD-9DB1-2A174276C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527B68-E2DF-8982-4DF5-D4C4397E0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267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EDE69-5905-BC3C-C645-91E6D6C20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E53DAA-F625-F974-8D2C-1373B11582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AF7B45-CD9A-C6B1-F58C-0341BCC9C8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9E8BC-CB6F-F740-3924-593736BA9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3CAC5-E83F-4F07-8EAE-BE5D8EAB68B2}" type="datetime1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A5595-E2B3-6B7E-1C62-1515F5F58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2632C9-6D22-EF5A-C318-89619C4FF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264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81039-EF43-212D-7EB3-340A51386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6A0E3D-A0E9-C266-077E-DFBD0C4D20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D565F-9519-15CB-09A9-53305AE34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A5DA7-E5C5-46E6-B6AF-18BC49A4DE0B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1AFDD-7C39-8E1A-B031-9AA5A2F53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30541-3970-D9E8-80EF-0B798E685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134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DAE23E-03A8-AE9D-8E36-BA90B5684A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B840BB-AB25-B52A-9656-E117AF3811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CD23E-B3F5-FBA5-C80E-A574CC18C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FC786-2935-4265-9B26-B14D271DC5F5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A6015-6A82-66FB-892D-7D52F1652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98FE3-2185-D0F2-F9B2-2354C09E0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823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4736D2-BD27-C33D-3016-B5C22D738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F75BE-AE64-BECA-E759-43100BE00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69206-125B-41DF-997C-750E4FDE90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6EC6D-4A47-4C37-A1F4-993B8D832209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39EDE-9A6C-95C6-EF1C-2D6885F9F2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51B1B-62CF-80AA-081B-D24CFA9A0E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64BDCF-5269-49AC-A246-ED26C2B98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268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PHP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php.net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ucee.org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otnet.microsoft.com/en-us/apps/aspnet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etcomposer.org/" TargetMode="External"/><Relationship Id="rId2" Type="http://schemas.openxmlformats.org/officeDocument/2006/relationships/hyperlink" Target="http://www.php.net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undler.io/" TargetMode="External"/><Relationship Id="rId4" Type="http://schemas.openxmlformats.org/officeDocument/2006/relationships/hyperlink" Target="https://www.npmjs.com/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php/php_mysql_intro.asp" TargetMode="Externa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4E64-D01B-5FDF-22D9-EC08BEB62A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DataBase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B3069-C608-4303-DE85-85C98B0515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93C704-9F31-242D-BF15-7D930A158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23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12EF6-520E-D21B-D71D-7758CB548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C78AD-A182-8472-7962-185D2CB90C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/>
              <a:t>DataBase</a:t>
            </a:r>
            <a:r>
              <a:rPr lang="en-US" b="1" dirty="0"/>
              <a:t> Programming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E6C5CE-4600-67F6-DDFE-487B5680D9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methods that have been developed</a:t>
            </a:r>
          </a:p>
          <a:p>
            <a:r>
              <a:rPr lang="en-US" sz="3200" dirty="0"/>
              <a:t>for accessing databases from programs</a:t>
            </a:r>
            <a:endParaRPr lang="en-US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1E3A4-BEB6-64D4-2DD7-CEF077D13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291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0200EFD-914B-26A3-48A6-5DF488C61A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Web Database</a:t>
            </a:r>
            <a:br>
              <a:rPr lang="en-US" b="1" dirty="0"/>
            </a:br>
            <a:r>
              <a:rPr lang="en-US" b="1" dirty="0"/>
              <a:t>Programming</a:t>
            </a:r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43E8419-E321-8784-E4C3-7103B6D850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using PHP / 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7B6F4-C6B9-C16F-39A7-E87FF154D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237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44A65-541D-A0A7-9EE9-194662B73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2682A-FFFC-52F6-38E9-9B03FF2F0C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/>
              <a:t>DataBase</a:t>
            </a:r>
            <a:r>
              <a:rPr lang="en-US" b="1" dirty="0"/>
              <a:t> Programming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0AD603-80C1-D72E-EB1A-B0870E8014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methods that have been developed</a:t>
            </a:r>
          </a:p>
          <a:p>
            <a:r>
              <a:rPr lang="en-US" sz="3200" dirty="0"/>
              <a:t>for accessing databases from Web Internet</a:t>
            </a:r>
            <a:endParaRPr lang="en-US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DA1969-A1D2-A465-AE62-0ACBEBDE7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86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0608C-1129-425C-B69E-AEA60570C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00C5424-520F-488B-9D1F-99E15664BF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Web Database</a:t>
            </a:r>
            <a:br>
              <a:rPr lang="en-US" b="1" dirty="0"/>
            </a:br>
            <a:r>
              <a:rPr lang="en-US" b="1" dirty="0"/>
              <a:t>Programming</a:t>
            </a:r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EC51A93-64DC-B159-6BFD-445FF95DC9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using PHP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DA7C6-BA05-7910-F302-8E170147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909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F0DFF-4C4C-269D-8DD7-11FD605EF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php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049AE-0CCB-35F5-7914-FBAEC3871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1995 – 2025 + top 3 or top 5 programming language</a:t>
            </a:r>
          </a:p>
          <a:p>
            <a:endParaRPr lang="en-US" dirty="0"/>
          </a:p>
          <a:p>
            <a:r>
              <a:rPr lang="en-US" dirty="0"/>
              <a:t>no – nonsense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33675-19CD-649B-F067-4578369F1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991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735C0-94C0-7801-8442-5A820173B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92D1B-7304-6A5E-881E-ED0EA00BC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PHP has seen a decline in popularity for several reasons:</a:t>
            </a:r>
          </a:p>
          <a:p>
            <a:pPr lvl="1"/>
            <a:r>
              <a:rPr lang="en-US" sz="2700" dirty="0"/>
              <a:t>competition from other languages: Languages like JavaScript (especially with Node.js), Python, and Ruby have gained traction for web development</a:t>
            </a:r>
          </a:p>
          <a:p>
            <a:pPr lvl="2"/>
            <a:r>
              <a:rPr lang="en-US" sz="2700" dirty="0"/>
              <a:t>these languages often offer modern features, frameworks, and a more developer-friendly syntax</a:t>
            </a:r>
          </a:p>
          <a:p>
            <a:r>
              <a:rPr lang="en-US" dirty="0"/>
              <a:t>PHP is still the most used server-side language on the internet by a very large margin </a:t>
            </a:r>
          </a:p>
          <a:p>
            <a:r>
              <a:rPr lang="en-US" dirty="0"/>
              <a:t>PHP is a general-purpose scripting language geared towards web development. It was originally created by Danish-Canadian programmer Rasmus Lerdorf in 1993 and released in 1995</a:t>
            </a:r>
          </a:p>
          <a:p>
            <a:r>
              <a:rPr lang="en-US" sz="2700" i="1" dirty="0">
                <a:hlinkClick r:id="rId2"/>
              </a:rPr>
              <a:t>PHP – Wikipedia</a:t>
            </a:r>
            <a:r>
              <a:rPr lang="en-US" sz="2700" i="1" dirty="0"/>
              <a:t> </a:t>
            </a:r>
            <a:r>
              <a:rPr lang="en-US" sz="2700" i="1" dirty="0">
                <a:hlinkClick r:id="rId2"/>
              </a:rPr>
              <a:t>https://en.wikipedia.org/wiki/PHP</a:t>
            </a:r>
            <a:endParaRPr lang="en-US" sz="2700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57790-1B8B-9A52-94A0-3BE231ED9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436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A4B90-26C2-AC83-6B93-6D5999140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823AE-E364-205D-8861-D21F09D5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 and Java programming languages …</a:t>
            </a:r>
          </a:p>
          <a:p>
            <a:endParaRPr lang="en-US" dirty="0"/>
          </a:p>
          <a:p>
            <a:r>
              <a:rPr lang="en-US" dirty="0"/>
              <a:t>many Internet applications that provide Web interfaces to access information stored in one or more databases use scripting languages</a:t>
            </a:r>
          </a:p>
          <a:p>
            <a:r>
              <a:rPr lang="en-US" dirty="0"/>
              <a:t>these script languages are often used to generate HTML documents, which are then displayed by the Web browser for interaction with the user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F155C-01B0-86A6-A239-B2E34B956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376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57919-E9D1-4535-B00A-B7E7D53C7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7226E-B2FC-F7D0-CB3C-76FEB8E27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HTML is useful for generating </a:t>
            </a:r>
            <a:r>
              <a:rPr lang="en-US" i="1" dirty="0"/>
              <a:t>static </a:t>
            </a:r>
            <a:r>
              <a:rPr lang="en-US" dirty="0"/>
              <a:t>Web pages with fixed text and other objects</a:t>
            </a:r>
          </a:p>
          <a:p>
            <a:r>
              <a:rPr lang="en-US" dirty="0"/>
              <a:t>many Internet applications require Web pages that provide interactive features with the user</a:t>
            </a:r>
          </a:p>
          <a:p>
            <a:r>
              <a:rPr lang="en-US" dirty="0"/>
              <a:t>such Web pages, where part of the information is extracted from databases or other data sources, are called </a:t>
            </a:r>
            <a:r>
              <a:rPr lang="en-US" i="1" dirty="0"/>
              <a:t>dynamic </a:t>
            </a:r>
            <a:r>
              <a:rPr lang="en-US" dirty="0"/>
              <a:t>Web pages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60B77-0E53-5366-DF32-3F5943798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1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709DF-6C7D-4365-9782-8AFCF3271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F9941-D217-E548-DC1F-795B7B18B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85206" cy="4351338"/>
          </a:xfrm>
        </p:spPr>
        <p:txBody>
          <a:bodyPr>
            <a:noAutofit/>
          </a:bodyPr>
          <a:lstStyle/>
          <a:p>
            <a:r>
              <a:rPr lang="en-US" dirty="0"/>
              <a:t>there are various techniques for programming dynamic features into Web pages</a:t>
            </a:r>
          </a:p>
          <a:p>
            <a:r>
              <a:rPr lang="en-US" dirty="0">
                <a:hlinkClick r:id="rId2"/>
              </a:rPr>
              <a:t>PHP 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https://www.php.net/</a:t>
            </a:r>
            <a:r>
              <a:rPr lang="en-US" dirty="0"/>
              <a:t> open source, server-side scripting language</a:t>
            </a:r>
          </a:p>
          <a:p>
            <a:r>
              <a:rPr lang="en-US" dirty="0"/>
              <a:t>PHP stands for PHP Hypertext Processor</a:t>
            </a:r>
          </a:p>
          <a:p>
            <a:r>
              <a:rPr lang="en-US" dirty="0"/>
              <a:t>PHP has experienced widespread use</a:t>
            </a:r>
          </a:p>
          <a:p>
            <a:r>
              <a:rPr lang="en-US" dirty="0"/>
              <a:t>interpreters for PHP are provided free of charge and are written in the C language </a:t>
            </a:r>
            <a:r>
              <a:rPr lang="en-US" i="1" dirty="0"/>
              <a:t>(C is written in assembler language and almost every other programming language, including PHP is written in C) </a:t>
            </a:r>
          </a:p>
          <a:p>
            <a:r>
              <a:rPr lang="en-US" dirty="0"/>
              <a:t>PHP is available on most computer platforms: Linux, MacOS, Windows, …</a:t>
            </a: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47DF4E-0EC3-97B2-217E-D0F3309FD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10</a:t>
            </a:fld>
            <a:endParaRPr lang="en-US"/>
          </a:p>
        </p:txBody>
      </p:sp>
      <p:pic>
        <p:nvPicPr>
          <p:cNvPr id="1026" name="Picture 2" descr="PHP - Wikipedia">
            <a:extLst>
              <a:ext uri="{FF2B5EF4-FFF2-40B4-BE49-F238E27FC236}">
                <a16:creationId xmlns:a16="http://schemas.microsoft.com/office/drawing/2014/main" id="{112E9E29-0A05-CECE-E8A3-E18BD43EC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3814" y="360363"/>
            <a:ext cx="2381250" cy="1285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3367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13BB1-F203-94B9-9440-33F414F91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447C7-0980-AE55-F069-1094093B3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20E78-4098-C5E7-0CAC-BD10D76C3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11</a:t>
            </a:fld>
            <a:endParaRPr lang="en-US"/>
          </a:p>
        </p:txBody>
      </p:sp>
      <p:pic>
        <p:nvPicPr>
          <p:cNvPr id="2050" name="Picture 2" descr="PHP Web Concepts">
            <a:extLst>
              <a:ext uri="{FF2B5EF4-FFF2-40B4-BE49-F238E27FC236}">
                <a16:creationId xmlns:a16="http://schemas.microsoft.com/office/drawing/2014/main" id="{23CD1545-A544-79FC-9CE8-067BF425C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365125"/>
            <a:ext cx="10547152" cy="5258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0124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EC351-9594-2275-817F-FCD9D5E88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3D08B7E-19D4-BF26-ED47-FCD2916BA2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4"/>
            <a:ext cx="10596716" cy="469213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36277-8E4A-149B-32E5-862DFB940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759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4808C-C547-A6FF-51F2-291B65CD9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42FE0-7576-267E-EC8D-FE006A994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PHP executed on the server - server-side scripting programming language</a:t>
            </a:r>
          </a:p>
          <a:p>
            <a:endParaRPr lang="en-US" dirty="0"/>
          </a:p>
          <a:p>
            <a:r>
              <a:rPr lang="en-US" dirty="0"/>
              <a:t>JavaScript executed on the client, on the Web pages – client-side scripting programming language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79C3E-6BA3-4998-BE32-087882522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859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EC702-2AA8-04F0-9975-5706195F1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245645" cy="1325563"/>
          </a:xfrm>
        </p:spPr>
        <p:txBody>
          <a:bodyPr>
            <a:normAutofit/>
          </a:bodyPr>
          <a:lstStyle/>
          <a:p>
            <a:r>
              <a:rPr lang="en-US" sz="4300" dirty="0"/>
              <a:t>Java Technologies for Database Web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497C0-CAFE-78A7-4682-038D4C123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Java Servlets - are Java objects that can reside on Web server machine and manage interactions with the client; can store information that was submitted by client during a session, can generate database queries, can store query results, can format all these as HTML and sent to client for display</a:t>
            </a:r>
          </a:p>
          <a:p>
            <a:r>
              <a:rPr lang="en-US" dirty="0"/>
              <a:t>Java Server Pages (JSP) - allows scripting at the server to produce dynamic Web pages to be sent at the client; associated with Java language and scripting can be combined with Java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28C4A-1202-1F4C-99BB-249F13733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881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24553-CD76-115D-2370-A8D45111C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ColdFusion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2D4D8-AA1D-9BA9-9077-68AEB43E1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ColdFusion refers to Adobe's application server and server-side scripting language, CFML ColdFusion Markup Language, designed for rapid web application development RAD Rapid Application Development</a:t>
            </a:r>
          </a:p>
          <a:p>
            <a:r>
              <a:rPr lang="en-US" dirty="0"/>
              <a:t>allows developers to create dynamic web pages, connect to databases, and integrate with other systems </a:t>
            </a:r>
          </a:p>
          <a:p>
            <a:r>
              <a:rPr lang="en-US" dirty="0">
                <a:hlinkClick r:id="rId2"/>
              </a:rPr>
              <a:t>Lucee :: Accelerate your development with Lucee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https://www.lucee.org/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27817F-4BDE-DF0A-008D-85723B3F6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588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C10E7-7927-DD13-4F0E-EE9778677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Autofit/>
          </a:bodyPr>
          <a:lstStyle/>
          <a:p>
            <a:r>
              <a:rPr lang="en-US" sz="3900" dirty="0">
                <a:hlinkClick r:id="rId2"/>
              </a:rPr>
              <a:t>ASP.NET open-source web development framework</a:t>
            </a:r>
            <a:br>
              <a:rPr lang="en-US" sz="3900" dirty="0"/>
            </a:br>
            <a:r>
              <a:rPr lang="en-US" sz="3900" dirty="0">
                <a:hlinkClick r:id="rId2"/>
              </a:rPr>
              <a:t>https://dotnet.microsoft.com/en-us/apps/aspnet</a:t>
            </a:r>
            <a:endParaRPr lang="en-US" sz="39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F3BF7-9CA2-A9CC-03E4-B3AF8F553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ASP.NET is a server-side web-application framework designed for web development to produce dynamic web pages</a:t>
            </a:r>
          </a:p>
          <a:p>
            <a:r>
              <a:rPr lang="en-US" dirty="0"/>
              <a:t>developed by Microsoft to allow programmers to build dynamic web sites, applications and services</a:t>
            </a:r>
          </a:p>
          <a:p>
            <a:r>
              <a:rPr lang="en-US" dirty="0"/>
              <a:t>name stands for Active Server Pages</a:t>
            </a:r>
          </a:p>
          <a:p>
            <a:r>
              <a:rPr lang="en-US" dirty="0"/>
              <a:t>name stands for Active Server Pages  Network Enabled Technologies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E7C06-0294-0EE5-C995-A8E9A430C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653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236EF-2B1A-C32C-F291-75A8A04B0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13319-2B50-E4F1-D676-B231B4BB2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5289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PHP is an open source general-purpose scripting language</a:t>
            </a:r>
          </a:p>
          <a:p>
            <a:r>
              <a:rPr lang="en-US" dirty="0"/>
              <a:t>PHP interpreter can be downloaded and installed from: </a:t>
            </a:r>
            <a:r>
              <a:rPr lang="en-US" dirty="0">
                <a:hlinkClick r:id="rId2"/>
              </a:rPr>
              <a:t>www.php.net</a:t>
            </a:r>
            <a:endParaRPr lang="en-US" dirty="0"/>
          </a:p>
          <a:p>
            <a:r>
              <a:rPr lang="en-US" dirty="0">
                <a:hlinkClick r:id="rId3"/>
              </a:rPr>
              <a:t>Composer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https://getcomposer.org/</a:t>
            </a:r>
            <a:r>
              <a:rPr lang="en-US" dirty="0"/>
              <a:t> is a tool for dependency management in PHP; allows you to declare libraries your project depends on, and it will manage (install/update) them for you</a:t>
            </a:r>
          </a:p>
          <a:p>
            <a:pPr lvl="1"/>
            <a:r>
              <a:rPr lang="en-US" sz="2700" dirty="0"/>
              <a:t>strongly inspired by node's </a:t>
            </a:r>
            <a:r>
              <a:rPr lang="en-US" sz="2700" dirty="0" err="1">
                <a:hlinkClick r:id="rId4"/>
              </a:rPr>
              <a:t>npm</a:t>
            </a:r>
            <a:r>
              <a:rPr lang="en-US" sz="2700" dirty="0"/>
              <a:t> and ruby's </a:t>
            </a:r>
            <a:r>
              <a:rPr lang="en-US" sz="2700" dirty="0">
                <a:hlinkClick r:id="rId5"/>
              </a:rPr>
              <a:t>bundler</a:t>
            </a:r>
            <a:endParaRPr lang="en-US" sz="27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927A4-3283-3365-FC43-7CD7AC272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861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CC559-07BB-CA4E-5F1D-F4A18B122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2DE9C-C980-CF9A-E6C0-52312A5A8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PHP has libraries of functions for accessing databases stored under various types of relational database systems such as Oracle, MySQL, </a:t>
            </a:r>
            <a:r>
              <a:rPr lang="en-US" dirty="0" err="1"/>
              <a:t>SQLServer</a:t>
            </a:r>
            <a:r>
              <a:rPr lang="en-US" dirty="0"/>
              <a:t>, </a:t>
            </a:r>
            <a:r>
              <a:rPr lang="en-US" dirty="0" err="1"/>
              <a:t>PostGreSQL</a:t>
            </a:r>
            <a:r>
              <a:rPr lang="en-US" dirty="0"/>
              <a:t> and any system that supports the ODBC standard</a:t>
            </a:r>
          </a:p>
          <a:p>
            <a:r>
              <a:rPr lang="en-US" dirty="0"/>
              <a:t>DBMS would reside at the </a:t>
            </a:r>
            <a:r>
              <a:rPr lang="en-US" b="1" dirty="0"/>
              <a:t>bottom-tier database server</a:t>
            </a:r>
            <a:r>
              <a:rPr lang="en-US" dirty="0"/>
              <a:t>.</a:t>
            </a:r>
          </a:p>
          <a:p>
            <a:r>
              <a:rPr lang="en-US" dirty="0"/>
              <a:t>PHP would run at the </a:t>
            </a:r>
            <a:r>
              <a:rPr lang="en-US" b="1" dirty="0"/>
              <a:t>middle-tier Web server</a:t>
            </a:r>
            <a:r>
              <a:rPr lang="en-US" dirty="0"/>
              <a:t>, where PHP program commands would manipulate HTML files to create customized dynamic Web pages</a:t>
            </a:r>
          </a:p>
          <a:p>
            <a:r>
              <a:rPr lang="en-US" dirty="0"/>
              <a:t>HTML is then sent to the </a:t>
            </a:r>
            <a:r>
              <a:rPr lang="en-US" b="1" dirty="0"/>
              <a:t>client tier </a:t>
            </a:r>
            <a:r>
              <a:rPr lang="en-US" dirty="0"/>
              <a:t>for display and interaction with the user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35042-09FE-3338-03F8-C49473D4A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2199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95542-D3F8-8F2D-7728-D6F7F037A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B905A-D43C-91A8-BAFD-72AF6614B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30CAFA9-6103-6CDA-8B05-6921A5B33F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4"/>
            <a:ext cx="10596716" cy="469213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4339D4-F19B-EE8A-12DA-D8BEF20E9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3116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06B63-5861-FF8D-3214-094FFCA2D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C3B10-8658-DA87-0384-41298AB18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0) &lt;?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1) // Printing a welcome message if the user submitted their name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 through the HTML form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2) if ($_POST['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user_name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']) {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3) print("Welcome, ") 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4) print($_POST['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user_name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']);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5) }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6) else {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7) // Printing the form to enter the user name since no name has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 been entered yet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8) print &lt;&lt;&lt;_HTML_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9) &lt;FORM method="post" action="$_SERVER['PHP_SELF']"&gt;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10) Enter your name: &lt;input type="text" name="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user_name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11) &lt;BR/&gt;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12) &lt;INPUT type="submit" value="SUBMIT NAME"&gt;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13) &lt;/FORM&gt;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14) _HTML_;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15) }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16) ?&gt;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BA37AE-B2A4-B20E-6027-AC25FEA1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8375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6380E-EF23-DA53-7863-C3A0DB741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Content Placeholder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8E41353-4455-8CA8-2C1A-F3F9E0A209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690688"/>
            <a:ext cx="10605115" cy="327460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9F9B16-0532-D03E-F66B-093005FC8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2142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D167A-FAF7-64AA-8E4D-36D90578D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D6A6F-B24B-A056-0957-8428BEFDC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line 0 shows the PHP start tag &lt;?</a:t>
            </a:r>
            <a:r>
              <a:rPr lang="en-US" dirty="0" err="1"/>
              <a:t>php</a:t>
            </a:r>
            <a:r>
              <a:rPr lang="en-US" dirty="0"/>
              <a:t>, which indicates that it should process all subsequent text lines until it encounters the PHP end tag ?&gt;, shown on line 16</a:t>
            </a:r>
          </a:p>
          <a:p>
            <a:r>
              <a:rPr lang="en-US" dirty="0"/>
              <a:t>text outside of these tags is printed as is</a:t>
            </a:r>
          </a:p>
          <a:p>
            <a:r>
              <a:rPr lang="en-US" dirty="0"/>
              <a:t>this allows PHP code segments to be included within HTML file - only sections between &lt;?</a:t>
            </a:r>
            <a:r>
              <a:rPr lang="en-US" dirty="0" err="1"/>
              <a:t>php</a:t>
            </a:r>
            <a:r>
              <a:rPr lang="en-US" dirty="0"/>
              <a:t> and ?&gt; are processed by PHP </a:t>
            </a:r>
            <a:r>
              <a:rPr lang="en-US" dirty="0" err="1"/>
              <a:t>interpretor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87410-8DC3-F012-053A-37C5269A9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0810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FCCAA-B16D-AE6F-120E-82E357294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47107-318A-4879-066D-6ECFB4586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7020E-0E84-3F3E-BAF0-52C5A1BDB4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line 1 shows one way of posting comments in PHP program on a single line started by //</a:t>
            </a:r>
          </a:p>
          <a:p>
            <a:r>
              <a:rPr lang="en-US" dirty="0"/>
              <a:t>single-line comments can also be started with #, and end at the end of the line in which they are entered</a:t>
            </a:r>
          </a:p>
          <a:p>
            <a:r>
              <a:rPr lang="en-US" dirty="0"/>
              <a:t>multiple-line comments start with /* and end with */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3FBB1-7D80-B29E-E5E4-5905A8081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3474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B586D-8144-0595-6A35-85AF9CDA0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8ACE5-BA7A-D663-58CD-2247EC2FB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AB235-35C6-8400-3533-695B696A3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the auto-global</a:t>
            </a:r>
            <a:r>
              <a:rPr lang="en-US" b="1" dirty="0"/>
              <a:t> </a:t>
            </a:r>
            <a:r>
              <a:rPr lang="en-US" dirty="0"/>
              <a:t>predefined PHP variable $_POST is an array that holds all the values entered through form parameters</a:t>
            </a:r>
          </a:p>
          <a:p>
            <a:r>
              <a:rPr lang="en-US" dirty="0"/>
              <a:t>when the Web page at http://www.myserver.com/example.php is first opened - file:///C:/.../example.php - </a:t>
            </a:r>
            <a:r>
              <a:rPr lang="en-US" dirty="0" err="1"/>
              <a:t>php</a:t>
            </a:r>
            <a:r>
              <a:rPr lang="en-US" dirty="0"/>
              <a:t> programs run on some Web server - the if condition in line 2 will evaluate to false because there is no value yet in $_POST['</a:t>
            </a:r>
            <a:r>
              <a:rPr lang="en-US" dirty="0" err="1"/>
              <a:t>user_name</a:t>
            </a:r>
            <a:r>
              <a:rPr lang="en-US" dirty="0"/>
              <a:t>’]</a:t>
            </a:r>
          </a:p>
          <a:p>
            <a:r>
              <a:rPr lang="en-US" dirty="0"/>
              <a:t>hence, PHP interpreter will process lines 6 through 15, which create the text for an HTML file that displays the form shown next ; which then displayed at client side by Web browser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7E9D6-13EE-C40A-B1E8-F02BE3136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4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17334-FFD2-945C-51D3-521050EC4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052A4-6086-7792-87E3-F9A3E1BA5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8CF47-4A1E-3360-3426-EA828B025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line 8 shows one way of creating long text strings</a:t>
            </a:r>
            <a:r>
              <a:rPr lang="en-US" b="1" dirty="0"/>
              <a:t> </a:t>
            </a:r>
            <a:r>
              <a:rPr lang="en-US" dirty="0"/>
              <a:t>in an HTML file</a:t>
            </a:r>
          </a:p>
          <a:p>
            <a:r>
              <a:rPr lang="en-US" dirty="0"/>
              <a:t>all text between an opening &lt;&lt;&lt;_HTML_ and a closing _HTML_; is printed into HTML file as it is</a:t>
            </a:r>
          </a:p>
          <a:p>
            <a:r>
              <a:rPr lang="en-US" dirty="0"/>
              <a:t>closing _HTML_; must be alone on separate 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7E5C0-C98C-D0FC-C884-EBFEE9B27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9003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24B1B-832D-A461-4039-6A3260520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583B2-BBB1-0A8D-B258-DDD15FC20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AEB89-14E5-A61B-7EBA-6F27C3AC7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C67B2B-AF35-9CD6-9A9E-984BA59D6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698" y="2617399"/>
            <a:ext cx="4648603" cy="1623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3967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67CFC-9875-0171-AC07-13CBEA987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D7535-CC4D-25E7-FAFB-68394EDF1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201EE-3933-9F67-DC03-CBB2D3550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PHP variable names</a:t>
            </a:r>
            <a:r>
              <a:rPr lang="en-US" b="1" dirty="0"/>
              <a:t> </a:t>
            </a:r>
            <a:r>
              <a:rPr lang="en-US" dirty="0"/>
              <a:t>start with a $ sign and can include characters, numbers, and the underscore character _</a:t>
            </a:r>
          </a:p>
          <a:p>
            <a:r>
              <a:rPr lang="en-US" dirty="0"/>
              <a:t>the PHP auto-global (predefined) variable $_SERVER is an array that includes information about the local server</a:t>
            </a:r>
          </a:p>
          <a:p>
            <a:r>
              <a:rPr lang="en-US" dirty="0"/>
              <a:t>the action attribute of the form tag in line 9 instructs the PHP interpreter to reprocess the same file, once the form parameters are entered by the user</a:t>
            </a:r>
          </a:p>
          <a:p>
            <a:r>
              <a:rPr lang="en-US" dirty="0"/>
              <a:t>once the user types the name </a:t>
            </a:r>
            <a:r>
              <a:rPr lang="en-US" i="1" dirty="0"/>
              <a:t>John Smith </a:t>
            </a:r>
            <a:r>
              <a:rPr lang="en-US" dirty="0"/>
              <a:t>in the text box and clicks on the </a:t>
            </a:r>
            <a:r>
              <a:rPr lang="en-US" i="1" dirty="0"/>
              <a:t>SUBMIT NAME </a:t>
            </a:r>
            <a:r>
              <a:rPr lang="en-US" dirty="0"/>
              <a:t>button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0DD7B-581D-0B9B-8FB1-442B5E6DC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9386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FE520-B6EA-DAFA-A753-F7A13E635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DE60E-8975-6E33-6A47-C59C26DE4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CFDE8-9154-9F38-6AB4-64B904781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8AB1D-F1E0-576E-C0E4-FFEF31357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28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77333A-E795-B3F2-4CBD-EC2CCE7C0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8371" y="2674554"/>
            <a:ext cx="4595258" cy="1508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9160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49B29-2239-1992-25C9-30B68E61E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18979-18E4-E6AB-D589-DE15AB891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2F831-BF2C-DFF2-C392-04C100518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once the user types the name </a:t>
            </a:r>
            <a:r>
              <a:rPr lang="en-US" i="1" dirty="0"/>
              <a:t>John Smith </a:t>
            </a:r>
            <a:r>
              <a:rPr lang="en-US" dirty="0"/>
              <a:t>in the text box and clicks on the </a:t>
            </a:r>
            <a:r>
              <a:rPr lang="en-US" i="1" dirty="0"/>
              <a:t>SUBMIT NAME </a:t>
            </a:r>
            <a:r>
              <a:rPr lang="en-US" dirty="0"/>
              <a:t>button program segment is reprocessed</a:t>
            </a:r>
          </a:p>
          <a:p>
            <a:r>
              <a:rPr lang="en-US" dirty="0"/>
              <a:t>this time, $_POST['</a:t>
            </a:r>
            <a:r>
              <a:rPr lang="en-US" dirty="0" err="1"/>
              <a:t>user_name</a:t>
            </a:r>
            <a:r>
              <a:rPr lang="en-US" dirty="0"/>
              <a:t>'] will include the string "John Smith", so lines 3 and 4 will now be placed in the HTML file sent to the client which displays the message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188318-8709-9CF4-F914-97DA8C48D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8934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2F3A8-7F60-EECC-602E-2F03C31C7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68264-28A2-34BB-C8E5-FB329CF16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17DBF8-E8F4-BDC8-FEB5-0347A6C1B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30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C0F798-D474-AB07-CFB3-FD1A8005B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8371" y="2666934"/>
            <a:ext cx="4595258" cy="152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0051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06F28A1-890C-EA0E-DEBA-31E21EE96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PHP Variables, Data Types, and Programming Constructs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0422A97-FA1B-6FA4-1860-DC422CFEB1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9D6D9-B042-5E72-F852-FBBEB6170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4712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A2457-EE4F-ED32-DB63-2BC27F15E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6F2-DE70-0C8A-BE07-3073EA52C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variable names start with the $ symbol and can include characters, letters, and the underscore character (_)</a:t>
            </a:r>
          </a:p>
          <a:p>
            <a:r>
              <a:rPr lang="en-US" dirty="0"/>
              <a:t>variable names are case sensitive</a:t>
            </a:r>
          </a:p>
          <a:p>
            <a:r>
              <a:rPr lang="en-US" dirty="0"/>
              <a:t>variables are not typed, the values assigned to variables determine their type; the same variable can change its type once a new value is assigned to it</a:t>
            </a:r>
          </a:p>
          <a:p>
            <a:r>
              <a:rPr lang="en-US" dirty="0"/>
              <a:t>variable assignment is via the = operator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D202B8-08E2-0630-C426-C46C354AB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0107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F4F69-E790-E320-D078-4B7DE9361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ways to express strings and text: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2AE13-E34E-2F6E-C8D8-B800E4B72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700" dirty="0"/>
              <a:t>single-quoted strings – </a:t>
            </a:r>
            <a:r>
              <a:rPr lang="en-US" sz="2700" dirty="0">
                <a:cs typeface="Courier New" panose="02070309020205020404" pitchFamily="49" charset="0"/>
              </a:rPr>
              <a:t>'</a:t>
            </a:r>
            <a:r>
              <a:rPr lang="en-US" sz="2700" dirty="0"/>
              <a:t>enclose string between single quotes</a:t>
            </a:r>
            <a:r>
              <a:rPr lang="en-US" sz="2700" dirty="0">
                <a:cs typeface="Courier New" panose="02070309020205020404" pitchFamily="49" charset="0"/>
              </a:rPr>
              <a:t>' and not curly quotes </a:t>
            </a:r>
            <a:r>
              <a:rPr lang="en-US" sz="2700" dirty="0"/>
              <a:t>‘enclose string between single quotes’</a:t>
            </a:r>
          </a:p>
          <a:p>
            <a:r>
              <a:rPr lang="en-US" sz="2700" dirty="0"/>
              <a:t>if single quote is needed within the string, use escape character(\)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US" sz="2700" dirty="0"/>
              <a:t>double-quoted strings – </a:t>
            </a:r>
            <a:r>
              <a:rPr lang="en-US" sz="2700" dirty="0">
                <a:cs typeface="Courier New" panose="02070309020205020404" pitchFamily="49" charset="0"/>
              </a:rPr>
              <a:t>"</a:t>
            </a:r>
            <a:r>
              <a:rPr lang="en-US" sz="2700" dirty="0"/>
              <a:t>enclose string between double quotes</a:t>
            </a:r>
            <a:r>
              <a:rPr lang="en-US" sz="2700" dirty="0">
                <a:cs typeface="Courier New" panose="02070309020205020404" pitchFamily="49" charset="0"/>
              </a:rPr>
              <a:t>" and not curly quotes </a:t>
            </a:r>
            <a:r>
              <a:rPr lang="en-US" sz="2700" dirty="0"/>
              <a:t>“enclose string between single quotes”</a:t>
            </a:r>
          </a:p>
          <a:p>
            <a:r>
              <a:rPr lang="en-US" sz="2700" dirty="0"/>
              <a:t>in this case, </a:t>
            </a:r>
            <a:r>
              <a:rPr lang="en-US" sz="2700" i="1" dirty="0"/>
              <a:t>variable names appearing within the string </a:t>
            </a:r>
            <a:r>
              <a:rPr lang="en-US" sz="2700" dirty="0"/>
              <a:t>are replaced by the values that are currently stored in these variables; interpreter identifies variable names within double-quoted strings by their initial character $ and replaces them with the value in the variable</a:t>
            </a:r>
          </a:p>
          <a:p>
            <a:r>
              <a:rPr lang="en-US" sz="2700" dirty="0"/>
              <a:t>known as interpolating variables within strings</a:t>
            </a:r>
          </a:p>
          <a:p>
            <a:r>
              <a:rPr lang="en-US" sz="2700" dirty="0"/>
              <a:t>interpolation does not occur in single-quoted strings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E3DAA-C669-4579-B77B-EFCB29908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3394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3D17-5742-DBB0-82FD-8A34DF15E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EA507-B905-01E5-805B-83C75848B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and double quotes used by PHP to enclose strings should be </a:t>
            </a:r>
            <a:r>
              <a:rPr lang="en-US" i="1" dirty="0"/>
              <a:t>straight </a:t>
            </a:r>
            <a:r>
              <a:rPr lang="en-US" dirty="0"/>
              <a:t>quotes (</a:t>
            </a:r>
            <a:r>
              <a:rPr lang="en-US" dirty="0">
                <a:cs typeface="Courier New" panose="02070309020205020404" pitchFamily="49" charset="0"/>
              </a:rPr>
              <a:t>' '</a:t>
            </a:r>
            <a:r>
              <a:rPr lang="en-US" dirty="0"/>
              <a:t>), (" ") on both sides of string; text editor that creates these quotes should not produce </a:t>
            </a:r>
            <a:r>
              <a:rPr lang="en-US" i="1" dirty="0"/>
              <a:t>curly </a:t>
            </a:r>
            <a:r>
              <a:rPr lang="en-US" dirty="0"/>
              <a:t>opening and closing quotes (</a:t>
            </a:r>
            <a:r>
              <a:rPr lang="en-US" dirty="0">
                <a:cs typeface="Courier New" panose="02070309020205020404" pitchFamily="49" charset="0"/>
              </a:rPr>
              <a:t>‘ ’</a:t>
            </a:r>
            <a:r>
              <a:rPr lang="en-US" dirty="0"/>
              <a:t>), (“ ”) around the string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EC85B-3D82-81FA-20AA-4A664A633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873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E3832-3FFD-B7EC-AEE4-5579B2754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ways to express strings and text: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CC728-AB0A-CDFE-DD7D-E7F56D050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sz="2700" dirty="0"/>
              <a:t>here document: enclose a part of a document between a &lt;&lt;&lt;DOCNAME and end it with a single line containing document name </a:t>
            </a:r>
          </a:p>
          <a:p>
            <a:r>
              <a:rPr lang="en-US" sz="2700" dirty="0"/>
              <a:t>DOCNAME. </a:t>
            </a:r>
          </a:p>
          <a:p>
            <a:r>
              <a:rPr lang="en-US" sz="2700" dirty="0"/>
              <a:t>DOCNAME can be any string as long as it used both to start and end the here document</a:t>
            </a:r>
          </a:p>
          <a:p>
            <a:r>
              <a:rPr lang="en-US" sz="2700" dirty="0"/>
              <a:t>variables are also interpolated by replacing them with their string values if they appear inside here documents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6D903-B250-9FD7-4FD8-59405CE7B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8060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467B0-1420-D54A-644F-5D084BA93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24D44-808F-AEAD-22D7-B0EEE5403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single-quoted strings for literal strings that contain no PHP program variables and the other two types when the values from variables need to be interpolated into the string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65C032-707C-4DC0-F6A1-73E3C784E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4474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3B4F5-0688-BC01-35C7-58B4C3433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72B0B-6C5A-C04A-2229-1AA6C79B5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PHP also has numeric data types for integers and floating points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F58F82-B5A7-4A65-96B1-713833C93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2011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2527C-D7E1-F3D6-A79D-15A477A4D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918EA-980B-B74A-29E3-D06F04E2F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PHP programming language there are standard programming language constructs of for-loops, while-loops, and conditional if-statements</a:t>
            </a:r>
          </a:p>
          <a:p>
            <a:r>
              <a:rPr lang="en-US" dirty="0"/>
              <a:t>generally, similar to their C language counterparts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E91B09-EF48-B549-6281-CA7E95A7C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9922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73E04-BE2C-CEB1-015A-58B3060DB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5D4ED-2EF3-3B01-D16C-0836E9E19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7830A-DC7E-6839-4ACF-05F3B7B7E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any value</a:t>
            </a:r>
            <a:r>
              <a:rPr lang="en-US" i="1" dirty="0"/>
              <a:t> </a:t>
            </a:r>
            <a:r>
              <a:rPr lang="en-US" dirty="0"/>
              <a:t>evaluates to true if used as a Boolean expression except for numeric zero (0) and blank string, which evaluate to false</a:t>
            </a:r>
          </a:p>
          <a:p>
            <a:r>
              <a:rPr lang="en-US" dirty="0"/>
              <a:t>there are also literal true and false values that can be assigned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4AA597-EBAF-863D-01D8-30584B882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7335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8D0AC-E002-3210-6FCC-A5897BA73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5DBE2-8774-6F8B-06A3-0271F8B63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comparison operators also generally follow C language rules</a:t>
            </a:r>
          </a:p>
          <a:p>
            <a:r>
              <a:rPr lang="en-US" dirty="0"/>
              <a:t>they are == (equal), != (not equal), &gt; (greater than), &gt;= (greater than or equal), &lt; (less than), and &lt;= (less than or equal)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32721B-3D33-0756-A4A1-7B9769DC5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261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869DE-66CE-8E60-9885-EC6DF02EC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PHP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FE1C1-129F-BF33-80F4-129D7E1BD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presented separately because of database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7FD12-853E-3893-C208-5DDC7AAD0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5328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793AD-2018-3B80-4795-5705B78B1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55254-1C18-B8E9-D4AA-44F1C23A4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PHP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0EE22-1B9E-ADBF-8797-FB5332690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allow lists of elements, used frequently in forms </a:t>
            </a:r>
          </a:p>
          <a:p>
            <a:r>
              <a:rPr lang="en-US" dirty="0"/>
              <a:t>single-dimensional array is used to hold the list of choices in pull-down menu</a:t>
            </a:r>
          </a:p>
          <a:p>
            <a:r>
              <a:rPr lang="en-US" dirty="0"/>
              <a:t>two-dimensional arrays are used for database query results, with the first dimension representing </a:t>
            </a:r>
            <a:r>
              <a:rPr lang="en-US" i="1" dirty="0"/>
              <a:t>rows </a:t>
            </a:r>
            <a:r>
              <a:rPr lang="en-US" dirty="0"/>
              <a:t>of a table and the second dimension representing </a:t>
            </a:r>
            <a:r>
              <a:rPr lang="en-US" i="1" dirty="0"/>
              <a:t>columns </a:t>
            </a:r>
            <a:r>
              <a:rPr lang="en-US" dirty="0"/>
              <a:t>(attributes) within a row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59497-C152-B0A3-11AC-F01C98F4A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3023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605EA-523C-759C-F188-FAEE06C51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926E0-EE65-C95D-1AF5-C8C6EB959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two main types of arrays: numeric and associative</a:t>
            </a:r>
          </a:p>
          <a:p>
            <a:r>
              <a:rPr lang="en-US" dirty="0"/>
              <a:t>numeric - associates a numeric index with each element in the array; indexes are integer numbers that start at zero and grow incrementally</a:t>
            </a:r>
          </a:p>
          <a:p>
            <a:r>
              <a:rPr lang="en-US" dirty="0"/>
              <a:t>associative - provides pairs of (key =&gt; value) elements; value of element is referenced through its key, and all key values in array must be unique; element values can be strings or integers, or they can be arrays themselves, thus leading to higher dimensional arrays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8A3E5-971E-6B48-556E-8ED1D331E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1390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77B6D-6306-30AA-2FAA-3C8EA1DA8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techniques for looping through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A274B-DBC0-A868-CAC6-116A5F3CC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$teaching = array('Database' =&gt; 'Cenan', 'OS' =&gt; '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Colesa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', 'Graphics' =&gt; 'Gorgan');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$teaching['Graphics'] = 'Stefanut'; $teaching['Data Mining'] = '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Potolea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sort($teaching);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foreach ($teaching as $key =&gt; $value)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	print " $key : $value\n";}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($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0, $num = count($teaching);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 $num;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2029C5-D222-D826-5D62-056A29EBB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6568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11511-47CE-FAC7-169C-D85BFC720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PHP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A1605-5CB3-5CDD-B8A5-898732957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CB148-88F0-AF49-D0B9-5993969A0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289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9F1D7-EF73-D05F-78CB-B3D76B38B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PHP Server Variables and Forms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4180E-C5E5-3A38-C3A8-5AC3400C5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700" dirty="0"/>
              <a:t>$_SERVER['SERVER_NAME'] - provides the Web site name or the Uniform Resource Locator (URL) of the server where PHP is running </a:t>
            </a:r>
          </a:p>
          <a:p>
            <a:r>
              <a:rPr lang="en-US" sz="2700" dirty="0"/>
              <a:t>$_SERVER['REMOTE_ADDRESS'] - IP (Internet Protocol) address of client user computer that is accessing the server</a:t>
            </a:r>
          </a:p>
          <a:p>
            <a:r>
              <a:rPr lang="en-US" sz="2700" dirty="0"/>
              <a:t>$_SERVER['PATH_INFO'] - part of URL address that comes after a backslash (/) at the end of the URL</a:t>
            </a:r>
          </a:p>
          <a:p>
            <a:r>
              <a:rPr lang="en-US" sz="2700" dirty="0"/>
              <a:t>$_SERVER['QUERY_STRING'] - provides string that holds parameters in URL after question mark (?) at the end of the URL</a:t>
            </a:r>
          </a:p>
          <a:p>
            <a:r>
              <a:rPr lang="en-US" sz="2700" dirty="0"/>
              <a:t>$_SERVER['DOCUMENT_ROOT'] - root directory that holds the files on Web server that are accessible to client users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CEB59B-ADF6-57ED-90FF-6F489919B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7247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A655C-EF0E-A16F-F811-6207AE635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PHP Forms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85125-1CA1-9C7D-538D-E52D883E7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another important PHP auto-global built-in array variable is called $_POST</a:t>
            </a:r>
          </a:p>
          <a:p>
            <a:r>
              <a:rPr lang="en-US" dirty="0"/>
              <a:t>provides input values submitted by user through HTML forms specified in &lt;INPUT&gt; tag and other similar</a:t>
            </a:r>
          </a:p>
          <a:p>
            <a:r>
              <a:rPr lang="en-US" dirty="0"/>
              <a:t>keys to this array are the names of the various input parameters provided via the form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F7DED-7857-560D-B501-A380A19D9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3539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F39D130-CA0D-4D5E-B782-DF31EB977A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PHP: MySQL Database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F9897-9142-87B0-2C2A-5A104A762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527458" cy="1655762"/>
          </a:xfrm>
        </p:spPr>
        <p:txBody>
          <a:bodyPr>
            <a:normAutofit/>
          </a:bodyPr>
          <a:lstStyle/>
          <a:p>
            <a:r>
              <a:rPr lang="en-US" sz="3200" dirty="0">
                <a:hlinkClick r:id="rId2"/>
              </a:rPr>
              <a:t>https://www.w3schools.com/php/php_mysql_intro.asp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4FB4C9-7BE9-68FE-0DCC-05EEC22E8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7864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B80DC-E309-E864-F2A4-A1E68AEE3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PHP Database Programming</a:t>
            </a:r>
            <a:br>
              <a:rPr lang="en-US" dirty="0"/>
            </a:br>
            <a:r>
              <a:rPr lang="en-US" dirty="0"/>
              <a:t>Connecting to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0212E-0703-4777-8475-FBAFC72E8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PHP can work with a MySQL database using:</a:t>
            </a:r>
          </a:p>
          <a:p>
            <a:pPr lvl="1"/>
            <a:r>
              <a:rPr lang="en-US" sz="2800" dirty="0" err="1"/>
              <a:t>MySQLi</a:t>
            </a:r>
            <a:r>
              <a:rPr lang="en-US" sz="2800" dirty="0"/>
              <a:t> extension (the "</a:t>
            </a:r>
            <a:r>
              <a:rPr lang="en-US" sz="2800" dirty="0" err="1"/>
              <a:t>i</a:t>
            </a:r>
            <a:r>
              <a:rPr lang="en-US" sz="2800" dirty="0"/>
              <a:t>" stands for improved)</a:t>
            </a:r>
          </a:p>
          <a:p>
            <a:pPr lvl="1"/>
            <a:r>
              <a:rPr lang="en-US" sz="2800" dirty="0"/>
              <a:t>PDO (PHP Data Objects)</a:t>
            </a:r>
          </a:p>
          <a:p>
            <a:r>
              <a:rPr lang="en-US" dirty="0"/>
              <a:t>PDO will work on 12 different database systems, whereas </a:t>
            </a:r>
            <a:r>
              <a:rPr lang="en-US" dirty="0" err="1"/>
              <a:t>MySQLi</a:t>
            </a:r>
            <a:r>
              <a:rPr lang="en-US" dirty="0"/>
              <a:t> will only work with MySQL databases</a:t>
            </a:r>
          </a:p>
          <a:p>
            <a:r>
              <a:rPr lang="en-US" dirty="0"/>
              <a:t>for the other different database systems there are specific function </a:t>
            </a:r>
            <a:r>
              <a:rPr lang="en-US" dirty="0" err="1"/>
              <a:t>pg</a:t>
            </a:r>
            <a:r>
              <a:rPr lang="en-US" dirty="0"/>
              <a:t> extension, </a:t>
            </a:r>
            <a:r>
              <a:rPr lang="en-US" dirty="0" err="1"/>
              <a:t>sqlserv</a:t>
            </a:r>
            <a:r>
              <a:rPr lang="en-US" dirty="0"/>
              <a:t> extension,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05103-F1C9-7F93-27EB-2EA1D6FF9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482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46C45-B6AE-956A-F8BC-A7E924E96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B9D20-6B53-5ACE-065A-55BA118FA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both are object-oriented, but </a:t>
            </a:r>
            <a:r>
              <a:rPr lang="en-US" dirty="0" err="1"/>
              <a:t>MySQLi</a:t>
            </a:r>
            <a:r>
              <a:rPr lang="en-US" dirty="0"/>
              <a:t> also offers a procedural API</a:t>
            </a:r>
          </a:p>
          <a:p>
            <a:r>
              <a:rPr lang="en-US" dirty="0"/>
              <a:t>both support Prepared Statements; Prepared Statements protect from SQL injection, and are very important for web application security</a:t>
            </a:r>
          </a:p>
          <a:p>
            <a:endParaRPr lang="en-US" sz="1200" dirty="0"/>
          </a:p>
          <a:p>
            <a:r>
              <a:rPr lang="en-US" dirty="0"/>
              <a:t>show three ways of working with PHP and MySQL: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MySQLi</a:t>
            </a:r>
            <a:r>
              <a:rPr lang="en-US" dirty="0"/>
              <a:t> (object-oriented)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MySQLi</a:t>
            </a:r>
            <a:r>
              <a:rPr lang="en-US" dirty="0"/>
              <a:t> (procedural)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PDO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5934A0-C81D-AB0D-D895-521838AC2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7762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9907F-3A54-46C6-C8BA-0A00BBE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E1EE2-796C-BAE6-8736-55A4B8996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MySQLi</a:t>
            </a:r>
            <a:r>
              <a:rPr lang="en-US" dirty="0"/>
              <a:t> Installation</a:t>
            </a:r>
          </a:p>
          <a:p>
            <a:r>
              <a:rPr lang="en-US" dirty="0"/>
              <a:t>PDO Installation</a:t>
            </a:r>
          </a:p>
          <a:p>
            <a:endParaRPr lang="en-US" dirty="0"/>
          </a:p>
          <a:p>
            <a:r>
              <a:rPr lang="en-US" dirty="0" err="1"/>
              <a:t>pg</a:t>
            </a:r>
            <a:r>
              <a:rPr lang="en-US" dirty="0"/>
              <a:t> Installation</a:t>
            </a:r>
          </a:p>
          <a:p>
            <a:r>
              <a:rPr lang="en-US" dirty="0" err="1"/>
              <a:t>sqlite</a:t>
            </a:r>
            <a:r>
              <a:rPr lang="en-US" dirty="0"/>
              <a:t> Installation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86710A-F795-24AE-695B-4529BF192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581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DA520-42E4-0095-7EC1-7F2CF548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MySQLi</a:t>
            </a:r>
            <a:r>
              <a:rPr lang="en-US" dirty="0"/>
              <a:t> Object-Oriented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74EC0-979E-D489-52AE-02A8C5362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servername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 "localhost";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$username = "username";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$password = "password";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// Create connection</a:t>
            </a:r>
          </a:p>
          <a:p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$conn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 new 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servername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$username, $password);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// Check connection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 ($conn-&gt;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connect_error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 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	die("Connection failed: " . $conn-&gt;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connect_error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echo "Connected successfully";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B0972E-F953-EB08-E72D-FC855FBF4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7707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1DC5B-26F5-FDE0-F7B4-E4F419BB0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MySQLi</a:t>
            </a:r>
            <a:r>
              <a:rPr lang="en-US" dirty="0"/>
              <a:t> Procedural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073DA-0270-95C1-F0A3-08404AD99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servername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 "localhost";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$username = "username";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$password = "password";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// Create connection</a:t>
            </a:r>
          </a:p>
          <a:p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$conn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mysqli_connect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servername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$username, $password);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// Check connection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 (!$conn) 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	die("Connection failed: " .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mysqli_connect_error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echo "Connected successfully";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2040A-8B38-3B22-D349-F4302D04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7103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A7942-866A-8803-5FA1-A00EBF7F9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EF5A8-82A3-3F3B-436E-5FE33D057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8194"/>
            <a:ext cx="10515600" cy="4898769"/>
          </a:xfrm>
        </p:spPr>
        <p:txBody>
          <a:bodyPr>
            <a:noAutofit/>
          </a:bodyPr>
          <a:lstStyle/>
          <a:p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servername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= "localhost"</a:t>
            </a:r>
          </a:p>
          <a:p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$username = "username";</a:t>
            </a:r>
          </a:p>
          <a:p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$password = "password";</a:t>
            </a:r>
          </a:p>
          <a:p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try {</a:t>
            </a:r>
          </a:p>
          <a:p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  	</a:t>
            </a:r>
            <a:r>
              <a:rPr lang="en-US" sz="2300" i="1" dirty="0">
                <a:latin typeface="Courier New" panose="02070309020205020404" pitchFamily="49" charset="0"/>
                <a:cs typeface="Courier New" panose="02070309020205020404" pitchFamily="49" charset="0"/>
              </a:rPr>
              <a:t>$conn 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= new PDO("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mysql:host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=$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servername;dbname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myDB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", $username, $password);</a:t>
            </a:r>
          </a:p>
          <a:p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 	// set the PDO error mode to exception</a:t>
            </a:r>
          </a:p>
          <a:p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 	$conn-&gt;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setAttribute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(PDO::ATTR_ERRMODE, PDO::ERRMODE_EXCEPTION);</a:t>
            </a:r>
          </a:p>
          <a:p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  	echo "Connected successfully";</a:t>
            </a:r>
          </a:p>
          <a:p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} catch(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PDOException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$e) {</a:t>
            </a:r>
          </a:p>
          <a:p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  	echo "Connection failed: " . $e-&gt;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getMessage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9B1294-387F-B22D-8263-4D1A3F431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81919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F430C-3D94-7E76-6D4F-13C62EB3B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 the Connection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71694-AFA9-1268-C95A-8F81E2BF3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connection will be closed automatically when script ends</a:t>
            </a:r>
          </a:p>
          <a:p>
            <a:r>
              <a:rPr lang="en-US" dirty="0" err="1"/>
              <a:t>MySQLi</a:t>
            </a:r>
            <a:r>
              <a:rPr lang="en-US" dirty="0"/>
              <a:t> Object-Oriented: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$conn-&gt;close();</a:t>
            </a:r>
          </a:p>
          <a:p>
            <a:r>
              <a:rPr lang="en-US" dirty="0" err="1"/>
              <a:t>MySQLi</a:t>
            </a:r>
            <a:r>
              <a:rPr lang="en-US" dirty="0"/>
              <a:t> Procedural: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mysqli_close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($conn);</a:t>
            </a:r>
          </a:p>
          <a:p>
            <a:r>
              <a:rPr lang="en-US" dirty="0"/>
              <a:t>PDO: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$conn = null;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C0673-E1EE-3513-7D71-325DD7B10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825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DCF5F-EB2E-2DA5-FCA6-CE7D79FA2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PHP Database Programming</a:t>
            </a:r>
            <a:br>
              <a:rPr lang="en-US" dirty="0"/>
            </a:br>
            <a:r>
              <a:rPr lang="en-US" dirty="0"/>
              <a:t>Collecting Data from Forms and Inserting Records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89FBF-2004-0B84-DD11-C67A4DE8A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D2D14-A89E-2E08-01B0-5D74DD572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237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254A1-FE2E-C652-0D6A-CE11C0885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MySQLi</a:t>
            </a:r>
            <a:r>
              <a:rPr lang="en-US" dirty="0"/>
              <a:t> Object-oriented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9037E-8871-8460-723C-D3B0698BC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70342" cy="4351338"/>
          </a:xfrm>
        </p:spPr>
        <p:txBody>
          <a:bodyPr>
            <a:no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 "INSERT INTO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MyGuests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email)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VALUES ('John', 'Doe', 'john@example.com')";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 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($conn-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&gt;query($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=== TRUE)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 	echo "New record created successfully";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 else 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 	echo "Error: " .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. "&lt;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&gt;" . $conn-&gt;error;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7AF3F-7852-32F4-A3EB-BB6CAD2F7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8399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A3128-A864-752E-F43E-6B3847A87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MySQLi</a:t>
            </a:r>
            <a:r>
              <a:rPr lang="en-US" dirty="0"/>
              <a:t> Procedural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AA5E9-0005-3707-8B59-BAF9FE8E2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 "INSERT INTO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MyGuests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email)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VALUES ('John', 'Doe', 'john@example.com')";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 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mysqli_query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$conn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 	echo "New record created successfully";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 else 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 	echo "Error: " .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. "&lt;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&gt;" .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mysqli_error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($conn);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A0A7C-AE8F-F741-070D-5F30D72B4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09621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4691B-3CCB-0E08-4FA4-7CD63EA5F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F3D1E-8326-24F0-A9B3-7410E243F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9703"/>
            <a:ext cx="10515600" cy="4987260"/>
          </a:xfrm>
        </p:spPr>
        <p:txBody>
          <a:bodyPr>
            <a:noAutofit/>
          </a:bodyPr>
          <a:lstStyle/>
          <a:p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try {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 $conn = new PDO("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mysql:host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=$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servername;dbname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=$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dbname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", $username, $password);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 // set the PDO error mode to exception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 $conn-&gt;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setAttribute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(PDO::ATTR_ERRMODE, PDO::ERRMODE_EXCEPTION);</a:t>
            </a:r>
          </a:p>
          <a:p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  $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= "INSERT INTO 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MyGuests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, email)</a:t>
            </a:r>
            <a:b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  VALUES ('John', 'Doe', 'john@example.com')";</a:t>
            </a:r>
          </a:p>
          <a:p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  // use exec() because no results are returned</a:t>
            </a:r>
          </a:p>
          <a:p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  $conn-&gt;exec($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  echo "New record created successfully";</a:t>
            </a:r>
          </a:p>
          <a:p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} catch(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PDOException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$e) {</a:t>
            </a:r>
          </a:p>
          <a:p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  echo $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. "&lt;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&gt;" . $e-&gt;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getMessage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09941-68BA-D1FA-1B0A-422F3E624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47953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71B3A-6916-424B-E070-2AFAC1031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PHP Database Programming</a:t>
            </a:r>
            <a:br>
              <a:rPr lang="en-US" dirty="0"/>
            </a:br>
            <a:r>
              <a:rPr lang="en-US" dirty="0"/>
              <a:t>Retrieval Queries from Database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B0833-6EE3-DBF6-EBDA-62223BEA5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0AEE12-ACF2-C748-B505-C02C576BF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23170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CC30F-1F6F-549E-6D1E-B307BB282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MySQLi</a:t>
            </a:r>
            <a:r>
              <a:rPr lang="en-US" dirty="0"/>
              <a:t> Object-oriented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C93AE-3FDB-EFEE-DB21-6F8CCFB39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9368"/>
            <a:ext cx="10515600" cy="4967595"/>
          </a:xfrm>
        </p:spPr>
        <p:txBody>
          <a:bodyPr>
            <a:noAutofit/>
          </a:bodyPr>
          <a:lstStyle/>
          <a:p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= "SELECT id,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FROM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MyGuests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  <a:p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$result = $conn-&gt;query($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if ($result-&gt;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num_rows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&gt; 0) {</a:t>
            </a:r>
          </a:p>
          <a:p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 	// output data of each row</a:t>
            </a:r>
          </a:p>
          <a:p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 	while($row = $result-&gt;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fetch_assoc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()) {</a:t>
            </a:r>
          </a:p>
          <a:p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		echo "id: " . $row["id"]. " - Name: " . $row["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"]. " " . $row["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"]. "&lt;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&gt;";</a:t>
            </a:r>
          </a:p>
          <a:p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 	}</a:t>
            </a:r>
          </a:p>
          <a:p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} else {</a:t>
            </a:r>
          </a:p>
          <a:p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 echo "0 results";</a:t>
            </a:r>
          </a:p>
          <a:p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1E6A7-D64B-D448-D384-BC700B803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96323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2A8F6-66AD-BC35-E22D-19440BF0F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MySQLi</a:t>
            </a:r>
            <a:r>
              <a:rPr lang="en-US" dirty="0"/>
              <a:t> Procedural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BCC97-B84D-D6CC-372A-EA542886F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8697"/>
            <a:ext cx="10515600" cy="4928266"/>
          </a:xfrm>
        </p:spPr>
        <p:txBody>
          <a:bodyPr>
            <a:noAutofit/>
          </a:bodyPr>
          <a:lstStyle/>
          <a:p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= "SELECT id,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FROM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MyGuests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  <a:p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$result =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mysqli_query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($conn, $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if (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mysqli_num_rows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($result) &gt; 0) {</a:t>
            </a:r>
          </a:p>
          <a:p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 	// output data of each row</a:t>
            </a:r>
          </a:p>
          <a:p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	while($row =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mysqli_fetch_assoc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($result)) {</a:t>
            </a:r>
          </a:p>
          <a:p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	echo "id: " . $row["id"]. " - Name: " . $row["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"]. " " . $row["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"]. "&lt;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&gt;";</a:t>
            </a:r>
          </a:p>
          <a:p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 	}</a:t>
            </a:r>
          </a:p>
          <a:p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} else {</a:t>
            </a:r>
          </a:p>
          <a:p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 echo "0 results";</a:t>
            </a:r>
          </a:p>
          <a:p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BD713B-0AC6-4DFC-62AB-B8617EE51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18006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D41C1-64E8-C782-B314-E895E4F1E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3E0A8-C621-206C-AAE0-D656677F9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8697"/>
            <a:ext cx="10515600" cy="4928266"/>
          </a:xfrm>
        </p:spPr>
        <p:txBody>
          <a:bodyPr>
            <a:noAutofit/>
          </a:bodyPr>
          <a:lstStyle/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&lt;?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echo "&lt;table style='border: solid 1px black;'&gt;";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echo "&lt;tr&gt;&lt;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&gt;Id&lt;/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&gt;&lt;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&gt;&lt;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&gt;Lastname&lt;/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&gt;&lt;/tr&gt;";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class 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TableRows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 extends 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RecursiveIteratorIterator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  function __construct($it) {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parent::__construct($it, self::LEAVES_ONLY);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  }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  function current() {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return "&lt;td style='width:150px;border:1px solid black;'&gt;" . parent::current(). "&lt;/td&gt;";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  }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  function 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beginChildren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echo "&lt;tr&gt;";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  }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  function 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endChildren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echo "&lt;/tr&gt;" . "\n";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  }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76BBFE-ADA5-8185-269C-0004F9857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6176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BEEBB-DD4A-5068-F614-6D1B9A8B5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182E9-D637-20A9-C69D-1231E32D4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B68B3-BAA3-C2DB-9061-02910CFC2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9368"/>
            <a:ext cx="10515600" cy="4967595"/>
          </a:xfrm>
        </p:spPr>
        <p:txBody>
          <a:bodyPr>
            <a:noAutofit/>
          </a:bodyPr>
          <a:lstStyle/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try {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  $conn = new PDO("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mysql:host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=$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servername;dbname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=$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dbname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", $username, $password);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  $conn-&gt;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setAttribute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(PDO::ATTR_ERRMODE, PDO::ERRMODE_EXCEPTION);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  $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$conn-&gt;prepare("SELECT id,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FROM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MyGuests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  $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-&gt;execute();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  // set the resulting array to associative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  $result = $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setFetchMode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(PDO::FETCH_ASSOC);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  foreach(new 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TableRows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(new 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RecursiveArrayIterator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($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fetchAll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())) as $k=&gt;$v) {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echo $v;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  }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 catch(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PDOException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$e) {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  echo "Error: " . $e-&gt;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getMessage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$conn = null;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echo "&lt;/table&gt;";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?&gt;</a:t>
            </a:r>
          </a:p>
          <a:p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5928E9-77DD-9E30-A0A9-D9F9FA84D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683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D1F13D339BA04089B6530E3063BBB0" ma:contentTypeVersion="3" ma:contentTypeDescription="Create a new document." ma:contentTypeScope="" ma:versionID="53edffdedc90a5cc23417a2d239f45a4">
  <xsd:schema xmlns:xsd="http://www.w3.org/2001/XMLSchema" xmlns:xs="http://www.w3.org/2001/XMLSchema" xmlns:p="http://schemas.microsoft.com/office/2006/metadata/properties" xmlns:ns2="a1338ef3-f957-4fbb-b33a-3b606fe126b3" targetNamespace="http://schemas.microsoft.com/office/2006/metadata/properties" ma:root="true" ma:fieldsID="9f407ff9521a5dcbcc967750435157a3" ns2:_="">
    <xsd:import namespace="a1338ef3-f957-4fbb-b33a-3b606fe126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338ef3-f957-4fbb-b33a-3b606fe126b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BBE9CB-3076-4B59-AD96-FF51D1342230}"/>
</file>

<file path=customXml/itemProps2.xml><?xml version="1.0" encoding="utf-8"?>
<ds:datastoreItem xmlns:ds="http://schemas.openxmlformats.org/officeDocument/2006/customXml" ds:itemID="{217B752E-3494-4652-AE00-94DA182A2B22}"/>
</file>

<file path=customXml/itemProps3.xml><?xml version="1.0" encoding="utf-8"?>
<ds:datastoreItem xmlns:ds="http://schemas.openxmlformats.org/officeDocument/2006/customXml" ds:itemID="{79CAD063-96EC-4870-9118-EA3D1151D29A}"/>
</file>

<file path=docProps/app.xml><?xml version="1.0" encoding="utf-8"?>
<Properties xmlns="http://schemas.openxmlformats.org/officeDocument/2006/extended-properties" xmlns:vt="http://schemas.openxmlformats.org/officeDocument/2006/docPropsVTypes">
  <TotalTime>5199</TotalTime>
  <Words>3501</Words>
  <Application>Microsoft Office PowerPoint</Application>
  <PresentationFormat>Widescreen</PresentationFormat>
  <Paragraphs>329</Paragraphs>
  <Slides>64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9" baseType="lpstr">
      <vt:lpstr>Arial</vt:lpstr>
      <vt:lpstr>Calibri</vt:lpstr>
      <vt:lpstr>Calibri Light</vt:lpstr>
      <vt:lpstr>Courier New</vt:lpstr>
      <vt:lpstr>Office Theme</vt:lpstr>
      <vt:lpstr>DataBase</vt:lpstr>
      <vt:lpstr>DataBase Programming</vt:lpstr>
      <vt:lpstr>Web Database Programming</vt:lpstr>
      <vt:lpstr>DataBase Programming</vt:lpstr>
      <vt:lpstr>Web Database Programming</vt:lpstr>
      <vt:lpstr>why php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Java Technologies for Database Web Programming</vt:lpstr>
      <vt:lpstr>ColdFusion</vt:lpstr>
      <vt:lpstr>ASP.NET open-source web development framework https://dotnet.microsoft.com/en-us/apps/aspnet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PHP Variables, Data Types, and Programming Constructs</vt:lpstr>
      <vt:lpstr>Variables</vt:lpstr>
      <vt:lpstr>3 ways to express strings and text:</vt:lpstr>
      <vt:lpstr>PowerPoint Presentation</vt:lpstr>
      <vt:lpstr>3 ways to express strings and text: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PHP Arrays</vt:lpstr>
      <vt:lpstr>PHP Arrays</vt:lpstr>
      <vt:lpstr>PowerPoint Presentation</vt:lpstr>
      <vt:lpstr>techniques for looping through arrays</vt:lpstr>
      <vt:lpstr>PHP Functions</vt:lpstr>
      <vt:lpstr>PHP Server Variables and Forms</vt:lpstr>
      <vt:lpstr>PHP Forms</vt:lpstr>
      <vt:lpstr>PHP: MySQL Database</vt:lpstr>
      <vt:lpstr>PHP Database Programming Connecting to Database</vt:lpstr>
      <vt:lpstr>PowerPoint Presentation</vt:lpstr>
      <vt:lpstr>PowerPoint Presentation</vt:lpstr>
      <vt:lpstr>MySQLi Object-Oriented</vt:lpstr>
      <vt:lpstr>MySQLi Procedural</vt:lpstr>
      <vt:lpstr>PDO</vt:lpstr>
      <vt:lpstr>Close the Connection</vt:lpstr>
      <vt:lpstr>PHP Database Programming Collecting Data from Forms and Inserting Records</vt:lpstr>
      <vt:lpstr>MySQLi Object-oriented</vt:lpstr>
      <vt:lpstr>MySQLi Procedural</vt:lpstr>
      <vt:lpstr>PDO</vt:lpstr>
      <vt:lpstr>PHP Database Programming Retrieval Queries from Database Tables</vt:lpstr>
      <vt:lpstr>MySQLi Object-oriented</vt:lpstr>
      <vt:lpstr>MySQLi Procedural</vt:lpstr>
      <vt:lpstr>PDO</vt:lpstr>
      <vt:lpstr>PDO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</dc:title>
  <dc:creator>Calin Cenan</dc:creator>
  <cp:lastModifiedBy>Calin Cenan</cp:lastModifiedBy>
  <cp:revision>225</cp:revision>
  <dcterms:created xsi:type="dcterms:W3CDTF">2023-08-06T12:55:35Z</dcterms:created>
  <dcterms:modified xsi:type="dcterms:W3CDTF">2025-09-23T15:56:56Z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2023-08-06T13:14:17Z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de879172-8bb0-4294-827c-110d21e2f193</vt:lpwstr>
  </property>
  <property fmtid="{D5CDD505-2E9C-101B-9397-08002B2CF9AE}" pid="8" name="MSIP_Label_5b58b62f-6f94-46bd-8089-18e64b0a9abb_ContentBits">
    <vt:lpwstr>0</vt:lpwstr>
  </property>
  <property fmtid="{D5CDD505-2E9C-101B-9397-08002B2CF9AE}" pid="9" name="ContentTypeId">
    <vt:lpwstr>0x01010042D1F13D339BA04089B6530E3063BBB0</vt:lpwstr>
  </property>
</Properties>
</file>