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4"/>
  </p:notesMasterIdLst>
  <p:sldIdLst>
    <p:sldId id="256" r:id="rId2"/>
    <p:sldId id="271" r:id="rId3"/>
    <p:sldId id="272" r:id="rId4"/>
    <p:sldId id="273" r:id="rId5"/>
    <p:sldId id="275" r:id="rId6"/>
    <p:sldId id="278" r:id="rId7"/>
    <p:sldId id="277" r:id="rId8"/>
    <p:sldId id="279" r:id="rId9"/>
    <p:sldId id="280" r:id="rId10"/>
    <p:sldId id="282" r:id="rId11"/>
    <p:sldId id="281" r:id="rId12"/>
    <p:sldId id="284" r:id="rId13"/>
    <p:sldId id="286" r:id="rId14"/>
    <p:sldId id="285" r:id="rId15"/>
    <p:sldId id="283" r:id="rId16"/>
    <p:sldId id="287" r:id="rId17"/>
    <p:sldId id="288" r:id="rId18"/>
    <p:sldId id="289" r:id="rId19"/>
    <p:sldId id="291" r:id="rId20"/>
    <p:sldId id="290"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310" r:id="rId40"/>
    <p:sldId id="311" r:id="rId41"/>
    <p:sldId id="312" r:id="rId42"/>
    <p:sldId id="313" r:id="rId43"/>
    <p:sldId id="314" r:id="rId44"/>
    <p:sldId id="315" r:id="rId45"/>
    <p:sldId id="316" r:id="rId46"/>
    <p:sldId id="317" r:id="rId47"/>
    <p:sldId id="318" r:id="rId48"/>
    <p:sldId id="319" r:id="rId49"/>
    <p:sldId id="320" r:id="rId50"/>
    <p:sldId id="321" r:id="rId51"/>
    <p:sldId id="322" r:id="rId52"/>
    <p:sldId id="323" r:id="rId53"/>
    <p:sldId id="324" r:id="rId54"/>
    <p:sldId id="325" r:id="rId55"/>
    <p:sldId id="326" r:id="rId56"/>
    <p:sldId id="327" r:id="rId57"/>
    <p:sldId id="328" r:id="rId58"/>
    <p:sldId id="329" r:id="rId59"/>
    <p:sldId id="330" r:id="rId60"/>
    <p:sldId id="331" r:id="rId61"/>
    <p:sldId id="332" r:id="rId62"/>
    <p:sldId id="333" r:id="rId63"/>
    <p:sldId id="334" r:id="rId64"/>
    <p:sldId id="335" r:id="rId65"/>
    <p:sldId id="336" r:id="rId66"/>
    <p:sldId id="337" r:id="rId67"/>
    <p:sldId id="274" r:id="rId68"/>
    <p:sldId id="276" r:id="rId69"/>
    <p:sldId id="338" r:id="rId70"/>
    <p:sldId id="339" r:id="rId71"/>
    <p:sldId id="340" r:id="rId72"/>
    <p:sldId id="341" r:id="rId73"/>
    <p:sldId id="342" r:id="rId74"/>
    <p:sldId id="343" r:id="rId75"/>
    <p:sldId id="344" r:id="rId76"/>
    <p:sldId id="345" r:id="rId77"/>
    <p:sldId id="346" r:id="rId78"/>
    <p:sldId id="347" r:id="rId79"/>
    <p:sldId id="348" r:id="rId80"/>
    <p:sldId id="349" r:id="rId81"/>
    <p:sldId id="350" r:id="rId82"/>
    <p:sldId id="351" r:id="rId83"/>
    <p:sldId id="352" r:id="rId84"/>
    <p:sldId id="353" r:id="rId85"/>
    <p:sldId id="354" r:id="rId86"/>
    <p:sldId id="355" r:id="rId87"/>
    <p:sldId id="356" r:id="rId88"/>
    <p:sldId id="357" r:id="rId89"/>
    <p:sldId id="358" r:id="rId90"/>
    <p:sldId id="359" r:id="rId91"/>
    <p:sldId id="360" r:id="rId92"/>
    <p:sldId id="405" r:id="rId93"/>
    <p:sldId id="406" r:id="rId94"/>
    <p:sldId id="407" r:id="rId95"/>
    <p:sldId id="408" r:id="rId96"/>
    <p:sldId id="409" r:id="rId97"/>
    <p:sldId id="410" r:id="rId98"/>
    <p:sldId id="411" r:id="rId99"/>
    <p:sldId id="361" r:id="rId100"/>
    <p:sldId id="362" r:id="rId101"/>
    <p:sldId id="363" r:id="rId102"/>
    <p:sldId id="364" r:id="rId103"/>
    <p:sldId id="365" r:id="rId104"/>
    <p:sldId id="366" r:id="rId105"/>
    <p:sldId id="368" r:id="rId106"/>
    <p:sldId id="367" r:id="rId107"/>
    <p:sldId id="369" r:id="rId108"/>
    <p:sldId id="370" r:id="rId109"/>
    <p:sldId id="371" r:id="rId110"/>
    <p:sldId id="372" r:id="rId111"/>
    <p:sldId id="373" r:id="rId112"/>
    <p:sldId id="374" r:id="rId113"/>
    <p:sldId id="375" r:id="rId114"/>
    <p:sldId id="376" r:id="rId115"/>
    <p:sldId id="377" r:id="rId116"/>
    <p:sldId id="378" r:id="rId117"/>
    <p:sldId id="379" r:id="rId118"/>
    <p:sldId id="380" r:id="rId119"/>
    <p:sldId id="381" r:id="rId120"/>
    <p:sldId id="382" r:id="rId121"/>
    <p:sldId id="383" r:id="rId122"/>
    <p:sldId id="384" r:id="rId123"/>
    <p:sldId id="385" r:id="rId124"/>
    <p:sldId id="386" r:id="rId125"/>
    <p:sldId id="387" r:id="rId126"/>
    <p:sldId id="388" r:id="rId127"/>
    <p:sldId id="389" r:id="rId128"/>
    <p:sldId id="390" r:id="rId129"/>
    <p:sldId id="393" r:id="rId130"/>
    <p:sldId id="391" r:id="rId131"/>
    <p:sldId id="392" r:id="rId132"/>
    <p:sldId id="394" r:id="rId133"/>
    <p:sldId id="395" r:id="rId134"/>
    <p:sldId id="396" r:id="rId135"/>
    <p:sldId id="397" r:id="rId136"/>
    <p:sldId id="398" r:id="rId137"/>
    <p:sldId id="399" r:id="rId138"/>
    <p:sldId id="400" r:id="rId139"/>
    <p:sldId id="401" r:id="rId140"/>
    <p:sldId id="402" r:id="rId141"/>
    <p:sldId id="403" r:id="rId142"/>
    <p:sldId id="404" r:id="rId1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customXml" Target="../customXml/item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customXml" Target="../customXml/item2.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customXml" Target="../customXml/item3.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notesMaster" Target="notesMasters/notesMaster1.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F28022-3C0D-418B-A8D0-6F07DD708D64}" type="datetimeFigureOut">
              <a:rPr lang="en-US" smtClean="0"/>
              <a:pPr/>
              <a:t>8/6/2025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77C1943-EA29-41FC-8FD0-B2CFE1435960}" type="slidenum">
              <a:rPr lang="en-US" smtClean="0"/>
              <a:pPr/>
              <a:t>‹#›</a:t>
            </a:fld>
            <a:endParaRPr lang="en-US"/>
          </a:p>
        </p:txBody>
      </p:sp>
    </p:spTree>
    <p:extLst>
      <p:ext uri="{BB962C8B-B14F-4D97-AF65-F5344CB8AC3E}">
        <p14:creationId xmlns:p14="http://schemas.microsoft.com/office/powerpoint/2010/main" val="136918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D2F0693-3796-4872-A646-36E9DD818325}" type="datetime1">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E15C6B-A99D-4376-B85D-B9F8AA4AA6C2}" type="datetime1">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161B2-CFBA-4340-AEA4-5D8542C068CF}" type="datetime1">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D18B736-50EF-48EA-AB03-2E3302D67BCB}" type="datetime1">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BB244C6-2BE6-4274-9647-B45DDA121EF7}" type="datetime1">
              <a:rPr lang="en-US" smtClean="0"/>
              <a:t>8/6/2025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C68B19-1A13-4694-8113-01153F41A6A1}" type="datetime1">
              <a:rPr lang="en-US" smtClean="0"/>
              <a:t>8/6/2025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F223B1-26B7-4927-8A17-9A12A0387197}" type="datetime1">
              <a:rPr lang="en-US" smtClean="0"/>
              <a:t>8/6/2025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5A93DA-D41D-4C3D-9F59-01152E6E7804}" type="datetime1">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4753F7-2318-4A49-BA8C-91D00DE5893F}" type="datetime1">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CA11B2-A719-45B9-A2C8-422707F433E0}" type="datetime1">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70C866-4B19-4831-BC60-0FCF548618BC}" type="datetime1">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EDA98C-EC19-43B6-9880-785FFE0C27DA}" type="datetime1">
              <a:rPr lang="en-US" smtClean="0"/>
              <a:t>8/6/2025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ro.wikipedia.org/wiki/Cristian_Tudor_Popescu"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hyperlink" Target="https://www.microsoft.com/en-us/microsoft-365/access" TargetMode="External"/><Relationship Id="rId2" Type="http://schemas.openxmlformats.org/officeDocument/2006/relationships/hyperlink" Target="https://www.sqlite.org/index.html" TargetMode="External"/><Relationship Id="rId1" Type="http://schemas.openxmlformats.org/officeDocument/2006/relationships/slideLayout" Target="../slideLayouts/slideLayout2.xml"/><Relationship Id="rId4" Type="http://schemas.openxmlformats.org/officeDocument/2006/relationships/hyperlink" Target="https://www.claris.com/filemaker/" TargetMode="External"/></Relationships>
</file>

<file path=ppt/slides/_rels/slide102.xml.rels><?xml version="1.0" encoding="UTF-8" standalone="yes"?>
<Relationships xmlns="http://schemas.openxmlformats.org/package/2006/relationships"><Relationship Id="rId2" Type="http://schemas.openxmlformats.org/officeDocument/2006/relationships/hyperlink" Target="https://www.postgresql.org/"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hyperlink" Target="https://www.microsoft.com/en-us/sql-server" TargetMode="External"/><Relationship Id="rId2" Type="http://schemas.openxmlformats.org/officeDocument/2006/relationships/hyperlink" Target="https://www.oracle.com/ro/" TargetMode="External"/><Relationship Id="rId1" Type="http://schemas.openxmlformats.org/officeDocument/2006/relationships/slideLayout" Target="../slideLayouts/slideLayout2.xml"/><Relationship Id="rId6" Type="http://schemas.openxmlformats.org/officeDocument/2006/relationships/hyperlink" Target="https://mariadb.org/" TargetMode="External"/><Relationship Id="rId5" Type="http://schemas.openxmlformats.org/officeDocument/2006/relationships/hyperlink" Target="https://www.mysql.com/" TargetMode="External"/><Relationship Id="rId4" Type="http://schemas.openxmlformats.org/officeDocument/2006/relationships/hyperlink" Target="https://www.ibm.com/products/db2"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hyperlink" Target="https://www.enterprisedb.com/downloads/postgres-postgresql-downloads" TargetMode="Externa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hyperlink" Target="https://www.koyeb.com/blog/top-postgresql-database-free-tiers-in-2025" TargetMode="Externa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hyperlink" Target="https://aiven.io/postgresql" TargetMode="Externa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hyperlink" Target="https://console.aiven.io/" TargetMode="External"/><Relationship Id="rId2" Type="http://schemas.openxmlformats.org/officeDocument/2006/relationships/hyperlink" Target="https://console.aiven.io/account/a4e9c1c86915/project/calinovidiu/services" TargetMode="Externa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Structured Query Language</a:t>
            </a:r>
          </a:p>
        </p:txBody>
      </p:sp>
      <p:sp>
        <p:nvSpPr>
          <p:cNvPr id="3" name="Subtitle 2"/>
          <p:cNvSpPr>
            <a:spLocks noGrp="1"/>
          </p:cNvSpPr>
          <p:nvPr>
            <p:ph type="subTitle" idx="1"/>
          </p:nvPr>
        </p:nvSpPr>
        <p:spPr/>
        <p:txBody>
          <a:bodyPr/>
          <a:lstStyle/>
          <a:p>
            <a:endParaRPr lang="en-US" dirty="0"/>
          </a:p>
        </p:txBody>
      </p:sp>
      <p:sp>
        <p:nvSpPr>
          <p:cNvPr id="5" name="Slide Number Placeholder 4"/>
          <p:cNvSpPr>
            <a:spLocks noGrp="1"/>
          </p:cNvSpPr>
          <p:nvPr>
            <p:ph type="sldNum" sz="quarter" idx="12"/>
          </p:nvPr>
        </p:nvSpPr>
        <p:spPr/>
        <p:txBody>
          <a:bodyPr/>
          <a:lstStyle/>
          <a:p>
            <a:fld id="{1E923D44-A265-4C35-B3D9-34A1C005FE0F}" type="slidenum">
              <a:rPr lang="en-US" smtClean="0"/>
              <a:pPr/>
              <a:t>1</a:t>
            </a:fld>
            <a:endParaRPr lang="en-US"/>
          </a:p>
        </p:txBody>
      </p:sp>
    </p:spTree>
    <p:extLst>
      <p:ext uri="{BB962C8B-B14F-4D97-AF65-F5344CB8AC3E}">
        <p14:creationId xmlns:p14="http://schemas.microsoft.com/office/powerpoint/2010/main" val="2470713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82A5C3E-A73C-8FA1-AD38-F3575B8FD94C}"/>
              </a:ext>
            </a:extLst>
          </p:cNvPr>
          <p:cNvSpPr>
            <a:spLocks noGrp="1"/>
          </p:cNvSpPr>
          <p:nvPr>
            <p:ph type="title"/>
          </p:nvPr>
        </p:nvSpPr>
        <p:spPr>
          <a:xfrm>
            <a:off x="722312" y="4406900"/>
            <a:ext cx="8269287" cy="1362075"/>
          </a:xfrm>
        </p:spPr>
        <p:txBody>
          <a:bodyPr/>
          <a:lstStyle/>
          <a:p>
            <a:r>
              <a:rPr lang="en-US" dirty="0"/>
              <a:t>Structured Query Language SQL</a:t>
            </a:r>
          </a:p>
        </p:txBody>
      </p:sp>
      <p:sp>
        <p:nvSpPr>
          <p:cNvPr id="6" name="Text Placeholder 5">
            <a:extLst>
              <a:ext uri="{FF2B5EF4-FFF2-40B4-BE49-F238E27FC236}">
                <a16:creationId xmlns:a16="http://schemas.microsoft.com/office/drawing/2014/main" id="{A37001C3-D56B-B8B5-5F76-6427CDD83FD0}"/>
              </a:ext>
            </a:extLst>
          </p:cNvPr>
          <p:cNvSpPr>
            <a:spLocks noGrp="1"/>
          </p:cNvSpPr>
          <p:nvPr>
            <p:ph type="body" idx="1"/>
          </p:nvPr>
        </p:nvSpPr>
        <p:spPr/>
        <p:txBody>
          <a:bodyPr/>
          <a:lstStyle/>
          <a:p>
            <a:r>
              <a:rPr lang="en-US" dirty="0"/>
              <a:t>SQL language</a:t>
            </a:r>
          </a:p>
        </p:txBody>
      </p:sp>
      <p:sp>
        <p:nvSpPr>
          <p:cNvPr id="4" name="Slide Number Placeholder 3">
            <a:extLst>
              <a:ext uri="{FF2B5EF4-FFF2-40B4-BE49-F238E27FC236}">
                <a16:creationId xmlns:a16="http://schemas.microsoft.com/office/drawing/2014/main" id="{D5BED1D5-F651-2F57-303E-5CF382AA2D1B}"/>
              </a:ext>
            </a:extLst>
          </p:cNvPr>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33232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070CB-D924-12E0-14A9-54C6FFBC077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2D0DB42-DFDB-CB03-B134-1493F82E0355}"/>
              </a:ext>
            </a:extLst>
          </p:cNvPr>
          <p:cNvSpPr>
            <a:spLocks noGrp="1"/>
          </p:cNvSpPr>
          <p:nvPr>
            <p:ph type="title"/>
          </p:nvPr>
        </p:nvSpPr>
        <p:spPr>
          <a:xfrm>
            <a:off x="722312" y="4406900"/>
            <a:ext cx="8269287" cy="1362075"/>
          </a:xfrm>
        </p:spPr>
        <p:txBody>
          <a:bodyPr/>
          <a:lstStyle/>
          <a:p>
            <a:r>
              <a:rPr lang="en-US" dirty="0"/>
              <a:t>Structured Query Language SQL</a:t>
            </a:r>
            <a:br>
              <a:rPr lang="en-US" dirty="0"/>
            </a:br>
            <a:r>
              <a:rPr lang="en-US" dirty="0"/>
              <a:t>SELECT</a:t>
            </a:r>
          </a:p>
        </p:txBody>
      </p:sp>
      <p:sp>
        <p:nvSpPr>
          <p:cNvPr id="6" name="Text Placeholder 5">
            <a:extLst>
              <a:ext uri="{FF2B5EF4-FFF2-40B4-BE49-F238E27FC236}">
                <a16:creationId xmlns:a16="http://schemas.microsoft.com/office/drawing/2014/main" id="{9E212E45-75ED-CC2C-1CFD-412B342FAFDD}"/>
              </a:ext>
            </a:extLst>
          </p:cNvPr>
          <p:cNvSpPr>
            <a:spLocks noGrp="1"/>
          </p:cNvSpPr>
          <p:nvPr>
            <p:ph type="body" idx="1"/>
          </p:nvPr>
        </p:nvSpPr>
        <p:spPr/>
        <p:txBody>
          <a:bodyPr/>
          <a:lstStyle/>
          <a:p>
            <a:r>
              <a:rPr lang="en-US" dirty="0"/>
              <a:t>SQL language</a:t>
            </a:r>
          </a:p>
        </p:txBody>
      </p:sp>
      <p:sp>
        <p:nvSpPr>
          <p:cNvPr id="4" name="Slide Number Placeholder 3">
            <a:extLst>
              <a:ext uri="{FF2B5EF4-FFF2-40B4-BE49-F238E27FC236}">
                <a16:creationId xmlns:a16="http://schemas.microsoft.com/office/drawing/2014/main" id="{A76042E3-B4CF-90D8-3132-5F3BBE85D92A}"/>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4188609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2FDE6-7C08-644E-0754-B46D0BDFA31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0E674D0-753E-8711-DC33-FF7C622791D1}"/>
              </a:ext>
            </a:extLst>
          </p:cNvPr>
          <p:cNvSpPr>
            <a:spLocks noGrp="1"/>
          </p:cNvSpPr>
          <p:nvPr>
            <p:ph type="title"/>
          </p:nvPr>
        </p:nvSpPr>
        <p:spPr>
          <a:xfrm>
            <a:off x="722312" y="4406900"/>
            <a:ext cx="8269287" cy="1362075"/>
          </a:xfrm>
        </p:spPr>
        <p:txBody>
          <a:bodyPr/>
          <a:lstStyle/>
          <a:p>
            <a:r>
              <a:rPr lang="en-US" dirty="0"/>
              <a:t>Structured Query Language SQL</a:t>
            </a:r>
            <a:br>
              <a:rPr lang="en-US" dirty="0"/>
            </a:br>
            <a:r>
              <a:rPr lang="en-US" dirty="0"/>
              <a:t>DATA DEFINITION LANGUAGE</a:t>
            </a:r>
          </a:p>
        </p:txBody>
      </p:sp>
      <p:sp>
        <p:nvSpPr>
          <p:cNvPr id="6" name="Text Placeholder 5">
            <a:extLst>
              <a:ext uri="{FF2B5EF4-FFF2-40B4-BE49-F238E27FC236}">
                <a16:creationId xmlns:a16="http://schemas.microsoft.com/office/drawing/2014/main" id="{291A1C26-A32B-38F4-3D82-B02A49BAD642}"/>
              </a:ext>
            </a:extLst>
          </p:cNvPr>
          <p:cNvSpPr>
            <a:spLocks noGrp="1"/>
          </p:cNvSpPr>
          <p:nvPr>
            <p:ph type="body" idx="1"/>
          </p:nvPr>
        </p:nvSpPr>
        <p:spPr/>
        <p:txBody>
          <a:bodyPr/>
          <a:lstStyle/>
          <a:p>
            <a:r>
              <a:rPr lang="en-US" dirty="0"/>
              <a:t>SQL language</a:t>
            </a:r>
          </a:p>
        </p:txBody>
      </p:sp>
      <p:sp>
        <p:nvSpPr>
          <p:cNvPr id="4" name="Slide Number Placeholder 3">
            <a:extLst>
              <a:ext uri="{FF2B5EF4-FFF2-40B4-BE49-F238E27FC236}">
                <a16:creationId xmlns:a16="http://schemas.microsoft.com/office/drawing/2014/main" id="{FE9FD4C0-61BA-DB77-29D3-F6F7FA35B2D3}"/>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843425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6392C9-B0B3-F462-8A2B-D60B7076F36F}"/>
              </a:ext>
            </a:extLst>
          </p:cNvPr>
          <p:cNvSpPr>
            <a:spLocks noGrp="1"/>
          </p:cNvSpPr>
          <p:nvPr>
            <p:ph type="title"/>
          </p:nvPr>
        </p:nvSpPr>
        <p:spPr/>
        <p:txBody>
          <a:bodyPr/>
          <a:lstStyle/>
          <a:p>
            <a:r>
              <a:rPr lang="en-US" dirty="0"/>
              <a:t>SQL Structured Query Language</a:t>
            </a:r>
          </a:p>
        </p:txBody>
      </p:sp>
      <p:sp>
        <p:nvSpPr>
          <p:cNvPr id="6" name="Content Placeholder 5">
            <a:extLst>
              <a:ext uri="{FF2B5EF4-FFF2-40B4-BE49-F238E27FC236}">
                <a16:creationId xmlns:a16="http://schemas.microsoft.com/office/drawing/2014/main" id="{EC0EC97F-C2C3-9A31-A774-D47DD9FA39E4}"/>
              </a:ext>
            </a:extLst>
          </p:cNvPr>
          <p:cNvSpPr>
            <a:spLocks noGrp="1"/>
          </p:cNvSpPr>
          <p:nvPr>
            <p:ph idx="1"/>
          </p:nvPr>
        </p:nvSpPr>
        <p:spPr/>
        <p:txBody>
          <a:bodyPr>
            <a:normAutofit/>
          </a:bodyPr>
          <a:lstStyle/>
          <a:p>
            <a:r>
              <a:rPr lang="en-US" sz="2800" dirty="0"/>
              <a:t>standard language for Relational </a:t>
            </a:r>
            <a:r>
              <a:rPr lang="en-US" sz="2800" dirty="0" err="1"/>
              <a:t>DataBase</a:t>
            </a:r>
            <a:r>
              <a:rPr lang="en-US" sz="2800" dirty="0"/>
              <a:t> Management Systems </a:t>
            </a:r>
          </a:p>
          <a:p>
            <a:r>
              <a:rPr lang="en-US" sz="2800" dirty="0"/>
              <a:t>three main parts: </a:t>
            </a:r>
          </a:p>
          <a:p>
            <a:pPr marL="914400" lvl="1" indent="-514350">
              <a:buFont typeface="+mj-lt"/>
              <a:buAutoNum type="arabicPeriod"/>
            </a:pPr>
            <a:r>
              <a:rPr lang="en-US" dirty="0"/>
              <a:t>Data Definition Language</a:t>
            </a:r>
          </a:p>
          <a:p>
            <a:pPr marL="914400" lvl="1" indent="-514350">
              <a:buFont typeface="+mj-lt"/>
              <a:buAutoNum type="arabicPeriod"/>
            </a:pPr>
            <a:r>
              <a:rPr lang="en-US" dirty="0"/>
              <a:t>Data Manipulation Language</a:t>
            </a:r>
          </a:p>
          <a:p>
            <a:pPr marL="914400" lvl="1" indent="-514350">
              <a:buFont typeface="+mj-lt"/>
              <a:buAutoNum type="arabicPeriod"/>
            </a:pPr>
            <a:r>
              <a:rPr lang="en-US" sz="2700" dirty="0"/>
              <a:t>Security</a:t>
            </a:r>
          </a:p>
          <a:p>
            <a:pPr marL="914400" lvl="1" indent="-514350">
              <a:buFont typeface="+mj-lt"/>
              <a:buAutoNum type="arabicPeriod"/>
            </a:pPr>
            <a:r>
              <a:rPr lang="en-US" sz="2400" dirty="0"/>
              <a:t>… </a:t>
            </a:r>
          </a:p>
          <a:p>
            <a:endParaRPr lang="en-US" sz="2800" dirty="0"/>
          </a:p>
        </p:txBody>
      </p:sp>
      <p:sp>
        <p:nvSpPr>
          <p:cNvPr id="4" name="Slide Number Placeholder 3">
            <a:extLst>
              <a:ext uri="{FF2B5EF4-FFF2-40B4-BE49-F238E27FC236}">
                <a16:creationId xmlns:a16="http://schemas.microsoft.com/office/drawing/2014/main" id="{02300EA6-8E77-A56B-E7B0-A35B3D6E535A}"/>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3534038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14501-34AD-EB2B-BB87-7F2CBF3C8D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313A87-455C-86AB-08A3-CD7632F68125}"/>
              </a:ext>
            </a:extLst>
          </p:cNvPr>
          <p:cNvSpPr>
            <a:spLocks noGrp="1"/>
          </p:cNvSpPr>
          <p:nvPr>
            <p:ph idx="1"/>
          </p:nvPr>
        </p:nvSpPr>
        <p:spPr/>
        <p:txBody>
          <a:bodyPr>
            <a:normAutofit/>
          </a:bodyPr>
          <a:lstStyle/>
          <a:p>
            <a:r>
              <a:rPr lang="en-US" sz="2800" dirty="0" err="1"/>
              <a:t>DBeaver</a:t>
            </a:r>
            <a:r>
              <a:rPr lang="en-US" sz="2800" dirty="0"/>
              <a:t> (https://dbeaver.io/, n.d.) and SQLite (https://www.sqlite.org/, n.d.) already installed we can start implementing a database</a:t>
            </a:r>
          </a:p>
          <a:p>
            <a:r>
              <a:rPr lang="en-US" sz="2800" dirty="0" err="1"/>
              <a:t>DBeaver</a:t>
            </a:r>
            <a:r>
              <a:rPr lang="en-US" sz="2800" dirty="0"/>
              <a:t> – File – New – Database Connection – SQLite – Create (new database file)</a:t>
            </a:r>
          </a:p>
          <a:p>
            <a:r>
              <a:rPr lang="en-US" sz="2800" dirty="0"/>
              <a:t>and somewhere create a first database.</a:t>
            </a:r>
          </a:p>
          <a:p>
            <a:endParaRPr lang="en-US" sz="2800" dirty="0"/>
          </a:p>
        </p:txBody>
      </p:sp>
      <p:sp>
        <p:nvSpPr>
          <p:cNvPr id="4" name="Slide Number Placeholder 3">
            <a:extLst>
              <a:ext uri="{FF2B5EF4-FFF2-40B4-BE49-F238E27FC236}">
                <a16:creationId xmlns:a16="http://schemas.microsoft.com/office/drawing/2014/main" id="{778AB7B1-6FB6-8DD0-3F4E-CE98B81E73E2}"/>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66532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5BEB-E9C8-1E48-8C43-3BBCA48ABCB8}"/>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99D21425-48CF-C899-27FD-99F8C91D5544}"/>
              </a:ext>
            </a:extLst>
          </p:cNvPr>
          <p:cNvSpPr>
            <a:spLocks noGrp="1"/>
          </p:cNvSpPr>
          <p:nvPr>
            <p:ph type="sldNum" sz="quarter" idx="12"/>
          </p:nvPr>
        </p:nvSpPr>
        <p:spPr/>
        <p:txBody>
          <a:bodyPr/>
          <a:lstStyle/>
          <a:p>
            <a:fld id="{B6F15528-21DE-4FAA-801E-634DDDAF4B2B}" type="slidenum">
              <a:rPr lang="en-US" smtClean="0"/>
              <a:pPr/>
              <a:t>7</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CB3F3F61-6426-3FBE-6557-35AEA5049883}"/>
              </a:ext>
            </a:extLst>
          </p:cNvPr>
          <p:cNvPicPr>
            <a:picLocks noGrp="1" noChangeAspect="1"/>
          </p:cNvPicPr>
          <p:nvPr>
            <p:ph idx="1"/>
          </p:nvPr>
        </p:nvPicPr>
        <p:blipFill>
          <a:blip r:embed="rId2"/>
          <a:stretch>
            <a:fillRect/>
          </a:stretch>
        </p:blipFill>
        <p:spPr>
          <a:xfrm>
            <a:off x="182880" y="1097280"/>
            <a:ext cx="8787612" cy="4693488"/>
          </a:xfrm>
          <a:prstGeom prst="rect">
            <a:avLst/>
          </a:prstGeom>
        </p:spPr>
      </p:pic>
    </p:spTree>
    <p:extLst>
      <p:ext uri="{BB962C8B-B14F-4D97-AF65-F5344CB8AC3E}">
        <p14:creationId xmlns:p14="http://schemas.microsoft.com/office/powerpoint/2010/main" val="2004573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90298-624D-83A6-735B-8A4733576C5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5423DE-BF63-7F35-7CAB-8DBF1D485947}"/>
              </a:ext>
            </a:extLst>
          </p:cNvPr>
          <p:cNvSpPr>
            <a:spLocks noGrp="1"/>
          </p:cNvSpPr>
          <p:nvPr>
            <p:ph idx="1"/>
          </p:nvPr>
        </p:nvSpPr>
        <p:spPr/>
        <p:txBody>
          <a:bodyPr>
            <a:normAutofit lnSpcReduction="10000"/>
          </a:bodyPr>
          <a:lstStyle/>
          <a:p>
            <a:r>
              <a:rPr lang="en-US" sz="2800" dirty="0"/>
              <a:t>SQL language standard uses the word table to denote a relation</a:t>
            </a:r>
          </a:p>
          <a:p>
            <a:r>
              <a:rPr lang="en-US" sz="2800" dirty="0"/>
              <a:t>subset of SQL that supports Creation, Read, Update modification and Deletion of tables is called Data Definition Language (DDL)</a:t>
            </a:r>
          </a:p>
          <a:p>
            <a:r>
              <a:rPr lang="en-US" sz="2800" dirty="0"/>
              <a:t>there is a command that lets users define new domains, analogous to type definition commands in a programming language but we only consider domains that are built-in types, such as character strings and numbers</a:t>
            </a:r>
          </a:p>
        </p:txBody>
      </p:sp>
      <p:sp>
        <p:nvSpPr>
          <p:cNvPr id="4" name="Slide Number Placeholder 3">
            <a:extLst>
              <a:ext uri="{FF2B5EF4-FFF2-40B4-BE49-F238E27FC236}">
                <a16:creationId xmlns:a16="http://schemas.microsoft.com/office/drawing/2014/main" id="{34F328D8-8C52-406C-DD58-AA8E40FC704A}"/>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071497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B352-C7AC-BDF7-92E3-A0B873875C9C}"/>
              </a:ext>
            </a:extLst>
          </p:cNvPr>
          <p:cNvSpPr>
            <a:spLocks noGrp="1"/>
          </p:cNvSpPr>
          <p:nvPr>
            <p:ph type="title"/>
          </p:nvPr>
        </p:nvSpPr>
        <p:spPr/>
        <p:txBody>
          <a:bodyPr/>
          <a:lstStyle/>
          <a:p>
            <a:r>
              <a:rPr lang="en-US" dirty="0"/>
              <a:t>CREATE TABLE</a:t>
            </a:r>
          </a:p>
        </p:txBody>
      </p:sp>
      <p:sp>
        <p:nvSpPr>
          <p:cNvPr id="3" name="Content Placeholder 2">
            <a:extLst>
              <a:ext uri="{FF2B5EF4-FFF2-40B4-BE49-F238E27FC236}">
                <a16:creationId xmlns:a16="http://schemas.microsoft.com/office/drawing/2014/main" id="{C8EF56A3-03B1-295B-668B-9CBCFD1DF1CD}"/>
              </a:ext>
            </a:extLst>
          </p:cNvPr>
          <p:cNvSpPr>
            <a:spLocks noGrp="1"/>
          </p:cNvSpPr>
          <p:nvPr>
            <p:ph idx="1"/>
          </p:nvPr>
        </p:nvSpPr>
        <p:spPr/>
        <p:txBody>
          <a:bodyPr>
            <a:normAutofit/>
          </a:bodyPr>
          <a:lstStyle/>
          <a:p>
            <a:r>
              <a:rPr lang="en-US" sz="2800" dirty="0"/>
              <a:t>statement used to define a new table</a:t>
            </a:r>
          </a:p>
          <a:p>
            <a:r>
              <a:rPr lang="en-US" sz="2800" dirty="0">
                <a:latin typeface="Courier New" panose="02070309020205020404" pitchFamily="49" charset="0"/>
                <a:cs typeface="Courier New" panose="02070309020205020404" pitchFamily="49" charset="0"/>
              </a:rPr>
              <a:t>CREATE TABLE Students ( </a:t>
            </a:r>
          </a:p>
          <a:p>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CHAR(20),</a:t>
            </a:r>
          </a:p>
          <a:p>
            <a:r>
              <a:rPr lang="en-US" sz="2800" dirty="0">
                <a:latin typeface="Courier New" panose="02070309020205020404" pitchFamily="49" charset="0"/>
                <a:cs typeface="Courier New" panose="02070309020205020404" pitchFamily="49" charset="0"/>
              </a:rPr>
              <a:t> 	name CHAR(30),</a:t>
            </a:r>
          </a:p>
          <a:p>
            <a:r>
              <a:rPr lang="en-US" sz="2800" dirty="0">
                <a:latin typeface="Courier New" panose="02070309020205020404" pitchFamily="49" charset="0"/>
                <a:cs typeface="Courier New" panose="02070309020205020404" pitchFamily="49" charset="0"/>
              </a:rPr>
              <a:t> 	login CHAR(20),</a:t>
            </a:r>
          </a:p>
          <a:p>
            <a:r>
              <a:rPr lang="en-US" sz="2800" dirty="0">
                <a:latin typeface="Courier New" panose="02070309020205020404" pitchFamily="49" charset="0"/>
                <a:cs typeface="Courier New" panose="02070309020205020404" pitchFamily="49" charset="0"/>
              </a:rPr>
              <a:t> 	age INTEGER,</a:t>
            </a:r>
          </a:p>
          <a:p>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gpa</a:t>
            </a:r>
            <a:r>
              <a:rPr lang="en-US" sz="2800" dirty="0">
                <a:latin typeface="Courier New" panose="02070309020205020404" pitchFamily="49" charset="0"/>
                <a:cs typeface="Courier New" panose="02070309020205020404" pitchFamily="49" charset="0"/>
              </a:rPr>
              <a:t> REAL)</a:t>
            </a:r>
          </a:p>
          <a:p>
            <a:endParaRPr lang="en-US" sz="2800" dirty="0"/>
          </a:p>
        </p:txBody>
      </p:sp>
      <p:sp>
        <p:nvSpPr>
          <p:cNvPr id="4" name="Slide Number Placeholder 3">
            <a:extLst>
              <a:ext uri="{FF2B5EF4-FFF2-40B4-BE49-F238E27FC236}">
                <a16:creationId xmlns:a16="http://schemas.microsoft.com/office/drawing/2014/main" id="{F7F558B6-8133-6336-3BE6-881617AA24DE}"/>
              </a:ext>
            </a:extLst>
          </p:cNvPr>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4102783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06B07-0F2A-FA35-43A3-4CB8097C3E25}"/>
              </a:ext>
            </a:extLst>
          </p:cNvPr>
          <p:cNvSpPr>
            <a:spLocks noGrp="1"/>
          </p:cNvSpPr>
          <p:nvPr>
            <p:ph type="title"/>
          </p:nvPr>
        </p:nvSpPr>
        <p:spPr/>
        <p:txBody>
          <a:bodyPr>
            <a:normAutofit fontScale="90000"/>
          </a:bodyPr>
          <a:lstStyle/>
          <a:p>
            <a:r>
              <a:rPr lang="en-US" dirty="0"/>
              <a:t>Relations are set</a:t>
            </a:r>
            <a:br>
              <a:rPr lang="en-US" dirty="0"/>
            </a:br>
            <a:r>
              <a:rPr lang="en-US" dirty="0"/>
              <a:t>Sets are made of unique elements</a:t>
            </a:r>
          </a:p>
        </p:txBody>
      </p:sp>
      <p:sp>
        <p:nvSpPr>
          <p:cNvPr id="3" name="Content Placeholder 2">
            <a:extLst>
              <a:ext uri="{FF2B5EF4-FFF2-40B4-BE49-F238E27FC236}">
                <a16:creationId xmlns:a16="http://schemas.microsoft.com/office/drawing/2014/main" id="{FFCDF462-A267-B268-1C65-C8D8883A74E8}"/>
              </a:ext>
            </a:extLst>
          </p:cNvPr>
          <p:cNvSpPr>
            <a:spLocks noGrp="1"/>
          </p:cNvSpPr>
          <p:nvPr>
            <p:ph idx="1"/>
          </p:nvPr>
        </p:nvSpPr>
        <p:spPr/>
        <p:txBody>
          <a:bodyPr/>
          <a:lstStyle/>
          <a:p>
            <a:r>
              <a:rPr lang="en-US" i="1" dirty="0"/>
              <a:t>Students</a:t>
            </a:r>
            <a:r>
              <a:rPr lang="en-US" dirty="0"/>
              <a:t> relation and constraint that no two students have same student id; an example of a key constraint</a:t>
            </a:r>
          </a:p>
          <a:p>
            <a:r>
              <a:rPr lang="en-US" dirty="0"/>
              <a:t>key constraint is a statement that a certain minimal subset of the fields of a relation is a unique identifier for a tuple</a:t>
            </a:r>
          </a:p>
          <a:p>
            <a:endParaRPr lang="en-US" dirty="0"/>
          </a:p>
        </p:txBody>
      </p:sp>
      <p:sp>
        <p:nvSpPr>
          <p:cNvPr id="4" name="Slide Number Placeholder 3">
            <a:extLst>
              <a:ext uri="{FF2B5EF4-FFF2-40B4-BE49-F238E27FC236}">
                <a16:creationId xmlns:a16="http://schemas.microsoft.com/office/drawing/2014/main" id="{FB7DCD1F-A031-88B2-AB55-815EC5BEBB39}"/>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1793801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62234-7C06-34D5-E5C0-7E2D1707CA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77DF40-F994-24DE-6281-0BE4157F2A90}"/>
              </a:ext>
            </a:extLst>
          </p:cNvPr>
          <p:cNvSpPr>
            <a:spLocks noGrp="1"/>
          </p:cNvSpPr>
          <p:nvPr>
            <p:ph idx="1"/>
          </p:nvPr>
        </p:nvSpPr>
        <p:spPr/>
        <p:txBody>
          <a:bodyPr>
            <a:normAutofit fontScale="85000" lnSpcReduction="10000"/>
          </a:bodyPr>
          <a:lstStyle/>
          <a:p>
            <a:pPr marR="0" algn="just" rtl="0"/>
            <a:r>
              <a:rPr lang="en-US" sz="2800" b="0" i="0" u="none" strike="noStrike" kern="100" baseline="0" dirty="0"/>
              <a:t>set of not NULL fields (columns) that uniquely identifies a tuple according to a key constraint is called a candidate key for the relation</a:t>
            </a:r>
          </a:p>
          <a:p>
            <a:pPr marR="0" algn="just" rtl="0"/>
            <a:r>
              <a:rPr lang="en-US" sz="2800" b="0" i="1" u="none" strike="noStrike" kern="100" baseline="0" dirty="0"/>
              <a:t>Students</a:t>
            </a:r>
            <a:r>
              <a:rPr lang="en-US" sz="2800" b="0" i="0" u="none" strike="noStrike" kern="100" baseline="0" dirty="0"/>
              <a:t> relation, the (set of fields containing just the) </a:t>
            </a:r>
            <a:r>
              <a:rPr lang="en-US" sz="2800" b="0" i="1" u="none" strike="noStrike" kern="100" baseline="0" dirty="0" err="1"/>
              <a:t>sid</a:t>
            </a:r>
            <a:r>
              <a:rPr lang="en-US" sz="2800" b="0" i="0" u="none" strike="noStrike" kern="100" baseline="0" dirty="0"/>
              <a:t> field is a candidate key</a:t>
            </a:r>
          </a:p>
          <a:p>
            <a:pPr marR="0" algn="just" rtl="0"/>
            <a:r>
              <a:rPr lang="en-US" sz="2800" b="0" i="0" u="none" strike="noStrike" kern="100" baseline="0" dirty="0"/>
              <a:t>there are two parts to the definition:</a:t>
            </a:r>
          </a:p>
          <a:p>
            <a:pPr marL="514350" lvl="0" indent="-514350">
              <a:buFont typeface="+mj-lt"/>
              <a:buAutoNum type="arabicPeriod"/>
            </a:pPr>
            <a:r>
              <a:rPr lang="en-US" dirty="0"/>
              <a:t>two distinct tuples in a legal instance (an instance that satisfies all rules, including the key constraint) cannot have identical values in all the fields of a key</a:t>
            </a:r>
          </a:p>
          <a:p>
            <a:pPr marL="514350" lvl="0" indent="-514350">
              <a:buFont typeface="+mj-lt"/>
              <a:buAutoNum type="arabicPeriod"/>
            </a:pPr>
            <a:r>
              <a:rPr lang="en-US" dirty="0"/>
              <a:t>no subset of the set of fields in a key is a unique identifier for a tuple</a:t>
            </a:r>
          </a:p>
          <a:p>
            <a:pPr marL="514350" marR="0" indent="-514350" algn="just" rtl="0">
              <a:buFont typeface="+mj-lt"/>
              <a:buAutoNum type="arabicPeriod"/>
            </a:pPr>
            <a:endParaRPr lang="en-US" sz="2800" b="0" i="0" u="none" strike="noStrike" kern="100" baseline="0" dirty="0"/>
          </a:p>
          <a:p>
            <a:endParaRPr lang="en-US" sz="2800" dirty="0"/>
          </a:p>
        </p:txBody>
      </p:sp>
      <p:sp>
        <p:nvSpPr>
          <p:cNvPr id="4" name="Slide Number Placeholder 3">
            <a:extLst>
              <a:ext uri="{FF2B5EF4-FFF2-40B4-BE49-F238E27FC236}">
                <a16:creationId xmlns:a16="http://schemas.microsoft.com/office/drawing/2014/main" id="{D421F62D-7787-6741-10B6-B53DFD19AEFA}"/>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275970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A4D26-67BA-F386-525C-F80F082F1C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E556D1-E2A6-2D6A-91FC-05D067268DB7}"/>
              </a:ext>
            </a:extLst>
          </p:cNvPr>
          <p:cNvSpPr>
            <a:spLocks noGrp="1"/>
          </p:cNvSpPr>
          <p:nvPr>
            <p:ph idx="1"/>
          </p:nvPr>
        </p:nvSpPr>
        <p:spPr/>
        <p:txBody>
          <a:bodyPr>
            <a:normAutofit/>
          </a:bodyPr>
          <a:lstStyle/>
          <a:p>
            <a:r>
              <a:rPr lang="en-US" sz="2800" dirty="0"/>
              <a:t>several students may have the same name, although each student has a unique student id</a:t>
            </a:r>
          </a:p>
        </p:txBody>
      </p:sp>
      <p:sp>
        <p:nvSpPr>
          <p:cNvPr id="4" name="Slide Number Placeholder 3">
            <a:extLst>
              <a:ext uri="{FF2B5EF4-FFF2-40B4-BE49-F238E27FC236}">
                <a16:creationId xmlns:a16="http://schemas.microsoft.com/office/drawing/2014/main" id="{02BA1D47-C850-0B98-9029-D0A8BFE66D2A}"/>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2636218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8A9D8-8D46-6BDC-2BAE-03D66949F00D}"/>
              </a:ext>
            </a:extLst>
          </p:cNvPr>
          <p:cNvSpPr>
            <a:spLocks noGrp="1"/>
          </p:cNvSpPr>
          <p:nvPr>
            <p:ph type="title"/>
          </p:nvPr>
        </p:nvSpPr>
        <p:spPr/>
        <p:txBody>
          <a:bodyPr>
            <a:noAutofit/>
          </a:bodyPr>
          <a:lstStyle/>
          <a:p>
            <a:r>
              <a:rPr lang="en-US" sz="3600" dirty="0">
                <a:hlinkClick r:id="rId2"/>
              </a:rPr>
              <a:t>Cristian Tudor Popescu – Wikipedia</a:t>
            </a:r>
            <a:br>
              <a:rPr lang="en-US" sz="3600" dirty="0"/>
            </a:br>
            <a:r>
              <a:rPr lang="en-US" sz="3200" dirty="0">
                <a:hlinkClick r:id="rId2"/>
              </a:rPr>
              <a:t>ro.wikipedia.org/wiki/Cristian_Tudor_Popescu</a:t>
            </a:r>
            <a:endParaRPr lang="en-US" sz="3200" dirty="0"/>
          </a:p>
        </p:txBody>
      </p:sp>
      <p:sp>
        <p:nvSpPr>
          <p:cNvPr id="3" name="Content Placeholder 2">
            <a:extLst>
              <a:ext uri="{FF2B5EF4-FFF2-40B4-BE49-F238E27FC236}">
                <a16:creationId xmlns:a16="http://schemas.microsoft.com/office/drawing/2014/main" id="{CC1A784A-8BE8-AF54-8103-D7670B49BC0A}"/>
              </a:ext>
            </a:extLst>
          </p:cNvPr>
          <p:cNvSpPr>
            <a:spLocks noGrp="1"/>
          </p:cNvSpPr>
          <p:nvPr>
            <p:ph idx="1"/>
          </p:nvPr>
        </p:nvSpPr>
        <p:spPr/>
        <p:txBody>
          <a:bodyPr>
            <a:normAutofit fontScale="77500" lnSpcReduction="20000"/>
          </a:bodyPr>
          <a:lstStyle/>
          <a:p>
            <a:r>
              <a:rPr lang="en-US" dirty="0"/>
              <a:t>Cristian Tudor Popescu was born on October 1, 1956, in Bucharest, the capital of the People's Republic of Romania. He graduated in 1981 from the Faculty of Automation and Computers in Bucharest, earning an engineering degree.</a:t>
            </a:r>
          </a:p>
          <a:p>
            <a:endParaRPr lang="en-US" dirty="0"/>
          </a:p>
          <a:p>
            <a:r>
              <a:rPr lang="en-US" dirty="0"/>
              <a:t>His real name is Cristian Popescu, but he added his father's first name, Tudor, due to an agreement with the poet Cristian Popescu. The agreement stated that the first of the two to publish a text would keep his name, while the other would make a change to distinguish between them.</a:t>
            </a:r>
          </a:p>
          <a:p>
            <a:endParaRPr lang="en-US" dirty="0"/>
          </a:p>
          <a:p>
            <a:r>
              <a:rPr lang="en-US" dirty="0"/>
              <a:t>Before becoming a recognized journalist, he stood out as a science fiction writer.</a:t>
            </a:r>
          </a:p>
        </p:txBody>
      </p:sp>
      <p:sp>
        <p:nvSpPr>
          <p:cNvPr id="4" name="Slide Number Placeholder 3">
            <a:extLst>
              <a:ext uri="{FF2B5EF4-FFF2-40B4-BE49-F238E27FC236}">
                <a16:creationId xmlns:a16="http://schemas.microsoft.com/office/drawing/2014/main" id="{1DAF37F5-2F8C-6D0E-134F-5712D9398DA8}"/>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093967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66208-5F48-A5B0-C870-0D13FFA0F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F4E04-77A4-BC2E-EEA1-539ACF3D3A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C56102-2A91-B68A-93DA-34BAD0015F50}"/>
              </a:ext>
            </a:extLst>
          </p:cNvPr>
          <p:cNvSpPr>
            <a:spLocks noGrp="1"/>
          </p:cNvSpPr>
          <p:nvPr>
            <p:ph idx="1"/>
          </p:nvPr>
        </p:nvSpPr>
        <p:spPr>
          <a:xfrm>
            <a:off x="457200" y="1600200"/>
            <a:ext cx="8686800" cy="4525963"/>
          </a:xfrm>
        </p:spPr>
        <p:txBody>
          <a:bodyPr>
            <a:normAutofit lnSpcReduction="10000"/>
          </a:bodyPr>
          <a:lstStyle/>
          <a:p>
            <a:r>
              <a:rPr lang="en-US" sz="2800" dirty="0"/>
              <a:t>several students may have the same name, although each student has a unique student id</a:t>
            </a:r>
          </a:p>
          <a:p>
            <a:pPr marL="514350" indent="-514350">
              <a:buFont typeface="+mj-lt"/>
              <a:buAutoNum type="arabicPeriod"/>
            </a:pPr>
            <a:r>
              <a:rPr lang="en-US" sz="2800" dirty="0"/>
              <a:t>if fields are declared to be key, </a:t>
            </a:r>
            <a:r>
              <a:rPr lang="en-US" sz="2800" dirty="0" err="1"/>
              <a:t>DataBase</a:t>
            </a:r>
            <a:r>
              <a:rPr lang="en-US" sz="2800" dirty="0"/>
              <a:t> Management System (database engine) will not allow </a:t>
            </a:r>
            <a:r>
              <a:rPr lang="en-US" sz="2800" i="1" dirty="0"/>
              <a:t>Students</a:t>
            </a:r>
            <a:r>
              <a:rPr lang="en-US" sz="2800" dirty="0"/>
              <a:t> relation / table to contain two tuples describing different students with same values</a:t>
            </a:r>
          </a:p>
          <a:p>
            <a:pPr marL="514350" indent="-514350">
              <a:buFont typeface="+mj-lt"/>
              <a:buAutoNum type="arabicPeriod"/>
            </a:pPr>
            <a:r>
              <a:rPr lang="en-US" sz="2800" dirty="0"/>
              <a:t>for example, that the set of fields {</a:t>
            </a:r>
            <a:r>
              <a:rPr lang="en-US" sz="2800" i="1" dirty="0" err="1"/>
              <a:t>sid</a:t>
            </a:r>
            <a:r>
              <a:rPr lang="en-US" sz="2800" dirty="0"/>
              <a:t>, </a:t>
            </a:r>
            <a:r>
              <a:rPr lang="en-US" sz="2800" i="1" dirty="0"/>
              <a:t>name</a:t>
            </a:r>
            <a:r>
              <a:rPr lang="en-US" sz="2800" dirty="0"/>
              <a:t>} is not key for </a:t>
            </a:r>
            <a:r>
              <a:rPr lang="en-US" sz="2800" i="1" dirty="0"/>
              <a:t>Students</a:t>
            </a:r>
            <a:r>
              <a:rPr lang="en-US" sz="2800" dirty="0"/>
              <a:t>, because this set properly contains the identifier key {</a:t>
            </a:r>
            <a:r>
              <a:rPr lang="en-US" sz="2800" i="1" dirty="0" err="1"/>
              <a:t>sid</a:t>
            </a:r>
            <a:r>
              <a:rPr lang="en-US" sz="2800" dirty="0"/>
              <a:t>}; set {</a:t>
            </a:r>
            <a:r>
              <a:rPr lang="en-US" sz="2800" i="1" dirty="0" err="1"/>
              <a:t>sid</a:t>
            </a:r>
            <a:r>
              <a:rPr lang="en-US" sz="2800" dirty="0"/>
              <a:t>, </a:t>
            </a:r>
            <a:r>
              <a:rPr lang="en-US" sz="2800" i="1" dirty="0"/>
              <a:t>name</a:t>
            </a:r>
            <a:r>
              <a:rPr lang="en-US" sz="2800" dirty="0"/>
              <a:t>} is an example of a </a:t>
            </a:r>
            <a:r>
              <a:rPr lang="en-US" sz="2800" dirty="0" err="1"/>
              <a:t>superkey</a:t>
            </a:r>
            <a:r>
              <a:rPr lang="en-US" sz="2800" dirty="0"/>
              <a:t>, which is a set of fields that contains a key</a:t>
            </a:r>
          </a:p>
          <a:p>
            <a:endParaRPr lang="en-US" sz="2800" dirty="0"/>
          </a:p>
        </p:txBody>
      </p:sp>
      <p:sp>
        <p:nvSpPr>
          <p:cNvPr id="4" name="Slide Number Placeholder 3">
            <a:extLst>
              <a:ext uri="{FF2B5EF4-FFF2-40B4-BE49-F238E27FC236}">
                <a16:creationId xmlns:a16="http://schemas.microsoft.com/office/drawing/2014/main" id="{535F2B81-13F8-B41A-0A03-2F1B5A9FF1B1}"/>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2633277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5A56A-43D4-3B8A-9865-EF544F4DD117}"/>
              </a:ext>
            </a:extLst>
          </p:cNvPr>
          <p:cNvSpPr>
            <a:spLocks noGrp="1"/>
          </p:cNvSpPr>
          <p:nvPr>
            <p:ph type="title"/>
          </p:nvPr>
        </p:nvSpPr>
        <p:spPr/>
        <p:txBody>
          <a:bodyPr/>
          <a:lstStyle/>
          <a:p>
            <a:r>
              <a:rPr lang="en-US" dirty="0"/>
              <a:t>Primary Key</a:t>
            </a:r>
          </a:p>
        </p:txBody>
      </p:sp>
      <p:sp>
        <p:nvSpPr>
          <p:cNvPr id="3" name="Content Placeholder 2">
            <a:extLst>
              <a:ext uri="{FF2B5EF4-FFF2-40B4-BE49-F238E27FC236}">
                <a16:creationId xmlns:a16="http://schemas.microsoft.com/office/drawing/2014/main" id="{95306AAF-1525-91D4-C7BF-AD27532AEE28}"/>
              </a:ext>
            </a:extLst>
          </p:cNvPr>
          <p:cNvSpPr>
            <a:spLocks noGrp="1"/>
          </p:cNvSpPr>
          <p:nvPr>
            <p:ph idx="1"/>
          </p:nvPr>
        </p:nvSpPr>
        <p:spPr/>
        <p:txBody>
          <a:bodyPr>
            <a:normAutofit/>
          </a:bodyPr>
          <a:lstStyle/>
          <a:p>
            <a:r>
              <a:rPr lang="en-US" sz="2800" dirty="0"/>
              <a:t>every relation is a set with unique elements</a:t>
            </a:r>
          </a:p>
          <a:p>
            <a:r>
              <a:rPr lang="en-US" sz="2800" dirty="0"/>
              <a:t>every relation is guaranteed to have a key</a:t>
            </a:r>
          </a:p>
          <a:p>
            <a:r>
              <a:rPr lang="en-US" sz="2800" dirty="0"/>
              <a:t>set of all fields is always a </a:t>
            </a:r>
            <a:r>
              <a:rPr lang="en-US" sz="2800" dirty="0" err="1"/>
              <a:t>superkey</a:t>
            </a:r>
            <a:endParaRPr lang="en-US" sz="2800" dirty="0"/>
          </a:p>
          <a:p>
            <a:r>
              <a:rPr lang="en-US" sz="2800" dirty="0"/>
              <a:t>there is no order of elements in a set</a:t>
            </a:r>
          </a:p>
          <a:p>
            <a:r>
              <a:rPr lang="en-US" sz="2800" dirty="0"/>
              <a:t>relation may have several candidate keys</a:t>
            </a:r>
          </a:p>
          <a:p>
            <a:r>
              <a:rPr lang="en-US" sz="2800" dirty="0"/>
              <a:t>of all the available candidate keys, database designer can identify a primary key</a:t>
            </a:r>
          </a:p>
          <a:p>
            <a:r>
              <a:rPr lang="en-US" sz="2800" dirty="0"/>
              <a:t>tuple can be referred to from elsewhere in the database by storing values of its primary key fields</a:t>
            </a:r>
          </a:p>
        </p:txBody>
      </p:sp>
      <p:sp>
        <p:nvSpPr>
          <p:cNvPr id="4" name="Slide Number Placeholder 3">
            <a:extLst>
              <a:ext uri="{FF2B5EF4-FFF2-40B4-BE49-F238E27FC236}">
                <a16:creationId xmlns:a16="http://schemas.microsoft.com/office/drawing/2014/main" id="{4AEF6DA5-0A00-483E-EA2F-5608ECBA16B1}"/>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702628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95F79-E700-89FE-D719-6AC10F2A08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82DCB2-E518-4063-9666-5E08BF27396B}"/>
              </a:ext>
            </a:extLst>
          </p:cNvPr>
          <p:cNvSpPr>
            <a:spLocks noGrp="1"/>
          </p:cNvSpPr>
          <p:nvPr>
            <p:ph idx="1"/>
          </p:nvPr>
        </p:nvSpPr>
        <p:spPr/>
        <p:txBody>
          <a:bodyPr>
            <a:normAutofit/>
          </a:bodyPr>
          <a:lstStyle/>
          <a:p>
            <a:r>
              <a:rPr lang="en-US" sz="2800" dirty="0"/>
              <a:t>DBMS may create index with primary key fields to make retrieval of a tuple given its primary key value efficient</a:t>
            </a:r>
          </a:p>
          <a:p>
            <a:r>
              <a:rPr lang="en-US" sz="2800" dirty="0"/>
              <a:t>in SQL can declare that a subset of columns of table constitute a key by using UNIQUE constraint</a:t>
            </a:r>
          </a:p>
          <a:p>
            <a:r>
              <a:rPr lang="en-US" sz="2800" dirty="0"/>
              <a:t>at most one of these candidate keys can be declared to be a primary key, using PRIMARY KEY constraint</a:t>
            </a:r>
          </a:p>
          <a:p>
            <a:r>
              <a:rPr lang="en-US" sz="2700" i="1" dirty="0"/>
              <a:t>SQL does not require that such constraints be declared for table</a:t>
            </a:r>
          </a:p>
          <a:p>
            <a:endParaRPr lang="en-US" sz="2800" dirty="0"/>
          </a:p>
        </p:txBody>
      </p:sp>
      <p:sp>
        <p:nvSpPr>
          <p:cNvPr id="4" name="Slide Number Placeholder 3">
            <a:extLst>
              <a:ext uri="{FF2B5EF4-FFF2-40B4-BE49-F238E27FC236}">
                <a16:creationId xmlns:a16="http://schemas.microsoft.com/office/drawing/2014/main" id="{7F83F0FD-D11A-DA1A-2952-3F33D99CF489}"/>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227389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4479C-B9A6-BB61-A186-C2C6C0636DCD}"/>
              </a:ext>
            </a:extLst>
          </p:cNvPr>
          <p:cNvSpPr>
            <a:spLocks noGrp="1"/>
          </p:cNvSpPr>
          <p:nvPr>
            <p:ph type="title"/>
          </p:nvPr>
        </p:nvSpPr>
        <p:spPr/>
        <p:txBody>
          <a:bodyPr/>
          <a:lstStyle/>
          <a:p>
            <a:r>
              <a:rPr lang="en-US" dirty="0">
                <a:latin typeface="Courier New" panose="02070309020205020404" pitchFamily="49" charset="0"/>
                <a:cs typeface="Courier New" panose="02070309020205020404" pitchFamily="49" charset="0"/>
              </a:rPr>
              <a:t>CREATE TABLE Students (</a:t>
            </a:r>
          </a:p>
        </p:txBody>
      </p:sp>
      <p:sp>
        <p:nvSpPr>
          <p:cNvPr id="3" name="Content Placeholder 2">
            <a:extLst>
              <a:ext uri="{FF2B5EF4-FFF2-40B4-BE49-F238E27FC236}">
                <a16:creationId xmlns:a16="http://schemas.microsoft.com/office/drawing/2014/main" id="{184CB3BD-831E-3300-4377-0431F8F160DD}"/>
              </a:ext>
            </a:extLst>
          </p:cNvPr>
          <p:cNvSpPr>
            <a:spLocks noGrp="1"/>
          </p:cNvSpPr>
          <p:nvPr>
            <p:ph idx="1"/>
          </p:nvPr>
        </p:nvSpPr>
        <p:spPr/>
        <p:txBody>
          <a:bodyPr>
            <a:normAutofit/>
          </a:bodyPr>
          <a:lstStyle/>
          <a:p>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CHAR(20),</a:t>
            </a:r>
          </a:p>
          <a:p>
            <a:r>
              <a:rPr lang="en-US" sz="2800" dirty="0">
                <a:latin typeface="Courier New" panose="02070309020205020404" pitchFamily="49" charset="0"/>
                <a:cs typeface="Courier New" panose="02070309020205020404" pitchFamily="49" charset="0"/>
              </a:rPr>
              <a:t> 	name CHAR(30),</a:t>
            </a:r>
          </a:p>
          <a:p>
            <a:r>
              <a:rPr lang="en-US" sz="2800" dirty="0">
                <a:latin typeface="Courier New" panose="02070309020205020404" pitchFamily="49" charset="0"/>
                <a:cs typeface="Courier New" panose="02070309020205020404" pitchFamily="49" charset="0"/>
              </a:rPr>
              <a:t> 	login CHAR(20),</a:t>
            </a:r>
          </a:p>
          <a:p>
            <a:r>
              <a:rPr lang="en-US" sz="2800" dirty="0">
                <a:latin typeface="Courier New" panose="02070309020205020404" pitchFamily="49" charset="0"/>
                <a:cs typeface="Courier New" panose="02070309020205020404" pitchFamily="49" charset="0"/>
              </a:rPr>
              <a:t> 	age INTEGER,</a:t>
            </a:r>
          </a:p>
          <a:p>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gpa</a:t>
            </a:r>
            <a:r>
              <a:rPr lang="en-US" sz="2800" dirty="0">
                <a:latin typeface="Courier New" panose="02070309020205020404" pitchFamily="49" charset="0"/>
                <a:cs typeface="Courier New" panose="02070309020205020404" pitchFamily="49" charset="0"/>
              </a:rPr>
              <a:t> REAL,</a:t>
            </a:r>
          </a:p>
          <a:p>
            <a:r>
              <a:rPr lang="en-US" sz="2800" dirty="0">
                <a:latin typeface="Courier New" panose="02070309020205020404" pitchFamily="49" charset="0"/>
                <a:cs typeface="Courier New" panose="02070309020205020404" pitchFamily="49" charset="0"/>
              </a:rPr>
              <a:t> 	UNIQUE (name, age),</a:t>
            </a:r>
          </a:p>
          <a:p>
            <a:pPr lvl="1"/>
            <a:r>
              <a:rPr lang="en-US" dirty="0">
                <a:latin typeface="Courier New" panose="02070309020205020404" pitchFamily="49" charset="0"/>
                <a:cs typeface="Courier New" panose="02070309020205020404" pitchFamily="49" charset="0"/>
              </a:rPr>
              <a:t>CONSTRAINT </a:t>
            </a:r>
            <a:r>
              <a:rPr lang="en-US" dirty="0" err="1">
                <a:latin typeface="Courier New" panose="02070309020205020404" pitchFamily="49" charset="0"/>
                <a:cs typeface="Courier New" panose="02070309020205020404" pitchFamily="49" charset="0"/>
              </a:rPr>
              <a:t>StudentsKey</a:t>
            </a:r>
            <a:r>
              <a:rPr lang="en-US" dirty="0">
                <a:latin typeface="Courier New" panose="02070309020205020404" pitchFamily="49" charset="0"/>
                <a:cs typeface="Courier New" panose="02070309020205020404" pitchFamily="49" charset="0"/>
              </a:rPr>
              <a:t> PRIMARY KEY (</a:t>
            </a:r>
            <a:r>
              <a:rPr lang="en-US" dirty="0" err="1">
                <a:latin typeface="Courier New" panose="02070309020205020404" pitchFamily="49" charset="0"/>
                <a:cs typeface="Courier New" panose="02070309020205020404" pitchFamily="49" charset="0"/>
              </a:rPr>
              <a:t>sid</a:t>
            </a:r>
            <a:r>
              <a:rPr lang="en-US" dirty="0">
                <a:latin typeface="Courier New" panose="02070309020205020404" pitchFamily="49" charset="0"/>
                <a:cs typeface="Courier New" panose="02070309020205020404" pitchFamily="49" charset="0"/>
              </a:rPr>
              <a:t>) ))</a:t>
            </a:r>
          </a:p>
          <a:p>
            <a:endParaRPr lang="en-US" dirty="0"/>
          </a:p>
        </p:txBody>
      </p:sp>
      <p:sp>
        <p:nvSpPr>
          <p:cNvPr id="4" name="Slide Number Placeholder 3">
            <a:extLst>
              <a:ext uri="{FF2B5EF4-FFF2-40B4-BE49-F238E27FC236}">
                <a16:creationId xmlns:a16="http://schemas.microsoft.com/office/drawing/2014/main" id="{99101CEB-0658-1E01-B9F8-917F69CC6342}"/>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876058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8EEEE-C706-8DE6-0395-B97B3C04FB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FA7146-D071-F94D-7867-C807018EE715}"/>
              </a:ext>
            </a:extLst>
          </p:cNvPr>
          <p:cNvSpPr>
            <a:spLocks noGrp="1"/>
          </p:cNvSpPr>
          <p:nvPr>
            <p:ph idx="1"/>
          </p:nvPr>
        </p:nvSpPr>
        <p:spPr/>
        <p:txBody>
          <a:bodyPr>
            <a:normAutofit/>
          </a:bodyPr>
          <a:lstStyle/>
          <a:p>
            <a:r>
              <a:rPr lang="en-US" sz="2800" dirty="0" err="1"/>
              <a:t>sid</a:t>
            </a:r>
            <a:r>
              <a:rPr lang="en-US" sz="2800" dirty="0"/>
              <a:t> is the primary key</a:t>
            </a:r>
          </a:p>
          <a:p>
            <a:r>
              <a:rPr lang="en-US" sz="2800" dirty="0"/>
              <a:t>combination of name and age is also a key</a:t>
            </a:r>
          </a:p>
          <a:p>
            <a:endParaRPr lang="en-US" sz="2800" dirty="0"/>
          </a:p>
          <a:p>
            <a:r>
              <a:rPr lang="en-US" sz="2800" dirty="0"/>
              <a:t>definition of primary key also illustrates how we can name a constraint by preceding it with CONSTRAINT constraint-name; if constraint is violated, constraint name is returned and can be used to identify error</a:t>
            </a:r>
          </a:p>
        </p:txBody>
      </p:sp>
      <p:sp>
        <p:nvSpPr>
          <p:cNvPr id="4" name="Slide Number Placeholder 3">
            <a:extLst>
              <a:ext uri="{FF2B5EF4-FFF2-40B4-BE49-F238E27FC236}">
                <a16:creationId xmlns:a16="http://schemas.microsoft.com/office/drawing/2014/main" id="{684391BE-CDD5-C418-D18B-467F6D2A02EB}"/>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131135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63856-5545-3417-4F14-2458CC9134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5106E-E7B7-1DCC-227A-53DBA9F59CC2}"/>
              </a:ext>
            </a:extLst>
          </p:cNvPr>
          <p:cNvSpPr>
            <a:spLocks noGrp="1"/>
          </p:cNvSpPr>
          <p:nvPr>
            <p:ph type="title"/>
          </p:nvPr>
        </p:nvSpPr>
        <p:spPr/>
        <p:txBody>
          <a:bodyPr/>
          <a:lstStyle/>
          <a:p>
            <a:r>
              <a:rPr lang="en-US" dirty="0"/>
              <a:t>Foreign Key</a:t>
            </a:r>
          </a:p>
        </p:txBody>
      </p:sp>
      <p:sp>
        <p:nvSpPr>
          <p:cNvPr id="3" name="Content Placeholder 2">
            <a:extLst>
              <a:ext uri="{FF2B5EF4-FFF2-40B4-BE49-F238E27FC236}">
                <a16:creationId xmlns:a16="http://schemas.microsoft.com/office/drawing/2014/main" id="{B0DAC0E9-7262-69F2-052A-4E08CC2BD10E}"/>
              </a:ext>
            </a:extLst>
          </p:cNvPr>
          <p:cNvSpPr>
            <a:spLocks noGrp="1"/>
          </p:cNvSpPr>
          <p:nvPr>
            <p:ph idx="1"/>
          </p:nvPr>
        </p:nvSpPr>
        <p:spPr/>
        <p:txBody>
          <a:bodyPr>
            <a:noAutofit/>
          </a:bodyPr>
          <a:lstStyle/>
          <a:p>
            <a:r>
              <a:rPr lang="en-US" sz="2800" dirty="0"/>
              <a:t>information stored in a relation is linked to information stored in another relation</a:t>
            </a:r>
          </a:p>
          <a:p>
            <a:r>
              <a:rPr lang="en-US" sz="2800" dirty="0"/>
              <a:t>if one of the relations is modified, the other must be checked, and perhaps modified, to keep the data consistent</a:t>
            </a:r>
          </a:p>
          <a:p>
            <a:r>
              <a:rPr lang="en-US" sz="2800" dirty="0"/>
              <a:t>integrity constraint involving both relations must be specified if a DBMS is to make such checks</a:t>
            </a:r>
          </a:p>
          <a:p>
            <a:r>
              <a:rPr lang="en-US" sz="2800" dirty="0"/>
              <a:t>common integrity constraint involving two relations is a foreign key constraint</a:t>
            </a:r>
          </a:p>
          <a:p>
            <a:endParaRPr lang="en-US" sz="2800" dirty="0"/>
          </a:p>
        </p:txBody>
      </p:sp>
      <p:sp>
        <p:nvSpPr>
          <p:cNvPr id="4" name="Slide Number Placeholder 3">
            <a:extLst>
              <a:ext uri="{FF2B5EF4-FFF2-40B4-BE49-F238E27FC236}">
                <a16:creationId xmlns:a16="http://schemas.microsoft.com/office/drawing/2014/main" id="{2A11981C-CCAC-8574-04F6-F30D1CC00AF7}"/>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718786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112DF-FAD3-6830-5D1F-50BD9584EBF9}"/>
              </a:ext>
            </a:extLst>
          </p:cNvPr>
          <p:cNvSpPr>
            <a:spLocks noGrp="1"/>
          </p:cNvSpPr>
          <p:nvPr>
            <p:ph type="title"/>
          </p:nvPr>
        </p:nvSpPr>
        <p:spPr/>
        <p:txBody>
          <a:bodyPr/>
          <a:lstStyle/>
          <a:p>
            <a:r>
              <a:rPr lang="en-US" dirty="0"/>
              <a:t>Foreign Key</a:t>
            </a:r>
          </a:p>
        </p:txBody>
      </p:sp>
      <p:sp>
        <p:nvSpPr>
          <p:cNvPr id="3" name="Content Placeholder 2">
            <a:extLst>
              <a:ext uri="{FF2B5EF4-FFF2-40B4-BE49-F238E27FC236}">
                <a16:creationId xmlns:a16="http://schemas.microsoft.com/office/drawing/2014/main" id="{0328C026-06B7-FB7E-6FDB-DBBC34BF555E}"/>
              </a:ext>
            </a:extLst>
          </p:cNvPr>
          <p:cNvSpPr>
            <a:spLocks noGrp="1"/>
          </p:cNvSpPr>
          <p:nvPr>
            <p:ph idx="1"/>
          </p:nvPr>
        </p:nvSpPr>
        <p:spPr/>
        <p:txBody>
          <a:bodyPr>
            <a:noAutofit/>
          </a:bodyPr>
          <a:lstStyle/>
          <a:p>
            <a:r>
              <a:rPr lang="en-US" sz="2800" dirty="0"/>
              <a:t>in addition to </a:t>
            </a:r>
            <a:r>
              <a:rPr lang="en-US" sz="2800" i="1" dirty="0"/>
              <a:t>Students</a:t>
            </a:r>
            <a:r>
              <a:rPr lang="en-US" sz="2800" dirty="0"/>
              <a:t>, we have another relation </a:t>
            </a:r>
            <a:r>
              <a:rPr lang="en-US" sz="2800" i="1" dirty="0"/>
              <a:t>Enrolled </a:t>
            </a:r>
            <a:r>
              <a:rPr lang="en-US" sz="2800" dirty="0"/>
              <a:t>(</a:t>
            </a:r>
            <a:r>
              <a:rPr lang="en-US" sz="2800" dirty="0" err="1"/>
              <a:t>studid</a:t>
            </a:r>
            <a:r>
              <a:rPr lang="en-US" sz="2800" dirty="0"/>
              <a:t>: string, cid: string, grade: string)</a:t>
            </a:r>
          </a:p>
          <a:p>
            <a:r>
              <a:rPr lang="en-US" sz="2800" dirty="0"/>
              <a:t>to ensure that only bona fide students can enroll in courses, any value that appears in </a:t>
            </a:r>
            <a:r>
              <a:rPr lang="en-US" sz="2800" i="1" dirty="0" err="1"/>
              <a:t>studid</a:t>
            </a:r>
            <a:r>
              <a:rPr lang="en-US" sz="2800" dirty="0"/>
              <a:t> field of an instance of </a:t>
            </a:r>
            <a:r>
              <a:rPr lang="en-US" sz="2800" i="1" dirty="0"/>
              <a:t>Enrolled</a:t>
            </a:r>
            <a:r>
              <a:rPr lang="en-US" sz="2800" dirty="0"/>
              <a:t> relation should also appear in </a:t>
            </a:r>
            <a:r>
              <a:rPr lang="en-US" sz="2800" i="1" dirty="0" err="1"/>
              <a:t>sid</a:t>
            </a:r>
            <a:r>
              <a:rPr lang="en-US" sz="2800" dirty="0"/>
              <a:t> field of some tuple in the </a:t>
            </a:r>
            <a:r>
              <a:rPr lang="en-US" sz="2800" i="1" dirty="0"/>
              <a:t>Students</a:t>
            </a:r>
            <a:r>
              <a:rPr lang="en-US" sz="2800" dirty="0"/>
              <a:t> relation</a:t>
            </a:r>
          </a:p>
          <a:p>
            <a:r>
              <a:rPr lang="en-US" sz="2800" i="1" dirty="0" err="1"/>
              <a:t>studid</a:t>
            </a:r>
            <a:r>
              <a:rPr lang="en-US" sz="2800" i="1" dirty="0"/>
              <a:t> </a:t>
            </a:r>
            <a:r>
              <a:rPr lang="en-US" sz="2800" dirty="0"/>
              <a:t>field of </a:t>
            </a:r>
            <a:r>
              <a:rPr lang="en-US" sz="2800" i="1" dirty="0"/>
              <a:t>Enrolled</a:t>
            </a:r>
            <a:r>
              <a:rPr lang="en-US" sz="2800" dirty="0"/>
              <a:t> is called foreign key and refers to </a:t>
            </a:r>
            <a:r>
              <a:rPr lang="en-US" sz="2800" i="1" dirty="0"/>
              <a:t>Students; </a:t>
            </a:r>
            <a:r>
              <a:rPr lang="en-US" sz="2800" dirty="0"/>
              <a:t>foreign key in referencing relation </a:t>
            </a:r>
            <a:r>
              <a:rPr lang="en-US" sz="2800" i="1" dirty="0"/>
              <a:t>Enrolled</a:t>
            </a:r>
            <a:r>
              <a:rPr lang="en-US" sz="2800" dirty="0"/>
              <a:t> must match primary key value of referenced relation </a:t>
            </a:r>
            <a:r>
              <a:rPr lang="en-US" sz="2800" i="1" dirty="0"/>
              <a:t>Student</a:t>
            </a:r>
            <a:endParaRPr lang="en-US" sz="2800" dirty="0"/>
          </a:p>
        </p:txBody>
      </p:sp>
      <p:sp>
        <p:nvSpPr>
          <p:cNvPr id="4" name="Slide Number Placeholder 3">
            <a:extLst>
              <a:ext uri="{FF2B5EF4-FFF2-40B4-BE49-F238E27FC236}">
                <a16:creationId xmlns:a16="http://schemas.microsoft.com/office/drawing/2014/main" id="{A84EF87F-8BF9-E4AB-E959-360BBCA0D79F}"/>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990774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41E7C-2C82-E508-30D4-51EEFCAAF9E5}"/>
              </a:ext>
            </a:extLst>
          </p:cNvPr>
          <p:cNvSpPr>
            <a:spLocks noGrp="1"/>
          </p:cNvSpPr>
          <p:nvPr>
            <p:ph type="title"/>
          </p:nvPr>
        </p:nvSpPr>
        <p:spPr>
          <a:xfrm>
            <a:off x="457200" y="274638"/>
            <a:ext cx="8229600" cy="1706562"/>
          </a:xfrm>
        </p:spPr>
        <p:txBody>
          <a:bodyPr>
            <a:noAutofit/>
          </a:bodyPr>
          <a:lstStyle/>
          <a:p>
            <a:r>
              <a:rPr lang="en-US" sz="3300" dirty="0"/>
              <a:t>it must have same number of columns and compatible data types, although column names could be different</a:t>
            </a:r>
          </a:p>
        </p:txBody>
      </p:sp>
      <p:sp>
        <p:nvSpPr>
          <p:cNvPr id="3" name="Content Placeholder 2">
            <a:extLst>
              <a:ext uri="{FF2B5EF4-FFF2-40B4-BE49-F238E27FC236}">
                <a16:creationId xmlns:a16="http://schemas.microsoft.com/office/drawing/2014/main" id="{1B106D7E-E05E-E316-D080-4EC1A0C0A90E}"/>
              </a:ext>
            </a:extLst>
          </p:cNvPr>
          <p:cNvSpPr>
            <a:spLocks noGrp="1"/>
          </p:cNvSpPr>
          <p:nvPr>
            <p:ph idx="1"/>
          </p:nvPr>
        </p:nvSpPr>
        <p:spPr/>
        <p:txBody>
          <a:bodyPr>
            <a:normAutofit/>
          </a:bodyPr>
          <a:lstStyle/>
          <a:p>
            <a:endParaRPr lang="en-US" sz="3100" dirty="0"/>
          </a:p>
        </p:txBody>
      </p:sp>
      <p:sp>
        <p:nvSpPr>
          <p:cNvPr id="4" name="Slide Number Placeholder 3">
            <a:extLst>
              <a:ext uri="{FF2B5EF4-FFF2-40B4-BE49-F238E27FC236}">
                <a16:creationId xmlns:a16="http://schemas.microsoft.com/office/drawing/2014/main" id="{94C31D90-03B5-6157-3A6C-A5019637D231}"/>
              </a:ext>
            </a:extLst>
          </p:cNvPr>
          <p:cNvSpPr>
            <a:spLocks noGrp="1"/>
          </p:cNvSpPr>
          <p:nvPr>
            <p:ph type="sldNum" sz="quarter" idx="12"/>
          </p:nvPr>
        </p:nvSpPr>
        <p:spPr/>
        <p:txBody>
          <a:bodyPr/>
          <a:lstStyle/>
          <a:p>
            <a:fld id="{B6F15528-21DE-4FAA-801E-634DDDAF4B2B}" type="slidenum">
              <a:rPr lang="en-US" smtClean="0"/>
              <a:pPr/>
              <a:t>21</a:t>
            </a:fld>
            <a:endParaRPr lang="en-US"/>
          </a:p>
        </p:txBody>
      </p:sp>
      <p:pic>
        <p:nvPicPr>
          <p:cNvPr id="5" name="Picture 4" descr="A close-up of a chart&#10;&#10;AI-generated content may be incorrect.">
            <a:extLst>
              <a:ext uri="{FF2B5EF4-FFF2-40B4-BE49-F238E27FC236}">
                <a16:creationId xmlns:a16="http://schemas.microsoft.com/office/drawing/2014/main" id="{711556CD-B4EB-7FB7-C768-E9A2322E286C}"/>
              </a:ext>
            </a:extLst>
          </p:cNvPr>
          <p:cNvPicPr>
            <a:picLocks noChangeAspect="1"/>
          </p:cNvPicPr>
          <p:nvPr/>
        </p:nvPicPr>
        <p:blipFill>
          <a:blip r:embed="rId2"/>
          <a:stretch>
            <a:fillRect/>
          </a:stretch>
        </p:blipFill>
        <p:spPr>
          <a:xfrm>
            <a:off x="91440" y="2286000"/>
            <a:ext cx="8857710" cy="3946525"/>
          </a:xfrm>
          <a:prstGeom prst="rect">
            <a:avLst/>
          </a:prstGeom>
        </p:spPr>
      </p:pic>
    </p:spTree>
    <p:extLst>
      <p:ext uri="{BB962C8B-B14F-4D97-AF65-F5344CB8AC3E}">
        <p14:creationId xmlns:p14="http://schemas.microsoft.com/office/powerpoint/2010/main" val="2069122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1342B-054C-1209-4CA8-3A5D719918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8B1AAF-BED2-FF46-ADE0-E5222B568270}"/>
              </a:ext>
            </a:extLst>
          </p:cNvPr>
          <p:cNvSpPr>
            <a:spLocks noGrp="1"/>
          </p:cNvSpPr>
          <p:nvPr>
            <p:ph idx="1"/>
          </p:nvPr>
        </p:nvSpPr>
        <p:spPr/>
        <p:txBody>
          <a:bodyPr>
            <a:noAutofit/>
          </a:bodyPr>
          <a:lstStyle/>
          <a:p>
            <a:r>
              <a:rPr lang="en-US" sz="2800" dirty="0"/>
              <a:t>there may well be some Students tuples that are not referenced from Enrolled (e.g., the student with </a:t>
            </a:r>
            <a:r>
              <a:rPr lang="en-US" sz="2800" dirty="0" err="1"/>
              <a:t>sid</a:t>
            </a:r>
            <a:r>
              <a:rPr lang="en-US" sz="2800" dirty="0"/>
              <a:t>=50000)</a:t>
            </a:r>
          </a:p>
          <a:p>
            <a:r>
              <a:rPr lang="en-US" sz="2800" dirty="0"/>
              <a:t>every </a:t>
            </a:r>
            <a:r>
              <a:rPr lang="en-US" sz="2800" dirty="0" err="1"/>
              <a:t>studid</a:t>
            </a:r>
            <a:r>
              <a:rPr lang="en-US" sz="2800" dirty="0"/>
              <a:t> value that appears in instance of Enrolled table appears in primary key column of a row in Students table</a:t>
            </a:r>
          </a:p>
        </p:txBody>
      </p:sp>
      <p:sp>
        <p:nvSpPr>
          <p:cNvPr id="4" name="Slide Number Placeholder 3">
            <a:extLst>
              <a:ext uri="{FF2B5EF4-FFF2-40B4-BE49-F238E27FC236}">
                <a16:creationId xmlns:a16="http://schemas.microsoft.com/office/drawing/2014/main" id="{C82EDA2C-2CE9-D68D-F1E8-1D0ECA1E6416}"/>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3114787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EEB75-67FB-744A-9F66-DD2631D16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4677B-B0F2-FCE8-2ED4-9E59140AF23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9337D5-DED6-5FB2-7289-4D49FE45DE53}"/>
              </a:ext>
            </a:extLst>
          </p:cNvPr>
          <p:cNvSpPr>
            <a:spLocks noGrp="1"/>
          </p:cNvSpPr>
          <p:nvPr>
            <p:ph idx="1"/>
          </p:nvPr>
        </p:nvSpPr>
        <p:spPr/>
        <p:txBody>
          <a:bodyPr>
            <a:noAutofit/>
          </a:bodyPr>
          <a:lstStyle/>
          <a:p>
            <a:r>
              <a:rPr lang="en-US" sz="2700" dirty="0"/>
              <a:t>if we insert / update tuple (55555, Art, A) into Enrolled, foreign key integrity constraint is violated because there is no tuple in Students with </a:t>
            </a:r>
            <a:r>
              <a:rPr lang="en-US" sz="2700" dirty="0" err="1"/>
              <a:t>sid</a:t>
            </a:r>
            <a:r>
              <a:rPr lang="en-US" sz="2700" dirty="0"/>
              <a:t> 55555; database system will reject such an insert / update</a:t>
            </a:r>
          </a:p>
          <a:p>
            <a:r>
              <a:rPr lang="en-US" sz="2700" dirty="0"/>
              <a:t>if we delete tuple (53666, Jones, </a:t>
            </a:r>
            <a:r>
              <a:rPr lang="en-US" sz="2700" dirty="0" err="1"/>
              <a:t>jones@cs</a:t>
            </a:r>
            <a:r>
              <a:rPr lang="en-US" sz="2700" dirty="0"/>
              <a:t>, 18, 3.4) from Students, we violate foreign key integrity constraint because tuple (53666, History105, B) in Enrolled contains </a:t>
            </a:r>
            <a:r>
              <a:rPr lang="en-US" sz="2700" dirty="0" err="1"/>
              <a:t>studid</a:t>
            </a:r>
            <a:r>
              <a:rPr lang="en-US" sz="2700" dirty="0"/>
              <a:t> value 53666, </a:t>
            </a:r>
            <a:r>
              <a:rPr lang="en-US" sz="2700" dirty="0" err="1"/>
              <a:t>sid</a:t>
            </a:r>
            <a:r>
              <a:rPr lang="en-US" sz="2700" dirty="0"/>
              <a:t> of deleted Students tuple; database system should disallow deletion or, perhaps, also (cascade) delete the Enrolled tuple that refers to the deleted Students tuple</a:t>
            </a:r>
          </a:p>
        </p:txBody>
      </p:sp>
      <p:sp>
        <p:nvSpPr>
          <p:cNvPr id="4" name="Slide Number Placeholder 3">
            <a:extLst>
              <a:ext uri="{FF2B5EF4-FFF2-40B4-BE49-F238E27FC236}">
                <a16:creationId xmlns:a16="http://schemas.microsoft.com/office/drawing/2014/main" id="{25280437-E6E5-7094-ED92-25EE83D540FE}"/>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471069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F45E7-C44D-5EDC-BB0E-6C8287FB8E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A3351C-0E09-EFEC-EFCA-39CA69486400}"/>
              </a:ext>
            </a:extLst>
          </p:cNvPr>
          <p:cNvSpPr>
            <a:spLocks noGrp="1"/>
          </p:cNvSpPr>
          <p:nvPr>
            <p:ph idx="1"/>
          </p:nvPr>
        </p:nvSpPr>
        <p:spPr/>
        <p:txBody>
          <a:bodyPr>
            <a:normAutofit/>
          </a:bodyPr>
          <a:lstStyle/>
          <a:p>
            <a:r>
              <a:rPr lang="en-US" sz="2800" dirty="0"/>
              <a:t>foreign key could refer to the same relation</a:t>
            </a:r>
          </a:p>
          <a:p>
            <a:r>
              <a:rPr lang="en-US" sz="2800" dirty="0"/>
              <a:t>for example, we could extend the Students relation with a column called partner and declare this column to be a foreign key referring to Students</a:t>
            </a:r>
          </a:p>
        </p:txBody>
      </p:sp>
      <p:sp>
        <p:nvSpPr>
          <p:cNvPr id="4" name="Slide Number Placeholder 3">
            <a:extLst>
              <a:ext uri="{FF2B5EF4-FFF2-40B4-BE49-F238E27FC236}">
                <a16:creationId xmlns:a16="http://schemas.microsoft.com/office/drawing/2014/main" id="{DDE07585-09D5-8682-66C7-9C9CCAF9E07E}"/>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3435447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A431C-FFCC-A68B-034B-8E0F807FE621}"/>
              </a:ext>
            </a:extLst>
          </p:cNvPr>
          <p:cNvSpPr>
            <a:spLocks noGrp="1"/>
          </p:cNvSpPr>
          <p:nvPr>
            <p:ph type="title"/>
          </p:nvPr>
        </p:nvSpPr>
        <p:spPr/>
        <p:txBody>
          <a:bodyPr/>
          <a:lstStyle/>
          <a:p>
            <a:r>
              <a:rPr lang="en-US" dirty="0"/>
              <a:t>CREATE TABLE Enrolled (</a:t>
            </a:r>
          </a:p>
        </p:txBody>
      </p:sp>
      <p:sp>
        <p:nvSpPr>
          <p:cNvPr id="3" name="Content Placeholder 2">
            <a:extLst>
              <a:ext uri="{FF2B5EF4-FFF2-40B4-BE49-F238E27FC236}">
                <a16:creationId xmlns:a16="http://schemas.microsoft.com/office/drawing/2014/main" id="{E9D3D741-5FDE-670C-431F-A5E38906AC79}"/>
              </a:ext>
            </a:extLst>
          </p:cNvPr>
          <p:cNvSpPr>
            <a:spLocks noGrp="1"/>
          </p:cNvSpPr>
          <p:nvPr>
            <p:ph idx="1"/>
          </p:nvPr>
        </p:nvSpPr>
        <p:spPr/>
        <p:txBody>
          <a:bodyPr/>
          <a:lstStyle/>
          <a:p>
            <a:r>
              <a:rPr lang="en-US" sz="2800" dirty="0"/>
              <a:t> 	</a:t>
            </a:r>
            <a:r>
              <a:rPr lang="en-US" sz="2800" dirty="0" err="1"/>
              <a:t>studid</a:t>
            </a:r>
            <a:r>
              <a:rPr lang="en-US" sz="2800" dirty="0"/>
              <a:t> CHAR(20) ,</a:t>
            </a:r>
          </a:p>
          <a:p>
            <a:r>
              <a:rPr lang="en-US" sz="2800" dirty="0"/>
              <a:t> 	</a:t>
            </a:r>
            <a:r>
              <a:rPr lang="en-US" sz="2800" dirty="0" err="1"/>
              <a:t>cid</a:t>
            </a:r>
            <a:r>
              <a:rPr lang="en-US" sz="2800" dirty="0"/>
              <a:t> CHAR(20),</a:t>
            </a:r>
          </a:p>
          <a:p>
            <a:r>
              <a:rPr lang="en-US" sz="2800" dirty="0"/>
              <a:t> 	grade CHAR(10),</a:t>
            </a:r>
          </a:p>
          <a:p>
            <a:r>
              <a:rPr lang="en-US" sz="2800" dirty="0"/>
              <a:t> 	PRIMARY KEY (</a:t>
            </a:r>
            <a:r>
              <a:rPr lang="en-US" sz="2800" dirty="0" err="1"/>
              <a:t>studid</a:t>
            </a:r>
            <a:r>
              <a:rPr lang="en-US" sz="2800" dirty="0"/>
              <a:t>, </a:t>
            </a:r>
            <a:r>
              <a:rPr lang="en-US" sz="2800" dirty="0" err="1"/>
              <a:t>cid</a:t>
            </a:r>
            <a:r>
              <a:rPr lang="en-US" sz="2800" dirty="0"/>
              <a:t>),</a:t>
            </a:r>
          </a:p>
          <a:p>
            <a:pPr lvl="1"/>
            <a:r>
              <a:rPr lang="en-US" dirty="0"/>
              <a:t>FOREIGN KEY (</a:t>
            </a:r>
            <a:r>
              <a:rPr lang="en-US" dirty="0" err="1"/>
              <a:t>studid</a:t>
            </a:r>
            <a:r>
              <a:rPr lang="en-US" dirty="0"/>
              <a:t>) REFERENCES Students)</a:t>
            </a:r>
          </a:p>
          <a:p>
            <a:endParaRPr lang="en-US" dirty="0"/>
          </a:p>
        </p:txBody>
      </p:sp>
      <p:sp>
        <p:nvSpPr>
          <p:cNvPr id="4" name="Slide Number Placeholder 3">
            <a:extLst>
              <a:ext uri="{FF2B5EF4-FFF2-40B4-BE49-F238E27FC236}">
                <a16:creationId xmlns:a16="http://schemas.microsoft.com/office/drawing/2014/main" id="{9696F1D4-CC86-C0D9-9506-F6B81D6E9B3E}"/>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748547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D80F6-1510-0EEA-E025-F75D13FEBCEF}"/>
              </a:ext>
            </a:extLst>
          </p:cNvPr>
          <p:cNvSpPr>
            <a:spLocks noGrp="1"/>
          </p:cNvSpPr>
          <p:nvPr>
            <p:ph type="title"/>
          </p:nvPr>
        </p:nvSpPr>
        <p:spPr/>
        <p:txBody>
          <a:bodyPr>
            <a:normAutofit/>
          </a:bodyPr>
          <a:lstStyle/>
          <a:p>
            <a:r>
              <a:rPr lang="en-US" dirty="0"/>
              <a:t>CREATE TABLE </a:t>
            </a:r>
            <a:r>
              <a:rPr lang="en-US" dirty="0" err="1"/>
              <a:t>table_name</a:t>
            </a:r>
            <a:r>
              <a:rPr lang="en-US" dirty="0"/>
              <a:t> (</a:t>
            </a:r>
          </a:p>
        </p:txBody>
      </p:sp>
      <p:sp>
        <p:nvSpPr>
          <p:cNvPr id="3" name="Content Placeholder 2">
            <a:extLst>
              <a:ext uri="{FF2B5EF4-FFF2-40B4-BE49-F238E27FC236}">
                <a16:creationId xmlns:a16="http://schemas.microsoft.com/office/drawing/2014/main" id="{59128868-B16A-ED5F-6C1D-3A081EFEAC04}"/>
              </a:ext>
            </a:extLst>
          </p:cNvPr>
          <p:cNvSpPr>
            <a:spLocks noGrp="1"/>
          </p:cNvSpPr>
          <p:nvPr>
            <p:ph idx="1"/>
          </p:nvPr>
        </p:nvSpPr>
        <p:spPr/>
        <p:txBody>
          <a:bodyPr>
            <a:normAutofit/>
          </a:bodyPr>
          <a:lstStyle/>
          <a:p>
            <a:r>
              <a:rPr lang="en-US" sz="2800" dirty="0"/>
              <a:t> 	column1 datatype,</a:t>
            </a:r>
          </a:p>
          <a:p>
            <a:r>
              <a:rPr lang="en-US" sz="2800" dirty="0"/>
              <a:t> 	column2 datatype,</a:t>
            </a:r>
          </a:p>
          <a:p>
            <a:r>
              <a:rPr lang="en-US" sz="2800" dirty="0"/>
              <a:t> 	column3 datatype,</a:t>
            </a:r>
          </a:p>
          <a:p>
            <a:pPr lvl="1"/>
            <a:r>
              <a:rPr lang="en-US" dirty="0"/>
              <a:t>   ....);</a:t>
            </a:r>
          </a:p>
          <a:p>
            <a:r>
              <a:rPr lang="en-US" sz="2800" dirty="0"/>
              <a:t>column parameters specify the names of the columns of the table</a:t>
            </a:r>
          </a:p>
          <a:p>
            <a:r>
              <a:rPr lang="en-US" sz="2800" dirty="0"/>
              <a:t>datatype parameter specifies the type of data the column can hold (e.g. varchar, integer, date, etc.)</a:t>
            </a:r>
          </a:p>
        </p:txBody>
      </p:sp>
      <p:sp>
        <p:nvSpPr>
          <p:cNvPr id="4" name="Slide Number Placeholder 3">
            <a:extLst>
              <a:ext uri="{FF2B5EF4-FFF2-40B4-BE49-F238E27FC236}">
                <a16:creationId xmlns:a16="http://schemas.microsoft.com/office/drawing/2014/main" id="{87FC1714-9C42-75C5-53F9-FA71EDC7A56C}"/>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32761408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C7D0-0876-2EF6-D793-5EDB61404AF6}"/>
              </a:ext>
            </a:extLst>
          </p:cNvPr>
          <p:cNvSpPr>
            <a:spLocks noGrp="1"/>
          </p:cNvSpPr>
          <p:nvPr>
            <p:ph type="title"/>
          </p:nvPr>
        </p:nvSpPr>
        <p:spPr/>
        <p:txBody>
          <a:bodyPr>
            <a:normAutofit fontScale="90000"/>
          </a:bodyPr>
          <a:lstStyle/>
          <a:p>
            <a:r>
              <a:rPr lang="en-US" dirty="0"/>
              <a:t>there are at least two ways to </a:t>
            </a:r>
            <a:br>
              <a:rPr lang="en-US" dirty="0"/>
            </a:br>
            <a:r>
              <a:rPr lang="en-US" dirty="0"/>
              <a:t>skin the cat:</a:t>
            </a:r>
          </a:p>
        </p:txBody>
      </p:sp>
      <p:sp>
        <p:nvSpPr>
          <p:cNvPr id="3" name="Content Placeholder 2">
            <a:extLst>
              <a:ext uri="{FF2B5EF4-FFF2-40B4-BE49-F238E27FC236}">
                <a16:creationId xmlns:a16="http://schemas.microsoft.com/office/drawing/2014/main" id="{D7597F6E-2FAC-9247-858C-1A9E8709D7EE}"/>
              </a:ext>
            </a:extLst>
          </p:cNvPr>
          <p:cNvSpPr>
            <a:spLocks noGrp="1"/>
          </p:cNvSpPr>
          <p:nvPr>
            <p:ph idx="1"/>
          </p:nvPr>
        </p:nvSpPr>
        <p:spPr/>
        <p:txBody>
          <a:bodyPr/>
          <a:lstStyle/>
          <a:p>
            <a:r>
              <a:rPr lang="en-US" sz="2800" dirty="0"/>
              <a:t>SQL Scripts</a:t>
            </a:r>
          </a:p>
          <a:p>
            <a:pPr lvl="1"/>
            <a:r>
              <a:rPr lang="en-US" dirty="0"/>
              <a:t>right click on database from connection</a:t>
            </a:r>
          </a:p>
          <a:p>
            <a:pPr lvl="2"/>
            <a:r>
              <a:rPr lang="en-US" sz="2800" dirty="0"/>
              <a:t>SQL Editor – New SQL Script</a:t>
            </a:r>
          </a:p>
          <a:p>
            <a:pPr lvl="3"/>
            <a:r>
              <a:rPr lang="en-US" sz="2800" dirty="0"/>
              <a:t>Execute </a:t>
            </a:r>
          </a:p>
          <a:p>
            <a:r>
              <a:rPr lang="en-US" sz="2800" dirty="0"/>
              <a:t>Graphical User Interface</a:t>
            </a:r>
          </a:p>
          <a:p>
            <a:endParaRPr lang="en-US" dirty="0"/>
          </a:p>
        </p:txBody>
      </p:sp>
      <p:sp>
        <p:nvSpPr>
          <p:cNvPr id="4" name="Slide Number Placeholder 3">
            <a:extLst>
              <a:ext uri="{FF2B5EF4-FFF2-40B4-BE49-F238E27FC236}">
                <a16:creationId xmlns:a16="http://schemas.microsoft.com/office/drawing/2014/main" id="{7F9749F8-06FB-5E5B-DB6F-87E9A776E709}"/>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3250549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EB915-D1ED-A2ED-A5A9-E801F06798E5}"/>
              </a:ext>
            </a:extLst>
          </p:cNvPr>
          <p:cNvSpPr>
            <a:spLocks noGrp="1"/>
          </p:cNvSpPr>
          <p:nvPr>
            <p:ph type="title"/>
          </p:nvPr>
        </p:nvSpPr>
        <p:spPr/>
        <p:txBody>
          <a:bodyPr>
            <a:noAutofit/>
          </a:bodyPr>
          <a:lstStyle/>
          <a:p>
            <a:r>
              <a:rPr lang="en-US" sz="3200" dirty="0"/>
              <a:t>To create a new table in our database, expand Tables and right click there to Create New Table:</a:t>
            </a:r>
          </a:p>
        </p:txBody>
      </p:sp>
      <p:sp>
        <p:nvSpPr>
          <p:cNvPr id="4" name="Slide Number Placeholder 3">
            <a:extLst>
              <a:ext uri="{FF2B5EF4-FFF2-40B4-BE49-F238E27FC236}">
                <a16:creationId xmlns:a16="http://schemas.microsoft.com/office/drawing/2014/main" id="{E8178050-C94E-463C-DF58-D3E5EC43313B}"/>
              </a:ext>
            </a:extLst>
          </p:cNvPr>
          <p:cNvSpPr>
            <a:spLocks noGrp="1"/>
          </p:cNvSpPr>
          <p:nvPr>
            <p:ph type="sldNum" sz="quarter" idx="12"/>
          </p:nvPr>
        </p:nvSpPr>
        <p:spPr/>
        <p:txBody>
          <a:bodyPr/>
          <a:lstStyle/>
          <a:p>
            <a:fld id="{B6F15528-21DE-4FAA-801E-634DDDAF4B2B}" type="slidenum">
              <a:rPr lang="en-US" smtClean="0"/>
              <a:pPr/>
              <a:t>28</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E05B0AA3-DD06-4081-EF4E-C2C574A8D7B3}"/>
              </a:ext>
            </a:extLst>
          </p:cNvPr>
          <p:cNvPicPr>
            <a:picLocks noGrp="1" noChangeAspect="1"/>
          </p:cNvPicPr>
          <p:nvPr>
            <p:ph idx="1"/>
          </p:nvPr>
        </p:nvPicPr>
        <p:blipFill>
          <a:blip r:embed="rId2"/>
          <a:stretch>
            <a:fillRect/>
          </a:stretch>
        </p:blipFill>
        <p:spPr>
          <a:xfrm>
            <a:off x="1371599" y="1371598"/>
            <a:ext cx="6207029" cy="5246825"/>
          </a:xfrm>
          <a:prstGeom prst="rect">
            <a:avLst/>
          </a:prstGeom>
        </p:spPr>
      </p:pic>
    </p:spTree>
    <p:extLst>
      <p:ext uri="{BB962C8B-B14F-4D97-AF65-F5344CB8AC3E}">
        <p14:creationId xmlns:p14="http://schemas.microsoft.com/office/powerpoint/2010/main" val="160556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975DD-5DE8-00FE-BBB5-6F6F945C2D73}"/>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F2D8479D-450E-A8EC-9340-4BA13211EEB4}"/>
              </a:ext>
            </a:extLst>
          </p:cNvPr>
          <p:cNvSpPr>
            <a:spLocks noGrp="1"/>
          </p:cNvSpPr>
          <p:nvPr>
            <p:ph type="sldNum" sz="quarter" idx="12"/>
          </p:nvPr>
        </p:nvSpPr>
        <p:spPr/>
        <p:txBody>
          <a:bodyPr/>
          <a:lstStyle/>
          <a:p>
            <a:fld id="{B6F15528-21DE-4FAA-801E-634DDDAF4B2B}" type="slidenum">
              <a:rPr lang="en-US" smtClean="0"/>
              <a:pPr/>
              <a:t>29</a:t>
            </a:fld>
            <a:endParaRPr lang="en-US"/>
          </a:p>
        </p:txBody>
      </p:sp>
      <p:pic>
        <p:nvPicPr>
          <p:cNvPr id="5" name="Content Placeholder 4">
            <a:extLst>
              <a:ext uri="{FF2B5EF4-FFF2-40B4-BE49-F238E27FC236}">
                <a16:creationId xmlns:a16="http://schemas.microsoft.com/office/drawing/2014/main" id="{EF7A0B0F-905A-4AEF-FF66-05E67BBFE814}"/>
              </a:ext>
            </a:extLst>
          </p:cNvPr>
          <p:cNvPicPr>
            <a:picLocks noGrp="1" noChangeAspect="1"/>
          </p:cNvPicPr>
          <p:nvPr>
            <p:ph idx="1"/>
          </p:nvPr>
        </p:nvPicPr>
        <p:blipFill>
          <a:blip r:embed="rId2"/>
          <a:stretch>
            <a:fillRect/>
          </a:stretch>
        </p:blipFill>
        <p:spPr>
          <a:xfrm>
            <a:off x="91440" y="1554480"/>
            <a:ext cx="9057917" cy="4698595"/>
          </a:xfrm>
          <a:prstGeom prst="rect">
            <a:avLst/>
          </a:prstGeom>
        </p:spPr>
      </p:pic>
    </p:spTree>
    <p:extLst>
      <p:ext uri="{BB962C8B-B14F-4D97-AF65-F5344CB8AC3E}">
        <p14:creationId xmlns:p14="http://schemas.microsoft.com/office/powerpoint/2010/main" val="3030644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A1635-0A9C-05FB-3F0E-C4820FA9D96A}"/>
              </a:ext>
            </a:extLst>
          </p:cNvPr>
          <p:cNvSpPr>
            <a:spLocks noGrp="1"/>
          </p:cNvSpPr>
          <p:nvPr>
            <p:ph type="title"/>
          </p:nvPr>
        </p:nvSpPr>
        <p:spPr/>
        <p:txBody>
          <a:bodyPr>
            <a:noAutofit/>
          </a:bodyPr>
          <a:lstStyle/>
          <a:p>
            <a:r>
              <a:rPr lang="en-US" sz="3200" dirty="0"/>
              <a:t>Use the Table Name: field to rename the table sailor and then go to Column Name and right-click to Create New Column:</a:t>
            </a:r>
          </a:p>
        </p:txBody>
      </p:sp>
      <p:sp>
        <p:nvSpPr>
          <p:cNvPr id="3" name="Content Placeholder 2">
            <a:extLst>
              <a:ext uri="{FF2B5EF4-FFF2-40B4-BE49-F238E27FC236}">
                <a16:creationId xmlns:a16="http://schemas.microsoft.com/office/drawing/2014/main" id="{D32CC83C-CA25-8611-10A4-47C23C58647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AE658E2-6513-A5B3-A3FB-EFFB4CBA8B16}"/>
              </a:ext>
            </a:extLst>
          </p:cNvPr>
          <p:cNvSpPr>
            <a:spLocks noGrp="1"/>
          </p:cNvSpPr>
          <p:nvPr>
            <p:ph type="sldNum" sz="quarter" idx="12"/>
          </p:nvPr>
        </p:nvSpPr>
        <p:spPr/>
        <p:txBody>
          <a:bodyPr/>
          <a:lstStyle/>
          <a:p>
            <a:fld id="{B6F15528-21DE-4FAA-801E-634DDDAF4B2B}" type="slidenum">
              <a:rPr lang="en-US" smtClean="0"/>
              <a:pPr/>
              <a:t>30</a:t>
            </a:fld>
            <a:endParaRPr lang="en-US"/>
          </a:p>
        </p:txBody>
      </p:sp>
      <p:pic>
        <p:nvPicPr>
          <p:cNvPr id="5" name="Picture 4" descr="A screenshot of a computer&#10;&#10;AI-generated content may be incorrect.">
            <a:extLst>
              <a:ext uri="{FF2B5EF4-FFF2-40B4-BE49-F238E27FC236}">
                <a16:creationId xmlns:a16="http://schemas.microsoft.com/office/drawing/2014/main" id="{3E757A38-D2E3-A7F2-6294-641E3F63463D}"/>
              </a:ext>
            </a:extLst>
          </p:cNvPr>
          <p:cNvPicPr>
            <a:picLocks noChangeAspect="1"/>
          </p:cNvPicPr>
          <p:nvPr/>
        </p:nvPicPr>
        <p:blipFill>
          <a:blip r:embed="rId2"/>
          <a:stretch>
            <a:fillRect/>
          </a:stretch>
        </p:blipFill>
        <p:spPr>
          <a:xfrm>
            <a:off x="0" y="1554480"/>
            <a:ext cx="9135647" cy="4737003"/>
          </a:xfrm>
          <a:prstGeom prst="rect">
            <a:avLst/>
          </a:prstGeom>
        </p:spPr>
      </p:pic>
    </p:spTree>
    <p:extLst>
      <p:ext uri="{BB962C8B-B14F-4D97-AF65-F5344CB8AC3E}">
        <p14:creationId xmlns:p14="http://schemas.microsoft.com/office/powerpoint/2010/main" val="720761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7C196-E07D-D886-CF53-9D15B253124A}"/>
              </a:ext>
            </a:extLst>
          </p:cNvPr>
          <p:cNvSpPr>
            <a:spLocks noGrp="1"/>
          </p:cNvSpPr>
          <p:nvPr>
            <p:ph type="title"/>
          </p:nvPr>
        </p:nvSpPr>
        <p:spPr>
          <a:xfrm>
            <a:off x="457200" y="274638"/>
            <a:ext cx="8534400" cy="1143000"/>
          </a:xfrm>
        </p:spPr>
        <p:txBody>
          <a:bodyPr>
            <a:noAutofit/>
          </a:bodyPr>
          <a:lstStyle/>
          <a:p>
            <a:r>
              <a:rPr lang="en-US" sz="3200" dirty="0"/>
              <a:t>before pressing O.K. specify the attributes: column name and data type with optional length:</a:t>
            </a:r>
          </a:p>
        </p:txBody>
      </p:sp>
      <p:sp>
        <p:nvSpPr>
          <p:cNvPr id="4" name="Slide Number Placeholder 3">
            <a:extLst>
              <a:ext uri="{FF2B5EF4-FFF2-40B4-BE49-F238E27FC236}">
                <a16:creationId xmlns:a16="http://schemas.microsoft.com/office/drawing/2014/main" id="{3882C43B-EC8D-6EEE-8C99-501A55BA0549}"/>
              </a:ext>
            </a:extLst>
          </p:cNvPr>
          <p:cNvSpPr>
            <a:spLocks noGrp="1"/>
          </p:cNvSpPr>
          <p:nvPr>
            <p:ph type="sldNum" sz="quarter" idx="12"/>
          </p:nvPr>
        </p:nvSpPr>
        <p:spPr/>
        <p:txBody>
          <a:bodyPr/>
          <a:lstStyle/>
          <a:p>
            <a:fld id="{B6F15528-21DE-4FAA-801E-634DDDAF4B2B}" type="slidenum">
              <a:rPr lang="en-US" smtClean="0"/>
              <a:pPr/>
              <a:t>31</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EFDD7498-C9C4-9CDB-B527-3EB12917AF2E}"/>
              </a:ext>
            </a:extLst>
          </p:cNvPr>
          <p:cNvPicPr>
            <a:picLocks noGrp="1" noChangeAspect="1"/>
          </p:cNvPicPr>
          <p:nvPr>
            <p:ph idx="1"/>
          </p:nvPr>
        </p:nvPicPr>
        <p:blipFill>
          <a:blip r:embed="rId2"/>
          <a:stretch>
            <a:fillRect/>
          </a:stretch>
        </p:blipFill>
        <p:spPr>
          <a:xfrm>
            <a:off x="182880" y="1371600"/>
            <a:ext cx="8153400" cy="5209117"/>
          </a:xfrm>
          <a:prstGeom prst="rect">
            <a:avLst/>
          </a:prstGeom>
        </p:spPr>
      </p:pic>
    </p:spTree>
    <p:extLst>
      <p:ext uri="{BB962C8B-B14F-4D97-AF65-F5344CB8AC3E}">
        <p14:creationId xmlns:p14="http://schemas.microsoft.com/office/powerpoint/2010/main" val="1815286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15C1-089F-56E0-E1EF-9B0BC5B6359B}"/>
              </a:ext>
            </a:extLst>
          </p:cNvPr>
          <p:cNvSpPr>
            <a:spLocks noGrp="1"/>
          </p:cNvSpPr>
          <p:nvPr>
            <p:ph type="title"/>
          </p:nvPr>
        </p:nvSpPr>
        <p:spPr>
          <a:xfrm>
            <a:off x="457200" y="274638"/>
            <a:ext cx="8534400" cy="1143000"/>
          </a:xfrm>
        </p:spPr>
        <p:txBody>
          <a:bodyPr>
            <a:noAutofit/>
          </a:bodyPr>
          <a:lstStyle/>
          <a:p>
            <a:r>
              <a:rPr lang="en-US" sz="3200" dirty="0"/>
              <a:t>before pressing O.K. specify the attributes: column name and data type with optional length:</a:t>
            </a:r>
          </a:p>
        </p:txBody>
      </p:sp>
      <p:sp>
        <p:nvSpPr>
          <p:cNvPr id="4" name="Slide Number Placeholder 3">
            <a:extLst>
              <a:ext uri="{FF2B5EF4-FFF2-40B4-BE49-F238E27FC236}">
                <a16:creationId xmlns:a16="http://schemas.microsoft.com/office/drawing/2014/main" id="{69D390A0-9470-FEA0-8B97-81AF2EA6B383}"/>
              </a:ext>
            </a:extLst>
          </p:cNvPr>
          <p:cNvSpPr>
            <a:spLocks noGrp="1"/>
          </p:cNvSpPr>
          <p:nvPr>
            <p:ph type="sldNum" sz="quarter" idx="12"/>
          </p:nvPr>
        </p:nvSpPr>
        <p:spPr/>
        <p:txBody>
          <a:bodyPr/>
          <a:lstStyle/>
          <a:p>
            <a:fld id="{B6F15528-21DE-4FAA-801E-634DDDAF4B2B}" type="slidenum">
              <a:rPr lang="en-US" smtClean="0"/>
              <a:pPr/>
              <a:t>32</a:t>
            </a:fld>
            <a:endParaRPr lang="en-US"/>
          </a:p>
        </p:txBody>
      </p:sp>
      <p:pic>
        <p:nvPicPr>
          <p:cNvPr id="5" name="Content Placeholder 4">
            <a:extLst>
              <a:ext uri="{FF2B5EF4-FFF2-40B4-BE49-F238E27FC236}">
                <a16:creationId xmlns:a16="http://schemas.microsoft.com/office/drawing/2014/main" id="{661DE25A-9390-B848-8CDC-A67F862E468F}"/>
              </a:ext>
            </a:extLst>
          </p:cNvPr>
          <p:cNvPicPr>
            <a:picLocks noGrp="1" noChangeAspect="1"/>
          </p:cNvPicPr>
          <p:nvPr>
            <p:ph idx="1"/>
          </p:nvPr>
        </p:nvPicPr>
        <p:blipFill>
          <a:blip r:embed="rId2"/>
          <a:stretch>
            <a:fillRect/>
          </a:stretch>
        </p:blipFill>
        <p:spPr>
          <a:xfrm>
            <a:off x="274320" y="1371600"/>
            <a:ext cx="7738781" cy="5338272"/>
          </a:xfrm>
          <a:prstGeom prst="rect">
            <a:avLst/>
          </a:prstGeom>
        </p:spPr>
      </p:pic>
    </p:spTree>
    <p:extLst>
      <p:ext uri="{BB962C8B-B14F-4D97-AF65-F5344CB8AC3E}">
        <p14:creationId xmlns:p14="http://schemas.microsoft.com/office/powerpoint/2010/main" val="10668798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65156-AEB1-730C-0A96-7EC1F7A40CB1}"/>
              </a:ext>
            </a:extLst>
          </p:cNvPr>
          <p:cNvSpPr>
            <a:spLocks noGrp="1"/>
          </p:cNvSpPr>
          <p:nvPr>
            <p:ph type="title"/>
          </p:nvPr>
        </p:nvSpPr>
        <p:spPr/>
        <p:txBody>
          <a:bodyPr>
            <a:noAutofit/>
          </a:bodyPr>
          <a:lstStyle/>
          <a:p>
            <a:r>
              <a:rPr lang="en-US" sz="3600" dirty="0"/>
              <a:t>Save everything from this table definition:</a:t>
            </a:r>
          </a:p>
        </p:txBody>
      </p:sp>
      <p:sp>
        <p:nvSpPr>
          <p:cNvPr id="4" name="Slide Number Placeholder 3">
            <a:extLst>
              <a:ext uri="{FF2B5EF4-FFF2-40B4-BE49-F238E27FC236}">
                <a16:creationId xmlns:a16="http://schemas.microsoft.com/office/drawing/2014/main" id="{BD755C49-27EE-8C2B-3C8D-EA5A7E250C38}"/>
              </a:ext>
            </a:extLst>
          </p:cNvPr>
          <p:cNvSpPr>
            <a:spLocks noGrp="1"/>
          </p:cNvSpPr>
          <p:nvPr>
            <p:ph type="sldNum" sz="quarter" idx="12"/>
          </p:nvPr>
        </p:nvSpPr>
        <p:spPr/>
        <p:txBody>
          <a:bodyPr/>
          <a:lstStyle/>
          <a:p>
            <a:fld id="{B6F15528-21DE-4FAA-801E-634DDDAF4B2B}" type="slidenum">
              <a:rPr lang="en-US" smtClean="0"/>
              <a:pPr/>
              <a:t>33</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9FEF17CB-16C8-619D-F3C1-6CA30C8CA8AD}"/>
              </a:ext>
            </a:extLst>
          </p:cNvPr>
          <p:cNvPicPr>
            <a:picLocks noGrp="1" noChangeAspect="1"/>
          </p:cNvPicPr>
          <p:nvPr>
            <p:ph idx="1"/>
          </p:nvPr>
        </p:nvPicPr>
        <p:blipFill>
          <a:blip r:embed="rId2"/>
          <a:stretch>
            <a:fillRect/>
          </a:stretch>
        </p:blipFill>
        <p:spPr>
          <a:xfrm>
            <a:off x="277627" y="1188720"/>
            <a:ext cx="7529189" cy="5417344"/>
          </a:xfrm>
          <a:prstGeom prst="rect">
            <a:avLst/>
          </a:prstGeom>
        </p:spPr>
      </p:pic>
    </p:spTree>
    <p:extLst>
      <p:ext uri="{BB962C8B-B14F-4D97-AF65-F5344CB8AC3E}">
        <p14:creationId xmlns:p14="http://schemas.microsoft.com/office/powerpoint/2010/main" val="1702187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EB868-A4E4-E60E-3F4D-0D2FD7B88EE5}"/>
              </a:ext>
            </a:extLst>
          </p:cNvPr>
          <p:cNvSpPr>
            <a:spLocks noGrp="1"/>
          </p:cNvSpPr>
          <p:nvPr>
            <p:ph type="title"/>
          </p:nvPr>
        </p:nvSpPr>
        <p:spPr>
          <a:xfrm>
            <a:off x="457200" y="274638"/>
            <a:ext cx="8686800" cy="1143000"/>
          </a:xfrm>
        </p:spPr>
        <p:txBody>
          <a:bodyPr>
            <a:noAutofit/>
          </a:bodyPr>
          <a:lstStyle/>
          <a:p>
            <a:r>
              <a:rPr lang="en-US" sz="3200" dirty="0"/>
              <a:t>when persisting changes to database actual SQL code generated by </a:t>
            </a:r>
            <a:r>
              <a:rPr lang="en-US" sz="3200" dirty="0" err="1"/>
              <a:t>DBeaver</a:t>
            </a:r>
            <a:r>
              <a:rPr lang="en-US" sz="3200" dirty="0"/>
              <a:t> is presented to user:</a:t>
            </a:r>
          </a:p>
        </p:txBody>
      </p:sp>
      <p:sp>
        <p:nvSpPr>
          <p:cNvPr id="4" name="Slide Number Placeholder 3">
            <a:extLst>
              <a:ext uri="{FF2B5EF4-FFF2-40B4-BE49-F238E27FC236}">
                <a16:creationId xmlns:a16="http://schemas.microsoft.com/office/drawing/2014/main" id="{F7A4F23B-4F0D-CCB3-2E4C-C12D2CA76025}"/>
              </a:ext>
            </a:extLst>
          </p:cNvPr>
          <p:cNvSpPr>
            <a:spLocks noGrp="1"/>
          </p:cNvSpPr>
          <p:nvPr>
            <p:ph type="sldNum" sz="quarter" idx="12"/>
          </p:nvPr>
        </p:nvSpPr>
        <p:spPr/>
        <p:txBody>
          <a:bodyPr/>
          <a:lstStyle/>
          <a:p>
            <a:fld id="{B6F15528-21DE-4FAA-801E-634DDDAF4B2B}" type="slidenum">
              <a:rPr lang="en-US" smtClean="0"/>
              <a:pPr/>
              <a:t>34</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3DFA457D-45A2-B41A-59A0-85A0821F3EB1}"/>
              </a:ext>
            </a:extLst>
          </p:cNvPr>
          <p:cNvPicPr>
            <a:picLocks noGrp="1" noChangeAspect="1"/>
          </p:cNvPicPr>
          <p:nvPr>
            <p:ph idx="1"/>
          </p:nvPr>
        </p:nvPicPr>
        <p:blipFill>
          <a:blip r:embed="rId2"/>
          <a:stretch>
            <a:fillRect/>
          </a:stretch>
        </p:blipFill>
        <p:spPr>
          <a:xfrm>
            <a:off x="1371600" y="1371600"/>
            <a:ext cx="5394208" cy="5442980"/>
          </a:xfrm>
          <a:prstGeom prst="rect">
            <a:avLst/>
          </a:prstGeom>
        </p:spPr>
      </p:pic>
    </p:spTree>
    <p:extLst>
      <p:ext uri="{BB962C8B-B14F-4D97-AF65-F5344CB8AC3E}">
        <p14:creationId xmlns:p14="http://schemas.microsoft.com/office/powerpoint/2010/main" val="1680742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D4E9-EC38-6A91-6A29-552EE59881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D489B8-7CEB-EC42-708C-C8245AF99406}"/>
              </a:ext>
            </a:extLst>
          </p:cNvPr>
          <p:cNvSpPr>
            <a:spLocks noGrp="1"/>
          </p:cNvSpPr>
          <p:nvPr>
            <p:ph idx="1"/>
          </p:nvPr>
        </p:nvSpPr>
        <p:spPr/>
        <p:txBody>
          <a:bodyPr>
            <a:normAutofit/>
          </a:bodyPr>
          <a:lstStyle/>
          <a:p>
            <a:r>
              <a:rPr lang="en-US" sz="2800" dirty="0"/>
              <a:t>same </a:t>
            </a:r>
          </a:p>
          <a:p>
            <a:r>
              <a:rPr lang="en-US" sz="2800" dirty="0"/>
              <a:t>effect of creating table sailor could be obtained by entering SQL commands using right click on database name – SQL Editor – New SQL script </a:t>
            </a:r>
          </a:p>
          <a:p>
            <a:endParaRPr lang="en-US" sz="2800" dirty="0"/>
          </a:p>
        </p:txBody>
      </p:sp>
      <p:sp>
        <p:nvSpPr>
          <p:cNvPr id="4" name="Slide Number Placeholder 3">
            <a:extLst>
              <a:ext uri="{FF2B5EF4-FFF2-40B4-BE49-F238E27FC236}">
                <a16:creationId xmlns:a16="http://schemas.microsoft.com/office/drawing/2014/main" id="{D58214CD-B557-2F12-B592-301D24608493}"/>
              </a:ext>
            </a:extLst>
          </p:cNvPr>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15724931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1E9BC-A9BA-8802-917C-0F8E7B30787F}"/>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E12C2932-C9A0-6352-3C17-909D916ED457}"/>
              </a:ext>
            </a:extLst>
          </p:cNvPr>
          <p:cNvSpPr>
            <a:spLocks noGrp="1"/>
          </p:cNvSpPr>
          <p:nvPr>
            <p:ph type="sldNum" sz="quarter" idx="12"/>
          </p:nvPr>
        </p:nvSpPr>
        <p:spPr/>
        <p:txBody>
          <a:bodyPr/>
          <a:lstStyle/>
          <a:p>
            <a:fld id="{B6F15528-21DE-4FAA-801E-634DDDAF4B2B}" type="slidenum">
              <a:rPr lang="en-US" smtClean="0"/>
              <a:pPr/>
              <a:t>36</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69F76168-AD09-38E0-D2CD-44E1FF214F4A}"/>
              </a:ext>
            </a:extLst>
          </p:cNvPr>
          <p:cNvPicPr>
            <a:picLocks noGrp="1" noChangeAspect="1"/>
          </p:cNvPicPr>
          <p:nvPr>
            <p:ph idx="1"/>
          </p:nvPr>
        </p:nvPicPr>
        <p:blipFill>
          <a:blip r:embed="rId2"/>
          <a:stretch>
            <a:fillRect/>
          </a:stretch>
        </p:blipFill>
        <p:spPr>
          <a:xfrm>
            <a:off x="274320" y="1463040"/>
            <a:ext cx="8669865" cy="4648200"/>
          </a:xfrm>
          <a:prstGeom prst="rect">
            <a:avLst/>
          </a:prstGeom>
        </p:spPr>
      </p:pic>
    </p:spTree>
    <p:extLst>
      <p:ext uri="{BB962C8B-B14F-4D97-AF65-F5344CB8AC3E}">
        <p14:creationId xmlns:p14="http://schemas.microsoft.com/office/powerpoint/2010/main" val="13240810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0A352-D70B-8322-12AD-ED9EEC99D617}"/>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618537D8-5EC7-50B6-75D1-0C6CD0AFBD91}"/>
              </a:ext>
            </a:extLst>
          </p:cNvPr>
          <p:cNvSpPr>
            <a:spLocks noGrp="1"/>
          </p:cNvSpPr>
          <p:nvPr>
            <p:ph type="sldNum" sz="quarter" idx="12"/>
          </p:nvPr>
        </p:nvSpPr>
        <p:spPr/>
        <p:txBody>
          <a:bodyPr/>
          <a:lstStyle/>
          <a:p>
            <a:fld id="{B6F15528-21DE-4FAA-801E-634DDDAF4B2B}" type="slidenum">
              <a:rPr lang="en-US" smtClean="0"/>
              <a:pPr/>
              <a:t>37</a:t>
            </a:fld>
            <a:endParaRPr lang="en-US"/>
          </a:p>
        </p:txBody>
      </p:sp>
      <p:pic>
        <p:nvPicPr>
          <p:cNvPr id="5" name="Content Placeholder 4">
            <a:extLst>
              <a:ext uri="{FF2B5EF4-FFF2-40B4-BE49-F238E27FC236}">
                <a16:creationId xmlns:a16="http://schemas.microsoft.com/office/drawing/2014/main" id="{771D1596-7F48-CA45-DD17-08DB677EDB9C}"/>
              </a:ext>
            </a:extLst>
          </p:cNvPr>
          <p:cNvPicPr>
            <a:picLocks noGrp="1" noChangeAspect="1"/>
          </p:cNvPicPr>
          <p:nvPr>
            <p:ph idx="1"/>
          </p:nvPr>
        </p:nvPicPr>
        <p:blipFill>
          <a:blip r:embed="rId2"/>
          <a:stretch>
            <a:fillRect/>
          </a:stretch>
        </p:blipFill>
        <p:spPr>
          <a:xfrm>
            <a:off x="1828800" y="914400"/>
            <a:ext cx="5746816" cy="5706275"/>
          </a:xfrm>
          <a:prstGeom prst="rect">
            <a:avLst/>
          </a:prstGeom>
        </p:spPr>
      </p:pic>
    </p:spTree>
    <p:extLst>
      <p:ext uri="{BB962C8B-B14F-4D97-AF65-F5344CB8AC3E}">
        <p14:creationId xmlns:p14="http://schemas.microsoft.com/office/powerpoint/2010/main" val="2108787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5BE65-E643-9B26-42E6-C9FF07387765}"/>
              </a:ext>
            </a:extLst>
          </p:cNvPr>
          <p:cNvSpPr>
            <a:spLocks noGrp="1"/>
          </p:cNvSpPr>
          <p:nvPr>
            <p:ph type="title"/>
          </p:nvPr>
        </p:nvSpPr>
        <p:spPr/>
        <p:txBody>
          <a:bodyPr>
            <a:normAutofit/>
          </a:bodyPr>
          <a:lstStyle/>
          <a:p>
            <a:r>
              <a:rPr lang="en-US" dirty="0"/>
              <a:t>Execute:</a:t>
            </a:r>
          </a:p>
        </p:txBody>
      </p:sp>
      <p:sp>
        <p:nvSpPr>
          <p:cNvPr id="3" name="Content Placeholder 2">
            <a:extLst>
              <a:ext uri="{FF2B5EF4-FFF2-40B4-BE49-F238E27FC236}">
                <a16:creationId xmlns:a16="http://schemas.microsoft.com/office/drawing/2014/main" id="{72027295-4E17-23F6-2439-548E668089AF}"/>
              </a:ext>
            </a:extLst>
          </p:cNvPr>
          <p:cNvSpPr>
            <a:spLocks noGrp="1"/>
          </p:cNvSpPr>
          <p:nvPr>
            <p:ph idx="1"/>
          </p:nvPr>
        </p:nvSpPr>
        <p:spPr/>
        <p:txBody>
          <a:bodyPr>
            <a:normAutofit/>
          </a:bodyPr>
          <a:lstStyle/>
          <a:p>
            <a:r>
              <a:rPr lang="en-US" b="1" dirty="0">
                <a:latin typeface="Courier New" panose="02070309020205020404" pitchFamily="49" charset="0"/>
                <a:cs typeface="Courier New" panose="02070309020205020404" pitchFamily="49" charset="0"/>
              </a:rPr>
              <a:t>CREATE</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TABLE</a:t>
            </a:r>
            <a:r>
              <a:rPr lang="en-US" dirty="0">
                <a:latin typeface="Courier New" panose="02070309020205020404" pitchFamily="49" charset="0"/>
                <a:cs typeface="Courier New" panose="02070309020205020404" pitchFamily="49" charset="0"/>
              </a:rPr>
              <a:t> sailor (</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sid</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INTEGER</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NOT</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NULL</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PRIMARY</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KEY</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AUTOINCREMENT</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sname</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TEXT</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age </a:t>
            </a:r>
            <a:r>
              <a:rPr lang="en-US" b="1" dirty="0">
                <a:latin typeface="Courier New" panose="02070309020205020404" pitchFamily="49" charset="0"/>
                <a:cs typeface="Courier New" panose="02070309020205020404" pitchFamily="49" charset="0"/>
              </a:rPr>
              <a:t>REAL</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rating </a:t>
            </a:r>
            <a:r>
              <a:rPr lang="en-US" b="1" dirty="0">
                <a:latin typeface="Courier New" panose="02070309020205020404" pitchFamily="49" charset="0"/>
                <a:cs typeface="Courier New" panose="02070309020205020404" pitchFamily="49" charset="0"/>
              </a:rPr>
              <a:t>INTEGER</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p:txBody>
      </p:sp>
      <p:sp>
        <p:nvSpPr>
          <p:cNvPr id="4" name="Slide Number Placeholder 3">
            <a:extLst>
              <a:ext uri="{FF2B5EF4-FFF2-40B4-BE49-F238E27FC236}">
                <a16:creationId xmlns:a16="http://schemas.microsoft.com/office/drawing/2014/main" id="{6B428D4B-C20D-46DA-4E25-B1BD9B9EDEE7}"/>
              </a:ext>
            </a:extLst>
          </p:cNvPr>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38645367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93B2A-F5B6-1615-5806-3490B78FAE9C}"/>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E16A2AD6-CBCB-A7E9-F68A-B8982D3EB0E8}"/>
              </a:ext>
            </a:extLst>
          </p:cNvPr>
          <p:cNvSpPr>
            <a:spLocks noGrp="1"/>
          </p:cNvSpPr>
          <p:nvPr>
            <p:ph type="sldNum" sz="quarter" idx="12"/>
          </p:nvPr>
        </p:nvSpPr>
        <p:spPr/>
        <p:txBody>
          <a:bodyPr/>
          <a:lstStyle/>
          <a:p>
            <a:fld id="{B6F15528-21DE-4FAA-801E-634DDDAF4B2B}" type="slidenum">
              <a:rPr lang="en-US" smtClean="0"/>
              <a:pPr/>
              <a:t>39</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420A7A04-FF3B-6641-28BB-69199A17E6AB}"/>
              </a:ext>
            </a:extLst>
          </p:cNvPr>
          <p:cNvPicPr>
            <a:picLocks noGrp="1" noChangeAspect="1"/>
          </p:cNvPicPr>
          <p:nvPr>
            <p:ph idx="1"/>
          </p:nvPr>
        </p:nvPicPr>
        <p:blipFill>
          <a:blip r:embed="rId2"/>
          <a:stretch>
            <a:fillRect/>
          </a:stretch>
        </p:blipFill>
        <p:spPr>
          <a:xfrm>
            <a:off x="91440" y="1371600"/>
            <a:ext cx="8968984" cy="5092506"/>
          </a:xfrm>
          <a:prstGeom prst="rect">
            <a:avLst/>
          </a:prstGeom>
        </p:spPr>
      </p:pic>
    </p:spTree>
    <p:extLst>
      <p:ext uri="{BB962C8B-B14F-4D97-AF65-F5344CB8AC3E}">
        <p14:creationId xmlns:p14="http://schemas.microsoft.com/office/powerpoint/2010/main" val="18057752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ACDA6-42E1-5499-E227-2BE7F6D6957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206F644-6A56-5FA7-927B-FCA80930EF05}"/>
              </a:ext>
            </a:extLst>
          </p:cNvPr>
          <p:cNvSpPr>
            <a:spLocks noGrp="1"/>
          </p:cNvSpPr>
          <p:nvPr>
            <p:ph idx="1"/>
          </p:nvPr>
        </p:nvSpPr>
        <p:spPr/>
        <p:txBody>
          <a:bodyPr>
            <a:noAutofit/>
          </a:bodyPr>
          <a:lstStyle/>
          <a:p>
            <a:r>
              <a:rPr lang="en-US" sz="2800" dirty="0"/>
              <a:t>each table may have at most one PRIMARY KEY</a:t>
            </a:r>
          </a:p>
          <a:p>
            <a:r>
              <a:rPr lang="en-US" sz="2800" dirty="0"/>
              <a:t>if keywords PRIMARY KEY are added to column definition, then primary key for table consists of that single column</a:t>
            </a:r>
          </a:p>
          <a:p>
            <a:r>
              <a:rPr lang="en-US" sz="2800" dirty="0"/>
              <a:t>if PRIMARY KEY clause is specified as table constraint, then primary key of table consists of list of columns specified as part of PRIMARY KEY clause</a:t>
            </a:r>
          </a:p>
          <a:p>
            <a:r>
              <a:rPr lang="en-US" sz="2800" dirty="0"/>
              <a:t>PRIMARY KEY clause must contain only column names — the use of expressions in an indexed-column of a PRIMARY KEY is not supported</a:t>
            </a:r>
          </a:p>
        </p:txBody>
      </p:sp>
      <p:sp>
        <p:nvSpPr>
          <p:cNvPr id="4" name="Slide Number Placeholder 3">
            <a:extLst>
              <a:ext uri="{FF2B5EF4-FFF2-40B4-BE49-F238E27FC236}">
                <a16:creationId xmlns:a16="http://schemas.microsoft.com/office/drawing/2014/main" id="{F647473E-4B59-C03D-ADA0-C9A8D1CD0B57}"/>
              </a:ext>
            </a:extLst>
          </p:cNvPr>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18285045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466B4-1F51-7472-7CCA-37A898F1D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E57CED-D6AE-2AFB-FFE1-E54C1FE6B48D}"/>
              </a:ext>
            </a:extLst>
          </p:cNvPr>
          <p:cNvSpPr>
            <a:spLocks noGrp="1"/>
          </p:cNvSpPr>
          <p:nvPr>
            <p:ph type="title"/>
          </p:nvPr>
        </p:nvSpPr>
        <p:spPr/>
        <p:txBody>
          <a:bodyPr/>
          <a:lstStyle/>
          <a:p>
            <a:r>
              <a:rPr lang="en-US" dirty="0"/>
              <a:t>SQLite</a:t>
            </a:r>
          </a:p>
        </p:txBody>
      </p:sp>
      <p:sp>
        <p:nvSpPr>
          <p:cNvPr id="3" name="Content Placeholder 2">
            <a:extLst>
              <a:ext uri="{FF2B5EF4-FFF2-40B4-BE49-F238E27FC236}">
                <a16:creationId xmlns:a16="http://schemas.microsoft.com/office/drawing/2014/main" id="{DA92F116-D1AC-7B34-75D0-F56A75DC7398}"/>
              </a:ext>
            </a:extLst>
          </p:cNvPr>
          <p:cNvSpPr>
            <a:spLocks noGrp="1"/>
          </p:cNvSpPr>
          <p:nvPr>
            <p:ph idx="1"/>
          </p:nvPr>
        </p:nvSpPr>
        <p:spPr/>
        <p:txBody>
          <a:bodyPr>
            <a:noAutofit/>
          </a:bodyPr>
          <a:lstStyle/>
          <a:p>
            <a:r>
              <a:rPr lang="en-US" sz="2800" dirty="0"/>
              <a:t>except for special cases of tables defined WITHOUT ROWID, all rows within SQLite tables have a 64-bit signed integer key that uniquely identifies row within its table; this integer is usually called the “</a:t>
            </a:r>
            <a:r>
              <a:rPr lang="en-US" sz="2800" i="1" dirty="0"/>
              <a:t>rowed</a:t>
            </a:r>
            <a:r>
              <a:rPr lang="en-US" sz="2800" dirty="0"/>
              <a:t>”</a:t>
            </a:r>
          </a:p>
          <a:p>
            <a:r>
              <a:rPr lang="en-US" sz="2800" i="1" dirty="0" err="1"/>
              <a:t>rowid</a:t>
            </a:r>
            <a:r>
              <a:rPr lang="en-US" sz="2800" dirty="0"/>
              <a:t> value can be accessed using one of the special case-independent names "</a:t>
            </a:r>
            <a:r>
              <a:rPr lang="en-US" sz="2800" dirty="0" err="1"/>
              <a:t>rowid</a:t>
            </a:r>
            <a:r>
              <a:rPr lang="en-US" sz="2800" dirty="0"/>
              <a:t>", "</a:t>
            </a:r>
            <a:r>
              <a:rPr lang="en-US" sz="2800" dirty="0" err="1"/>
              <a:t>oid</a:t>
            </a:r>
            <a:r>
              <a:rPr lang="en-US" sz="2800" dirty="0"/>
              <a:t>", or "_</a:t>
            </a:r>
            <a:r>
              <a:rPr lang="en-US" sz="2800" dirty="0" err="1"/>
              <a:t>rowid</a:t>
            </a:r>
            <a:r>
              <a:rPr lang="en-US" sz="2800" dirty="0"/>
              <a:t>_" in place of a column name</a:t>
            </a:r>
          </a:p>
          <a:p>
            <a:r>
              <a:rPr lang="en-US" sz="2800" dirty="0"/>
              <a:t>if table contains a user defined column named "</a:t>
            </a:r>
            <a:r>
              <a:rPr lang="en-US" sz="2800" dirty="0" err="1"/>
              <a:t>rowid</a:t>
            </a:r>
            <a:r>
              <a:rPr lang="en-US" sz="2800" dirty="0"/>
              <a:t>", "</a:t>
            </a:r>
            <a:r>
              <a:rPr lang="en-US" sz="2800" dirty="0" err="1"/>
              <a:t>oid</a:t>
            </a:r>
            <a:r>
              <a:rPr lang="en-US" sz="2800" dirty="0"/>
              <a:t>" or "_</a:t>
            </a:r>
            <a:r>
              <a:rPr lang="en-US" sz="2800" dirty="0" err="1"/>
              <a:t>rowid</a:t>
            </a:r>
            <a:r>
              <a:rPr lang="en-US" sz="2800" dirty="0"/>
              <a:t>_", then that name always refers to the explicitly declared column and cannot be used to retrieve the integer </a:t>
            </a:r>
            <a:r>
              <a:rPr lang="en-US" sz="2800" dirty="0" err="1"/>
              <a:t>rowid</a:t>
            </a:r>
            <a:r>
              <a:rPr lang="en-US" sz="2800" dirty="0"/>
              <a:t> value</a:t>
            </a:r>
          </a:p>
        </p:txBody>
      </p:sp>
      <p:sp>
        <p:nvSpPr>
          <p:cNvPr id="4" name="Slide Number Placeholder 3">
            <a:extLst>
              <a:ext uri="{FF2B5EF4-FFF2-40B4-BE49-F238E27FC236}">
                <a16:creationId xmlns:a16="http://schemas.microsoft.com/office/drawing/2014/main" id="{F17DE1D4-5198-BD03-E5B7-BE45CF6B3012}"/>
              </a:ext>
            </a:extLst>
          </p:cNvPr>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13336419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A5F00-6006-89E3-5BE2-4A407D296B17}"/>
              </a:ext>
            </a:extLst>
          </p:cNvPr>
          <p:cNvSpPr>
            <a:spLocks noGrp="1"/>
          </p:cNvSpPr>
          <p:nvPr>
            <p:ph type="title"/>
          </p:nvPr>
        </p:nvSpPr>
        <p:spPr/>
        <p:txBody>
          <a:bodyPr/>
          <a:lstStyle/>
          <a:p>
            <a:r>
              <a:rPr lang="en-US" dirty="0"/>
              <a:t>SQLite</a:t>
            </a:r>
          </a:p>
        </p:txBody>
      </p:sp>
      <p:sp>
        <p:nvSpPr>
          <p:cNvPr id="3" name="Content Placeholder 2">
            <a:extLst>
              <a:ext uri="{FF2B5EF4-FFF2-40B4-BE49-F238E27FC236}">
                <a16:creationId xmlns:a16="http://schemas.microsoft.com/office/drawing/2014/main" id="{AB65EC80-AF64-AFCE-6C4C-4F75B0C2F4C3}"/>
              </a:ext>
            </a:extLst>
          </p:cNvPr>
          <p:cNvSpPr>
            <a:spLocks noGrp="1"/>
          </p:cNvSpPr>
          <p:nvPr>
            <p:ph idx="1"/>
          </p:nvPr>
        </p:nvSpPr>
        <p:spPr/>
        <p:txBody>
          <a:bodyPr>
            <a:noAutofit/>
          </a:bodyPr>
          <a:lstStyle/>
          <a:p>
            <a:pPr lvl="0"/>
            <a:r>
              <a:rPr lang="en-US" sz="2800" dirty="0"/>
              <a:t>AUTOINCREMENT keyword imposes extra CPU, memory, disk space, and disk I/O overhead and should be avoided if not strictly needed</a:t>
            </a:r>
          </a:p>
          <a:p>
            <a:pPr lvl="0"/>
            <a:r>
              <a:rPr lang="en-US" sz="2800" dirty="0"/>
              <a:t>usually not needed.</a:t>
            </a:r>
          </a:p>
          <a:p>
            <a:pPr lvl="0"/>
            <a:r>
              <a:rPr lang="en-US" sz="2800" dirty="0"/>
              <a:t>in SQLite, column with type INTEGER PRIMARY KEY is alias for ROWID</a:t>
            </a:r>
          </a:p>
        </p:txBody>
      </p:sp>
      <p:sp>
        <p:nvSpPr>
          <p:cNvPr id="4" name="Slide Number Placeholder 3">
            <a:extLst>
              <a:ext uri="{FF2B5EF4-FFF2-40B4-BE49-F238E27FC236}">
                <a16:creationId xmlns:a16="http://schemas.microsoft.com/office/drawing/2014/main" id="{2A41A6D7-C006-6614-58A3-63DEFFCFB61D}"/>
              </a:ext>
            </a:extLst>
          </p:cNvPr>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18647004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C4FB-41C6-BA89-DBB3-E2E3278700EB}"/>
              </a:ext>
            </a:extLst>
          </p:cNvPr>
          <p:cNvSpPr>
            <a:spLocks noGrp="1"/>
          </p:cNvSpPr>
          <p:nvPr>
            <p:ph type="title"/>
          </p:nvPr>
        </p:nvSpPr>
        <p:spPr/>
        <p:txBody>
          <a:bodyPr/>
          <a:lstStyle/>
          <a:p>
            <a:r>
              <a:rPr lang="en-US" dirty="0"/>
              <a:t>SQLite</a:t>
            </a:r>
          </a:p>
        </p:txBody>
      </p:sp>
      <p:sp>
        <p:nvSpPr>
          <p:cNvPr id="3" name="Content Placeholder 2">
            <a:extLst>
              <a:ext uri="{FF2B5EF4-FFF2-40B4-BE49-F238E27FC236}">
                <a16:creationId xmlns:a16="http://schemas.microsoft.com/office/drawing/2014/main" id="{45B6891A-28BE-DA03-F8FB-A68F7DB67F0F}"/>
              </a:ext>
            </a:extLst>
          </p:cNvPr>
          <p:cNvSpPr>
            <a:spLocks noGrp="1"/>
          </p:cNvSpPr>
          <p:nvPr>
            <p:ph idx="1"/>
          </p:nvPr>
        </p:nvSpPr>
        <p:spPr>
          <a:xfrm>
            <a:off x="381000" y="1600200"/>
            <a:ext cx="8763000" cy="4525963"/>
          </a:xfrm>
        </p:spPr>
        <p:txBody>
          <a:bodyPr>
            <a:normAutofit fontScale="77500" lnSpcReduction="20000"/>
          </a:bodyPr>
          <a:lstStyle/>
          <a:p>
            <a:pPr lvl="0"/>
            <a:r>
              <a:rPr lang="en-US" sz="3600" dirty="0"/>
              <a:t>on INSERT, if ROWID or INTEGER PRIMARY KEY column is not explicitly given a value, then it will be filled automatically with unused integer, usually one more than the largest ROWID currently in use; this is true regardless of whether AUTOINCREMENT keyword is used</a:t>
            </a:r>
          </a:p>
          <a:p>
            <a:pPr lvl="0"/>
            <a:r>
              <a:rPr lang="en-US" sz="3600" dirty="0"/>
              <a:t>if AUTOINCREMENT keyword appears after INTEGER PRIMARY KEY, that changes the automatic ROWID assignment algorithm to prevent the reuse of ROWIDs over the lifetime of the database</a:t>
            </a:r>
          </a:p>
          <a:p>
            <a:pPr lvl="1"/>
            <a:r>
              <a:rPr lang="en-US" sz="3500" dirty="0"/>
              <a:t>in other words, purpose of AUTOINCREMENT is to prevent reuse of ROWIDs from previously deleted rows</a:t>
            </a:r>
          </a:p>
        </p:txBody>
      </p:sp>
      <p:sp>
        <p:nvSpPr>
          <p:cNvPr id="4" name="Slide Number Placeholder 3">
            <a:extLst>
              <a:ext uri="{FF2B5EF4-FFF2-40B4-BE49-F238E27FC236}">
                <a16:creationId xmlns:a16="http://schemas.microsoft.com/office/drawing/2014/main" id="{2E744C75-5A93-002C-D3E6-4968BDFC5E79}"/>
              </a:ext>
            </a:extLst>
          </p:cNvPr>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8558029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329F2-48B9-4E0C-3831-729E59A5FB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B1A815-6408-D52E-208A-C68ACBB5FB7D}"/>
              </a:ext>
            </a:extLst>
          </p:cNvPr>
          <p:cNvSpPr>
            <a:spLocks noGrp="1"/>
          </p:cNvSpPr>
          <p:nvPr>
            <p:ph idx="1"/>
          </p:nvPr>
        </p:nvSpPr>
        <p:spPr/>
        <p:txBody>
          <a:bodyPr/>
          <a:lstStyle/>
          <a:p>
            <a:r>
              <a:rPr lang="en-US" dirty="0"/>
              <a:t>according to the SQL standard, PRIMARY KEY should always imply NOT NULL</a:t>
            </a:r>
          </a:p>
        </p:txBody>
      </p:sp>
      <p:sp>
        <p:nvSpPr>
          <p:cNvPr id="4" name="Slide Number Placeholder 3">
            <a:extLst>
              <a:ext uri="{FF2B5EF4-FFF2-40B4-BE49-F238E27FC236}">
                <a16:creationId xmlns:a16="http://schemas.microsoft.com/office/drawing/2014/main" id="{0B4B66FD-0C53-7946-1405-B3F5881EFC34}"/>
              </a:ext>
            </a:extLst>
          </p:cNvPr>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3452146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2423-1C37-DC5F-A9DF-4727E01E29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9B6888-3126-30F8-0EB0-83D81BBC5346}"/>
              </a:ext>
            </a:extLst>
          </p:cNvPr>
          <p:cNvSpPr>
            <a:spLocks noGrp="1"/>
          </p:cNvSpPr>
          <p:nvPr>
            <p:ph idx="1"/>
          </p:nvPr>
        </p:nvSpPr>
        <p:spPr/>
        <p:txBody>
          <a:bodyPr>
            <a:normAutofit/>
          </a:bodyPr>
          <a:lstStyle/>
          <a:p>
            <a:r>
              <a:rPr lang="en-US" sz="2700" i="1" dirty="0"/>
              <a:t>unfortunately, due to a bug in some early versions, this is not the case in SQLite; SQLite allows NULL values in PRIMARY KEY column</a:t>
            </a:r>
          </a:p>
        </p:txBody>
      </p:sp>
      <p:sp>
        <p:nvSpPr>
          <p:cNvPr id="4" name="Slide Number Placeholder 3">
            <a:extLst>
              <a:ext uri="{FF2B5EF4-FFF2-40B4-BE49-F238E27FC236}">
                <a16:creationId xmlns:a16="http://schemas.microsoft.com/office/drawing/2014/main" id="{DE10D3FC-B938-F376-9B58-DF026200290A}"/>
              </a:ext>
            </a:extLst>
          </p:cNvPr>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2452267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B8B3E-A031-AA31-4143-2A3B2BDF9549}"/>
              </a:ext>
            </a:extLst>
          </p:cNvPr>
          <p:cNvSpPr>
            <a:spLocks noGrp="1"/>
          </p:cNvSpPr>
          <p:nvPr>
            <p:ph type="title"/>
          </p:nvPr>
        </p:nvSpPr>
        <p:spPr/>
        <p:txBody>
          <a:bodyPr>
            <a:normAutofit fontScale="90000"/>
          </a:bodyPr>
          <a:lstStyle/>
          <a:p>
            <a:r>
              <a:rPr lang="en-US" dirty="0"/>
              <a:t>table names be singular or plural</a:t>
            </a:r>
            <a:br>
              <a:rPr lang="en-US" dirty="0"/>
            </a:br>
            <a:r>
              <a:rPr lang="en-US" dirty="0"/>
              <a:t>Which is better: Singular or Plural?</a:t>
            </a:r>
          </a:p>
        </p:txBody>
      </p:sp>
      <p:sp>
        <p:nvSpPr>
          <p:cNvPr id="3" name="Content Placeholder 2">
            <a:extLst>
              <a:ext uri="{FF2B5EF4-FFF2-40B4-BE49-F238E27FC236}">
                <a16:creationId xmlns:a16="http://schemas.microsoft.com/office/drawing/2014/main" id="{CC9A081B-1D6B-E43B-E459-64FE5CF5A4CC}"/>
              </a:ext>
            </a:extLst>
          </p:cNvPr>
          <p:cNvSpPr>
            <a:spLocks noGrp="1"/>
          </p:cNvSpPr>
          <p:nvPr>
            <p:ph idx="1"/>
          </p:nvPr>
        </p:nvSpPr>
        <p:spPr/>
        <p:txBody>
          <a:bodyPr>
            <a:noAutofit/>
          </a:bodyPr>
          <a:lstStyle/>
          <a:p>
            <a:r>
              <a:rPr lang="en-US" sz="2800" dirty="0"/>
              <a:t>Sailors sailor / Boats boat …? … correct answer is that there is no right or wrong when naming database tables — just be consistent from the start</a:t>
            </a:r>
          </a:p>
          <a:p>
            <a:pPr lvl="1"/>
            <a:r>
              <a:rPr lang="en-US" sz="2700" dirty="0"/>
              <a:t>only wrong answer with database table names is to use a combination of plural and singular</a:t>
            </a:r>
          </a:p>
          <a:p>
            <a:endParaRPr lang="en-US" sz="2800" dirty="0"/>
          </a:p>
        </p:txBody>
      </p:sp>
      <p:sp>
        <p:nvSpPr>
          <p:cNvPr id="4" name="Slide Number Placeholder 3">
            <a:extLst>
              <a:ext uri="{FF2B5EF4-FFF2-40B4-BE49-F238E27FC236}">
                <a16:creationId xmlns:a16="http://schemas.microsoft.com/office/drawing/2014/main" id="{74DD20B1-44F2-F989-0FCC-AC8C21750577}"/>
              </a:ext>
            </a:extLst>
          </p:cNvPr>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15540585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FA403-FF51-8212-CFED-23A18F27D1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4CF2B-D0B7-78E5-532F-9D204BEC4D2D}"/>
              </a:ext>
            </a:extLst>
          </p:cNvPr>
          <p:cNvSpPr>
            <a:spLocks noGrp="1"/>
          </p:cNvSpPr>
          <p:nvPr>
            <p:ph type="title"/>
          </p:nvPr>
        </p:nvSpPr>
        <p:spPr/>
        <p:txBody>
          <a:bodyPr>
            <a:normAutofit/>
          </a:bodyPr>
          <a:lstStyle/>
          <a:p>
            <a:endParaRPr lang="en-US" dirty="0"/>
          </a:p>
        </p:txBody>
      </p:sp>
      <p:sp>
        <p:nvSpPr>
          <p:cNvPr id="3" name="Content Placeholder 2">
            <a:extLst>
              <a:ext uri="{FF2B5EF4-FFF2-40B4-BE49-F238E27FC236}">
                <a16:creationId xmlns:a16="http://schemas.microsoft.com/office/drawing/2014/main" id="{D9F50FA8-B1C9-84CC-9BBA-F4DB0A74AAE0}"/>
              </a:ext>
            </a:extLst>
          </p:cNvPr>
          <p:cNvSpPr>
            <a:spLocks noGrp="1"/>
          </p:cNvSpPr>
          <p:nvPr>
            <p:ph idx="1"/>
          </p:nvPr>
        </p:nvSpPr>
        <p:spPr/>
        <p:txBody>
          <a:bodyPr>
            <a:noAutofit/>
          </a:bodyPr>
          <a:lstStyle/>
          <a:p>
            <a:r>
              <a:rPr lang="en-US" sz="2800" dirty="0" err="1"/>
              <a:t>DataBase</a:t>
            </a:r>
            <a:r>
              <a:rPr lang="en-US" sz="2800" dirty="0"/>
              <a:t> </a:t>
            </a:r>
            <a:r>
              <a:rPr lang="en-US" sz="2800" dirty="0" err="1"/>
              <a:t>TextBooks</a:t>
            </a:r>
            <a:r>
              <a:rPr lang="en-US" sz="2800" dirty="0"/>
              <a:t> advocate for the use of singular name, often cite the fact that when pointing at a database record, it feels confusing to use a plural name to describe a single item</a:t>
            </a:r>
          </a:p>
          <a:p>
            <a:pPr lvl="1"/>
            <a:r>
              <a:rPr lang="en-US" sz="2700" dirty="0"/>
              <a:t>thus, why should you use clients.name when you're pointing only at one client?</a:t>
            </a:r>
          </a:p>
          <a:p>
            <a:pPr lvl="1"/>
            <a:r>
              <a:rPr lang="en-US" sz="2700" dirty="0"/>
              <a:t>enhanced when writing SQL statements, that suddenly appear more natural: for example, </a:t>
            </a:r>
          </a:p>
          <a:p>
            <a:r>
              <a:rPr lang="en-US" sz="2700" dirty="0"/>
              <a:t>SELECT activity.name </a:t>
            </a:r>
          </a:p>
          <a:p>
            <a:r>
              <a:rPr lang="en-US" sz="2700" dirty="0"/>
              <a:t>feels better than </a:t>
            </a:r>
          </a:p>
          <a:p>
            <a:r>
              <a:rPr lang="en-US" sz="2700" dirty="0"/>
              <a:t>SELECT activities.name</a:t>
            </a:r>
          </a:p>
        </p:txBody>
      </p:sp>
      <p:sp>
        <p:nvSpPr>
          <p:cNvPr id="4" name="Slide Number Placeholder 3">
            <a:extLst>
              <a:ext uri="{FF2B5EF4-FFF2-40B4-BE49-F238E27FC236}">
                <a16:creationId xmlns:a16="http://schemas.microsoft.com/office/drawing/2014/main" id="{2AA5C8A7-5383-E63B-2C42-E2D86D4466FE}"/>
              </a:ext>
            </a:extLst>
          </p:cNvPr>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9523073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7835E-5468-23E5-8C75-B501649DFE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74E83F-390E-9FB6-E045-8875301AB75D}"/>
              </a:ext>
            </a:extLst>
          </p:cNvPr>
          <p:cNvSpPr>
            <a:spLocks noGrp="1"/>
          </p:cNvSpPr>
          <p:nvPr>
            <p:ph idx="1"/>
          </p:nvPr>
        </p:nvSpPr>
        <p:spPr/>
        <p:txBody>
          <a:bodyPr>
            <a:normAutofit/>
          </a:bodyPr>
          <a:lstStyle/>
          <a:p>
            <a:r>
              <a:rPr lang="en-US" sz="2800" dirty="0"/>
              <a:t>using singular names, one can consider using “set theory” to tables, meaning that any instance in set is representative of the set</a:t>
            </a:r>
          </a:p>
          <a:p>
            <a:pPr lvl="1"/>
            <a:r>
              <a:rPr lang="en-US" dirty="0"/>
              <a:t>so, apple is an Apple set</a:t>
            </a:r>
          </a:p>
          <a:p>
            <a:r>
              <a:rPr lang="en-US" sz="2800" dirty="0"/>
              <a:t>agnostic of how many apples are in the set</a:t>
            </a:r>
          </a:p>
          <a:p>
            <a:pPr marL="0" indent="0">
              <a:buNone/>
            </a:pPr>
            <a:endParaRPr lang="en-US" sz="2800" dirty="0"/>
          </a:p>
        </p:txBody>
      </p:sp>
      <p:sp>
        <p:nvSpPr>
          <p:cNvPr id="4" name="Slide Number Placeholder 3">
            <a:extLst>
              <a:ext uri="{FF2B5EF4-FFF2-40B4-BE49-F238E27FC236}">
                <a16:creationId xmlns:a16="http://schemas.microsoft.com/office/drawing/2014/main" id="{48CC860D-C300-516D-5C3A-B3EB59D4DDC0}"/>
              </a:ext>
            </a:extLst>
          </p:cNvPr>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9665476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75C2C-66C4-2ACC-60F2-AF09787E5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25584-11E9-4CEA-2A5B-0E24AF7C91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143FE8-5AE6-6772-B842-1974A88E51E1}"/>
              </a:ext>
            </a:extLst>
          </p:cNvPr>
          <p:cNvSpPr>
            <a:spLocks noGrp="1"/>
          </p:cNvSpPr>
          <p:nvPr>
            <p:ph idx="1"/>
          </p:nvPr>
        </p:nvSpPr>
        <p:spPr/>
        <p:txBody>
          <a:bodyPr>
            <a:normAutofit fontScale="92500" lnSpcReduction="20000"/>
          </a:bodyPr>
          <a:lstStyle/>
          <a:p>
            <a:r>
              <a:rPr lang="en-US" sz="3000" dirty="0"/>
              <a:t>Sailor and Boat are noun phrases</a:t>
            </a:r>
          </a:p>
          <a:p>
            <a:r>
              <a:rPr lang="en-US" sz="3000" dirty="0"/>
              <a:t>Reserve it is more a verb phrase.</a:t>
            </a:r>
          </a:p>
          <a:p>
            <a:pPr lvl="1"/>
            <a:r>
              <a:rPr lang="en-US" sz="2900" dirty="0"/>
              <a:t>actually Reserve it is a many – to – many relation between Sailor and Boat represented as two one – to – many relationships</a:t>
            </a:r>
          </a:p>
          <a:p>
            <a:r>
              <a:rPr lang="en-US" sz="3000" dirty="0"/>
              <a:t>a Sailor can rent many Boats</a:t>
            </a:r>
          </a:p>
          <a:p>
            <a:r>
              <a:rPr lang="en-US" sz="3000" dirty="0"/>
              <a:t>a Boat can be reserved by many Sailors</a:t>
            </a:r>
          </a:p>
          <a:p>
            <a:r>
              <a:rPr lang="en-US" sz="3000" dirty="0"/>
              <a:t>proper name of such link relation / table would be </a:t>
            </a:r>
            <a:r>
              <a:rPr lang="en-US" sz="3000" dirty="0" err="1"/>
              <a:t>Sailor_Boat</a:t>
            </a:r>
            <a:r>
              <a:rPr lang="en-US" sz="3000" dirty="0"/>
              <a:t> (or </a:t>
            </a:r>
            <a:r>
              <a:rPr lang="en-US" sz="3000" dirty="0" err="1"/>
              <a:t>Boat_Sailor</a:t>
            </a:r>
            <a:r>
              <a:rPr lang="en-US" sz="3000" dirty="0"/>
              <a:t>) </a:t>
            </a:r>
          </a:p>
          <a:p>
            <a:pPr lvl="1"/>
            <a:r>
              <a:rPr lang="en-US" sz="2900" dirty="0"/>
              <a:t>composed of </a:t>
            </a:r>
            <a:r>
              <a:rPr lang="en-US" sz="2900" i="1" dirty="0" err="1"/>
              <a:t>sid</a:t>
            </a:r>
            <a:r>
              <a:rPr lang="en-US" sz="2900" dirty="0"/>
              <a:t> </a:t>
            </a:r>
            <a:r>
              <a:rPr lang="en-US" sz="2900" dirty="0" err="1"/>
              <a:t>ans</a:t>
            </a:r>
            <a:r>
              <a:rPr lang="en-US" sz="2900" dirty="0"/>
              <a:t> </a:t>
            </a:r>
            <a:r>
              <a:rPr lang="en-US" sz="2900" i="1" dirty="0"/>
              <a:t>bid</a:t>
            </a:r>
            <a:r>
              <a:rPr lang="en-US" sz="2900" dirty="0"/>
              <a:t> with proper attribute for the relationship day (of reservation)</a:t>
            </a:r>
          </a:p>
          <a:p>
            <a:endParaRPr lang="en-US" sz="2800" dirty="0"/>
          </a:p>
          <a:p>
            <a:endParaRPr lang="en-US" sz="2800" dirty="0"/>
          </a:p>
        </p:txBody>
      </p:sp>
      <p:sp>
        <p:nvSpPr>
          <p:cNvPr id="4" name="Slide Number Placeholder 3">
            <a:extLst>
              <a:ext uri="{FF2B5EF4-FFF2-40B4-BE49-F238E27FC236}">
                <a16:creationId xmlns:a16="http://schemas.microsoft.com/office/drawing/2014/main" id="{7269AA24-C40B-96A0-1406-5F811CF54BFD}"/>
              </a:ext>
            </a:extLst>
          </p:cNvPr>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25151518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DE425-206B-2717-5F1B-08E629E8AB47}"/>
              </a:ext>
            </a:extLst>
          </p:cNvPr>
          <p:cNvSpPr>
            <a:spLocks noGrp="1"/>
          </p:cNvSpPr>
          <p:nvPr>
            <p:ph type="title"/>
          </p:nvPr>
        </p:nvSpPr>
        <p:spPr/>
        <p:txBody>
          <a:bodyPr/>
          <a:lstStyle/>
          <a:p>
            <a:r>
              <a:rPr lang="en-US" dirty="0"/>
              <a:t>SQLite</a:t>
            </a:r>
          </a:p>
        </p:txBody>
      </p:sp>
      <p:sp>
        <p:nvSpPr>
          <p:cNvPr id="3" name="Content Placeholder 2">
            <a:extLst>
              <a:ext uri="{FF2B5EF4-FFF2-40B4-BE49-F238E27FC236}">
                <a16:creationId xmlns:a16="http://schemas.microsoft.com/office/drawing/2014/main" id="{59E8F392-CEC9-D769-40C3-85D62B9B6146}"/>
              </a:ext>
            </a:extLst>
          </p:cNvPr>
          <p:cNvSpPr>
            <a:spLocks noGrp="1"/>
          </p:cNvSpPr>
          <p:nvPr>
            <p:ph idx="1"/>
          </p:nvPr>
        </p:nvSpPr>
        <p:spPr/>
        <p:txBody>
          <a:bodyPr>
            <a:noAutofit/>
          </a:bodyPr>
          <a:lstStyle/>
          <a:p>
            <a:r>
              <a:rPr lang="en-US" sz="2800" dirty="0"/>
              <a:t>does not have a storage class set aside for storing dates and/or times</a:t>
            </a:r>
          </a:p>
          <a:p>
            <a:r>
              <a:rPr lang="en-US" sz="2800" dirty="0"/>
              <a:t>built-in Date And Time Functions of SQLite are capable of storing dates and times as </a:t>
            </a:r>
          </a:p>
          <a:p>
            <a:pPr lvl="1"/>
            <a:r>
              <a:rPr lang="en-US" sz="2600" dirty="0"/>
              <a:t>TEXT as ISO8601 strings ("YYYY-MM-DD HH:MM:SS.SSS")</a:t>
            </a:r>
          </a:p>
          <a:p>
            <a:pPr lvl="1"/>
            <a:r>
              <a:rPr lang="en-US" sz="2600" dirty="0"/>
              <a:t>REAL as Julian day numbers, number of days since noon in Greenwich on November 24, 4714 B.C. according to proleptic Gregorian calendar</a:t>
            </a:r>
          </a:p>
          <a:p>
            <a:pPr lvl="1"/>
            <a:r>
              <a:rPr lang="en-US" sz="2600" dirty="0"/>
              <a:t>INTEGER as Unix Time, number of seconds since 1970-01-01 00:00:00 UTC</a:t>
            </a:r>
          </a:p>
        </p:txBody>
      </p:sp>
      <p:sp>
        <p:nvSpPr>
          <p:cNvPr id="4" name="Slide Number Placeholder 3">
            <a:extLst>
              <a:ext uri="{FF2B5EF4-FFF2-40B4-BE49-F238E27FC236}">
                <a16:creationId xmlns:a16="http://schemas.microsoft.com/office/drawing/2014/main" id="{5276C55D-C268-8C0F-B56A-8A55CA15D345}"/>
              </a:ext>
            </a:extLst>
          </p:cNvPr>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7558381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C6DBE-CF32-A869-1CB8-4818283F0793}"/>
              </a:ext>
            </a:extLst>
          </p:cNvPr>
          <p:cNvSpPr>
            <a:spLocks noGrp="1"/>
          </p:cNvSpPr>
          <p:nvPr>
            <p:ph type="title"/>
          </p:nvPr>
        </p:nvSpPr>
        <p:spPr/>
        <p:txBody>
          <a:bodyPr/>
          <a:lstStyle/>
          <a:p>
            <a:r>
              <a:rPr lang="en-US" dirty="0"/>
              <a:t>SQLite</a:t>
            </a:r>
          </a:p>
        </p:txBody>
      </p:sp>
      <p:sp>
        <p:nvSpPr>
          <p:cNvPr id="3" name="Content Placeholder 2">
            <a:extLst>
              <a:ext uri="{FF2B5EF4-FFF2-40B4-BE49-F238E27FC236}">
                <a16:creationId xmlns:a16="http://schemas.microsoft.com/office/drawing/2014/main" id="{C4A57477-5004-E154-0F2D-17DF565A7281}"/>
              </a:ext>
            </a:extLst>
          </p:cNvPr>
          <p:cNvSpPr>
            <a:spLocks noGrp="1"/>
          </p:cNvSpPr>
          <p:nvPr>
            <p:ph idx="1"/>
          </p:nvPr>
        </p:nvSpPr>
        <p:spPr/>
        <p:txBody>
          <a:bodyPr>
            <a:normAutofit/>
          </a:bodyPr>
          <a:lstStyle/>
          <a:p>
            <a:r>
              <a:rPr lang="en-US" sz="2800" dirty="0"/>
              <a:t>applications can choose to store dates and times in any of these formats and freely convert between formats using the built-in date and time functions</a:t>
            </a:r>
          </a:p>
          <a:p>
            <a:r>
              <a:rPr lang="en-US" sz="2800" dirty="0"/>
              <a:t>the </a:t>
            </a:r>
            <a:r>
              <a:rPr lang="en-US" sz="2800" i="1" dirty="0"/>
              <a:t>day</a:t>
            </a:r>
            <a:r>
              <a:rPr lang="en-US" sz="2800" dirty="0"/>
              <a:t> will be INTEGER in SQLite and DATE in </a:t>
            </a:r>
            <a:r>
              <a:rPr lang="en-US" sz="2800" dirty="0" err="1"/>
              <a:t>PostGreSQL</a:t>
            </a:r>
            <a:r>
              <a:rPr lang="en-US" sz="2800" dirty="0"/>
              <a:t> …</a:t>
            </a:r>
          </a:p>
        </p:txBody>
      </p:sp>
      <p:sp>
        <p:nvSpPr>
          <p:cNvPr id="4" name="Slide Number Placeholder 3">
            <a:extLst>
              <a:ext uri="{FF2B5EF4-FFF2-40B4-BE49-F238E27FC236}">
                <a16:creationId xmlns:a16="http://schemas.microsoft.com/office/drawing/2014/main" id="{1EC6CE9F-F23B-0124-4EB8-968683F45297}"/>
              </a:ext>
            </a:extLst>
          </p:cNvPr>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2634028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A5662-3A63-B8E8-D83D-04DE5A007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53D39-3BDC-EA02-455B-A091E419B63D}"/>
              </a:ext>
            </a:extLst>
          </p:cNvPr>
          <p:cNvSpPr>
            <a:spLocks noGrp="1"/>
          </p:cNvSpPr>
          <p:nvPr>
            <p:ph type="title"/>
          </p:nvPr>
        </p:nvSpPr>
        <p:spPr/>
        <p:txBody>
          <a:bodyPr/>
          <a:lstStyle/>
          <a:p>
            <a:r>
              <a:rPr lang="en-US" dirty="0"/>
              <a:t>SQLite</a:t>
            </a:r>
          </a:p>
        </p:txBody>
      </p:sp>
      <p:sp>
        <p:nvSpPr>
          <p:cNvPr id="3" name="Content Placeholder 2">
            <a:extLst>
              <a:ext uri="{FF2B5EF4-FFF2-40B4-BE49-F238E27FC236}">
                <a16:creationId xmlns:a16="http://schemas.microsoft.com/office/drawing/2014/main" id="{992A3D05-96E3-BB9F-6DF2-1B4C6B673B28}"/>
              </a:ext>
            </a:extLst>
          </p:cNvPr>
          <p:cNvSpPr>
            <a:spLocks noGrp="1"/>
          </p:cNvSpPr>
          <p:nvPr>
            <p:ph idx="1"/>
          </p:nvPr>
        </p:nvSpPr>
        <p:spPr/>
        <p:txBody>
          <a:bodyPr>
            <a:normAutofit/>
          </a:bodyPr>
          <a:lstStyle/>
          <a:p>
            <a:r>
              <a:rPr lang="en-US" dirty="0"/>
              <a:t>Applications can choose to store dates and times in any of these formats and freely convert between formats using the built-in date and time functions. The </a:t>
            </a:r>
            <a:r>
              <a:rPr lang="en-US" i="1" dirty="0"/>
              <a:t>day</a:t>
            </a:r>
            <a:r>
              <a:rPr lang="en-US" dirty="0"/>
              <a:t> will be INTEGER in SQLite and DATE in </a:t>
            </a:r>
            <a:r>
              <a:rPr lang="en-US" dirty="0" err="1"/>
              <a:t>PostGreSQL</a:t>
            </a:r>
            <a:r>
              <a:rPr lang="en-US" dirty="0"/>
              <a:t> …</a:t>
            </a:r>
          </a:p>
        </p:txBody>
      </p:sp>
      <p:sp>
        <p:nvSpPr>
          <p:cNvPr id="4" name="Slide Number Placeholder 3">
            <a:extLst>
              <a:ext uri="{FF2B5EF4-FFF2-40B4-BE49-F238E27FC236}">
                <a16:creationId xmlns:a16="http://schemas.microsoft.com/office/drawing/2014/main" id="{F4FA6454-DB49-65BF-125E-43450711B52F}"/>
              </a:ext>
            </a:extLst>
          </p:cNvPr>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6546538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81BE1-01A6-9BF3-8A89-6534F03D0F6F}"/>
              </a:ext>
            </a:extLst>
          </p:cNvPr>
          <p:cNvSpPr>
            <a:spLocks noGrp="1"/>
          </p:cNvSpPr>
          <p:nvPr>
            <p:ph type="title"/>
          </p:nvPr>
        </p:nvSpPr>
        <p:spPr/>
        <p:txBody>
          <a:bodyPr>
            <a:normAutofit/>
          </a:bodyPr>
          <a:lstStyle/>
          <a:p>
            <a:r>
              <a:rPr lang="en-US" sz="3700" dirty="0"/>
              <a:t>Right click on Keys to Create New Key</a:t>
            </a:r>
          </a:p>
        </p:txBody>
      </p:sp>
      <p:sp>
        <p:nvSpPr>
          <p:cNvPr id="3" name="Content Placeholder 2">
            <a:extLst>
              <a:ext uri="{FF2B5EF4-FFF2-40B4-BE49-F238E27FC236}">
                <a16:creationId xmlns:a16="http://schemas.microsoft.com/office/drawing/2014/main" id="{40C38FAE-8E3A-500F-61EA-FBF83FB887D1}"/>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1EEDA29A-11AC-6A96-B04E-4E807A4582CB}"/>
              </a:ext>
            </a:extLst>
          </p:cNvPr>
          <p:cNvSpPr>
            <a:spLocks noGrp="1"/>
          </p:cNvSpPr>
          <p:nvPr>
            <p:ph type="sldNum" sz="quarter" idx="12"/>
          </p:nvPr>
        </p:nvSpPr>
        <p:spPr/>
        <p:txBody>
          <a:bodyPr/>
          <a:lstStyle/>
          <a:p>
            <a:fld id="{B6F15528-21DE-4FAA-801E-634DDDAF4B2B}" type="slidenum">
              <a:rPr lang="en-US" smtClean="0"/>
              <a:pPr/>
              <a:t>53</a:t>
            </a:fld>
            <a:endParaRPr lang="en-US"/>
          </a:p>
        </p:txBody>
      </p:sp>
      <p:pic>
        <p:nvPicPr>
          <p:cNvPr id="5" name="Picture 4" descr="A screenshot of a computer&#10;&#10;AI-generated content may be incorrect.">
            <a:extLst>
              <a:ext uri="{FF2B5EF4-FFF2-40B4-BE49-F238E27FC236}">
                <a16:creationId xmlns:a16="http://schemas.microsoft.com/office/drawing/2014/main" id="{3604114C-8BC3-6D3A-3431-A6CD8A8725C2}"/>
              </a:ext>
            </a:extLst>
          </p:cNvPr>
          <p:cNvPicPr>
            <a:picLocks noChangeAspect="1"/>
          </p:cNvPicPr>
          <p:nvPr/>
        </p:nvPicPr>
        <p:blipFill>
          <a:blip r:embed="rId2"/>
          <a:stretch>
            <a:fillRect/>
          </a:stretch>
        </p:blipFill>
        <p:spPr>
          <a:xfrm>
            <a:off x="914400" y="1371600"/>
            <a:ext cx="7361558" cy="5315411"/>
          </a:xfrm>
          <a:prstGeom prst="rect">
            <a:avLst/>
          </a:prstGeom>
        </p:spPr>
      </p:pic>
    </p:spTree>
    <p:extLst>
      <p:ext uri="{BB962C8B-B14F-4D97-AF65-F5344CB8AC3E}">
        <p14:creationId xmlns:p14="http://schemas.microsoft.com/office/powerpoint/2010/main" val="38325444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F09CD-448B-18D6-B174-C07450887C95}"/>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0E26BBF0-2FC6-D1A2-B03A-37804C08D00C}"/>
              </a:ext>
            </a:extLst>
          </p:cNvPr>
          <p:cNvSpPr>
            <a:spLocks noGrp="1"/>
          </p:cNvSpPr>
          <p:nvPr>
            <p:ph type="sldNum" sz="quarter" idx="12"/>
          </p:nvPr>
        </p:nvSpPr>
        <p:spPr/>
        <p:txBody>
          <a:bodyPr/>
          <a:lstStyle/>
          <a:p>
            <a:fld id="{B6F15528-21DE-4FAA-801E-634DDDAF4B2B}" type="slidenum">
              <a:rPr lang="en-US" smtClean="0"/>
              <a:pPr/>
              <a:t>54</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B56A7F7A-C6B4-5BC9-88C8-8DD41A0982A9}"/>
              </a:ext>
            </a:extLst>
          </p:cNvPr>
          <p:cNvPicPr>
            <a:picLocks noGrp="1" noChangeAspect="1"/>
          </p:cNvPicPr>
          <p:nvPr>
            <p:ph idx="1"/>
          </p:nvPr>
        </p:nvPicPr>
        <p:blipFill>
          <a:blip r:embed="rId2"/>
          <a:stretch>
            <a:fillRect/>
          </a:stretch>
        </p:blipFill>
        <p:spPr>
          <a:xfrm>
            <a:off x="548640" y="365760"/>
            <a:ext cx="7761642" cy="6287045"/>
          </a:xfrm>
          <a:prstGeom prst="rect">
            <a:avLst/>
          </a:prstGeom>
        </p:spPr>
      </p:pic>
    </p:spTree>
    <p:extLst>
      <p:ext uri="{BB962C8B-B14F-4D97-AF65-F5344CB8AC3E}">
        <p14:creationId xmlns:p14="http://schemas.microsoft.com/office/powerpoint/2010/main" val="30778758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C7CE8-04C5-5C5F-360B-19BE126CCB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2A59A0-0B01-84EF-A94F-B19A6C05C56D}"/>
              </a:ext>
            </a:extLst>
          </p:cNvPr>
          <p:cNvSpPr>
            <a:spLocks noGrp="1"/>
          </p:cNvSpPr>
          <p:nvPr>
            <p:ph idx="1"/>
          </p:nvPr>
        </p:nvSpPr>
        <p:spPr/>
        <p:txBody>
          <a:bodyPr>
            <a:normAutofit/>
          </a:bodyPr>
          <a:lstStyle/>
          <a:p>
            <a:r>
              <a:rPr lang="en-US" b="1" dirty="0"/>
              <a:t>CREATE TABLE </a:t>
            </a:r>
            <a:r>
              <a:rPr lang="en-US" dirty="0"/>
              <a:t>reserve (</a:t>
            </a:r>
          </a:p>
          <a:p>
            <a:r>
              <a:rPr lang="en-US" dirty="0"/>
              <a:t>	</a:t>
            </a:r>
            <a:r>
              <a:rPr lang="en-US" dirty="0" err="1"/>
              <a:t>sid</a:t>
            </a:r>
            <a:r>
              <a:rPr lang="en-US" dirty="0"/>
              <a:t> </a:t>
            </a:r>
            <a:r>
              <a:rPr lang="en-US" b="1" dirty="0"/>
              <a:t>INTEGER</a:t>
            </a:r>
            <a:r>
              <a:rPr lang="en-US" dirty="0"/>
              <a:t>,</a:t>
            </a:r>
          </a:p>
          <a:p>
            <a:r>
              <a:rPr lang="en-US" dirty="0"/>
              <a:t>	bid </a:t>
            </a:r>
            <a:r>
              <a:rPr lang="en-US" b="1" dirty="0"/>
              <a:t>INTEGE</a:t>
            </a:r>
            <a:r>
              <a:rPr lang="en-US" dirty="0"/>
              <a:t>R,</a:t>
            </a:r>
          </a:p>
          <a:p>
            <a:r>
              <a:rPr lang="en-US" dirty="0"/>
              <a:t>	"day" </a:t>
            </a:r>
            <a:r>
              <a:rPr lang="en-US" b="1" dirty="0"/>
              <a:t>INTEGE</a:t>
            </a:r>
            <a:r>
              <a:rPr lang="en-US" dirty="0"/>
              <a:t>R,</a:t>
            </a:r>
          </a:p>
          <a:p>
            <a:r>
              <a:rPr lang="en-US" dirty="0"/>
              <a:t>	</a:t>
            </a:r>
            <a:r>
              <a:rPr lang="en-US" i="1" dirty="0"/>
              <a:t>CONSTRAINT </a:t>
            </a:r>
            <a:r>
              <a:rPr lang="en-US" i="1" dirty="0" err="1"/>
              <a:t>reserve_pk</a:t>
            </a:r>
            <a:r>
              <a:rPr lang="en-US" i="1" dirty="0"/>
              <a:t> PRIMARY KEY (</a:t>
            </a:r>
            <a:r>
              <a:rPr lang="en-US" i="1" dirty="0" err="1"/>
              <a:t>sid,bid,"day</a:t>
            </a:r>
            <a:r>
              <a:rPr lang="en-US" i="1" dirty="0"/>
              <a:t>")</a:t>
            </a:r>
          </a:p>
          <a:p>
            <a:r>
              <a:rPr lang="en-US" dirty="0"/>
              <a:t>);</a:t>
            </a:r>
          </a:p>
        </p:txBody>
      </p:sp>
      <p:sp>
        <p:nvSpPr>
          <p:cNvPr id="4" name="Slide Number Placeholder 3">
            <a:extLst>
              <a:ext uri="{FF2B5EF4-FFF2-40B4-BE49-F238E27FC236}">
                <a16:creationId xmlns:a16="http://schemas.microsoft.com/office/drawing/2014/main" id="{A9B89AA7-ADA0-B75A-9F05-BA33E0A38EE7}"/>
              </a:ext>
            </a:extLst>
          </p:cNvPr>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41433932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9920-1C0A-9898-FF75-5DDC3B3F30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90184D-719A-3958-F2D9-7659FEACCBC6}"/>
              </a:ext>
            </a:extLst>
          </p:cNvPr>
          <p:cNvSpPr>
            <a:spLocks noGrp="1"/>
          </p:cNvSpPr>
          <p:nvPr>
            <p:ph idx="1"/>
          </p:nvPr>
        </p:nvSpPr>
        <p:spPr/>
        <p:txBody>
          <a:bodyPr>
            <a:normAutofit/>
          </a:bodyPr>
          <a:lstStyle/>
          <a:p>
            <a:r>
              <a:rPr lang="en-US" sz="2800" dirty="0"/>
              <a:t>not encourage the use of reserved keywords as column names: day, user, ...</a:t>
            </a:r>
          </a:p>
          <a:p>
            <a:r>
              <a:rPr lang="en-US" sz="2800" dirty="0"/>
              <a:t>only place on which we will argue that it is better to use safe Romanian names like zi, </a:t>
            </a:r>
            <a:r>
              <a:rPr lang="en-US" sz="2800" dirty="0" err="1"/>
              <a:t>utilizator</a:t>
            </a:r>
            <a:r>
              <a:rPr lang="en-US" sz="2800" dirty="0"/>
              <a:t>, ...</a:t>
            </a:r>
          </a:p>
          <a:p>
            <a:r>
              <a:rPr lang="en-US" sz="2800" dirty="0"/>
              <a:t>otherwise, such columns names will hunt you back and bite in the a…s in the most truly unexpected ways. So be careful! </a:t>
            </a:r>
          </a:p>
        </p:txBody>
      </p:sp>
      <p:sp>
        <p:nvSpPr>
          <p:cNvPr id="4" name="Slide Number Placeholder 3">
            <a:extLst>
              <a:ext uri="{FF2B5EF4-FFF2-40B4-BE49-F238E27FC236}">
                <a16:creationId xmlns:a16="http://schemas.microsoft.com/office/drawing/2014/main" id="{BD68868E-F27E-4C2D-5851-CA32185A19FB}"/>
              </a:ext>
            </a:extLst>
          </p:cNvPr>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19706481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ADAD8-2291-B151-64CD-B52BE9739C50}"/>
              </a:ext>
            </a:extLst>
          </p:cNvPr>
          <p:cNvSpPr>
            <a:spLocks noGrp="1"/>
          </p:cNvSpPr>
          <p:nvPr>
            <p:ph type="title"/>
          </p:nvPr>
        </p:nvSpPr>
        <p:spPr/>
        <p:txBody>
          <a:bodyPr>
            <a:noAutofit/>
          </a:bodyPr>
          <a:lstStyle/>
          <a:p>
            <a:r>
              <a:rPr lang="en-US" sz="3700" dirty="0"/>
              <a:t>Right click on Foreign Keys to </a:t>
            </a:r>
            <a:br>
              <a:rPr lang="en-US" sz="3700" dirty="0"/>
            </a:br>
            <a:r>
              <a:rPr lang="en-US" sz="3700" dirty="0"/>
              <a:t>Create New Foreign Key</a:t>
            </a:r>
          </a:p>
        </p:txBody>
      </p:sp>
      <p:sp>
        <p:nvSpPr>
          <p:cNvPr id="4" name="Slide Number Placeholder 3">
            <a:extLst>
              <a:ext uri="{FF2B5EF4-FFF2-40B4-BE49-F238E27FC236}">
                <a16:creationId xmlns:a16="http://schemas.microsoft.com/office/drawing/2014/main" id="{7D6D45E6-8132-A95E-D19A-030BC795898D}"/>
              </a:ext>
            </a:extLst>
          </p:cNvPr>
          <p:cNvSpPr>
            <a:spLocks noGrp="1"/>
          </p:cNvSpPr>
          <p:nvPr>
            <p:ph type="sldNum" sz="quarter" idx="12"/>
          </p:nvPr>
        </p:nvSpPr>
        <p:spPr/>
        <p:txBody>
          <a:bodyPr/>
          <a:lstStyle/>
          <a:p>
            <a:fld id="{B6F15528-21DE-4FAA-801E-634DDDAF4B2B}" type="slidenum">
              <a:rPr lang="en-US" smtClean="0"/>
              <a:pPr/>
              <a:t>57</a:t>
            </a:fld>
            <a:endParaRPr lang="en-US"/>
          </a:p>
        </p:txBody>
      </p:sp>
      <p:pic>
        <p:nvPicPr>
          <p:cNvPr id="6" name="Content Placeholder 5">
            <a:extLst>
              <a:ext uri="{FF2B5EF4-FFF2-40B4-BE49-F238E27FC236}">
                <a16:creationId xmlns:a16="http://schemas.microsoft.com/office/drawing/2014/main" id="{E8BDCB3D-627D-3352-416C-D52321317A07}"/>
              </a:ext>
            </a:extLst>
          </p:cNvPr>
          <p:cNvPicPr>
            <a:picLocks noGrp="1" noChangeAspect="1"/>
          </p:cNvPicPr>
          <p:nvPr>
            <p:ph idx="1"/>
          </p:nvPr>
        </p:nvPicPr>
        <p:blipFill>
          <a:blip r:embed="rId2"/>
          <a:stretch>
            <a:fillRect/>
          </a:stretch>
        </p:blipFill>
        <p:spPr>
          <a:xfrm>
            <a:off x="914400" y="1371600"/>
            <a:ext cx="6781800" cy="5333260"/>
          </a:xfrm>
          <a:prstGeom prst="rect">
            <a:avLst/>
          </a:prstGeom>
        </p:spPr>
      </p:pic>
    </p:spTree>
    <p:extLst>
      <p:ext uri="{BB962C8B-B14F-4D97-AF65-F5344CB8AC3E}">
        <p14:creationId xmlns:p14="http://schemas.microsoft.com/office/powerpoint/2010/main" val="26542426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57359-6156-3CE9-D654-74B9B127A857}"/>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F372EFC2-D668-0FE2-7CD8-136559DC765A}"/>
              </a:ext>
            </a:extLst>
          </p:cNvPr>
          <p:cNvSpPr>
            <a:spLocks noGrp="1"/>
          </p:cNvSpPr>
          <p:nvPr>
            <p:ph type="sldNum" sz="quarter" idx="12"/>
          </p:nvPr>
        </p:nvSpPr>
        <p:spPr/>
        <p:txBody>
          <a:bodyPr/>
          <a:lstStyle/>
          <a:p>
            <a:fld id="{B6F15528-21DE-4FAA-801E-634DDDAF4B2B}" type="slidenum">
              <a:rPr lang="en-US" smtClean="0"/>
              <a:pPr/>
              <a:t>58</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4D334DB2-F5E5-A767-CD14-76FEEB3F70CC}"/>
              </a:ext>
            </a:extLst>
          </p:cNvPr>
          <p:cNvPicPr>
            <a:picLocks noGrp="1" noChangeAspect="1"/>
          </p:cNvPicPr>
          <p:nvPr>
            <p:ph idx="1"/>
          </p:nvPr>
        </p:nvPicPr>
        <p:blipFill>
          <a:blip r:embed="rId2"/>
          <a:stretch>
            <a:fillRect/>
          </a:stretch>
        </p:blipFill>
        <p:spPr>
          <a:xfrm>
            <a:off x="1371600" y="182880"/>
            <a:ext cx="6486401" cy="6533268"/>
          </a:xfrm>
          <a:prstGeom prst="rect">
            <a:avLst/>
          </a:prstGeom>
        </p:spPr>
      </p:pic>
    </p:spTree>
    <p:extLst>
      <p:ext uri="{BB962C8B-B14F-4D97-AF65-F5344CB8AC3E}">
        <p14:creationId xmlns:p14="http://schemas.microsoft.com/office/powerpoint/2010/main" val="30801919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9778F-4B9F-EC30-23FA-56D6B47562CC}"/>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1892EC5D-293F-358A-3045-9E23F02FD686}"/>
              </a:ext>
            </a:extLst>
          </p:cNvPr>
          <p:cNvSpPr>
            <a:spLocks noGrp="1"/>
          </p:cNvSpPr>
          <p:nvPr>
            <p:ph type="sldNum" sz="quarter" idx="12"/>
          </p:nvPr>
        </p:nvSpPr>
        <p:spPr/>
        <p:txBody>
          <a:bodyPr/>
          <a:lstStyle/>
          <a:p>
            <a:fld id="{B6F15528-21DE-4FAA-801E-634DDDAF4B2B}" type="slidenum">
              <a:rPr lang="en-US" smtClean="0"/>
              <a:pPr/>
              <a:t>59</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783AF71F-42FF-2FC3-8727-20E231F4ACE7}"/>
              </a:ext>
            </a:extLst>
          </p:cNvPr>
          <p:cNvPicPr>
            <a:picLocks noGrp="1" noChangeAspect="1"/>
          </p:cNvPicPr>
          <p:nvPr>
            <p:ph idx="1"/>
          </p:nvPr>
        </p:nvPicPr>
        <p:blipFill>
          <a:blip r:embed="rId2"/>
          <a:stretch>
            <a:fillRect/>
          </a:stretch>
        </p:blipFill>
        <p:spPr>
          <a:xfrm>
            <a:off x="0" y="2011680"/>
            <a:ext cx="9051059" cy="2977544"/>
          </a:xfrm>
          <a:prstGeom prst="rect">
            <a:avLst/>
          </a:prstGeom>
        </p:spPr>
      </p:pic>
    </p:spTree>
    <p:extLst>
      <p:ext uri="{BB962C8B-B14F-4D97-AF65-F5344CB8AC3E}">
        <p14:creationId xmlns:p14="http://schemas.microsoft.com/office/powerpoint/2010/main" val="33401996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318D3-56EB-395D-4C52-BA9ED40F23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53F629-C3FA-DFDA-B6D4-9172C64A485A}"/>
              </a:ext>
            </a:extLst>
          </p:cNvPr>
          <p:cNvSpPr>
            <a:spLocks noGrp="1"/>
          </p:cNvSpPr>
          <p:nvPr>
            <p:ph idx="1"/>
          </p:nvPr>
        </p:nvSpPr>
        <p:spPr>
          <a:xfrm>
            <a:off x="457200" y="274638"/>
            <a:ext cx="8229600" cy="5851525"/>
          </a:xfrm>
        </p:spPr>
        <p:txBody>
          <a:bodyPr>
            <a:noAutofit/>
          </a:bodyPr>
          <a:lstStyle/>
          <a:p>
            <a:r>
              <a:rPr lang="en-US" sz="2800" b="1" dirty="0"/>
              <a:t>CREATE TABLE </a:t>
            </a:r>
            <a:r>
              <a:rPr lang="en-US" sz="2800" dirty="0"/>
              <a:t>reserve (</a:t>
            </a:r>
          </a:p>
          <a:p>
            <a:r>
              <a:rPr lang="en-US" sz="2800" dirty="0"/>
              <a:t>	</a:t>
            </a:r>
            <a:r>
              <a:rPr lang="en-US" sz="2800" dirty="0" err="1"/>
              <a:t>sid</a:t>
            </a:r>
            <a:r>
              <a:rPr lang="en-US" sz="2800" dirty="0"/>
              <a:t> </a:t>
            </a:r>
            <a:r>
              <a:rPr lang="en-US" sz="2800" b="1" dirty="0"/>
              <a:t>INTEGER</a:t>
            </a:r>
            <a:r>
              <a:rPr lang="en-US" sz="2800" dirty="0"/>
              <a:t>,</a:t>
            </a:r>
          </a:p>
          <a:p>
            <a:r>
              <a:rPr lang="en-US" sz="2800" dirty="0"/>
              <a:t>	bid </a:t>
            </a:r>
            <a:r>
              <a:rPr lang="en-US" sz="2800" b="1" dirty="0"/>
              <a:t>INTEGER</a:t>
            </a:r>
            <a:r>
              <a:rPr lang="en-US" sz="2800" dirty="0"/>
              <a:t>,</a:t>
            </a:r>
          </a:p>
          <a:p>
            <a:r>
              <a:rPr lang="en-US" sz="2800" dirty="0"/>
              <a:t>	"day" </a:t>
            </a:r>
            <a:r>
              <a:rPr lang="en-US" sz="2800" b="1" dirty="0"/>
              <a:t>INTEGER</a:t>
            </a:r>
            <a:r>
              <a:rPr lang="en-US" sz="2800" dirty="0"/>
              <a:t>,</a:t>
            </a:r>
          </a:p>
          <a:p>
            <a:r>
              <a:rPr lang="en-US" sz="2800" dirty="0"/>
              <a:t>	CONSTRAINT </a:t>
            </a:r>
            <a:r>
              <a:rPr lang="en-US" sz="2800" dirty="0" err="1"/>
              <a:t>reserve_pk</a:t>
            </a:r>
            <a:r>
              <a:rPr lang="en-US" sz="2800" dirty="0"/>
              <a:t> PRIMARY KEY (</a:t>
            </a:r>
            <a:r>
              <a:rPr lang="en-US" sz="2800" dirty="0" err="1"/>
              <a:t>sid,bid,"day</a:t>
            </a:r>
            <a:r>
              <a:rPr lang="en-US" sz="2800" dirty="0"/>
              <a:t>"),</a:t>
            </a:r>
          </a:p>
          <a:p>
            <a:r>
              <a:rPr lang="en-US" sz="2800" i="1" dirty="0"/>
              <a:t>	CONSTRAINT </a:t>
            </a:r>
            <a:r>
              <a:rPr lang="en-US" sz="2800" i="1" dirty="0" err="1"/>
              <a:t>reserve_boat_FK</a:t>
            </a:r>
            <a:r>
              <a:rPr lang="en-US" sz="2800" i="1" dirty="0"/>
              <a:t> FOREIGN KEY (bid) REFERENCES boat(bid) ON DELETE RESTRICT ON UPDATE RESTRICT,</a:t>
            </a:r>
            <a:endParaRPr lang="en-US" sz="2800" dirty="0"/>
          </a:p>
          <a:p>
            <a:r>
              <a:rPr lang="en-US" sz="2800" i="1" dirty="0"/>
              <a:t>	CONSTRAINT </a:t>
            </a:r>
            <a:r>
              <a:rPr lang="en-US" sz="2800" i="1" dirty="0" err="1"/>
              <a:t>reserve_sailor_FK</a:t>
            </a:r>
            <a:r>
              <a:rPr lang="en-US" sz="2800" i="1" dirty="0"/>
              <a:t> FOREIGN KEY (</a:t>
            </a:r>
            <a:r>
              <a:rPr lang="en-US" sz="2800" i="1" dirty="0" err="1"/>
              <a:t>sid</a:t>
            </a:r>
            <a:r>
              <a:rPr lang="en-US" sz="2800" i="1" dirty="0"/>
              <a:t>) REFERENCES sailor(</a:t>
            </a:r>
            <a:r>
              <a:rPr lang="en-US" sz="2800" i="1" dirty="0" err="1"/>
              <a:t>sid</a:t>
            </a:r>
            <a:r>
              <a:rPr lang="en-US" sz="2800" i="1" dirty="0"/>
              <a:t>) ON DELETE RESTRICT ON UPDATE RESTRICT</a:t>
            </a:r>
            <a:endParaRPr lang="en-US" sz="2800" dirty="0"/>
          </a:p>
          <a:p>
            <a:r>
              <a:rPr lang="en-US" sz="2800" dirty="0"/>
              <a:t>);</a:t>
            </a:r>
          </a:p>
        </p:txBody>
      </p:sp>
      <p:sp>
        <p:nvSpPr>
          <p:cNvPr id="4" name="Slide Number Placeholder 3">
            <a:extLst>
              <a:ext uri="{FF2B5EF4-FFF2-40B4-BE49-F238E27FC236}">
                <a16:creationId xmlns:a16="http://schemas.microsoft.com/office/drawing/2014/main" id="{DF3FD61D-C32A-7BEB-F758-42A05412B080}"/>
              </a:ext>
            </a:extLst>
          </p:cNvPr>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8452397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842BB-E668-2143-9DB7-1F3534506B24}"/>
              </a:ext>
            </a:extLst>
          </p:cNvPr>
          <p:cNvSpPr>
            <a:spLocks noGrp="1"/>
          </p:cNvSpPr>
          <p:nvPr>
            <p:ph type="title"/>
          </p:nvPr>
        </p:nvSpPr>
        <p:spPr/>
        <p:txBody>
          <a:bodyPr>
            <a:normAutofit/>
          </a:bodyPr>
          <a:lstStyle/>
          <a:p>
            <a:r>
              <a:rPr lang="en-US" dirty="0"/>
              <a:t>View </a:t>
            </a:r>
            <a:r>
              <a:rPr lang="en-US" b="1" dirty="0"/>
              <a:t>E</a:t>
            </a:r>
            <a:r>
              <a:rPr lang="en-US" dirty="0"/>
              <a:t>ntity-</a:t>
            </a:r>
            <a:r>
              <a:rPr lang="en-US" b="1" dirty="0"/>
              <a:t>R</a:t>
            </a:r>
            <a:r>
              <a:rPr lang="en-US" dirty="0"/>
              <a:t>elationship Diagram</a:t>
            </a:r>
          </a:p>
        </p:txBody>
      </p:sp>
      <p:sp>
        <p:nvSpPr>
          <p:cNvPr id="3" name="Content Placeholder 2">
            <a:extLst>
              <a:ext uri="{FF2B5EF4-FFF2-40B4-BE49-F238E27FC236}">
                <a16:creationId xmlns:a16="http://schemas.microsoft.com/office/drawing/2014/main" id="{6CA60F9E-092D-E719-A3D1-837F899E6048}"/>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38628D97-9055-EBA0-76CA-EE160D2786BA}"/>
              </a:ext>
            </a:extLst>
          </p:cNvPr>
          <p:cNvSpPr>
            <a:spLocks noGrp="1"/>
          </p:cNvSpPr>
          <p:nvPr>
            <p:ph type="sldNum" sz="quarter" idx="12"/>
          </p:nvPr>
        </p:nvSpPr>
        <p:spPr/>
        <p:txBody>
          <a:bodyPr/>
          <a:lstStyle/>
          <a:p>
            <a:fld id="{B6F15528-21DE-4FAA-801E-634DDDAF4B2B}" type="slidenum">
              <a:rPr lang="en-US" smtClean="0"/>
              <a:pPr/>
              <a:t>61</a:t>
            </a:fld>
            <a:endParaRPr lang="en-US"/>
          </a:p>
        </p:txBody>
      </p:sp>
      <p:pic>
        <p:nvPicPr>
          <p:cNvPr id="5" name="Picture 4">
            <a:extLst>
              <a:ext uri="{FF2B5EF4-FFF2-40B4-BE49-F238E27FC236}">
                <a16:creationId xmlns:a16="http://schemas.microsoft.com/office/drawing/2014/main" id="{D53AF134-F031-6549-9F52-872488157D34}"/>
              </a:ext>
            </a:extLst>
          </p:cNvPr>
          <p:cNvPicPr>
            <a:picLocks noChangeAspect="1"/>
          </p:cNvPicPr>
          <p:nvPr/>
        </p:nvPicPr>
        <p:blipFill>
          <a:blip r:embed="rId2"/>
          <a:stretch>
            <a:fillRect/>
          </a:stretch>
        </p:blipFill>
        <p:spPr>
          <a:xfrm>
            <a:off x="2103120" y="1097280"/>
            <a:ext cx="4488569" cy="5265876"/>
          </a:xfrm>
          <a:prstGeom prst="rect">
            <a:avLst/>
          </a:prstGeom>
        </p:spPr>
      </p:pic>
    </p:spTree>
    <p:extLst>
      <p:ext uri="{BB962C8B-B14F-4D97-AF65-F5344CB8AC3E}">
        <p14:creationId xmlns:p14="http://schemas.microsoft.com/office/powerpoint/2010/main" val="32322864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FDCFF-4FB9-6868-C684-018E65C3AB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34328C-4489-C745-EAAE-1AEBC222808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DBC90BD-D96B-AEA5-9CAD-80301CA16AD8}"/>
              </a:ext>
            </a:extLst>
          </p:cNvPr>
          <p:cNvSpPr>
            <a:spLocks noGrp="1"/>
          </p:cNvSpPr>
          <p:nvPr>
            <p:ph type="sldNum" sz="quarter" idx="12"/>
          </p:nvPr>
        </p:nvSpPr>
        <p:spPr/>
        <p:txBody>
          <a:bodyPr/>
          <a:lstStyle/>
          <a:p>
            <a:fld id="{B6F15528-21DE-4FAA-801E-634DDDAF4B2B}" type="slidenum">
              <a:rPr lang="en-US" smtClean="0"/>
              <a:pPr/>
              <a:t>62</a:t>
            </a:fld>
            <a:endParaRPr lang="en-US"/>
          </a:p>
        </p:txBody>
      </p:sp>
      <p:pic>
        <p:nvPicPr>
          <p:cNvPr id="5" name="Picture 4">
            <a:extLst>
              <a:ext uri="{FF2B5EF4-FFF2-40B4-BE49-F238E27FC236}">
                <a16:creationId xmlns:a16="http://schemas.microsoft.com/office/drawing/2014/main" id="{E46BB1F1-34F9-966F-91A5-A9019DF91282}"/>
              </a:ext>
            </a:extLst>
          </p:cNvPr>
          <p:cNvPicPr>
            <a:picLocks noChangeAspect="1"/>
          </p:cNvPicPr>
          <p:nvPr/>
        </p:nvPicPr>
        <p:blipFill>
          <a:blip r:embed="rId2"/>
          <a:stretch>
            <a:fillRect/>
          </a:stretch>
        </p:blipFill>
        <p:spPr>
          <a:xfrm>
            <a:off x="1828800" y="91440"/>
            <a:ext cx="5171381" cy="6722794"/>
          </a:xfrm>
          <a:prstGeom prst="rect">
            <a:avLst/>
          </a:prstGeom>
        </p:spPr>
      </p:pic>
    </p:spTree>
    <p:extLst>
      <p:ext uri="{BB962C8B-B14F-4D97-AF65-F5344CB8AC3E}">
        <p14:creationId xmlns:p14="http://schemas.microsoft.com/office/powerpoint/2010/main" val="1677665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EFDAA-F692-A2D7-F698-0FAFE108EF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64C1463-AE9A-E906-83A7-87CF7D83DEA3}"/>
              </a:ext>
            </a:extLst>
          </p:cNvPr>
          <p:cNvSpPr>
            <a:spLocks noGrp="1"/>
          </p:cNvSpPr>
          <p:nvPr>
            <p:ph idx="1"/>
          </p:nvPr>
        </p:nvSpPr>
        <p:spPr/>
        <p:txBody>
          <a:bodyPr>
            <a:normAutofit/>
          </a:bodyPr>
          <a:lstStyle/>
          <a:p>
            <a:r>
              <a:rPr lang="en-US" sz="3000" dirty="0"/>
              <a:t>the </a:t>
            </a:r>
            <a:r>
              <a:rPr lang="en-US" sz="3000" b="1" dirty="0"/>
              <a:t>DROP TABLE statement</a:t>
            </a:r>
            <a:r>
              <a:rPr lang="en-US" sz="3000" dirty="0"/>
              <a:t> is used to drop an existing table in a database. Syntax:</a:t>
            </a:r>
          </a:p>
          <a:p>
            <a:r>
              <a:rPr lang="en-US" sz="3000" dirty="0"/>
              <a:t>DROP TABLE </a:t>
            </a:r>
            <a:r>
              <a:rPr lang="en-US" sz="3000" dirty="0" err="1"/>
              <a:t>table_name</a:t>
            </a:r>
            <a:r>
              <a:rPr lang="en-US" sz="3000" dirty="0"/>
              <a:t>;</a:t>
            </a:r>
          </a:p>
          <a:p>
            <a:endParaRPr lang="en-US" sz="3000" dirty="0"/>
          </a:p>
        </p:txBody>
      </p:sp>
      <p:sp>
        <p:nvSpPr>
          <p:cNvPr id="4" name="Slide Number Placeholder 3">
            <a:extLst>
              <a:ext uri="{FF2B5EF4-FFF2-40B4-BE49-F238E27FC236}">
                <a16:creationId xmlns:a16="http://schemas.microsoft.com/office/drawing/2014/main" id="{03318F1E-DBA8-6FA7-0C51-45BA06D5F591}"/>
              </a:ext>
            </a:extLst>
          </p:cNvPr>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26457335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DAFCD-0197-1580-5638-F6427120EF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026F56-177D-27EB-5189-EFCF78086242}"/>
              </a:ext>
            </a:extLst>
          </p:cNvPr>
          <p:cNvSpPr>
            <a:spLocks noGrp="1"/>
          </p:cNvSpPr>
          <p:nvPr>
            <p:ph idx="1"/>
          </p:nvPr>
        </p:nvSpPr>
        <p:spPr/>
        <p:txBody>
          <a:bodyPr>
            <a:normAutofit/>
          </a:bodyPr>
          <a:lstStyle/>
          <a:p>
            <a:r>
              <a:rPr lang="en-US" sz="3000" dirty="0"/>
              <a:t>the </a:t>
            </a:r>
            <a:r>
              <a:rPr lang="en-US" sz="3000" b="1" dirty="0"/>
              <a:t>ALTER TABLE statement</a:t>
            </a:r>
            <a:r>
              <a:rPr lang="en-US" sz="3000" dirty="0"/>
              <a:t> is used to add, delete, or modify columns in an existing table and also used to add and drop various constraints on an existing table</a:t>
            </a:r>
          </a:p>
          <a:p>
            <a:r>
              <a:rPr lang="en-US" sz="3000" dirty="0"/>
              <a:t>to add column in table, use the following syntax:</a:t>
            </a:r>
          </a:p>
          <a:p>
            <a:r>
              <a:rPr lang="en-US" sz="3000" dirty="0"/>
              <a:t>ALTER TABLE </a:t>
            </a:r>
            <a:r>
              <a:rPr lang="en-US" sz="3000" dirty="0" err="1"/>
              <a:t>table_name</a:t>
            </a:r>
            <a:r>
              <a:rPr lang="en-US" sz="3000" dirty="0"/>
              <a:t>	ADD </a:t>
            </a:r>
            <a:r>
              <a:rPr lang="en-US" sz="3000" dirty="0" err="1"/>
              <a:t>column_name</a:t>
            </a:r>
            <a:r>
              <a:rPr lang="en-US" sz="3000" dirty="0"/>
              <a:t> datatype;</a:t>
            </a:r>
          </a:p>
          <a:p>
            <a:r>
              <a:rPr lang="en-US" sz="2800" dirty="0">
                <a:latin typeface="Courier New" panose="02070309020205020404" pitchFamily="49" charset="0"/>
                <a:cs typeface="Courier New" panose="02070309020205020404" pitchFamily="49" charset="0"/>
              </a:rPr>
              <a:t>ALTER TABLE sailor	ADD Email varchar(255);</a:t>
            </a:r>
          </a:p>
          <a:p>
            <a:endParaRPr lang="en-US" sz="3000" dirty="0"/>
          </a:p>
          <a:p>
            <a:endParaRPr lang="en-US" sz="3000" dirty="0"/>
          </a:p>
        </p:txBody>
      </p:sp>
      <p:sp>
        <p:nvSpPr>
          <p:cNvPr id="4" name="Slide Number Placeholder 3">
            <a:extLst>
              <a:ext uri="{FF2B5EF4-FFF2-40B4-BE49-F238E27FC236}">
                <a16:creationId xmlns:a16="http://schemas.microsoft.com/office/drawing/2014/main" id="{90704756-90B2-D048-91A0-7726ECF0F3E1}"/>
              </a:ext>
            </a:extLst>
          </p:cNvPr>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37494357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E303D-1C5A-5796-F091-20E4C7D80E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C7F311-488E-F91A-1739-38408F0646AA}"/>
              </a:ext>
            </a:extLst>
          </p:cNvPr>
          <p:cNvSpPr>
            <a:spLocks noGrp="1"/>
          </p:cNvSpPr>
          <p:nvPr>
            <p:ph idx="1"/>
          </p:nvPr>
        </p:nvSpPr>
        <p:spPr/>
        <p:txBody>
          <a:bodyPr>
            <a:normAutofit fontScale="92500" lnSpcReduction="20000"/>
          </a:bodyPr>
          <a:lstStyle/>
          <a:p>
            <a:r>
              <a:rPr lang="en-US" dirty="0"/>
              <a:t>to delete a column in table, use following syntax:</a:t>
            </a:r>
          </a:p>
          <a:p>
            <a:r>
              <a:rPr lang="en-US" dirty="0"/>
              <a:t>ALTER TABLE </a:t>
            </a:r>
            <a:r>
              <a:rPr lang="en-US" dirty="0" err="1"/>
              <a:t>table_name</a:t>
            </a:r>
            <a:r>
              <a:rPr lang="en-US" dirty="0"/>
              <a:t>		DROP COLUMN </a:t>
            </a:r>
            <a:r>
              <a:rPr lang="en-US" dirty="0" err="1"/>
              <a:t>column_name</a:t>
            </a:r>
            <a:r>
              <a:rPr lang="en-US" dirty="0"/>
              <a:t>;</a:t>
            </a:r>
          </a:p>
          <a:p>
            <a:r>
              <a:rPr lang="en-US" sz="3000" dirty="0">
                <a:latin typeface="Courier New" panose="02070309020205020404" pitchFamily="49" charset="0"/>
                <a:cs typeface="Courier New" panose="02070309020205020404" pitchFamily="49" charset="0"/>
              </a:rPr>
              <a:t>ALTER TABLE sailor		DROP COLUMN Email;</a:t>
            </a:r>
          </a:p>
          <a:p>
            <a:r>
              <a:rPr lang="en-US" dirty="0"/>
              <a:t>to rename column in table, use following syntax:</a:t>
            </a:r>
          </a:p>
          <a:p>
            <a:r>
              <a:rPr lang="en-US" dirty="0"/>
              <a:t>ALTER TABLE </a:t>
            </a:r>
            <a:r>
              <a:rPr lang="en-US" dirty="0" err="1"/>
              <a:t>table_name</a:t>
            </a:r>
            <a:r>
              <a:rPr lang="en-US" dirty="0"/>
              <a:t>	RENAME COLUMN </a:t>
            </a:r>
            <a:r>
              <a:rPr lang="en-US" dirty="0" err="1"/>
              <a:t>old_name</a:t>
            </a:r>
            <a:r>
              <a:rPr lang="en-US" dirty="0"/>
              <a:t> to </a:t>
            </a:r>
            <a:r>
              <a:rPr lang="en-US" dirty="0" err="1"/>
              <a:t>new_name</a:t>
            </a:r>
            <a:r>
              <a:rPr lang="en-US" dirty="0"/>
              <a:t>;</a:t>
            </a:r>
          </a:p>
          <a:p>
            <a:r>
              <a:rPr lang="en-US" sz="3000" dirty="0">
                <a:latin typeface="Courier New" panose="02070309020205020404" pitchFamily="49" charset="0"/>
                <a:cs typeface="Courier New" panose="02070309020205020404" pitchFamily="49" charset="0"/>
              </a:rPr>
              <a:t>ALTER TABLE </a:t>
            </a:r>
            <a:r>
              <a:rPr lang="en-US" sz="3000" dirty="0" err="1">
                <a:latin typeface="Courier New" panose="02070309020205020404" pitchFamily="49" charset="0"/>
                <a:cs typeface="Courier New" panose="02070309020205020404" pitchFamily="49" charset="0"/>
              </a:rPr>
              <a:t>table_name</a:t>
            </a:r>
            <a:r>
              <a:rPr lang="en-US" sz="3000" dirty="0">
                <a:latin typeface="Courier New" panose="02070309020205020404" pitchFamily="49" charset="0"/>
                <a:cs typeface="Courier New" panose="02070309020205020404" pitchFamily="49" charset="0"/>
              </a:rPr>
              <a:t>	RENAME COLUMN </a:t>
            </a:r>
            <a:r>
              <a:rPr lang="en-US" sz="3000" dirty="0" err="1">
                <a:latin typeface="Courier New" panose="02070309020205020404" pitchFamily="49" charset="0"/>
                <a:cs typeface="Courier New" panose="02070309020205020404" pitchFamily="49" charset="0"/>
              </a:rPr>
              <a:t>old_name</a:t>
            </a:r>
            <a:r>
              <a:rPr lang="en-US" sz="3000" dirty="0">
                <a:latin typeface="Courier New" panose="02070309020205020404" pitchFamily="49" charset="0"/>
                <a:cs typeface="Courier New" panose="02070309020205020404" pitchFamily="49" charset="0"/>
              </a:rPr>
              <a:t> to </a:t>
            </a:r>
            <a:r>
              <a:rPr lang="en-US" sz="3000" dirty="0" err="1">
                <a:latin typeface="Courier New" panose="02070309020205020404" pitchFamily="49" charset="0"/>
                <a:cs typeface="Courier New" panose="02070309020205020404" pitchFamily="49" charset="0"/>
              </a:rPr>
              <a:t>new_name</a:t>
            </a:r>
            <a:r>
              <a:rPr lang="en-US" sz="3000" dirty="0">
                <a:latin typeface="Courier New" panose="02070309020205020404" pitchFamily="49" charset="0"/>
                <a:cs typeface="Courier New" panose="02070309020205020404" pitchFamily="49" charset="0"/>
              </a:rPr>
              <a:t>;</a:t>
            </a:r>
            <a:endParaRPr lang="en-US" dirty="0"/>
          </a:p>
          <a:p>
            <a:endParaRPr lang="en-US" dirty="0"/>
          </a:p>
        </p:txBody>
      </p:sp>
      <p:sp>
        <p:nvSpPr>
          <p:cNvPr id="4" name="Slide Number Placeholder 3">
            <a:extLst>
              <a:ext uri="{FF2B5EF4-FFF2-40B4-BE49-F238E27FC236}">
                <a16:creationId xmlns:a16="http://schemas.microsoft.com/office/drawing/2014/main" id="{F471A5F0-1A30-4289-A512-ABCF66B5EF68}"/>
              </a:ext>
            </a:extLst>
          </p:cNvPr>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3454215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8A81-36D6-CEBC-09BD-365C6DF298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544B02-E780-E697-F3EA-7BC7B1C604F6}"/>
              </a:ext>
            </a:extLst>
          </p:cNvPr>
          <p:cNvSpPr>
            <a:spLocks noGrp="1"/>
          </p:cNvSpPr>
          <p:nvPr>
            <p:ph idx="1"/>
          </p:nvPr>
        </p:nvSpPr>
        <p:spPr>
          <a:xfrm>
            <a:off x="457200" y="1600200"/>
            <a:ext cx="8458200" cy="4525963"/>
          </a:xfrm>
        </p:spPr>
        <p:txBody>
          <a:bodyPr>
            <a:normAutofit/>
          </a:bodyPr>
          <a:lstStyle/>
          <a:p>
            <a:endParaRPr lang="en-US" dirty="0"/>
          </a:p>
          <a:p>
            <a:r>
              <a:rPr lang="en-US" i="1" dirty="0"/>
              <a:t>It is much better to make changes in structure before any data rows are entered in the table</a:t>
            </a:r>
          </a:p>
          <a:p>
            <a:r>
              <a:rPr lang="en-US" i="1" dirty="0"/>
              <a:t>After that you must also take into consideration possible data type conversions, constraints, …</a:t>
            </a:r>
            <a:endParaRPr lang="en-US" dirty="0"/>
          </a:p>
          <a:p>
            <a:endParaRPr lang="en-US" dirty="0"/>
          </a:p>
        </p:txBody>
      </p:sp>
      <p:sp>
        <p:nvSpPr>
          <p:cNvPr id="4" name="Slide Number Placeholder 3">
            <a:extLst>
              <a:ext uri="{FF2B5EF4-FFF2-40B4-BE49-F238E27FC236}">
                <a16:creationId xmlns:a16="http://schemas.microsoft.com/office/drawing/2014/main" id="{F18740A9-014C-8FC3-A978-1204EC342872}"/>
              </a:ext>
            </a:extLst>
          </p:cNvPr>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20020469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B9F72-5619-E583-DE51-86BE8ADA4AF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1E484D9-3881-42EF-EDAE-B5B1A2836EB3}"/>
              </a:ext>
            </a:extLst>
          </p:cNvPr>
          <p:cNvSpPr>
            <a:spLocks noGrp="1"/>
          </p:cNvSpPr>
          <p:nvPr>
            <p:ph type="title"/>
          </p:nvPr>
        </p:nvSpPr>
        <p:spPr>
          <a:xfrm>
            <a:off x="722312" y="4406900"/>
            <a:ext cx="8269287" cy="1362075"/>
          </a:xfrm>
        </p:spPr>
        <p:txBody>
          <a:bodyPr/>
          <a:lstStyle/>
          <a:p>
            <a:r>
              <a:rPr lang="en-US" dirty="0"/>
              <a:t>Structured Query Language SQL</a:t>
            </a:r>
            <a:br>
              <a:rPr lang="en-US" dirty="0"/>
            </a:br>
            <a:r>
              <a:rPr lang="en-US" dirty="0"/>
              <a:t>DATA MANIPLUATION LANGUAGE</a:t>
            </a:r>
          </a:p>
        </p:txBody>
      </p:sp>
      <p:sp>
        <p:nvSpPr>
          <p:cNvPr id="6" name="Text Placeholder 5">
            <a:extLst>
              <a:ext uri="{FF2B5EF4-FFF2-40B4-BE49-F238E27FC236}">
                <a16:creationId xmlns:a16="http://schemas.microsoft.com/office/drawing/2014/main" id="{F6D627ED-9597-A143-0345-E789B055DCC5}"/>
              </a:ext>
            </a:extLst>
          </p:cNvPr>
          <p:cNvSpPr>
            <a:spLocks noGrp="1"/>
          </p:cNvSpPr>
          <p:nvPr>
            <p:ph type="body" idx="1"/>
          </p:nvPr>
        </p:nvSpPr>
        <p:spPr/>
        <p:txBody>
          <a:bodyPr/>
          <a:lstStyle/>
          <a:p>
            <a:r>
              <a:rPr lang="en-US" dirty="0"/>
              <a:t>SQL language</a:t>
            </a:r>
          </a:p>
        </p:txBody>
      </p:sp>
      <p:sp>
        <p:nvSpPr>
          <p:cNvPr id="4" name="Slide Number Placeholder 3">
            <a:extLst>
              <a:ext uri="{FF2B5EF4-FFF2-40B4-BE49-F238E27FC236}">
                <a16:creationId xmlns:a16="http://schemas.microsoft.com/office/drawing/2014/main" id="{5A914D6C-2C1E-02F2-EF36-DCC47E813ECD}"/>
              </a:ext>
            </a:extLst>
          </p:cNvPr>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38881157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57F2A-3E9A-AEF9-245F-47291FC556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61522A3-1F32-1569-EFF0-41EF64332AC6}"/>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B32EB2F2-3219-1D76-D3C9-9584BA9F5A68}"/>
              </a:ext>
            </a:extLst>
          </p:cNvPr>
          <p:cNvSpPr>
            <a:spLocks noGrp="1"/>
          </p:cNvSpPr>
          <p:nvPr>
            <p:ph idx="1"/>
          </p:nvPr>
        </p:nvSpPr>
        <p:spPr/>
        <p:txBody>
          <a:bodyPr>
            <a:normAutofit/>
          </a:bodyPr>
          <a:lstStyle/>
          <a:p>
            <a:r>
              <a:rPr lang="en-US" sz="2800" dirty="0"/>
              <a:t>time to insert an explicit reference to Daniela CRUDU </a:t>
            </a:r>
          </a:p>
          <a:p>
            <a:pPr lvl="1"/>
            <a:r>
              <a:rPr lang="en-US" sz="2700" dirty="0"/>
              <a:t>Create Read Update Delete</a:t>
            </a:r>
          </a:p>
          <a:p>
            <a:r>
              <a:rPr lang="en-US" sz="2800" dirty="0"/>
              <a:t>in computer programming, Create, Read, Update, and Delete (CRUD) are the four basic operations (actions) of persistent storage</a:t>
            </a:r>
          </a:p>
          <a:p>
            <a:pPr lvl="1"/>
            <a:r>
              <a:rPr lang="en-US" sz="2700" dirty="0"/>
              <a:t>CRUD is also sometimes used to describe user interface conventions that facilitate viewing, searching, and changing information using computer-based forms and reports</a:t>
            </a:r>
          </a:p>
        </p:txBody>
      </p:sp>
      <p:sp>
        <p:nvSpPr>
          <p:cNvPr id="4" name="Slide Number Placeholder 3">
            <a:extLst>
              <a:ext uri="{FF2B5EF4-FFF2-40B4-BE49-F238E27FC236}">
                <a16:creationId xmlns:a16="http://schemas.microsoft.com/office/drawing/2014/main" id="{74C1C1BF-2252-526B-24C7-636A18FA2E5D}"/>
              </a:ext>
            </a:extLst>
          </p:cNvPr>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16925212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8A9E4-8193-1D70-8D29-BB9D10D37FE7}"/>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932E523B-69BB-58FF-2999-7A3181BBB3D5}"/>
              </a:ext>
            </a:extLst>
          </p:cNvPr>
          <p:cNvSpPr>
            <a:spLocks noGrp="1"/>
          </p:cNvSpPr>
          <p:nvPr>
            <p:ph type="sldNum" sz="quarter" idx="12"/>
          </p:nvPr>
        </p:nvSpPr>
        <p:spPr/>
        <p:txBody>
          <a:bodyPr/>
          <a:lstStyle/>
          <a:p>
            <a:fld id="{B6F15528-21DE-4FAA-801E-634DDDAF4B2B}" type="slidenum">
              <a:rPr lang="en-US" smtClean="0"/>
              <a:pPr/>
              <a:t>69</a:t>
            </a:fld>
            <a:endParaRPr lang="en-US"/>
          </a:p>
        </p:txBody>
      </p:sp>
      <p:pic>
        <p:nvPicPr>
          <p:cNvPr id="5" name="Picture 2" descr="Daniela Crudu - breasts">
            <a:extLst>
              <a:ext uri="{FF2B5EF4-FFF2-40B4-BE49-F238E27FC236}">
                <a16:creationId xmlns:a16="http://schemas.microsoft.com/office/drawing/2014/main" id="{91F4E7C5-B7B3-F506-AE08-BE2B01E79C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3875" y="1739106"/>
            <a:ext cx="8096250" cy="424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8928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D25F9-4A74-4B77-43DE-0DB26CC6E9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47DC85F-7C71-7616-6B23-B0CEF514F9BB}"/>
              </a:ext>
            </a:extLst>
          </p:cNvPr>
          <p:cNvSpPr>
            <a:spLocks noGrp="1"/>
          </p:cNvSpPr>
          <p:nvPr>
            <p:ph idx="1"/>
          </p:nvPr>
        </p:nvSpPr>
        <p:spPr/>
        <p:txBody>
          <a:bodyPr>
            <a:normAutofit/>
          </a:bodyPr>
          <a:lstStyle/>
          <a:p>
            <a:pPr lvl="0"/>
            <a:r>
              <a:rPr lang="en-US" b="1" dirty="0"/>
              <a:t>C</a:t>
            </a:r>
            <a:r>
              <a:rPr lang="en-US" sz="2800" dirty="0"/>
              <a:t>REATE operation adds a new record to a database.</a:t>
            </a:r>
          </a:p>
          <a:p>
            <a:pPr lvl="0"/>
            <a:r>
              <a:rPr lang="en-US" b="1" dirty="0"/>
              <a:t>R</a:t>
            </a:r>
            <a:r>
              <a:rPr lang="en-US" sz="2800" dirty="0"/>
              <a:t>EAD returns records from a database table based on some search criteria.</a:t>
            </a:r>
          </a:p>
          <a:p>
            <a:pPr lvl="0"/>
            <a:r>
              <a:rPr lang="en-US" b="1" dirty="0"/>
              <a:t>U</a:t>
            </a:r>
            <a:r>
              <a:rPr lang="en-US" sz="2800" dirty="0"/>
              <a:t>PDATE is used to modify existing records in the database. </a:t>
            </a:r>
          </a:p>
          <a:p>
            <a:pPr lvl="0"/>
            <a:r>
              <a:rPr lang="en-US" b="1" dirty="0"/>
              <a:t>D</a:t>
            </a:r>
            <a:r>
              <a:rPr lang="en-US" sz="2800" dirty="0"/>
              <a:t>ELETE operations allow the user to remove records from the database.</a:t>
            </a:r>
          </a:p>
          <a:p>
            <a:endParaRPr lang="en-US" sz="2800" dirty="0"/>
          </a:p>
        </p:txBody>
      </p:sp>
      <p:sp>
        <p:nvSpPr>
          <p:cNvPr id="4" name="Slide Number Placeholder 3">
            <a:extLst>
              <a:ext uri="{FF2B5EF4-FFF2-40B4-BE49-F238E27FC236}">
                <a16:creationId xmlns:a16="http://schemas.microsoft.com/office/drawing/2014/main" id="{79A2D8A3-B773-8DED-4C54-5F6092ACE7B2}"/>
              </a:ext>
            </a:extLst>
          </p:cNvPr>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val="22386528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9CDC9-04A4-57C1-2566-8D45AE1F2DDF}"/>
              </a:ext>
            </a:extLst>
          </p:cNvPr>
          <p:cNvSpPr>
            <a:spLocks noGrp="1"/>
          </p:cNvSpPr>
          <p:nvPr>
            <p:ph type="title"/>
          </p:nvPr>
        </p:nvSpPr>
        <p:spPr>
          <a:xfrm>
            <a:off x="457200" y="274638"/>
            <a:ext cx="8686800" cy="1143000"/>
          </a:xfrm>
        </p:spPr>
        <p:txBody>
          <a:bodyPr>
            <a:noAutofit/>
          </a:bodyPr>
          <a:lstStyle/>
          <a:p>
            <a:r>
              <a:rPr lang="en-US" sz="3300" b="1" dirty="0"/>
              <a:t>in RDBMS CRUD operations performed through Structure Query Language (SQL) commands</a:t>
            </a:r>
          </a:p>
        </p:txBody>
      </p:sp>
      <p:sp>
        <p:nvSpPr>
          <p:cNvPr id="3" name="Content Placeholder 2">
            <a:extLst>
              <a:ext uri="{FF2B5EF4-FFF2-40B4-BE49-F238E27FC236}">
                <a16:creationId xmlns:a16="http://schemas.microsoft.com/office/drawing/2014/main" id="{D5C4F541-713C-C968-6344-E2A04AA8C5D6}"/>
              </a:ext>
            </a:extLst>
          </p:cNvPr>
          <p:cNvSpPr>
            <a:spLocks noGrp="1"/>
          </p:cNvSpPr>
          <p:nvPr>
            <p:ph idx="1"/>
          </p:nvPr>
        </p:nvSpPr>
        <p:spPr/>
        <p:txBody>
          <a:bodyPr>
            <a:normAutofit fontScale="92500" lnSpcReduction="10000"/>
          </a:bodyPr>
          <a:lstStyle/>
          <a:p>
            <a:pPr lvl="0"/>
            <a:r>
              <a:rPr lang="en-US" sz="3000" dirty="0"/>
              <a:t>INSERT statement is used for CREATE:</a:t>
            </a:r>
          </a:p>
          <a:p>
            <a:pPr lvl="1"/>
            <a:r>
              <a:rPr lang="en-US" sz="2900" dirty="0"/>
              <a:t>INSERT INTO &lt;table&gt; VALUES (field value 1, field value, 2…)</a:t>
            </a:r>
          </a:p>
          <a:p>
            <a:pPr lvl="0"/>
            <a:r>
              <a:rPr lang="en-US" sz="3000" dirty="0"/>
              <a:t>SELECT statement is used for READ</a:t>
            </a:r>
            <a:r>
              <a:rPr lang="en-US" sz="2900" dirty="0"/>
              <a:t>:</a:t>
            </a:r>
          </a:p>
          <a:p>
            <a:pPr lvl="1"/>
            <a:r>
              <a:rPr lang="en-US" sz="2900" dirty="0"/>
              <a:t>SELECT field 1, field 2, …FROM &lt;table&gt; [WHERE ]</a:t>
            </a:r>
          </a:p>
          <a:p>
            <a:pPr lvl="0"/>
            <a:r>
              <a:rPr lang="en-US" sz="3000" dirty="0"/>
              <a:t>UPDATE statement is used for UPDATE:</a:t>
            </a:r>
          </a:p>
          <a:p>
            <a:pPr lvl="1"/>
            <a:r>
              <a:rPr lang="en-US" sz="2900" dirty="0"/>
              <a:t>UPDATE &lt;table&gt; SET field1=value1, field2=value2,… [WHERE ]</a:t>
            </a:r>
          </a:p>
          <a:p>
            <a:pPr lvl="0"/>
            <a:r>
              <a:rPr lang="en-US" sz="3000" dirty="0"/>
              <a:t>DELETE statement is used for DELETE:</a:t>
            </a:r>
          </a:p>
          <a:p>
            <a:pPr lvl="1"/>
            <a:r>
              <a:rPr lang="en-US" sz="2900" dirty="0"/>
              <a:t>DELETE FROM &lt;table&gt; [WHERE ]</a:t>
            </a:r>
          </a:p>
          <a:p>
            <a:endParaRPr lang="en-US" dirty="0"/>
          </a:p>
        </p:txBody>
      </p:sp>
      <p:sp>
        <p:nvSpPr>
          <p:cNvPr id="4" name="Slide Number Placeholder 3">
            <a:extLst>
              <a:ext uri="{FF2B5EF4-FFF2-40B4-BE49-F238E27FC236}">
                <a16:creationId xmlns:a16="http://schemas.microsoft.com/office/drawing/2014/main" id="{3167E288-7706-4CE6-A29C-AED8B3A24E5D}"/>
              </a:ext>
            </a:extLst>
          </p:cNvPr>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39582707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F2CA-B736-B1EC-0A62-D16FEEFA94AB}"/>
              </a:ext>
            </a:extLst>
          </p:cNvPr>
          <p:cNvSpPr>
            <a:spLocks noGrp="1"/>
          </p:cNvSpPr>
          <p:nvPr>
            <p:ph type="title"/>
          </p:nvPr>
        </p:nvSpPr>
        <p:spPr/>
        <p:txBody>
          <a:bodyPr/>
          <a:lstStyle/>
          <a:p>
            <a:r>
              <a:rPr lang="en-US" dirty="0"/>
              <a:t>INSERT statement</a:t>
            </a:r>
          </a:p>
        </p:txBody>
      </p:sp>
      <p:sp>
        <p:nvSpPr>
          <p:cNvPr id="3" name="Content Placeholder 2">
            <a:extLst>
              <a:ext uri="{FF2B5EF4-FFF2-40B4-BE49-F238E27FC236}">
                <a16:creationId xmlns:a16="http://schemas.microsoft.com/office/drawing/2014/main" id="{EDD3B067-B11B-8588-D1B1-5FF85EF0411D}"/>
              </a:ext>
            </a:extLst>
          </p:cNvPr>
          <p:cNvSpPr>
            <a:spLocks noGrp="1"/>
          </p:cNvSpPr>
          <p:nvPr>
            <p:ph idx="1"/>
          </p:nvPr>
        </p:nvSpPr>
        <p:spPr/>
        <p:txBody>
          <a:bodyPr>
            <a:normAutofit fontScale="92500" lnSpcReduction="20000"/>
          </a:bodyPr>
          <a:lstStyle/>
          <a:p>
            <a:r>
              <a:rPr lang="en-US" sz="3000" dirty="0"/>
              <a:t>used to insert new records in a table</a:t>
            </a:r>
          </a:p>
          <a:p>
            <a:r>
              <a:rPr lang="en-US" sz="3000" dirty="0"/>
              <a:t>INSERT INTO </a:t>
            </a:r>
            <a:r>
              <a:rPr lang="en-US" sz="3000" dirty="0" err="1"/>
              <a:t>table_name</a:t>
            </a:r>
            <a:r>
              <a:rPr lang="en-US" sz="3000" dirty="0"/>
              <a:t>	VALUES (value1, value2, value3, ...);</a:t>
            </a:r>
          </a:p>
          <a:p>
            <a:r>
              <a:rPr lang="en-US" sz="3000" dirty="0"/>
              <a:t>adding values for all columns of table, do not need to specify column names in SQL query</a:t>
            </a:r>
          </a:p>
          <a:p>
            <a:r>
              <a:rPr lang="en-US" sz="3000" dirty="0"/>
              <a:t>make sure the order of the values is in the same order as the columns in the table</a:t>
            </a:r>
          </a:p>
          <a:p>
            <a:r>
              <a:rPr lang="en-US" sz="3000" dirty="0"/>
              <a:t>possible way to INSERT statement it is to specify both column names and values to be inserted:</a:t>
            </a:r>
          </a:p>
          <a:p>
            <a:r>
              <a:rPr lang="en-US" sz="3000" dirty="0"/>
              <a:t>INSERT INTO </a:t>
            </a:r>
            <a:r>
              <a:rPr lang="en-US" sz="3000" dirty="0" err="1"/>
              <a:t>table_name</a:t>
            </a:r>
            <a:r>
              <a:rPr lang="en-US" sz="3000" dirty="0"/>
              <a:t> (column1, column2, column3, ...)	VALUES (value1, value2, value3, ...);</a:t>
            </a:r>
          </a:p>
          <a:p>
            <a:endParaRPr lang="en-US" sz="2800" dirty="0"/>
          </a:p>
        </p:txBody>
      </p:sp>
      <p:sp>
        <p:nvSpPr>
          <p:cNvPr id="4" name="Slide Number Placeholder 3">
            <a:extLst>
              <a:ext uri="{FF2B5EF4-FFF2-40B4-BE49-F238E27FC236}">
                <a16:creationId xmlns:a16="http://schemas.microsoft.com/office/drawing/2014/main" id="{8B31C7F8-5C1E-6139-1D52-B23F93A00187}"/>
              </a:ext>
            </a:extLst>
          </p:cNvPr>
          <p:cNvSpPr>
            <a:spLocks noGrp="1"/>
          </p:cNvSpPr>
          <p:nvPr>
            <p:ph type="sldNum" sz="quarter" idx="12"/>
          </p:nvPr>
        </p:nvSpPr>
        <p:spPr/>
        <p:txBody>
          <a:bodyPr/>
          <a:lstStyle/>
          <a:p>
            <a:fld id="{B6F15528-21DE-4FAA-801E-634DDDAF4B2B}" type="slidenum">
              <a:rPr lang="en-US" smtClean="0"/>
              <a:pPr/>
              <a:t>72</a:t>
            </a:fld>
            <a:endParaRPr lang="en-US"/>
          </a:p>
        </p:txBody>
      </p:sp>
    </p:spTree>
    <p:extLst>
      <p:ext uri="{BB962C8B-B14F-4D97-AF65-F5344CB8AC3E}">
        <p14:creationId xmlns:p14="http://schemas.microsoft.com/office/powerpoint/2010/main" val="40979371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7123-B106-EAC2-5C8B-6AA8D2893825}"/>
              </a:ext>
            </a:extLst>
          </p:cNvPr>
          <p:cNvSpPr>
            <a:spLocks noGrp="1"/>
          </p:cNvSpPr>
          <p:nvPr>
            <p:ph type="title"/>
          </p:nvPr>
        </p:nvSpPr>
        <p:spPr/>
        <p:txBody>
          <a:bodyPr>
            <a:normAutofit/>
          </a:bodyPr>
          <a:lstStyle/>
          <a:p>
            <a:r>
              <a:rPr lang="en-US" dirty="0" err="1"/>
              <a:t>DBeaver</a:t>
            </a:r>
            <a:r>
              <a:rPr lang="en-US" dirty="0"/>
              <a:t> Data tab</a:t>
            </a:r>
          </a:p>
        </p:txBody>
      </p:sp>
      <p:sp>
        <p:nvSpPr>
          <p:cNvPr id="4" name="Slide Number Placeholder 3">
            <a:extLst>
              <a:ext uri="{FF2B5EF4-FFF2-40B4-BE49-F238E27FC236}">
                <a16:creationId xmlns:a16="http://schemas.microsoft.com/office/drawing/2014/main" id="{FFECF147-7D7D-5AF3-8379-C614457FC3A8}"/>
              </a:ext>
            </a:extLst>
          </p:cNvPr>
          <p:cNvSpPr>
            <a:spLocks noGrp="1"/>
          </p:cNvSpPr>
          <p:nvPr>
            <p:ph type="sldNum" sz="quarter" idx="12"/>
          </p:nvPr>
        </p:nvSpPr>
        <p:spPr/>
        <p:txBody>
          <a:bodyPr/>
          <a:lstStyle/>
          <a:p>
            <a:fld id="{B6F15528-21DE-4FAA-801E-634DDDAF4B2B}" type="slidenum">
              <a:rPr lang="en-US" smtClean="0"/>
              <a:pPr/>
              <a:t>73</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5C1853F9-3734-FBCF-2F23-C40815E2EFA1}"/>
              </a:ext>
            </a:extLst>
          </p:cNvPr>
          <p:cNvPicPr>
            <a:picLocks noGrp="1" noChangeAspect="1"/>
          </p:cNvPicPr>
          <p:nvPr>
            <p:ph idx="1"/>
          </p:nvPr>
        </p:nvPicPr>
        <p:blipFill>
          <a:blip r:embed="rId2"/>
          <a:stretch>
            <a:fillRect/>
          </a:stretch>
        </p:blipFill>
        <p:spPr>
          <a:xfrm>
            <a:off x="365760" y="1463040"/>
            <a:ext cx="8577359" cy="3721930"/>
          </a:xfrm>
          <a:prstGeom prst="rect">
            <a:avLst/>
          </a:prstGeom>
        </p:spPr>
      </p:pic>
    </p:spTree>
    <p:extLst>
      <p:ext uri="{BB962C8B-B14F-4D97-AF65-F5344CB8AC3E}">
        <p14:creationId xmlns:p14="http://schemas.microsoft.com/office/powerpoint/2010/main" val="25952403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61E7-B7F6-0FC5-A755-E5C1E0EB225B}"/>
              </a:ext>
            </a:extLst>
          </p:cNvPr>
          <p:cNvSpPr>
            <a:spLocks noGrp="1"/>
          </p:cNvSpPr>
          <p:nvPr>
            <p:ph type="title"/>
          </p:nvPr>
        </p:nvSpPr>
        <p:spPr/>
        <p:txBody>
          <a:bodyPr>
            <a:normAutofit fontScale="90000"/>
          </a:bodyPr>
          <a:lstStyle/>
          <a:p>
            <a:r>
              <a:rPr lang="en-US" dirty="0"/>
              <a:t>To Add Row in table, press button </a:t>
            </a:r>
            <a:br>
              <a:rPr lang="en-US" dirty="0"/>
            </a:br>
            <a:r>
              <a:rPr lang="en-US" dirty="0"/>
              <a:t>from bottom toolbar:</a:t>
            </a:r>
          </a:p>
        </p:txBody>
      </p:sp>
      <p:pic>
        <p:nvPicPr>
          <p:cNvPr id="9" name="Content Placeholder 8">
            <a:extLst>
              <a:ext uri="{FF2B5EF4-FFF2-40B4-BE49-F238E27FC236}">
                <a16:creationId xmlns:a16="http://schemas.microsoft.com/office/drawing/2014/main" id="{20F53501-366D-65A0-C12A-567131FF8A00}"/>
              </a:ext>
            </a:extLst>
          </p:cNvPr>
          <p:cNvPicPr>
            <a:picLocks noGrp="1" noChangeAspect="1"/>
          </p:cNvPicPr>
          <p:nvPr>
            <p:ph idx="1"/>
          </p:nvPr>
        </p:nvPicPr>
        <p:blipFill>
          <a:blip r:embed="rId2"/>
          <a:stretch>
            <a:fillRect/>
          </a:stretch>
        </p:blipFill>
        <p:spPr>
          <a:xfrm>
            <a:off x="3383280" y="4572000"/>
            <a:ext cx="1116580" cy="1319595"/>
          </a:xfrm>
        </p:spPr>
      </p:pic>
      <p:sp>
        <p:nvSpPr>
          <p:cNvPr id="4" name="Slide Number Placeholder 3">
            <a:extLst>
              <a:ext uri="{FF2B5EF4-FFF2-40B4-BE49-F238E27FC236}">
                <a16:creationId xmlns:a16="http://schemas.microsoft.com/office/drawing/2014/main" id="{48753479-F4A2-04BE-97A3-D50B7EC08346}"/>
              </a:ext>
            </a:extLst>
          </p:cNvPr>
          <p:cNvSpPr>
            <a:spLocks noGrp="1"/>
          </p:cNvSpPr>
          <p:nvPr>
            <p:ph type="sldNum" sz="quarter" idx="12"/>
          </p:nvPr>
        </p:nvSpPr>
        <p:spPr/>
        <p:txBody>
          <a:bodyPr/>
          <a:lstStyle/>
          <a:p>
            <a:fld id="{B6F15528-21DE-4FAA-801E-634DDDAF4B2B}" type="slidenum">
              <a:rPr lang="en-US" smtClean="0"/>
              <a:pPr/>
              <a:t>74</a:t>
            </a:fld>
            <a:endParaRPr lang="en-US"/>
          </a:p>
        </p:txBody>
      </p:sp>
      <p:pic>
        <p:nvPicPr>
          <p:cNvPr id="5" name="Picture 4" descr="A screenshot of a computer&#10;&#10;AI-generated content may be incorrect.">
            <a:extLst>
              <a:ext uri="{FF2B5EF4-FFF2-40B4-BE49-F238E27FC236}">
                <a16:creationId xmlns:a16="http://schemas.microsoft.com/office/drawing/2014/main" id="{18A37377-6696-747D-D50D-A3870CCE82E0}"/>
              </a:ext>
            </a:extLst>
          </p:cNvPr>
          <p:cNvPicPr>
            <a:picLocks noChangeAspect="1"/>
          </p:cNvPicPr>
          <p:nvPr/>
        </p:nvPicPr>
        <p:blipFill>
          <a:blip r:embed="rId3"/>
          <a:stretch>
            <a:fillRect/>
          </a:stretch>
        </p:blipFill>
        <p:spPr>
          <a:xfrm>
            <a:off x="182881" y="2468880"/>
            <a:ext cx="8735106" cy="1668010"/>
          </a:xfrm>
          <a:prstGeom prst="rect">
            <a:avLst/>
          </a:prstGeom>
        </p:spPr>
      </p:pic>
    </p:spTree>
    <p:extLst>
      <p:ext uri="{BB962C8B-B14F-4D97-AF65-F5344CB8AC3E}">
        <p14:creationId xmlns:p14="http://schemas.microsoft.com/office/powerpoint/2010/main" val="31474460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0DA64-7DF8-05A7-426D-AC22E482AB1C}"/>
              </a:ext>
            </a:extLst>
          </p:cNvPr>
          <p:cNvSpPr>
            <a:spLocks noGrp="1"/>
          </p:cNvSpPr>
          <p:nvPr>
            <p:ph type="title"/>
          </p:nvPr>
        </p:nvSpPr>
        <p:spPr/>
        <p:txBody>
          <a:bodyPr>
            <a:noAutofit/>
          </a:bodyPr>
          <a:lstStyle/>
          <a:p>
            <a:r>
              <a:rPr lang="en-US" sz="3600" dirty="0"/>
              <a:t>Once a sailor, always a sailor, explores the ways in which we live, love and remember</a:t>
            </a:r>
          </a:p>
        </p:txBody>
      </p:sp>
      <p:sp>
        <p:nvSpPr>
          <p:cNvPr id="4" name="Slide Number Placeholder 3">
            <a:extLst>
              <a:ext uri="{FF2B5EF4-FFF2-40B4-BE49-F238E27FC236}">
                <a16:creationId xmlns:a16="http://schemas.microsoft.com/office/drawing/2014/main" id="{13925607-1747-2183-4915-037327404A7B}"/>
              </a:ext>
            </a:extLst>
          </p:cNvPr>
          <p:cNvSpPr>
            <a:spLocks noGrp="1"/>
          </p:cNvSpPr>
          <p:nvPr>
            <p:ph type="sldNum" sz="quarter" idx="12"/>
          </p:nvPr>
        </p:nvSpPr>
        <p:spPr/>
        <p:txBody>
          <a:bodyPr/>
          <a:lstStyle/>
          <a:p>
            <a:fld id="{B6F15528-21DE-4FAA-801E-634DDDAF4B2B}" type="slidenum">
              <a:rPr lang="en-US" smtClean="0"/>
              <a:pPr/>
              <a:t>75</a:t>
            </a:fld>
            <a:endParaRPr lang="en-US"/>
          </a:p>
        </p:txBody>
      </p:sp>
      <p:pic>
        <p:nvPicPr>
          <p:cNvPr id="5" name="Content Placeholder 4" descr="A screenshot of a data&#10;&#10;AI-generated content may be incorrect.">
            <a:extLst>
              <a:ext uri="{FF2B5EF4-FFF2-40B4-BE49-F238E27FC236}">
                <a16:creationId xmlns:a16="http://schemas.microsoft.com/office/drawing/2014/main" id="{3DD31D5F-C140-CC9E-4E8C-6526CC736063}"/>
              </a:ext>
            </a:extLst>
          </p:cNvPr>
          <p:cNvPicPr>
            <a:picLocks noGrp="1" noChangeAspect="1"/>
          </p:cNvPicPr>
          <p:nvPr>
            <p:ph idx="1"/>
          </p:nvPr>
        </p:nvPicPr>
        <p:blipFill>
          <a:blip r:embed="rId2"/>
          <a:stretch>
            <a:fillRect/>
          </a:stretch>
        </p:blipFill>
        <p:spPr>
          <a:xfrm>
            <a:off x="640080" y="1920240"/>
            <a:ext cx="8086741" cy="3671176"/>
          </a:xfrm>
          <a:prstGeom prst="rect">
            <a:avLst/>
          </a:prstGeom>
        </p:spPr>
      </p:pic>
    </p:spTree>
    <p:extLst>
      <p:ext uri="{BB962C8B-B14F-4D97-AF65-F5344CB8AC3E}">
        <p14:creationId xmlns:p14="http://schemas.microsoft.com/office/powerpoint/2010/main" val="11770586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33184-B0D3-1343-B6A5-0C19B057286D}"/>
              </a:ext>
            </a:extLst>
          </p:cNvPr>
          <p:cNvSpPr>
            <a:spLocks noGrp="1"/>
          </p:cNvSpPr>
          <p:nvPr>
            <p:ph type="title"/>
          </p:nvPr>
        </p:nvSpPr>
        <p:spPr/>
        <p:txBody>
          <a:bodyPr>
            <a:normAutofit fontScale="90000"/>
          </a:bodyPr>
          <a:lstStyle/>
          <a:p>
            <a:r>
              <a:rPr lang="en-US" dirty="0"/>
              <a:t>To Add Row in table, press the Save button from bottom toolbar:</a:t>
            </a:r>
          </a:p>
        </p:txBody>
      </p:sp>
      <p:sp>
        <p:nvSpPr>
          <p:cNvPr id="4" name="Slide Number Placeholder 3">
            <a:extLst>
              <a:ext uri="{FF2B5EF4-FFF2-40B4-BE49-F238E27FC236}">
                <a16:creationId xmlns:a16="http://schemas.microsoft.com/office/drawing/2014/main" id="{774AA152-19AE-3ECF-8E3D-34BBB257F1DF}"/>
              </a:ext>
            </a:extLst>
          </p:cNvPr>
          <p:cNvSpPr>
            <a:spLocks noGrp="1"/>
          </p:cNvSpPr>
          <p:nvPr>
            <p:ph type="sldNum" sz="quarter" idx="12"/>
          </p:nvPr>
        </p:nvSpPr>
        <p:spPr/>
        <p:txBody>
          <a:bodyPr/>
          <a:lstStyle/>
          <a:p>
            <a:fld id="{B6F15528-21DE-4FAA-801E-634DDDAF4B2B}" type="slidenum">
              <a:rPr lang="en-US" smtClean="0"/>
              <a:pPr/>
              <a:t>76</a:t>
            </a:fld>
            <a:endParaRPr lang="en-US"/>
          </a:p>
        </p:txBody>
      </p:sp>
      <p:pic>
        <p:nvPicPr>
          <p:cNvPr id="5" name="Content Placeholder 4" descr="A screenshot of a graph&#10;&#10;AI-generated content may be incorrect.">
            <a:extLst>
              <a:ext uri="{FF2B5EF4-FFF2-40B4-BE49-F238E27FC236}">
                <a16:creationId xmlns:a16="http://schemas.microsoft.com/office/drawing/2014/main" id="{63889286-22EB-92AC-F397-9E22773C450C}"/>
              </a:ext>
            </a:extLst>
          </p:cNvPr>
          <p:cNvPicPr>
            <a:picLocks noGrp="1" noChangeAspect="1"/>
          </p:cNvPicPr>
          <p:nvPr>
            <p:ph idx="1"/>
          </p:nvPr>
        </p:nvPicPr>
        <p:blipFill>
          <a:blip r:embed="rId2"/>
          <a:stretch>
            <a:fillRect/>
          </a:stretch>
        </p:blipFill>
        <p:spPr>
          <a:xfrm>
            <a:off x="182880" y="1920240"/>
            <a:ext cx="8833870" cy="1722879"/>
          </a:xfrm>
          <a:prstGeom prst="rect">
            <a:avLst/>
          </a:prstGeom>
        </p:spPr>
      </p:pic>
      <p:pic>
        <p:nvPicPr>
          <p:cNvPr id="7" name="Picture 6">
            <a:extLst>
              <a:ext uri="{FF2B5EF4-FFF2-40B4-BE49-F238E27FC236}">
                <a16:creationId xmlns:a16="http://schemas.microsoft.com/office/drawing/2014/main" id="{8CAE81F4-A817-D280-73B5-20B670036ABB}"/>
              </a:ext>
            </a:extLst>
          </p:cNvPr>
          <p:cNvPicPr>
            <a:picLocks noChangeAspect="1"/>
          </p:cNvPicPr>
          <p:nvPr/>
        </p:nvPicPr>
        <p:blipFill>
          <a:blip r:embed="rId3"/>
          <a:stretch>
            <a:fillRect/>
          </a:stretch>
        </p:blipFill>
        <p:spPr>
          <a:xfrm>
            <a:off x="3017520" y="4023360"/>
            <a:ext cx="3451243" cy="1624116"/>
          </a:xfrm>
          <a:prstGeom prst="rect">
            <a:avLst/>
          </a:prstGeom>
        </p:spPr>
      </p:pic>
    </p:spTree>
    <p:extLst>
      <p:ext uri="{BB962C8B-B14F-4D97-AF65-F5344CB8AC3E}">
        <p14:creationId xmlns:p14="http://schemas.microsoft.com/office/powerpoint/2010/main" val="7991610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A7CDD-B7C3-145C-CA26-8067452C1B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A7D82D-7278-4D7E-121A-101A3C95CE0F}"/>
              </a:ext>
            </a:extLst>
          </p:cNvPr>
          <p:cNvSpPr>
            <a:spLocks noGrp="1"/>
          </p:cNvSpPr>
          <p:nvPr>
            <p:ph idx="1"/>
          </p:nvPr>
        </p:nvSpPr>
        <p:spPr/>
        <p:txBody>
          <a:bodyPr>
            <a:normAutofit/>
          </a:bodyPr>
          <a:lstStyle/>
          <a:p>
            <a:r>
              <a:rPr lang="en-US" sz="2800" dirty="0">
                <a:latin typeface="Courier New" panose="02070309020205020404" pitchFamily="49" charset="0"/>
                <a:cs typeface="Courier New" panose="02070309020205020404" pitchFamily="49" charset="0"/>
              </a:rPr>
              <a:t>INSERT INTO sailor (</a:t>
            </a:r>
            <a:r>
              <a:rPr lang="en-US" sz="2800" dirty="0" err="1">
                <a:latin typeface="Courier New" panose="02070309020205020404" pitchFamily="49" charset="0"/>
                <a:cs typeface="Courier New" panose="02070309020205020404" pitchFamily="49" charset="0"/>
              </a:rPr>
              <a:t>sname</a:t>
            </a:r>
            <a:r>
              <a:rPr lang="en-US" sz="2800" dirty="0">
                <a:latin typeface="Courier New" panose="02070309020205020404" pitchFamily="49" charset="0"/>
                <a:cs typeface="Courier New" panose="02070309020205020404" pitchFamily="49" charset="0"/>
              </a:rPr>
              <a:t>, age, rating) VALUES ('Klaus', 65, 11.0);</a:t>
            </a:r>
          </a:p>
          <a:p>
            <a:r>
              <a:rPr lang="en-US" sz="2800" dirty="0"/>
              <a:t>A new hope will be that you did notice that we did not insert any number into the </a:t>
            </a:r>
            <a:r>
              <a:rPr lang="en-US" sz="2800" i="1" dirty="0" err="1"/>
              <a:t>sid</a:t>
            </a:r>
            <a:r>
              <a:rPr lang="en-US" sz="2800" dirty="0"/>
              <a:t> field</a:t>
            </a:r>
          </a:p>
          <a:p>
            <a:r>
              <a:rPr lang="en-US" sz="2800" i="1" dirty="0" err="1"/>
              <a:t>sid</a:t>
            </a:r>
            <a:r>
              <a:rPr lang="en-US" sz="2800" dirty="0"/>
              <a:t> column is auto-increment field and will be generated automatically when new record is inserted into the table</a:t>
            </a:r>
          </a:p>
          <a:p>
            <a:r>
              <a:rPr lang="en-US" sz="2800" dirty="0"/>
              <a:t>possible to only insert data in specific columns</a:t>
            </a:r>
          </a:p>
          <a:p>
            <a:endParaRPr lang="en-US" sz="2800" dirty="0"/>
          </a:p>
        </p:txBody>
      </p:sp>
      <p:sp>
        <p:nvSpPr>
          <p:cNvPr id="4" name="Slide Number Placeholder 3">
            <a:extLst>
              <a:ext uri="{FF2B5EF4-FFF2-40B4-BE49-F238E27FC236}">
                <a16:creationId xmlns:a16="http://schemas.microsoft.com/office/drawing/2014/main" id="{7848E934-DFDC-9B17-0448-41A36D06E494}"/>
              </a:ext>
            </a:extLst>
          </p:cNvPr>
          <p:cNvSpPr>
            <a:spLocks noGrp="1"/>
          </p:cNvSpPr>
          <p:nvPr>
            <p:ph type="sldNum" sz="quarter" idx="12"/>
          </p:nvPr>
        </p:nvSpPr>
        <p:spPr/>
        <p:txBody>
          <a:bodyPr/>
          <a:lstStyle/>
          <a:p>
            <a:fld id="{B6F15528-21DE-4FAA-801E-634DDDAF4B2B}" type="slidenum">
              <a:rPr lang="en-US" smtClean="0"/>
              <a:pPr/>
              <a:t>77</a:t>
            </a:fld>
            <a:endParaRPr lang="en-US"/>
          </a:p>
        </p:txBody>
      </p:sp>
    </p:spTree>
    <p:extLst>
      <p:ext uri="{BB962C8B-B14F-4D97-AF65-F5344CB8AC3E}">
        <p14:creationId xmlns:p14="http://schemas.microsoft.com/office/powerpoint/2010/main" val="26691250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22870-30D0-D87F-5AFD-B176AA24EEA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8543006-07CF-AFEB-E3CA-1AC188C047D4}"/>
              </a:ext>
            </a:extLst>
          </p:cNvPr>
          <p:cNvSpPr>
            <a:spLocks noGrp="1"/>
          </p:cNvSpPr>
          <p:nvPr>
            <p:ph idx="1"/>
          </p:nvPr>
        </p:nvSpPr>
        <p:spPr>
          <a:xfrm>
            <a:off x="457200" y="274638"/>
            <a:ext cx="8686800" cy="5851525"/>
          </a:xfrm>
        </p:spPr>
        <p:txBody>
          <a:bodyPr>
            <a:normAutofit fontScale="55000" lnSpcReduction="20000"/>
          </a:bodyPr>
          <a:lstStyle/>
          <a:p>
            <a:pPr marR="0" algn="just" rtl="0"/>
            <a:r>
              <a:rPr lang="en-US" sz="5100" b="0" i="0" u="none" strike="noStrike" kern="100" baseline="0" dirty="0"/>
              <a:t>possible to insert multiple rows in one statement</a:t>
            </a:r>
          </a:p>
          <a:p>
            <a:pPr marR="0" algn="just" rtl="0"/>
            <a:r>
              <a:rPr lang="en-US" sz="5100" b="0" i="0" u="none" strike="noStrike" kern="100" baseline="0" dirty="0"/>
              <a:t>use the same INSERT INTO statement, but with multiple values:</a:t>
            </a:r>
          </a:p>
          <a:p>
            <a:pPr marR="0" algn="just" rtl="0"/>
            <a:r>
              <a:rPr lang="en-US" sz="4200" b="0" i="0" u="none" strike="noStrike" kern="100" baseline="0" dirty="0">
                <a:latin typeface="Courier New" panose="02070309020205020404" pitchFamily="49" charset="0"/>
              </a:rPr>
              <a:t>INSERT INTO sailor ( </a:t>
            </a:r>
            <a:r>
              <a:rPr lang="en-US" sz="4200" b="0" i="0" u="none" strike="noStrike" kern="100" baseline="0" dirty="0" err="1">
                <a:latin typeface="Courier New" panose="02070309020205020404" pitchFamily="49" charset="0"/>
              </a:rPr>
              <a:t>sid</a:t>
            </a:r>
            <a:r>
              <a:rPr lang="en-US" sz="4200" b="0" i="0" u="none" strike="noStrike" kern="100" baseline="0" dirty="0">
                <a:latin typeface="Courier New" panose="02070309020205020404" pitchFamily="49" charset="0"/>
              </a:rPr>
              <a:t>, </a:t>
            </a:r>
            <a:r>
              <a:rPr lang="en-US" sz="4200" b="0" i="0" u="none" strike="noStrike" kern="100" baseline="0" dirty="0" err="1">
                <a:latin typeface="Courier New" panose="02070309020205020404" pitchFamily="49" charset="0"/>
              </a:rPr>
              <a:t>sname</a:t>
            </a:r>
            <a:r>
              <a:rPr lang="en-US" sz="4200" b="0" i="0" u="none" strike="noStrike" kern="100" baseline="0" dirty="0">
                <a:latin typeface="Courier New" panose="02070309020205020404" pitchFamily="49" charset="0"/>
              </a:rPr>
              <a:t>, rating, age) </a:t>
            </a:r>
          </a:p>
          <a:p>
            <a:pPr marR="0" algn="just" rtl="0"/>
            <a:r>
              <a:rPr lang="en-US" sz="4200" b="0" i="0" u="none" strike="noStrike" kern="100" baseline="0" dirty="0">
                <a:latin typeface="Courier New" panose="02070309020205020404" pitchFamily="49" charset="0"/>
              </a:rPr>
              <a:t>VALUES </a:t>
            </a:r>
          </a:p>
          <a:p>
            <a:pPr marR="0" algn="just" rtl="0"/>
            <a:r>
              <a:rPr lang="en-US" sz="3800" b="0" i="0" u="none" strike="noStrike" kern="100" baseline="0" dirty="0">
                <a:latin typeface="Courier New" panose="02070309020205020404" pitchFamily="49" charset="0"/>
              </a:rPr>
              <a:t>( 22, 'Dustin', 7, 45.0),</a:t>
            </a:r>
          </a:p>
          <a:p>
            <a:pPr marR="0" algn="just" rtl="0"/>
            <a:r>
              <a:rPr lang="en-US" sz="3800" b="0" i="0" u="none" strike="noStrike" kern="100" baseline="0" dirty="0">
                <a:latin typeface="Courier New" panose="02070309020205020404" pitchFamily="49" charset="0"/>
              </a:rPr>
              <a:t>( 29, 'Brutus', 1, 33.0),</a:t>
            </a:r>
          </a:p>
          <a:p>
            <a:pPr marR="0" algn="just" rtl="0"/>
            <a:r>
              <a:rPr lang="en-US" sz="3800" b="0" i="0" u="none" strike="noStrike" kern="100" baseline="0" dirty="0">
                <a:latin typeface="Courier New" panose="02070309020205020404" pitchFamily="49" charset="0"/>
              </a:rPr>
              <a:t>( 31, 'Lubber', 8, 55.5),</a:t>
            </a:r>
          </a:p>
          <a:p>
            <a:pPr marR="0" algn="just" rtl="0"/>
            <a:r>
              <a:rPr lang="en-US" sz="3800" b="0" i="0" u="none" strike="noStrike" kern="100" baseline="0" dirty="0">
                <a:latin typeface="Courier New" panose="02070309020205020404" pitchFamily="49" charset="0"/>
              </a:rPr>
              <a:t>( 32, 'Andy', 8, 25.5),</a:t>
            </a:r>
          </a:p>
          <a:p>
            <a:pPr marR="0" algn="just" rtl="0"/>
            <a:r>
              <a:rPr lang="en-US" sz="3800" b="0" i="0" u="none" strike="noStrike" kern="100" baseline="0" dirty="0">
                <a:latin typeface="Courier New" panose="02070309020205020404" pitchFamily="49" charset="0"/>
              </a:rPr>
              <a:t>( 58, 'Rusty', 10, 35.0),</a:t>
            </a:r>
          </a:p>
          <a:p>
            <a:pPr marR="0" algn="just" rtl="0"/>
            <a:r>
              <a:rPr lang="en-US" sz="3800" b="0" i="0" u="none" strike="noStrike" kern="100" baseline="0" dirty="0">
                <a:latin typeface="Courier New" panose="02070309020205020404" pitchFamily="49" charset="0"/>
              </a:rPr>
              <a:t>( 64, 'Horatio', 7, 35.0),</a:t>
            </a:r>
          </a:p>
          <a:p>
            <a:pPr marR="0" algn="just" rtl="0"/>
            <a:r>
              <a:rPr lang="en-US" sz="3800" b="0" i="0" u="none" strike="noStrike" kern="100" baseline="0" dirty="0">
                <a:latin typeface="Courier New" panose="02070309020205020404" pitchFamily="49" charset="0"/>
              </a:rPr>
              <a:t>( 71, 'Zorba', 10, 16.0),</a:t>
            </a:r>
          </a:p>
          <a:p>
            <a:pPr marR="0" algn="just" rtl="0"/>
            <a:r>
              <a:rPr lang="en-US" sz="3800" b="0" i="0" u="none" strike="noStrike" kern="100" baseline="0" dirty="0">
                <a:latin typeface="Courier New" panose="02070309020205020404" pitchFamily="49" charset="0"/>
              </a:rPr>
              <a:t>( 74, 'Horatio', 9, 35.0),</a:t>
            </a:r>
          </a:p>
          <a:p>
            <a:pPr marR="0" algn="just" rtl="0"/>
            <a:r>
              <a:rPr lang="en-US" sz="3800" b="0" i="0" u="none" strike="noStrike" kern="100" baseline="0" dirty="0">
                <a:latin typeface="Courier New" panose="02070309020205020404" pitchFamily="49" charset="0"/>
              </a:rPr>
              <a:t>( 85, 'Art', 3, 25.5),</a:t>
            </a:r>
          </a:p>
          <a:p>
            <a:pPr marR="0" algn="just" rtl="0"/>
            <a:r>
              <a:rPr lang="en-US" sz="3800" b="0" i="0" u="none" strike="noStrike" kern="100" baseline="0" dirty="0">
                <a:latin typeface="Courier New" panose="02070309020205020404" pitchFamily="49" charset="0"/>
              </a:rPr>
              <a:t>( 95, 'Bob', 3, 63.5);</a:t>
            </a:r>
          </a:p>
          <a:p>
            <a:endParaRPr lang="en-US" sz="3600" dirty="0"/>
          </a:p>
        </p:txBody>
      </p:sp>
      <p:sp>
        <p:nvSpPr>
          <p:cNvPr id="4" name="Slide Number Placeholder 3">
            <a:extLst>
              <a:ext uri="{FF2B5EF4-FFF2-40B4-BE49-F238E27FC236}">
                <a16:creationId xmlns:a16="http://schemas.microsoft.com/office/drawing/2014/main" id="{C8B97118-DB35-AE40-4CD7-15A0894A4FDD}"/>
              </a:ext>
            </a:extLst>
          </p:cNvPr>
          <p:cNvSpPr>
            <a:spLocks noGrp="1"/>
          </p:cNvSpPr>
          <p:nvPr>
            <p:ph type="sldNum" sz="quarter" idx="12"/>
          </p:nvPr>
        </p:nvSpPr>
        <p:spPr/>
        <p:txBody>
          <a:bodyPr/>
          <a:lstStyle/>
          <a:p>
            <a:fld id="{B6F15528-21DE-4FAA-801E-634DDDAF4B2B}" type="slidenum">
              <a:rPr lang="en-US" smtClean="0"/>
              <a:pPr/>
              <a:t>78</a:t>
            </a:fld>
            <a:endParaRPr lang="en-US"/>
          </a:p>
        </p:txBody>
      </p:sp>
    </p:spTree>
    <p:extLst>
      <p:ext uri="{BB962C8B-B14F-4D97-AF65-F5344CB8AC3E}">
        <p14:creationId xmlns:p14="http://schemas.microsoft.com/office/powerpoint/2010/main" val="13893290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959F6-656E-B244-8C17-B9A00BE4BAF4}"/>
              </a:ext>
            </a:extLst>
          </p:cNvPr>
          <p:cNvSpPr>
            <a:spLocks noGrp="1"/>
          </p:cNvSpPr>
          <p:nvPr>
            <p:ph type="title"/>
          </p:nvPr>
        </p:nvSpPr>
        <p:spPr/>
        <p:txBody>
          <a:bodyPr/>
          <a:lstStyle/>
          <a:p>
            <a:r>
              <a:rPr lang="en-US" dirty="0"/>
              <a:t>UPDATE statement </a:t>
            </a:r>
          </a:p>
        </p:txBody>
      </p:sp>
      <p:sp>
        <p:nvSpPr>
          <p:cNvPr id="3" name="Content Placeholder 2">
            <a:extLst>
              <a:ext uri="{FF2B5EF4-FFF2-40B4-BE49-F238E27FC236}">
                <a16:creationId xmlns:a16="http://schemas.microsoft.com/office/drawing/2014/main" id="{93D15F3D-2410-E0AD-5B4F-BC29F9E470E6}"/>
              </a:ext>
            </a:extLst>
          </p:cNvPr>
          <p:cNvSpPr>
            <a:spLocks noGrp="1"/>
          </p:cNvSpPr>
          <p:nvPr>
            <p:ph idx="1"/>
          </p:nvPr>
        </p:nvSpPr>
        <p:spPr/>
        <p:txBody>
          <a:bodyPr>
            <a:normAutofit/>
          </a:bodyPr>
          <a:lstStyle/>
          <a:p>
            <a:r>
              <a:rPr lang="en-US" sz="2800" dirty="0"/>
              <a:t>used to modify existing records in a table</a:t>
            </a:r>
          </a:p>
          <a:p>
            <a:r>
              <a:rPr lang="en-US" sz="2800" dirty="0"/>
              <a:t>UPDATE </a:t>
            </a:r>
            <a:r>
              <a:rPr lang="en-US" sz="2800" dirty="0" err="1"/>
              <a:t>table_name</a:t>
            </a:r>
            <a:endParaRPr lang="en-US" sz="2800" dirty="0"/>
          </a:p>
          <a:p>
            <a:r>
              <a:rPr lang="en-US" sz="2800" dirty="0"/>
              <a:t>SET column1 = value1, column2 = value2, ...</a:t>
            </a:r>
          </a:p>
          <a:p>
            <a:r>
              <a:rPr lang="en-US" sz="2800" dirty="0"/>
              <a:t>WHERE condition;</a:t>
            </a:r>
          </a:p>
          <a:p>
            <a:endParaRPr lang="en-US" sz="2800" dirty="0"/>
          </a:p>
          <a:p>
            <a:r>
              <a:rPr lang="en-US" sz="2800" dirty="0"/>
              <a:t>WHERE clause specifies which record(s) would be updated; if omit the WHERE clause, all records in table will be updated!</a:t>
            </a:r>
          </a:p>
          <a:p>
            <a:endParaRPr lang="en-US" sz="2800" dirty="0"/>
          </a:p>
        </p:txBody>
      </p:sp>
      <p:sp>
        <p:nvSpPr>
          <p:cNvPr id="4" name="Slide Number Placeholder 3">
            <a:extLst>
              <a:ext uri="{FF2B5EF4-FFF2-40B4-BE49-F238E27FC236}">
                <a16:creationId xmlns:a16="http://schemas.microsoft.com/office/drawing/2014/main" id="{0E5C02B6-A9A9-96EC-879F-DD23B6BD2B68}"/>
              </a:ext>
            </a:extLst>
          </p:cNvPr>
          <p:cNvSpPr>
            <a:spLocks noGrp="1"/>
          </p:cNvSpPr>
          <p:nvPr>
            <p:ph type="sldNum" sz="quarter" idx="12"/>
          </p:nvPr>
        </p:nvSpPr>
        <p:spPr/>
        <p:txBody>
          <a:bodyPr/>
          <a:lstStyle/>
          <a:p>
            <a:fld id="{B6F15528-21DE-4FAA-801E-634DDDAF4B2B}" type="slidenum">
              <a:rPr lang="en-US" smtClean="0"/>
              <a:pPr/>
              <a:t>79</a:t>
            </a:fld>
            <a:endParaRPr lang="en-US"/>
          </a:p>
        </p:txBody>
      </p:sp>
    </p:spTree>
    <p:extLst>
      <p:ext uri="{BB962C8B-B14F-4D97-AF65-F5344CB8AC3E}">
        <p14:creationId xmlns:p14="http://schemas.microsoft.com/office/powerpoint/2010/main" val="30586551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621E3-6956-DD26-66E3-CC310C71B180}"/>
              </a:ext>
            </a:extLst>
          </p:cNvPr>
          <p:cNvSpPr>
            <a:spLocks noGrp="1"/>
          </p:cNvSpPr>
          <p:nvPr>
            <p:ph type="title"/>
          </p:nvPr>
        </p:nvSpPr>
        <p:spPr/>
        <p:txBody>
          <a:bodyPr>
            <a:normAutofit fontScale="90000"/>
          </a:bodyPr>
          <a:lstStyle/>
          <a:p>
            <a:r>
              <a:rPr lang="en-US" dirty="0"/>
              <a:t>SQL statement updates the first sailor (</a:t>
            </a:r>
            <a:r>
              <a:rPr lang="en-US" dirty="0" err="1"/>
              <a:t>sid</a:t>
            </a:r>
            <a:r>
              <a:rPr lang="en-US" dirty="0"/>
              <a:t> = 1) with a new age and rating</a:t>
            </a:r>
          </a:p>
        </p:txBody>
      </p:sp>
      <p:sp>
        <p:nvSpPr>
          <p:cNvPr id="3" name="Content Placeholder 2">
            <a:extLst>
              <a:ext uri="{FF2B5EF4-FFF2-40B4-BE49-F238E27FC236}">
                <a16:creationId xmlns:a16="http://schemas.microsoft.com/office/drawing/2014/main" id="{FE6832DF-F616-7F84-5545-24CF67F1EC64}"/>
              </a:ext>
            </a:extLst>
          </p:cNvPr>
          <p:cNvSpPr>
            <a:spLocks noGrp="1"/>
          </p:cNvSpPr>
          <p:nvPr>
            <p:ph idx="1"/>
          </p:nvPr>
        </p:nvSpPr>
        <p:spPr>
          <a:xfrm>
            <a:off x="457200" y="1600200"/>
            <a:ext cx="8686800" cy="4525963"/>
          </a:xfrm>
        </p:spPr>
        <p:txBody>
          <a:bodyPr>
            <a:normAutofit/>
          </a:bodyPr>
          <a:lstStyle/>
          <a:p>
            <a:r>
              <a:rPr lang="en-US" sz="2800" dirty="0">
                <a:latin typeface="Courier New" panose="02070309020205020404" pitchFamily="49" charset="0"/>
                <a:cs typeface="Courier New" panose="02070309020205020404" pitchFamily="49" charset="0"/>
              </a:rPr>
              <a:t>UPDATE sailor</a:t>
            </a:r>
          </a:p>
          <a:p>
            <a:r>
              <a:rPr lang="en-US" sz="2800" dirty="0">
                <a:latin typeface="Courier New" panose="02070309020205020404" pitchFamily="49" charset="0"/>
                <a:cs typeface="Courier New" panose="02070309020205020404" pitchFamily="49" charset="0"/>
              </a:rPr>
              <a:t>SET rating = rating + 1, age = age + 2</a:t>
            </a:r>
          </a:p>
          <a:p>
            <a:r>
              <a:rPr lang="en-US" sz="2800" dirty="0">
                <a:latin typeface="Courier New" panose="02070309020205020404" pitchFamily="49" charset="0"/>
                <a:cs typeface="Courier New" panose="02070309020205020404" pitchFamily="49" charset="0"/>
              </a:rPr>
              <a:t>WHERE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 1;</a:t>
            </a:r>
          </a:p>
          <a:p>
            <a:endParaRPr lang="en-US" sz="2800" dirty="0">
              <a:cs typeface="Courier New" panose="02070309020205020404" pitchFamily="49" charset="0"/>
            </a:endParaRPr>
          </a:p>
        </p:txBody>
      </p:sp>
      <p:sp>
        <p:nvSpPr>
          <p:cNvPr id="4" name="Slide Number Placeholder 3">
            <a:extLst>
              <a:ext uri="{FF2B5EF4-FFF2-40B4-BE49-F238E27FC236}">
                <a16:creationId xmlns:a16="http://schemas.microsoft.com/office/drawing/2014/main" id="{A7422D31-F87C-E7AC-7D78-EE5870D847DD}"/>
              </a:ext>
            </a:extLst>
          </p:cNvPr>
          <p:cNvSpPr>
            <a:spLocks noGrp="1"/>
          </p:cNvSpPr>
          <p:nvPr>
            <p:ph type="sldNum" sz="quarter" idx="12"/>
          </p:nvPr>
        </p:nvSpPr>
        <p:spPr/>
        <p:txBody>
          <a:bodyPr/>
          <a:lstStyle/>
          <a:p>
            <a:fld id="{B6F15528-21DE-4FAA-801E-634DDDAF4B2B}" type="slidenum">
              <a:rPr lang="en-US" smtClean="0"/>
              <a:pPr/>
              <a:t>80</a:t>
            </a:fld>
            <a:endParaRPr lang="en-US"/>
          </a:p>
        </p:txBody>
      </p:sp>
    </p:spTree>
    <p:extLst>
      <p:ext uri="{BB962C8B-B14F-4D97-AF65-F5344CB8AC3E}">
        <p14:creationId xmlns:p14="http://schemas.microsoft.com/office/powerpoint/2010/main" val="41923413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EC53E-C101-C551-482D-D444070BD3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55AFA9-A5EB-8E09-542B-67740412510D}"/>
              </a:ext>
            </a:extLst>
          </p:cNvPr>
          <p:cNvSpPr>
            <a:spLocks noGrp="1"/>
          </p:cNvSpPr>
          <p:nvPr>
            <p:ph idx="1"/>
          </p:nvPr>
        </p:nvSpPr>
        <p:spPr/>
        <p:txBody>
          <a:bodyPr>
            <a:normAutofit/>
          </a:bodyPr>
          <a:lstStyle/>
          <a:p>
            <a:r>
              <a:rPr lang="en-US" sz="2800" dirty="0"/>
              <a:t>go to table sailor Data tab, make the changes and press Save button from bottom toolbar.</a:t>
            </a:r>
          </a:p>
          <a:p>
            <a:endParaRPr lang="en-US" sz="2800" dirty="0"/>
          </a:p>
        </p:txBody>
      </p:sp>
      <p:sp>
        <p:nvSpPr>
          <p:cNvPr id="4" name="Slide Number Placeholder 3">
            <a:extLst>
              <a:ext uri="{FF2B5EF4-FFF2-40B4-BE49-F238E27FC236}">
                <a16:creationId xmlns:a16="http://schemas.microsoft.com/office/drawing/2014/main" id="{A5652BBF-FE55-5A7E-FAFB-3E3C61E7C985}"/>
              </a:ext>
            </a:extLst>
          </p:cNvPr>
          <p:cNvSpPr>
            <a:spLocks noGrp="1"/>
          </p:cNvSpPr>
          <p:nvPr>
            <p:ph type="sldNum" sz="quarter" idx="12"/>
          </p:nvPr>
        </p:nvSpPr>
        <p:spPr/>
        <p:txBody>
          <a:bodyPr/>
          <a:lstStyle/>
          <a:p>
            <a:fld id="{B6F15528-21DE-4FAA-801E-634DDDAF4B2B}" type="slidenum">
              <a:rPr lang="en-US" smtClean="0"/>
              <a:pPr/>
              <a:t>81</a:t>
            </a:fld>
            <a:endParaRPr lang="en-US"/>
          </a:p>
        </p:txBody>
      </p:sp>
      <p:pic>
        <p:nvPicPr>
          <p:cNvPr id="5" name="Picture 4">
            <a:extLst>
              <a:ext uri="{FF2B5EF4-FFF2-40B4-BE49-F238E27FC236}">
                <a16:creationId xmlns:a16="http://schemas.microsoft.com/office/drawing/2014/main" id="{28E90048-5831-54C3-2AD7-B1117ED2C98C}"/>
              </a:ext>
            </a:extLst>
          </p:cNvPr>
          <p:cNvPicPr>
            <a:picLocks noChangeAspect="1"/>
          </p:cNvPicPr>
          <p:nvPr/>
        </p:nvPicPr>
        <p:blipFill>
          <a:blip r:embed="rId2"/>
          <a:stretch>
            <a:fillRect/>
          </a:stretch>
        </p:blipFill>
        <p:spPr>
          <a:xfrm>
            <a:off x="914400" y="2560320"/>
            <a:ext cx="7739650" cy="3679506"/>
          </a:xfrm>
          <a:prstGeom prst="rect">
            <a:avLst/>
          </a:prstGeom>
        </p:spPr>
      </p:pic>
    </p:spTree>
    <p:extLst>
      <p:ext uri="{BB962C8B-B14F-4D97-AF65-F5344CB8AC3E}">
        <p14:creationId xmlns:p14="http://schemas.microsoft.com/office/powerpoint/2010/main" val="20398636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5B8EE-EA91-0C27-4022-341415B8EC21}"/>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BCFA51BB-4855-50F4-00E2-434ED87BF2A9}"/>
              </a:ext>
            </a:extLst>
          </p:cNvPr>
          <p:cNvSpPr>
            <a:spLocks noGrp="1"/>
          </p:cNvSpPr>
          <p:nvPr>
            <p:ph type="sldNum" sz="quarter" idx="12"/>
          </p:nvPr>
        </p:nvSpPr>
        <p:spPr/>
        <p:txBody>
          <a:bodyPr/>
          <a:lstStyle/>
          <a:p>
            <a:fld id="{B6F15528-21DE-4FAA-801E-634DDDAF4B2B}" type="slidenum">
              <a:rPr lang="en-US" smtClean="0"/>
              <a:pPr/>
              <a:t>82</a:t>
            </a:fld>
            <a:endParaRPr lang="en-US"/>
          </a:p>
        </p:txBody>
      </p:sp>
      <p:pic>
        <p:nvPicPr>
          <p:cNvPr id="5" name="Content Placeholder 4">
            <a:extLst>
              <a:ext uri="{FF2B5EF4-FFF2-40B4-BE49-F238E27FC236}">
                <a16:creationId xmlns:a16="http://schemas.microsoft.com/office/drawing/2014/main" id="{DE07BF35-0A2A-7980-10AB-5A5E2BD107B4}"/>
              </a:ext>
            </a:extLst>
          </p:cNvPr>
          <p:cNvPicPr>
            <a:picLocks noGrp="1" noChangeAspect="1"/>
          </p:cNvPicPr>
          <p:nvPr>
            <p:ph idx="1"/>
          </p:nvPr>
        </p:nvPicPr>
        <p:blipFill>
          <a:blip r:embed="rId2"/>
          <a:stretch>
            <a:fillRect/>
          </a:stretch>
        </p:blipFill>
        <p:spPr>
          <a:xfrm>
            <a:off x="182880" y="365760"/>
            <a:ext cx="8839019" cy="6063292"/>
          </a:xfrm>
          <a:prstGeom prst="rect">
            <a:avLst/>
          </a:prstGeom>
        </p:spPr>
      </p:pic>
    </p:spTree>
    <p:extLst>
      <p:ext uri="{BB962C8B-B14F-4D97-AF65-F5344CB8AC3E}">
        <p14:creationId xmlns:p14="http://schemas.microsoft.com/office/powerpoint/2010/main" val="6045732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2C7D-3B40-DF37-A897-D0A425C4873B}"/>
              </a:ext>
            </a:extLst>
          </p:cNvPr>
          <p:cNvSpPr>
            <a:spLocks noGrp="1"/>
          </p:cNvSpPr>
          <p:nvPr>
            <p:ph type="title"/>
          </p:nvPr>
        </p:nvSpPr>
        <p:spPr/>
        <p:txBody>
          <a:bodyPr/>
          <a:lstStyle/>
          <a:p>
            <a:r>
              <a:rPr lang="en-US" dirty="0"/>
              <a:t>DELETE statement</a:t>
            </a:r>
          </a:p>
        </p:txBody>
      </p:sp>
      <p:sp>
        <p:nvSpPr>
          <p:cNvPr id="3" name="Content Placeholder 2">
            <a:extLst>
              <a:ext uri="{FF2B5EF4-FFF2-40B4-BE49-F238E27FC236}">
                <a16:creationId xmlns:a16="http://schemas.microsoft.com/office/drawing/2014/main" id="{94FE4139-F1A7-42FB-825E-0AAFE72F2BE5}"/>
              </a:ext>
            </a:extLst>
          </p:cNvPr>
          <p:cNvSpPr>
            <a:spLocks noGrp="1"/>
          </p:cNvSpPr>
          <p:nvPr>
            <p:ph idx="1"/>
          </p:nvPr>
        </p:nvSpPr>
        <p:spPr/>
        <p:txBody>
          <a:bodyPr>
            <a:normAutofit/>
          </a:bodyPr>
          <a:lstStyle/>
          <a:p>
            <a:r>
              <a:rPr lang="en-US" sz="2800" dirty="0"/>
              <a:t>used to delete existing records in a table</a:t>
            </a:r>
          </a:p>
          <a:p>
            <a:r>
              <a:rPr lang="en-US" sz="2800" dirty="0"/>
              <a:t>DELETE FROM </a:t>
            </a:r>
            <a:r>
              <a:rPr lang="en-US" sz="2800" dirty="0" err="1"/>
              <a:t>table_name</a:t>
            </a:r>
            <a:r>
              <a:rPr lang="en-US" sz="2800" dirty="0"/>
              <a:t> WHERE condition;</a:t>
            </a:r>
          </a:p>
          <a:p>
            <a:endParaRPr lang="en-US" sz="2800" dirty="0"/>
          </a:p>
          <a:p>
            <a:r>
              <a:rPr lang="en-US" sz="2800" dirty="0"/>
              <a:t>WHERE clause specifies which record(s) should be deleted; if omit the WHERE clause, all records in  table will be deleted!</a:t>
            </a:r>
          </a:p>
          <a:p>
            <a:endParaRPr lang="en-US" sz="2800" dirty="0"/>
          </a:p>
        </p:txBody>
      </p:sp>
      <p:sp>
        <p:nvSpPr>
          <p:cNvPr id="4" name="Slide Number Placeholder 3">
            <a:extLst>
              <a:ext uri="{FF2B5EF4-FFF2-40B4-BE49-F238E27FC236}">
                <a16:creationId xmlns:a16="http://schemas.microsoft.com/office/drawing/2014/main" id="{4B2D6E5B-2EB1-8A92-9D05-77763861FE5A}"/>
              </a:ext>
            </a:extLst>
          </p:cNvPr>
          <p:cNvSpPr>
            <a:spLocks noGrp="1"/>
          </p:cNvSpPr>
          <p:nvPr>
            <p:ph type="sldNum" sz="quarter" idx="12"/>
          </p:nvPr>
        </p:nvSpPr>
        <p:spPr/>
        <p:txBody>
          <a:bodyPr/>
          <a:lstStyle/>
          <a:p>
            <a:fld id="{B6F15528-21DE-4FAA-801E-634DDDAF4B2B}" type="slidenum">
              <a:rPr lang="en-US" smtClean="0"/>
              <a:pPr/>
              <a:t>83</a:t>
            </a:fld>
            <a:endParaRPr lang="en-US"/>
          </a:p>
        </p:txBody>
      </p:sp>
    </p:spTree>
    <p:extLst>
      <p:ext uri="{BB962C8B-B14F-4D97-AF65-F5344CB8AC3E}">
        <p14:creationId xmlns:p14="http://schemas.microsoft.com/office/powerpoint/2010/main" val="31089287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2D655-F117-99C6-BD05-D8E030085B91}"/>
              </a:ext>
            </a:extLst>
          </p:cNvPr>
          <p:cNvSpPr>
            <a:spLocks noGrp="1"/>
          </p:cNvSpPr>
          <p:nvPr>
            <p:ph type="title"/>
          </p:nvPr>
        </p:nvSpPr>
        <p:spPr/>
        <p:txBody>
          <a:bodyPr>
            <a:normAutofit fontScale="90000"/>
          </a:bodyPr>
          <a:lstStyle/>
          <a:p>
            <a:r>
              <a:rPr lang="en-US" dirty="0"/>
              <a:t>SQL statement deletes Klaus </a:t>
            </a:r>
            <a:br>
              <a:rPr lang="en-US" dirty="0"/>
            </a:br>
            <a:r>
              <a:rPr lang="en-US" dirty="0"/>
              <a:t>from the sailor table</a:t>
            </a:r>
          </a:p>
        </p:txBody>
      </p:sp>
      <p:sp>
        <p:nvSpPr>
          <p:cNvPr id="3" name="Content Placeholder 2">
            <a:extLst>
              <a:ext uri="{FF2B5EF4-FFF2-40B4-BE49-F238E27FC236}">
                <a16:creationId xmlns:a16="http://schemas.microsoft.com/office/drawing/2014/main" id="{E908FB77-0414-9829-4ED6-82D00383D340}"/>
              </a:ext>
            </a:extLst>
          </p:cNvPr>
          <p:cNvSpPr>
            <a:spLocks noGrp="1"/>
          </p:cNvSpPr>
          <p:nvPr>
            <p:ph idx="1"/>
          </p:nvPr>
        </p:nvSpPr>
        <p:spPr/>
        <p:txBody>
          <a:bodyPr/>
          <a:lstStyle/>
          <a:p>
            <a:r>
              <a:rPr lang="en-US" sz="2800" dirty="0">
                <a:latin typeface="Courier New" panose="02070309020205020404" pitchFamily="49" charset="0"/>
                <a:cs typeface="Courier New" panose="02070309020205020404" pitchFamily="49" charset="0"/>
              </a:rPr>
              <a:t>DELETE FROM sailor WHERE </a:t>
            </a:r>
            <a:r>
              <a:rPr lang="en-US" sz="2800" dirty="0" err="1">
                <a:latin typeface="Courier New" panose="02070309020205020404" pitchFamily="49" charset="0"/>
                <a:cs typeface="Courier New" panose="02070309020205020404" pitchFamily="49" charset="0"/>
              </a:rPr>
              <a:t>sname</a:t>
            </a:r>
            <a:r>
              <a:rPr lang="en-US" sz="2800" dirty="0">
                <a:latin typeface="Courier New" panose="02070309020205020404" pitchFamily="49" charset="0"/>
                <a:cs typeface="Courier New" panose="02070309020205020404" pitchFamily="49" charset="0"/>
              </a:rPr>
              <a:t>='Klaus';</a:t>
            </a:r>
          </a:p>
          <a:p>
            <a:endParaRPr lang="en-US" sz="2800" dirty="0"/>
          </a:p>
        </p:txBody>
      </p:sp>
      <p:sp>
        <p:nvSpPr>
          <p:cNvPr id="4" name="Slide Number Placeholder 3">
            <a:extLst>
              <a:ext uri="{FF2B5EF4-FFF2-40B4-BE49-F238E27FC236}">
                <a16:creationId xmlns:a16="http://schemas.microsoft.com/office/drawing/2014/main" id="{3AF4E809-28D4-7569-5B6B-BEB6BB8FF72B}"/>
              </a:ext>
            </a:extLst>
          </p:cNvPr>
          <p:cNvSpPr>
            <a:spLocks noGrp="1"/>
          </p:cNvSpPr>
          <p:nvPr>
            <p:ph type="sldNum" sz="quarter" idx="12"/>
          </p:nvPr>
        </p:nvSpPr>
        <p:spPr/>
        <p:txBody>
          <a:bodyPr/>
          <a:lstStyle/>
          <a:p>
            <a:fld id="{B6F15528-21DE-4FAA-801E-634DDDAF4B2B}" type="slidenum">
              <a:rPr lang="en-US" smtClean="0"/>
              <a:pPr/>
              <a:t>84</a:t>
            </a:fld>
            <a:endParaRPr lang="en-US"/>
          </a:p>
        </p:txBody>
      </p:sp>
    </p:spTree>
    <p:extLst>
      <p:ext uri="{BB962C8B-B14F-4D97-AF65-F5344CB8AC3E}">
        <p14:creationId xmlns:p14="http://schemas.microsoft.com/office/powerpoint/2010/main" val="17571041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98256-2163-0377-9B3A-A9EDE8F80E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67D5BBA-736B-4D14-41D1-D8178BD53ADF}"/>
              </a:ext>
            </a:extLst>
          </p:cNvPr>
          <p:cNvSpPr>
            <a:spLocks noGrp="1"/>
          </p:cNvSpPr>
          <p:nvPr>
            <p:ph idx="1"/>
          </p:nvPr>
        </p:nvSpPr>
        <p:spPr/>
        <p:txBody>
          <a:bodyPr/>
          <a:lstStyle/>
          <a:p>
            <a:r>
              <a:rPr lang="en-US" sz="2800" dirty="0"/>
              <a:t>possible to delete all rows in table without deleting table; table structure, attributes, and indexes will be intact</a:t>
            </a:r>
          </a:p>
          <a:p>
            <a:r>
              <a:rPr lang="en-US" sz="2800" dirty="0"/>
              <a:t>DELETE FROM </a:t>
            </a:r>
            <a:r>
              <a:rPr lang="en-US" sz="2800" dirty="0" err="1"/>
              <a:t>table_name</a:t>
            </a:r>
            <a:r>
              <a:rPr lang="en-US" sz="2800" dirty="0"/>
              <a:t>;</a:t>
            </a:r>
          </a:p>
          <a:p>
            <a:endParaRPr lang="en-US" dirty="0"/>
          </a:p>
        </p:txBody>
      </p:sp>
      <p:sp>
        <p:nvSpPr>
          <p:cNvPr id="4" name="Slide Number Placeholder 3">
            <a:extLst>
              <a:ext uri="{FF2B5EF4-FFF2-40B4-BE49-F238E27FC236}">
                <a16:creationId xmlns:a16="http://schemas.microsoft.com/office/drawing/2014/main" id="{16123E1E-1DD5-FC24-06F6-E70BC77F4E63}"/>
              </a:ext>
            </a:extLst>
          </p:cNvPr>
          <p:cNvSpPr>
            <a:spLocks noGrp="1"/>
          </p:cNvSpPr>
          <p:nvPr>
            <p:ph type="sldNum" sz="quarter" idx="12"/>
          </p:nvPr>
        </p:nvSpPr>
        <p:spPr/>
        <p:txBody>
          <a:bodyPr/>
          <a:lstStyle/>
          <a:p>
            <a:fld id="{B6F15528-21DE-4FAA-801E-634DDDAF4B2B}" type="slidenum">
              <a:rPr lang="en-US" smtClean="0"/>
              <a:pPr/>
              <a:t>85</a:t>
            </a:fld>
            <a:endParaRPr lang="en-US"/>
          </a:p>
        </p:txBody>
      </p:sp>
    </p:spTree>
    <p:extLst>
      <p:ext uri="{BB962C8B-B14F-4D97-AF65-F5344CB8AC3E}">
        <p14:creationId xmlns:p14="http://schemas.microsoft.com/office/powerpoint/2010/main" val="30452229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07E9C-C530-FF26-7488-8B289DD5FFE7}"/>
              </a:ext>
            </a:extLst>
          </p:cNvPr>
          <p:cNvSpPr>
            <a:spLocks noGrp="1"/>
          </p:cNvSpPr>
          <p:nvPr>
            <p:ph type="title"/>
          </p:nvPr>
        </p:nvSpPr>
        <p:spPr/>
        <p:txBody>
          <a:bodyPr>
            <a:noAutofit/>
          </a:bodyPr>
          <a:lstStyle/>
          <a:p>
            <a:r>
              <a:rPr lang="en-US" sz="3600" dirty="0"/>
              <a:t>deletion from GUI</a:t>
            </a:r>
            <a:br>
              <a:rPr lang="en-US" sz="3600" dirty="0"/>
            </a:br>
            <a:r>
              <a:rPr lang="en-US" sz="3600" dirty="0"/>
              <a:t>pressing Delete current row button </a:t>
            </a:r>
            <a:br>
              <a:rPr lang="en-US" sz="3600" dirty="0"/>
            </a:br>
            <a:r>
              <a:rPr lang="en-US" sz="3600" dirty="0"/>
              <a:t>from bottom toolbar:</a:t>
            </a:r>
          </a:p>
        </p:txBody>
      </p:sp>
      <p:sp>
        <p:nvSpPr>
          <p:cNvPr id="4" name="Slide Number Placeholder 3">
            <a:extLst>
              <a:ext uri="{FF2B5EF4-FFF2-40B4-BE49-F238E27FC236}">
                <a16:creationId xmlns:a16="http://schemas.microsoft.com/office/drawing/2014/main" id="{AD274943-745F-B7AA-3D9C-1C8C904486FC}"/>
              </a:ext>
            </a:extLst>
          </p:cNvPr>
          <p:cNvSpPr>
            <a:spLocks noGrp="1"/>
          </p:cNvSpPr>
          <p:nvPr>
            <p:ph type="sldNum" sz="quarter" idx="12"/>
          </p:nvPr>
        </p:nvSpPr>
        <p:spPr/>
        <p:txBody>
          <a:bodyPr/>
          <a:lstStyle/>
          <a:p>
            <a:fld id="{B6F15528-21DE-4FAA-801E-634DDDAF4B2B}" type="slidenum">
              <a:rPr lang="en-US" smtClean="0"/>
              <a:pPr/>
              <a:t>86</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39F8E47B-B6D5-05CA-1351-9B8F060C898F}"/>
              </a:ext>
            </a:extLst>
          </p:cNvPr>
          <p:cNvPicPr>
            <a:picLocks noGrp="1" noChangeAspect="1"/>
          </p:cNvPicPr>
          <p:nvPr>
            <p:ph idx="1"/>
          </p:nvPr>
        </p:nvPicPr>
        <p:blipFill>
          <a:blip r:embed="rId2"/>
          <a:stretch>
            <a:fillRect/>
          </a:stretch>
        </p:blipFill>
        <p:spPr>
          <a:xfrm>
            <a:off x="182880" y="1645920"/>
            <a:ext cx="6784879" cy="5217365"/>
          </a:xfrm>
          <a:prstGeom prst="rect">
            <a:avLst/>
          </a:prstGeom>
        </p:spPr>
      </p:pic>
    </p:spTree>
    <p:extLst>
      <p:ext uri="{BB962C8B-B14F-4D97-AF65-F5344CB8AC3E}">
        <p14:creationId xmlns:p14="http://schemas.microsoft.com/office/powerpoint/2010/main" val="14337726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5571C-AA4C-5F38-A415-38E1BB1096BF}"/>
              </a:ext>
            </a:extLst>
          </p:cNvPr>
          <p:cNvSpPr>
            <a:spLocks noGrp="1"/>
          </p:cNvSpPr>
          <p:nvPr>
            <p:ph type="title"/>
          </p:nvPr>
        </p:nvSpPr>
        <p:spPr/>
        <p:txBody>
          <a:bodyPr>
            <a:normAutofit/>
          </a:bodyPr>
          <a:lstStyle/>
          <a:p>
            <a:r>
              <a:rPr lang="en-US" dirty="0"/>
              <a:t>statements will succeed:</a:t>
            </a:r>
          </a:p>
        </p:txBody>
      </p:sp>
      <p:sp>
        <p:nvSpPr>
          <p:cNvPr id="3" name="Content Placeholder 2">
            <a:extLst>
              <a:ext uri="{FF2B5EF4-FFF2-40B4-BE49-F238E27FC236}">
                <a16:creationId xmlns:a16="http://schemas.microsoft.com/office/drawing/2014/main" id="{CCE289C4-9A52-A1BD-D006-504BAB9DF8E2}"/>
              </a:ext>
            </a:extLst>
          </p:cNvPr>
          <p:cNvSpPr>
            <a:spLocks noGrp="1"/>
          </p:cNvSpPr>
          <p:nvPr>
            <p:ph idx="1"/>
          </p:nvPr>
        </p:nvSpPr>
        <p:spPr/>
        <p:txBody>
          <a:bodyPr>
            <a:noAutofit/>
          </a:bodyPr>
          <a:lstStyle/>
          <a:p>
            <a:r>
              <a:rPr lang="en-US" sz="2800" dirty="0">
                <a:latin typeface="Courier New" panose="02070309020205020404" pitchFamily="49" charset="0"/>
                <a:cs typeface="Courier New" panose="02070309020205020404" pitchFamily="49" charset="0"/>
              </a:rPr>
              <a:t>INSERT INTO sailor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sname</a:t>
            </a:r>
            <a:r>
              <a:rPr lang="en-US" sz="2800" dirty="0">
                <a:latin typeface="Courier New" panose="02070309020205020404" pitchFamily="49" charset="0"/>
                <a:cs typeface="Courier New" panose="02070309020205020404" pitchFamily="49" charset="0"/>
              </a:rPr>
              <a:t>, age, rating) </a:t>
            </a:r>
          </a:p>
          <a:p>
            <a:r>
              <a:rPr lang="en-US" sz="2800" dirty="0">
                <a:latin typeface="Courier New" panose="02070309020205020404" pitchFamily="49" charset="0"/>
                <a:cs typeface="Courier New" panose="02070309020205020404" pitchFamily="49" charset="0"/>
              </a:rPr>
              <a:t>VALUES (1, 'Traian', 73, 10.0);</a:t>
            </a:r>
          </a:p>
          <a:p>
            <a:endParaRPr lang="en-US" sz="1000" dirty="0">
              <a:latin typeface="Courier New" panose="02070309020205020404" pitchFamily="49" charset="0"/>
              <a:cs typeface="Courier New" panose="02070309020205020404" pitchFamily="49" charset="0"/>
            </a:endParaRPr>
          </a:p>
          <a:p>
            <a:r>
              <a:rPr lang="en-US" sz="2800" dirty="0">
                <a:latin typeface="Courier New" panose="02070309020205020404" pitchFamily="49" charset="0"/>
                <a:cs typeface="Courier New" panose="02070309020205020404" pitchFamily="49" charset="0"/>
              </a:rPr>
              <a:t>INSERT INTO boat (bid, </a:t>
            </a:r>
            <a:r>
              <a:rPr lang="en-US" sz="2800" dirty="0" err="1">
                <a:latin typeface="Courier New" panose="02070309020205020404" pitchFamily="49" charset="0"/>
                <a:cs typeface="Courier New" panose="02070309020205020404" pitchFamily="49" charset="0"/>
              </a:rPr>
              <a:t>bname</a:t>
            </a:r>
            <a:r>
              <a:rPr lang="en-US" sz="2800" dirty="0">
                <a:latin typeface="Courier New" panose="02070309020205020404" pitchFamily="49" charset="0"/>
                <a:cs typeface="Courier New" panose="02070309020205020404" pitchFamily="49" charset="0"/>
              </a:rPr>
              <a:t>, color) </a:t>
            </a:r>
          </a:p>
          <a:p>
            <a:r>
              <a:rPr lang="en-US" sz="2800" dirty="0">
                <a:latin typeface="Courier New" panose="02070309020205020404" pitchFamily="49" charset="0"/>
                <a:cs typeface="Courier New" panose="02070309020205020404" pitchFamily="49" charset="0"/>
              </a:rPr>
              <a:t>VALUES (1, '</a:t>
            </a:r>
            <a:r>
              <a:rPr lang="en-US" sz="2800" dirty="0" err="1">
                <a:latin typeface="Courier New" panose="02070309020205020404" pitchFamily="49" charset="0"/>
                <a:cs typeface="Courier New" panose="02070309020205020404" pitchFamily="49" charset="0"/>
              </a:rPr>
              <a:t>Independenta</a:t>
            </a:r>
            <a:r>
              <a:rPr lang="en-US" sz="2800" dirty="0">
                <a:latin typeface="Courier New" panose="02070309020205020404" pitchFamily="49" charset="0"/>
                <a:cs typeface="Courier New" panose="02070309020205020404" pitchFamily="49" charset="0"/>
              </a:rPr>
              <a:t>', 'steel grey’);</a:t>
            </a:r>
          </a:p>
          <a:p>
            <a:endParaRPr lang="en-US" sz="1000" dirty="0">
              <a:latin typeface="Courier New" panose="02070309020205020404" pitchFamily="49" charset="0"/>
              <a:cs typeface="Courier New" panose="02070309020205020404" pitchFamily="49" charset="0"/>
            </a:endParaRPr>
          </a:p>
          <a:p>
            <a:r>
              <a:rPr lang="en-US" sz="2800" dirty="0">
                <a:latin typeface="Courier New" panose="02070309020205020404" pitchFamily="49" charset="0"/>
                <a:cs typeface="Courier New" panose="02070309020205020404" pitchFamily="49" charset="0"/>
              </a:rPr>
              <a:t>INSERT INTO reserve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bid, day) </a:t>
            </a:r>
          </a:p>
          <a:p>
            <a:r>
              <a:rPr lang="en-US" sz="2800" dirty="0">
                <a:latin typeface="Courier New" panose="02070309020205020404" pitchFamily="49" charset="0"/>
                <a:cs typeface="Courier New" panose="02070309020205020404" pitchFamily="49" charset="0"/>
              </a:rPr>
              <a:t>VALUES (1, 1, 1)</a:t>
            </a:r>
          </a:p>
        </p:txBody>
      </p:sp>
      <p:sp>
        <p:nvSpPr>
          <p:cNvPr id="4" name="Slide Number Placeholder 3">
            <a:extLst>
              <a:ext uri="{FF2B5EF4-FFF2-40B4-BE49-F238E27FC236}">
                <a16:creationId xmlns:a16="http://schemas.microsoft.com/office/drawing/2014/main" id="{811F166F-DE78-9F6E-03CD-E7B3B0899D01}"/>
              </a:ext>
            </a:extLst>
          </p:cNvPr>
          <p:cNvSpPr>
            <a:spLocks noGrp="1"/>
          </p:cNvSpPr>
          <p:nvPr>
            <p:ph type="sldNum" sz="quarter" idx="12"/>
          </p:nvPr>
        </p:nvSpPr>
        <p:spPr/>
        <p:txBody>
          <a:bodyPr/>
          <a:lstStyle/>
          <a:p>
            <a:fld id="{B6F15528-21DE-4FAA-801E-634DDDAF4B2B}" type="slidenum">
              <a:rPr lang="en-US" smtClean="0"/>
              <a:pPr/>
              <a:t>87</a:t>
            </a:fld>
            <a:endParaRPr lang="en-US"/>
          </a:p>
        </p:txBody>
      </p:sp>
    </p:spTree>
    <p:extLst>
      <p:ext uri="{BB962C8B-B14F-4D97-AF65-F5344CB8AC3E}">
        <p14:creationId xmlns:p14="http://schemas.microsoft.com/office/powerpoint/2010/main" val="39076017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D9FB7-16B7-EB28-3BFA-A80D5CDA40EA}"/>
              </a:ext>
            </a:extLst>
          </p:cNvPr>
          <p:cNvSpPr>
            <a:spLocks noGrp="1"/>
          </p:cNvSpPr>
          <p:nvPr>
            <p:ph type="title"/>
          </p:nvPr>
        </p:nvSpPr>
        <p:spPr/>
        <p:txBody>
          <a:bodyPr>
            <a:normAutofit fontScale="90000"/>
          </a:bodyPr>
          <a:lstStyle/>
          <a:p>
            <a:r>
              <a:rPr lang="en-US" dirty="0"/>
              <a:t>statements will fail with foreign key integrity constraints violation</a:t>
            </a:r>
          </a:p>
        </p:txBody>
      </p:sp>
      <p:sp>
        <p:nvSpPr>
          <p:cNvPr id="3" name="Content Placeholder 2">
            <a:extLst>
              <a:ext uri="{FF2B5EF4-FFF2-40B4-BE49-F238E27FC236}">
                <a16:creationId xmlns:a16="http://schemas.microsoft.com/office/drawing/2014/main" id="{4B02DDC3-C56C-95AD-A244-AD0D94A8B1AB}"/>
              </a:ext>
            </a:extLst>
          </p:cNvPr>
          <p:cNvSpPr>
            <a:spLocks noGrp="1"/>
          </p:cNvSpPr>
          <p:nvPr>
            <p:ph idx="1"/>
          </p:nvPr>
        </p:nvSpPr>
        <p:spPr>
          <a:xfrm>
            <a:off x="457200" y="1600200"/>
            <a:ext cx="8534400" cy="4525963"/>
          </a:xfrm>
        </p:spPr>
        <p:txBody>
          <a:bodyPr>
            <a:normAutofit/>
          </a:bodyPr>
          <a:lstStyle/>
          <a:p>
            <a:r>
              <a:rPr lang="en-US" sz="2800" dirty="0">
                <a:latin typeface="Courier New" panose="02070309020205020404" pitchFamily="49" charset="0"/>
                <a:cs typeface="Courier New" panose="02070309020205020404" pitchFamily="49" charset="0"/>
              </a:rPr>
              <a:t>INSERT INTO reserve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bid, day) VALUES (2, 2, 2)</a:t>
            </a:r>
          </a:p>
          <a:p>
            <a:endParaRPr lang="en-US" sz="1200" dirty="0">
              <a:latin typeface="Courier New" panose="02070309020205020404" pitchFamily="49" charset="0"/>
              <a:cs typeface="Courier New" panose="02070309020205020404" pitchFamily="49" charset="0"/>
            </a:endParaRPr>
          </a:p>
          <a:p>
            <a:r>
              <a:rPr lang="en-US" sz="2800" dirty="0">
                <a:latin typeface="Courier New" panose="02070309020205020404" pitchFamily="49" charset="0"/>
                <a:cs typeface="Courier New" panose="02070309020205020404" pitchFamily="49" charset="0"/>
              </a:rPr>
              <a:t>UPDATE reserve SET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 2 </a:t>
            </a:r>
          </a:p>
          <a:p>
            <a:r>
              <a:rPr lang="en-US" sz="2800" dirty="0">
                <a:latin typeface="Courier New" panose="02070309020205020404" pitchFamily="49" charset="0"/>
                <a:cs typeface="Courier New" panose="02070309020205020404" pitchFamily="49" charset="0"/>
              </a:rPr>
              <a:t>WHERE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 1 AND bid = 1 and day = 1</a:t>
            </a:r>
          </a:p>
          <a:p>
            <a:endParaRPr lang="en-US" sz="1200" dirty="0">
              <a:latin typeface="Courier New" panose="02070309020205020404" pitchFamily="49" charset="0"/>
              <a:cs typeface="Courier New" panose="02070309020205020404" pitchFamily="49" charset="0"/>
            </a:endParaRPr>
          </a:p>
          <a:p>
            <a:r>
              <a:rPr lang="en-US" sz="2800" dirty="0">
                <a:latin typeface="Courier New" panose="02070309020205020404" pitchFamily="49" charset="0"/>
                <a:cs typeface="Courier New" panose="02070309020205020404" pitchFamily="49" charset="0"/>
              </a:rPr>
              <a:t>DELETE FROM sailor WHERE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 1</a:t>
            </a:r>
          </a:p>
        </p:txBody>
      </p:sp>
      <p:sp>
        <p:nvSpPr>
          <p:cNvPr id="4" name="Slide Number Placeholder 3">
            <a:extLst>
              <a:ext uri="{FF2B5EF4-FFF2-40B4-BE49-F238E27FC236}">
                <a16:creationId xmlns:a16="http://schemas.microsoft.com/office/drawing/2014/main" id="{2AC879B6-6D16-E1DF-310E-3B8CB4EA2FCB}"/>
              </a:ext>
            </a:extLst>
          </p:cNvPr>
          <p:cNvSpPr>
            <a:spLocks noGrp="1"/>
          </p:cNvSpPr>
          <p:nvPr>
            <p:ph type="sldNum" sz="quarter" idx="12"/>
          </p:nvPr>
        </p:nvSpPr>
        <p:spPr/>
        <p:txBody>
          <a:bodyPr/>
          <a:lstStyle/>
          <a:p>
            <a:fld id="{B6F15528-21DE-4FAA-801E-634DDDAF4B2B}" type="slidenum">
              <a:rPr lang="en-US" smtClean="0"/>
              <a:pPr/>
              <a:t>88</a:t>
            </a:fld>
            <a:endParaRPr lang="en-US"/>
          </a:p>
        </p:txBody>
      </p:sp>
    </p:spTree>
    <p:extLst>
      <p:ext uri="{BB962C8B-B14F-4D97-AF65-F5344CB8AC3E}">
        <p14:creationId xmlns:p14="http://schemas.microsoft.com/office/powerpoint/2010/main" val="18339466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B9828-1007-51D2-4621-135A6FC52C5D}"/>
              </a:ext>
            </a:extLst>
          </p:cNvPr>
          <p:cNvSpPr>
            <a:spLocks noGrp="1"/>
          </p:cNvSpPr>
          <p:nvPr>
            <p:ph type="title"/>
          </p:nvPr>
        </p:nvSpPr>
        <p:spPr/>
        <p:txBody>
          <a:bodyPr>
            <a:normAutofit/>
          </a:bodyPr>
          <a:lstStyle/>
          <a:p>
            <a:r>
              <a:rPr lang="en-US" dirty="0"/>
              <a:t>foreign key integrity constraints</a:t>
            </a:r>
          </a:p>
        </p:txBody>
      </p:sp>
      <p:sp>
        <p:nvSpPr>
          <p:cNvPr id="3" name="Content Placeholder 2">
            <a:extLst>
              <a:ext uri="{FF2B5EF4-FFF2-40B4-BE49-F238E27FC236}">
                <a16:creationId xmlns:a16="http://schemas.microsoft.com/office/drawing/2014/main" id="{AB8D5FAC-8D3D-226C-54DC-781A505FD93B}"/>
              </a:ext>
            </a:extLst>
          </p:cNvPr>
          <p:cNvSpPr>
            <a:spLocks noGrp="1"/>
          </p:cNvSpPr>
          <p:nvPr>
            <p:ph idx="1"/>
          </p:nvPr>
        </p:nvSpPr>
        <p:spPr/>
        <p:txBody>
          <a:bodyPr>
            <a:normAutofit/>
          </a:bodyPr>
          <a:lstStyle/>
          <a:p>
            <a:r>
              <a:rPr lang="en-US" sz="2800" dirty="0"/>
              <a:t>expressed in SQL, means that for every row in </a:t>
            </a:r>
            <a:r>
              <a:rPr lang="en-US" sz="2800" i="1" dirty="0"/>
              <a:t>reserve</a:t>
            </a:r>
            <a:r>
              <a:rPr lang="en-US" sz="2800" dirty="0"/>
              <a:t> table, following expression evaluates to true:	</a:t>
            </a:r>
            <a:r>
              <a:rPr lang="en-US" sz="2800" dirty="0" err="1"/>
              <a:t>sid</a:t>
            </a:r>
            <a:r>
              <a:rPr lang="en-US" sz="2800" dirty="0"/>
              <a:t> IS NULL OR EXISTS(SELECT 1 FROM sailor WHERE </a:t>
            </a:r>
            <a:r>
              <a:rPr lang="en-US" sz="2800" dirty="0" err="1"/>
              <a:t>sailor.sid</a:t>
            </a:r>
            <a:r>
              <a:rPr lang="en-US" sz="2800" dirty="0"/>
              <a:t>=</a:t>
            </a:r>
            <a:r>
              <a:rPr lang="en-US" sz="2800" dirty="0" err="1"/>
              <a:t>reserve.sid</a:t>
            </a:r>
            <a:r>
              <a:rPr lang="en-US" sz="2800" dirty="0"/>
              <a:t>)</a:t>
            </a:r>
          </a:p>
          <a:p>
            <a:r>
              <a:rPr lang="en-US" sz="2800" dirty="0"/>
              <a:t>if application requires a stricter relationship between sailor / boat and reserve, where NULL values are not permitted in the reserve columns, simply add the appropriate "NOT NULL" constraint to schema</a:t>
            </a:r>
          </a:p>
          <a:p>
            <a:endParaRPr lang="en-US" sz="2800" dirty="0"/>
          </a:p>
        </p:txBody>
      </p:sp>
      <p:sp>
        <p:nvSpPr>
          <p:cNvPr id="4" name="Slide Number Placeholder 3">
            <a:extLst>
              <a:ext uri="{FF2B5EF4-FFF2-40B4-BE49-F238E27FC236}">
                <a16:creationId xmlns:a16="http://schemas.microsoft.com/office/drawing/2014/main" id="{7DB96E3B-F695-47DB-7FAC-C6F02F4294DD}"/>
              </a:ext>
            </a:extLst>
          </p:cNvPr>
          <p:cNvSpPr>
            <a:spLocks noGrp="1"/>
          </p:cNvSpPr>
          <p:nvPr>
            <p:ph type="sldNum" sz="quarter" idx="12"/>
          </p:nvPr>
        </p:nvSpPr>
        <p:spPr/>
        <p:txBody>
          <a:bodyPr/>
          <a:lstStyle/>
          <a:p>
            <a:fld id="{B6F15528-21DE-4FAA-801E-634DDDAF4B2B}" type="slidenum">
              <a:rPr lang="en-US" smtClean="0"/>
              <a:pPr/>
              <a:t>89</a:t>
            </a:fld>
            <a:endParaRPr lang="en-US"/>
          </a:p>
        </p:txBody>
      </p:sp>
    </p:spTree>
    <p:extLst>
      <p:ext uri="{BB962C8B-B14F-4D97-AF65-F5344CB8AC3E}">
        <p14:creationId xmlns:p14="http://schemas.microsoft.com/office/powerpoint/2010/main" val="35398176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6A1B2-8616-6966-4070-DE513E69B6C1}"/>
              </a:ext>
            </a:extLst>
          </p:cNvPr>
          <p:cNvSpPr>
            <a:spLocks noGrp="1"/>
          </p:cNvSpPr>
          <p:nvPr>
            <p:ph type="title"/>
          </p:nvPr>
        </p:nvSpPr>
        <p:spPr/>
        <p:txBody>
          <a:bodyPr>
            <a:noAutofit/>
          </a:bodyPr>
          <a:lstStyle/>
          <a:p>
            <a:r>
              <a:rPr lang="en-US" sz="3600" dirty="0">
                <a:latin typeface="Courier New" panose="02070309020205020404" pitchFamily="49" charset="0"/>
                <a:cs typeface="Courier New" panose="02070309020205020404" pitchFamily="49" charset="0"/>
              </a:rPr>
              <a:t>INSERT INTO reserve (</a:t>
            </a:r>
            <a:r>
              <a:rPr lang="en-US" sz="3600" dirty="0" err="1">
                <a:latin typeface="Courier New" panose="02070309020205020404" pitchFamily="49" charset="0"/>
                <a:cs typeface="Courier New" panose="02070309020205020404" pitchFamily="49" charset="0"/>
              </a:rPr>
              <a:t>sid</a:t>
            </a:r>
            <a:r>
              <a:rPr lang="en-US" sz="3600" dirty="0">
                <a:latin typeface="Courier New" panose="02070309020205020404" pitchFamily="49" charset="0"/>
                <a:cs typeface="Courier New" panose="02070309020205020404" pitchFamily="49" charset="0"/>
              </a:rPr>
              <a:t>, bid, day) VALUES (2, 2, 2)</a:t>
            </a:r>
          </a:p>
        </p:txBody>
      </p:sp>
      <p:sp>
        <p:nvSpPr>
          <p:cNvPr id="4" name="Slide Number Placeholder 3">
            <a:extLst>
              <a:ext uri="{FF2B5EF4-FFF2-40B4-BE49-F238E27FC236}">
                <a16:creationId xmlns:a16="http://schemas.microsoft.com/office/drawing/2014/main" id="{63F028C1-1FDF-2127-A7FB-29D194094B9B}"/>
              </a:ext>
            </a:extLst>
          </p:cNvPr>
          <p:cNvSpPr>
            <a:spLocks noGrp="1"/>
          </p:cNvSpPr>
          <p:nvPr>
            <p:ph type="sldNum" sz="quarter" idx="12"/>
          </p:nvPr>
        </p:nvSpPr>
        <p:spPr/>
        <p:txBody>
          <a:bodyPr/>
          <a:lstStyle/>
          <a:p>
            <a:fld id="{B6F15528-21DE-4FAA-801E-634DDDAF4B2B}" type="slidenum">
              <a:rPr lang="en-US" smtClean="0"/>
              <a:pPr/>
              <a:t>90</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4166276D-5E9E-C7C1-258C-77B47AC269B1}"/>
              </a:ext>
            </a:extLst>
          </p:cNvPr>
          <p:cNvPicPr>
            <a:picLocks noGrp="1" noChangeAspect="1"/>
          </p:cNvPicPr>
          <p:nvPr>
            <p:ph idx="1"/>
          </p:nvPr>
        </p:nvPicPr>
        <p:blipFill>
          <a:blip r:embed="rId2"/>
          <a:stretch>
            <a:fillRect/>
          </a:stretch>
        </p:blipFill>
        <p:spPr>
          <a:xfrm>
            <a:off x="365760" y="1463039"/>
            <a:ext cx="8287469" cy="4892465"/>
          </a:xfrm>
          <a:prstGeom prst="rect">
            <a:avLst/>
          </a:prstGeom>
        </p:spPr>
      </p:pic>
    </p:spTree>
    <p:extLst>
      <p:ext uri="{BB962C8B-B14F-4D97-AF65-F5344CB8AC3E}">
        <p14:creationId xmlns:p14="http://schemas.microsoft.com/office/powerpoint/2010/main" val="12525405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3ADEF-6477-560A-7A80-F5CAFAB8A9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E4B10A7-8045-E0D1-1ED1-554ECEE41EB8}"/>
              </a:ext>
            </a:extLst>
          </p:cNvPr>
          <p:cNvSpPr>
            <a:spLocks noGrp="1"/>
          </p:cNvSpPr>
          <p:nvPr>
            <p:ph idx="1"/>
          </p:nvPr>
        </p:nvSpPr>
        <p:spPr>
          <a:xfrm>
            <a:off x="457200" y="1600200"/>
            <a:ext cx="8534400" cy="4525963"/>
          </a:xfrm>
        </p:spPr>
        <p:txBody>
          <a:bodyPr>
            <a:normAutofit/>
          </a:bodyPr>
          <a:lstStyle/>
          <a:p>
            <a:r>
              <a:rPr lang="en-US" sz="2800" dirty="0">
                <a:latin typeface="Courier New" panose="02070309020205020404" pitchFamily="49" charset="0"/>
                <a:cs typeface="Courier New" panose="02070309020205020404" pitchFamily="49" charset="0"/>
              </a:rPr>
              <a:t>UPDATE reserve SET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 2 </a:t>
            </a:r>
          </a:p>
          <a:p>
            <a:r>
              <a:rPr lang="en-US" sz="2800" dirty="0">
                <a:latin typeface="Courier New" panose="02070309020205020404" pitchFamily="49" charset="0"/>
                <a:cs typeface="Courier New" panose="02070309020205020404" pitchFamily="49" charset="0"/>
              </a:rPr>
              <a:t>WHERE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 1 AND bid = 1 and day = 1</a:t>
            </a:r>
          </a:p>
          <a:p>
            <a:r>
              <a:rPr lang="en-US" sz="2800" dirty="0"/>
              <a:t>SQL Error [19]: [SQLITE_CONSTRAINT_FOREIGNKEY] A foreign key constraint failed (FOREIGN KEY constraint failed)</a:t>
            </a:r>
          </a:p>
          <a:p>
            <a:r>
              <a:rPr lang="en-US" sz="2800" dirty="0">
                <a:latin typeface="Courier New" panose="02070309020205020404" pitchFamily="49" charset="0"/>
                <a:cs typeface="Courier New" panose="02070309020205020404" pitchFamily="49" charset="0"/>
              </a:rPr>
              <a:t>DELETE FROM sailor WHERE </a:t>
            </a:r>
            <a:r>
              <a:rPr lang="en-US" sz="2800" dirty="0" err="1">
                <a:latin typeface="Courier New" panose="02070309020205020404" pitchFamily="49" charset="0"/>
                <a:cs typeface="Courier New" panose="02070309020205020404" pitchFamily="49" charset="0"/>
              </a:rPr>
              <a:t>sid</a:t>
            </a:r>
            <a:r>
              <a:rPr lang="en-US" sz="2800" dirty="0">
                <a:latin typeface="Courier New" panose="02070309020205020404" pitchFamily="49" charset="0"/>
                <a:cs typeface="Courier New" panose="02070309020205020404" pitchFamily="49" charset="0"/>
              </a:rPr>
              <a:t> = 1</a:t>
            </a:r>
          </a:p>
          <a:p>
            <a:r>
              <a:rPr lang="en-US" sz="2800" dirty="0"/>
              <a:t>SQL Error [19]: [SQLITE_CONSTRAINT_TRIGGER] A RAISE function within a trigger fired, causing the SQL statement to abort (FOREIGN KEY constraint failed)</a:t>
            </a:r>
          </a:p>
          <a:p>
            <a:endParaRPr lang="en-US" sz="2800" dirty="0"/>
          </a:p>
        </p:txBody>
      </p:sp>
      <p:sp>
        <p:nvSpPr>
          <p:cNvPr id="4" name="Slide Number Placeholder 3">
            <a:extLst>
              <a:ext uri="{FF2B5EF4-FFF2-40B4-BE49-F238E27FC236}">
                <a16:creationId xmlns:a16="http://schemas.microsoft.com/office/drawing/2014/main" id="{618AD3C7-352E-F69C-B92D-9FCDD832D93B}"/>
              </a:ext>
            </a:extLst>
          </p:cNvPr>
          <p:cNvSpPr>
            <a:spLocks noGrp="1"/>
          </p:cNvSpPr>
          <p:nvPr>
            <p:ph type="sldNum" sz="quarter" idx="12"/>
          </p:nvPr>
        </p:nvSpPr>
        <p:spPr/>
        <p:txBody>
          <a:bodyPr/>
          <a:lstStyle/>
          <a:p>
            <a:fld id="{B6F15528-21DE-4FAA-801E-634DDDAF4B2B}" type="slidenum">
              <a:rPr lang="en-US" smtClean="0"/>
              <a:pPr/>
              <a:t>91</a:t>
            </a:fld>
            <a:endParaRPr lang="en-US"/>
          </a:p>
        </p:txBody>
      </p:sp>
    </p:spTree>
    <p:extLst>
      <p:ext uri="{BB962C8B-B14F-4D97-AF65-F5344CB8AC3E}">
        <p14:creationId xmlns:p14="http://schemas.microsoft.com/office/powerpoint/2010/main" val="25566997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006C99-C07F-D684-855A-75AC9B151264}"/>
              </a:ext>
            </a:extLst>
          </p:cNvPr>
          <p:cNvSpPr>
            <a:spLocks noGrp="1"/>
          </p:cNvSpPr>
          <p:nvPr>
            <p:ph type="title"/>
          </p:nvPr>
        </p:nvSpPr>
        <p:spPr/>
        <p:txBody>
          <a:bodyPr/>
          <a:lstStyle/>
          <a:p>
            <a:endParaRPr lang="en-US" dirty="0"/>
          </a:p>
        </p:txBody>
      </p:sp>
      <p:sp>
        <p:nvSpPr>
          <p:cNvPr id="6" name="Text Placeholder 5">
            <a:extLst>
              <a:ext uri="{FF2B5EF4-FFF2-40B4-BE49-F238E27FC236}">
                <a16:creationId xmlns:a16="http://schemas.microsoft.com/office/drawing/2014/main" id="{2EF99151-D960-5A1A-01E9-7468CC968B6E}"/>
              </a:ext>
            </a:extLst>
          </p:cNvPr>
          <p:cNvSpPr>
            <a:spLocks noGrp="1"/>
          </p:cNvSpPr>
          <p:nvPr>
            <p:ph type="body" idx="1"/>
          </p:nvPr>
        </p:nvSpPr>
        <p:spPr/>
        <p:txBody>
          <a:bodyPr>
            <a:normAutofit/>
          </a:bodyPr>
          <a:lstStyle/>
          <a:p>
            <a:r>
              <a:rPr lang="en-US" sz="4400" dirty="0"/>
              <a:t>More SELECT SQL</a:t>
            </a:r>
          </a:p>
        </p:txBody>
      </p:sp>
      <p:sp>
        <p:nvSpPr>
          <p:cNvPr id="4" name="Slide Number Placeholder 3">
            <a:extLst>
              <a:ext uri="{FF2B5EF4-FFF2-40B4-BE49-F238E27FC236}">
                <a16:creationId xmlns:a16="http://schemas.microsoft.com/office/drawing/2014/main" id="{5BE8280B-09F0-5261-6866-303050142CCA}"/>
              </a:ext>
            </a:extLst>
          </p:cNvPr>
          <p:cNvSpPr>
            <a:spLocks noGrp="1"/>
          </p:cNvSpPr>
          <p:nvPr>
            <p:ph type="sldNum" sz="quarter" idx="12"/>
          </p:nvPr>
        </p:nvSpPr>
        <p:spPr/>
        <p:txBody>
          <a:bodyPr/>
          <a:lstStyle/>
          <a:p>
            <a:fld id="{B6F15528-21DE-4FAA-801E-634DDDAF4B2B}" type="slidenum">
              <a:rPr lang="en-US" smtClean="0"/>
              <a:pPr/>
              <a:t>92</a:t>
            </a:fld>
            <a:endParaRPr lang="en-US"/>
          </a:p>
        </p:txBody>
      </p:sp>
    </p:spTree>
    <p:extLst>
      <p:ext uri="{BB962C8B-B14F-4D97-AF65-F5344CB8AC3E}">
        <p14:creationId xmlns:p14="http://schemas.microsoft.com/office/powerpoint/2010/main" val="41263073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625A58-1978-2FDA-9EAE-58434A0D6740}"/>
              </a:ext>
            </a:extLst>
          </p:cNvPr>
          <p:cNvSpPr>
            <a:spLocks noGrp="1"/>
          </p:cNvSpPr>
          <p:nvPr>
            <p:ph type="title"/>
          </p:nvPr>
        </p:nvSpPr>
        <p:spPr/>
        <p:txBody>
          <a:bodyPr/>
          <a:lstStyle/>
          <a:p>
            <a:r>
              <a:rPr lang="en-US" dirty="0"/>
              <a:t>SELECT TOP Clause</a:t>
            </a:r>
          </a:p>
        </p:txBody>
      </p:sp>
      <p:sp>
        <p:nvSpPr>
          <p:cNvPr id="6" name="Content Placeholder 5">
            <a:extLst>
              <a:ext uri="{FF2B5EF4-FFF2-40B4-BE49-F238E27FC236}">
                <a16:creationId xmlns:a16="http://schemas.microsoft.com/office/drawing/2014/main" id="{F55933B0-C5D1-EBEB-CC6B-B25CF412433B}"/>
              </a:ext>
            </a:extLst>
          </p:cNvPr>
          <p:cNvSpPr>
            <a:spLocks noGrp="1"/>
          </p:cNvSpPr>
          <p:nvPr>
            <p:ph idx="1"/>
          </p:nvPr>
        </p:nvSpPr>
        <p:spPr/>
        <p:txBody>
          <a:bodyPr>
            <a:normAutofit/>
          </a:bodyPr>
          <a:lstStyle/>
          <a:p>
            <a:r>
              <a:rPr lang="en-US" sz="2800" dirty="0"/>
              <a:t>used to specify number of records to return</a:t>
            </a:r>
          </a:p>
          <a:p>
            <a:r>
              <a:rPr lang="en-US" sz="2800" dirty="0"/>
              <a:t>useful on large tables with thousands of records; returning large number of records can impact performance</a:t>
            </a:r>
          </a:p>
          <a:p>
            <a:r>
              <a:rPr lang="en-US" sz="2800" dirty="0"/>
              <a:t>Select only the first 3 records of the Customers table:</a:t>
            </a:r>
          </a:p>
          <a:p>
            <a:r>
              <a:rPr lang="en-US" sz="2800" dirty="0">
                <a:latin typeface="Courier New" panose="02070309020205020404" pitchFamily="49" charset="0"/>
                <a:cs typeface="Courier New" panose="02070309020205020404" pitchFamily="49" charset="0"/>
              </a:rPr>
              <a:t>SELECT TOP 3 * FROM Customers;</a:t>
            </a:r>
          </a:p>
        </p:txBody>
      </p:sp>
      <p:sp>
        <p:nvSpPr>
          <p:cNvPr id="4" name="Slide Number Placeholder 3">
            <a:extLst>
              <a:ext uri="{FF2B5EF4-FFF2-40B4-BE49-F238E27FC236}">
                <a16:creationId xmlns:a16="http://schemas.microsoft.com/office/drawing/2014/main" id="{26853782-D89E-EE02-C3B0-918D2989C20A}"/>
              </a:ext>
            </a:extLst>
          </p:cNvPr>
          <p:cNvSpPr>
            <a:spLocks noGrp="1"/>
          </p:cNvSpPr>
          <p:nvPr>
            <p:ph type="sldNum" sz="quarter" idx="12"/>
          </p:nvPr>
        </p:nvSpPr>
        <p:spPr/>
        <p:txBody>
          <a:bodyPr/>
          <a:lstStyle/>
          <a:p>
            <a:fld id="{B6F15528-21DE-4FAA-801E-634DDDAF4B2B}" type="slidenum">
              <a:rPr lang="en-US" smtClean="0"/>
              <a:pPr/>
              <a:t>93</a:t>
            </a:fld>
            <a:endParaRPr lang="en-US"/>
          </a:p>
        </p:txBody>
      </p:sp>
    </p:spTree>
    <p:extLst>
      <p:ext uri="{BB962C8B-B14F-4D97-AF65-F5344CB8AC3E}">
        <p14:creationId xmlns:p14="http://schemas.microsoft.com/office/powerpoint/2010/main" val="37707703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427B2-DF0D-8943-5140-385666F86A3B}"/>
              </a:ext>
            </a:extLst>
          </p:cNvPr>
          <p:cNvSpPr>
            <a:spLocks noGrp="1"/>
          </p:cNvSpPr>
          <p:nvPr>
            <p:ph type="title"/>
          </p:nvPr>
        </p:nvSpPr>
        <p:spPr>
          <a:xfrm>
            <a:off x="457200" y="274637"/>
            <a:ext cx="8229600" cy="2009775"/>
          </a:xfrm>
        </p:spPr>
        <p:txBody>
          <a:bodyPr>
            <a:normAutofit fontScale="90000"/>
          </a:bodyPr>
          <a:lstStyle/>
          <a:p>
            <a:r>
              <a:rPr lang="en-US" dirty="0"/>
              <a:t>LIMIT clause is an optional part of  SELECT to constrain number of rows returned by query</a:t>
            </a:r>
          </a:p>
        </p:txBody>
      </p:sp>
      <p:sp>
        <p:nvSpPr>
          <p:cNvPr id="3" name="Content Placeholder 2">
            <a:extLst>
              <a:ext uri="{FF2B5EF4-FFF2-40B4-BE49-F238E27FC236}">
                <a16:creationId xmlns:a16="http://schemas.microsoft.com/office/drawing/2014/main" id="{B12C3C3A-F7F9-680A-1BC3-0FBEFD6004EA}"/>
              </a:ext>
            </a:extLst>
          </p:cNvPr>
          <p:cNvSpPr>
            <a:spLocks noGrp="1"/>
          </p:cNvSpPr>
          <p:nvPr>
            <p:ph idx="1"/>
          </p:nvPr>
        </p:nvSpPr>
        <p:spPr>
          <a:xfrm>
            <a:off x="457200" y="2514600"/>
            <a:ext cx="8229600" cy="3611563"/>
          </a:xfrm>
        </p:spPr>
        <p:txBody>
          <a:bodyPr>
            <a:normAutofit/>
          </a:bodyPr>
          <a:lstStyle/>
          <a:p>
            <a:r>
              <a:rPr lang="en-US" sz="2700" b="1" dirty="0">
                <a:latin typeface="Courier New" panose="02070309020205020404" pitchFamily="49" charset="0"/>
                <a:cs typeface="Courier New" panose="02070309020205020404" pitchFamily="49" charset="0"/>
              </a:rPr>
              <a:t>select</a:t>
            </a:r>
            <a:r>
              <a:rPr lang="en-US" sz="2700" dirty="0">
                <a:latin typeface="Courier New" panose="02070309020205020404" pitchFamily="49" charset="0"/>
                <a:cs typeface="Courier New" panose="02070309020205020404" pitchFamily="49" charset="0"/>
              </a:rPr>
              <a:t> * </a:t>
            </a:r>
            <a:r>
              <a:rPr lang="en-US" sz="2700" b="1" dirty="0">
                <a:latin typeface="Courier New" panose="02070309020205020404" pitchFamily="49" charset="0"/>
                <a:cs typeface="Courier New" panose="02070309020205020404" pitchFamily="49" charset="0"/>
              </a:rPr>
              <a:t>from</a:t>
            </a:r>
            <a:r>
              <a:rPr lang="en-US" sz="2700" dirty="0">
                <a:latin typeface="Courier New" panose="02070309020205020404" pitchFamily="49" charset="0"/>
                <a:cs typeface="Courier New" panose="02070309020205020404" pitchFamily="49" charset="0"/>
              </a:rPr>
              <a:t> customers</a:t>
            </a:r>
          </a:p>
          <a:p>
            <a:r>
              <a:rPr lang="en-US" sz="2700" b="1" dirty="0">
                <a:latin typeface="Courier New" panose="02070309020205020404" pitchFamily="49" charset="0"/>
                <a:cs typeface="Courier New" panose="02070309020205020404" pitchFamily="49" charset="0"/>
              </a:rPr>
              <a:t>limit</a:t>
            </a:r>
            <a:r>
              <a:rPr lang="en-US" sz="2700" dirty="0">
                <a:latin typeface="Courier New" panose="02070309020205020404" pitchFamily="49" charset="0"/>
                <a:cs typeface="Courier New" panose="02070309020205020404" pitchFamily="49" charset="0"/>
              </a:rPr>
              <a:t> 5</a:t>
            </a:r>
          </a:p>
          <a:p>
            <a:endParaRPr lang="en-US" sz="2700" b="1" dirty="0">
              <a:latin typeface="Courier New" panose="02070309020205020404" pitchFamily="49" charset="0"/>
              <a:cs typeface="Courier New" panose="02070309020205020404" pitchFamily="49" charset="0"/>
            </a:endParaRPr>
          </a:p>
          <a:p>
            <a:r>
              <a:rPr lang="en-US" sz="2700" b="1" dirty="0">
                <a:latin typeface="Courier New" panose="02070309020205020404" pitchFamily="49" charset="0"/>
                <a:cs typeface="Courier New" panose="02070309020205020404" pitchFamily="49" charset="0"/>
              </a:rPr>
              <a:t>select</a:t>
            </a:r>
            <a:r>
              <a:rPr lang="en-US" sz="2700" dirty="0">
                <a:latin typeface="Courier New" panose="02070309020205020404" pitchFamily="49" charset="0"/>
                <a:cs typeface="Courier New" panose="02070309020205020404" pitchFamily="49" charset="0"/>
              </a:rPr>
              <a:t> * </a:t>
            </a:r>
            <a:r>
              <a:rPr lang="en-US" sz="2700" b="1" dirty="0">
                <a:latin typeface="Courier New" panose="02070309020205020404" pitchFamily="49" charset="0"/>
                <a:cs typeface="Courier New" panose="02070309020205020404" pitchFamily="49" charset="0"/>
              </a:rPr>
              <a:t>from</a:t>
            </a:r>
            <a:r>
              <a:rPr lang="en-US" sz="2700" dirty="0">
                <a:latin typeface="Courier New" panose="02070309020205020404" pitchFamily="49" charset="0"/>
                <a:cs typeface="Courier New" panose="02070309020205020404" pitchFamily="49" charset="0"/>
              </a:rPr>
              <a:t> products</a:t>
            </a:r>
          </a:p>
          <a:p>
            <a:r>
              <a:rPr lang="en-US" sz="2700" b="1" dirty="0">
                <a:latin typeface="Courier New" panose="02070309020205020404" pitchFamily="49" charset="0"/>
                <a:cs typeface="Courier New" panose="02070309020205020404" pitchFamily="49" charset="0"/>
              </a:rPr>
              <a:t>order</a:t>
            </a:r>
            <a:r>
              <a:rPr lang="en-US" sz="2700" dirty="0">
                <a:latin typeface="Courier New" panose="02070309020205020404" pitchFamily="49" charset="0"/>
                <a:cs typeface="Courier New" panose="02070309020205020404" pitchFamily="49" charset="0"/>
              </a:rPr>
              <a:t> </a:t>
            </a:r>
            <a:r>
              <a:rPr lang="en-US" sz="2700" b="1" dirty="0">
                <a:latin typeface="Courier New" panose="02070309020205020404" pitchFamily="49" charset="0"/>
                <a:cs typeface="Courier New" panose="02070309020205020404" pitchFamily="49" charset="0"/>
              </a:rPr>
              <a:t>by</a:t>
            </a:r>
            <a:r>
              <a:rPr lang="en-US" sz="2700" dirty="0">
                <a:latin typeface="Courier New" panose="02070309020205020404" pitchFamily="49" charset="0"/>
                <a:cs typeface="Courier New" panose="02070309020205020404" pitchFamily="49" charset="0"/>
              </a:rPr>
              <a:t> </a:t>
            </a:r>
            <a:r>
              <a:rPr lang="en-US" sz="2700" dirty="0" err="1">
                <a:latin typeface="Courier New" panose="02070309020205020404" pitchFamily="49" charset="0"/>
                <a:cs typeface="Courier New" panose="02070309020205020404" pitchFamily="49" charset="0"/>
              </a:rPr>
              <a:t>unit_price</a:t>
            </a:r>
            <a:r>
              <a:rPr lang="en-US" sz="2700" dirty="0">
                <a:latin typeface="Courier New" panose="02070309020205020404" pitchFamily="49" charset="0"/>
                <a:cs typeface="Courier New" panose="02070309020205020404" pitchFamily="49" charset="0"/>
              </a:rPr>
              <a:t> </a:t>
            </a:r>
            <a:r>
              <a:rPr lang="en-US" sz="2700" b="1" dirty="0">
                <a:latin typeface="Courier New" panose="02070309020205020404" pitchFamily="49" charset="0"/>
                <a:cs typeface="Courier New" panose="02070309020205020404" pitchFamily="49" charset="0"/>
              </a:rPr>
              <a:t>DESC</a:t>
            </a:r>
            <a:endParaRPr lang="en-US" sz="2700" dirty="0">
              <a:latin typeface="Courier New" panose="02070309020205020404" pitchFamily="49" charset="0"/>
              <a:cs typeface="Courier New" panose="02070309020205020404" pitchFamily="49" charset="0"/>
            </a:endParaRPr>
          </a:p>
          <a:p>
            <a:r>
              <a:rPr lang="en-US" sz="2700" b="1" dirty="0">
                <a:latin typeface="Courier New" panose="02070309020205020404" pitchFamily="49" charset="0"/>
                <a:cs typeface="Courier New" panose="02070309020205020404" pitchFamily="49" charset="0"/>
              </a:rPr>
              <a:t>limit</a:t>
            </a:r>
            <a:r>
              <a:rPr lang="en-US" sz="2700" dirty="0">
                <a:latin typeface="Courier New" panose="02070309020205020404" pitchFamily="49" charset="0"/>
                <a:cs typeface="Courier New" panose="02070309020205020404" pitchFamily="49" charset="0"/>
              </a:rPr>
              <a:t> 5</a:t>
            </a:r>
          </a:p>
        </p:txBody>
      </p:sp>
      <p:sp>
        <p:nvSpPr>
          <p:cNvPr id="4" name="Slide Number Placeholder 3">
            <a:extLst>
              <a:ext uri="{FF2B5EF4-FFF2-40B4-BE49-F238E27FC236}">
                <a16:creationId xmlns:a16="http://schemas.microsoft.com/office/drawing/2014/main" id="{7AFEA341-0D17-4173-CA1B-A1FE8178F06B}"/>
              </a:ext>
            </a:extLst>
          </p:cNvPr>
          <p:cNvSpPr>
            <a:spLocks noGrp="1"/>
          </p:cNvSpPr>
          <p:nvPr>
            <p:ph type="sldNum" sz="quarter" idx="12"/>
          </p:nvPr>
        </p:nvSpPr>
        <p:spPr/>
        <p:txBody>
          <a:bodyPr/>
          <a:lstStyle/>
          <a:p>
            <a:fld id="{B6F15528-21DE-4FAA-801E-634DDDAF4B2B}" type="slidenum">
              <a:rPr lang="en-US" smtClean="0"/>
              <a:pPr/>
              <a:t>94</a:t>
            </a:fld>
            <a:endParaRPr lang="en-US"/>
          </a:p>
        </p:txBody>
      </p:sp>
    </p:spTree>
    <p:extLst>
      <p:ext uri="{BB962C8B-B14F-4D97-AF65-F5344CB8AC3E}">
        <p14:creationId xmlns:p14="http://schemas.microsoft.com/office/powerpoint/2010/main" val="28917856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8A49B-4FA3-7511-03A7-E2D60927C4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4B043D-E3EE-2948-2C36-3C9E0AB70F56}"/>
              </a:ext>
            </a:extLst>
          </p:cNvPr>
          <p:cNvSpPr>
            <a:spLocks noGrp="1"/>
          </p:cNvSpPr>
          <p:nvPr>
            <p:ph idx="1"/>
          </p:nvPr>
        </p:nvSpPr>
        <p:spPr/>
        <p:txBody>
          <a:bodyPr/>
          <a:lstStyle/>
          <a:p>
            <a:r>
              <a:rPr lang="en-US" dirty="0"/>
              <a:t>to get the first 10 rows starting from the 10</a:t>
            </a:r>
            <a:r>
              <a:rPr lang="en-US" baseline="30000" dirty="0"/>
              <a:t>th</a:t>
            </a:r>
            <a:r>
              <a:rPr lang="en-US" dirty="0"/>
              <a:t> row of result set, use OFFSET keyword</a:t>
            </a:r>
          </a:p>
          <a:p>
            <a:r>
              <a:rPr lang="en-US" sz="2700" b="1" dirty="0">
                <a:latin typeface="Courier New" panose="02070309020205020404" pitchFamily="49" charset="0"/>
                <a:cs typeface="Courier New" panose="02070309020205020404" pitchFamily="49" charset="0"/>
              </a:rPr>
              <a:t>select</a:t>
            </a:r>
            <a:r>
              <a:rPr lang="en-US" sz="2700" dirty="0">
                <a:latin typeface="Courier New" panose="02070309020205020404" pitchFamily="49" charset="0"/>
                <a:cs typeface="Courier New" panose="02070309020205020404" pitchFamily="49" charset="0"/>
              </a:rPr>
              <a:t> * </a:t>
            </a:r>
            <a:r>
              <a:rPr lang="en-US" sz="2700" b="1" dirty="0">
                <a:latin typeface="Courier New" panose="02070309020205020404" pitchFamily="49" charset="0"/>
                <a:cs typeface="Courier New" panose="02070309020205020404" pitchFamily="49" charset="0"/>
              </a:rPr>
              <a:t>from</a:t>
            </a:r>
            <a:r>
              <a:rPr lang="en-US" sz="2700" dirty="0">
                <a:latin typeface="Courier New" panose="02070309020205020404" pitchFamily="49" charset="0"/>
                <a:cs typeface="Courier New" panose="02070309020205020404" pitchFamily="49" charset="0"/>
              </a:rPr>
              <a:t> products</a:t>
            </a:r>
          </a:p>
          <a:p>
            <a:r>
              <a:rPr lang="en-US" sz="2700" b="1" dirty="0">
                <a:latin typeface="Courier New" panose="02070309020205020404" pitchFamily="49" charset="0"/>
                <a:cs typeface="Courier New" panose="02070309020205020404" pitchFamily="49" charset="0"/>
              </a:rPr>
              <a:t>order</a:t>
            </a:r>
            <a:r>
              <a:rPr lang="en-US" sz="2700" dirty="0">
                <a:latin typeface="Courier New" panose="02070309020205020404" pitchFamily="49" charset="0"/>
                <a:cs typeface="Courier New" panose="02070309020205020404" pitchFamily="49" charset="0"/>
              </a:rPr>
              <a:t> </a:t>
            </a:r>
            <a:r>
              <a:rPr lang="en-US" sz="2700" b="1" dirty="0">
                <a:latin typeface="Courier New" panose="02070309020205020404" pitchFamily="49" charset="0"/>
                <a:cs typeface="Courier New" panose="02070309020205020404" pitchFamily="49" charset="0"/>
              </a:rPr>
              <a:t>by</a:t>
            </a:r>
            <a:r>
              <a:rPr lang="en-US" sz="2700" dirty="0">
                <a:latin typeface="Courier New" panose="02070309020205020404" pitchFamily="49" charset="0"/>
                <a:cs typeface="Courier New" panose="02070309020205020404" pitchFamily="49" charset="0"/>
              </a:rPr>
              <a:t> </a:t>
            </a:r>
            <a:r>
              <a:rPr lang="en-US" sz="2700" dirty="0" err="1">
                <a:latin typeface="Courier New" panose="02070309020205020404" pitchFamily="49" charset="0"/>
                <a:cs typeface="Courier New" panose="02070309020205020404" pitchFamily="49" charset="0"/>
              </a:rPr>
              <a:t>unit_price</a:t>
            </a:r>
            <a:r>
              <a:rPr lang="en-US" sz="2700" dirty="0">
                <a:latin typeface="Courier New" panose="02070309020205020404" pitchFamily="49" charset="0"/>
                <a:cs typeface="Courier New" panose="02070309020205020404" pitchFamily="49" charset="0"/>
              </a:rPr>
              <a:t> </a:t>
            </a:r>
            <a:r>
              <a:rPr lang="en-US" sz="2700" b="1" dirty="0">
                <a:latin typeface="Courier New" panose="02070309020205020404" pitchFamily="49" charset="0"/>
                <a:cs typeface="Courier New" panose="02070309020205020404" pitchFamily="49" charset="0"/>
              </a:rPr>
              <a:t>DESC</a:t>
            </a:r>
            <a:endParaRPr lang="en-US" sz="2700" dirty="0">
              <a:latin typeface="Courier New" panose="02070309020205020404" pitchFamily="49" charset="0"/>
              <a:cs typeface="Courier New" panose="02070309020205020404" pitchFamily="49" charset="0"/>
            </a:endParaRPr>
          </a:p>
          <a:p>
            <a:r>
              <a:rPr lang="en-US" sz="2700" b="1" dirty="0">
                <a:latin typeface="Courier New" panose="02070309020205020404" pitchFamily="49" charset="0"/>
                <a:cs typeface="Courier New" panose="02070309020205020404" pitchFamily="49" charset="0"/>
              </a:rPr>
              <a:t>limit</a:t>
            </a:r>
            <a:r>
              <a:rPr lang="en-US" sz="2700" dirty="0">
                <a:latin typeface="Courier New" panose="02070309020205020404" pitchFamily="49" charset="0"/>
                <a:cs typeface="Courier New" panose="02070309020205020404" pitchFamily="49" charset="0"/>
              </a:rPr>
              <a:t> 10</a:t>
            </a:r>
          </a:p>
          <a:p>
            <a:r>
              <a:rPr lang="en-US" sz="2700" b="1" dirty="0">
                <a:latin typeface="Courier New" panose="02070309020205020404" pitchFamily="49" charset="0"/>
                <a:cs typeface="Courier New" panose="02070309020205020404" pitchFamily="49" charset="0"/>
              </a:rPr>
              <a:t>offset</a:t>
            </a:r>
            <a:r>
              <a:rPr lang="en-US" sz="2700" dirty="0">
                <a:latin typeface="Courier New" panose="02070309020205020404" pitchFamily="49" charset="0"/>
                <a:cs typeface="Courier New" panose="02070309020205020404" pitchFamily="49" charset="0"/>
              </a:rPr>
              <a:t> 10</a:t>
            </a:r>
          </a:p>
          <a:p>
            <a:endParaRPr lang="en-US" dirty="0"/>
          </a:p>
        </p:txBody>
      </p:sp>
      <p:sp>
        <p:nvSpPr>
          <p:cNvPr id="4" name="Slide Number Placeholder 3">
            <a:extLst>
              <a:ext uri="{FF2B5EF4-FFF2-40B4-BE49-F238E27FC236}">
                <a16:creationId xmlns:a16="http://schemas.microsoft.com/office/drawing/2014/main" id="{C9E0457B-437E-3DDA-AAEB-58B71E3B98E0}"/>
              </a:ext>
            </a:extLst>
          </p:cNvPr>
          <p:cNvSpPr>
            <a:spLocks noGrp="1"/>
          </p:cNvSpPr>
          <p:nvPr>
            <p:ph type="sldNum" sz="quarter" idx="12"/>
          </p:nvPr>
        </p:nvSpPr>
        <p:spPr/>
        <p:txBody>
          <a:bodyPr/>
          <a:lstStyle/>
          <a:p>
            <a:fld id="{B6F15528-21DE-4FAA-801E-634DDDAF4B2B}" type="slidenum">
              <a:rPr lang="en-US" smtClean="0"/>
              <a:pPr/>
              <a:t>95</a:t>
            </a:fld>
            <a:endParaRPr lang="en-US"/>
          </a:p>
        </p:txBody>
      </p:sp>
    </p:spTree>
    <p:extLst>
      <p:ext uri="{BB962C8B-B14F-4D97-AF65-F5344CB8AC3E}">
        <p14:creationId xmlns:p14="http://schemas.microsoft.com/office/powerpoint/2010/main" val="40592819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215FD-3656-5A94-6855-B228B5ED5B7B}"/>
              </a:ext>
            </a:extLst>
          </p:cNvPr>
          <p:cNvSpPr>
            <a:spLocks noGrp="1"/>
          </p:cNvSpPr>
          <p:nvPr>
            <p:ph type="title"/>
          </p:nvPr>
        </p:nvSpPr>
        <p:spPr/>
        <p:txBody>
          <a:bodyPr/>
          <a:lstStyle/>
          <a:p>
            <a:r>
              <a:rPr lang="en-US" dirty="0"/>
              <a:t>Paginated View</a:t>
            </a:r>
          </a:p>
        </p:txBody>
      </p:sp>
      <p:sp>
        <p:nvSpPr>
          <p:cNvPr id="3" name="Content Placeholder 2">
            <a:extLst>
              <a:ext uri="{FF2B5EF4-FFF2-40B4-BE49-F238E27FC236}">
                <a16:creationId xmlns:a16="http://schemas.microsoft.com/office/drawing/2014/main" id="{4B09C5F2-5FCB-9396-CF61-FA6EAF4E6190}"/>
              </a:ext>
            </a:extLst>
          </p:cNvPr>
          <p:cNvSpPr>
            <a:spLocks noGrp="1"/>
          </p:cNvSpPr>
          <p:nvPr>
            <p:ph idx="1"/>
          </p:nvPr>
        </p:nvSpPr>
        <p:spPr/>
        <p:txBody>
          <a:bodyPr/>
          <a:lstStyle/>
          <a:p>
            <a:r>
              <a:rPr lang="en-US" sz="2700" b="1" dirty="0">
                <a:latin typeface="Courier New" panose="02070309020205020404" pitchFamily="49" charset="0"/>
                <a:cs typeface="Courier New" panose="02070309020205020404" pitchFamily="49" charset="0"/>
              </a:rPr>
              <a:t>select</a:t>
            </a:r>
            <a:r>
              <a:rPr lang="en-US" sz="2700" dirty="0">
                <a:latin typeface="Courier New" panose="02070309020205020404" pitchFamily="49" charset="0"/>
                <a:cs typeface="Courier New" panose="02070309020205020404" pitchFamily="49" charset="0"/>
              </a:rPr>
              <a:t> * </a:t>
            </a:r>
            <a:r>
              <a:rPr lang="en-US" sz="2700" b="1" dirty="0">
                <a:latin typeface="Courier New" panose="02070309020205020404" pitchFamily="49" charset="0"/>
                <a:cs typeface="Courier New" panose="02070309020205020404" pitchFamily="49" charset="0"/>
              </a:rPr>
              <a:t>from</a:t>
            </a:r>
            <a:r>
              <a:rPr lang="en-US" sz="2700" dirty="0">
                <a:latin typeface="Courier New" panose="02070309020205020404" pitchFamily="49" charset="0"/>
                <a:cs typeface="Courier New" panose="02070309020205020404" pitchFamily="49" charset="0"/>
              </a:rPr>
              <a:t> products</a:t>
            </a:r>
          </a:p>
          <a:p>
            <a:r>
              <a:rPr lang="en-US" sz="2700" b="1" dirty="0">
                <a:latin typeface="Courier New" panose="02070309020205020404" pitchFamily="49" charset="0"/>
                <a:cs typeface="Courier New" panose="02070309020205020404" pitchFamily="49" charset="0"/>
              </a:rPr>
              <a:t>order</a:t>
            </a:r>
            <a:r>
              <a:rPr lang="en-US" sz="2700" dirty="0">
                <a:latin typeface="Courier New" panose="02070309020205020404" pitchFamily="49" charset="0"/>
                <a:cs typeface="Courier New" panose="02070309020205020404" pitchFamily="49" charset="0"/>
              </a:rPr>
              <a:t> </a:t>
            </a:r>
            <a:r>
              <a:rPr lang="en-US" sz="2700" b="1" dirty="0">
                <a:latin typeface="Courier New" panose="02070309020205020404" pitchFamily="49" charset="0"/>
                <a:cs typeface="Courier New" panose="02070309020205020404" pitchFamily="49" charset="0"/>
              </a:rPr>
              <a:t>by</a:t>
            </a:r>
            <a:r>
              <a:rPr lang="en-US" sz="2700" dirty="0">
                <a:latin typeface="Courier New" panose="02070309020205020404" pitchFamily="49" charset="0"/>
                <a:cs typeface="Courier New" panose="02070309020205020404" pitchFamily="49" charset="0"/>
              </a:rPr>
              <a:t> </a:t>
            </a:r>
            <a:r>
              <a:rPr lang="en-US" sz="2700" dirty="0" err="1">
                <a:latin typeface="Courier New" panose="02070309020205020404" pitchFamily="49" charset="0"/>
                <a:cs typeface="Courier New" panose="02070309020205020404" pitchFamily="49" charset="0"/>
              </a:rPr>
              <a:t>unit_price</a:t>
            </a:r>
            <a:r>
              <a:rPr lang="en-US" sz="2700" dirty="0">
                <a:latin typeface="Courier New" panose="02070309020205020404" pitchFamily="49" charset="0"/>
                <a:cs typeface="Courier New" panose="02070309020205020404" pitchFamily="49" charset="0"/>
              </a:rPr>
              <a:t> </a:t>
            </a:r>
            <a:r>
              <a:rPr lang="en-US" sz="2700" b="1" dirty="0">
                <a:latin typeface="Courier New" panose="02070309020205020404" pitchFamily="49" charset="0"/>
                <a:cs typeface="Courier New" panose="02070309020205020404" pitchFamily="49" charset="0"/>
              </a:rPr>
              <a:t>DESC</a:t>
            </a:r>
            <a:endParaRPr lang="en-US" sz="2700" dirty="0">
              <a:latin typeface="Courier New" panose="02070309020205020404" pitchFamily="49" charset="0"/>
              <a:cs typeface="Courier New" panose="02070309020205020404" pitchFamily="49" charset="0"/>
            </a:endParaRPr>
          </a:p>
          <a:p>
            <a:r>
              <a:rPr lang="en-US" sz="2700" b="1" dirty="0">
                <a:latin typeface="Courier New" panose="02070309020205020404" pitchFamily="49" charset="0"/>
                <a:cs typeface="Courier New" panose="02070309020205020404" pitchFamily="49" charset="0"/>
              </a:rPr>
              <a:t>limit</a:t>
            </a:r>
            <a:r>
              <a:rPr lang="en-US" sz="2700" dirty="0">
                <a:latin typeface="Courier New" panose="02070309020205020404" pitchFamily="49" charset="0"/>
                <a:cs typeface="Courier New" panose="02070309020205020404" pitchFamily="49" charset="0"/>
              </a:rPr>
              <a:t> 10</a:t>
            </a:r>
          </a:p>
          <a:p>
            <a:r>
              <a:rPr lang="en-US" sz="2700" b="1" dirty="0">
                <a:latin typeface="Courier New" panose="02070309020205020404" pitchFamily="49" charset="0"/>
                <a:cs typeface="Courier New" panose="02070309020205020404" pitchFamily="49" charset="0"/>
              </a:rPr>
              <a:t>offset</a:t>
            </a:r>
            <a:r>
              <a:rPr lang="en-US" sz="2700" dirty="0">
                <a:latin typeface="Courier New" panose="02070309020205020404" pitchFamily="49" charset="0"/>
                <a:cs typeface="Courier New" panose="02070309020205020404" pitchFamily="49" charset="0"/>
              </a:rPr>
              <a:t> 2 * 10</a:t>
            </a:r>
          </a:p>
          <a:p>
            <a:endParaRPr lang="en-US" dirty="0"/>
          </a:p>
        </p:txBody>
      </p:sp>
      <p:sp>
        <p:nvSpPr>
          <p:cNvPr id="4" name="Slide Number Placeholder 3">
            <a:extLst>
              <a:ext uri="{FF2B5EF4-FFF2-40B4-BE49-F238E27FC236}">
                <a16:creationId xmlns:a16="http://schemas.microsoft.com/office/drawing/2014/main" id="{37D078ED-D3A1-C938-0FE1-CEC7D779565A}"/>
              </a:ext>
            </a:extLst>
          </p:cNvPr>
          <p:cNvSpPr>
            <a:spLocks noGrp="1"/>
          </p:cNvSpPr>
          <p:nvPr>
            <p:ph type="sldNum" sz="quarter" idx="12"/>
          </p:nvPr>
        </p:nvSpPr>
        <p:spPr/>
        <p:txBody>
          <a:bodyPr/>
          <a:lstStyle/>
          <a:p>
            <a:fld id="{B6F15528-21DE-4FAA-801E-634DDDAF4B2B}" type="slidenum">
              <a:rPr lang="en-US" smtClean="0"/>
              <a:pPr/>
              <a:t>96</a:t>
            </a:fld>
            <a:endParaRPr lang="en-US"/>
          </a:p>
        </p:txBody>
      </p:sp>
    </p:spTree>
    <p:extLst>
      <p:ext uri="{BB962C8B-B14F-4D97-AF65-F5344CB8AC3E}">
        <p14:creationId xmlns:p14="http://schemas.microsoft.com/office/powerpoint/2010/main" val="109202534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9A79-88F1-007E-DBB0-BA5F594F8BEE}"/>
              </a:ext>
            </a:extLst>
          </p:cNvPr>
          <p:cNvSpPr>
            <a:spLocks noGrp="1"/>
          </p:cNvSpPr>
          <p:nvPr>
            <p:ph type="title"/>
          </p:nvPr>
        </p:nvSpPr>
        <p:spPr/>
        <p:txBody>
          <a:bodyPr>
            <a:normAutofit/>
          </a:bodyPr>
          <a:lstStyle/>
          <a:p>
            <a:r>
              <a:rPr lang="en-US" dirty="0"/>
              <a:t>SQL Aliases</a:t>
            </a:r>
          </a:p>
        </p:txBody>
      </p:sp>
      <p:sp>
        <p:nvSpPr>
          <p:cNvPr id="3" name="Content Placeholder 2">
            <a:extLst>
              <a:ext uri="{FF2B5EF4-FFF2-40B4-BE49-F238E27FC236}">
                <a16:creationId xmlns:a16="http://schemas.microsoft.com/office/drawing/2014/main" id="{D0BA597A-F288-8E4E-79D4-83766871848A}"/>
              </a:ext>
            </a:extLst>
          </p:cNvPr>
          <p:cNvSpPr>
            <a:spLocks noGrp="1"/>
          </p:cNvSpPr>
          <p:nvPr>
            <p:ph idx="1"/>
          </p:nvPr>
        </p:nvSpPr>
        <p:spPr/>
        <p:txBody>
          <a:bodyPr>
            <a:normAutofit/>
          </a:bodyPr>
          <a:lstStyle/>
          <a:p>
            <a:r>
              <a:rPr lang="en-US" sz="2800" dirty="0"/>
              <a:t>SQL aliases are used to give a table, or a column in a table, a temporary name</a:t>
            </a:r>
          </a:p>
          <a:p>
            <a:r>
              <a:rPr lang="en-US" sz="2800" dirty="0"/>
              <a:t>aliases are often used to make column names more readable</a:t>
            </a:r>
          </a:p>
          <a:p>
            <a:r>
              <a:rPr lang="en-US" sz="2800" dirty="0"/>
              <a:t>alias only exists for the duration of that query</a:t>
            </a:r>
          </a:p>
          <a:p>
            <a:r>
              <a:rPr lang="en-US" sz="2800" dirty="0"/>
              <a:t>alias is created with the AS keyword</a:t>
            </a:r>
          </a:p>
          <a:p>
            <a:endParaRPr lang="en-US" sz="2800" dirty="0"/>
          </a:p>
        </p:txBody>
      </p:sp>
      <p:sp>
        <p:nvSpPr>
          <p:cNvPr id="4" name="Slide Number Placeholder 3">
            <a:extLst>
              <a:ext uri="{FF2B5EF4-FFF2-40B4-BE49-F238E27FC236}">
                <a16:creationId xmlns:a16="http://schemas.microsoft.com/office/drawing/2014/main" id="{7E278FC1-B95B-9D98-5FE8-B06FA2E292CB}"/>
              </a:ext>
            </a:extLst>
          </p:cNvPr>
          <p:cNvSpPr>
            <a:spLocks noGrp="1"/>
          </p:cNvSpPr>
          <p:nvPr>
            <p:ph type="sldNum" sz="quarter" idx="12"/>
          </p:nvPr>
        </p:nvSpPr>
        <p:spPr/>
        <p:txBody>
          <a:bodyPr/>
          <a:lstStyle/>
          <a:p>
            <a:fld id="{B6F15528-21DE-4FAA-801E-634DDDAF4B2B}" type="slidenum">
              <a:rPr lang="en-US" smtClean="0"/>
              <a:pPr/>
              <a:t>97</a:t>
            </a:fld>
            <a:endParaRPr lang="en-US"/>
          </a:p>
        </p:txBody>
      </p:sp>
    </p:spTree>
    <p:extLst>
      <p:ext uri="{BB962C8B-B14F-4D97-AF65-F5344CB8AC3E}">
        <p14:creationId xmlns:p14="http://schemas.microsoft.com/office/powerpoint/2010/main" val="30190933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B61AA-6493-C339-921E-ECC4691F82A1}"/>
              </a:ext>
            </a:extLst>
          </p:cNvPr>
          <p:cNvSpPr>
            <a:spLocks noGrp="1"/>
          </p:cNvSpPr>
          <p:nvPr>
            <p:ph type="title"/>
          </p:nvPr>
        </p:nvSpPr>
        <p:spPr/>
        <p:txBody>
          <a:bodyPr/>
          <a:lstStyle/>
          <a:p>
            <a:r>
              <a:rPr lang="en-US" dirty="0"/>
              <a:t>Table Alias</a:t>
            </a:r>
          </a:p>
        </p:txBody>
      </p:sp>
      <p:sp>
        <p:nvSpPr>
          <p:cNvPr id="3" name="Content Placeholder 2">
            <a:extLst>
              <a:ext uri="{FF2B5EF4-FFF2-40B4-BE49-F238E27FC236}">
                <a16:creationId xmlns:a16="http://schemas.microsoft.com/office/drawing/2014/main" id="{9830769F-5E29-4688-F7BD-A227937F10E1}"/>
              </a:ext>
            </a:extLst>
          </p:cNvPr>
          <p:cNvSpPr>
            <a:spLocks noGrp="1"/>
          </p:cNvSpPr>
          <p:nvPr>
            <p:ph idx="1"/>
          </p:nvPr>
        </p:nvSpPr>
        <p:spPr>
          <a:xfrm>
            <a:off x="457200" y="1417638"/>
            <a:ext cx="8229600" cy="4708525"/>
          </a:xfrm>
        </p:spPr>
        <p:txBody>
          <a:bodyPr>
            <a:noAutofit/>
          </a:bodyPr>
          <a:lstStyle/>
          <a:p>
            <a:r>
              <a:rPr lang="en-US" sz="2600" b="1" dirty="0">
                <a:latin typeface="Courier New" panose="02070309020205020404" pitchFamily="49" charset="0"/>
                <a:cs typeface="Courier New" panose="02070309020205020404" pitchFamily="49" charset="0"/>
              </a:rPr>
              <a:t>select</a:t>
            </a:r>
            <a:r>
              <a:rPr lang="en-US" sz="2600" dirty="0">
                <a:latin typeface="Courier New" panose="02070309020205020404" pitchFamily="49" charset="0"/>
                <a:cs typeface="Courier New" panose="02070309020205020404" pitchFamily="49" charset="0"/>
              </a:rPr>
              <a:t> * </a:t>
            </a:r>
            <a:r>
              <a:rPr lang="en-US" sz="2600" b="1" dirty="0">
                <a:latin typeface="Courier New" panose="02070309020205020404" pitchFamily="49" charset="0"/>
                <a:cs typeface="Courier New" panose="02070309020205020404" pitchFamily="49" charset="0"/>
              </a:rPr>
              <a:t>from</a:t>
            </a:r>
            <a:r>
              <a:rPr lang="en-US" sz="2600" dirty="0">
                <a:latin typeface="Courier New" panose="02070309020205020404" pitchFamily="49" charset="0"/>
                <a:cs typeface="Courier New" panose="02070309020205020404" pitchFamily="49" charset="0"/>
              </a:rPr>
              <a:t> suppliers </a:t>
            </a:r>
            <a:r>
              <a:rPr lang="en-US" sz="2600" i="1" dirty="0">
                <a:latin typeface="Courier New" panose="02070309020205020404" pitchFamily="49" charset="0"/>
                <a:cs typeface="Courier New" panose="02070309020205020404" pitchFamily="49" charset="0"/>
              </a:rPr>
              <a:t>s</a:t>
            </a:r>
            <a:r>
              <a:rPr lang="en-US" sz="2600" dirty="0">
                <a:latin typeface="Courier New" panose="02070309020205020404" pitchFamily="49" charset="0"/>
                <a:cs typeface="Courier New" panose="02070309020205020404" pitchFamily="49" charset="0"/>
              </a:rPr>
              <a:t> </a:t>
            </a:r>
          </a:p>
          <a:p>
            <a:r>
              <a:rPr lang="en-US" sz="2600" b="1" dirty="0">
                <a:latin typeface="Courier New" panose="02070309020205020404" pitchFamily="49" charset="0"/>
                <a:cs typeface="Courier New" panose="02070309020205020404" pitchFamily="49" charset="0"/>
              </a:rPr>
              <a:t>join</a:t>
            </a:r>
            <a:r>
              <a:rPr lang="en-US" sz="2600" dirty="0">
                <a:latin typeface="Courier New" panose="02070309020205020404" pitchFamily="49" charset="0"/>
                <a:cs typeface="Courier New" panose="02070309020205020404" pitchFamily="49" charset="0"/>
              </a:rPr>
              <a:t> products </a:t>
            </a:r>
            <a:r>
              <a:rPr lang="en-US" sz="2600" i="1" dirty="0">
                <a:latin typeface="Courier New" panose="02070309020205020404" pitchFamily="49" charset="0"/>
                <a:cs typeface="Courier New" panose="02070309020205020404" pitchFamily="49" charset="0"/>
              </a:rPr>
              <a:t>p</a:t>
            </a:r>
            <a:r>
              <a:rPr lang="en-US" sz="2600" dirty="0">
                <a:latin typeface="Courier New" panose="02070309020205020404" pitchFamily="49" charset="0"/>
                <a:cs typeface="Courier New" panose="02070309020205020404" pitchFamily="49" charset="0"/>
              </a:rPr>
              <a:t> </a:t>
            </a:r>
          </a:p>
          <a:p>
            <a:pPr lvl="1"/>
            <a:r>
              <a:rPr lang="en-US" sz="2600" b="1" dirty="0">
                <a:latin typeface="Courier New" panose="02070309020205020404" pitchFamily="49" charset="0"/>
                <a:cs typeface="Courier New" panose="02070309020205020404" pitchFamily="49" charset="0"/>
              </a:rPr>
              <a:t>on</a:t>
            </a:r>
            <a:r>
              <a:rPr lang="en-US" sz="2600" dirty="0">
                <a:latin typeface="Courier New" panose="02070309020205020404" pitchFamily="49" charset="0"/>
                <a:cs typeface="Courier New" panose="02070309020205020404" pitchFamily="49" charset="0"/>
              </a:rPr>
              <a:t> </a:t>
            </a:r>
            <a:r>
              <a:rPr lang="en-US" sz="2600" i="1" dirty="0" err="1">
                <a:latin typeface="Courier New" panose="02070309020205020404" pitchFamily="49" charset="0"/>
                <a:cs typeface="Courier New" panose="02070309020205020404" pitchFamily="49" charset="0"/>
              </a:rPr>
              <a:t>p</a:t>
            </a:r>
            <a:r>
              <a:rPr lang="en-US" sz="2600" dirty="0" err="1">
                <a:latin typeface="Courier New" panose="02070309020205020404" pitchFamily="49" charset="0"/>
                <a:cs typeface="Courier New" panose="02070309020205020404" pitchFamily="49" charset="0"/>
              </a:rPr>
              <a:t>.supplier_id</a:t>
            </a:r>
            <a:r>
              <a:rPr lang="en-US" sz="2600" dirty="0">
                <a:latin typeface="Courier New" panose="02070309020205020404" pitchFamily="49" charset="0"/>
                <a:cs typeface="Courier New" panose="02070309020205020404" pitchFamily="49" charset="0"/>
              </a:rPr>
              <a:t> = </a:t>
            </a:r>
            <a:r>
              <a:rPr lang="en-US" sz="2600" i="1" dirty="0" err="1">
                <a:latin typeface="Courier New" panose="02070309020205020404" pitchFamily="49" charset="0"/>
                <a:cs typeface="Courier New" panose="02070309020205020404" pitchFamily="49" charset="0"/>
              </a:rPr>
              <a:t>s</a:t>
            </a:r>
            <a:r>
              <a:rPr lang="en-US" sz="2600" dirty="0" err="1">
                <a:latin typeface="Courier New" panose="02070309020205020404" pitchFamily="49" charset="0"/>
                <a:cs typeface="Courier New" panose="02070309020205020404" pitchFamily="49" charset="0"/>
              </a:rPr>
              <a:t>.supplier_id</a:t>
            </a:r>
            <a:r>
              <a:rPr lang="en-US" sz="2600" dirty="0">
                <a:latin typeface="Courier New" panose="02070309020205020404" pitchFamily="49" charset="0"/>
                <a:cs typeface="Courier New" panose="02070309020205020404" pitchFamily="49" charset="0"/>
              </a:rPr>
              <a:t> </a:t>
            </a:r>
          </a:p>
          <a:p>
            <a:endParaRPr lang="en-US" sz="1600" dirty="0">
              <a:latin typeface="Courier New" panose="02070309020205020404" pitchFamily="49" charset="0"/>
              <a:cs typeface="Courier New" panose="02070309020205020404" pitchFamily="49" charset="0"/>
            </a:endParaRPr>
          </a:p>
          <a:p>
            <a:r>
              <a:rPr lang="en-US" sz="2700" b="1" dirty="0">
                <a:latin typeface="Courier New" panose="02070309020205020404" pitchFamily="49" charset="0"/>
                <a:cs typeface="Courier New" panose="02070309020205020404" pitchFamily="49" charset="0"/>
              </a:rPr>
              <a:t>select</a:t>
            </a:r>
            <a:r>
              <a:rPr lang="en-US" sz="2700" dirty="0">
                <a:latin typeface="Courier New" panose="02070309020205020404" pitchFamily="49" charset="0"/>
                <a:cs typeface="Courier New" panose="02070309020205020404" pitchFamily="49" charset="0"/>
              </a:rPr>
              <a:t> * </a:t>
            </a:r>
            <a:r>
              <a:rPr lang="en-US" sz="2700" b="1" dirty="0">
                <a:latin typeface="Courier New" panose="02070309020205020404" pitchFamily="49" charset="0"/>
                <a:cs typeface="Courier New" panose="02070309020205020404" pitchFamily="49" charset="0"/>
              </a:rPr>
              <a:t>from</a:t>
            </a:r>
            <a:r>
              <a:rPr lang="en-US" sz="2700" dirty="0">
                <a:latin typeface="Courier New" panose="02070309020205020404" pitchFamily="49" charset="0"/>
                <a:cs typeface="Courier New" panose="02070309020205020404" pitchFamily="49" charset="0"/>
              </a:rPr>
              <a:t> suppliers </a:t>
            </a:r>
            <a:r>
              <a:rPr lang="en-US" sz="2700" i="1" dirty="0">
                <a:latin typeface="Courier New" panose="02070309020205020404" pitchFamily="49" charset="0"/>
                <a:cs typeface="Courier New" panose="02070309020205020404" pitchFamily="49" charset="0"/>
              </a:rPr>
              <a:t>s</a:t>
            </a:r>
            <a:r>
              <a:rPr lang="en-US" sz="2700" dirty="0">
                <a:latin typeface="Courier New" panose="02070309020205020404" pitchFamily="49" charset="0"/>
                <a:cs typeface="Courier New" panose="02070309020205020404" pitchFamily="49" charset="0"/>
              </a:rPr>
              <a:t> </a:t>
            </a:r>
          </a:p>
          <a:p>
            <a:r>
              <a:rPr lang="en-US" sz="2700" b="1" dirty="0">
                <a:latin typeface="Courier New" panose="02070309020205020404" pitchFamily="49" charset="0"/>
                <a:cs typeface="Courier New" panose="02070309020205020404" pitchFamily="49" charset="0"/>
              </a:rPr>
              <a:t>join</a:t>
            </a:r>
            <a:r>
              <a:rPr lang="en-US" sz="2700" dirty="0">
                <a:latin typeface="Courier New" panose="02070309020205020404" pitchFamily="49" charset="0"/>
                <a:cs typeface="Courier New" panose="02070309020205020404" pitchFamily="49" charset="0"/>
              </a:rPr>
              <a:t> </a:t>
            </a:r>
            <a:r>
              <a:rPr lang="en-US" sz="2800" dirty="0">
                <a:latin typeface="Courier New" panose="02070309020205020404" pitchFamily="49" charset="0"/>
                <a:cs typeface="Courier New" panose="02070309020205020404" pitchFamily="49" charset="0"/>
              </a:rPr>
              <a:t>(</a:t>
            </a:r>
            <a:r>
              <a:rPr lang="en-US" sz="2800" b="1" dirty="0">
                <a:latin typeface="Courier New" panose="02070309020205020404" pitchFamily="49" charset="0"/>
                <a:cs typeface="Courier New" panose="02070309020205020404" pitchFamily="49" charset="0"/>
              </a:rPr>
              <a:t>select</a:t>
            </a:r>
            <a:r>
              <a:rPr lang="en-US" sz="2800" dirty="0">
                <a:latin typeface="Courier New" panose="02070309020205020404" pitchFamily="49" charset="0"/>
                <a:cs typeface="Courier New" panose="02070309020205020404" pitchFamily="49" charset="0"/>
              </a:rPr>
              <a:t> * </a:t>
            </a:r>
            <a:r>
              <a:rPr lang="en-US" sz="2800" b="1" dirty="0">
                <a:latin typeface="Courier New" panose="02070309020205020404" pitchFamily="49" charset="0"/>
                <a:cs typeface="Courier New" panose="02070309020205020404" pitchFamily="49" charset="0"/>
              </a:rPr>
              <a:t>from</a:t>
            </a:r>
            <a:r>
              <a:rPr lang="en-US" sz="2800" dirty="0">
                <a:latin typeface="Courier New" panose="02070309020205020404" pitchFamily="49" charset="0"/>
                <a:cs typeface="Courier New" panose="02070309020205020404" pitchFamily="49" charset="0"/>
              </a:rPr>
              <a:t> products</a:t>
            </a:r>
          </a:p>
          <a:p>
            <a:r>
              <a:rPr lang="en-US" sz="2800" b="1" dirty="0">
                <a:latin typeface="Courier New" panose="02070309020205020404" pitchFamily="49" charset="0"/>
                <a:cs typeface="Courier New" panose="02070309020205020404" pitchFamily="49" charset="0"/>
              </a:rPr>
              <a:t>order</a:t>
            </a:r>
            <a:r>
              <a:rPr lang="en-US" sz="2800" dirty="0">
                <a:latin typeface="Courier New" panose="02070309020205020404" pitchFamily="49" charset="0"/>
                <a:cs typeface="Courier New" panose="02070309020205020404" pitchFamily="49" charset="0"/>
              </a:rPr>
              <a:t> </a:t>
            </a:r>
            <a:r>
              <a:rPr lang="en-US" sz="2800" b="1" dirty="0">
                <a:latin typeface="Courier New" panose="02070309020205020404" pitchFamily="49" charset="0"/>
                <a:cs typeface="Courier New" panose="02070309020205020404" pitchFamily="49" charset="0"/>
              </a:rPr>
              <a:t>by</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unit_price</a:t>
            </a:r>
            <a:r>
              <a:rPr lang="en-US" sz="2800" dirty="0">
                <a:latin typeface="Courier New" panose="02070309020205020404" pitchFamily="49" charset="0"/>
                <a:cs typeface="Courier New" panose="02070309020205020404" pitchFamily="49" charset="0"/>
              </a:rPr>
              <a:t> </a:t>
            </a:r>
            <a:r>
              <a:rPr lang="en-US" sz="2800" b="1" dirty="0">
                <a:latin typeface="Courier New" panose="02070309020205020404" pitchFamily="49" charset="0"/>
                <a:cs typeface="Courier New" panose="02070309020205020404" pitchFamily="49" charset="0"/>
              </a:rPr>
              <a:t>DESC</a:t>
            </a:r>
            <a:endParaRPr lang="en-US" sz="2800" dirty="0">
              <a:latin typeface="Courier New" panose="02070309020205020404" pitchFamily="49" charset="0"/>
              <a:cs typeface="Courier New" panose="02070309020205020404" pitchFamily="49" charset="0"/>
            </a:endParaRPr>
          </a:p>
          <a:p>
            <a:r>
              <a:rPr lang="en-US" sz="2800" b="1" dirty="0">
                <a:latin typeface="Courier New" panose="02070309020205020404" pitchFamily="49" charset="0"/>
                <a:cs typeface="Courier New" panose="02070309020205020404" pitchFamily="49" charset="0"/>
              </a:rPr>
              <a:t>limit</a:t>
            </a:r>
            <a:r>
              <a:rPr lang="en-US" sz="2800" dirty="0">
                <a:latin typeface="Courier New" panose="02070309020205020404" pitchFamily="49" charset="0"/>
                <a:cs typeface="Courier New" panose="02070309020205020404" pitchFamily="49" charset="0"/>
              </a:rPr>
              <a:t> 10</a:t>
            </a:r>
          </a:p>
          <a:p>
            <a:r>
              <a:rPr lang="en-US" sz="2800" b="1" dirty="0">
                <a:latin typeface="Courier New" panose="02070309020205020404" pitchFamily="49" charset="0"/>
                <a:cs typeface="Courier New" panose="02070309020205020404" pitchFamily="49" charset="0"/>
              </a:rPr>
              <a:t>offset</a:t>
            </a:r>
            <a:r>
              <a:rPr lang="en-US" sz="2800" dirty="0">
                <a:latin typeface="Courier New" panose="02070309020205020404" pitchFamily="49" charset="0"/>
                <a:cs typeface="Courier New" panose="02070309020205020404" pitchFamily="49" charset="0"/>
              </a:rPr>
              <a:t> 2 * 10</a:t>
            </a:r>
          </a:p>
          <a:p>
            <a:r>
              <a:rPr lang="en-US" sz="2800" dirty="0">
                <a:latin typeface="Courier New" panose="02070309020205020404" pitchFamily="49" charset="0"/>
                <a:cs typeface="Courier New" panose="02070309020205020404" pitchFamily="49" charset="0"/>
              </a:rPr>
              <a:t>) </a:t>
            </a:r>
            <a:r>
              <a:rPr lang="en-US" sz="2800" i="1" dirty="0">
                <a:latin typeface="Courier New" panose="02070309020205020404" pitchFamily="49" charset="0"/>
                <a:cs typeface="Courier New" panose="02070309020205020404" pitchFamily="49" charset="0"/>
              </a:rPr>
              <a:t>p</a:t>
            </a:r>
            <a:endParaRPr lang="en-US" sz="2800" dirty="0">
              <a:latin typeface="Courier New" panose="02070309020205020404" pitchFamily="49" charset="0"/>
              <a:cs typeface="Courier New" panose="02070309020205020404" pitchFamily="49" charset="0"/>
            </a:endParaRPr>
          </a:p>
          <a:p>
            <a:pPr lvl="1"/>
            <a:r>
              <a:rPr lang="en-US" sz="2700" b="1" dirty="0">
                <a:latin typeface="Courier New" panose="02070309020205020404" pitchFamily="49" charset="0"/>
                <a:cs typeface="Courier New" panose="02070309020205020404" pitchFamily="49" charset="0"/>
              </a:rPr>
              <a:t>on</a:t>
            </a:r>
            <a:r>
              <a:rPr lang="en-US" sz="2700" dirty="0">
                <a:latin typeface="Courier New" panose="02070309020205020404" pitchFamily="49" charset="0"/>
                <a:cs typeface="Courier New" panose="02070309020205020404" pitchFamily="49" charset="0"/>
              </a:rPr>
              <a:t> </a:t>
            </a:r>
            <a:r>
              <a:rPr lang="en-US" sz="2700" i="1" dirty="0" err="1">
                <a:latin typeface="Courier New" panose="02070309020205020404" pitchFamily="49" charset="0"/>
                <a:cs typeface="Courier New" panose="02070309020205020404" pitchFamily="49" charset="0"/>
              </a:rPr>
              <a:t>p</a:t>
            </a:r>
            <a:r>
              <a:rPr lang="en-US" sz="2700" dirty="0" err="1">
                <a:latin typeface="Courier New" panose="02070309020205020404" pitchFamily="49" charset="0"/>
                <a:cs typeface="Courier New" panose="02070309020205020404" pitchFamily="49" charset="0"/>
              </a:rPr>
              <a:t>.supplier_id</a:t>
            </a:r>
            <a:r>
              <a:rPr lang="en-US" sz="2700" dirty="0">
                <a:latin typeface="Courier New" panose="02070309020205020404" pitchFamily="49" charset="0"/>
                <a:cs typeface="Courier New" panose="02070309020205020404" pitchFamily="49" charset="0"/>
              </a:rPr>
              <a:t> = </a:t>
            </a:r>
            <a:r>
              <a:rPr lang="en-US" sz="2700" i="1" dirty="0" err="1">
                <a:latin typeface="Courier New" panose="02070309020205020404" pitchFamily="49" charset="0"/>
                <a:cs typeface="Courier New" panose="02070309020205020404" pitchFamily="49" charset="0"/>
              </a:rPr>
              <a:t>s</a:t>
            </a:r>
            <a:r>
              <a:rPr lang="en-US" sz="2700" dirty="0" err="1">
                <a:latin typeface="Courier New" panose="02070309020205020404" pitchFamily="49" charset="0"/>
                <a:cs typeface="Courier New" panose="02070309020205020404" pitchFamily="49" charset="0"/>
              </a:rPr>
              <a:t>.supplier_id</a:t>
            </a:r>
            <a:r>
              <a:rPr lang="en-US" sz="2700" dirty="0">
                <a:latin typeface="Courier New" panose="02070309020205020404" pitchFamily="49" charset="0"/>
                <a:cs typeface="Courier New" panose="02070309020205020404" pitchFamily="49" charset="0"/>
              </a:rPr>
              <a:t> </a:t>
            </a:r>
          </a:p>
          <a:p>
            <a:endParaRPr lang="en-US" sz="270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D83FEA5A-74CB-95F7-A600-0BA87CF6029F}"/>
              </a:ext>
            </a:extLst>
          </p:cNvPr>
          <p:cNvSpPr>
            <a:spLocks noGrp="1"/>
          </p:cNvSpPr>
          <p:nvPr>
            <p:ph type="sldNum" sz="quarter" idx="12"/>
          </p:nvPr>
        </p:nvSpPr>
        <p:spPr/>
        <p:txBody>
          <a:bodyPr/>
          <a:lstStyle/>
          <a:p>
            <a:fld id="{B6F15528-21DE-4FAA-801E-634DDDAF4B2B}" type="slidenum">
              <a:rPr lang="en-US" smtClean="0"/>
              <a:pPr/>
              <a:t>98</a:t>
            </a:fld>
            <a:endParaRPr lang="en-US" dirty="0"/>
          </a:p>
        </p:txBody>
      </p:sp>
    </p:spTree>
    <p:extLst>
      <p:ext uri="{BB962C8B-B14F-4D97-AF65-F5344CB8AC3E}">
        <p14:creationId xmlns:p14="http://schemas.microsoft.com/office/powerpoint/2010/main" val="13282128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2E49E-3D00-993A-B0E5-F015AE155B6C}"/>
              </a:ext>
            </a:extLst>
          </p:cNvPr>
          <p:cNvSpPr>
            <a:spLocks noGrp="1"/>
          </p:cNvSpPr>
          <p:nvPr>
            <p:ph type="title"/>
          </p:nvPr>
        </p:nvSpPr>
        <p:spPr/>
        <p:txBody>
          <a:bodyPr/>
          <a:lstStyle/>
          <a:p>
            <a:endParaRPr lang="en-US" dirty="0"/>
          </a:p>
        </p:txBody>
      </p:sp>
      <p:sp>
        <p:nvSpPr>
          <p:cNvPr id="6" name="Text Placeholder 5">
            <a:extLst>
              <a:ext uri="{FF2B5EF4-FFF2-40B4-BE49-F238E27FC236}">
                <a16:creationId xmlns:a16="http://schemas.microsoft.com/office/drawing/2014/main" id="{27E2D5E7-D244-F502-8490-B5172E512736}"/>
              </a:ext>
            </a:extLst>
          </p:cNvPr>
          <p:cNvSpPr>
            <a:spLocks noGrp="1"/>
          </p:cNvSpPr>
          <p:nvPr>
            <p:ph type="body" idx="1"/>
          </p:nvPr>
        </p:nvSpPr>
        <p:spPr/>
        <p:txBody>
          <a:bodyPr>
            <a:normAutofit/>
          </a:bodyPr>
          <a:lstStyle/>
          <a:p>
            <a:r>
              <a:rPr lang="en-US" sz="7200" dirty="0" err="1"/>
              <a:t>PostGreSQL</a:t>
            </a:r>
            <a:endParaRPr lang="en-US" sz="7200" dirty="0"/>
          </a:p>
        </p:txBody>
      </p:sp>
      <p:sp>
        <p:nvSpPr>
          <p:cNvPr id="4" name="Slide Number Placeholder 3">
            <a:extLst>
              <a:ext uri="{FF2B5EF4-FFF2-40B4-BE49-F238E27FC236}">
                <a16:creationId xmlns:a16="http://schemas.microsoft.com/office/drawing/2014/main" id="{EE9F3CC9-C322-1222-F32E-288D7B32E724}"/>
              </a:ext>
            </a:extLst>
          </p:cNvPr>
          <p:cNvSpPr>
            <a:spLocks noGrp="1"/>
          </p:cNvSpPr>
          <p:nvPr>
            <p:ph type="sldNum" sz="quarter" idx="12"/>
          </p:nvPr>
        </p:nvSpPr>
        <p:spPr/>
        <p:txBody>
          <a:bodyPr/>
          <a:lstStyle/>
          <a:p>
            <a:fld id="{B6F15528-21DE-4FAA-801E-634DDDAF4B2B}" type="slidenum">
              <a:rPr lang="en-US" smtClean="0"/>
              <a:pPr/>
              <a:t>99</a:t>
            </a:fld>
            <a:endParaRPr lang="en-US"/>
          </a:p>
        </p:txBody>
      </p:sp>
    </p:spTree>
    <p:extLst>
      <p:ext uri="{BB962C8B-B14F-4D97-AF65-F5344CB8AC3E}">
        <p14:creationId xmlns:p14="http://schemas.microsoft.com/office/powerpoint/2010/main" val="9593371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A00B8-169F-0C56-44FC-7BAC7560E95D}"/>
              </a:ext>
            </a:extLst>
          </p:cNvPr>
          <p:cNvSpPr>
            <a:spLocks noGrp="1"/>
          </p:cNvSpPr>
          <p:nvPr>
            <p:ph type="title"/>
          </p:nvPr>
        </p:nvSpPr>
        <p:spPr/>
        <p:txBody>
          <a:bodyPr/>
          <a:lstStyle/>
          <a:p>
            <a:r>
              <a:rPr lang="en-US" dirty="0"/>
              <a:t>Principles not Products</a:t>
            </a:r>
          </a:p>
        </p:txBody>
      </p:sp>
      <p:sp>
        <p:nvSpPr>
          <p:cNvPr id="3" name="Content Placeholder 2">
            <a:extLst>
              <a:ext uri="{FF2B5EF4-FFF2-40B4-BE49-F238E27FC236}">
                <a16:creationId xmlns:a16="http://schemas.microsoft.com/office/drawing/2014/main" id="{42B53B4B-D923-A071-DE13-A76D71DAEDF2}"/>
              </a:ext>
            </a:extLst>
          </p:cNvPr>
          <p:cNvSpPr>
            <a:spLocks noGrp="1"/>
          </p:cNvSpPr>
          <p:nvPr>
            <p:ph idx="1"/>
          </p:nvPr>
        </p:nvSpPr>
        <p:spPr/>
        <p:txBody>
          <a:bodyPr/>
          <a:lstStyle/>
          <a:p>
            <a:r>
              <a:rPr lang="en-US" dirty="0"/>
              <a:t>Server</a:t>
            </a:r>
          </a:p>
          <a:p>
            <a:r>
              <a:rPr lang="en-US" dirty="0"/>
              <a:t>Super User</a:t>
            </a:r>
          </a:p>
          <a:p>
            <a:r>
              <a:rPr lang="en-US" dirty="0"/>
              <a:t>Port</a:t>
            </a:r>
          </a:p>
        </p:txBody>
      </p:sp>
      <p:sp>
        <p:nvSpPr>
          <p:cNvPr id="4" name="Slide Number Placeholder 3">
            <a:extLst>
              <a:ext uri="{FF2B5EF4-FFF2-40B4-BE49-F238E27FC236}">
                <a16:creationId xmlns:a16="http://schemas.microsoft.com/office/drawing/2014/main" id="{8A28CC03-3C62-B42D-E321-9A54738B173B}"/>
              </a:ext>
            </a:extLst>
          </p:cNvPr>
          <p:cNvSpPr>
            <a:spLocks noGrp="1"/>
          </p:cNvSpPr>
          <p:nvPr>
            <p:ph type="sldNum" sz="quarter" idx="12"/>
          </p:nvPr>
        </p:nvSpPr>
        <p:spPr/>
        <p:txBody>
          <a:bodyPr/>
          <a:lstStyle/>
          <a:p>
            <a:fld id="{B6F15528-21DE-4FAA-801E-634DDDAF4B2B}" type="slidenum">
              <a:rPr lang="en-US" smtClean="0"/>
              <a:pPr/>
              <a:t>100</a:t>
            </a:fld>
            <a:endParaRPr lang="en-US"/>
          </a:p>
        </p:txBody>
      </p:sp>
    </p:spTree>
    <p:extLst>
      <p:ext uri="{BB962C8B-B14F-4D97-AF65-F5344CB8AC3E}">
        <p14:creationId xmlns:p14="http://schemas.microsoft.com/office/powerpoint/2010/main" val="104611228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56AAF-2278-79BA-9102-D843DD7918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1C70EC-87A6-E63B-0100-EE696AAC9DAC}"/>
              </a:ext>
            </a:extLst>
          </p:cNvPr>
          <p:cNvSpPr>
            <a:spLocks noGrp="1"/>
          </p:cNvSpPr>
          <p:nvPr>
            <p:ph idx="1"/>
          </p:nvPr>
        </p:nvSpPr>
        <p:spPr/>
        <p:txBody>
          <a:bodyPr>
            <a:normAutofit/>
          </a:bodyPr>
          <a:lstStyle/>
          <a:p>
            <a:r>
              <a:rPr lang="en-US" sz="2800" dirty="0"/>
              <a:t>SQLite  </a:t>
            </a:r>
            <a:r>
              <a:rPr lang="en-US" sz="2800" dirty="0">
                <a:hlinkClick r:id="rId2"/>
              </a:rPr>
              <a:t>sqlite.org</a:t>
            </a:r>
            <a:r>
              <a:rPr lang="en-US" sz="2800" dirty="0"/>
              <a:t> is document database and not a true database server – database engine is embedded</a:t>
            </a:r>
          </a:p>
          <a:p>
            <a:r>
              <a:rPr lang="en-US" sz="2800" dirty="0"/>
              <a:t>Access </a:t>
            </a:r>
            <a:r>
              <a:rPr lang="en-US" sz="2800" dirty="0">
                <a:hlinkClick r:id="rId3"/>
              </a:rPr>
              <a:t>microsoft.com/en-us/microsoft-365/access</a:t>
            </a:r>
            <a:r>
              <a:rPr lang="en-US" sz="2800" dirty="0"/>
              <a:t> and FileMaker </a:t>
            </a:r>
            <a:r>
              <a:rPr lang="en-US" sz="2800" dirty="0">
                <a:hlinkClick r:id="rId4"/>
              </a:rPr>
              <a:t>claris.com/</a:t>
            </a:r>
            <a:r>
              <a:rPr lang="en-US" sz="2800" dirty="0" err="1">
                <a:hlinkClick r:id="rId4"/>
              </a:rPr>
              <a:t>filemaker</a:t>
            </a:r>
            <a:r>
              <a:rPr lang="en-US" sz="2800" dirty="0">
                <a:hlinkClick r:id="rId4"/>
              </a:rPr>
              <a:t>/</a:t>
            </a:r>
            <a:r>
              <a:rPr lang="en-US" sz="2800" dirty="0"/>
              <a:t> are document databases</a:t>
            </a:r>
          </a:p>
          <a:p>
            <a:endParaRPr lang="en-US" sz="2800" dirty="0"/>
          </a:p>
        </p:txBody>
      </p:sp>
      <p:sp>
        <p:nvSpPr>
          <p:cNvPr id="4" name="Slide Number Placeholder 3">
            <a:extLst>
              <a:ext uri="{FF2B5EF4-FFF2-40B4-BE49-F238E27FC236}">
                <a16:creationId xmlns:a16="http://schemas.microsoft.com/office/drawing/2014/main" id="{1A865669-B772-36A9-F5B4-C498107E7BE8}"/>
              </a:ext>
            </a:extLst>
          </p:cNvPr>
          <p:cNvSpPr>
            <a:spLocks noGrp="1"/>
          </p:cNvSpPr>
          <p:nvPr>
            <p:ph type="sldNum" sz="quarter" idx="12"/>
          </p:nvPr>
        </p:nvSpPr>
        <p:spPr/>
        <p:txBody>
          <a:bodyPr/>
          <a:lstStyle/>
          <a:p>
            <a:fld id="{B6F15528-21DE-4FAA-801E-634DDDAF4B2B}" type="slidenum">
              <a:rPr lang="en-US" smtClean="0"/>
              <a:pPr/>
              <a:t>101</a:t>
            </a:fld>
            <a:endParaRPr lang="en-US"/>
          </a:p>
        </p:txBody>
      </p:sp>
    </p:spTree>
    <p:extLst>
      <p:ext uri="{BB962C8B-B14F-4D97-AF65-F5344CB8AC3E}">
        <p14:creationId xmlns:p14="http://schemas.microsoft.com/office/powerpoint/2010/main" val="17929967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3161-6180-1171-FFA0-F511CDADB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5BFEE-F679-4923-5262-4D41AF1AB0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5E7483-A8BE-CC9B-A8DA-63625FA1AD69}"/>
              </a:ext>
            </a:extLst>
          </p:cNvPr>
          <p:cNvSpPr>
            <a:spLocks noGrp="1"/>
          </p:cNvSpPr>
          <p:nvPr>
            <p:ph idx="1"/>
          </p:nvPr>
        </p:nvSpPr>
        <p:spPr/>
        <p:txBody>
          <a:bodyPr>
            <a:noAutofit/>
          </a:bodyPr>
          <a:lstStyle/>
          <a:p>
            <a:r>
              <a:rPr lang="en-US" sz="2800" dirty="0"/>
              <a:t>there are many Relational </a:t>
            </a:r>
            <a:r>
              <a:rPr lang="en-US" sz="2800" dirty="0" err="1"/>
              <a:t>DataBase</a:t>
            </a:r>
            <a:r>
              <a:rPr lang="en-US" sz="2800" dirty="0"/>
              <a:t> Management System available, but we choose </a:t>
            </a:r>
            <a:r>
              <a:rPr lang="en-US" sz="2800" dirty="0" err="1"/>
              <a:t>PostGreSQL</a:t>
            </a:r>
            <a:r>
              <a:rPr lang="en-US" sz="2800" dirty="0"/>
              <a:t> </a:t>
            </a:r>
            <a:r>
              <a:rPr lang="en-US" sz="2800" dirty="0">
                <a:hlinkClick r:id="rId2"/>
              </a:rPr>
              <a:t>postgresql.org/</a:t>
            </a:r>
            <a:endParaRPr lang="en-US" sz="2800" dirty="0"/>
          </a:p>
          <a:p>
            <a:r>
              <a:rPr lang="en-US" sz="2800" dirty="0"/>
              <a:t>other possible options could be: (all these are SQL complaint) and similar</a:t>
            </a:r>
          </a:p>
        </p:txBody>
      </p:sp>
      <p:sp>
        <p:nvSpPr>
          <p:cNvPr id="4" name="Slide Number Placeholder 3">
            <a:extLst>
              <a:ext uri="{FF2B5EF4-FFF2-40B4-BE49-F238E27FC236}">
                <a16:creationId xmlns:a16="http://schemas.microsoft.com/office/drawing/2014/main" id="{2586EF2F-EDF5-CEBE-866C-275623AE231F}"/>
              </a:ext>
            </a:extLst>
          </p:cNvPr>
          <p:cNvSpPr>
            <a:spLocks noGrp="1"/>
          </p:cNvSpPr>
          <p:nvPr>
            <p:ph type="sldNum" sz="quarter" idx="12"/>
          </p:nvPr>
        </p:nvSpPr>
        <p:spPr/>
        <p:txBody>
          <a:bodyPr/>
          <a:lstStyle/>
          <a:p>
            <a:fld id="{B6F15528-21DE-4FAA-801E-634DDDAF4B2B}" type="slidenum">
              <a:rPr lang="en-US" smtClean="0"/>
              <a:pPr/>
              <a:t>102</a:t>
            </a:fld>
            <a:endParaRPr lang="en-US"/>
          </a:p>
        </p:txBody>
      </p:sp>
    </p:spTree>
    <p:extLst>
      <p:ext uri="{BB962C8B-B14F-4D97-AF65-F5344CB8AC3E}">
        <p14:creationId xmlns:p14="http://schemas.microsoft.com/office/powerpoint/2010/main" val="31930650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345B0-2789-1447-F142-7DB9BF1F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55055-1B9F-892F-3F05-A144EE635F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E144C0-362D-0C18-7E3D-B9AE5B65F220}"/>
              </a:ext>
            </a:extLst>
          </p:cNvPr>
          <p:cNvSpPr>
            <a:spLocks noGrp="1"/>
          </p:cNvSpPr>
          <p:nvPr>
            <p:ph idx="1"/>
          </p:nvPr>
        </p:nvSpPr>
        <p:spPr/>
        <p:txBody>
          <a:bodyPr>
            <a:noAutofit/>
          </a:bodyPr>
          <a:lstStyle/>
          <a:p>
            <a:r>
              <a:rPr lang="en-US" sz="2800" dirty="0"/>
              <a:t>Oracle </a:t>
            </a:r>
            <a:r>
              <a:rPr lang="en-US" sz="2800" dirty="0">
                <a:hlinkClick r:id="rId2"/>
              </a:rPr>
              <a:t>oracle.com/</a:t>
            </a:r>
            <a:r>
              <a:rPr lang="en-US" sz="2800" dirty="0" err="1">
                <a:hlinkClick r:id="rId2"/>
              </a:rPr>
              <a:t>ro</a:t>
            </a:r>
            <a:r>
              <a:rPr lang="en-US" sz="2800" dirty="0">
                <a:hlinkClick r:id="rId2"/>
              </a:rPr>
              <a:t>/</a:t>
            </a:r>
            <a:r>
              <a:rPr lang="en-US" sz="2800" dirty="0"/>
              <a:t> (Oracle Database Free)</a:t>
            </a:r>
          </a:p>
          <a:p>
            <a:r>
              <a:rPr lang="en-US" sz="2800" dirty="0"/>
              <a:t>SQL Server  </a:t>
            </a:r>
            <a:r>
              <a:rPr lang="en-US" sz="2800" dirty="0">
                <a:hlinkClick r:id="rId3"/>
              </a:rPr>
              <a:t>microsoft.com/en-us/</a:t>
            </a:r>
            <a:r>
              <a:rPr lang="en-US" sz="2800" dirty="0" err="1">
                <a:hlinkClick r:id="rId3"/>
              </a:rPr>
              <a:t>sql</a:t>
            </a:r>
            <a:r>
              <a:rPr lang="en-US" sz="2800" dirty="0">
                <a:hlinkClick r:id="rId3"/>
              </a:rPr>
              <a:t>-server</a:t>
            </a:r>
            <a:r>
              <a:rPr lang="en-US" sz="2800" dirty="0"/>
              <a:t> (SQL Server Developer)</a:t>
            </a:r>
          </a:p>
          <a:p>
            <a:pPr lvl="1"/>
            <a:r>
              <a:rPr lang="en-US" sz="2700" dirty="0"/>
              <a:t>SQL Server Developer edition is a free edition of SQL Server that contains all the features of the Enterprise edition and can be used in any non-production environme</a:t>
            </a:r>
            <a:r>
              <a:rPr lang="en-US" dirty="0"/>
              <a:t>nt</a:t>
            </a:r>
          </a:p>
          <a:p>
            <a:r>
              <a:rPr lang="en-US" sz="2800" dirty="0"/>
              <a:t>DB2 </a:t>
            </a:r>
            <a:r>
              <a:rPr lang="en-US" sz="2800" dirty="0">
                <a:hlinkClick r:id="rId4"/>
              </a:rPr>
              <a:t>ibm.com/products/db2</a:t>
            </a:r>
            <a:r>
              <a:rPr lang="en-US" sz="2800" dirty="0"/>
              <a:t> (DB2 Community)</a:t>
            </a:r>
          </a:p>
          <a:p>
            <a:r>
              <a:rPr lang="en-US" sz="2800" dirty="0"/>
              <a:t>MySQL </a:t>
            </a:r>
            <a:r>
              <a:rPr lang="en-US" sz="2800" dirty="0">
                <a:hlinkClick r:id="rId5"/>
              </a:rPr>
              <a:t>mysql.com/</a:t>
            </a:r>
            <a:endParaRPr lang="en-US" sz="2800" dirty="0"/>
          </a:p>
          <a:p>
            <a:r>
              <a:rPr lang="en-US" sz="2800" dirty="0"/>
              <a:t>MariaDB </a:t>
            </a:r>
            <a:r>
              <a:rPr lang="en-US" sz="2800" dirty="0">
                <a:hlinkClick r:id="rId6"/>
              </a:rPr>
              <a:t>mariadb.org/</a:t>
            </a:r>
            <a:endParaRPr lang="en-US" sz="2800" dirty="0"/>
          </a:p>
        </p:txBody>
      </p:sp>
      <p:sp>
        <p:nvSpPr>
          <p:cNvPr id="4" name="Slide Number Placeholder 3">
            <a:extLst>
              <a:ext uri="{FF2B5EF4-FFF2-40B4-BE49-F238E27FC236}">
                <a16:creationId xmlns:a16="http://schemas.microsoft.com/office/drawing/2014/main" id="{385CA829-4B7E-AC7A-41AA-D9F8F7B06618}"/>
              </a:ext>
            </a:extLst>
          </p:cNvPr>
          <p:cNvSpPr>
            <a:spLocks noGrp="1"/>
          </p:cNvSpPr>
          <p:nvPr>
            <p:ph type="sldNum" sz="quarter" idx="12"/>
          </p:nvPr>
        </p:nvSpPr>
        <p:spPr/>
        <p:txBody>
          <a:bodyPr/>
          <a:lstStyle/>
          <a:p>
            <a:fld id="{B6F15528-21DE-4FAA-801E-634DDDAF4B2B}" type="slidenum">
              <a:rPr lang="en-US" smtClean="0"/>
              <a:pPr/>
              <a:t>103</a:t>
            </a:fld>
            <a:endParaRPr lang="en-US"/>
          </a:p>
        </p:txBody>
      </p:sp>
    </p:spTree>
    <p:extLst>
      <p:ext uri="{BB962C8B-B14F-4D97-AF65-F5344CB8AC3E}">
        <p14:creationId xmlns:p14="http://schemas.microsoft.com/office/powerpoint/2010/main" val="19923153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7C39A-7588-B35C-48F6-8B0B8F8694A2}"/>
              </a:ext>
            </a:extLst>
          </p:cNvPr>
          <p:cNvSpPr>
            <a:spLocks noGrp="1"/>
          </p:cNvSpPr>
          <p:nvPr>
            <p:ph type="title"/>
          </p:nvPr>
        </p:nvSpPr>
        <p:spPr/>
        <p:txBody>
          <a:bodyPr/>
          <a:lstStyle/>
          <a:p>
            <a:r>
              <a:rPr lang="en-US" dirty="0"/>
              <a:t>PostgreSQL</a:t>
            </a:r>
          </a:p>
        </p:txBody>
      </p:sp>
      <p:sp>
        <p:nvSpPr>
          <p:cNvPr id="3" name="Content Placeholder 2">
            <a:extLst>
              <a:ext uri="{FF2B5EF4-FFF2-40B4-BE49-F238E27FC236}">
                <a16:creationId xmlns:a16="http://schemas.microsoft.com/office/drawing/2014/main" id="{4C483165-6582-3225-F29F-3AD2B610D221}"/>
              </a:ext>
            </a:extLst>
          </p:cNvPr>
          <p:cNvSpPr>
            <a:spLocks noGrp="1"/>
          </p:cNvSpPr>
          <p:nvPr>
            <p:ph idx="1"/>
          </p:nvPr>
        </p:nvSpPr>
        <p:spPr>
          <a:xfrm>
            <a:off x="457200" y="1600200"/>
            <a:ext cx="8610600" cy="4525963"/>
          </a:xfrm>
        </p:spPr>
        <p:txBody>
          <a:bodyPr>
            <a:noAutofit/>
          </a:bodyPr>
          <a:lstStyle/>
          <a:p>
            <a:r>
              <a:rPr lang="en-US" sz="2800" dirty="0"/>
              <a:t>(pronounced Post-Gres-Q-L) or </a:t>
            </a:r>
            <a:r>
              <a:rPr lang="en-US" sz="2800" dirty="0" err="1"/>
              <a:t>postgres</a:t>
            </a:r>
            <a:r>
              <a:rPr lang="en-US" sz="2800" dirty="0"/>
              <a:t> is an open-source Object Relational </a:t>
            </a:r>
            <a:r>
              <a:rPr lang="en-US" sz="2800" dirty="0" err="1"/>
              <a:t>DataBase</a:t>
            </a:r>
            <a:r>
              <a:rPr lang="en-US" sz="2800" dirty="0"/>
              <a:t> Management System</a:t>
            </a:r>
          </a:p>
          <a:p>
            <a:r>
              <a:rPr lang="en-US" sz="2800" dirty="0"/>
              <a:t>name PostgreSQL is derived from post-</a:t>
            </a:r>
            <a:r>
              <a:rPr lang="en-US" sz="2800" dirty="0" err="1"/>
              <a:t>ingres</a:t>
            </a:r>
            <a:r>
              <a:rPr lang="en-US" sz="2800" dirty="0"/>
              <a:t> database</a:t>
            </a:r>
          </a:p>
          <a:p>
            <a:endParaRPr lang="en-US" sz="2800" dirty="0"/>
          </a:p>
          <a:p>
            <a:r>
              <a:rPr lang="en-US" dirty="0"/>
              <a:t>PostgreSQL is a free open source software</a:t>
            </a:r>
            <a:endParaRPr lang="en-US" sz="2800" dirty="0"/>
          </a:p>
          <a:p>
            <a:endParaRPr lang="en-US" sz="2800" dirty="0"/>
          </a:p>
        </p:txBody>
      </p:sp>
      <p:sp>
        <p:nvSpPr>
          <p:cNvPr id="4" name="Slide Number Placeholder 3">
            <a:extLst>
              <a:ext uri="{FF2B5EF4-FFF2-40B4-BE49-F238E27FC236}">
                <a16:creationId xmlns:a16="http://schemas.microsoft.com/office/drawing/2014/main" id="{7DD14D1C-4AA5-C948-4206-8B6972A62F7A}"/>
              </a:ext>
            </a:extLst>
          </p:cNvPr>
          <p:cNvSpPr>
            <a:spLocks noGrp="1"/>
          </p:cNvSpPr>
          <p:nvPr>
            <p:ph type="sldNum" sz="quarter" idx="12"/>
          </p:nvPr>
        </p:nvSpPr>
        <p:spPr/>
        <p:txBody>
          <a:bodyPr/>
          <a:lstStyle/>
          <a:p>
            <a:fld id="{B6F15528-21DE-4FAA-801E-634DDDAF4B2B}" type="slidenum">
              <a:rPr lang="en-US" smtClean="0"/>
              <a:pPr/>
              <a:t>104</a:t>
            </a:fld>
            <a:endParaRPr lang="en-US"/>
          </a:p>
        </p:txBody>
      </p:sp>
    </p:spTree>
    <p:extLst>
      <p:ext uri="{BB962C8B-B14F-4D97-AF65-F5344CB8AC3E}">
        <p14:creationId xmlns:p14="http://schemas.microsoft.com/office/powerpoint/2010/main" val="28214222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5C2CF-0880-4371-49CD-646F16065D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AC441-531A-1622-5D61-D23828ED42EE}"/>
              </a:ext>
            </a:extLst>
          </p:cNvPr>
          <p:cNvSpPr>
            <a:spLocks noGrp="1"/>
          </p:cNvSpPr>
          <p:nvPr>
            <p:ph type="title"/>
          </p:nvPr>
        </p:nvSpPr>
        <p:spPr/>
        <p:txBody>
          <a:bodyPr/>
          <a:lstStyle/>
          <a:p>
            <a:r>
              <a:rPr lang="en-US" dirty="0"/>
              <a:t>PostgreSQL</a:t>
            </a:r>
          </a:p>
        </p:txBody>
      </p:sp>
      <p:sp>
        <p:nvSpPr>
          <p:cNvPr id="3" name="Content Placeholder 2">
            <a:extLst>
              <a:ext uri="{FF2B5EF4-FFF2-40B4-BE49-F238E27FC236}">
                <a16:creationId xmlns:a16="http://schemas.microsoft.com/office/drawing/2014/main" id="{175351CD-F43C-DA60-42A7-D0232B5E1140}"/>
              </a:ext>
            </a:extLst>
          </p:cNvPr>
          <p:cNvSpPr>
            <a:spLocks noGrp="1"/>
          </p:cNvSpPr>
          <p:nvPr>
            <p:ph idx="1"/>
          </p:nvPr>
        </p:nvSpPr>
        <p:spPr>
          <a:xfrm>
            <a:off x="457200" y="1600200"/>
            <a:ext cx="8610600" cy="4525963"/>
          </a:xfrm>
        </p:spPr>
        <p:txBody>
          <a:bodyPr>
            <a:noAutofit/>
          </a:bodyPr>
          <a:lstStyle/>
          <a:p>
            <a:r>
              <a:rPr lang="en-US" sz="2800" dirty="0"/>
              <a:t>emphasizes extensibility, creativity, as well as compatibility</a:t>
            </a:r>
          </a:p>
          <a:p>
            <a:r>
              <a:rPr lang="en-US" sz="2800" dirty="0"/>
              <a:t>used by different sectors including government agencies and the public and private sectors</a:t>
            </a:r>
          </a:p>
          <a:p>
            <a:r>
              <a:rPr lang="en-US" sz="2800" dirty="0"/>
              <a:t>cross-platform DBMS, and runs on most modern operating systems including Windows, macOS, and Linux flavors</a:t>
            </a:r>
          </a:p>
          <a:p>
            <a:r>
              <a:rPr lang="en-US" sz="2800" dirty="0"/>
              <a:t>conforms to SQL</a:t>
            </a:r>
          </a:p>
          <a:p>
            <a:r>
              <a:rPr lang="en-US" sz="2800" dirty="0"/>
              <a:t>compliant with ACID transactions</a:t>
            </a:r>
          </a:p>
        </p:txBody>
      </p:sp>
      <p:sp>
        <p:nvSpPr>
          <p:cNvPr id="4" name="Slide Number Placeholder 3">
            <a:extLst>
              <a:ext uri="{FF2B5EF4-FFF2-40B4-BE49-F238E27FC236}">
                <a16:creationId xmlns:a16="http://schemas.microsoft.com/office/drawing/2014/main" id="{C2FE42A1-5512-DC92-1141-D0B6B904B632}"/>
              </a:ext>
            </a:extLst>
          </p:cNvPr>
          <p:cNvSpPr>
            <a:spLocks noGrp="1"/>
          </p:cNvSpPr>
          <p:nvPr>
            <p:ph type="sldNum" sz="quarter" idx="12"/>
          </p:nvPr>
        </p:nvSpPr>
        <p:spPr/>
        <p:txBody>
          <a:bodyPr/>
          <a:lstStyle/>
          <a:p>
            <a:fld id="{B6F15528-21DE-4FAA-801E-634DDDAF4B2B}" type="slidenum">
              <a:rPr lang="en-US" smtClean="0"/>
              <a:pPr/>
              <a:t>105</a:t>
            </a:fld>
            <a:endParaRPr lang="en-US"/>
          </a:p>
        </p:txBody>
      </p:sp>
    </p:spTree>
    <p:extLst>
      <p:ext uri="{BB962C8B-B14F-4D97-AF65-F5344CB8AC3E}">
        <p14:creationId xmlns:p14="http://schemas.microsoft.com/office/powerpoint/2010/main" val="396528476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4DB5B-498F-715C-2C81-0DE010AD69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D69E2A-7B00-AFE6-C5A4-F0B783A5C785}"/>
              </a:ext>
            </a:extLst>
          </p:cNvPr>
          <p:cNvSpPr>
            <a:spLocks noGrp="1"/>
          </p:cNvSpPr>
          <p:nvPr>
            <p:ph idx="1"/>
          </p:nvPr>
        </p:nvSpPr>
        <p:spPr>
          <a:xfrm>
            <a:off x="457200" y="274638"/>
            <a:ext cx="8229600" cy="5851525"/>
          </a:xfrm>
        </p:spPr>
        <p:txBody>
          <a:bodyPr>
            <a:normAutofit/>
          </a:bodyPr>
          <a:lstStyle/>
          <a:p>
            <a:r>
              <a:rPr lang="en-US" sz="2400" dirty="0"/>
              <a:t>at University of California at Berkeley in the academic environment between 1977-1985 in the Ingres project, Michael Stonebraker created an RDBMS based on the formal relational model</a:t>
            </a:r>
          </a:p>
          <a:p>
            <a:r>
              <a:rPr lang="en-US" sz="2400" dirty="0"/>
              <a:t>between 1986-1994 </a:t>
            </a:r>
            <a:r>
              <a:rPr lang="en-US" sz="2400" dirty="0" err="1"/>
              <a:t>postgres</a:t>
            </a:r>
            <a:r>
              <a:rPr lang="en-US" sz="2400" dirty="0"/>
              <a:t> was created in order to support complex data types and the object relational model</a:t>
            </a:r>
          </a:p>
          <a:p>
            <a:r>
              <a:rPr lang="en-US" sz="2400" dirty="0"/>
              <a:t>in 1995 the query language was changed with an extended subset of SQL</a:t>
            </a:r>
          </a:p>
          <a:p>
            <a:r>
              <a:rPr lang="en-US" sz="2400" dirty="0"/>
              <a:t>several industry developers dedicated a lot of labor and time to stabilize </a:t>
            </a:r>
            <a:r>
              <a:rPr lang="en-US" sz="2400" dirty="0" err="1"/>
              <a:t>postgres</a:t>
            </a:r>
            <a:r>
              <a:rPr lang="en-US" sz="2400" dirty="0"/>
              <a:t> and the first open-source version was released in 1997</a:t>
            </a:r>
          </a:p>
          <a:p>
            <a:r>
              <a:rPr lang="en-US" sz="2400" dirty="0"/>
              <a:t>with the introduction of new features, enhancements, and due to it being an open-source project, the </a:t>
            </a:r>
            <a:r>
              <a:rPr lang="en-US" sz="2400" dirty="0" err="1"/>
              <a:t>postgres</a:t>
            </a:r>
            <a:r>
              <a:rPr lang="en-US" sz="2400" dirty="0"/>
              <a:t> name was changed to </a:t>
            </a:r>
            <a:r>
              <a:rPr lang="en-US" sz="2400" dirty="0" err="1"/>
              <a:t>PostGreSQL</a:t>
            </a:r>
            <a:endParaRPr lang="en-US" sz="2400" dirty="0"/>
          </a:p>
        </p:txBody>
      </p:sp>
      <p:sp>
        <p:nvSpPr>
          <p:cNvPr id="4" name="Slide Number Placeholder 3">
            <a:extLst>
              <a:ext uri="{FF2B5EF4-FFF2-40B4-BE49-F238E27FC236}">
                <a16:creationId xmlns:a16="http://schemas.microsoft.com/office/drawing/2014/main" id="{B628B379-4056-CA91-EC09-3DC75454AE57}"/>
              </a:ext>
            </a:extLst>
          </p:cNvPr>
          <p:cNvSpPr>
            <a:spLocks noGrp="1"/>
          </p:cNvSpPr>
          <p:nvPr>
            <p:ph type="sldNum" sz="quarter" idx="12"/>
          </p:nvPr>
        </p:nvSpPr>
        <p:spPr/>
        <p:txBody>
          <a:bodyPr/>
          <a:lstStyle/>
          <a:p>
            <a:fld id="{B6F15528-21DE-4FAA-801E-634DDDAF4B2B}" type="slidenum">
              <a:rPr lang="en-US" smtClean="0"/>
              <a:pPr/>
              <a:t>106</a:t>
            </a:fld>
            <a:endParaRPr lang="en-US"/>
          </a:p>
        </p:txBody>
      </p:sp>
    </p:spTree>
    <p:extLst>
      <p:ext uri="{BB962C8B-B14F-4D97-AF65-F5344CB8AC3E}">
        <p14:creationId xmlns:p14="http://schemas.microsoft.com/office/powerpoint/2010/main" val="20641409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E853C-3188-29E5-8FCE-DF873BB4F994}"/>
              </a:ext>
            </a:extLst>
          </p:cNvPr>
          <p:cNvSpPr>
            <a:spLocks noGrp="1"/>
          </p:cNvSpPr>
          <p:nvPr>
            <p:ph type="title"/>
          </p:nvPr>
        </p:nvSpPr>
        <p:spPr/>
        <p:txBody>
          <a:bodyPr>
            <a:normAutofit fontScale="90000"/>
          </a:bodyPr>
          <a:lstStyle/>
          <a:p>
            <a:r>
              <a:rPr lang="en-US" dirty="0"/>
              <a:t>main PostgreSQL application domains can be classified into two categories:</a:t>
            </a:r>
          </a:p>
        </p:txBody>
      </p:sp>
      <p:sp>
        <p:nvSpPr>
          <p:cNvPr id="3" name="Content Placeholder 2">
            <a:extLst>
              <a:ext uri="{FF2B5EF4-FFF2-40B4-BE49-F238E27FC236}">
                <a16:creationId xmlns:a16="http://schemas.microsoft.com/office/drawing/2014/main" id="{948DF664-D7C7-8CD7-EDFD-77D36063FE66}"/>
              </a:ext>
            </a:extLst>
          </p:cNvPr>
          <p:cNvSpPr>
            <a:spLocks noGrp="1"/>
          </p:cNvSpPr>
          <p:nvPr>
            <p:ph idx="1"/>
          </p:nvPr>
        </p:nvSpPr>
        <p:spPr/>
        <p:txBody>
          <a:bodyPr>
            <a:noAutofit/>
          </a:bodyPr>
          <a:lstStyle/>
          <a:p>
            <a:pPr marL="514350" indent="-514350">
              <a:buFont typeface="+mj-lt"/>
              <a:buAutoNum type="arabicPeriod"/>
            </a:pPr>
            <a:r>
              <a:rPr lang="en-US" sz="2700" dirty="0" err="1"/>
              <a:t>OnLine</a:t>
            </a:r>
            <a:r>
              <a:rPr lang="en-US" sz="2700" dirty="0"/>
              <a:t> Transactional Processing (OLTP): operational databases - OLTP is characterized by a large amount of CRUD operations, very fast processing of operations, and the maintaining of data integrity in a multi-access environment; performance is measured in the number of transactions per second</a:t>
            </a:r>
          </a:p>
          <a:p>
            <a:pPr marL="514350" indent="-514350">
              <a:buFont typeface="+mj-lt"/>
              <a:buAutoNum type="arabicPeriod"/>
            </a:pPr>
            <a:r>
              <a:rPr lang="en-US" sz="2700" dirty="0" err="1"/>
              <a:t>OnLine</a:t>
            </a:r>
            <a:r>
              <a:rPr lang="en-US" sz="2700" dirty="0"/>
              <a:t> Analytical Processing (OLAP): data warehouse - OLAP is characterized by a small amount of requests, complex queries which involve data aggregation, huge amounts of data from different sources and with different formats, data mining, and historical data analysis</a:t>
            </a:r>
          </a:p>
        </p:txBody>
      </p:sp>
      <p:sp>
        <p:nvSpPr>
          <p:cNvPr id="4" name="Slide Number Placeholder 3">
            <a:extLst>
              <a:ext uri="{FF2B5EF4-FFF2-40B4-BE49-F238E27FC236}">
                <a16:creationId xmlns:a16="http://schemas.microsoft.com/office/drawing/2014/main" id="{B1BD5C12-EF59-A13C-0506-286959B4F75F}"/>
              </a:ext>
            </a:extLst>
          </p:cNvPr>
          <p:cNvSpPr>
            <a:spLocks noGrp="1"/>
          </p:cNvSpPr>
          <p:nvPr>
            <p:ph type="sldNum" sz="quarter" idx="12"/>
          </p:nvPr>
        </p:nvSpPr>
        <p:spPr/>
        <p:txBody>
          <a:bodyPr/>
          <a:lstStyle/>
          <a:p>
            <a:fld id="{B6F15528-21DE-4FAA-801E-634DDDAF4B2B}" type="slidenum">
              <a:rPr lang="en-US" smtClean="0"/>
              <a:pPr/>
              <a:t>107</a:t>
            </a:fld>
            <a:endParaRPr lang="en-US"/>
          </a:p>
        </p:txBody>
      </p:sp>
    </p:spTree>
    <p:extLst>
      <p:ext uri="{BB962C8B-B14F-4D97-AF65-F5344CB8AC3E}">
        <p14:creationId xmlns:p14="http://schemas.microsoft.com/office/powerpoint/2010/main" val="57992063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6E7E4-5BC1-517C-8216-44CA5BF39B9E}"/>
              </a:ext>
            </a:extLst>
          </p:cNvPr>
          <p:cNvSpPr>
            <a:spLocks noGrp="1"/>
          </p:cNvSpPr>
          <p:nvPr>
            <p:ph type="title"/>
          </p:nvPr>
        </p:nvSpPr>
        <p:spPr/>
        <p:txBody>
          <a:bodyPr>
            <a:normAutofit fontScale="90000"/>
          </a:bodyPr>
          <a:lstStyle/>
          <a:p>
            <a:r>
              <a:rPr lang="en-US" dirty="0"/>
              <a:t>Installing PostgreSQL</a:t>
            </a:r>
            <a:br>
              <a:rPr lang="en-US" dirty="0"/>
            </a:br>
            <a:r>
              <a:rPr lang="en-US" dirty="0"/>
              <a:t>on local workstation</a:t>
            </a:r>
          </a:p>
        </p:txBody>
      </p:sp>
      <p:sp>
        <p:nvSpPr>
          <p:cNvPr id="3" name="Content Placeholder 2">
            <a:extLst>
              <a:ext uri="{FF2B5EF4-FFF2-40B4-BE49-F238E27FC236}">
                <a16:creationId xmlns:a16="http://schemas.microsoft.com/office/drawing/2014/main" id="{7B407217-E65D-7F17-7D20-5AAA9E2B1FC0}"/>
              </a:ext>
            </a:extLst>
          </p:cNvPr>
          <p:cNvSpPr>
            <a:spLocks noGrp="1"/>
          </p:cNvSpPr>
          <p:nvPr>
            <p:ph idx="1"/>
          </p:nvPr>
        </p:nvSpPr>
        <p:spPr/>
        <p:txBody>
          <a:bodyPr>
            <a:normAutofit/>
          </a:bodyPr>
          <a:lstStyle/>
          <a:p>
            <a:r>
              <a:rPr lang="en-US" sz="2800" dirty="0"/>
              <a:t>can be installed on almost all modern operating systems: on all recent Linux Unix distributions, Windows, macOS, … and also, can work on various CPU architectures</a:t>
            </a:r>
          </a:p>
          <a:p>
            <a:endParaRPr lang="en-US" sz="2800" dirty="0"/>
          </a:p>
        </p:txBody>
      </p:sp>
      <p:sp>
        <p:nvSpPr>
          <p:cNvPr id="4" name="Slide Number Placeholder 3">
            <a:extLst>
              <a:ext uri="{FF2B5EF4-FFF2-40B4-BE49-F238E27FC236}">
                <a16:creationId xmlns:a16="http://schemas.microsoft.com/office/drawing/2014/main" id="{CDFB8DAC-B1AE-790D-C321-E06E64FD733F}"/>
              </a:ext>
            </a:extLst>
          </p:cNvPr>
          <p:cNvSpPr>
            <a:spLocks noGrp="1"/>
          </p:cNvSpPr>
          <p:nvPr>
            <p:ph type="sldNum" sz="quarter" idx="12"/>
          </p:nvPr>
        </p:nvSpPr>
        <p:spPr/>
        <p:txBody>
          <a:bodyPr/>
          <a:lstStyle/>
          <a:p>
            <a:fld id="{B6F15528-21DE-4FAA-801E-634DDDAF4B2B}" type="slidenum">
              <a:rPr lang="en-US" smtClean="0"/>
              <a:pPr/>
              <a:t>108</a:t>
            </a:fld>
            <a:endParaRPr lang="en-US"/>
          </a:p>
        </p:txBody>
      </p:sp>
    </p:spTree>
    <p:extLst>
      <p:ext uri="{BB962C8B-B14F-4D97-AF65-F5344CB8AC3E}">
        <p14:creationId xmlns:p14="http://schemas.microsoft.com/office/powerpoint/2010/main" val="16533952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7081F-AA2D-1D8A-9FD2-A702FDC721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A5266D-84B3-3FDE-348A-655EEE20FA95}"/>
              </a:ext>
            </a:extLst>
          </p:cNvPr>
          <p:cNvSpPr>
            <a:spLocks noGrp="1"/>
          </p:cNvSpPr>
          <p:nvPr>
            <p:ph idx="1"/>
          </p:nvPr>
        </p:nvSpPr>
        <p:spPr/>
        <p:txBody>
          <a:bodyPr>
            <a:normAutofit/>
          </a:bodyPr>
          <a:lstStyle/>
          <a:p>
            <a:r>
              <a:rPr lang="en-US" sz="2800" dirty="0"/>
              <a:t>Considering that majority of workstations are </a:t>
            </a:r>
            <a:r>
              <a:rPr lang="en-US" sz="2800" dirty="0" err="1"/>
              <a:t>Windwos</a:t>
            </a:r>
            <a:r>
              <a:rPr lang="en-US" sz="2800" dirty="0"/>
              <a:t>, in the following we will show how to install PostgreSQL on Windows local system</a:t>
            </a:r>
          </a:p>
          <a:p>
            <a:endParaRPr lang="en-US" sz="2800" dirty="0"/>
          </a:p>
          <a:p>
            <a:r>
              <a:rPr lang="en-US" sz="2800" dirty="0"/>
              <a:t>local workstation</a:t>
            </a:r>
          </a:p>
          <a:p>
            <a:r>
              <a:rPr lang="en-US" sz="2800" dirty="0"/>
              <a:t>cloud</a:t>
            </a:r>
          </a:p>
        </p:txBody>
      </p:sp>
      <p:sp>
        <p:nvSpPr>
          <p:cNvPr id="4" name="Slide Number Placeholder 3">
            <a:extLst>
              <a:ext uri="{FF2B5EF4-FFF2-40B4-BE49-F238E27FC236}">
                <a16:creationId xmlns:a16="http://schemas.microsoft.com/office/drawing/2014/main" id="{85FA5784-AECA-ED62-65AD-DB5B298E6094}"/>
              </a:ext>
            </a:extLst>
          </p:cNvPr>
          <p:cNvSpPr>
            <a:spLocks noGrp="1"/>
          </p:cNvSpPr>
          <p:nvPr>
            <p:ph type="sldNum" sz="quarter" idx="12"/>
          </p:nvPr>
        </p:nvSpPr>
        <p:spPr/>
        <p:txBody>
          <a:bodyPr/>
          <a:lstStyle/>
          <a:p>
            <a:fld id="{B6F15528-21DE-4FAA-801E-634DDDAF4B2B}" type="slidenum">
              <a:rPr lang="en-US" smtClean="0"/>
              <a:pPr/>
              <a:t>109</a:t>
            </a:fld>
            <a:endParaRPr lang="en-US"/>
          </a:p>
        </p:txBody>
      </p:sp>
    </p:spTree>
    <p:extLst>
      <p:ext uri="{BB962C8B-B14F-4D97-AF65-F5344CB8AC3E}">
        <p14:creationId xmlns:p14="http://schemas.microsoft.com/office/powerpoint/2010/main" val="347751711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468D3-991C-C401-FBE0-766223CB05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82E759-63F9-7E55-DAEF-87620D37A484}"/>
              </a:ext>
            </a:extLst>
          </p:cNvPr>
          <p:cNvSpPr>
            <a:spLocks noGrp="1"/>
          </p:cNvSpPr>
          <p:nvPr>
            <p:ph idx="1"/>
          </p:nvPr>
        </p:nvSpPr>
        <p:spPr/>
        <p:txBody>
          <a:bodyPr>
            <a:normAutofit/>
          </a:bodyPr>
          <a:lstStyle/>
          <a:p>
            <a:r>
              <a:rPr lang="en-US" sz="2800" dirty="0"/>
              <a:t>download the PostgreSQL installer for Windows</a:t>
            </a:r>
          </a:p>
          <a:p>
            <a:r>
              <a:rPr lang="en-US" sz="2800" dirty="0"/>
              <a:t>download page of PostgreSQL installers on the </a:t>
            </a:r>
            <a:r>
              <a:rPr lang="en-US" sz="2800" dirty="0" err="1"/>
              <a:t>EnterpriseDB</a:t>
            </a:r>
            <a:r>
              <a:rPr lang="en-US" sz="2800" dirty="0"/>
              <a:t> EDB: Open-Source, Enterprise Postgres Database Management </a:t>
            </a:r>
            <a:r>
              <a:rPr lang="en-US" sz="2800" dirty="0">
                <a:hlinkClick r:id="rId2"/>
              </a:rPr>
              <a:t>https://www.enterprisedb.com/downloads/postgres-postgresql-downloads</a:t>
            </a:r>
            <a:endParaRPr lang="en-US" sz="2800" dirty="0"/>
          </a:p>
          <a:p>
            <a:r>
              <a:rPr lang="en-US" sz="2800" dirty="0"/>
              <a:t>download PostgreSQL for Windows x86-64 version 16.9 (or the latest version)</a:t>
            </a:r>
          </a:p>
          <a:p>
            <a:r>
              <a:rPr lang="en-US" sz="2800" dirty="0"/>
              <a:t>install PostgreSQL on Windows</a:t>
            </a:r>
          </a:p>
        </p:txBody>
      </p:sp>
      <p:sp>
        <p:nvSpPr>
          <p:cNvPr id="4" name="Slide Number Placeholder 3">
            <a:extLst>
              <a:ext uri="{FF2B5EF4-FFF2-40B4-BE49-F238E27FC236}">
                <a16:creationId xmlns:a16="http://schemas.microsoft.com/office/drawing/2014/main" id="{9D949BE7-4E6D-C8C0-3A8E-E7EA11A19F00}"/>
              </a:ext>
            </a:extLst>
          </p:cNvPr>
          <p:cNvSpPr>
            <a:spLocks noGrp="1"/>
          </p:cNvSpPr>
          <p:nvPr>
            <p:ph type="sldNum" sz="quarter" idx="12"/>
          </p:nvPr>
        </p:nvSpPr>
        <p:spPr/>
        <p:txBody>
          <a:bodyPr/>
          <a:lstStyle/>
          <a:p>
            <a:fld id="{B6F15528-21DE-4FAA-801E-634DDDAF4B2B}" type="slidenum">
              <a:rPr lang="en-US" smtClean="0"/>
              <a:pPr/>
              <a:t>110</a:t>
            </a:fld>
            <a:endParaRPr lang="en-US"/>
          </a:p>
        </p:txBody>
      </p:sp>
    </p:spTree>
    <p:extLst>
      <p:ext uri="{BB962C8B-B14F-4D97-AF65-F5344CB8AC3E}">
        <p14:creationId xmlns:p14="http://schemas.microsoft.com/office/powerpoint/2010/main" val="190630743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3DE6-5C17-8FAA-45F6-8075E7DB6B24}"/>
              </a:ext>
            </a:extLst>
          </p:cNvPr>
          <p:cNvSpPr>
            <a:spLocks noGrp="1"/>
          </p:cNvSpPr>
          <p:nvPr>
            <p:ph type="title"/>
          </p:nvPr>
        </p:nvSpPr>
        <p:spPr/>
        <p:txBody>
          <a:bodyPr/>
          <a:lstStyle/>
          <a:p>
            <a:r>
              <a:rPr lang="en-US" dirty="0"/>
              <a:t>Step 1</a:t>
            </a:r>
          </a:p>
        </p:txBody>
      </p:sp>
      <p:sp>
        <p:nvSpPr>
          <p:cNvPr id="3" name="Content Placeholder 2">
            <a:extLst>
              <a:ext uri="{FF2B5EF4-FFF2-40B4-BE49-F238E27FC236}">
                <a16:creationId xmlns:a16="http://schemas.microsoft.com/office/drawing/2014/main" id="{B332D6CF-4BAF-374E-A544-DCDD005474A1}"/>
              </a:ext>
            </a:extLst>
          </p:cNvPr>
          <p:cNvSpPr>
            <a:spLocks noGrp="1"/>
          </p:cNvSpPr>
          <p:nvPr>
            <p:ph idx="1"/>
          </p:nvPr>
        </p:nvSpPr>
        <p:spPr/>
        <p:txBody>
          <a:bodyPr>
            <a:normAutofit/>
          </a:bodyPr>
          <a:lstStyle/>
          <a:p>
            <a:r>
              <a:rPr lang="en-US" sz="2800" dirty="0"/>
              <a:t>double-click on installer file and an installation wizard will appear and guide you through multiple steps</a:t>
            </a:r>
          </a:p>
          <a:p>
            <a:r>
              <a:rPr lang="en-US" sz="2800" dirty="0"/>
              <a:t>can choose various options based on preferences for PostgreSQL</a:t>
            </a:r>
          </a:p>
          <a:p>
            <a:endParaRPr lang="en-US" sz="2800" dirty="0"/>
          </a:p>
        </p:txBody>
      </p:sp>
      <p:sp>
        <p:nvSpPr>
          <p:cNvPr id="4" name="Slide Number Placeholder 3">
            <a:extLst>
              <a:ext uri="{FF2B5EF4-FFF2-40B4-BE49-F238E27FC236}">
                <a16:creationId xmlns:a16="http://schemas.microsoft.com/office/drawing/2014/main" id="{91900C7F-7BDA-B9EF-2596-365B31AEFDAB}"/>
              </a:ext>
            </a:extLst>
          </p:cNvPr>
          <p:cNvSpPr>
            <a:spLocks noGrp="1"/>
          </p:cNvSpPr>
          <p:nvPr>
            <p:ph type="sldNum" sz="quarter" idx="12"/>
          </p:nvPr>
        </p:nvSpPr>
        <p:spPr/>
        <p:txBody>
          <a:bodyPr/>
          <a:lstStyle/>
          <a:p>
            <a:fld id="{B6F15528-21DE-4FAA-801E-634DDDAF4B2B}" type="slidenum">
              <a:rPr lang="en-US" smtClean="0"/>
              <a:pPr/>
              <a:t>111</a:t>
            </a:fld>
            <a:endParaRPr lang="en-US"/>
          </a:p>
        </p:txBody>
      </p:sp>
    </p:spTree>
    <p:extLst>
      <p:ext uri="{BB962C8B-B14F-4D97-AF65-F5344CB8AC3E}">
        <p14:creationId xmlns:p14="http://schemas.microsoft.com/office/powerpoint/2010/main" val="238226085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1EBC3-1350-97E8-37B3-90618D5D5BCA}"/>
              </a:ext>
            </a:extLst>
          </p:cNvPr>
          <p:cNvSpPr>
            <a:spLocks noGrp="1"/>
          </p:cNvSpPr>
          <p:nvPr>
            <p:ph type="title"/>
          </p:nvPr>
        </p:nvSpPr>
        <p:spPr/>
        <p:txBody>
          <a:bodyPr>
            <a:normAutofit/>
          </a:bodyPr>
          <a:lstStyle/>
          <a:p>
            <a:r>
              <a:rPr lang="en-US" dirty="0"/>
              <a:t>Step 2. Click Next button</a:t>
            </a:r>
          </a:p>
        </p:txBody>
      </p:sp>
      <p:sp>
        <p:nvSpPr>
          <p:cNvPr id="4" name="Slide Number Placeholder 3">
            <a:extLst>
              <a:ext uri="{FF2B5EF4-FFF2-40B4-BE49-F238E27FC236}">
                <a16:creationId xmlns:a16="http://schemas.microsoft.com/office/drawing/2014/main" id="{EB9A918B-8135-FBE8-6702-1A1694F8140E}"/>
              </a:ext>
            </a:extLst>
          </p:cNvPr>
          <p:cNvSpPr>
            <a:spLocks noGrp="1"/>
          </p:cNvSpPr>
          <p:nvPr>
            <p:ph type="sldNum" sz="quarter" idx="12"/>
          </p:nvPr>
        </p:nvSpPr>
        <p:spPr/>
        <p:txBody>
          <a:bodyPr/>
          <a:lstStyle/>
          <a:p>
            <a:fld id="{B6F15528-21DE-4FAA-801E-634DDDAF4B2B}" type="slidenum">
              <a:rPr lang="en-US" smtClean="0"/>
              <a:pPr/>
              <a:t>112</a:t>
            </a:fld>
            <a:endParaRPr lang="en-US"/>
          </a:p>
        </p:txBody>
      </p:sp>
      <p:pic>
        <p:nvPicPr>
          <p:cNvPr id="5" name="Content Placeholder 4" descr="in this tutorial, you will step by step learn how to install PostgreSQL on your local system.">
            <a:extLst>
              <a:ext uri="{FF2B5EF4-FFF2-40B4-BE49-F238E27FC236}">
                <a16:creationId xmlns:a16="http://schemas.microsoft.com/office/drawing/2014/main" id="{40C9050B-69F7-A07F-43F5-D275DECC616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81166" y="1600200"/>
            <a:ext cx="5781668" cy="4525963"/>
          </a:xfrm>
          <a:prstGeom prst="rect">
            <a:avLst/>
          </a:prstGeom>
          <a:noFill/>
          <a:ln>
            <a:noFill/>
          </a:ln>
        </p:spPr>
      </p:pic>
    </p:spTree>
    <p:extLst>
      <p:ext uri="{BB962C8B-B14F-4D97-AF65-F5344CB8AC3E}">
        <p14:creationId xmlns:p14="http://schemas.microsoft.com/office/powerpoint/2010/main" val="98206421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3E91-65DE-C4A9-A8FA-04B107F7975E}"/>
              </a:ext>
            </a:extLst>
          </p:cNvPr>
          <p:cNvSpPr>
            <a:spLocks noGrp="1"/>
          </p:cNvSpPr>
          <p:nvPr>
            <p:ph type="title"/>
          </p:nvPr>
        </p:nvSpPr>
        <p:spPr>
          <a:xfrm>
            <a:off x="457200" y="274638"/>
            <a:ext cx="8229600" cy="1858962"/>
          </a:xfrm>
        </p:spPr>
        <p:txBody>
          <a:bodyPr>
            <a:noAutofit/>
          </a:bodyPr>
          <a:lstStyle/>
          <a:p>
            <a:r>
              <a:rPr lang="en-US" sz="3200" dirty="0"/>
              <a:t>Step 3. Specify installation directory by either choosing your preferred location or using default folder suggested</a:t>
            </a:r>
            <a:br>
              <a:rPr lang="en-US" sz="3200" dirty="0"/>
            </a:br>
            <a:r>
              <a:rPr lang="en-US" sz="3200" dirty="0"/>
              <a:t>and click the Next button</a:t>
            </a:r>
          </a:p>
        </p:txBody>
      </p:sp>
      <p:sp>
        <p:nvSpPr>
          <p:cNvPr id="3" name="Content Placeholder 2">
            <a:extLst>
              <a:ext uri="{FF2B5EF4-FFF2-40B4-BE49-F238E27FC236}">
                <a16:creationId xmlns:a16="http://schemas.microsoft.com/office/drawing/2014/main" id="{80F94ABE-DD00-868E-A000-0CAF89AE26F3}"/>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F276D779-F0B1-554C-8486-ABC4EABAB462}"/>
              </a:ext>
            </a:extLst>
          </p:cNvPr>
          <p:cNvSpPr>
            <a:spLocks noGrp="1"/>
          </p:cNvSpPr>
          <p:nvPr>
            <p:ph type="sldNum" sz="quarter" idx="12"/>
          </p:nvPr>
        </p:nvSpPr>
        <p:spPr/>
        <p:txBody>
          <a:bodyPr/>
          <a:lstStyle/>
          <a:p>
            <a:fld id="{B6F15528-21DE-4FAA-801E-634DDDAF4B2B}" type="slidenum">
              <a:rPr lang="en-US" smtClean="0"/>
              <a:pPr/>
              <a:t>113</a:t>
            </a:fld>
            <a:endParaRPr lang="en-US"/>
          </a:p>
        </p:txBody>
      </p:sp>
      <p:pic>
        <p:nvPicPr>
          <p:cNvPr id="5" name="Picture 4" descr="A screenshot of a computer&#10;&#10;AI-generated content may be incorrect.">
            <a:extLst>
              <a:ext uri="{FF2B5EF4-FFF2-40B4-BE49-F238E27FC236}">
                <a16:creationId xmlns:a16="http://schemas.microsoft.com/office/drawing/2014/main" id="{B52CDE47-45C5-882A-5DDC-0E34587359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4480" y="1737360"/>
            <a:ext cx="6257778" cy="4898667"/>
          </a:xfrm>
          <a:prstGeom prst="rect">
            <a:avLst/>
          </a:prstGeom>
          <a:noFill/>
          <a:ln>
            <a:noFill/>
          </a:ln>
        </p:spPr>
      </p:pic>
    </p:spTree>
    <p:extLst>
      <p:ext uri="{BB962C8B-B14F-4D97-AF65-F5344CB8AC3E}">
        <p14:creationId xmlns:p14="http://schemas.microsoft.com/office/powerpoint/2010/main" val="17341376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8A65B-0681-06D5-3259-EBB439DEBA2F}"/>
              </a:ext>
            </a:extLst>
          </p:cNvPr>
          <p:cNvSpPr>
            <a:spLocks noGrp="1"/>
          </p:cNvSpPr>
          <p:nvPr>
            <p:ph type="title"/>
          </p:nvPr>
        </p:nvSpPr>
        <p:spPr/>
        <p:txBody>
          <a:bodyPr>
            <a:normAutofit fontScale="90000"/>
          </a:bodyPr>
          <a:lstStyle/>
          <a:p>
            <a:r>
              <a:rPr lang="en-US" dirty="0"/>
              <a:t>Step 4. Select software components to install</a:t>
            </a:r>
          </a:p>
        </p:txBody>
      </p:sp>
      <p:sp>
        <p:nvSpPr>
          <p:cNvPr id="3" name="Content Placeholder 2">
            <a:extLst>
              <a:ext uri="{FF2B5EF4-FFF2-40B4-BE49-F238E27FC236}">
                <a16:creationId xmlns:a16="http://schemas.microsoft.com/office/drawing/2014/main" id="{72511CB2-C0F6-50BD-103D-C96DCB24E2C0}"/>
              </a:ext>
            </a:extLst>
          </p:cNvPr>
          <p:cNvSpPr>
            <a:spLocks noGrp="1"/>
          </p:cNvSpPr>
          <p:nvPr>
            <p:ph idx="1"/>
          </p:nvPr>
        </p:nvSpPr>
        <p:spPr/>
        <p:txBody>
          <a:bodyPr>
            <a:noAutofit/>
          </a:bodyPr>
          <a:lstStyle/>
          <a:p>
            <a:pPr lvl="0"/>
            <a:r>
              <a:rPr lang="en-US" sz="2800" dirty="0"/>
              <a:t>PostgreSQL Server option allows you to install the PostgreSQL database server</a:t>
            </a:r>
          </a:p>
          <a:p>
            <a:pPr lvl="0"/>
            <a:r>
              <a:rPr lang="en-US" sz="2700" dirty="0" err="1"/>
              <a:t>pgAdmin</a:t>
            </a:r>
            <a:r>
              <a:rPr lang="en-US" sz="2700" dirty="0"/>
              <a:t> 4 option allows you to install the PostgreSQL database GUI management tool.</a:t>
            </a:r>
          </a:p>
          <a:p>
            <a:pPr lvl="0"/>
            <a:r>
              <a:rPr lang="en-US" sz="2700" dirty="0"/>
              <a:t>Stack Builder provides GUI that allows you to download and install drivers that work with PostgreSQL</a:t>
            </a:r>
          </a:p>
          <a:p>
            <a:pPr lvl="0"/>
            <a:r>
              <a:rPr lang="en-US" sz="2700" dirty="0"/>
              <a:t>Command Line Tools option allows you to install command-line tools such as </a:t>
            </a:r>
            <a:r>
              <a:rPr lang="en-US" sz="2700" dirty="0" err="1"/>
              <a:t>psql</a:t>
            </a:r>
            <a:r>
              <a:rPr lang="en-US" sz="2700" dirty="0"/>
              <a:t>, </a:t>
            </a:r>
            <a:r>
              <a:rPr lang="en-US" sz="2700" dirty="0" err="1"/>
              <a:t>pg_restore</a:t>
            </a:r>
            <a:r>
              <a:rPr lang="en-US" sz="2700" dirty="0"/>
              <a:t>, and so on; tools allow you to interact with the PostgreSQL database server using the command-line interface</a:t>
            </a:r>
          </a:p>
          <a:p>
            <a:r>
              <a:rPr lang="en-US" sz="2700" i="1" dirty="0"/>
              <a:t>can skip installing Stack Builder and </a:t>
            </a:r>
            <a:r>
              <a:rPr lang="en-US" sz="2700" i="1" dirty="0" err="1"/>
              <a:t>pgAdmin</a:t>
            </a:r>
            <a:r>
              <a:rPr lang="en-US" sz="2700" i="1" dirty="0"/>
              <a:t> 4</a:t>
            </a:r>
          </a:p>
        </p:txBody>
      </p:sp>
      <p:sp>
        <p:nvSpPr>
          <p:cNvPr id="4" name="Slide Number Placeholder 3">
            <a:extLst>
              <a:ext uri="{FF2B5EF4-FFF2-40B4-BE49-F238E27FC236}">
                <a16:creationId xmlns:a16="http://schemas.microsoft.com/office/drawing/2014/main" id="{F4E44301-54C6-62BA-A583-89BDA5C523BF}"/>
              </a:ext>
            </a:extLst>
          </p:cNvPr>
          <p:cNvSpPr>
            <a:spLocks noGrp="1"/>
          </p:cNvSpPr>
          <p:nvPr>
            <p:ph type="sldNum" sz="quarter" idx="12"/>
          </p:nvPr>
        </p:nvSpPr>
        <p:spPr/>
        <p:txBody>
          <a:bodyPr/>
          <a:lstStyle/>
          <a:p>
            <a:fld id="{B6F15528-21DE-4FAA-801E-634DDDAF4B2B}" type="slidenum">
              <a:rPr lang="en-US" smtClean="0"/>
              <a:pPr/>
              <a:t>114</a:t>
            </a:fld>
            <a:endParaRPr lang="en-US"/>
          </a:p>
        </p:txBody>
      </p:sp>
    </p:spTree>
    <p:extLst>
      <p:ext uri="{BB962C8B-B14F-4D97-AF65-F5344CB8AC3E}">
        <p14:creationId xmlns:p14="http://schemas.microsoft.com/office/powerpoint/2010/main" val="410298523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070D8-2CFD-61AA-BF38-ACF9269E569C}"/>
              </a:ext>
            </a:extLst>
          </p:cNvPr>
          <p:cNvSpPr>
            <a:spLocks noGrp="1"/>
          </p:cNvSpPr>
          <p:nvPr>
            <p:ph type="title"/>
          </p:nvPr>
        </p:nvSpPr>
        <p:spPr>
          <a:xfrm>
            <a:off x="457200" y="274638"/>
            <a:ext cx="8229600" cy="2087562"/>
          </a:xfrm>
        </p:spPr>
        <p:txBody>
          <a:bodyPr>
            <a:noAutofit/>
          </a:bodyPr>
          <a:lstStyle/>
          <a:p>
            <a:r>
              <a:rPr lang="en-US" sz="3600" dirty="0"/>
              <a:t>Step 5. Choose database directory to store data, or accept default directory. Click Next button to proceed to next step</a:t>
            </a:r>
          </a:p>
        </p:txBody>
      </p:sp>
      <p:sp>
        <p:nvSpPr>
          <p:cNvPr id="3" name="Content Placeholder 2">
            <a:extLst>
              <a:ext uri="{FF2B5EF4-FFF2-40B4-BE49-F238E27FC236}">
                <a16:creationId xmlns:a16="http://schemas.microsoft.com/office/drawing/2014/main" id="{90BDDB3C-F24D-0052-2F66-1461158D2370}"/>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8EE2395D-4620-C81B-3DF3-8A3A9C936B07}"/>
              </a:ext>
            </a:extLst>
          </p:cNvPr>
          <p:cNvSpPr>
            <a:spLocks noGrp="1"/>
          </p:cNvSpPr>
          <p:nvPr>
            <p:ph type="sldNum" sz="quarter" idx="12"/>
          </p:nvPr>
        </p:nvSpPr>
        <p:spPr/>
        <p:txBody>
          <a:bodyPr/>
          <a:lstStyle/>
          <a:p>
            <a:fld id="{B6F15528-21DE-4FAA-801E-634DDDAF4B2B}" type="slidenum">
              <a:rPr lang="en-US" smtClean="0"/>
              <a:pPr/>
              <a:t>115</a:t>
            </a:fld>
            <a:endParaRPr lang="en-US"/>
          </a:p>
        </p:txBody>
      </p:sp>
    </p:spTree>
    <p:extLst>
      <p:ext uri="{BB962C8B-B14F-4D97-AF65-F5344CB8AC3E}">
        <p14:creationId xmlns:p14="http://schemas.microsoft.com/office/powerpoint/2010/main" val="212502811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03100-17E1-3C86-57E7-8B95237F02DF}"/>
              </a:ext>
            </a:extLst>
          </p:cNvPr>
          <p:cNvSpPr>
            <a:spLocks noGrp="1"/>
          </p:cNvSpPr>
          <p:nvPr>
            <p:ph type="title"/>
          </p:nvPr>
        </p:nvSpPr>
        <p:spPr/>
        <p:txBody>
          <a:bodyPr>
            <a:normAutofit fontScale="90000"/>
          </a:bodyPr>
          <a:lstStyle/>
          <a:p>
            <a:r>
              <a:rPr lang="en-US" b="1" dirty="0"/>
              <a:t>Step 6. Enter password for database superuser (</a:t>
            </a:r>
            <a:r>
              <a:rPr lang="en-US" b="1" dirty="0" err="1"/>
              <a:t>postgres</a:t>
            </a:r>
            <a:r>
              <a:rPr lang="en-US" b="1" dirty="0"/>
              <a:t>)</a:t>
            </a:r>
            <a:endParaRPr lang="en-US" dirty="0"/>
          </a:p>
        </p:txBody>
      </p:sp>
      <p:sp>
        <p:nvSpPr>
          <p:cNvPr id="4" name="Slide Number Placeholder 3">
            <a:extLst>
              <a:ext uri="{FF2B5EF4-FFF2-40B4-BE49-F238E27FC236}">
                <a16:creationId xmlns:a16="http://schemas.microsoft.com/office/drawing/2014/main" id="{3CD72F28-FE00-A80D-DDC2-C4D03808A278}"/>
              </a:ext>
            </a:extLst>
          </p:cNvPr>
          <p:cNvSpPr>
            <a:spLocks noGrp="1"/>
          </p:cNvSpPr>
          <p:nvPr>
            <p:ph type="sldNum" sz="quarter" idx="12"/>
          </p:nvPr>
        </p:nvSpPr>
        <p:spPr/>
        <p:txBody>
          <a:bodyPr/>
          <a:lstStyle/>
          <a:p>
            <a:fld id="{B6F15528-21DE-4FAA-801E-634DDDAF4B2B}" type="slidenum">
              <a:rPr lang="en-US" smtClean="0"/>
              <a:pPr/>
              <a:t>116</a:t>
            </a:fld>
            <a:endParaRPr lang="en-US"/>
          </a:p>
        </p:txBody>
      </p:sp>
      <p:pic>
        <p:nvPicPr>
          <p:cNvPr id="5" name="Content Placeholder 4" descr="The Password window">
            <a:extLst>
              <a:ext uri="{FF2B5EF4-FFF2-40B4-BE49-F238E27FC236}">
                <a16:creationId xmlns:a16="http://schemas.microsoft.com/office/drawing/2014/main" id="{78A6E32C-EA8A-2206-A37F-020A63A3912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97280" y="1463040"/>
            <a:ext cx="6756747" cy="5211141"/>
          </a:xfrm>
          <a:prstGeom prst="rect">
            <a:avLst/>
          </a:prstGeom>
          <a:noFill/>
          <a:ln>
            <a:noFill/>
          </a:ln>
        </p:spPr>
      </p:pic>
    </p:spTree>
    <p:extLst>
      <p:ext uri="{BB962C8B-B14F-4D97-AF65-F5344CB8AC3E}">
        <p14:creationId xmlns:p14="http://schemas.microsoft.com/office/powerpoint/2010/main" val="55185477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CDC85-503A-64D4-D93E-D9AA50474368}"/>
              </a:ext>
            </a:extLst>
          </p:cNvPr>
          <p:cNvSpPr>
            <a:spLocks noGrp="1"/>
          </p:cNvSpPr>
          <p:nvPr>
            <p:ph type="title"/>
          </p:nvPr>
        </p:nvSpPr>
        <p:spPr>
          <a:xfrm>
            <a:off x="228600" y="274638"/>
            <a:ext cx="8915400" cy="2697162"/>
          </a:xfrm>
        </p:spPr>
        <p:txBody>
          <a:bodyPr>
            <a:noAutofit/>
          </a:bodyPr>
          <a:lstStyle/>
          <a:p>
            <a:r>
              <a:rPr lang="en-US" sz="3600" b="1" dirty="0"/>
              <a:t>Step 7. Specify port number on which PostgreSQL database server will listen; default port of PostgreSQL is 5432</a:t>
            </a:r>
            <a:br>
              <a:rPr lang="en-US" sz="3600" dirty="0"/>
            </a:br>
            <a:r>
              <a:rPr lang="en-US" sz="3200" dirty="0"/>
              <a:t>ensure that no other applications are using this port</a:t>
            </a:r>
            <a:endParaRPr lang="en-US" sz="3600" dirty="0"/>
          </a:p>
        </p:txBody>
      </p:sp>
      <p:sp>
        <p:nvSpPr>
          <p:cNvPr id="3" name="Content Placeholder 2">
            <a:extLst>
              <a:ext uri="{FF2B5EF4-FFF2-40B4-BE49-F238E27FC236}">
                <a16:creationId xmlns:a16="http://schemas.microsoft.com/office/drawing/2014/main" id="{43001EBA-D46D-A687-82E1-7ABE390A2068}"/>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0A4C92F7-7096-C5BB-BE2E-6EF963696EF4}"/>
              </a:ext>
            </a:extLst>
          </p:cNvPr>
          <p:cNvSpPr>
            <a:spLocks noGrp="1"/>
          </p:cNvSpPr>
          <p:nvPr>
            <p:ph type="sldNum" sz="quarter" idx="12"/>
          </p:nvPr>
        </p:nvSpPr>
        <p:spPr/>
        <p:txBody>
          <a:bodyPr/>
          <a:lstStyle/>
          <a:p>
            <a:fld id="{B6F15528-21DE-4FAA-801E-634DDDAF4B2B}" type="slidenum">
              <a:rPr lang="en-US" smtClean="0"/>
              <a:pPr/>
              <a:t>117</a:t>
            </a:fld>
            <a:endParaRPr lang="en-US"/>
          </a:p>
        </p:txBody>
      </p:sp>
    </p:spTree>
    <p:extLst>
      <p:ext uri="{BB962C8B-B14F-4D97-AF65-F5344CB8AC3E}">
        <p14:creationId xmlns:p14="http://schemas.microsoft.com/office/powerpoint/2010/main" val="409007231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36EEE-D25A-F089-6F14-0FC6869ED027}"/>
              </a:ext>
            </a:extLst>
          </p:cNvPr>
          <p:cNvSpPr>
            <a:spLocks noGrp="1"/>
          </p:cNvSpPr>
          <p:nvPr>
            <p:ph type="title"/>
          </p:nvPr>
        </p:nvSpPr>
        <p:spPr>
          <a:xfrm>
            <a:off x="457200" y="274638"/>
            <a:ext cx="8229600" cy="2163762"/>
          </a:xfrm>
        </p:spPr>
        <p:txBody>
          <a:bodyPr>
            <a:noAutofit/>
          </a:bodyPr>
          <a:lstStyle/>
          <a:p>
            <a:r>
              <a:rPr lang="en-US" sz="3600" dirty="0"/>
              <a:t>Step 8. Select default locale for PostgreSQL server; if you leave it as default, PostgreSQL will use operating system locale; afterward, click Next button</a:t>
            </a:r>
          </a:p>
        </p:txBody>
      </p:sp>
      <p:sp>
        <p:nvSpPr>
          <p:cNvPr id="3" name="Content Placeholder 2">
            <a:extLst>
              <a:ext uri="{FF2B5EF4-FFF2-40B4-BE49-F238E27FC236}">
                <a16:creationId xmlns:a16="http://schemas.microsoft.com/office/drawing/2014/main" id="{1E451029-70FC-73F4-859C-81E300A16FCA}"/>
              </a:ext>
            </a:extLst>
          </p:cNvPr>
          <p:cNvSpPr>
            <a:spLocks noGrp="1"/>
          </p:cNvSpPr>
          <p:nvPr>
            <p:ph idx="1"/>
          </p:nvPr>
        </p:nvSpPr>
        <p:spPr>
          <a:xfrm>
            <a:off x="457200" y="2590800"/>
            <a:ext cx="8229600" cy="3535363"/>
          </a:xfrm>
        </p:spPr>
        <p:txBody>
          <a:bodyPr>
            <a:normAutofit/>
          </a:bodyPr>
          <a:lstStyle/>
          <a:p>
            <a:endParaRPr lang="en-US" dirty="0"/>
          </a:p>
        </p:txBody>
      </p:sp>
      <p:sp>
        <p:nvSpPr>
          <p:cNvPr id="4" name="Slide Number Placeholder 3">
            <a:extLst>
              <a:ext uri="{FF2B5EF4-FFF2-40B4-BE49-F238E27FC236}">
                <a16:creationId xmlns:a16="http://schemas.microsoft.com/office/drawing/2014/main" id="{E77BEA39-C0AC-3008-26DF-31BB85DB5FD9}"/>
              </a:ext>
            </a:extLst>
          </p:cNvPr>
          <p:cNvSpPr>
            <a:spLocks noGrp="1"/>
          </p:cNvSpPr>
          <p:nvPr>
            <p:ph type="sldNum" sz="quarter" idx="12"/>
          </p:nvPr>
        </p:nvSpPr>
        <p:spPr/>
        <p:txBody>
          <a:bodyPr/>
          <a:lstStyle/>
          <a:p>
            <a:fld id="{B6F15528-21DE-4FAA-801E-634DDDAF4B2B}" type="slidenum">
              <a:rPr lang="en-US" smtClean="0"/>
              <a:pPr/>
              <a:t>118</a:t>
            </a:fld>
            <a:endParaRPr lang="en-US"/>
          </a:p>
        </p:txBody>
      </p:sp>
    </p:spTree>
    <p:extLst>
      <p:ext uri="{BB962C8B-B14F-4D97-AF65-F5344CB8AC3E}">
        <p14:creationId xmlns:p14="http://schemas.microsoft.com/office/powerpoint/2010/main" val="372918181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61F9C-CD0B-2F0C-B44E-DD8DD2D74CC1}"/>
              </a:ext>
            </a:extLst>
          </p:cNvPr>
          <p:cNvSpPr>
            <a:spLocks noGrp="1"/>
          </p:cNvSpPr>
          <p:nvPr>
            <p:ph type="title"/>
          </p:nvPr>
        </p:nvSpPr>
        <p:spPr>
          <a:xfrm>
            <a:off x="457200" y="274638"/>
            <a:ext cx="8229600" cy="3459162"/>
          </a:xfrm>
        </p:spPr>
        <p:txBody>
          <a:bodyPr>
            <a:normAutofit fontScale="90000"/>
          </a:bodyPr>
          <a:lstStyle/>
          <a:p>
            <a:r>
              <a:rPr lang="en-US" dirty="0"/>
              <a:t>Step 9. setup wizard will show summary PostgreSQL information; review details, and if everything is correct, click Next button</a:t>
            </a:r>
            <a:br>
              <a:rPr lang="en-US" dirty="0"/>
            </a:br>
            <a:r>
              <a:rPr lang="en-US" dirty="0"/>
              <a:t>otherwise, click Back button to adjust configuration accordingly</a:t>
            </a:r>
          </a:p>
        </p:txBody>
      </p:sp>
      <p:sp>
        <p:nvSpPr>
          <p:cNvPr id="3" name="Content Placeholder 2">
            <a:extLst>
              <a:ext uri="{FF2B5EF4-FFF2-40B4-BE49-F238E27FC236}">
                <a16:creationId xmlns:a16="http://schemas.microsoft.com/office/drawing/2014/main" id="{B1E92C68-3136-7E40-3B9C-60D8F3A9B2F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E1669F2-AED1-80B5-946A-339BDD37C5FA}"/>
              </a:ext>
            </a:extLst>
          </p:cNvPr>
          <p:cNvSpPr>
            <a:spLocks noGrp="1"/>
          </p:cNvSpPr>
          <p:nvPr>
            <p:ph type="sldNum" sz="quarter" idx="12"/>
          </p:nvPr>
        </p:nvSpPr>
        <p:spPr/>
        <p:txBody>
          <a:bodyPr/>
          <a:lstStyle/>
          <a:p>
            <a:fld id="{B6F15528-21DE-4FAA-801E-634DDDAF4B2B}" type="slidenum">
              <a:rPr lang="en-US" smtClean="0"/>
              <a:pPr/>
              <a:t>119</a:t>
            </a:fld>
            <a:endParaRPr lang="en-US"/>
          </a:p>
        </p:txBody>
      </p:sp>
    </p:spTree>
    <p:extLst>
      <p:ext uri="{BB962C8B-B14F-4D97-AF65-F5344CB8AC3E}">
        <p14:creationId xmlns:p14="http://schemas.microsoft.com/office/powerpoint/2010/main" val="246568367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AD1A2-E3C6-EE15-7244-0DC10F1217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FF68AE-39C0-A264-9350-44AADC6AA05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692B504-C80A-9263-C616-7251BE2F1AB3}"/>
              </a:ext>
            </a:extLst>
          </p:cNvPr>
          <p:cNvSpPr>
            <a:spLocks noGrp="1"/>
          </p:cNvSpPr>
          <p:nvPr>
            <p:ph type="sldNum" sz="quarter" idx="12"/>
          </p:nvPr>
        </p:nvSpPr>
        <p:spPr/>
        <p:txBody>
          <a:bodyPr/>
          <a:lstStyle/>
          <a:p>
            <a:fld id="{B6F15528-21DE-4FAA-801E-634DDDAF4B2B}" type="slidenum">
              <a:rPr lang="en-US" smtClean="0"/>
              <a:pPr/>
              <a:t>120</a:t>
            </a:fld>
            <a:endParaRPr lang="en-US"/>
          </a:p>
        </p:txBody>
      </p:sp>
      <p:pic>
        <p:nvPicPr>
          <p:cNvPr id="5" name="Picture 4" descr="A screenshot of a computer&#10;&#10;AI-generated content may be incorrect.">
            <a:extLst>
              <a:ext uri="{FF2B5EF4-FFF2-40B4-BE49-F238E27FC236}">
                <a16:creationId xmlns:a16="http://schemas.microsoft.com/office/drawing/2014/main" id="{6CE5946C-A47F-B96D-48ED-9CEB80CF972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 y="274320"/>
            <a:ext cx="7924800" cy="6196501"/>
          </a:xfrm>
          <a:prstGeom prst="rect">
            <a:avLst/>
          </a:prstGeom>
          <a:noFill/>
          <a:ln>
            <a:noFill/>
          </a:ln>
        </p:spPr>
      </p:pic>
    </p:spTree>
    <p:extLst>
      <p:ext uri="{BB962C8B-B14F-4D97-AF65-F5344CB8AC3E}">
        <p14:creationId xmlns:p14="http://schemas.microsoft.com/office/powerpoint/2010/main" val="30625920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74972-4657-EF1F-E262-3AC8A63D4853}"/>
              </a:ext>
            </a:extLst>
          </p:cNvPr>
          <p:cNvSpPr>
            <a:spLocks noGrp="1"/>
          </p:cNvSpPr>
          <p:nvPr>
            <p:ph type="title"/>
          </p:nvPr>
        </p:nvSpPr>
        <p:spPr/>
        <p:txBody>
          <a:bodyPr>
            <a:noAutofit/>
          </a:bodyPr>
          <a:lstStyle/>
          <a:p>
            <a:r>
              <a:rPr lang="en-US" sz="3600" dirty="0"/>
              <a:t>Step 10. Click Finish button to complete PostgreSQL installation</a:t>
            </a:r>
          </a:p>
        </p:txBody>
      </p:sp>
      <p:sp>
        <p:nvSpPr>
          <p:cNvPr id="3" name="Content Placeholder 2">
            <a:extLst>
              <a:ext uri="{FF2B5EF4-FFF2-40B4-BE49-F238E27FC236}">
                <a16:creationId xmlns:a16="http://schemas.microsoft.com/office/drawing/2014/main" id="{B0274856-9E94-8F4E-5D8E-C6F3536BC098}"/>
              </a:ext>
            </a:extLst>
          </p:cNvPr>
          <p:cNvSpPr>
            <a:spLocks noGrp="1"/>
          </p:cNvSpPr>
          <p:nvPr>
            <p:ph idx="1"/>
          </p:nvPr>
        </p:nvSpPr>
        <p:spPr/>
        <p:txBody>
          <a:bodyPr>
            <a:normAutofit/>
          </a:bodyPr>
          <a:lstStyle/>
          <a:p>
            <a:r>
              <a:rPr lang="en-US" sz="2800" dirty="0"/>
              <a:t>then Stack Builder will be activated </a:t>
            </a:r>
          </a:p>
          <a:p>
            <a:r>
              <a:rPr lang="en-US" sz="2800" dirty="0"/>
              <a:t>Stack Builder utility provides a graphical interface that simplifies downloading and installing modules that complement your PostgreSQL installation</a:t>
            </a:r>
          </a:p>
          <a:p>
            <a:r>
              <a:rPr lang="en-US" sz="2800" dirty="0"/>
              <a:t>when install a module with Stack Builder, Stack Builder resolves any software dependencies</a:t>
            </a:r>
          </a:p>
          <a:p>
            <a:r>
              <a:rPr lang="en-US" sz="2800" dirty="0"/>
              <a:t>modules supported by Stack Builder are subject to change and vary by platform</a:t>
            </a:r>
          </a:p>
          <a:p>
            <a:endParaRPr lang="en-US" sz="2800" dirty="0"/>
          </a:p>
        </p:txBody>
      </p:sp>
      <p:sp>
        <p:nvSpPr>
          <p:cNvPr id="4" name="Slide Number Placeholder 3">
            <a:extLst>
              <a:ext uri="{FF2B5EF4-FFF2-40B4-BE49-F238E27FC236}">
                <a16:creationId xmlns:a16="http://schemas.microsoft.com/office/drawing/2014/main" id="{5A6EA40D-E647-63C6-3DFB-AD97E5EAE22E}"/>
              </a:ext>
            </a:extLst>
          </p:cNvPr>
          <p:cNvSpPr>
            <a:spLocks noGrp="1"/>
          </p:cNvSpPr>
          <p:nvPr>
            <p:ph type="sldNum" sz="quarter" idx="12"/>
          </p:nvPr>
        </p:nvSpPr>
        <p:spPr/>
        <p:txBody>
          <a:bodyPr/>
          <a:lstStyle/>
          <a:p>
            <a:fld id="{B6F15528-21DE-4FAA-801E-634DDDAF4B2B}" type="slidenum">
              <a:rPr lang="en-US" smtClean="0"/>
              <a:pPr/>
              <a:t>121</a:t>
            </a:fld>
            <a:endParaRPr lang="en-US"/>
          </a:p>
        </p:txBody>
      </p:sp>
    </p:spTree>
    <p:extLst>
      <p:ext uri="{BB962C8B-B14F-4D97-AF65-F5344CB8AC3E}">
        <p14:creationId xmlns:p14="http://schemas.microsoft.com/office/powerpoint/2010/main" val="392471209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08AE-E848-5F03-98F7-CA3519E4985E}"/>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A917EF38-8404-5AC5-3C57-38DB1FB01CB6}"/>
              </a:ext>
            </a:extLst>
          </p:cNvPr>
          <p:cNvSpPr>
            <a:spLocks noGrp="1"/>
          </p:cNvSpPr>
          <p:nvPr>
            <p:ph type="sldNum" sz="quarter" idx="12"/>
          </p:nvPr>
        </p:nvSpPr>
        <p:spPr/>
        <p:txBody>
          <a:bodyPr/>
          <a:lstStyle/>
          <a:p>
            <a:fld id="{B6F15528-21DE-4FAA-801E-634DDDAF4B2B}" type="slidenum">
              <a:rPr lang="en-US" smtClean="0"/>
              <a:pPr/>
              <a:t>122</a:t>
            </a:fld>
            <a:endParaRPr lang="en-US"/>
          </a:p>
        </p:txBody>
      </p:sp>
      <p:pic>
        <p:nvPicPr>
          <p:cNvPr id="5" name="Content Placeholder 4" descr="The Stack Builder welcome screen">
            <a:extLst>
              <a:ext uri="{FF2B5EF4-FFF2-40B4-BE49-F238E27FC236}">
                <a16:creationId xmlns:a16="http://schemas.microsoft.com/office/drawing/2014/main" id="{3DCDEFB4-D675-CBFD-B0EC-23122C01DBA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914400"/>
            <a:ext cx="8585641" cy="5494810"/>
          </a:xfrm>
          <a:prstGeom prst="rect">
            <a:avLst/>
          </a:prstGeom>
          <a:noFill/>
          <a:ln>
            <a:noFill/>
          </a:ln>
        </p:spPr>
      </p:pic>
    </p:spTree>
    <p:extLst>
      <p:ext uri="{BB962C8B-B14F-4D97-AF65-F5344CB8AC3E}">
        <p14:creationId xmlns:p14="http://schemas.microsoft.com/office/powerpoint/2010/main" val="151975845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A82DD-E7D8-96BA-3E85-9AE61F11F9B5}"/>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EC46535E-1E1F-91D0-0C45-3A44C26456D3}"/>
              </a:ext>
            </a:extLst>
          </p:cNvPr>
          <p:cNvSpPr>
            <a:spLocks noGrp="1"/>
          </p:cNvSpPr>
          <p:nvPr>
            <p:ph type="sldNum" sz="quarter" idx="12"/>
          </p:nvPr>
        </p:nvSpPr>
        <p:spPr/>
        <p:txBody>
          <a:bodyPr/>
          <a:lstStyle/>
          <a:p>
            <a:fld id="{B6F15528-21DE-4FAA-801E-634DDDAF4B2B}" type="slidenum">
              <a:rPr lang="en-US" smtClean="0"/>
              <a:pPr/>
              <a:t>123</a:t>
            </a:fld>
            <a:endParaRPr lang="en-US"/>
          </a:p>
        </p:txBody>
      </p:sp>
      <p:pic>
        <p:nvPicPr>
          <p:cNvPr id="5" name="Content Placeholder 4" descr="The Stack Builder module selection window">
            <a:extLst>
              <a:ext uri="{FF2B5EF4-FFF2-40B4-BE49-F238E27FC236}">
                <a16:creationId xmlns:a16="http://schemas.microsoft.com/office/drawing/2014/main" id="{2F08826F-8AFD-DFD0-6A84-8F7CBECA546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457200"/>
            <a:ext cx="8585641" cy="5924092"/>
          </a:xfrm>
          <a:prstGeom prst="rect">
            <a:avLst/>
          </a:prstGeom>
          <a:noFill/>
          <a:ln>
            <a:noFill/>
          </a:ln>
        </p:spPr>
      </p:pic>
    </p:spTree>
    <p:extLst>
      <p:ext uri="{BB962C8B-B14F-4D97-AF65-F5344CB8AC3E}">
        <p14:creationId xmlns:p14="http://schemas.microsoft.com/office/powerpoint/2010/main" val="382333273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7A19E-271D-0D79-DBC0-8729DE699D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B1BD539-EB80-7FD0-919D-0D2ED8AB7219}"/>
              </a:ext>
            </a:extLst>
          </p:cNvPr>
          <p:cNvSpPr>
            <a:spLocks noGrp="1"/>
          </p:cNvSpPr>
          <p:nvPr>
            <p:ph idx="1"/>
          </p:nvPr>
        </p:nvSpPr>
        <p:spPr/>
        <p:txBody>
          <a:bodyPr>
            <a:normAutofit/>
          </a:bodyPr>
          <a:lstStyle/>
          <a:p>
            <a:r>
              <a:rPr lang="en-US" dirty="0"/>
              <a:t>maybe some add-ins, tools and utilities could be useful, also some Database Drivers</a:t>
            </a:r>
          </a:p>
        </p:txBody>
      </p:sp>
      <p:sp>
        <p:nvSpPr>
          <p:cNvPr id="4" name="Slide Number Placeholder 3">
            <a:extLst>
              <a:ext uri="{FF2B5EF4-FFF2-40B4-BE49-F238E27FC236}">
                <a16:creationId xmlns:a16="http://schemas.microsoft.com/office/drawing/2014/main" id="{0307FD6B-DA4B-34FE-1BDA-93646A66FC04}"/>
              </a:ext>
            </a:extLst>
          </p:cNvPr>
          <p:cNvSpPr>
            <a:spLocks noGrp="1"/>
          </p:cNvSpPr>
          <p:nvPr>
            <p:ph type="sldNum" sz="quarter" idx="12"/>
          </p:nvPr>
        </p:nvSpPr>
        <p:spPr/>
        <p:txBody>
          <a:bodyPr/>
          <a:lstStyle/>
          <a:p>
            <a:fld id="{B6F15528-21DE-4FAA-801E-634DDDAF4B2B}" type="slidenum">
              <a:rPr lang="en-US" smtClean="0"/>
              <a:pPr/>
              <a:t>124</a:t>
            </a:fld>
            <a:endParaRPr lang="en-US"/>
          </a:p>
        </p:txBody>
      </p:sp>
    </p:spTree>
    <p:extLst>
      <p:ext uri="{BB962C8B-B14F-4D97-AF65-F5344CB8AC3E}">
        <p14:creationId xmlns:p14="http://schemas.microsoft.com/office/powerpoint/2010/main" val="16085629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6649E-3D92-A86E-5D9F-BE431D23CAD1}"/>
              </a:ext>
            </a:extLst>
          </p:cNvPr>
          <p:cNvSpPr>
            <a:spLocks noGrp="1"/>
          </p:cNvSpPr>
          <p:nvPr>
            <p:ph type="title"/>
          </p:nvPr>
        </p:nvSpPr>
        <p:spPr>
          <a:xfrm>
            <a:off x="228600" y="274638"/>
            <a:ext cx="8915400" cy="1143000"/>
          </a:xfrm>
        </p:spPr>
        <p:txBody>
          <a:bodyPr>
            <a:normAutofit fontScale="90000"/>
          </a:bodyPr>
          <a:lstStyle/>
          <a:p>
            <a:r>
              <a:rPr lang="en-US" dirty="0"/>
              <a:t>To check that everything is O.K. </a:t>
            </a:r>
            <a:br>
              <a:rPr lang="en-US" dirty="0"/>
            </a:br>
            <a:r>
              <a:rPr lang="en-US" dirty="0"/>
              <a:t>Check back-end database engine is </a:t>
            </a:r>
            <a:r>
              <a:rPr lang="en-US" dirty="0" err="1"/>
              <a:t>runing</a:t>
            </a:r>
            <a:endParaRPr lang="en-US" dirty="0"/>
          </a:p>
        </p:txBody>
      </p:sp>
      <p:sp>
        <p:nvSpPr>
          <p:cNvPr id="4" name="Slide Number Placeholder 3">
            <a:extLst>
              <a:ext uri="{FF2B5EF4-FFF2-40B4-BE49-F238E27FC236}">
                <a16:creationId xmlns:a16="http://schemas.microsoft.com/office/drawing/2014/main" id="{11FB33DB-CFCE-4EBC-AE84-E407457F01E4}"/>
              </a:ext>
            </a:extLst>
          </p:cNvPr>
          <p:cNvSpPr>
            <a:spLocks noGrp="1"/>
          </p:cNvSpPr>
          <p:nvPr>
            <p:ph type="sldNum" sz="quarter" idx="12"/>
          </p:nvPr>
        </p:nvSpPr>
        <p:spPr/>
        <p:txBody>
          <a:bodyPr/>
          <a:lstStyle/>
          <a:p>
            <a:fld id="{B6F15528-21DE-4FAA-801E-634DDDAF4B2B}" type="slidenum">
              <a:rPr lang="en-US" smtClean="0"/>
              <a:pPr/>
              <a:t>125</a:t>
            </a:fld>
            <a:endParaRPr lang="en-US"/>
          </a:p>
        </p:txBody>
      </p:sp>
      <p:pic>
        <p:nvPicPr>
          <p:cNvPr id="5" name="Content Placeholder 4">
            <a:extLst>
              <a:ext uri="{FF2B5EF4-FFF2-40B4-BE49-F238E27FC236}">
                <a16:creationId xmlns:a16="http://schemas.microsoft.com/office/drawing/2014/main" id="{E56DD4FA-7E7F-0B0E-8E1F-56DE2811403B}"/>
              </a:ext>
            </a:extLst>
          </p:cNvPr>
          <p:cNvPicPr>
            <a:picLocks noGrp="1" noChangeAspect="1"/>
          </p:cNvPicPr>
          <p:nvPr>
            <p:ph idx="1"/>
          </p:nvPr>
        </p:nvPicPr>
        <p:blipFill>
          <a:blip r:embed="rId2"/>
          <a:stretch>
            <a:fillRect/>
          </a:stretch>
        </p:blipFill>
        <p:spPr>
          <a:xfrm>
            <a:off x="2186080" y="1600200"/>
            <a:ext cx="4771840" cy="4525963"/>
          </a:xfrm>
          <a:prstGeom prst="rect">
            <a:avLst/>
          </a:prstGeom>
        </p:spPr>
      </p:pic>
    </p:spTree>
    <p:extLst>
      <p:ext uri="{BB962C8B-B14F-4D97-AF65-F5344CB8AC3E}">
        <p14:creationId xmlns:p14="http://schemas.microsoft.com/office/powerpoint/2010/main" val="178760289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7DD79-EC81-25AF-44C9-518BAFB89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763D9A-BE2A-AC9C-67A7-CC6FD3108851}"/>
              </a:ext>
            </a:extLst>
          </p:cNvPr>
          <p:cNvSpPr>
            <a:spLocks noGrp="1"/>
          </p:cNvSpPr>
          <p:nvPr>
            <p:ph type="title"/>
          </p:nvPr>
        </p:nvSpPr>
        <p:spPr>
          <a:xfrm>
            <a:off x="228600" y="274638"/>
            <a:ext cx="8915400" cy="1143000"/>
          </a:xfrm>
        </p:spPr>
        <p:txBody>
          <a:bodyPr>
            <a:normAutofit fontScale="90000"/>
          </a:bodyPr>
          <a:lstStyle/>
          <a:p>
            <a:r>
              <a:rPr lang="en-US" dirty="0"/>
              <a:t>To check that everything is O.K. </a:t>
            </a:r>
            <a:br>
              <a:rPr lang="en-US" dirty="0"/>
            </a:br>
            <a:r>
              <a:rPr lang="en-US" dirty="0"/>
              <a:t>Check back-end database engine is </a:t>
            </a:r>
            <a:r>
              <a:rPr lang="en-US" dirty="0" err="1"/>
              <a:t>runing</a:t>
            </a:r>
            <a:endParaRPr lang="en-US" dirty="0"/>
          </a:p>
        </p:txBody>
      </p:sp>
      <p:sp>
        <p:nvSpPr>
          <p:cNvPr id="4" name="Slide Number Placeholder 3">
            <a:extLst>
              <a:ext uri="{FF2B5EF4-FFF2-40B4-BE49-F238E27FC236}">
                <a16:creationId xmlns:a16="http://schemas.microsoft.com/office/drawing/2014/main" id="{C8A6547F-6EB1-3B75-31E1-B203CB7E44CD}"/>
              </a:ext>
            </a:extLst>
          </p:cNvPr>
          <p:cNvSpPr>
            <a:spLocks noGrp="1"/>
          </p:cNvSpPr>
          <p:nvPr>
            <p:ph type="sldNum" sz="quarter" idx="12"/>
          </p:nvPr>
        </p:nvSpPr>
        <p:spPr/>
        <p:txBody>
          <a:bodyPr/>
          <a:lstStyle/>
          <a:p>
            <a:fld id="{B6F15528-21DE-4FAA-801E-634DDDAF4B2B}" type="slidenum">
              <a:rPr lang="en-US" smtClean="0"/>
              <a:pPr/>
              <a:t>126</a:t>
            </a:fld>
            <a:endParaRPr lang="en-US"/>
          </a:p>
        </p:txBody>
      </p:sp>
      <p:sp>
        <p:nvSpPr>
          <p:cNvPr id="6" name="Content Placeholder 5">
            <a:extLst>
              <a:ext uri="{FF2B5EF4-FFF2-40B4-BE49-F238E27FC236}">
                <a16:creationId xmlns:a16="http://schemas.microsoft.com/office/drawing/2014/main" id="{97E87E5B-31C6-AA9B-348E-2281A646B072}"/>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7DFA0FF3-60D2-3372-2811-55ECBA39E523}"/>
              </a:ext>
            </a:extLst>
          </p:cNvPr>
          <p:cNvPicPr>
            <a:picLocks noChangeAspect="1"/>
          </p:cNvPicPr>
          <p:nvPr/>
        </p:nvPicPr>
        <p:blipFill>
          <a:blip r:embed="rId2"/>
          <a:stretch>
            <a:fillRect/>
          </a:stretch>
        </p:blipFill>
        <p:spPr>
          <a:xfrm>
            <a:off x="914400" y="1463040"/>
            <a:ext cx="7528526" cy="4905571"/>
          </a:xfrm>
          <a:prstGeom prst="rect">
            <a:avLst/>
          </a:prstGeom>
        </p:spPr>
      </p:pic>
    </p:spTree>
    <p:extLst>
      <p:ext uri="{BB962C8B-B14F-4D97-AF65-F5344CB8AC3E}">
        <p14:creationId xmlns:p14="http://schemas.microsoft.com/office/powerpoint/2010/main" val="388279549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3C8D0-530A-D68F-A9C9-591201B548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6E2A4F-5DD0-86AB-D000-630654FD407F}"/>
              </a:ext>
            </a:extLst>
          </p:cNvPr>
          <p:cNvSpPr>
            <a:spLocks noGrp="1"/>
          </p:cNvSpPr>
          <p:nvPr>
            <p:ph idx="1"/>
          </p:nvPr>
        </p:nvSpPr>
        <p:spPr/>
        <p:txBody>
          <a:bodyPr>
            <a:normAutofit fontScale="85000" lnSpcReduction="10000"/>
          </a:bodyPr>
          <a:lstStyle/>
          <a:p>
            <a:r>
              <a:rPr lang="en-US" dirty="0"/>
              <a:t>add bin directory to the PATH environment variable</a:t>
            </a:r>
          </a:p>
          <a:p>
            <a:pPr lvl="1"/>
            <a:r>
              <a:rPr lang="en-US" sz="3200" dirty="0"/>
              <a:t>enable execution of common PostgreSQL tools, such as </a:t>
            </a:r>
            <a:r>
              <a:rPr lang="en-US" sz="3200" dirty="0" err="1"/>
              <a:t>plsql</a:t>
            </a:r>
            <a:r>
              <a:rPr lang="en-US" sz="3200" dirty="0"/>
              <a:t> and </a:t>
            </a:r>
            <a:r>
              <a:rPr lang="en-US" sz="3200" dirty="0" err="1"/>
              <a:t>pg_restore</a:t>
            </a:r>
            <a:r>
              <a:rPr lang="en-US" sz="3200" dirty="0"/>
              <a:t>, from any directory without the need to navigate the bin directory first</a:t>
            </a:r>
          </a:p>
          <a:p>
            <a:endParaRPr lang="en-US" dirty="0"/>
          </a:p>
          <a:p>
            <a:r>
              <a:rPr lang="en-US" sz="3300" dirty="0"/>
              <a:t>typically, it is set to the following: </a:t>
            </a:r>
          </a:p>
          <a:p>
            <a:r>
              <a:rPr lang="en-US" sz="3300" dirty="0"/>
              <a:t>C:\Program Files\PostgreSQL\&lt;version&gt;\bin</a:t>
            </a:r>
          </a:p>
          <a:p>
            <a:r>
              <a:rPr lang="en-US" sz="3300" dirty="0"/>
              <a:t>for example, PostgreSQL 16, the path to the bin directory will look like this: </a:t>
            </a:r>
          </a:p>
          <a:p>
            <a:r>
              <a:rPr lang="en-US" sz="3300" dirty="0"/>
              <a:t>C:\Program Files\PostgreSQL\16\bin</a:t>
            </a:r>
          </a:p>
          <a:p>
            <a:endParaRPr lang="en-US" dirty="0"/>
          </a:p>
        </p:txBody>
      </p:sp>
      <p:sp>
        <p:nvSpPr>
          <p:cNvPr id="4" name="Slide Number Placeholder 3">
            <a:extLst>
              <a:ext uri="{FF2B5EF4-FFF2-40B4-BE49-F238E27FC236}">
                <a16:creationId xmlns:a16="http://schemas.microsoft.com/office/drawing/2014/main" id="{117222E0-534F-192D-CB49-75880865650D}"/>
              </a:ext>
            </a:extLst>
          </p:cNvPr>
          <p:cNvSpPr>
            <a:spLocks noGrp="1"/>
          </p:cNvSpPr>
          <p:nvPr>
            <p:ph type="sldNum" sz="quarter" idx="12"/>
          </p:nvPr>
        </p:nvSpPr>
        <p:spPr/>
        <p:txBody>
          <a:bodyPr/>
          <a:lstStyle/>
          <a:p>
            <a:fld id="{B6F15528-21DE-4FAA-801E-634DDDAF4B2B}" type="slidenum">
              <a:rPr lang="en-US" smtClean="0"/>
              <a:pPr/>
              <a:t>127</a:t>
            </a:fld>
            <a:endParaRPr lang="en-US"/>
          </a:p>
        </p:txBody>
      </p:sp>
    </p:spTree>
    <p:extLst>
      <p:ext uri="{BB962C8B-B14F-4D97-AF65-F5344CB8AC3E}">
        <p14:creationId xmlns:p14="http://schemas.microsoft.com/office/powerpoint/2010/main" val="32015841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8EDF7-CBDA-3DEF-3724-84921DA7C3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6E885E-ADFB-35BF-3728-9F8032BF63AF}"/>
              </a:ext>
            </a:extLst>
          </p:cNvPr>
          <p:cNvSpPr>
            <a:spLocks noGrp="1"/>
          </p:cNvSpPr>
          <p:nvPr>
            <p:ph idx="1"/>
          </p:nvPr>
        </p:nvSpPr>
        <p:spPr/>
        <p:txBody>
          <a:bodyPr>
            <a:normAutofit/>
          </a:bodyPr>
          <a:lstStyle/>
          <a:p>
            <a:r>
              <a:rPr lang="en-US" sz="2800" dirty="0"/>
              <a:t>verifying installation of PostgreSQL</a:t>
            </a:r>
          </a:p>
          <a:p>
            <a:r>
              <a:rPr lang="en-US" sz="2800" dirty="0"/>
              <a:t>couple of ways to verify the installation of PostgreSQL like connecting to database server using some client applications like </a:t>
            </a:r>
            <a:r>
              <a:rPr lang="en-US" sz="2800" dirty="0" err="1"/>
              <a:t>pgAdmin</a:t>
            </a:r>
            <a:r>
              <a:rPr lang="en-US" sz="2800" dirty="0"/>
              <a:t> or </a:t>
            </a:r>
            <a:r>
              <a:rPr lang="en-US" sz="2800" dirty="0" err="1"/>
              <a:t>DBeaver</a:t>
            </a:r>
            <a:r>
              <a:rPr lang="en-US" sz="2800" dirty="0"/>
              <a:t> or </a:t>
            </a:r>
            <a:r>
              <a:rPr lang="en-US" sz="2800" dirty="0" err="1"/>
              <a:t>psql</a:t>
            </a:r>
            <a:endParaRPr lang="en-US" sz="2800" dirty="0"/>
          </a:p>
          <a:p>
            <a:r>
              <a:rPr lang="en-US" sz="2800" dirty="0"/>
              <a:t>quickest way though is to use the </a:t>
            </a:r>
            <a:r>
              <a:rPr lang="en-US" sz="2800" dirty="0" err="1"/>
              <a:t>psql</a:t>
            </a:r>
            <a:r>
              <a:rPr lang="en-US" sz="2800" dirty="0"/>
              <a:t> shell, command line client tool</a:t>
            </a:r>
          </a:p>
          <a:p>
            <a:r>
              <a:rPr lang="en-US" sz="2800" dirty="0"/>
              <a:t>from command windows open </a:t>
            </a:r>
            <a:r>
              <a:rPr lang="en-US" sz="2800" dirty="0" err="1"/>
              <a:t>psql</a:t>
            </a:r>
            <a:r>
              <a:rPr lang="en-US" sz="2800" dirty="0"/>
              <a:t> -U </a:t>
            </a:r>
            <a:r>
              <a:rPr lang="en-US" sz="2800" dirty="0" err="1"/>
              <a:t>postgres</a:t>
            </a:r>
            <a:r>
              <a:rPr lang="en-US" sz="2800" dirty="0"/>
              <a:t> (</a:t>
            </a:r>
            <a:r>
              <a:rPr lang="en-US" sz="2800" dirty="0" err="1"/>
              <a:t>UserName</a:t>
            </a:r>
            <a:r>
              <a:rPr lang="en-US" sz="2800" dirty="0"/>
              <a:t> is </a:t>
            </a:r>
            <a:r>
              <a:rPr lang="en-US" sz="2800" dirty="0" err="1"/>
              <a:t>postgres</a:t>
            </a:r>
            <a:r>
              <a:rPr lang="en-US" sz="2800" dirty="0"/>
              <a:t> superuser)</a:t>
            </a:r>
          </a:p>
          <a:p>
            <a:endParaRPr lang="en-US" sz="2800" dirty="0"/>
          </a:p>
        </p:txBody>
      </p:sp>
      <p:sp>
        <p:nvSpPr>
          <p:cNvPr id="4" name="Slide Number Placeholder 3">
            <a:extLst>
              <a:ext uri="{FF2B5EF4-FFF2-40B4-BE49-F238E27FC236}">
                <a16:creationId xmlns:a16="http://schemas.microsoft.com/office/drawing/2014/main" id="{50A4A1C6-0EA0-4B19-CDA4-0FAB0BA1DFE0}"/>
              </a:ext>
            </a:extLst>
          </p:cNvPr>
          <p:cNvSpPr>
            <a:spLocks noGrp="1"/>
          </p:cNvSpPr>
          <p:nvPr>
            <p:ph type="sldNum" sz="quarter" idx="12"/>
          </p:nvPr>
        </p:nvSpPr>
        <p:spPr/>
        <p:txBody>
          <a:bodyPr/>
          <a:lstStyle/>
          <a:p>
            <a:fld id="{B6F15528-21DE-4FAA-801E-634DDDAF4B2B}" type="slidenum">
              <a:rPr lang="en-US" smtClean="0"/>
              <a:pPr/>
              <a:t>128</a:t>
            </a:fld>
            <a:endParaRPr lang="en-US"/>
          </a:p>
        </p:txBody>
      </p:sp>
    </p:spTree>
    <p:extLst>
      <p:ext uri="{BB962C8B-B14F-4D97-AF65-F5344CB8AC3E}">
        <p14:creationId xmlns:p14="http://schemas.microsoft.com/office/powerpoint/2010/main" val="396583971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C4FC-688D-5C6B-F11F-DB5649A14216}"/>
              </a:ext>
            </a:extLst>
          </p:cNvPr>
          <p:cNvSpPr>
            <a:spLocks noGrp="1"/>
          </p:cNvSpPr>
          <p:nvPr>
            <p:ph type="title"/>
          </p:nvPr>
        </p:nvSpPr>
        <p:spPr/>
        <p:txBody>
          <a:bodyPr/>
          <a:lstStyle/>
          <a:p>
            <a:r>
              <a:rPr lang="en-US" dirty="0" err="1"/>
              <a:t>psql</a:t>
            </a:r>
            <a:endParaRPr lang="en-US" dirty="0"/>
          </a:p>
        </p:txBody>
      </p:sp>
      <p:sp>
        <p:nvSpPr>
          <p:cNvPr id="3" name="Content Placeholder 2">
            <a:extLst>
              <a:ext uri="{FF2B5EF4-FFF2-40B4-BE49-F238E27FC236}">
                <a16:creationId xmlns:a16="http://schemas.microsoft.com/office/drawing/2014/main" id="{D0CA9022-7231-ADEB-581E-0BE4DAAB37E9}"/>
              </a:ext>
            </a:extLst>
          </p:cNvPr>
          <p:cNvSpPr>
            <a:spLocks noGrp="1"/>
          </p:cNvSpPr>
          <p:nvPr>
            <p:ph idx="1"/>
          </p:nvPr>
        </p:nvSpPr>
        <p:spPr/>
        <p:txBody>
          <a:bodyPr>
            <a:normAutofit lnSpcReduction="10000"/>
          </a:bodyPr>
          <a:lstStyle/>
          <a:p>
            <a:r>
              <a:rPr lang="en-US" sz="2800" dirty="0"/>
              <a:t>access </a:t>
            </a:r>
            <a:r>
              <a:rPr lang="en-US" sz="2800" dirty="0" err="1"/>
              <a:t>psql</a:t>
            </a:r>
            <a:r>
              <a:rPr lang="en-US" sz="2800" dirty="0"/>
              <a:t> Shell and enter </a:t>
            </a:r>
          </a:p>
          <a:p>
            <a:r>
              <a:rPr lang="en-US" sz="2800" dirty="0"/>
              <a:t>server details (localhost)</a:t>
            </a:r>
          </a:p>
          <a:p>
            <a:r>
              <a:rPr lang="en-US" sz="2800" dirty="0"/>
              <a:t>database (default "</a:t>
            </a:r>
            <a:r>
              <a:rPr lang="en-US" sz="2800" dirty="0" err="1"/>
              <a:t>postgres</a:t>
            </a:r>
            <a:r>
              <a:rPr lang="en-US" sz="2800" dirty="0"/>
              <a:t>")</a:t>
            </a:r>
          </a:p>
          <a:p>
            <a:r>
              <a:rPr lang="en-US" sz="2800" dirty="0"/>
              <a:t>port (default 5432)</a:t>
            </a:r>
          </a:p>
          <a:p>
            <a:r>
              <a:rPr lang="en-US" sz="2800" dirty="0"/>
              <a:t>username (</a:t>
            </a:r>
            <a:r>
              <a:rPr lang="en-US" sz="2800" dirty="0" err="1"/>
              <a:t>postgres</a:t>
            </a:r>
            <a:r>
              <a:rPr lang="en-US" sz="2800" dirty="0"/>
              <a:t>)</a:t>
            </a:r>
          </a:p>
          <a:p>
            <a:r>
              <a:rPr lang="en-US" sz="2800" dirty="0"/>
              <a:t>password you set during installation</a:t>
            </a:r>
          </a:p>
          <a:p>
            <a:r>
              <a:rPr lang="en-US" sz="2800" dirty="0"/>
              <a:t>in the </a:t>
            </a:r>
            <a:r>
              <a:rPr lang="en-US" sz="2800" dirty="0" err="1"/>
              <a:t>psql</a:t>
            </a:r>
            <a:r>
              <a:rPr lang="en-US" sz="2800" dirty="0"/>
              <a:t> shell, enter 'SELECT version();' to confirm PostgreSQL is installed correctly</a:t>
            </a:r>
          </a:p>
          <a:p>
            <a:r>
              <a:rPr lang="en-US" sz="2800" dirty="0"/>
              <a:t>to quit, execute quit; </a:t>
            </a:r>
          </a:p>
          <a:p>
            <a:endParaRPr lang="en-US" sz="2800" dirty="0"/>
          </a:p>
        </p:txBody>
      </p:sp>
      <p:sp>
        <p:nvSpPr>
          <p:cNvPr id="4" name="Slide Number Placeholder 3">
            <a:extLst>
              <a:ext uri="{FF2B5EF4-FFF2-40B4-BE49-F238E27FC236}">
                <a16:creationId xmlns:a16="http://schemas.microsoft.com/office/drawing/2014/main" id="{7ADD0978-2762-8CD1-3D65-A737D9C070AF}"/>
              </a:ext>
            </a:extLst>
          </p:cNvPr>
          <p:cNvSpPr>
            <a:spLocks noGrp="1"/>
          </p:cNvSpPr>
          <p:nvPr>
            <p:ph type="sldNum" sz="quarter" idx="12"/>
          </p:nvPr>
        </p:nvSpPr>
        <p:spPr/>
        <p:txBody>
          <a:bodyPr/>
          <a:lstStyle/>
          <a:p>
            <a:fld id="{B6F15528-21DE-4FAA-801E-634DDDAF4B2B}" type="slidenum">
              <a:rPr lang="en-US" smtClean="0"/>
              <a:pPr/>
              <a:t>129</a:t>
            </a:fld>
            <a:endParaRPr lang="en-US"/>
          </a:p>
        </p:txBody>
      </p:sp>
    </p:spTree>
    <p:extLst>
      <p:ext uri="{BB962C8B-B14F-4D97-AF65-F5344CB8AC3E}">
        <p14:creationId xmlns:p14="http://schemas.microsoft.com/office/powerpoint/2010/main" val="367570014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D590F-0EF3-CD76-8568-4C32CA3E66E1}"/>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1EE1504B-DD18-901D-6007-5F79105E1EB4}"/>
              </a:ext>
            </a:extLst>
          </p:cNvPr>
          <p:cNvSpPr>
            <a:spLocks noGrp="1"/>
          </p:cNvSpPr>
          <p:nvPr>
            <p:ph type="sldNum" sz="quarter" idx="12"/>
          </p:nvPr>
        </p:nvSpPr>
        <p:spPr/>
        <p:txBody>
          <a:bodyPr/>
          <a:lstStyle/>
          <a:p>
            <a:fld id="{B6F15528-21DE-4FAA-801E-634DDDAF4B2B}" type="slidenum">
              <a:rPr lang="en-US" smtClean="0"/>
              <a:pPr/>
              <a:t>130</a:t>
            </a:fld>
            <a:endParaRPr lang="en-US"/>
          </a:p>
        </p:txBody>
      </p:sp>
      <p:pic>
        <p:nvPicPr>
          <p:cNvPr id="5" name="Content Placeholder 4">
            <a:extLst>
              <a:ext uri="{FF2B5EF4-FFF2-40B4-BE49-F238E27FC236}">
                <a16:creationId xmlns:a16="http://schemas.microsoft.com/office/drawing/2014/main" id="{24A6C519-6544-CFF8-90FD-A6D0BC3AC69B}"/>
              </a:ext>
            </a:extLst>
          </p:cNvPr>
          <p:cNvPicPr>
            <a:picLocks noGrp="1" noChangeAspect="1"/>
          </p:cNvPicPr>
          <p:nvPr>
            <p:ph idx="1"/>
          </p:nvPr>
        </p:nvPicPr>
        <p:blipFill>
          <a:blip r:embed="rId2"/>
          <a:stretch>
            <a:fillRect/>
          </a:stretch>
        </p:blipFill>
        <p:spPr>
          <a:xfrm>
            <a:off x="182875" y="1828800"/>
            <a:ext cx="8667510" cy="4301559"/>
          </a:xfrm>
          <a:prstGeom prst="rect">
            <a:avLst/>
          </a:prstGeom>
        </p:spPr>
      </p:pic>
    </p:spTree>
    <p:extLst>
      <p:ext uri="{BB962C8B-B14F-4D97-AF65-F5344CB8AC3E}">
        <p14:creationId xmlns:p14="http://schemas.microsoft.com/office/powerpoint/2010/main" val="227857154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63E35-00D1-3B9D-F3EF-D03948229E78}"/>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DDC66EFE-1749-5D25-9A01-1A51B3A58B65}"/>
              </a:ext>
            </a:extLst>
          </p:cNvPr>
          <p:cNvSpPr>
            <a:spLocks noGrp="1"/>
          </p:cNvSpPr>
          <p:nvPr>
            <p:ph type="sldNum" sz="quarter" idx="12"/>
          </p:nvPr>
        </p:nvSpPr>
        <p:spPr/>
        <p:txBody>
          <a:bodyPr/>
          <a:lstStyle/>
          <a:p>
            <a:fld id="{B6F15528-21DE-4FAA-801E-634DDDAF4B2B}" type="slidenum">
              <a:rPr lang="en-US" smtClean="0"/>
              <a:pPr/>
              <a:t>131</a:t>
            </a:fld>
            <a:endParaRPr lang="en-US"/>
          </a:p>
        </p:txBody>
      </p:sp>
      <p:pic>
        <p:nvPicPr>
          <p:cNvPr id="5" name="Content Placeholder 4">
            <a:extLst>
              <a:ext uri="{FF2B5EF4-FFF2-40B4-BE49-F238E27FC236}">
                <a16:creationId xmlns:a16="http://schemas.microsoft.com/office/drawing/2014/main" id="{34BC2D5B-6550-4BA1-3A86-143646076CA5}"/>
              </a:ext>
            </a:extLst>
          </p:cNvPr>
          <p:cNvPicPr>
            <a:picLocks noGrp="1" noChangeAspect="1"/>
          </p:cNvPicPr>
          <p:nvPr>
            <p:ph idx="1"/>
          </p:nvPr>
        </p:nvPicPr>
        <p:blipFill>
          <a:blip r:embed="rId2"/>
          <a:stretch>
            <a:fillRect/>
          </a:stretch>
        </p:blipFill>
        <p:spPr>
          <a:xfrm>
            <a:off x="182880" y="1828800"/>
            <a:ext cx="8873573" cy="2524267"/>
          </a:xfrm>
          <a:prstGeom prst="rect">
            <a:avLst/>
          </a:prstGeom>
        </p:spPr>
      </p:pic>
    </p:spTree>
    <p:extLst>
      <p:ext uri="{BB962C8B-B14F-4D97-AF65-F5344CB8AC3E}">
        <p14:creationId xmlns:p14="http://schemas.microsoft.com/office/powerpoint/2010/main" val="233919202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0A7D2-A8EF-F08A-09A9-0117FF16FA7B}"/>
              </a:ext>
            </a:extLst>
          </p:cNvPr>
          <p:cNvSpPr>
            <a:spLocks noGrp="1"/>
          </p:cNvSpPr>
          <p:nvPr>
            <p:ph type="title"/>
          </p:nvPr>
        </p:nvSpPr>
        <p:spPr/>
        <p:txBody>
          <a:bodyPr>
            <a:normAutofit fontScale="90000"/>
          </a:bodyPr>
          <a:lstStyle/>
          <a:p>
            <a:r>
              <a:rPr lang="en-US" dirty="0"/>
              <a:t>Installing PostgreSQL</a:t>
            </a:r>
            <a:br>
              <a:rPr lang="en-US" dirty="0"/>
            </a:br>
            <a:r>
              <a:rPr lang="en-US" dirty="0"/>
              <a:t>on cloud</a:t>
            </a:r>
          </a:p>
        </p:txBody>
      </p:sp>
      <p:sp>
        <p:nvSpPr>
          <p:cNvPr id="3" name="Content Placeholder 2">
            <a:extLst>
              <a:ext uri="{FF2B5EF4-FFF2-40B4-BE49-F238E27FC236}">
                <a16:creationId xmlns:a16="http://schemas.microsoft.com/office/drawing/2014/main" id="{40908811-1D52-44DC-A2EE-44809EC32335}"/>
              </a:ext>
            </a:extLst>
          </p:cNvPr>
          <p:cNvSpPr>
            <a:spLocks noGrp="1"/>
          </p:cNvSpPr>
          <p:nvPr>
            <p:ph idx="1"/>
          </p:nvPr>
        </p:nvSpPr>
        <p:spPr/>
        <p:txBody>
          <a:bodyPr>
            <a:normAutofit/>
          </a:bodyPr>
          <a:lstStyle/>
          <a:p>
            <a:r>
              <a:rPr lang="en-US" sz="2800" dirty="0"/>
              <a:t>Managed Postgres Comparison Table</a:t>
            </a:r>
          </a:p>
          <a:p>
            <a:r>
              <a:rPr lang="en-US" sz="2800" dirty="0">
                <a:hlinkClick r:id="rId2"/>
              </a:rPr>
              <a:t>https://www.koyeb.com/blog/top-postgresql-database-free-tiers-in-2025</a:t>
            </a:r>
            <a:endParaRPr lang="en-US" sz="2800" dirty="0"/>
          </a:p>
          <a:p>
            <a:endParaRPr lang="en-US" sz="2800" dirty="0"/>
          </a:p>
          <a:p>
            <a:r>
              <a:rPr lang="en-US" dirty="0" err="1"/>
              <a:t>Koyeb</a:t>
            </a:r>
            <a:r>
              <a:rPr lang="en-US" dirty="0"/>
              <a:t>, Neon, Aiven</a:t>
            </a:r>
            <a:r>
              <a:rPr lang="en-US" sz="2800" dirty="0"/>
              <a:t>, Crunchy Data, </a:t>
            </a:r>
            <a:r>
              <a:rPr lang="en-US" sz="2800" dirty="0" err="1"/>
              <a:t>Supabase</a:t>
            </a:r>
            <a:r>
              <a:rPr lang="en-US" sz="2800" dirty="0"/>
              <a:t>, </a:t>
            </a:r>
            <a:r>
              <a:rPr lang="en-US" sz="2800" dirty="0" err="1"/>
              <a:t>ElephantSQL</a:t>
            </a:r>
            <a:r>
              <a:rPr lang="en-US" sz="2800" dirty="0"/>
              <a:t>, Timescale, … </a:t>
            </a:r>
          </a:p>
          <a:p>
            <a:endParaRPr lang="en-US" sz="2800" dirty="0"/>
          </a:p>
        </p:txBody>
      </p:sp>
      <p:sp>
        <p:nvSpPr>
          <p:cNvPr id="4" name="Slide Number Placeholder 3">
            <a:extLst>
              <a:ext uri="{FF2B5EF4-FFF2-40B4-BE49-F238E27FC236}">
                <a16:creationId xmlns:a16="http://schemas.microsoft.com/office/drawing/2014/main" id="{5151E935-1256-C8E6-0C6F-A08BCD135519}"/>
              </a:ext>
            </a:extLst>
          </p:cNvPr>
          <p:cNvSpPr>
            <a:spLocks noGrp="1"/>
          </p:cNvSpPr>
          <p:nvPr>
            <p:ph type="sldNum" sz="quarter" idx="12"/>
          </p:nvPr>
        </p:nvSpPr>
        <p:spPr/>
        <p:txBody>
          <a:bodyPr/>
          <a:lstStyle/>
          <a:p>
            <a:fld id="{B6F15528-21DE-4FAA-801E-634DDDAF4B2B}" type="slidenum">
              <a:rPr lang="en-US" smtClean="0"/>
              <a:pPr/>
              <a:t>132</a:t>
            </a:fld>
            <a:endParaRPr lang="en-US"/>
          </a:p>
        </p:txBody>
      </p:sp>
    </p:spTree>
    <p:extLst>
      <p:ext uri="{BB962C8B-B14F-4D97-AF65-F5344CB8AC3E}">
        <p14:creationId xmlns:p14="http://schemas.microsoft.com/office/powerpoint/2010/main" val="375669744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6D88B-0EC6-0B2F-A10F-C2E469DEB6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556D87-46B2-CB67-CBD5-527EF37A77B2}"/>
              </a:ext>
            </a:extLst>
          </p:cNvPr>
          <p:cNvSpPr>
            <a:spLocks noGrp="1"/>
          </p:cNvSpPr>
          <p:nvPr>
            <p:ph idx="1"/>
          </p:nvPr>
        </p:nvSpPr>
        <p:spPr/>
        <p:txBody>
          <a:bodyPr>
            <a:normAutofit/>
          </a:bodyPr>
          <a:lstStyle/>
          <a:p>
            <a:r>
              <a:rPr lang="en-US" sz="2800" u="sng" dirty="0">
                <a:hlinkClick r:id="rId2"/>
              </a:rPr>
              <a:t>Managed PostgreSQL service | Aiven</a:t>
            </a:r>
            <a:endParaRPr lang="en-US" sz="2800" u="sng" dirty="0"/>
          </a:p>
          <a:p>
            <a:r>
              <a:rPr lang="en-US" sz="2800" u="sng" dirty="0">
                <a:hlinkClick r:id="rId2"/>
              </a:rPr>
              <a:t>https://aiven.io/postgresql</a:t>
            </a:r>
            <a:r>
              <a:rPr lang="en-US" sz="2800" dirty="0"/>
              <a:t> </a:t>
            </a:r>
          </a:p>
          <a:p>
            <a:r>
              <a:rPr lang="en-US" sz="2800" dirty="0"/>
              <a:t>with Aiven for PostgreSQL, you can set up managed Postgres database in less than 10 minutes</a:t>
            </a:r>
          </a:p>
          <a:p>
            <a:r>
              <a:rPr lang="en-US" sz="2800" dirty="0"/>
              <a:t>Free. No credit card required …</a:t>
            </a:r>
          </a:p>
          <a:p>
            <a:r>
              <a:rPr lang="en-US" sz="2800" dirty="0"/>
              <a:t>Single node, 1 CPU, 1GB RAM, 5GB storage, …</a:t>
            </a:r>
          </a:p>
        </p:txBody>
      </p:sp>
      <p:sp>
        <p:nvSpPr>
          <p:cNvPr id="4" name="Slide Number Placeholder 3">
            <a:extLst>
              <a:ext uri="{FF2B5EF4-FFF2-40B4-BE49-F238E27FC236}">
                <a16:creationId xmlns:a16="http://schemas.microsoft.com/office/drawing/2014/main" id="{043EC3B7-4428-CD34-9048-350B830334A3}"/>
              </a:ext>
            </a:extLst>
          </p:cNvPr>
          <p:cNvSpPr>
            <a:spLocks noGrp="1"/>
          </p:cNvSpPr>
          <p:nvPr>
            <p:ph type="sldNum" sz="quarter" idx="12"/>
          </p:nvPr>
        </p:nvSpPr>
        <p:spPr/>
        <p:txBody>
          <a:bodyPr/>
          <a:lstStyle/>
          <a:p>
            <a:fld id="{B6F15528-21DE-4FAA-801E-634DDDAF4B2B}" type="slidenum">
              <a:rPr lang="en-US" smtClean="0"/>
              <a:pPr/>
              <a:t>133</a:t>
            </a:fld>
            <a:endParaRPr lang="en-US"/>
          </a:p>
        </p:txBody>
      </p:sp>
    </p:spTree>
    <p:extLst>
      <p:ext uri="{BB962C8B-B14F-4D97-AF65-F5344CB8AC3E}">
        <p14:creationId xmlns:p14="http://schemas.microsoft.com/office/powerpoint/2010/main" val="243010119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DB9BE-A297-1D17-0BE5-76DC1F1B66C6}"/>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6ABAE774-D56C-DBB7-F110-5DEA59989C92}"/>
              </a:ext>
            </a:extLst>
          </p:cNvPr>
          <p:cNvSpPr>
            <a:spLocks noGrp="1"/>
          </p:cNvSpPr>
          <p:nvPr>
            <p:ph type="sldNum" sz="quarter" idx="12"/>
          </p:nvPr>
        </p:nvSpPr>
        <p:spPr/>
        <p:txBody>
          <a:bodyPr/>
          <a:lstStyle/>
          <a:p>
            <a:fld id="{B6F15528-21DE-4FAA-801E-634DDDAF4B2B}" type="slidenum">
              <a:rPr lang="en-US" smtClean="0"/>
              <a:pPr/>
              <a:t>134</a:t>
            </a:fld>
            <a:endParaRPr lang="en-US"/>
          </a:p>
        </p:txBody>
      </p:sp>
      <p:pic>
        <p:nvPicPr>
          <p:cNvPr id="5" name="Content Placeholder 4" descr="A computer screen with a computer&#10;&#10;AI-generated content may be incorrect.">
            <a:extLst>
              <a:ext uri="{FF2B5EF4-FFF2-40B4-BE49-F238E27FC236}">
                <a16:creationId xmlns:a16="http://schemas.microsoft.com/office/drawing/2014/main" id="{28DEDC9D-AE28-4514-1024-2476BABA5CE0}"/>
              </a:ext>
            </a:extLst>
          </p:cNvPr>
          <p:cNvPicPr>
            <a:picLocks noGrp="1" noChangeAspect="1"/>
          </p:cNvPicPr>
          <p:nvPr>
            <p:ph idx="1"/>
          </p:nvPr>
        </p:nvPicPr>
        <p:blipFill>
          <a:blip r:embed="rId2"/>
          <a:stretch>
            <a:fillRect/>
          </a:stretch>
        </p:blipFill>
        <p:spPr>
          <a:xfrm>
            <a:off x="659727" y="1600200"/>
            <a:ext cx="7824546" cy="4525963"/>
          </a:xfrm>
          <a:prstGeom prst="rect">
            <a:avLst/>
          </a:prstGeom>
        </p:spPr>
      </p:pic>
    </p:spTree>
    <p:extLst>
      <p:ext uri="{BB962C8B-B14F-4D97-AF65-F5344CB8AC3E}">
        <p14:creationId xmlns:p14="http://schemas.microsoft.com/office/powerpoint/2010/main" val="225263732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DD91-12D0-8CDD-BBEE-9445182A23A8}"/>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48B86FA6-0F5F-5565-A897-E937F6AD181D}"/>
              </a:ext>
            </a:extLst>
          </p:cNvPr>
          <p:cNvSpPr>
            <a:spLocks noGrp="1"/>
          </p:cNvSpPr>
          <p:nvPr>
            <p:ph type="sldNum" sz="quarter" idx="12"/>
          </p:nvPr>
        </p:nvSpPr>
        <p:spPr/>
        <p:txBody>
          <a:bodyPr/>
          <a:lstStyle/>
          <a:p>
            <a:fld id="{B6F15528-21DE-4FAA-801E-634DDDAF4B2B}" type="slidenum">
              <a:rPr lang="en-US" smtClean="0"/>
              <a:pPr/>
              <a:t>135</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1BC2385A-DA02-F6B1-F935-21783BBFDB06}"/>
              </a:ext>
            </a:extLst>
          </p:cNvPr>
          <p:cNvPicPr>
            <a:picLocks noGrp="1" noChangeAspect="1"/>
          </p:cNvPicPr>
          <p:nvPr>
            <p:ph idx="1"/>
          </p:nvPr>
        </p:nvPicPr>
        <p:blipFill>
          <a:blip r:embed="rId2"/>
          <a:stretch>
            <a:fillRect/>
          </a:stretch>
        </p:blipFill>
        <p:spPr>
          <a:xfrm>
            <a:off x="457200" y="1619393"/>
            <a:ext cx="8229600" cy="4487577"/>
          </a:xfrm>
          <a:prstGeom prst="rect">
            <a:avLst/>
          </a:prstGeom>
        </p:spPr>
      </p:pic>
    </p:spTree>
    <p:extLst>
      <p:ext uri="{BB962C8B-B14F-4D97-AF65-F5344CB8AC3E}">
        <p14:creationId xmlns:p14="http://schemas.microsoft.com/office/powerpoint/2010/main" val="379152595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A3DD2-088C-D354-36F0-EE4E50BF5FDC}"/>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4EAD1855-9D24-1D78-2B29-9FE017BCE147}"/>
              </a:ext>
            </a:extLst>
          </p:cNvPr>
          <p:cNvSpPr>
            <a:spLocks noGrp="1"/>
          </p:cNvSpPr>
          <p:nvPr>
            <p:ph type="sldNum" sz="quarter" idx="12"/>
          </p:nvPr>
        </p:nvSpPr>
        <p:spPr/>
        <p:txBody>
          <a:bodyPr/>
          <a:lstStyle/>
          <a:p>
            <a:fld id="{B6F15528-21DE-4FAA-801E-634DDDAF4B2B}" type="slidenum">
              <a:rPr lang="en-US" smtClean="0"/>
              <a:pPr/>
              <a:t>136</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E1234723-7515-B26C-013C-9A56B09AB5E8}"/>
              </a:ext>
            </a:extLst>
          </p:cNvPr>
          <p:cNvPicPr>
            <a:picLocks noGrp="1" noChangeAspect="1"/>
          </p:cNvPicPr>
          <p:nvPr>
            <p:ph idx="1"/>
          </p:nvPr>
        </p:nvPicPr>
        <p:blipFill>
          <a:blip r:embed="rId2"/>
          <a:stretch>
            <a:fillRect/>
          </a:stretch>
        </p:blipFill>
        <p:spPr>
          <a:xfrm>
            <a:off x="365760" y="1828800"/>
            <a:ext cx="4641896" cy="3793031"/>
          </a:xfrm>
          <a:prstGeom prst="rect">
            <a:avLst/>
          </a:prstGeom>
        </p:spPr>
      </p:pic>
      <p:pic>
        <p:nvPicPr>
          <p:cNvPr id="6" name="Content Placeholder 6">
            <a:extLst>
              <a:ext uri="{FF2B5EF4-FFF2-40B4-BE49-F238E27FC236}">
                <a16:creationId xmlns:a16="http://schemas.microsoft.com/office/drawing/2014/main" id="{6A0A009E-3C0F-6604-2577-AFCD40E977B5}"/>
              </a:ext>
            </a:extLst>
          </p:cNvPr>
          <p:cNvPicPr>
            <a:picLocks noChangeAspect="1"/>
          </p:cNvPicPr>
          <p:nvPr/>
        </p:nvPicPr>
        <p:blipFill>
          <a:blip r:embed="rId3"/>
          <a:stretch>
            <a:fillRect/>
          </a:stretch>
        </p:blipFill>
        <p:spPr>
          <a:xfrm>
            <a:off x="5029199" y="1828799"/>
            <a:ext cx="3599390" cy="3521355"/>
          </a:xfrm>
          <a:prstGeom prst="rect">
            <a:avLst/>
          </a:prstGeom>
        </p:spPr>
      </p:pic>
    </p:spTree>
    <p:extLst>
      <p:ext uri="{BB962C8B-B14F-4D97-AF65-F5344CB8AC3E}">
        <p14:creationId xmlns:p14="http://schemas.microsoft.com/office/powerpoint/2010/main" val="7574431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6EB1A-AA5A-CCF0-C950-AA908089D355}"/>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672005C4-6A8C-5B7F-601A-07C3D2DA593D}"/>
              </a:ext>
            </a:extLst>
          </p:cNvPr>
          <p:cNvSpPr>
            <a:spLocks noGrp="1"/>
          </p:cNvSpPr>
          <p:nvPr>
            <p:ph type="sldNum" sz="quarter" idx="12"/>
          </p:nvPr>
        </p:nvSpPr>
        <p:spPr/>
        <p:txBody>
          <a:bodyPr/>
          <a:lstStyle/>
          <a:p>
            <a:fld id="{B6F15528-21DE-4FAA-801E-634DDDAF4B2B}" type="slidenum">
              <a:rPr lang="en-US" smtClean="0"/>
              <a:pPr/>
              <a:t>137</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BE17DC4E-19B6-89D7-6F85-156BD17D0A40}"/>
              </a:ext>
            </a:extLst>
          </p:cNvPr>
          <p:cNvPicPr>
            <a:picLocks noGrp="1" noChangeAspect="1"/>
          </p:cNvPicPr>
          <p:nvPr>
            <p:ph idx="1"/>
          </p:nvPr>
        </p:nvPicPr>
        <p:blipFill>
          <a:blip r:embed="rId2"/>
          <a:stretch>
            <a:fillRect/>
          </a:stretch>
        </p:blipFill>
        <p:spPr>
          <a:xfrm>
            <a:off x="541805" y="1600200"/>
            <a:ext cx="8060389" cy="4525963"/>
          </a:xfrm>
          <a:prstGeom prst="rect">
            <a:avLst/>
          </a:prstGeom>
        </p:spPr>
      </p:pic>
    </p:spTree>
    <p:extLst>
      <p:ext uri="{BB962C8B-B14F-4D97-AF65-F5344CB8AC3E}">
        <p14:creationId xmlns:p14="http://schemas.microsoft.com/office/powerpoint/2010/main" val="352159425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417FD-A1EC-E4C2-60B1-0C15C11B741D}"/>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078878DC-C243-2E99-C471-9EC26DA4617F}"/>
              </a:ext>
            </a:extLst>
          </p:cNvPr>
          <p:cNvSpPr>
            <a:spLocks noGrp="1"/>
          </p:cNvSpPr>
          <p:nvPr>
            <p:ph type="sldNum" sz="quarter" idx="12"/>
          </p:nvPr>
        </p:nvSpPr>
        <p:spPr/>
        <p:txBody>
          <a:bodyPr/>
          <a:lstStyle/>
          <a:p>
            <a:fld id="{B6F15528-21DE-4FAA-801E-634DDDAF4B2B}" type="slidenum">
              <a:rPr lang="en-US" smtClean="0"/>
              <a:pPr/>
              <a:t>138</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94F72EE5-2947-18C7-EB6B-F9C880F92E2C}"/>
              </a:ext>
            </a:extLst>
          </p:cNvPr>
          <p:cNvPicPr>
            <a:picLocks noGrp="1" noChangeAspect="1"/>
          </p:cNvPicPr>
          <p:nvPr>
            <p:ph idx="1"/>
          </p:nvPr>
        </p:nvPicPr>
        <p:blipFill>
          <a:blip r:embed="rId2"/>
          <a:stretch>
            <a:fillRect/>
          </a:stretch>
        </p:blipFill>
        <p:spPr>
          <a:xfrm>
            <a:off x="883481" y="1600200"/>
            <a:ext cx="7377037" cy="4525963"/>
          </a:xfrm>
          <a:prstGeom prst="rect">
            <a:avLst/>
          </a:prstGeom>
        </p:spPr>
      </p:pic>
    </p:spTree>
    <p:extLst>
      <p:ext uri="{BB962C8B-B14F-4D97-AF65-F5344CB8AC3E}">
        <p14:creationId xmlns:p14="http://schemas.microsoft.com/office/powerpoint/2010/main" val="373060421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506C8-D4B9-61B1-3584-7853C5A70F22}"/>
              </a:ext>
            </a:extLst>
          </p:cNvPr>
          <p:cNvSpPr>
            <a:spLocks noGrp="1"/>
          </p:cNvSpPr>
          <p:nvPr>
            <p:ph type="title"/>
          </p:nvPr>
        </p:nvSpPr>
        <p:spPr/>
        <p:txBody>
          <a:bodyPr>
            <a:normAutofit fontScale="90000"/>
          </a:bodyPr>
          <a:lstStyle/>
          <a:p>
            <a:r>
              <a:rPr lang="en-US" dirty="0"/>
              <a:t>Console </a:t>
            </a:r>
            <a:r>
              <a:rPr lang="en-US" u="sng" dirty="0">
                <a:hlinkClick r:id="rId2"/>
              </a:rPr>
              <a:t>Services | Aiven</a:t>
            </a:r>
            <a:r>
              <a:rPr lang="en-US" dirty="0"/>
              <a:t> </a:t>
            </a:r>
            <a:r>
              <a:rPr lang="en-US" u="sng" dirty="0">
                <a:hlinkClick r:id="rId3"/>
              </a:rPr>
              <a:t>https://console.aiven.io/</a:t>
            </a:r>
            <a:endParaRPr lang="en-US" dirty="0"/>
          </a:p>
        </p:txBody>
      </p:sp>
      <p:sp>
        <p:nvSpPr>
          <p:cNvPr id="4" name="Slide Number Placeholder 3">
            <a:extLst>
              <a:ext uri="{FF2B5EF4-FFF2-40B4-BE49-F238E27FC236}">
                <a16:creationId xmlns:a16="http://schemas.microsoft.com/office/drawing/2014/main" id="{6E2B686B-385D-A674-0BCA-70C4103A29EE}"/>
              </a:ext>
            </a:extLst>
          </p:cNvPr>
          <p:cNvSpPr>
            <a:spLocks noGrp="1"/>
          </p:cNvSpPr>
          <p:nvPr>
            <p:ph type="sldNum" sz="quarter" idx="12"/>
          </p:nvPr>
        </p:nvSpPr>
        <p:spPr/>
        <p:txBody>
          <a:bodyPr/>
          <a:lstStyle/>
          <a:p>
            <a:fld id="{B6F15528-21DE-4FAA-801E-634DDDAF4B2B}" type="slidenum">
              <a:rPr lang="en-US" smtClean="0"/>
              <a:pPr/>
              <a:t>139</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23966D05-C662-B23F-90E9-CB299D590D10}"/>
              </a:ext>
            </a:extLst>
          </p:cNvPr>
          <p:cNvPicPr>
            <a:picLocks noGrp="1" noChangeAspect="1"/>
          </p:cNvPicPr>
          <p:nvPr>
            <p:ph idx="1"/>
          </p:nvPr>
        </p:nvPicPr>
        <p:blipFill>
          <a:blip r:embed="rId4"/>
          <a:stretch>
            <a:fillRect/>
          </a:stretch>
        </p:blipFill>
        <p:spPr>
          <a:xfrm>
            <a:off x="457200" y="2543340"/>
            <a:ext cx="8229600" cy="2639683"/>
          </a:xfrm>
          <a:prstGeom prst="rect">
            <a:avLst/>
          </a:prstGeom>
        </p:spPr>
      </p:pic>
    </p:spTree>
    <p:extLst>
      <p:ext uri="{BB962C8B-B14F-4D97-AF65-F5344CB8AC3E}">
        <p14:creationId xmlns:p14="http://schemas.microsoft.com/office/powerpoint/2010/main" val="387516732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7B659-EB88-FB54-1459-CC372181217F}"/>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07DF136F-76CC-A4FD-FF1A-A4BA33A7A35A}"/>
              </a:ext>
            </a:extLst>
          </p:cNvPr>
          <p:cNvSpPr>
            <a:spLocks noGrp="1"/>
          </p:cNvSpPr>
          <p:nvPr>
            <p:ph type="sldNum" sz="quarter" idx="12"/>
          </p:nvPr>
        </p:nvSpPr>
        <p:spPr/>
        <p:txBody>
          <a:bodyPr/>
          <a:lstStyle/>
          <a:p>
            <a:fld id="{B6F15528-21DE-4FAA-801E-634DDDAF4B2B}" type="slidenum">
              <a:rPr lang="en-US" smtClean="0"/>
              <a:pPr/>
              <a:t>140</a:t>
            </a:fld>
            <a:endParaRPr lang="en-US"/>
          </a:p>
        </p:txBody>
      </p:sp>
      <p:pic>
        <p:nvPicPr>
          <p:cNvPr id="5" name="Content Placeholder 4" descr="A screenshot of a computer&#10;&#10;AI-generated content may be incorrect.">
            <a:extLst>
              <a:ext uri="{FF2B5EF4-FFF2-40B4-BE49-F238E27FC236}">
                <a16:creationId xmlns:a16="http://schemas.microsoft.com/office/drawing/2014/main" id="{96BBA202-6F25-2A5F-FCE0-FADF098B1DA6}"/>
              </a:ext>
            </a:extLst>
          </p:cNvPr>
          <p:cNvPicPr>
            <a:picLocks noGrp="1" noChangeAspect="1"/>
          </p:cNvPicPr>
          <p:nvPr>
            <p:ph idx="1"/>
          </p:nvPr>
        </p:nvPicPr>
        <p:blipFill>
          <a:blip r:embed="rId2"/>
          <a:stretch>
            <a:fillRect/>
          </a:stretch>
        </p:blipFill>
        <p:spPr>
          <a:xfrm>
            <a:off x="660339" y="1600200"/>
            <a:ext cx="7823321" cy="4525963"/>
          </a:xfrm>
          <a:prstGeom prst="rect">
            <a:avLst/>
          </a:prstGeom>
        </p:spPr>
      </p:pic>
    </p:spTree>
    <p:extLst>
      <p:ext uri="{BB962C8B-B14F-4D97-AF65-F5344CB8AC3E}">
        <p14:creationId xmlns:p14="http://schemas.microsoft.com/office/powerpoint/2010/main" val="254254367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300CC-9625-5027-2BB1-E13D7FCAF1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F950E0-ACA0-3974-4010-AAC648476DE6}"/>
              </a:ext>
            </a:extLst>
          </p:cNvPr>
          <p:cNvSpPr>
            <a:spLocks noGrp="1"/>
          </p:cNvSpPr>
          <p:nvPr>
            <p:ph idx="1"/>
          </p:nvPr>
        </p:nvSpPr>
        <p:spPr/>
        <p:txBody>
          <a:bodyPr>
            <a:normAutofit/>
          </a:bodyPr>
          <a:lstStyle/>
          <a:p>
            <a:r>
              <a:rPr lang="en-US" sz="2800" dirty="0"/>
              <a:t>allowed inbound IP addresses: your service is currently open to all IP ranges</a:t>
            </a:r>
          </a:p>
          <a:p>
            <a:r>
              <a:rPr lang="en-US" sz="2800" dirty="0"/>
              <a:t>improve network security by restricting access to trusted IP addresses</a:t>
            </a:r>
          </a:p>
          <a:p>
            <a:pPr lvl="1"/>
            <a:r>
              <a:rPr lang="en-US" sz="2400" dirty="0"/>
              <a:t>can later edit these in the service settings</a:t>
            </a:r>
          </a:p>
          <a:p>
            <a:endParaRPr lang="en-US" sz="2800" dirty="0"/>
          </a:p>
          <a:p>
            <a:r>
              <a:rPr lang="en-US" sz="2800" dirty="0"/>
              <a:t>IP address ranges (CIDR blocks) 0.0.0.0/0</a:t>
            </a:r>
          </a:p>
        </p:txBody>
      </p:sp>
      <p:sp>
        <p:nvSpPr>
          <p:cNvPr id="4" name="Slide Number Placeholder 3">
            <a:extLst>
              <a:ext uri="{FF2B5EF4-FFF2-40B4-BE49-F238E27FC236}">
                <a16:creationId xmlns:a16="http://schemas.microsoft.com/office/drawing/2014/main" id="{110DAFBC-85D4-ABAA-4317-6C512EFBEF9B}"/>
              </a:ext>
            </a:extLst>
          </p:cNvPr>
          <p:cNvSpPr>
            <a:spLocks noGrp="1"/>
          </p:cNvSpPr>
          <p:nvPr>
            <p:ph type="sldNum" sz="quarter" idx="12"/>
          </p:nvPr>
        </p:nvSpPr>
        <p:spPr/>
        <p:txBody>
          <a:bodyPr/>
          <a:lstStyle/>
          <a:p>
            <a:fld id="{B6F15528-21DE-4FAA-801E-634DDDAF4B2B}" type="slidenum">
              <a:rPr lang="en-US" smtClean="0"/>
              <a:pPr/>
              <a:t>141</a:t>
            </a:fld>
            <a:endParaRPr lang="en-US"/>
          </a:p>
        </p:txBody>
      </p:sp>
    </p:spTree>
    <p:extLst>
      <p:ext uri="{BB962C8B-B14F-4D97-AF65-F5344CB8AC3E}">
        <p14:creationId xmlns:p14="http://schemas.microsoft.com/office/powerpoint/2010/main" val="155740898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A3EE5-AE69-EC07-25A6-4C7764337C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90D6FA-0EBD-0A48-052C-BE480A2F54CA}"/>
              </a:ext>
            </a:extLst>
          </p:cNvPr>
          <p:cNvSpPr>
            <a:spLocks noGrp="1"/>
          </p:cNvSpPr>
          <p:nvPr>
            <p:ph idx="1"/>
          </p:nvPr>
        </p:nvSpPr>
        <p:spPr/>
        <p:txBody>
          <a:bodyPr/>
          <a:lstStyle/>
          <a:p>
            <a:r>
              <a:rPr lang="en-US" dirty="0"/>
              <a:t>Finish setup: Aiven is a software company from Finland</a:t>
            </a:r>
          </a:p>
          <a:p>
            <a:endParaRPr lang="en-US" dirty="0"/>
          </a:p>
        </p:txBody>
      </p:sp>
      <p:sp>
        <p:nvSpPr>
          <p:cNvPr id="4" name="Slide Number Placeholder 3">
            <a:extLst>
              <a:ext uri="{FF2B5EF4-FFF2-40B4-BE49-F238E27FC236}">
                <a16:creationId xmlns:a16="http://schemas.microsoft.com/office/drawing/2014/main" id="{62E316FA-3DDC-4AE0-D78F-07F32BB3F41F}"/>
              </a:ext>
            </a:extLst>
          </p:cNvPr>
          <p:cNvSpPr>
            <a:spLocks noGrp="1"/>
          </p:cNvSpPr>
          <p:nvPr>
            <p:ph type="sldNum" sz="quarter" idx="12"/>
          </p:nvPr>
        </p:nvSpPr>
        <p:spPr/>
        <p:txBody>
          <a:bodyPr/>
          <a:lstStyle/>
          <a:p>
            <a:fld id="{B6F15528-21DE-4FAA-801E-634DDDAF4B2B}" type="slidenum">
              <a:rPr lang="en-US" smtClean="0"/>
              <a:pPr/>
              <a:t>142</a:t>
            </a:fld>
            <a:endParaRPr lang="en-US"/>
          </a:p>
        </p:txBody>
      </p:sp>
    </p:spTree>
    <p:extLst>
      <p:ext uri="{BB962C8B-B14F-4D97-AF65-F5344CB8AC3E}">
        <p14:creationId xmlns:p14="http://schemas.microsoft.com/office/powerpoint/2010/main" val="1014441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A570F27-8521-49F7-BA94-9A5098C54EBA}"/>
</file>

<file path=customXml/itemProps2.xml><?xml version="1.0" encoding="utf-8"?>
<ds:datastoreItem xmlns:ds="http://schemas.openxmlformats.org/officeDocument/2006/customXml" ds:itemID="{13F2CCA9-044D-4792-B243-D16316ED53CB}"/>
</file>

<file path=customXml/itemProps3.xml><?xml version="1.0" encoding="utf-8"?>
<ds:datastoreItem xmlns:ds="http://schemas.openxmlformats.org/officeDocument/2006/customXml" ds:itemID="{9E789A4F-6C71-4C7C-948F-EDE40BE90105}"/>
</file>

<file path=docProps/app.xml><?xml version="1.0" encoding="utf-8"?>
<Properties xmlns="http://schemas.openxmlformats.org/officeDocument/2006/extended-properties" xmlns:vt="http://schemas.openxmlformats.org/officeDocument/2006/docPropsVTypes">
  <TotalTime>2066</TotalTime>
  <Words>5417</Words>
  <Application>Microsoft Office PowerPoint</Application>
  <PresentationFormat>On-screen Show (4:3)</PresentationFormat>
  <Paragraphs>585</Paragraphs>
  <Slides>142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142</vt:i4>
      </vt:variant>
    </vt:vector>
  </HeadingPairs>
  <TitlesOfParts>
    <vt:vector size="146" baseType="lpstr">
      <vt:lpstr>Arial</vt:lpstr>
      <vt:lpstr>Calibri</vt:lpstr>
      <vt:lpstr>Courier New</vt:lpstr>
      <vt:lpstr>Office Theme</vt:lpstr>
      <vt:lpstr>Structured Query Language</vt:lpstr>
      <vt:lpstr>Structured Query Language SQL</vt:lpstr>
      <vt:lpstr>Structured Query Language SQL SELECT</vt:lpstr>
      <vt:lpstr>Structured Query Language SQL DATA DEFINITION LANGUAGE</vt:lpstr>
      <vt:lpstr>SQL Structured Query Language</vt:lpstr>
      <vt:lpstr>PowerPoint Presentation</vt:lpstr>
      <vt:lpstr>PowerPoint Presentation</vt:lpstr>
      <vt:lpstr>PowerPoint Presentation</vt:lpstr>
      <vt:lpstr>CREATE TABLE</vt:lpstr>
      <vt:lpstr>Relations are set Sets are made of unique elements</vt:lpstr>
      <vt:lpstr>PowerPoint Presentation</vt:lpstr>
      <vt:lpstr>PowerPoint Presentation</vt:lpstr>
      <vt:lpstr>Cristian Tudor Popescu – Wikipedia ro.wikipedia.org/wiki/Cristian_Tudor_Popescu</vt:lpstr>
      <vt:lpstr>PowerPoint Presentation</vt:lpstr>
      <vt:lpstr>Primary Key</vt:lpstr>
      <vt:lpstr>PowerPoint Presentation</vt:lpstr>
      <vt:lpstr>CREATE TABLE Students (</vt:lpstr>
      <vt:lpstr>PowerPoint Presentation</vt:lpstr>
      <vt:lpstr>Foreign Key</vt:lpstr>
      <vt:lpstr>Foreign Key</vt:lpstr>
      <vt:lpstr>it must have same number of columns and compatible data types, although column names could be different</vt:lpstr>
      <vt:lpstr>PowerPoint Presentation</vt:lpstr>
      <vt:lpstr>PowerPoint Presentation</vt:lpstr>
      <vt:lpstr>PowerPoint Presentation</vt:lpstr>
      <vt:lpstr>CREATE TABLE Enrolled (</vt:lpstr>
      <vt:lpstr>CREATE TABLE table_name (</vt:lpstr>
      <vt:lpstr>there are at least two ways to  skin the cat:</vt:lpstr>
      <vt:lpstr>To create a new table in our database, expand Tables and right click there to Create New Table:</vt:lpstr>
      <vt:lpstr>PowerPoint Presentation</vt:lpstr>
      <vt:lpstr>Use the Table Name: field to rename the table sailor and then go to Column Name and right-click to Create New Column:</vt:lpstr>
      <vt:lpstr>before pressing O.K. specify the attributes: column name and data type with optional length:</vt:lpstr>
      <vt:lpstr>before pressing O.K. specify the attributes: column name and data type with optional length:</vt:lpstr>
      <vt:lpstr>Save everything from this table definition:</vt:lpstr>
      <vt:lpstr>when persisting changes to database actual SQL code generated by DBeaver is presented to user:</vt:lpstr>
      <vt:lpstr>PowerPoint Presentation</vt:lpstr>
      <vt:lpstr>PowerPoint Presentation</vt:lpstr>
      <vt:lpstr>PowerPoint Presentation</vt:lpstr>
      <vt:lpstr>Execute:</vt:lpstr>
      <vt:lpstr>PowerPoint Presentation</vt:lpstr>
      <vt:lpstr>PowerPoint Presentation</vt:lpstr>
      <vt:lpstr>SQLite</vt:lpstr>
      <vt:lpstr>SQLite</vt:lpstr>
      <vt:lpstr>SQLite</vt:lpstr>
      <vt:lpstr>PowerPoint Presentation</vt:lpstr>
      <vt:lpstr>PowerPoint Presentation</vt:lpstr>
      <vt:lpstr>table names be singular or plural Which is better: Singular or Plural?</vt:lpstr>
      <vt:lpstr>PowerPoint Presentation</vt:lpstr>
      <vt:lpstr>PowerPoint Presentation</vt:lpstr>
      <vt:lpstr>PowerPoint Presentation</vt:lpstr>
      <vt:lpstr>SQLite</vt:lpstr>
      <vt:lpstr>SQLite</vt:lpstr>
      <vt:lpstr>SQLite</vt:lpstr>
      <vt:lpstr>Right click on Keys to Create New Key</vt:lpstr>
      <vt:lpstr>PowerPoint Presentation</vt:lpstr>
      <vt:lpstr>PowerPoint Presentation</vt:lpstr>
      <vt:lpstr>PowerPoint Presentation</vt:lpstr>
      <vt:lpstr>Right click on Foreign Keys to  Create New Foreign Key</vt:lpstr>
      <vt:lpstr>PowerPoint Presentation</vt:lpstr>
      <vt:lpstr>PowerPoint Presentation</vt:lpstr>
      <vt:lpstr>PowerPoint Presentation</vt:lpstr>
      <vt:lpstr>View Entity-Relationship Diagram</vt:lpstr>
      <vt:lpstr>PowerPoint Presentation</vt:lpstr>
      <vt:lpstr>PowerPoint Presentation</vt:lpstr>
      <vt:lpstr>PowerPoint Presentation</vt:lpstr>
      <vt:lpstr>PowerPoint Presentation</vt:lpstr>
      <vt:lpstr>PowerPoint Presentation</vt:lpstr>
      <vt:lpstr>Structured Query Language SQL DATA MANIPLUATION LANGUAGE</vt:lpstr>
      <vt:lpstr>PowerPoint Presentation</vt:lpstr>
      <vt:lpstr>PowerPoint Presentation</vt:lpstr>
      <vt:lpstr>PowerPoint Presentation</vt:lpstr>
      <vt:lpstr>in RDBMS CRUD operations performed through Structure Query Language (SQL) commands</vt:lpstr>
      <vt:lpstr>INSERT statement</vt:lpstr>
      <vt:lpstr>DBeaver Data tab</vt:lpstr>
      <vt:lpstr>To Add Row in table, press button  from bottom toolbar:</vt:lpstr>
      <vt:lpstr>Once a sailor, always a sailor, explores the ways in which we live, love and remember</vt:lpstr>
      <vt:lpstr>To Add Row in table, press the Save button from bottom toolbar:</vt:lpstr>
      <vt:lpstr>PowerPoint Presentation</vt:lpstr>
      <vt:lpstr>PowerPoint Presentation</vt:lpstr>
      <vt:lpstr>UPDATE statement </vt:lpstr>
      <vt:lpstr>SQL statement updates the first sailor (sid = 1) with a new age and rating</vt:lpstr>
      <vt:lpstr>PowerPoint Presentation</vt:lpstr>
      <vt:lpstr>PowerPoint Presentation</vt:lpstr>
      <vt:lpstr>DELETE statement</vt:lpstr>
      <vt:lpstr>SQL statement deletes Klaus  from the sailor table</vt:lpstr>
      <vt:lpstr>PowerPoint Presentation</vt:lpstr>
      <vt:lpstr>deletion from GUI pressing Delete current row button  from bottom toolbar:</vt:lpstr>
      <vt:lpstr>statements will succeed:</vt:lpstr>
      <vt:lpstr>statements will fail with foreign key integrity constraints violation</vt:lpstr>
      <vt:lpstr>foreign key integrity constraints</vt:lpstr>
      <vt:lpstr>INSERT INTO reserve (sid, bid, day) VALUES (2, 2, 2)</vt:lpstr>
      <vt:lpstr>PowerPoint Presentation</vt:lpstr>
      <vt:lpstr>PowerPoint Presentation</vt:lpstr>
      <vt:lpstr>SELECT TOP Clause</vt:lpstr>
      <vt:lpstr>LIMIT clause is an optional part of  SELECT to constrain number of rows returned by query</vt:lpstr>
      <vt:lpstr>PowerPoint Presentation</vt:lpstr>
      <vt:lpstr>Paginated View</vt:lpstr>
      <vt:lpstr>SQL Aliases</vt:lpstr>
      <vt:lpstr>Table Alias</vt:lpstr>
      <vt:lpstr>PowerPoint Presentation</vt:lpstr>
      <vt:lpstr>Principles not Products</vt:lpstr>
      <vt:lpstr>PowerPoint Presentation</vt:lpstr>
      <vt:lpstr>PowerPoint Presentation</vt:lpstr>
      <vt:lpstr>PowerPoint Presentation</vt:lpstr>
      <vt:lpstr>PostgreSQL</vt:lpstr>
      <vt:lpstr>PostgreSQL</vt:lpstr>
      <vt:lpstr>PowerPoint Presentation</vt:lpstr>
      <vt:lpstr>main PostgreSQL application domains can be classified into two categories:</vt:lpstr>
      <vt:lpstr>Installing PostgreSQL on local workstation</vt:lpstr>
      <vt:lpstr>PowerPoint Presentation</vt:lpstr>
      <vt:lpstr>PowerPoint Presentation</vt:lpstr>
      <vt:lpstr>Step 1</vt:lpstr>
      <vt:lpstr>Step 2. Click Next button</vt:lpstr>
      <vt:lpstr>Step 3. Specify installation directory by either choosing your preferred location or using default folder suggested and click the Next button</vt:lpstr>
      <vt:lpstr>Step 4. Select software components to install</vt:lpstr>
      <vt:lpstr>Step 5. Choose database directory to store data, or accept default directory. Click Next button to proceed to next step</vt:lpstr>
      <vt:lpstr>Step 6. Enter password for database superuser (postgres)</vt:lpstr>
      <vt:lpstr>Step 7. Specify port number on which PostgreSQL database server will listen; default port of PostgreSQL is 5432 ensure that no other applications are using this port</vt:lpstr>
      <vt:lpstr>Step 8. Select default locale for PostgreSQL server; if you leave it as default, PostgreSQL will use operating system locale; afterward, click Next button</vt:lpstr>
      <vt:lpstr>Step 9. setup wizard will show summary PostgreSQL information; review details, and if everything is correct, click Next button otherwise, click Back button to adjust configuration accordingly</vt:lpstr>
      <vt:lpstr>PowerPoint Presentation</vt:lpstr>
      <vt:lpstr>Step 10. Click Finish button to complete PostgreSQL installation</vt:lpstr>
      <vt:lpstr>PowerPoint Presentation</vt:lpstr>
      <vt:lpstr>PowerPoint Presentation</vt:lpstr>
      <vt:lpstr>PowerPoint Presentation</vt:lpstr>
      <vt:lpstr>To check that everything is O.K.  Check back-end database engine is runing</vt:lpstr>
      <vt:lpstr>To check that everything is O.K.  Check back-end database engine is runing</vt:lpstr>
      <vt:lpstr>PowerPoint Presentation</vt:lpstr>
      <vt:lpstr>PowerPoint Presentation</vt:lpstr>
      <vt:lpstr>psql</vt:lpstr>
      <vt:lpstr>PowerPoint Presentation</vt:lpstr>
      <vt:lpstr>PowerPoint Presentation</vt:lpstr>
      <vt:lpstr>Installing PostgreSQL on cloud</vt:lpstr>
      <vt:lpstr>PowerPoint Presentation</vt:lpstr>
      <vt:lpstr>PowerPoint Presentation</vt:lpstr>
      <vt:lpstr>PowerPoint Presentation</vt:lpstr>
      <vt:lpstr>PowerPoint Presentation</vt:lpstr>
      <vt:lpstr>PowerPoint Presentation</vt:lpstr>
      <vt:lpstr>PowerPoint Presentation</vt:lpstr>
      <vt:lpstr>Console Services | Aiven https://console.aiven.io/</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Structured Query Language</dc:title>
  <dc:creator>User</dc:creator>
  <cp:lastModifiedBy>Calin Cenan</cp:lastModifiedBy>
  <cp:revision>168</cp:revision>
  <dcterms:created xsi:type="dcterms:W3CDTF">2006-08-16T00:00:00Z</dcterms:created>
  <dcterms:modified xsi:type="dcterms:W3CDTF">2025-08-06T06:55:10Z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2023-10-01T19:39:36Z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2454985f-5804-4626-9bb0-7c76d223e4a8</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