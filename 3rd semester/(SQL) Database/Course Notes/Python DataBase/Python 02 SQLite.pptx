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304" r:id="rId10"/>
    <p:sldId id="306" r:id="rId11"/>
    <p:sldId id="305" r:id="rId12"/>
    <p:sldId id="307" r:id="rId13"/>
    <p:sldId id="277" r:id="rId14"/>
    <p:sldId id="309" r:id="rId15"/>
    <p:sldId id="278" r:id="rId16"/>
    <p:sldId id="308" r:id="rId17"/>
    <p:sldId id="310" r:id="rId18"/>
    <p:sldId id="282" r:id="rId19"/>
    <p:sldId id="312" r:id="rId20"/>
    <p:sldId id="313" r:id="rId21"/>
    <p:sldId id="311" r:id="rId22"/>
    <p:sldId id="329" r:id="rId23"/>
    <p:sldId id="330" r:id="rId24"/>
    <p:sldId id="331" r:id="rId25"/>
    <p:sldId id="332" r:id="rId26"/>
    <p:sldId id="315" r:id="rId27"/>
    <p:sldId id="314" r:id="rId28"/>
    <p:sldId id="320" r:id="rId29"/>
    <p:sldId id="321" r:id="rId30"/>
    <p:sldId id="322" r:id="rId31"/>
    <p:sldId id="318" r:id="rId32"/>
    <p:sldId id="323" r:id="rId33"/>
    <p:sldId id="324" r:id="rId34"/>
    <p:sldId id="325" r:id="rId35"/>
    <p:sldId id="326" r:id="rId36"/>
    <p:sldId id="327" r:id="rId37"/>
    <p:sldId id="328" r:id="rId38"/>
    <p:sldId id="294" r:id="rId39"/>
    <p:sldId id="295" r:id="rId40"/>
    <p:sldId id="333" r:id="rId41"/>
    <p:sldId id="284" r:id="rId42"/>
    <p:sldId id="335" r:id="rId43"/>
    <p:sldId id="334" r:id="rId44"/>
    <p:sldId id="336" r:id="rId45"/>
    <p:sldId id="337" r:id="rId46"/>
    <p:sldId id="338" r:id="rId47"/>
    <p:sldId id="339" r:id="rId48"/>
    <p:sldId id="342" r:id="rId49"/>
    <p:sldId id="341" r:id="rId50"/>
    <p:sldId id="343" r:id="rId51"/>
    <p:sldId id="344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87"/>
  </p:normalViewPr>
  <p:slideViewPr>
    <p:cSldViewPr snapToGrid="0">
      <p:cViewPr varScale="1">
        <p:scale>
          <a:sx n="78" d="100"/>
          <a:sy n="78" d="100"/>
        </p:scale>
        <p:origin x="78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customXml" Target="../customXml/item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customXml" Target="../customXml/item2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10C8C8-4E43-4F6B-BCA9-4DAD26C562CD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8EEA07-331C-4B4E-8446-9CE82B5D0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424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CB10B-D70F-B908-85E7-8A73DB27C7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922051-DA46-4A1D-BF48-307E757974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91D61-CCF1-4DF1-095B-1D9869329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2952-5FE3-4623-85D9-D5EA17E17BEE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F4B7A-0206-F763-613A-BE948797E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B7AD7-6D79-07CB-A987-ACD1953AB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045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09D91-9543-0336-AE70-789E29716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CB5AB-1A75-8078-2120-06911B4A0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571F3-64A9-5C1A-826F-A88D5CBAD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73923-1DA5-414D-965E-D46F50FB2DF9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68F59-7684-5DBC-EA1F-C1D2BB09F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0D27D-112D-7433-D978-8F99F37FA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887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8DAF8-142D-A99C-1B8C-2CBA75659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AD4DFD-831F-0EEB-1A21-C0ACEB1A8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D7B83-A941-8EEA-C757-12F24FFB1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2D077-7779-4C1C-864E-3AA389854890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D802C-CCC3-BBB5-E902-3F2362CDF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D4BF6-4DFA-4B60-C4F0-C174AE08D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22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D86C1-119E-C543-5E8F-E6093111F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8C195-1220-601F-EAEF-9FB18C9391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4507F7-45F9-506A-D872-204AC5852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1279B-4487-3142-8E64-8B05DBCEA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03706-5F70-461E-ABF1-58B97905DDD4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EDF68-6F3A-BB30-6A3F-C2F1C0852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5E278B-4B03-666A-6269-B449466E2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89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6D292-9016-F259-005F-FB10B9367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E90B0A-45F3-69ED-8C4B-7E62E1F69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BF8742-D242-2FCC-E7FD-1478655389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D96105-BB58-B924-2826-1B1AD1C34D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F9EE0B-202C-E91D-77C4-2CD7F3BAA1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D2D4A7-9AF3-CBD3-6A25-3272150E8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16E5E-8263-45EF-8399-E5769131E5D4}" type="datetime1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845EC2-354B-E984-8A70-005EE4679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F22DDC-8BDB-FDB4-8F9F-509E042F7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791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4DF16-55FA-FF8E-B4CA-608DA07C5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277246-D8E5-26BB-158B-6DDEC6BFF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0B813-B174-4139-9BC7-145776B4E9D8}" type="datetime1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E161A1-D2D6-2F86-7A33-3A3E1AC5D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2ADBED-55F0-5B7D-1A07-F5C66BFA4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721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D0AA7F-E444-D1C9-CE34-A0EF902E8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A77C-9C1A-4598-B7CC-5932B16B73A6}" type="datetime1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B4ACB9-779A-C532-96FB-50B96C45A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7F5AF-6140-28BE-9163-4106D3DA8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303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AFFB7-3B36-4F6B-97D1-14753A0CF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E9035-F5D1-5960-013D-0BCD0581F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075E6F-2A75-F05E-68DF-92C989CFAE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EDC3F-1026-896E-4885-19A6DBC44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0295A-DD12-4BA2-903D-24107874FC12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9B950D-625E-9009-2FDC-2BB90AF0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26DF52-D15F-D240-027B-02D5FD095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326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6EC93-8FDA-5E3E-0B8B-130E0659F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A0649F-DC2B-A4DF-CDB0-146852F84C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0D03C-0A73-AE57-8A38-56C197E02A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9754DC-A8E7-302A-358E-6418645CD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6344F-9B26-4891-8455-AF59954B386A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A2CCE9-4EAE-7ADB-BA52-4423A14E6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F40C52-670E-00C4-8CC2-978B0F38B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630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E6297-8D46-822D-CA70-D7F4C0AD6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A2489B-8571-B8AE-0990-24F887E865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1FDF3-2F69-92C5-B748-6FBA41C9F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4B520-DBCB-4CF7-8A38-874FAC1D7F57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14BFE-339F-E30D-DA68-1AC03C1A6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854DD-8DFB-8FB4-DC26-B0AC8CAF8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602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8DB0EC-63FA-FF38-4431-E71D9C735A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D923A8-8506-050E-A4C7-FF0E3D027D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CB81A-0BFE-BDC4-C11F-B04FF4B5E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0D7D6-8B41-4CB2-A0E1-F1B22B36E69B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3778F-D2EC-3CB4-7D8D-ECD368C2E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57490-8921-2AB7-0A75-0A84FD9C9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826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FCD2D5-3635-22D6-741C-CD878A12D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DD0E8-4D40-075E-D50E-35A7122A3E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20B7E-2484-ADBC-7B91-40095F35C6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07ABE8-C3A6-4197-9D95-A7D4AED8C229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01171-57F6-A4A2-8A5B-C2E2A4D4FC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20380-9AD5-3718-1968-C8EB1190E4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BEB03D-E4DE-45F6-B921-153213226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547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python.org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E1E38-EAB6-A5E7-BAB8-D55DE8B0C7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5D6BC7-1EE5-BE3D-858E-1B60BDFFFE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E4C294-A086-6CAB-DABA-E200D43BF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50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5C812-EA2F-41BE-4900-ADBB6F99B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Python.org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>
                <a:hlinkClick r:id="rId2"/>
              </a:rPr>
              <a:t>https://www.python.org/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243F2-83E7-5C6E-DCC2-3330838CB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E3008E-2999-0945-154F-AA9D2A271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2</a:t>
            </a:fld>
            <a:endParaRPr lang="en-US"/>
          </a:p>
        </p:txBody>
      </p:sp>
      <p:pic>
        <p:nvPicPr>
          <p:cNvPr id="1026" name="Picture 2" descr="python™">
            <a:extLst>
              <a:ext uri="{FF2B5EF4-FFF2-40B4-BE49-F238E27FC236}">
                <a16:creationId xmlns:a16="http://schemas.microsoft.com/office/drawing/2014/main" id="{B459E0A1-714F-1F47-D007-0AF8E976E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50" y="2647950"/>
            <a:ext cx="5524500" cy="156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6523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0FE4A-2EE0-2A0F-C32D-ED2C7EA61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CC04B-22FD-1C3A-E5E3-3E9450661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&gt; 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python -V</a:t>
            </a:r>
          </a:p>
          <a:p>
            <a:r>
              <a:rPr lang="en-US" sz="3200" dirty="0"/>
              <a:t>Python 3.14.0</a:t>
            </a:r>
          </a:p>
          <a:p>
            <a:endParaRPr lang="en-US" dirty="0"/>
          </a:p>
          <a:p>
            <a:r>
              <a:rPr lang="en-US" dirty="0"/>
              <a:t> &gt;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pip -V</a:t>
            </a:r>
          </a:p>
          <a:p>
            <a:r>
              <a:rPr lang="en-US" dirty="0"/>
              <a:t>pip 25.3 from C:\Python\Python314\Lib\site-packages\pip (python 3.14)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D116D-B725-8125-5717-2B8DD56B3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142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CB155-C1B2-62A7-A19B-2F0B81F8B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89EDC-57B3-E1D7-4BED-CE232D180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775" y="1258529"/>
            <a:ext cx="11523406" cy="4918434"/>
          </a:xfrm>
        </p:spPr>
        <p:txBody>
          <a:bodyPr>
            <a:noAutofit/>
          </a:bodyPr>
          <a:lstStyle/>
          <a:p>
            <a:r>
              <a:rPr lang="en-US" sz="2700" dirty="0"/>
              <a:t>Python is a high-level, general-purpose programming language; its design philosophy emphasizes code readability with use of significant indentation</a:t>
            </a:r>
          </a:p>
          <a:p>
            <a:r>
              <a:rPr lang="en-US" sz="2700" dirty="0"/>
              <a:t>Python is dynamically type-checked and garbage-collected; supports multiple programming paradigms, including structured (</a:t>
            </a:r>
            <a:r>
              <a:rPr lang="en-US" sz="2700" dirty="0" err="1"/>
              <a:t>particulary</a:t>
            </a:r>
            <a:r>
              <a:rPr lang="en-US" sz="2700" dirty="0"/>
              <a:t>  </a:t>
            </a:r>
            <a:r>
              <a:rPr lang="en-US" sz="2700" dirty="0" err="1"/>
              <a:t>proce</a:t>
            </a:r>
            <a:r>
              <a:rPr lang="en-US" sz="2700" dirty="0"/>
              <a:t> - dural), object-oriented and functional programming</a:t>
            </a:r>
          </a:p>
          <a:p>
            <a:r>
              <a:rPr lang="en-US" sz="2700" dirty="0"/>
              <a:t>Guido van Rossum began working on Python in late 1980s Python 3.0, was major revision and not completely backward-compatible with earlier vers.</a:t>
            </a:r>
          </a:p>
          <a:p>
            <a:r>
              <a:rPr lang="en-US" sz="2700" dirty="0"/>
              <a:t>Python has gained widespread use in the machine learning community; it is widely taught as introductory programming language</a:t>
            </a:r>
          </a:p>
          <a:p>
            <a:r>
              <a:rPr lang="en-US" sz="2700" dirty="0"/>
              <a:t>since 2000, Python has consistently ranked in top ten of most popular programming languages in the Programming Community Index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CD209-CB55-1D66-7693-B350310BD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812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A39E2-C3D9-91AC-6DB9-C99204A4F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914B1-F6AD-FA3B-5BE5-34EEA2F95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pip is a package manager (package management system) written in Python and is used to install and manage software packages</a:t>
            </a:r>
          </a:p>
          <a:p>
            <a:r>
              <a:rPr lang="en-US" dirty="0"/>
              <a:t>the Python Software Foundation recommends using pip to install Python applications and its dependencies during deployment</a:t>
            </a:r>
          </a:p>
          <a:p>
            <a:r>
              <a:rPr lang="en-US" dirty="0"/>
              <a:t>connects to an online software repository of public packages, named the Python Package Index (</a:t>
            </a:r>
            <a:r>
              <a:rPr lang="en-US" dirty="0" err="1"/>
              <a:t>PyPI</a:t>
            </a:r>
            <a:r>
              <a:rPr lang="en-US" dirty="0"/>
              <a:t>); can be configured to connect to other package repositories (local or remote), provided that they comply to Python Enhancement Proposal</a:t>
            </a:r>
          </a:p>
          <a:p>
            <a:r>
              <a:rPr lang="en-US" dirty="0"/>
              <a:t>most distributions of Python come with pip preinstalled, Python 3.4 and later include pip by default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ABE5B-9AD6-9218-0534-D832FA6B2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219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00E49-99BA-E73C-6695-AFD5050C3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4E775-4E8E-459D-5C9B-43158F5B9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F6C10-A845-BBE2-8789-C37D78461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369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62066-54EC-58BB-B0F8-252441DB8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49140-731C-4C97-D244-A8C900E8A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700" i="1" dirty="0"/>
              <a:t>import</a:t>
            </a:r>
            <a:r>
              <a:rPr lang="en-US" sz="2700" dirty="0"/>
              <a:t> sqlite3</a:t>
            </a:r>
          </a:p>
          <a:p>
            <a:r>
              <a:rPr lang="en-US" sz="2700" dirty="0"/>
              <a:t> </a:t>
            </a:r>
            <a:r>
              <a:rPr lang="en-US" sz="2700" i="1" dirty="0"/>
              <a:t># Connect to a database (or create it if it doesn't exist)</a:t>
            </a:r>
            <a:endParaRPr lang="en-US" sz="2700" dirty="0"/>
          </a:p>
          <a:p>
            <a:r>
              <a:rPr lang="en-US" sz="2700" dirty="0"/>
              <a:t>conn </a:t>
            </a:r>
            <a:r>
              <a:rPr lang="en-US" sz="2700" i="1" dirty="0"/>
              <a:t>=</a:t>
            </a:r>
            <a:r>
              <a:rPr lang="en-US" sz="2700" dirty="0"/>
              <a:t> sqlite3.connect('</a:t>
            </a:r>
            <a:r>
              <a:rPr lang="en-US" sz="2700" dirty="0" err="1"/>
              <a:t>example.db</a:t>
            </a:r>
            <a:r>
              <a:rPr lang="en-US" sz="2700" dirty="0"/>
              <a:t>')</a:t>
            </a:r>
          </a:p>
          <a:p>
            <a:r>
              <a:rPr lang="en-US" sz="2700" i="1" dirty="0"/>
              <a:t># Create a cursor object to execute SQL commands</a:t>
            </a:r>
            <a:endParaRPr lang="en-US" sz="2700" dirty="0"/>
          </a:p>
          <a:p>
            <a:r>
              <a:rPr lang="en-US" sz="2700" dirty="0"/>
              <a:t>cursor </a:t>
            </a:r>
            <a:r>
              <a:rPr lang="en-US" sz="2700" i="1" dirty="0"/>
              <a:t>=</a:t>
            </a:r>
            <a:r>
              <a:rPr lang="en-US" sz="2700" dirty="0"/>
              <a:t> </a:t>
            </a:r>
            <a:r>
              <a:rPr lang="en-US" sz="2700" dirty="0" err="1"/>
              <a:t>conn.cursor</a:t>
            </a:r>
            <a:r>
              <a:rPr lang="en-US" sz="2700" dirty="0"/>
              <a:t>()</a:t>
            </a:r>
          </a:p>
          <a:p>
            <a:r>
              <a:rPr lang="en-US" sz="2700" i="1" dirty="0"/>
              <a:t># Don't forget to close the connection when you're done</a:t>
            </a:r>
            <a:endParaRPr lang="en-US" sz="2700" dirty="0"/>
          </a:p>
          <a:p>
            <a:r>
              <a:rPr lang="en-US" sz="2700" dirty="0" err="1"/>
              <a:t>conn.close</a:t>
            </a:r>
            <a:r>
              <a:rPr lang="en-US" sz="2700" dirty="0"/>
              <a:t>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1CB54C-6BB3-8BBD-DCEA-675A1CAB4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90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A248D-8436-D254-C60B-22BD3B4D5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0513E-1547-5A9C-914D-A172EC0EA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5F9E5-432A-7FB4-A391-4333848DC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Connect.py</a:t>
            </a:r>
          </a:p>
          <a:p>
            <a:endParaRPr lang="en-US" dirty="0"/>
          </a:p>
          <a:p>
            <a:r>
              <a:rPr lang="en-US" dirty="0" err="1"/>
              <a:t>example.db</a:t>
            </a:r>
            <a:r>
              <a:rPr lang="en-US" dirty="0"/>
              <a:t> SQLite </a:t>
            </a:r>
            <a:r>
              <a:rPr lang="en-US" dirty="0" err="1"/>
              <a:t>DataBase</a:t>
            </a:r>
            <a:r>
              <a:rPr lang="en-US" dirty="0"/>
              <a:t> is created in local folder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EF0E4-4FE0-82B5-8880-949EEEDB0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437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589A5-EFC6-190D-C9CC-57B1F3FB5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B6D8E-6570-07EC-3BC9-628EBD348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 can use a context manager: </a:t>
            </a:r>
          </a:p>
          <a:p>
            <a:r>
              <a:rPr lang="en-US" dirty="0"/>
              <a:t>with sqlite3.connect('</a:t>
            </a:r>
            <a:r>
              <a:rPr lang="en-US" dirty="0" err="1"/>
              <a:t>example.db</a:t>
            </a:r>
            <a:r>
              <a:rPr lang="en-US" dirty="0"/>
              <a:t>') as conn: </a:t>
            </a:r>
          </a:p>
          <a:p>
            <a:r>
              <a:rPr lang="en-US" dirty="0"/>
              <a:t> 	cursor = </a:t>
            </a:r>
            <a:r>
              <a:rPr lang="en-US" dirty="0" err="1"/>
              <a:t>conn.cursor</a:t>
            </a:r>
            <a:r>
              <a:rPr lang="en-US" dirty="0"/>
              <a:t>() # Perform database operations here</a:t>
            </a:r>
          </a:p>
          <a:p>
            <a:endParaRPr lang="en-US" dirty="0"/>
          </a:p>
          <a:p>
            <a:r>
              <a:rPr lang="en-US" dirty="0"/>
              <a:t>using a context manager ensures that connection is properly closed, even if an exception occurs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B12BA1-7BEF-DB41-D941-EDC0D9672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807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6EAB7-6D19-08E7-9A6D-435629B8F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6611917-CC22-AEBD-4067-093371AC7E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182880"/>
            <a:ext cx="10357849" cy="616656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E04B7F-1E1A-49A1-E055-A2E3E8891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57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35ABF-B279-239F-AFB7-9A8107A40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9621D-013E-9E64-5411-DF7BDCBBE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A5D48-AC99-7AA2-65AC-B83A10157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EF97C0-A8B1-B896-B2A0-2FF9B090B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117799" cy="505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439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95C4C-B8DB-04DA-FF2F-891EFE281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515E1B0-79E3-CAAE-C073-AABB38D255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274320"/>
            <a:ext cx="10515600" cy="586950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92C4F-196F-A80A-E8D9-2F4448552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0201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9CBD4-6E17-B8D4-51FA-BF2C453F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CreateTab.py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01A13-E66A-DDD5-0910-813EDB6C3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table using python - execute the CREATE TABLE statement using the execute() method of the Cursor</a:t>
            </a:r>
          </a:p>
          <a:p>
            <a:endParaRPr lang="en-US" dirty="0"/>
          </a:p>
          <a:p>
            <a:r>
              <a:rPr lang="en-US" dirty="0"/>
              <a:t>&gt;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python CreateTab.py</a:t>
            </a:r>
          </a:p>
          <a:p>
            <a:r>
              <a:rPr lang="en-US" dirty="0"/>
              <a:t>Table created successfully........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42D08-5010-C442-F918-8BFF36297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227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AABCC-AD03-11B4-303E-627F15816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91BEE-D479-0D2C-EC41-CFE460F6E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CreateTab.py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D6F4C-A14C-0C1F-DF6A-A1A234B79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8194"/>
            <a:ext cx="10515600" cy="4898769"/>
          </a:xfrm>
        </p:spPr>
        <p:txBody>
          <a:bodyPr>
            <a:noAutofit/>
          </a:bodyPr>
          <a:lstStyle/>
          <a:p>
            <a:r>
              <a:rPr lang="en-US" sz="2700" i="1" dirty="0"/>
              <a:t>import</a:t>
            </a:r>
            <a:r>
              <a:rPr lang="en-US" sz="2700" dirty="0"/>
              <a:t> sqlite3</a:t>
            </a:r>
          </a:p>
          <a:p>
            <a:r>
              <a:rPr lang="en-US" sz="2700" dirty="0"/>
              <a:t> </a:t>
            </a:r>
            <a:r>
              <a:rPr lang="en-US" sz="2700" i="1" dirty="0"/>
              <a:t># Connect to a database (or create it if it doesn't exist)</a:t>
            </a:r>
            <a:endParaRPr lang="en-US" sz="2700" dirty="0"/>
          </a:p>
          <a:p>
            <a:r>
              <a:rPr lang="en-US" sz="2700" i="1" dirty="0"/>
              <a:t>with</a:t>
            </a:r>
            <a:r>
              <a:rPr lang="en-US" sz="2700" dirty="0"/>
              <a:t> sqlite3.connect('</a:t>
            </a:r>
            <a:r>
              <a:rPr lang="en-US" sz="2700" dirty="0" err="1"/>
              <a:t>example.db</a:t>
            </a:r>
            <a:r>
              <a:rPr lang="en-US" sz="2700" dirty="0"/>
              <a:t>') </a:t>
            </a:r>
            <a:r>
              <a:rPr lang="en-US" sz="2700" i="1" dirty="0"/>
              <a:t>as</a:t>
            </a:r>
            <a:r>
              <a:rPr lang="en-US" sz="2700" dirty="0"/>
              <a:t> conn: </a:t>
            </a:r>
          </a:p>
          <a:p>
            <a:r>
              <a:rPr lang="en-US" sz="2700" dirty="0"/>
              <a:t>        cursor </a:t>
            </a:r>
            <a:r>
              <a:rPr lang="en-US" sz="2700" i="1" dirty="0"/>
              <a:t>=</a:t>
            </a:r>
            <a:r>
              <a:rPr lang="en-US" sz="2700" dirty="0"/>
              <a:t> </a:t>
            </a:r>
            <a:r>
              <a:rPr lang="en-US" sz="2700" dirty="0" err="1"/>
              <a:t>conn.cursor</a:t>
            </a:r>
            <a:r>
              <a:rPr lang="en-US" sz="2700" dirty="0"/>
              <a:t>() </a:t>
            </a:r>
            <a:r>
              <a:rPr lang="en-US" sz="2700" i="1" dirty="0"/>
              <a:t># Perform database operations here</a:t>
            </a:r>
            <a:endParaRPr lang="en-US" sz="2700" dirty="0"/>
          </a:p>
          <a:p>
            <a:r>
              <a:rPr lang="en-US" sz="2700" dirty="0"/>
              <a:t>        </a:t>
            </a:r>
            <a:r>
              <a:rPr lang="en-US" sz="2700" i="1" dirty="0"/>
              <a:t>#Creating table as per requirement </a:t>
            </a:r>
            <a:endParaRPr lang="en-US" sz="2700" dirty="0"/>
          </a:p>
          <a:p>
            <a:r>
              <a:rPr lang="en-US" sz="2700" dirty="0"/>
              <a:t>        </a:t>
            </a:r>
            <a:r>
              <a:rPr lang="en-US" sz="2700" dirty="0" err="1"/>
              <a:t>sql</a:t>
            </a:r>
            <a:r>
              <a:rPr lang="en-US" sz="2700" dirty="0"/>
              <a:t> </a:t>
            </a:r>
            <a:r>
              <a:rPr lang="en-US" sz="2700" i="1" dirty="0"/>
              <a:t>=</a:t>
            </a:r>
            <a:r>
              <a:rPr lang="en-US" sz="2700" dirty="0"/>
              <a:t> '''CREATE TABLE EMPLOYEE( </a:t>
            </a:r>
          </a:p>
          <a:p>
            <a:r>
              <a:rPr lang="en-US" sz="2700" dirty="0"/>
              <a:t>        ID INTEGER PRIMARY KEY ,</a:t>
            </a:r>
          </a:p>
          <a:p>
            <a:r>
              <a:rPr lang="en-US" sz="2700" dirty="0"/>
              <a:t>        FIRST_NAME  TEXT NOT NULL, </a:t>
            </a:r>
          </a:p>
          <a:p>
            <a:r>
              <a:rPr lang="en-US" sz="2700" dirty="0"/>
              <a:t>        LAST_NAME  TEXT NOT NULL, </a:t>
            </a:r>
          </a:p>
          <a:p>
            <a:r>
              <a:rPr lang="en-US" sz="2700" dirty="0"/>
              <a:t>        AGE INTEGER,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BB1331-DA99-7EBD-24AC-08B9CD3EF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187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96245-BB3F-D19E-8CE8-2697286BB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CreateTab.py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A30C3-5FE1-8E03-5AF4-3EF9B1D375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8194"/>
            <a:ext cx="10515600" cy="4898769"/>
          </a:xfrm>
        </p:spPr>
        <p:txBody>
          <a:bodyPr>
            <a:noAutofit/>
          </a:bodyPr>
          <a:lstStyle/>
          <a:p>
            <a:r>
              <a:rPr lang="en-US" sz="2700" dirty="0"/>
              <a:t>        AGE INTEGER, </a:t>
            </a:r>
          </a:p>
          <a:p>
            <a:r>
              <a:rPr lang="en-US" sz="2700" dirty="0"/>
              <a:t>        GENDER CHAR(1), </a:t>
            </a:r>
          </a:p>
          <a:p>
            <a:r>
              <a:rPr lang="en-US" sz="2700" dirty="0"/>
              <a:t>        INCOME REAL,</a:t>
            </a:r>
          </a:p>
          <a:p>
            <a:r>
              <a:rPr lang="en-US" sz="2700" dirty="0"/>
              <a:t>        UNIQUE ( FIRST_NAME, LAST_NAME ))''' </a:t>
            </a:r>
          </a:p>
          <a:p>
            <a:r>
              <a:rPr lang="en-US" sz="2700" dirty="0"/>
              <a:t>        </a:t>
            </a:r>
            <a:r>
              <a:rPr lang="en-US" sz="2700" dirty="0" err="1"/>
              <a:t>cursor.execute</a:t>
            </a:r>
            <a:r>
              <a:rPr lang="en-US" sz="2700" dirty="0"/>
              <a:t>(</a:t>
            </a:r>
            <a:r>
              <a:rPr lang="en-US" sz="2700" dirty="0" err="1"/>
              <a:t>sql</a:t>
            </a:r>
            <a:r>
              <a:rPr lang="en-US" sz="2700" dirty="0"/>
              <a:t>) </a:t>
            </a:r>
          </a:p>
          <a:p>
            <a:r>
              <a:rPr lang="en-US" sz="2700" dirty="0"/>
              <a:t>print("Table created successfully........") </a:t>
            </a:r>
          </a:p>
          <a:p>
            <a:endParaRPr lang="en-US" sz="27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5C62F-CEBC-51C5-86E2-FF26FBCD5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5626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91E2E-8BDC-9F5F-B0C1-E59F5BB3D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755A3-16D1-6E64-F457-B5DC2A030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803E9E-7320-7C1B-1E8B-9B6E9AC89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A166D9-CBD2-9526-172C-88E1CB124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10783539" cy="603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796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DCDEE-CEB7-9984-125C-6BC50335D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23A6B-8808-964C-102D-94B2BF92F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B0957B-E4E4-731F-DCC0-DF9CFC02C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024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DB836-2957-28C8-5A74-0ED0DAB63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</a:t>
            </a:r>
            <a:r>
              <a:rPr lang="en-US" dirty="0"/>
              <a:t>reate</a:t>
            </a:r>
            <a:br>
              <a:rPr lang="en-US" dirty="0"/>
            </a:br>
            <a:r>
              <a:rPr lang="en-US" dirty="0"/>
              <a:t>InsertData.py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A31D7-85B5-814A-A3DD-785F9485D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cursor class provides a method with name execute()</a:t>
            </a:r>
          </a:p>
          <a:p>
            <a:r>
              <a:rPr lang="en-US" dirty="0"/>
              <a:t>method accepts query as parameter and executes it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import sqlite3 package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create a connection object using connect() method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turn on auto-commit mode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cursor() method of Connection class of sqlite3 library returns cursor object; create cursor object using this method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execute INSERT statement(s) by passing it as parameter to execute() method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2BC9E-7586-9B7A-175F-C59AED78C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530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DE0D6-F147-5A29-C805-0547B6244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InsertData.py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4B059-2D97-8C73-D89C-3CDE21055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700" i="1" dirty="0"/>
              <a:t>import</a:t>
            </a:r>
            <a:r>
              <a:rPr lang="en-US" sz="2700" dirty="0"/>
              <a:t> sqlite3</a:t>
            </a:r>
          </a:p>
          <a:p>
            <a:r>
              <a:rPr lang="en-US" sz="2700" dirty="0"/>
              <a:t> </a:t>
            </a:r>
            <a:r>
              <a:rPr lang="en-US" sz="2700" i="1" dirty="0"/>
              <a:t># Connect to a database (or create it if it doesn't exist)</a:t>
            </a:r>
            <a:endParaRPr lang="en-US" sz="2700" dirty="0"/>
          </a:p>
          <a:p>
            <a:r>
              <a:rPr lang="en-US" sz="2700" i="1" dirty="0"/>
              <a:t>with</a:t>
            </a:r>
            <a:r>
              <a:rPr lang="en-US" sz="2700" dirty="0"/>
              <a:t> sqlite3.connect('</a:t>
            </a:r>
            <a:r>
              <a:rPr lang="en-US" sz="2700" dirty="0" err="1"/>
              <a:t>example.db</a:t>
            </a:r>
            <a:r>
              <a:rPr lang="en-US" sz="2700" dirty="0"/>
              <a:t>') </a:t>
            </a:r>
            <a:r>
              <a:rPr lang="en-US" sz="2700" i="1" dirty="0"/>
              <a:t>as</a:t>
            </a:r>
            <a:r>
              <a:rPr lang="en-US" sz="2700" dirty="0"/>
              <a:t> conn: </a:t>
            </a:r>
          </a:p>
          <a:p>
            <a:r>
              <a:rPr lang="en-US" sz="2700" dirty="0"/>
              <a:t>    </a:t>
            </a:r>
            <a:r>
              <a:rPr lang="en-US" sz="2700" dirty="0" err="1"/>
              <a:t>conn.autocommit</a:t>
            </a:r>
            <a:r>
              <a:rPr lang="en-US" sz="2700" dirty="0"/>
              <a:t> </a:t>
            </a:r>
            <a:r>
              <a:rPr lang="en-US" sz="2700" i="1" dirty="0"/>
              <a:t>=</a:t>
            </a:r>
            <a:r>
              <a:rPr lang="en-US" sz="2700" dirty="0"/>
              <a:t> True </a:t>
            </a:r>
          </a:p>
          <a:p>
            <a:r>
              <a:rPr lang="en-US" sz="2700" dirty="0"/>
              <a:t>    cursor </a:t>
            </a:r>
            <a:r>
              <a:rPr lang="en-US" sz="2700" i="1" dirty="0"/>
              <a:t>=</a:t>
            </a:r>
            <a:r>
              <a:rPr lang="en-US" sz="2700" dirty="0"/>
              <a:t> </a:t>
            </a:r>
            <a:r>
              <a:rPr lang="en-US" sz="2700" dirty="0" err="1"/>
              <a:t>conn.cursor</a:t>
            </a:r>
            <a:r>
              <a:rPr lang="en-US" sz="2700" dirty="0"/>
              <a:t>() </a:t>
            </a:r>
            <a:r>
              <a:rPr lang="en-US" sz="2700" i="1" dirty="0"/>
              <a:t># Perform database operations here</a:t>
            </a:r>
            <a:endParaRPr lang="en-US" sz="2700" dirty="0"/>
          </a:p>
          <a:p>
            <a:r>
              <a:rPr lang="en-US" sz="2400" dirty="0"/>
              <a:t>    </a:t>
            </a:r>
            <a:r>
              <a:rPr lang="en-US" sz="2400" dirty="0" err="1"/>
              <a:t>cursor.execute</a:t>
            </a:r>
            <a:r>
              <a:rPr lang="en-US" sz="2400" dirty="0"/>
              <a:t>('''INSERT INTO EMPLOYEE(FIRST_NAME, LAST_NAME, AGE, GENDER, INCOME) </a:t>
            </a:r>
          </a:p>
          <a:p>
            <a:r>
              <a:rPr lang="en-US" sz="2400" dirty="0"/>
              <a:t>               VALUES ('Daniela', 'CRUDU', 27, 'F', 9000)'‘’) </a:t>
            </a:r>
          </a:p>
          <a:p>
            <a:r>
              <a:rPr lang="en-US" sz="2400" dirty="0"/>
              <a:t>    </a:t>
            </a:r>
            <a:r>
              <a:rPr lang="en-US" sz="2400" dirty="0" err="1"/>
              <a:t>cursor.execute</a:t>
            </a:r>
            <a:r>
              <a:rPr lang="en-US" sz="2400" dirty="0"/>
              <a:t>('''INSERT INTO EMPLOYEE(FIRST_NAME, LAST_NAME, AGE, GENDER, INCOME) </a:t>
            </a:r>
          </a:p>
          <a:p>
            <a:r>
              <a:rPr lang="en-US" sz="2400" dirty="0"/>
              <a:t>               VALUES ('Nina', 'ILIESCU', 99, 'F', 5000)''')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5BA8EC-516E-ED53-A119-80DA70A4B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8882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B29DC-E4EC-8D2F-242E-005FF7AB9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7B6A0-A3C5-2444-9964-A52249BF1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InsertData.py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DFA84-233E-9A21-DAF3-AB358E265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9032"/>
            <a:ext cx="10515600" cy="4947931"/>
          </a:xfrm>
        </p:spPr>
        <p:txBody>
          <a:bodyPr>
            <a:noAutofit/>
          </a:bodyPr>
          <a:lstStyle/>
          <a:p>
            <a:r>
              <a:rPr lang="en-US" sz="2400" dirty="0"/>
              <a:t>    </a:t>
            </a:r>
            <a:r>
              <a:rPr lang="en-US" sz="2400" dirty="0" err="1"/>
              <a:t>cursor.execute</a:t>
            </a:r>
            <a:r>
              <a:rPr lang="en-US" sz="2400" dirty="0"/>
              <a:t>('''INSERT INTO EMPLOYEE(FIRST_NAME, LAST_NAME, AGE, GENDER, INCOME) </a:t>
            </a:r>
          </a:p>
          <a:p>
            <a:r>
              <a:rPr lang="en-US" sz="2400" dirty="0"/>
              <a:t>               VALUES ('Emil', 'CONSTANTINESCU', 88, 'M', 6000)''') </a:t>
            </a:r>
          </a:p>
          <a:p>
            <a:r>
              <a:rPr lang="en-US" sz="2400" dirty="0"/>
              <a:t>    </a:t>
            </a:r>
            <a:r>
              <a:rPr lang="en-US" sz="2400" dirty="0" err="1"/>
              <a:t>cursor.execute</a:t>
            </a:r>
            <a:r>
              <a:rPr lang="en-US" sz="2400" dirty="0"/>
              <a:t>('''INSERT INTO EMPLOYEE(FIRST_NAME, LAST_NAME, AGE, GENDER, INCOME) </a:t>
            </a:r>
          </a:p>
          <a:p>
            <a:r>
              <a:rPr lang="en-US" sz="2400" dirty="0"/>
              <a:t>               VALUES ('Traian', 'BASESCU', 77, 'M', 7000)''') </a:t>
            </a:r>
          </a:p>
          <a:p>
            <a:r>
              <a:rPr lang="en-US" sz="2400" dirty="0"/>
              <a:t>    </a:t>
            </a:r>
            <a:r>
              <a:rPr lang="en-US" sz="2400" dirty="0" err="1"/>
              <a:t>cursor.execute</a:t>
            </a:r>
            <a:r>
              <a:rPr lang="en-US" sz="2400" dirty="0"/>
              <a:t>('''INSERT INTO EMPLOYEE(FIRST_NAME, LAST_NAME, AGE, GENDER, INCOME) </a:t>
            </a:r>
          </a:p>
          <a:p>
            <a:r>
              <a:rPr lang="en-US" sz="2400" dirty="0"/>
              <a:t>               VALUES ('Klaus Werner', 'JOHANNIS', 66, 'M', 8000)''') </a:t>
            </a:r>
          </a:p>
          <a:p>
            <a:r>
              <a:rPr lang="en-US" sz="2400" dirty="0"/>
              <a:t>    </a:t>
            </a:r>
            <a:r>
              <a:rPr lang="en-US" sz="2400" dirty="0" err="1"/>
              <a:t>cursor.execute</a:t>
            </a:r>
            <a:r>
              <a:rPr lang="en-US" sz="2400" dirty="0"/>
              <a:t>('''INSERT INTO EMPLOYEE(FIRST_NAME, LAST_NAME, AGE, GENDER, INCOME) </a:t>
            </a:r>
          </a:p>
          <a:p>
            <a:r>
              <a:rPr lang="en-US" sz="2400" dirty="0"/>
              <a:t>               VALUES ('Nicusor', 'DAN', 55, 'M', 9000)''') </a:t>
            </a:r>
          </a:p>
          <a:p>
            <a:r>
              <a:rPr lang="en-US" sz="2700" dirty="0"/>
              <a:t>print("Records inserted........")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8C3DD-5780-14E5-5580-BB2C50A05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652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42A3C-A35D-B435-0D28-4A38F43CA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6BD3F5C-D408-B79D-4809-1A98EB4B35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638" y="274320"/>
            <a:ext cx="10659170" cy="602824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21AE25-F0A4-A20B-F1AD-3B7B1CBCD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904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2AC00-3276-F0A6-191E-FD1EA2997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C3198-0A83-0AF0-402D-55F851C60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insert multiple records efficiently, can use </a:t>
            </a:r>
            <a:r>
              <a:rPr lang="en-US" dirty="0" err="1"/>
              <a:t>executemany</a:t>
            </a:r>
            <a:r>
              <a:rPr lang="en-US" dirty="0"/>
              <a:t>()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63B37B-2CDE-C3DC-6E16-4A9611D73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8535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C54AF-1230-829A-7880-2D4B60F08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InsertDataMany.py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EE27B-83C4-C6CE-8225-B59BF38B0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6129"/>
            <a:ext cx="10515600" cy="4351338"/>
          </a:xfrm>
        </p:spPr>
        <p:txBody>
          <a:bodyPr>
            <a:normAutofit/>
          </a:bodyPr>
          <a:lstStyle/>
          <a:p>
            <a:r>
              <a:rPr lang="en-US" sz="2700" i="1" dirty="0"/>
              <a:t>import</a:t>
            </a:r>
            <a:r>
              <a:rPr lang="en-US" sz="2700" dirty="0"/>
              <a:t> sqlite3</a:t>
            </a:r>
          </a:p>
          <a:p>
            <a:r>
              <a:rPr lang="en-US" sz="2700" dirty="0"/>
              <a:t> </a:t>
            </a:r>
            <a:r>
              <a:rPr lang="en-US" sz="2700" i="1" dirty="0"/>
              <a:t># Connect to a database (or create it if it doesn't exist)</a:t>
            </a:r>
            <a:endParaRPr lang="en-US" sz="2700" dirty="0"/>
          </a:p>
          <a:p>
            <a:endParaRPr lang="en-US" sz="1600" dirty="0"/>
          </a:p>
          <a:p>
            <a:r>
              <a:rPr lang="en-US" sz="2700" dirty="0" err="1"/>
              <a:t>employee_data</a:t>
            </a:r>
            <a:r>
              <a:rPr lang="en-US" sz="2700" dirty="0"/>
              <a:t> </a:t>
            </a:r>
            <a:r>
              <a:rPr lang="en-US" sz="2700" i="1" dirty="0"/>
              <a:t>=</a:t>
            </a:r>
            <a:r>
              <a:rPr lang="en-US" sz="2700" dirty="0"/>
              <a:t> [</a:t>
            </a:r>
          </a:p>
          <a:p>
            <a:r>
              <a:rPr lang="en-US" sz="2700" dirty="0"/>
              <a:t>('Mirna', 'Burkin', 73, 'F', 4542.46),</a:t>
            </a:r>
          </a:p>
          <a:p>
            <a:r>
              <a:rPr lang="en-US" sz="2700" dirty="0"/>
              <a:t>('Sherman', 'Livezey', 76, 'M', 5228.15),</a:t>
            </a:r>
          </a:p>
          <a:p>
            <a:r>
              <a:rPr lang="en-US" sz="2700" dirty="0"/>
              <a:t>('Katusha', 'Van der </a:t>
            </a:r>
            <a:r>
              <a:rPr lang="en-US" sz="2700" dirty="0" err="1"/>
              <a:t>Kruijs</a:t>
            </a:r>
            <a:r>
              <a:rPr lang="en-US" sz="2700" dirty="0"/>
              <a:t>', 109, 'F', 4080.52),</a:t>
            </a:r>
          </a:p>
          <a:p>
            <a:r>
              <a:rPr lang="en-US" sz="2700" dirty="0"/>
              <a:t>('Barbie', '</a:t>
            </a:r>
            <a:r>
              <a:rPr lang="en-US" sz="2700" dirty="0" err="1"/>
              <a:t>Mahaddie</a:t>
            </a:r>
            <a:r>
              <a:rPr lang="en-US" sz="2700" dirty="0"/>
              <a:t>', 73, 'F', 5073.8),</a:t>
            </a:r>
          </a:p>
          <a:p>
            <a:r>
              <a:rPr lang="en-US" sz="2700" dirty="0"/>
              <a:t>…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D3807-663C-BA73-72E1-B0841EB00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5183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75793-2776-B9FD-FFCD-CFC05328E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InsertDataMany.py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9FE42-C2E3-987F-D088-6B20BEF39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700" dirty="0"/>
              <a:t>…</a:t>
            </a:r>
          </a:p>
          <a:p>
            <a:r>
              <a:rPr lang="en-US" sz="2700" dirty="0"/>
              <a:t>('Elvira', '</a:t>
            </a:r>
            <a:r>
              <a:rPr lang="en-US" sz="2700" dirty="0" err="1"/>
              <a:t>Pinwell</a:t>
            </a:r>
            <a:r>
              <a:rPr lang="en-US" sz="2700" dirty="0"/>
              <a:t>', 37, 'F', 6045.1),</a:t>
            </a:r>
          </a:p>
          <a:p>
            <a:r>
              <a:rPr lang="en-US" sz="2700" dirty="0"/>
              <a:t>('Rodolphe', '</a:t>
            </a:r>
            <a:r>
              <a:rPr lang="en-US" sz="2700" dirty="0" err="1"/>
              <a:t>Scoyne</a:t>
            </a:r>
            <a:r>
              <a:rPr lang="en-US" sz="2700" dirty="0"/>
              <a:t>', 52, 'M', 8238.47),</a:t>
            </a:r>
          </a:p>
          <a:p>
            <a:r>
              <a:rPr lang="en-US" sz="2700" dirty="0"/>
              <a:t>]</a:t>
            </a:r>
          </a:p>
          <a:p>
            <a:r>
              <a:rPr lang="en-US" sz="2700" i="1" dirty="0"/>
              <a:t>with</a:t>
            </a:r>
            <a:r>
              <a:rPr lang="en-US" sz="2700" dirty="0"/>
              <a:t> sqlite3.connect('</a:t>
            </a:r>
            <a:r>
              <a:rPr lang="en-US" sz="2700" dirty="0" err="1"/>
              <a:t>example.db</a:t>
            </a:r>
            <a:r>
              <a:rPr lang="en-US" sz="2700" dirty="0"/>
              <a:t>') </a:t>
            </a:r>
            <a:r>
              <a:rPr lang="en-US" sz="2700" i="1" dirty="0"/>
              <a:t>as</a:t>
            </a:r>
            <a:r>
              <a:rPr lang="en-US" sz="2700" dirty="0"/>
              <a:t> conn: </a:t>
            </a:r>
          </a:p>
          <a:p>
            <a:r>
              <a:rPr lang="en-US" sz="2700" i="1" dirty="0"/>
              <a:t># Perform database operations here</a:t>
            </a:r>
            <a:endParaRPr lang="en-US" sz="2700" dirty="0"/>
          </a:p>
          <a:p>
            <a:r>
              <a:rPr lang="en-US" sz="2700" dirty="0"/>
              <a:t>    </a:t>
            </a:r>
            <a:r>
              <a:rPr lang="en-US" sz="2700" dirty="0" err="1"/>
              <a:t>conn.autocommit</a:t>
            </a:r>
            <a:r>
              <a:rPr lang="en-US" sz="2700" dirty="0"/>
              <a:t> </a:t>
            </a:r>
            <a:r>
              <a:rPr lang="en-US" sz="2700" i="1" dirty="0"/>
              <a:t>=</a:t>
            </a:r>
            <a:r>
              <a:rPr lang="en-US" sz="2700" dirty="0"/>
              <a:t> True </a:t>
            </a:r>
          </a:p>
          <a:p>
            <a:r>
              <a:rPr lang="en-US" sz="2700" dirty="0"/>
              <a:t>    cursor </a:t>
            </a:r>
            <a:r>
              <a:rPr lang="en-US" sz="2700" i="1" dirty="0"/>
              <a:t>=</a:t>
            </a:r>
            <a:r>
              <a:rPr lang="en-US" sz="2700" dirty="0"/>
              <a:t> </a:t>
            </a:r>
            <a:r>
              <a:rPr lang="en-US" sz="2700" dirty="0" err="1"/>
              <a:t>conn.cursor</a:t>
            </a:r>
            <a:r>
              <a:rPr lang="en-US" sz="2700" dirty="0"/>
              <a:t>() </a:t>
            </a:r>
          </a:p>
          <a:p>
            <a:r>
              <a:rPr lang="en-US" sz="2700" dirty="0"/>
              <a:t>    </a:t>
            </a:r>
            <a:r>
              <a:rPr lang="en-US" sz="2700" dirty="0" err="1"/>
              <a:t>cursor.executemany</a:t>
            </a:r>
            <a:r>
              <a:rPr lang="en-US" sz="2700" dirty="0"/>
              <a:t>('''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5A04DD-58C7-08CD-BF38-453A72579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5820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958A9-1060-115B-38A2-0D0754945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6215F-580F-7BE0-83BC-EEB8A9150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InsertDataMany.py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D2072-94B7-CB8B-70E6-798941C91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700" dirty="0"/>
              <a:t>    </a:t>
            </a:r>
            <a:r>
              <a:rPr lang="en-US" sz="2700" dirty="0" err="1"/>
              <a:t>cursor.executemany</a:t>
            </a:r>
            <a:r>
              <a:rPr lang="en-US" sz="2700" dirty="0"/>
              <a:t>('''</a:t>
            </a:r>
          </a:p>
          <a:p>
            <a:r>
              <a:rPr lang="en-US" sz="2700" dirty="0"/>
              <a:t>    insert into EMPLOYEE (</a:t>
            </a:r>
            <a:r>
              <a:rPr lang="en-US" sz="2700" dirty="0" err="1"/>
              <a:t>first_name</a:t>
            </a:r>
            <a:r>
              <a:rPr lang="en-US" sz="2700" dirty="0"/>
              <a:t>, </a:t>
            </a:r>
            <a:r>
              <a:rPr lang="en-US" sz="2700" dirty="0" err="1"/>
              <a:t>last_name</a:t>
            </a:r>
            <a:r>
              <a:rPr lang="en-US" sz="2700" dirty="0"/>
              <a:t>, age, gender, income)         values (?, ?, ?, ?, ?);</a:t>
            </a:r>
          </a:p>
          <a:p>
            <a:r>
              <a:rPr lang="en-US" sz="2700" dirty="0"/>
              <a:t>    ''', </a:t>
            </a:r>
            <a:r>
              <a:rPr lang="en-US" sz="2700" dirty="0" err="1"/>
              <a:t>employee_data</a:t>
            </a:r>
            <a:r>
              <a:rPr lang="en-US" sz="2700" dirty="0"/>
              <a:t>)</a:t>
            </a:r>
          </a:p>
          <a:p>
            <a:r>
              <a:rPr lang="en-US" sz="2700" dirty="0" err="1"/>
              <a:t>conn.commit</a:t>
            </a:r>
            <a:r>
              <a:rPr lang="en-US" sz="2700" dirty="0"/>
              <a:t>()</a:t>
            </a:r>
          </a:p>
          <a:p>
            <a:r>
              <a:rPr lang="en-US" sz="2700" dirty="0"/>
              <a:t>print("Records inserted........") </a:t>
            </a:r>
          </a:p>
          <a:p>
            <a:r>
              <a:rPr lang="en-US" sz="2700" i="1" dirty="0"/>
              <a:t>#Commit your changes in the database </a:t>
            </a:r>
            <a:endParaRPr lang="en-US" sz="2700" dirty="0"/>
          </a:p>
          <a:p>
            <a:r>
              <a:rPr lang="en-US" sz="2700" dirty="0" err="1"/>
              <a:t>conn.commit</a:t>
            </a:r>
            <a:r>
              <a:rPr lang="en-US" sz="2700" dirty="0"/>
              <a:t>() </a:t>
            </a:r>
          </a:p>
          <a:p>
            <a:r>
              <a:rPr lang="en-US" sz="2700" i="1" dirty="0"/>
              <a:t>#Closing the connection </a:t>
            </a:r>
            <a:endParaRPr lang="en-US" sz="2700" dirty="0"/>
          </a:p>
          <a:p>
            <a:r>
              <a:rPr lang="en-US" sz="2700" dirty="0" err="1"/>
              <a:t>conn.close</a:t>
            </a:r>
            <a:r>
              <a:rPr lang="en-US" sz="2700" dirty="0"/>
              <a:t>()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A2FAE-5739-D898-2123-AA3A97C84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6343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B0193-B183-D228-7DEE-003CE8876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209A9-4143-7EF8-BFAF-A4C9FD274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</a:t>
            </a:r>
            <a:r>
              <a:rPr lang="en-US" dirty="0"/>
              <a:t>ead</a:t>
            </a:r>
            <a:br>
              <a:rPr lang="en-US" dirty="0"/>
            </a:br>
            <a:r>
              <a:rPr lang="en-US" dirty="0"/>
              <a:t>SelectData.py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E2F46-92E9-8B0A-2A7B-C1466EBB8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retrieving data means to fetch some useful information from database</a:t>
            </a:r>
          </a:p>
          <a:p>
            <a:r>
              <a:rPr lang="en-US" dirty="0"/>
              <a:t>can fetch data using fetch() method provided by sqlite3</a:t>
            </a:r>
          </a:p>
          <a:p>
            <a:r>
              <a:rPr lang="en-US" dirty="0"/>
              <a:t>cursor class provides methods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700" i="1" dirty="0" err="1"/>
              <a:t>fetchall</a:t>
            </a:r>
            <a:r>
              <a:rPr lang="en-US" sz="2700" dirty="0"/>
              <a:t>()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700" i="1" dirty="0" err="1"/>
              <a:t>fetchone</a:t>
            </a:r>
            <a:r>
              <a:rPr lang="en-US" sz="2700" dirty="0"/>
              <a:t>()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700" i="1" dirty="0" err="1"/>
              <a:t>fetchmany</a:t>
            </a:r>
            <a:r>
              <a:rPr lang="en-US" sz="2700" dirty="0"/>
              <a:t>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F715A0-E519-421B-CBAE-554DD97D6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6541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0CBA8-E370-7150-4CCC-26D0D35D5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C43AF-0D1D-EF8F-1081-4492E79D2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cursor.fetchall</a:t>
            </a:r>
            <a:r>
              <a:rPr lang="en-US" dirty="0"/>
              <a:t>() 		fetches all the rows of a query result; returns all rows as list of tuples; empty list is returned if there is no record to fetch; if execute this after retrieving some rows, it returns remaining ones</a:t>
            </a:r>
          </a:p>
          <a:p>
            <a:r>
              <a:rPr lang="en-US" dirty="0" err="1"/>
              <a:t>cursor.fetchone</a:t>
            </a:r>
            <a:r>
              <a:rPr lang="en-US" dirty="0"/>
              <a:t>() 	method returns single record or None if no more rows are available</a:t>
            </a:r>
          </a:p>
          <a:p>
            <a:r>
              <a:rPr lang="en-US" dirty="0" err="1"/>
              <a:t>cursor.fetchmany</a:t>
            </a:r>
            <a:r>
              <a:rPr lang="en-US" dirty="0"/>
              <a:t>(size)	returns number of rows specified by size argument; when called repeatedly, this method fetches the next set of rows of query result and returns list of tuples; if no more rows are available, it returns an empty list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2D694A-4EB6-822D-E0BF-843DD09D3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0378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5C6A5-3A7F-455E-802E-7068FBDC4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9AD6D-2119-E987-9844-44808BC6F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SelectData.py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BBC94-F67D-F332-FF29-989575F40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700" i="1" dirty="0"/>
              <a:t>import</a:t>
            </a:r>
            <a:r>
              <a:rPr lang="en-US" sz="2700" dirty="0"/>
              <a:t> sqlite3</a:t>
            </a:r>
          </a:p>
          <a:p>
            <a:r>
              <a:rPr lang="en-US" sz="2700" dirty="0"/>
              <a:t> </a:t>
            </a:r>
            <a:r>
              <a:rPr lang="en-US" sz="2700" i="1" dirty="0"/>
              <a:t># Connect to a database (or create it if it doesn't exist)</a:t>
            </a:r>
            <a:endParaRPr lang="en-US" sz="2700" dirty="0"/>
          </a:p>
          <a:p>
            <a:r>
              <a:rPr lang="en-US" sz="2700" i="1" dirty="0"/>
              <a:t>with</a:t>
            </a:r>
            <a:r>
              <a:rPr lang="en-US" sz="2700" dirty="0"/>
              <a:t> sqlite3.connect('</a:t>
            </a:r>
            <a:r>
              <a:rPr lang="en-US" sz="2700" dirty="0" err="1"/>
              <a:t>example.db</a:t>
            </a:r>
            <a:r>
              <a:rPr lang="en-US" sz="2700" dirty="0"/>
              <a:t>') </a:t>
            </a:r>
            <a:r>
              <a:rPr lang="en-US" sz="2700" i="1" dirty="0"/>
              <a:t>as</a:t>
            </a:r>
            <a:r>
              <a:rPr lang="en-US" sz="2700" dirty="0"/>
              <a:t> conn: </a:t>
            </a:r>
          </a:p>
          <a:p>
            <a:r>
              <a:rPr lang="en-US" sz="2700" i="1" dirty="0"/>
              <a:t># Perform database operations here</a:t>
            </a:r>
            <a:endParaRPr lang="en-US" sz="2700" dirty="0"/>
          </a:p>
          <a:p>
            <a:r>
              <a:rPr lang="en-US" sz="2700" dirty="0"/>
              <a:t>    </a:t>
            </a:r>
            <a:r>
              <a:rPr lang="en-US" sz="2700" dirty="0" err="1"/>
              <a:t>conn.autocommit</a:t>
            </a:r>
            <a:r>
              <a:rPr lang="en-US" sz="2700" dirty="0"/>
              <a:t> </a:t>
            </a:r>
            <a:r>
              <a:rPr lang="en-US" sz="2700" i="1" dirty="0"/>
              <a:t>=</a:t>
            </a:r>
            <a:r>
              <a:rPr lang="en-US" sz="2700" dirty="0"/>
              <a:t> True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C89B90-F9E6-425E-7E67-A8F51517C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4027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5250C-DEF0-B132-4609-195B594A3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1242F-F3C2-08B2-DA0E-1273E064E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SelectData.py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8CF97-CB4F-344F-D6D4-45831358F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07690"/>
            <a:ext cx="11255477" cy="4869273"/>
          </a:xfrm>
        </p:spPr>
        <p:txBody>
          <a:bodyPr>
            <a:noAutofit/>
          </a:bodyPr>
          <a:lstStyle/>
          <a:p>
            <a:r>
              <a:rPr lang="en-US" sz="2400" dirty="0"/>
              <a:t>    cursor </a:t>
            </a:r>
            <a:r>
              <a:rPr lang="en-US" sz="2400" i="1" dirty="0"/>
              <a:t>=</a:t>
            </a:r>
            <a:r>
              <a:rPr lang="en-US" sz="2400" dirty="0"/>
              <a:t> </a:t>
            </a:r>
            <a:r>
              <a:rPr lang="en-US" sz="2400" dirty="0" err="1"/>
              <a:t>conn.cursor</a:t>
            </a:r>
            <a:r>
              <a:rPr lang="en-US" sz="2400" dirty="0"/>
              <a:t>() </a:t>
            </a:r>
          </a:p>
          <a:p>
            <a:r>
              <a:rPr lang="en-US" sz="2400" dirty="0"/>
              <a:t>    </a:t>
            </a:r>
            <a:r>
              <a:rPr lang="en-US" sz="2400" dirty="0" err="1"/>
              <a:t>cursor.execute</a:t>
            </a:r>
            <a:r>
              <a:rPr lang="en-US" sz="2400" dirty="0"/>
              <a:t>('''SELECT * from EMPLOYEE''') </a:t>
            </a:r>
          </a:p>
          <a:p>
            <a:r>
              <a:rPr lang="en-US" sz="2400" dirty="0"/>
              <a:t>    result </a:t>
            </a:r>
            <a:r>
              <a:rPr lang="en-US" sz="2400" i="1" dirty="0"/>
              <a:t>=</a:t>
            </a:r>
            <a:r>
              <a:rPr lang="en-US" sz="2400" dirty="0"/>
              <a:t> </a:t>
            </a:r>
            <a:r>
              <a:rPr lang="en-US" sz="2400" dirty="0" err="1"/>
              <a:t>cursor.fetchone</a:t>
            </a:r>
            <a:r>
              <a:rPr lang="en-US" sz="2400" dirty="0"/>
              <a:t>()</a:t>
            </a:r>
          </a:p>
          <a:p>
            <a:r>
              <a:rPr lang="en-US" sz="2400" dirty="0"/>
              <a:t>    print(result)</a:t>
            </a:r>
          </a:p>
          <a:p>
            <a:r>
              <a:rPr lang="en-US" sz="2400" dirty="0"/>
              <a:t>    result </a:t>
            </a:r>
            <a:r>
              <a:rPr lang="en-US" sz="2400" i="1" dirty="0"/>
              <a:t>=</a:t>
            </a:r>
            <a:r>
              <a:rPr lang="en-US" sz="2400" dirty="0"/>
              <a:t> </a:t>
            </a:r>
            <a:r>
              <a:rPr lang="en-US" sz="2400" dirty="0" err="1"/>
              <a:t>cursor.fetchone</a:t>
            </a:r>
            <a:r>
              <a:rPr lang="en-US" sz="2400" dirty="0"/>
              <a:t>()</a:t>
            </a:r>
          </a:p>
          <a:p>
            <a:r>
              <a:rPr lang="en-US" sz="2400" dirty="0"/>
              <a:t>    print(result)</a:t>
            </a:r>
          </a:p>
          <a:p>
            <a:r>
              <a:rPr lang="en-US" sz="2400" dirty="0"/>
              <a:t>    result </a:t>
            </a:r>
            <a:r>
              <a:rPr lang="en-US" sz="2400" i="1" dirty="0"/>
              <a:t>=</a:t>
            </a:r>
            <a:r>
              <a:rPr lang="en-US" sz="2400" dirty="0"/>
              <a:t> </a:t>
            </a:r>
            <a:r>
              <a:rPr lang="en-US" sz="2400" dirty="0" err="1"/>
              <a:t>cursor.fetchmany</a:t>
            </a:r>
            <a:r>
              <a:rPr lang="en-US" sz="2400" dirty="0"/>
              <a:t>(101)</a:t>
            </a:r>
          </a:p>
          <a:p>
            <a:r>
              <a:rPr lang="en-US" sz="2400" dirty="0"/>
              <a:t>    print(result)</a:t>
            </a:r>
          </a:p>
          <a:p>
            <a:r>
              <a:rPr lang="en-US" sz="2400" dirty="0"/>
              <a:t>    result </a:t>
            </a:r>
            <a:r>
              <a:rPr lang="en-US" sz="2400" i="1" dirty="0"/>
              <a:t>=</a:t>
            </a:r>
            <a:r>
              <a:rPr lang="en-US" sz="2400" dirty="0"/>
              <a:t> </a:t>
            </a:r>
            <a:r>
              <a:rPr lang="en-US" sz="2400" dirty="0" err="1"/>
              <a:t>cursor.fetchall</a:t>
            </a:r>
            <a:r>
              <a:rPr lang="en-US" sz="2400" dirty="0"/>
              <a:t>()</a:t>
            </a:r>
          </a:p>
          <a:p>
            <a:r>
              <a:rPr lang="en-US" sz="2400" dirty="0"/>
              <a:t>    print(result)</a:t>
            </a:r>
          </a:p>
          <a:p>
            <a:r>
              <a:rPr lang="en-US" sz="2400" dirty="0"/>
              <a:t>    </a:t>
            </a:r>
            <a:r>
              <a:rPr lang="en-US" sz="2400" dirty="0" err="1"/>
              <a:t>cursor.execute</a:t>
            </a:r>
            <a:r>
              <a:rPr lang="en-US" sz="2400" dirty="0"/>
              <a:t>('''SELECT * from EMPLOYEE WHERE GENDER = 'M' ''') </a:t>
            </a:r>
          </a:p>
          <a:p>
            <a:r>
              <a:rPr lang="en-US" sz="2400" dirty="0"/>
              <a:t>    result </a:t>
            </a:r>
            <a:r>
              <a:rPr lang="en-US" sz="2400" i="1" dirty="0"/>
              <a:t>=</a:t>
            </a:r>
            <a:r>
              <a:rPr lang="en-US" sz="2400" dirty="0"/>
              <a:t> </a:t>
            </a:r>
            <a:r>
              <a:rPr lang="en-US" sz="2400" dirty="0" err="1"/>
              <a:t>cursor.fetchall</a:t>
            </a:r>
            <a:r>
              <a:rPr lang="en-US" sz="2400" dirty="0"/>
              <a:t>()</a:t>
            </a:r>
          </a:p>
          <a:p>
            <a:r>
              <a:rPr lang="en-US" sz="2400" dirty="0"/>
              <a:t>    print(result)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9C0A9-AD2F-12CD-15E7-994EF7302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1058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30B46-0D3E-BFAB-DAD8-C411F1F1D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F4E80-F165-E56E-C5F2-6F4C190B3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SelectData.py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982B8-6EEA-BF41-2202-F55346911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700" i="1" dirty="0"/>
              <a:t>#Commit your changes in the database </a:t>
            </a:r>
            <a:endParaRPr lang="en-US" sz="2700" dirty="0"/>
          </a:p>
          <a:p>
            <a:r>
              <a:rPr lang="en-US" sz="2700" dirty="0" err="1"/>
              <a:t>conn.commit</a:t>
            </a:r>
            <a:r>
              <a:rPr lang="en-US" sz="2700" dirty="0"/>
              <a:t>() </a:t>
            </a:r>
          </a:p>
          <a:p>
            <a:r>
              <a:rPr lang="en-US" sz="2700" i="1" dirty="0"/>
              <a:t>#Closing the connection </a:t>
            </a:r>
            <a:endParaRPr lang="en-US" sz="2700" dirty="0"/>
          </a:p>
          <a:p>
            <a:r>
              <a:rPr lang="en-US" sz="2700" dirty="0" err="1"/>
              <a:t>conn.close</a:t>
            </a:r>
            <a:r>
              <a:rPr lang="en-US" sz="2700" dirty="0"/>
              <a:t>() </a:t>
            </a:r>
          </a:p>
          <a:p>
            <a:endParaRPr lang="en-US" sz="2700" dirty="0"/>
          </a:p>
          <a:p>
            <a:endParaRPr lang="en-US" sz="27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386A8-82F3-4561-2C6E-3AFEBAD4B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94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2EEA2-56C7-2579-7A6C-488A12AE4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CE8B790-2090-5BC3-0436-03C795F096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914400"/>
            <a:ext cx="10495784" cy="525764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905D02-CD81-F35E-1E21-3ED6945C3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5428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837BA-4380-89BE-CFB8-6C7E0AE8F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F54A8-16F5-056B-C271-551F6EB52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Autofit/>
          </a:bodyPr>
          <a:lstStyle/>
          <a:p>
            <a:r>
              <a:rPr 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US" sz="2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cursor.execute</a:t>
            </a:r>
            <a:r>
              <a:rPr 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('''SELECT * from EMPLOYEE''') </a:t>
            </a:r>
          </a:p>
          <a:p>
            <a:r>
              <a:rPr 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    result </a:t>
            </a:r>
            <a:r>
              <a:rPr lang="en-US" sz="2700" i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cursor.fetchone</a:t>
            </a:r>
            <a:r>
              <a:rPr 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    print(result)</a:t>
            </a:r>
          </a:p>
          <a:p>
            <a:r>
              <a:rPr lang="en-US" sz="2700" dirty="0">
                <a:cs typeface="Courier New" panose="02070309020205020404" pitchFamily="49" charset="0"/>
              </a:rPr>
              <a:t>(1, 'Daniela', 'CRUDU', 27, 'F', 9000.0)</a:t>
            </a:r>
          </a:p>
          <a:p>
            <a:r>
              <a:rPr 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    result </a:t>
            </a:r>
            <a:r>
              <a:rPr lang="en-US" sz="2700" i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cursor.fetchone</a:t>
            </a:r>
            <a:r>
              <a:rPr 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    print(result)</a:t>
            </a:r>
          </a:p>
          <a:p>
            <a:r>
              <a:rPr lang="en-US" sz="2700" dirty="0">
                <a:cs typeface="Courier New" panose="02070309020205020404" pitchFamily="49" charset="0"/>
              </a:rPr>
              <a:t>(2, 'Nina', 'ILIESCU', 99, 'F', 5000.0)</a:t>
            </a:r>
          </a:p>
          <a:p>
            <a:r>
              <a:rPr 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    result </a:t>
            </a:r>
            <a:r>
              <a:rPr lang="en-US" sz="2700" i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cursor.fetchmany</a:t>
            </a:r>
            <a:r>
              <a:rPr 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(101)</a:t>
            </a:r>
          </a:p>
          <a:p>
            <a:r>
              <a:rPr 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    print(result)</a:t>
            </a:r>
          </a:p>
          <a:p>
            <a:r>
              <a:rPr lang="en-US" sz="2700" dirty="0">
                <a:cs typeface="Courier New" panose="02070309020205020404" pitchFamily="49" charset="0"/>
              </a:rPr>
              <a:t>[(3, 'Emil', 'CONSTANTINESCU', 88, 'M', 6000.0), (4, 'Traian', 'BASESCU', 77, 'M', 7000.0), (5, 'Klaus Werner', 'JOHANNIS', 66, 'M', 8000.0), (6, 'Nicusor', 'DAN', 55, 'M', 9000.0)]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FF114-A140-DE72-0EE9-EAE91BC28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6854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4730D-A340-0848-E49B-84E5D8F4B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A706B-22E9-7AB3-1F4C-458C03B4B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9F7C3-F5CD-4A50-28FA-FCCD6D541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486275"/>
          </a:xfrm>
        </p:spPr>
        <p:txBody>
          <a:bodyPr>
            <a:noAutofit/>
          </a:bodyPr>
          <a:lstStyle/>
          <a:p>
            <a:r>
              <a:rPr 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    result </a:t>
            </a:r>
            <a:r>
              <a:rPr lang="en-US" sz="2700" i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cursor.fetchall</a:t>
            </a:r>
            <a:r>
              <a:rPr 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    print(result)</a:t>
            </a:r>
          </a:p>
          <a:p>
            <a:r>
              <a:rPr lang="en-US" sz="2700" dirty="0">
                <a:cs typeface="Courier New" panose="02070309020205020404" pitchFamily="49" charset="0"/>
              </a:rPr>
              <a:t>[]</a:t>
            </a:r>
          </a:p>
          <a:p>
            <a:r>
              <a:rPr 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US" sz="2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cursor.execute</a:t>
            </a:r>
            <a:r>
              <a:rPr 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('''SELECT * from EMPLOYEE WHERE GENDER = 'M' ''') </a:t>
            </a:r>
          </a:p>
          <a:p>
            <a:r>
              <a:rPr 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    result </a:t>
            </a:r>
            <a:r>
              <a:rPr lang="en-US" sz="2700" i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cursor.fetchall</a:t>
            </a:r>
            <a:r>
              <a:rPr 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    print(result)</a:t>
            </a:r>
          </a:p>
          <a:p>
            <a:r>
              <a:rPr lang="en-US" sz="2700" dirty="0">
                <a:cs typeface="Courier New" panose="02070309020205020404" pitchFamily="49" charset="0"/>
              </a:rPr>
              <a:t>[(3, 'Emil', 'CONSTANTINESCU', 88, 'M', 6000.0), (4, 'Traian', 'BASESCU', 77, 'M', 7000.0), (5, 'Klaus Werner', 'JOHANNIS', 66, 'M', 8000.0), (6, 'Nicusor', 'DAN', 55, 'M', 9000.0)]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78BCC-FA72-A80D-0BB0-494C67341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802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774FD-022C-20F3-A914-A0B23C7AF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SelectDataT.py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CAB44-3563-1FD8-6C55-029C0E9A2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with</a:t>
            </a:r>
            <a:r>
              <a:rPr lang="en-US" dirty="0"/>
              <a:t> sqlite3.connect('</a:t>
            </a:r>
            <a:r>
              <a:rPr lang="en-US" dirty="0" err="1"/>
              <a:t>example.db</a:t>
            </a:r>
            <a:r>
              <a:rPr lang="en-US" dirty="0"/>
              <a:t>') </a:t>
            </a:r>
            <a:r>
              <a:rPr lang="en-US" i="1" dirty="0"/>
              <a:t>as</a:t>
            </a:r>
            <a:r>
              <a:rPr lang="en-US" dirty="0"/>
              <a:t> conn: </a:t>
            </a:r>
          </a:p>
          <a:p>
            <a:r>
              <a:rPr lang="en-US" i="1" dirty="0"/>
              <a:t># Perform database operations here</a:t>
            </a:r>
            <a:endParaRPr lang="en-US" dirty="0"/>
          </a:p>
          <a:p>
            <a:r>
              <a:rPr lang="en-US" dirty="0"/>
              <a:t>    </a:t>
            </a:r>
            <a:r>
              <a:rPr lang="en-US" dirty="0" err="1"/>
              <a:t>conn.autocommit</a:t>
            </a:r>
            <a:r>
              <a:rPr lang="en-US" dirty="0"/>
              <a:t> </a:t>
            </a:r>
            <a:r>
              <a:rPr lang="en-US" i="1" dirty="0"/>
              <a:t>=</a:t>
            </a:r>
            <a:r>
              <a:rPr lang="en-US" dirty="0"/>
              <a:t> True </a:t>
            </a:r>
          </a:p>
          <a:p>
            <a:r>
              <a:rPr lang="en-US" dirty="0"/>
              <a:t>    cursor </a:t>
            </a:r>
            <a:r>
              <a:rPr lang="en-US" i="1" dirty="0"/>
              <a:t>=</a:t>
            </a:r>
            <a:r>
              <a:rPr lang="en-US" dirty="0"/>
              <a:t> </a:t>
            </a:r>
            <a:r>
              <a:rPr lang="en-US" dirty="0" err="1"/>
              <a:t>conn.cursor</a:t>
            </a:r>
            <a:r>
              <a:rPr lang="en-US" dirty="0"/>
              <a:t>() </a:t>
            </a:r>
          </a:p>
          <a:p>
            <a:r>
              <a:rPr lang="en-US" dirty="0"/>
              <a:t>    </a:t>
            </a:r>
            <a:r>
              <a:rPr lang="en-US" dirty="0" err="1"/>
              <a:t>cursor.execute</a:t>
            </a:r>
            <a:r>
              <a:rPr lang="en-US" dirty="0"/>
              <a:t>('''SELECT * from EMPLOYEE''') </a:t>
            </a:r>
          </a:p>
          <a:p>
            <a:r>
              <a:rPr lang="en-US" dirty="0"/>
              <a:t>    result </a:t>
            </a:r>
            <a:r>
              <a:rPr lang="en-US" i="1" dirty="0"/>
              <a:t>=</a:t>
            </a:r>
            <a:r>
              <a:rPr lang="en-US" dirty="0"/>
              <a:t> </a:t>
            </a:r>
            <a:r>
              <a:rPr lang="en-US" dirty="0" err="1"/>
              <a:t>cursor.fetchall</a:t>
            </a:r>
            <a:r>
              <a:rPr lang="en-US" dirty="0"/>
              <a:t>()</a:t>
            </a:r>
          </a:p>
          <a:p>
            <a:r>
              <a:rPr lang="en-US" dirty="0"/>
              <a:t>    </a:t>
            </a:r>
            <a:r>
              <a:rPr lang="en-US" i="1" dirty="0"/>
              <a:t>for</a:t>
            </a:r>
            <a:r>
              <a:rPr lang="en-US" dirty="0"/>
              <a:t> row </a:t>
            </a:r>
            <a:r>
              <a:rPr lang="en-US" i="1" dirty="0"/>
              <a:t>in</a:t>
            </a:r>
            <a:r>
              <a:rPr lang="en-US" dirty="0"/>
              <a:t> result:</a:t>
            </a:r>
          </a:p>
          <a:p>
            <a:r>
              <a:rPr lang="en-US" dirty="0"/>
              <a:t>        print(</a:t>
            </a:r>
            <a:r>
              <a:rPr lang="en-US" i="1" dirty="0"/>
              <a:t>f</a:t>
            </a:r>
            <a:r>
              <a:rPr lang="en-US" dirty="0"/>
              <a:t>"{row[1]} {row[2]} is {row[3]} years old")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ED840-831D-D071-CC57-00460317A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889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9D268-B893-00F5-D53B-93A77D629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45E63-8901-40AE-BE84-30304F3F2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Daniela CRUDU is 27 years old</a:t>
            </a:r>
          </a:p>
          <a:p>
            <a:r>
              <a:rPr lang="en-US" dirty="0"/>
              <a:t>Nina ILIESCU is 99 years old</a:t>
            </a:r>
          </a:p>
          <a:p>
            <a:r>
              <a:rPr lang="en-US" dirty="0"/>
              <a:t>Emil CONSTANTINESCU is 88 years old</a:t>
            </a:r>
          </a:p>
          <a:p>
            <a:r>
              <a:rPr lang="en-US" dirty="0"/>
              <a:t>Traian BASESCU is 77 years old</a:t>
            </a:r>
          </a:p>
          <a:p>
            <a:r>
              <a:rPr lang="en-US" dirty="0"/>
              <a:t>Klaus Werner JOHANNIS is 66 years old</a:t>
            </a:r>
          </a:p>
          <a:p>
            <a:r>
              <a:rPr lang="en-US" dirty="0"/>
              <a:t>Nicusor DAN is 55 years old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548E45-967F-A28A-D538-945395D8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621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00B91-D4AD-879C-7C41-2B8A3EB25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9CDD7-76FF-07D0-4F32-D15BFCDD3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default, cursor returns results as tuples</a:t>
            </a:r>
          </a:p>
          <a:p>
            <a:r>
              <a:rPr lang="en-US" dirty="0"/>
              <a:t>can access columns by index, but this can be error-prone</a:t>
            </a:r>
          </a:p>
          <a:p>
            <a:r>
              <a:rPr lang="en-US" dirty="0"/>
              <a:t>to make code more readable, you can use sqlite3.Row row factory: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7712DF-4D27-43D5-B7DC-F2D09CF8A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9435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08BD2-DBBD-3BFC-E190-1F4E74C7B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SelectDataD.py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98ADF-A499-012E-A129-66E5F611C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84974" cy="4351338"/>
          </a:xfrm>
        </p:spPr>
        <p:txBody>
          <a:bodyPr>
            <a:normAutofit fontScale="92500"/>
          </a:bodyPr>
          <a:lstStyle/>
          <a:p>
            <a:r>
              <a:rPr lang="en-US" i="1" dirty="0"/>
              <a:t>with</a:t>
            </a:r>
            <a:r>
              <a:rPr lang="en-US" dirty="0"/>
              <a:t> sqlite3.connect('</a:t>
            </a:r>
            <a:r>
              <a:rPr lang="en-US" dirty="0" err="1"/>
              <a:t>example.db</a:t>
            </a:r>
            <a:r>
              <a:rPr lang="en-US" dirty="0"/>
              <a:t>') </a:t>
            </a:r>
            <a:r>
              <a:rPr lang="en-US" i="1" dirty="0"/>
              <a:t>as</a:t>
            </a:r>
            <a:r>
              <a:rPr lang="en-US" dirty="0"/>
              <a:t> conn: </a:t>
            </a:r>
          </a:p>
          <a:p>
            <a:r>
              <a:rPr lang="en-US" i="1" dirty="0"/>
              <a:t># Perform database operations here</a:t>
            </a:r>
            <a:endParaRPr lang="en-US" dirty="0"/>
          </a:p>
          <a:p>
            <a:r>
              <a:rPr lang="en-US" dirty="0"/>
              <a:t>    </a:t>
            </a:r>
            <a:r>
              <a:rPr lang="en-US" dirty="0" err="1"/>
              <a:t>conn.autocommit</a:t>
            </a:r>
            <a:r>
              <a:rPr lang="en-US" dirty="0"/>
              <a:t> </a:t>
            </a:r>
            <a:r>
              <a:rPr lang="en-US" i="1" dirty="0"/>
              <a:t>=</a:t>
            </a:r>
            <a:r>
              <a:rPr lang="en-US" dirty="0"/>
              <a:t> True </a:t>
            </a:r>
          </a:p>
          <a:p>
            <a:r>
              <a:rPr lang="en-US" dirty="0"/>
              <a:t>    </a:t>
            </a:r>
            <a:r>
              <a:rPr lang="en-US" dirty="0" err="1"/>
              <a:t>conn.row_factory</a:t>
            </a:r>
            <a:r>
              <a:rPr lang="en-US" dirty="0"/>
              <a:t> </a:t>
            </a:r>
            <a:r>
              <a:rPr lang="en-US" i="1" dirty="0"/>
              <a:t>=</a:t>
            </a:r>
            <a:r>
              <a:rPr lang="en-US" dirty="0"/>
              <a:t> sqlite3.Row</a:t>
            </a:r>
          </a:p>
          <a:p>
            <a:r>
              <a:rPr lang="en-US" dirty="0"/>
              <a:t>    cursor </a:t>
            </a:r>
            <a:r>
              <a:rPr lang="en-US" i="1" dirty="0"/>
              <a:t>=</a:t>
            </a:r>
            <a:r>
              <a:rPr lang="en-US" dirty="0"/>
              <a:t> </a:t>
            </a:r>
            <a:r>
              <a:rPr lang="en-US" dirty="0" err="1"/>
              <a:t>conn.cursor</a:t>
            </a:r>
            <a:r>
              <a:rPr lang="en-US" dirty="0"/>
              <a:t>() </a:t>
            </a:r>
          </a:p>
          <a:p>
            <a:r>
              <a:rPr lang="en-US" dirty="0"/>
              <a:t>    </a:t>
            </a:r>
            <a:r>
              <a:rPr lang="en-US" dirty="0" err="1"/>
              <a:t>cursor.execute</a:t>
            </a:r>
            <a:r>
              <a:rPr lang="en-US" dirty="0"/>
              <a:t>('''SELECT * from EMPLOYEE''') </a:t>
            </a:r>
          </a:p>
          <a:p>
            <a:r>
              <a:rPr lang="en-US" dirty="0"/>
              <a:t>    result </a:t>
            </a:r>
            <a:r>
              <a:rPr lang="en-US" i="1" dirty="0"/>
              <a:t>=</a:t>
            </a:r>
            <a:r>
              <a:rPr lang="en-US" dirty="0"/>
              <a:t> </a:t>
            </a:r>
            <a:r>
              <a:rPr lang="en-US" dirty="0" err="1"/>
              <a:t>cursor.fetchall</a:t>
            </a:r>
            <a:r>
              <a:rPr lang="en-US" dirty="0"/>
              <a:t>()</a:t>
            </a:r>
          </a:p>
          <a:p>
            <a:r>
              <a:rPr lang="en-US" dirty="0"/>
              <a:t>    </a:t>
            </a:r>
            <a:r>
              <a:rPr lang="en-US" i="1" dirty="0"/>
              <a:t>for</a:t>
            </a:r>
            <a:r>
              <a:rPr lang="en-US" dirty="0"/>
              <a:t> row </a:t>
            </a:r>
            <a:r>
              <a:rPr lang="en-US" i="1" dirty="0"/>
              <a:t>in</a:t>
            </a:r>
            <a:r>
              <a:rPr lang="en-US" dirty="0"/>
              <a:t> result:</a:t>
            </a:r>
          </a:p>
          <a:p>
            <a:r>
              <a:rPr lang="en-US" dirty="0"/>
              <a:t>        print(</a:t>
            </a:r>
            <a:r>
              <a:rPr lang="en-US" i="1" dirty="0"/>
              <a:t>f</a:t>
            </a:r>
            <a:r>
              <a:rPr lang="en-US" dirty="0"/>
              <a:t>"{row['FIRST_NAME']} {row['LAST_NAME']} is {row['AGE']} years old")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8EE09-817F-FCF1-CB54-77FFBB75B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3220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E42B1-F338-C980-3914-CACE18378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7BE7A-9DDC-4C9D-E59C-AEDE0FC63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</a:t>
            </a:r>
            <a:r>
              <a:rPr lang="en-US" dirty="0"/>
              <a:t>pdate UpdateData.py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5D256-F2F2-56E1-4D52-6435529A2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8529"/>
            <a:ext cx="10515600" cy="4918434"/>
          </a:xfrm>
        </p:spPr>
        <p:txBody>
          <a:bodyPr>
            <a:noAutofit/>
          </a:bodyPr>
          <a:lstStyle/>
          <a:p>
            <a:r>
              <a:rPr lang="en-US" sz="2400" i="1" dirty="0"/>
              <a:t>import</a:t>
            </a:r>
            <a:r>
              <a:rPr lang="en-US" sz="2400" dirty="0"/>
              <a:t> sqlite3</a:t>
            </a:r>
          </a:p>
          <a:p>
            <a:r>
              <a:rPr lang="en-US" sz="2400" dirty="0"/>
              <a:t> </a:t>
            </a:r>
            <a:r>
              <a:rPr lang="en-US" sz="2400" i="1" dirty="0"/>
              <a:t># Connect to a database (or create it if it doesn't exist)</a:t>
            </a:r>
            <a:endParaRPr lang="en-US" sz="2400" dirty="0"/>
          </a:p>
          <a:p>
            <a:r>
              <a:rPr lang="en-US" sz="2700" i="1" dirty="0"/>
              <a:t>with</a:t>
            </a:r>
            <a:r>
              <a:rPr lang="en-US" sz="2700" dirty="0"/>
              <a:t> sqlite3.connect('</a:t>
            </a:r>
            <a:r>
              <a:rPr lang="en-US" sz="2700" dirty="0" err="1"/>
              <a:t>example.db</a:t>
            </a:r>
            <a:r>
              <a:rPr lang="en-US" sz="2700" dirty="0"/>
              <a:t>') </a:t>
            </a:r>
            <a:r>
              <a:rPr lang="en-US" sz="2700" i="1" dirty="0"/>
              <a:t>as</a:t>
            </a:r>
            <a:r>
              <a:rPr lang="en-US" sz="2700" dirty="0"/>
              <a:t> conn: </a:t>
            </a:r>
          </a:p>
          <a:p>
            <a:r>
              <a:rPr lang="en-US" sz="2700" i="1" dirty="0"/>
              <a:t># Perform database operations here</a:t>
            </a:r>
            <a:endParaRPr lang="en-US" sz="2700" dirty="0"/>
          </a:p>
          <a:p>
            <a:r>
              <a:rPr lang="en-US" sz="2700" dirty="0"/>
              <a:t>    </a:t>
            </a:r>
            <a:r>
              <a:rPr lang="en-US" sz="2700" dirty="0" err="1"/>
              <a:t>conn.autocommit</a:t>
            </a:r>
            <a:r>
              <a:rPr lang="en-US" sz="2700" dirty="0"/>
              <a:t> </a:t>
            </a:r>
            <a:r>
              <a:rPr lang="en-US" sz="2700" i="1" dirty="0"/>
              <a:t>=</a:t>
            </a:r>
            <a:r>
              <a:rPr lang="en-US" sz="2700" dirty="0"/>
              <a:t> True </a:t>
            </a:r>
          </a:p>
          <a:p>
            <a:r>
              <a:rPr lang="en-US" sz="2700" dirty="0"/>
              <a:t>    cursor </a:t>
            </a:r>
            <a:r>
              <a:rPr lang="en-US" sz="2700" i="1" dirty="0"/>
              <a:t>=</a:t>
            </a:r>
            <a:r>
              <a:rPr lang="en-US" sz="2700" dirty="0"/>
              <a:t> </a:t>
            </a:r>
            <a:r>
              <a:rPr lang="en-US" sz="2700" dirty="0" err="1"/>
              <a:t>conn.cursor</a:t>
            </a:r>
            <a:r>
              <a:rPr lang="en-US" sz="2700" dirty="0"/>
              <a:t>() </a:t>
            </a:r>
          </a:p>
          <a:p>
            <a:r>
              <a:rPr lang="en-US" sz="1600" dirty="0"/>
              <a:t> </a:t>
            </a:r>
          </a:p>
          <a:p>
            <a:r>
              <a:rPr lang="en-US" sz="2700" i="1" dirty="0"/>
              <a:t>#Fetching all the rows before the update </a:t>
            </a:r>
            <a:endParaRPr lang="en-US" sz="2700" dirty="0"/>
          </a:p>
          <a:p>
            <a:r>
              <a:rPr lang="en-US" sz="2700" dirty="0"/>
              <a:t>    print("Contents of the Employee table - Before") </a:t>
            </a:r>
          </a:p>
          <a:p>
            <a:r>
              <a:rPr lang="en-US" sz="2700" dirty="0"/>
              <a:t>    </a:t>
            </a:r>
            <a:r>
              <a:rPr lang="en-US" sz="2700" dirty="0" err="1"/>
              <a:t>sql</a:t>
            </a:r>
            <a:r>
              <a:rPr lang="en-US" sz="2700" dirty="0"/>
              <a:t> </a:t>
            </a:r>
            <a:r>
              <a:rPr lang="en-US" sz="2700" i="1" dirty="0"/>
              <a:t>=</a:t>
            </a:r>
            <a:r>
              <a:rPr lang="en-US" sz="2700" dirty="0"/>
              <a:t> '''SELECT * from EMPLOYEE''' </a:t>
            </a:r>
          </a:p>
          <a:p>
            <a:r>
              <a:rPr lang="en-US" sz="2700" dirty="0"/>
              <a:t>    </a:t>
            </a:r>
            <a:r>
              <a:rPr lang="en-US" sz="2700" dirty="0" err="1"/>
              <a:t>cursor.execute</a:t>
            </a:r>
            <a:r>
              <a:rPr lang="en-US" sz="2700" dirty="0"/>
              <a:t>(</a:t>
            </a:r>
            <a:r>
              <a:rPr lang="en-US" sz="2700" dirty="0" err="1"/>
              <a:t>sql</a:t>
            </a:r>
            <a:r>
              <a:rPr lang="en-US" sz="2700" dirty="0"/>
              <a:t>) </a:t>
            </a:r>
          </a:p>
          <a:p>
            <a:r>
              <a:rPr lang="en-US" sz="2700" dirty="0"/>
              <a:t>    print(</a:t>
            </a:r>
            <a:r>
              <a:rPr lang="en-US" sz="2700" dirty="0" err="1"/>
              <a:t>cursor.fetchall</a:t>
            </a:r>
            <a:r>
              <a:rPr lang="en-US" sz="2700" dirty="0"/>
              <a:t>())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DC4A44-DE13-6D87-331E-D28B13D93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6862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D6312-404F-C471-EBB2-9D1C969B9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6EAFB-8642-E9AB-2A40-2DB10DE20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UpdateData.py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3DC82-91D2-6369-D2C2-5F2F0B5F7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9303"/>
            <a:ext cx="10515600" cy="4377660"/>
          </a:xfrm>
        </p:spPr>
        <p:txBody>
          <a:bodyPr>
            <a:noAutofit/>
          </a:bodyPr>
          <a:lstStyle/>
          <a:p>
            <a:r>
              <a:rPr lang="en-US" i="1" dirty="0"/>
              <a:t>#Updating the records </a:t>
            </a:r>
            <a:endParaRPr lang="en-US" dirty="0"/>
          </a:p>
          <a:p>
            <a:r>
              <a:rPr lang="en-US" dirty="0"/>
              <a:t>    </a:t>
            </a:r>
            <a:r>
              <a:rPr lang="en-US" dirty="0" err="1"/>
              <a:t>sql</a:t>
            </a:r>
            <a:r>
              <a:rPr lang="en-US" dirty="0"/>
              <a:t> </a:t>
            </a:r>
            <a:r>
              <a:rPr lang="en-US" i="1" dirty="0"/>
              <a:t>=</a:t>
            </a:r>
            <a:r>
              <a:rPr lang="en-US" dirty="0"/>
              <a:t> "UPDATE EMPLOYEE SET AGE = AGE + 1 			WHERE GENDER = 'M'" </a:t>
            </a:r>
          </a:p>
          <a:p>
            <a:r>
              <a:rPr lang="en-US" dirty="0"/>
              <a:t>    </a:t>
            </a:r>
            <a:r>
              <a:rPr lang="en-US" dirty="0" err="1"/>
              <a:t>cursor.execute</a:t>
            </a:r>
            <a:r>
              <a:rPr lang="en-US" dirty="0"/>
              <a:t>(</a:t>
            </a:r>
            <a:r>
              <a:rPr lang="en-US" dirty="0" err="1"/>
              <a:t>sql</a:t>
            </a:r>
            <a:r>
              <a:rPr lang="en-US" dirty="0"/>
              <a:t>) </a:t>
            </a:r>
          </a:p>
          <a:p>
            <a:r>
              <a:rPr lang="en-US" dirty="0"/>
              <a:t>    print("Table updated...... ")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EE08F-47BD-84AF-16E5-1ACE64EAA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2402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F70C1-7ED8-0BB5-91E5-6D91FAC89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82C7B-9D42-114F-3691-F1B90D55E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700" i="1" dirty="0"/>
              <a:t>#Fetching all the rows after the update </a:t>
            </a:r>
            <a:endParaRPr lang="en-US" sz="2700" dirty="0"/>
          </a:p>
          <a:p>
            <a:r>
              <a:rPr lang="en-US" sz="2700" dirty="0"/>
              <a:t>    print("Contents of the Employee table - After update operation: ") </a:t>
            </a:r>
          </a:p>
          <a:p>
            <a:r>
              <a:rPr lang="en-US" sz="2700" dirty="0"/>
              <a:t>    </a:t>
            </a:r>
            <a:r>
              <a:rPr lang="en-US" sz="2700" dirty="0" err="1"/>
              <a:t>sql</a:t>
            </a:r>
            <a:r>
              <a:rPr lang="en-US" sz="2700" dirty="0"/>
              <a:t> </a:t>
            </a:r>
            <a:r>
              <a:rPr lang="en-US" sz="2700" i="1" dirty="0"/>
              <a:t>=</a:t>
            </a:r>
            <a:r>
              <a:rPr lang="en-US" sz="2700" dirty="0"/>
              <a:t> '''SELECT * from EMPLOYEE''' </a:t>
            </a:r>
          </a:p>
          <a:p>
            <a:r>
              <a:rPr lang="en-US" sz="2700" dirty="0"/>
              <a:t>    </a:t>
            </a:r>
            <a:r>
              <a:rPr lang="en-US" sz="2700" dirty="0" err="1"/>
              <a:t>cursor.execute</a:t>
            </a:r>
            <a:r>
              <a:rPr lang="en-US" sz="2700" dirty="0"/>
              <a:t>(</a:t>
            </a:r>
            <a:r>
              <a:rPr lang="en-US" sz="2700" dirty="0" err="1"/>
              <a:t>sql</a:t>
            </a:r>
            <a:r>
              <a:rPr lang="en-US" sz="2700" dirty="0"/>
              <a:t>) </a:t>
            </a:r>
          </a:p>
          <a:p>
            <a:r>
              <a:rPr lang="en-US" sz="2700" dirty="0"/>
              <a:t>    print(</a:t>
            </a:r>
            <a:r>
              <a:rPr lang="en-US" sz="2700" dirty="0" err="1"/>
              <a:t>cursor.fetchall</a:t>
            </a:r>
            <a:r>
              <a:rPr lang="en-US" sz="2700" dirty="0"/>
              <a:t>()) </a:t>
            </a:r>
          </a:p>
          <a:p>
            <a:endParaRPr lang="en-US" sz="1600" dirty="0"/>
          </a:p>
          <a:p>
            <a:r>
              <a:rPr lang="en-US" sz="2700" i="1" dirty="0"/>
              <a:t>#Commit your changes in the database </a:t>
            </a:r>
            <a:endParaRPr lang="en-US" sz="2700" dirty="0"/>
          </a:p>
          <a:p>
            <a:r>
              <a:rPr lang="en-US" sz="2700" dirty="0" err="1"/>
              <a:t>conn.commit</a:t>
            </a:r>
            <a:r>
              <a:rPr lang="en-US" sz="2700" dirty="0"/>
              <a:t>() </a:t>
            </a:r>
          </a:p>
          <a:p>
            <a:r>
              <a:rPr lang="en-US" sz="2700" i="1" dirty="0"/>
              <a:t>#Closing the connection </a:t>
            </a:r>
            <a:endParaRPr lang="en-US" sz="2700" dirty="0"/>
          </a:p>
          <a:p>
            <a:r>
              <a:rPr lang="en-US" sz="2700" dirty="0" err="1"/>
              <a:t>conn.close</a:t>
            </a:r>
            <a:r>
              <a:rPr lang="en-US" sz="2700" dirty="0"/>
              <a:t>()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881AC3-4AE6-8A24-FEEF-699B143F1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1376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40576-B96E-7BA8-74B4-9C2AE0FCD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B6C73-74A0-11B6-7604-BA9BE3652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</a:t>
            </a:r>
            <a:br>
              <a:rPr lang="en-US" dirty="0"/>
            </a:br>
            <a:r>
              <a:rPr lang="en-US" dirty="0"/>
              <a:t>UpdateData.py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8659F-B0A5-3848-1874-47FBB913E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700" dirty="0"/>
              <a:t>&gt; </a:t>
            </a:r>
            <a:r>
              <a:rPr 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python UpdateData.py</a:t>
            </a:r>
          </a:p>
          <a:p>
            <a:r>
              <a:rPr lang="en-US" sz="2700" dirty="0"/>
              <a:t>Contents of the Employee table:</a:t>
            </a:r>
          </a:p>
          <a:p>
            <a:r>
              <a:rPr lang="en-US" sz="2600" dirty="0"/>
              <a:t>[(1, 'Daniela', 'CRUDU', 27, 'F', 9000.0), (2, 'Nina', 'ILIESCU', 99, 'F', 5000.0), (3, 'Emil', 'CONSTANTINESCU', 88, 'M', 6000.0), (4, 'Traian', 'BASESCU', 77, 'M', 7000.0), (5, 'Klaus Werner', 'JOHANNIS', 66, 'M', 8000.0), (6, 'Nicusor', 'DAN', 55, 'M', 9000.0)]</a:t>
            </a:r>
          </a:p>
          <a:p>
            <a:r>
              <a:rPr lang="en-US" sz="2700" dirty="0"/>
              <a:t>Table updated......</a:t>
            </a:r>
          </a:p>
          <a:p>
            <a:r>
              <a:rPr lang="en-US" sz="2700" dirty="0"/>
              <a:t>Contents of the Employee table after the update operation:</a:t>
            </a:r>
          </a:p>
          <a:p>
            <a:r>
              <a:rPr lang="en-US" sz="2700" dirty="0"/>
              <a:t>[(1, 'Daniela', 'CRUDU', 27, 'F', 9000.0), (2, 'Nina', 'ILIESCU', 99, 'F', 5000.0), (3, 'Emil', 'CONSTANTINESCU', 89, 'M', 6000.0), (4, 'Traian', 'BASESCU', 78, 'M', 7000.0), (5, 'Klaus Werner', 'JOHANNIS', 67, 'M', 8000.0), (6, 'Nicusor', 'DAN', 56, 'M', 9000.0)]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3C705-CBBD-495A-F9F4-BB87C384B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7366-504E-45F7-8B1A-89758386958D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9678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751C0-4CE0-913D-C59A-8EEC80551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</a:t>
            </a:r>
            <a:r>
              <a:rPr lang="en-US" dirty="0"/>
              <a:t>elete</a:t>
            </a:r>
            <a:br>
              <a:rPr lang="en-US" dirty="0"/>
            </a:br>
            <a:r>
              <a:rPr lang="en-US" dirty="0"/>
              <a:t>DeleteData.py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FA4AA-FA30-7D41-FEA1-67A08E7BF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9D732-B4E0-CAA5-F8D8-29E45A2D5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3243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DBEB4-DFDC-3DC1-A0CE-BB7DAE551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Parameterized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7F105-5FBA-B117-9EA7-C2D4F9126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 and security avoiding SQL injection with parameterized queries </a:t>
            </a:r>
          </a:p>
          <a:p>
            <a:r>
              <a:rPr lang="en-US" dirty="0"/>
              <a:t>SQL injection is a serious security vulnerability that can occur when user input is directly incorporated into SQL queries without proper sanitization</a:t>
            </a:r>
          </a:p>
          <a:p>
            <a:r>
              <a:rPr lang="en-US" dirty="0"/>
              <a:t>can allow malicious users to manipulate or access unauthorized data</a:t>
            </a:r>
          </a:p>
          <a:p>
            <a:r>
              <a:rPr lang="en-US" dirty="0"/>
              <a:t>simple and effective way to prevent SQL injection through parameterized queries - use placeholders in SQL statement for values, and these values are provided separately; approach ensures that input is properly escaped and treated as data, not as part of SQL command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7322E-AF37-8694-CE39-C1A3083E8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9200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EB4B4-11FF-8558-03E8-5286554ED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72002-3B72-C05B-1145-C832FB278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unsafe method (vulnerable to SQL injection): </a:t>
            </a:r>
          </a:p>
          <a:p>
            <a:r>
              <a:rPr lang="en-US" dirty="0" err="1"/>
              <a:t>user_input</a:t>
            </a:r>
            <a:r>
              <a:rPr lang="en-US" dirty="0"/>
              <a:t> = "O'Toole" </a:t>
            </a:r>
          </a:p>
          <a:p>
            <a:r>
              <a:rPr lang="en-US" dirty="0"/>
              <a:t># This could be malicious input </a:t>
            </a:r>
          </a:p>
          <a:p>
            <a:r>
              <a:rPr lang="en-US" dirty="0" err="1"/>
              <a:t>cursor.execute</a:t>
            </a:r>
            <a:r>
              <a:rPr lang="en-US" dirty="0"/>
              <a:t>(</a:t>
            </a:r>
            <a:r>
              <a:rPr lang="en-US" dirty="0" err="1"/>
              <a:t>f"SELECT</a:t>
            </a:r>
            <a:r>
              <a:rPr lang="en-US" dirty="0"/>
              <a:t> * FROM users WHERE name = '{</a:t>
            </a:r>
            <a:r>
              <a:rPr lang="en-US" dirty="0" err="1"/>
              <a:t>user_input</a:t>
            </a:r>
            <a:r>
              <a:rPr lang="en-US" dirty="0"/>
              <a:t>}’”) </a:t>
            </a:r>
          </a:p>
          <a:p>
            <a:r>
              <a:rPr lang="en-US" dirty="0"/>
              <a:t>if malicious user provides input like "O'Toole' OR '1'='1" , resulting query would be: SELECT * FROM users WHERE name = 'O'Toole' OR '1'='1’ this would return all users, potentially exposing sensitive data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39A838-A7D5-C27E-A5A2-44BC31912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004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BEF4C-4B9F-563D-48C5-E1695BF07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3F50B-4DB1-3640-9C24-7A189E3DFA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Safe method (using parameterized query): </a:t>
            </a:r>
          </a:p>
          <a:p>
            <a:r>
              <a:rPr lang="en-US" dirty="0" err="1"/>
              <a:t>user_input</a:t>
            </a:r>
            <a:r>
              <a:rPr lang="en-US" dirty="0"/>
              <a:t> = "O'Toole" </a:t>
            </a:r>
          </a:p>
          <a:p>
            <a:r>
              <a:rPr lang="en-US" dirty="0" err="1"/>
              <a:t>cursor.execute</a:t>
            </a:r>
            <a:r>
              <a:rPr lang="en-US" dirty="0"/>
              <a:t>("SELECT * FROM users WHERE name = ?", (</a:t>
            </a:r>
            <a:r>
              <a:rPr lang="en-US" dirty="0" err="1"/>
              <a:t>user_input</a:t>
            </a:r>
            <a:r>
              <a:rPr lang="en-US" dirty="0"/>
              <a:t>,)) </a:t>
            </a:r>
          </a:p>
          <a:p>
            <a:r>
              <a:rPr lang="en-US" dirty="0"/>
              <a:t>in this case, even if user input contains quotes or other SQL special characters, they will be properly escaped and treated as literal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862E7E-73FF-4C62-A67C-F3B77277E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6922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5659C-5818-2FAD-639C-58F704F99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ABF0A-2C0F-2A7A-7165-45A8E76EB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34368" cy="4351338"/>
          </a:xfrm>
        </p:spPr>
        <p:txBody>
          <a:bodyPr/>
          <a:lstStyle/>
          <a:p>
            <a:r>
              <a:rPr lang="en-US" dirty="0"/>
              <a:t>two styles of placeholders: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question mark style: uses ? as a placeholder</a:t>
            </a:r>
          </a:p>
          <a:p>
            <a:pPr lvl="1"/>
            <a:r>
              <a:rPr lang="en-US" dirty="0" err="1"/>
              <a:t>cursor.execute</a:t>
            </a:r>
            <a:r>
              <a:rPr lang="en-US" dirty="0"/>
              <a:t>("INSERT INTO users (name, age) VALUES (?, ?)", ("Alice", 30))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named parameter style: uses :name or :1 style named placeholders. </a:t>
            </a:r>
          </a:p>
          <a:p>
            <a:pPr lvl="1"/>
            <a:r>
              <a:rPr lang="en-US" dirty="0" err="1"/>
              <a:t>cursor.execute</a:t>
            </a:r>
            <a:r>
              <a:rPr lang="en-US" dirty="0"/>
              <a:t>("INSERT INTO users (name, age) VALUES (:name, :age)", {"name": "Bob", "age": 25})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FCE94-9ED5-E462-6DF5-56EB7A0DF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4346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904FB-2CC9-C5FA-A801-A8B67FAB0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DeleteData.py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25D2E-5319-3A24-E875-80C0113B7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76819" cy="4351338"/>
          </a:xfrm>
        </p:spPr>
        <p:txBody>
          <a:bodyPr>
            <a:noAutofit/>
          </a:bodyPr>
          <a:lstStyle/>
          <a:p>
            <a:r>
              <a:rPr lang="en-US" sz="2400" i="1" dirty="0"/>
              <a:t>import</a:t>
            </a:r>
            <a:r>
              <a:rPr lang="en-US" sz="2400" dirty="0"/>
              <a:t> sqlite3</a:t>
            </a:r>
          </a:p>
          <a:p>
            <a:r>
              <a:rPr lang="en-US" sz="2400" dirty="0"/>
              <a:t> </a:t>
            </a:r>
            <a:r>
              <a:rPr lang="en-US" sz="2400" i="1" dirty="0"/>
              <a:t># Connect to a database (or create it if it doesn't exist)</a:t>
            </a:r>
            <a:endParaRPr lang="en-US" sz="2400" dirty="0"/>
          </a:p>
          <a:p>
            <a:r>
              <a:rPr lang="en-US" sz="2400" i="1" dirty="0"/>
              <a:t># input</a:t>
            </a:r>
            <a:endParaRPr lang="en-US" sz="2400" dirty="0"/>
          </a:p>
          <a:p>
            <a:r>
              <a:rPr lang="en-US" sz="2400" dirty="0"/>
              <a:t>print(</a:t>
            </a:r>
            <a:r>
              <a:rPr lang="en-US" sz="2400" i="1" dirty="0" err="1"/>
              <a:t>f</a:t>
            </a:r>
            <a:r>
              <a:rPr lang="en-US" sz="2400" dirty="0" err="1"/>
              <a:t>"Enter</a:t>
            </a:r>
            <a:r>
              <a:rPr lang="en-US" sz="2400" dirty="0"/>
              <a:t> Age limit:")</a:t>
            </a:r>
          </a:p>
          <a:p>
            <a:r>
              <a:rPr lang="en-US" sz="2400" dirty="0" err="1"/>
              <a:t>inputAge</a:t>
            </a:r>
            <a:r>
              <a:rPr lang="en-US" sz="2400" dirty="0"/>
              <a:t> </a:t>
            </a:r>
            <a:r>
              <a:rPr lang="en-US" sz="2400" i="1" dirty="0"/>
              <a:t>=</a:t>
            </a:r>
            <a:r>
              <a:rPr lang="en-US" sz="2400" dirty="0"/>
              <a:t> input()</a:t>
            </a:r>
          </a:p>
          <a:p>
            <a:r>
              <a:rPr lang="en-US" sz="2400" dirty="0"/>
              <a:t>print(</a:t>
            </a:r>
            <a:r>
              <a:rPr lang="en-US" sz="2400" i="1" dirty="0" err="1"/>
              <a:t>f</a:t>
            </a:r>
            <a:r>
              <a:rPr lang="en-US" sz="2400" dirty="0" err="1"/>
              <a:t>"Enter</a:t>
            </a:r>
            <a:r>
              <a:rPr lang="en-US" sz="2400" dirty="0"/>
              <a:t> Income limit:")</a:t>
            </a:r>
          </a:p>
          <a:p>
            <a:r>
              <a:rPr lang="en-US" sz="2400" dirty="0" err="1"/>
              <a:t>inputIncome</a:t>
            </a:r>
            <a:r>
              <a:rPr lang="en-US" sz="2400" dirty="0"/>
              <a:t> </a:t>
            </a:r>
            <a:r>
              <a:rPr lang="en-US" sz="2400" i="1" dirty="0"/>
              <a:t>=</a:t>
            </a:r>
            <a:r>
              <a:rPr lang="en-US" sz="2400" dirty="0"/>
              <a:t> input()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41FD81-9A90-3116-B416-FDA902545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275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8D88-D86C-8EBF-BA2E-B28D0ADC2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79847-646B-D300-2D07-EE046FA9A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DeleteData.py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C5819-27B1-FE05-EED9-BC6EBBA22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76819" cy="4351338"/>
          </a:xfrm>
        </p:spPr>
        <p:txBody>
          <a:bodyPr>
            <a:noAutofit/>
          </a:bodyPr>
          <a:lstStyle/>
          <a:p>
            <a:r>
              <a:rPr lang="en-US" sz="2400" i="1" dirty="0"/>
              <a:t>with</a:t>
            </a:r>
            <a:r>
              <a:rPr lang="en-US" sz="2400" dirty="0"/>
              <a:t> sqlite3.connect('</a:t>
            </a:r>
            <a:r>
              <a:rPr lang="en-US" sz="2400" dirty="0" err="1"/>
              <a:t>example.db</a:t>
            </a:r>
            <a:r>
              <a:rPr lang="en-US" sz="2400" dirty="0"/>
              <a:t>') </a:t>
            </a:r>
            <a:r>
              <a:rPr lang="en-US" sz="2400" i="1" dirty="0"/>
              <a:t>as</a:t>
            </a:r>
            <a:r>
              <a:rPr lang="en-US" sz="2400" dirty="0"/>
              <a:t> conn: </a:t>
            </a:r>
          </a:p>
          <a:p>
            <a:r>
              <a:rPr lang="en-US" sz="2400" i="1" dirty="0"/>
              <a:t># Perform database operations here</a:t>
            </a:r>
            <a:endParaRPr lang="en-US" sz="2400" dirty="0"/>
          </a:p>
          <a:p>
            <a:r>
              <a:rPr lang="en-US" sz="2400" dirty="0"/>
              <a:t>    </a:t>
            </a:r>
            <a:r>
              <a:rPr lang="en-US" sz="2400" dirty="0" err="1"/>
              <a:t>conn.autocommit</a:t>
            </a:r>
            <a:r>
              <a:rPr lang="en-US" sz="2400" dirty="0"/>
              <a:t> </a:t>
            </a:r>
            <a:r>
              <a:rPr lang="en-US" sz="2400" i="1" dirty="0"/>
              <a:t>=</a:t>
            </a:r>
            <a:r>
              <a:rPr lang="en-US" sz="2400" dirty="0"/>
              <a:t> True </a:t>
            </a:r>
          </a:p>
          <a:p>
            <a:r>
              <a:rPr lang="en-US" sz="2400" dirty="0"/>
              <a:t>    cursor </a:t>
            </a:r>
            <a:r>
              <a:rPr lang="en-US" sz="2400" i="1" dirty="0"/>
              <a:t>=</a:t>
            </a:r>
            <a:r>
              <a:rPr lang="en-US" sz="2400" dirty="0"/>
              <a:t> </a:t>
            </a:r>
            <a:r>
              <a:rPr lang="en-US" sz="2400" dirty="0" err="1"/>
              <a:t>conn.cursor</a:t>
            </a:r>
            <a:r>
              <a:rPr lang="en-US" sz="2400" dirty="0"/>
              <a:t>() </a:t>
            </a:r>
          </a:p>
          <a:p>
            <a:r>
              <a:rPr lang="en-US" sz="1600" dirty="0"/>
              <a:t> </a:t>
            </a:r>
          </a:p>
          <a:p>
            <a:r>
              <a:rPr lang="en-US" sz="2400" i="1" dirty="0"/>
              <a:t>#Fetching all the rows before the update </a:t>
            </a:r>
            <a:endParaRPr lang="en-US" sz="2400" dirty="0"/>
          </a:p>
          <a:p>
            <a:r>
              <a:rPr lang="en-US" sz="2400" dirty="0"/>
              <a:t>    print("Contents of the Employee table - Before") </a:t>
            </a:r>
          </a:p>
          <a:p>
            <a:r>
              <a:rPr lang="en-US" sz="2400" dirty="0"/>
              <a:t>    </a:t>
            </a:r>
            <a:r>
              <a:rPr lang="en-US" sz="2400" dirty="0" err="1"/>
              <a:t>sql</a:t>
            </a:r>
            <a:r>
              <a:rPr lang="en-US" sz="2400" dirty="0"/>
              <a:t> </a:t>
            </a:r>
            <a:r>
              <a:rPr lang="en-US" sz="2400" i="1" dirty="0"/>
              <a:t>=</a:t>
            </a:r>
            <a:r>
              <a:rPr lang="en-US" sz="2400" dirty="0"/>
              <a:t> '''SELECT * from EMPLOYEE''' </a:t>
            </a:r>
          </a:p>
          <a:p>
            <a:r>
              <a:rPr lang="en-US" sz="2400" dirty="0"/>
              <a:t>    </a:t>
            </a:r>
            <a:r>
              <a:rPr lang="en-US" sz="2400" dirty="0" err="1"/>
              <a:t>cursor.execute</a:t>
            </a:r>
            <a:r>
              <a:rPr lang="en-US" sz="2400" dirty="0"/>
              <a:t>(</a:t>
            </a:r>
            <a:r>
              <a:rPr lang="en-US" sz="2400" dirty="0" err="1"/>
              <a:t>sql</a:t>
            </a:r>
            <a:r>
              <a:rPr lang="en-US" sz="2400" dirty="0"/>
              <a:t>) </a:t>
            </a:r>
          </a:p>
          <a:p>
            <a:r>
              <a:rPr lang="en-US" sz="2400" dirty="0"/>
              <a:t>    print(</a:t>
            </a:r>
            <a:r>
              <a:rPr lang="en-US" sz="2400" dirty="0" err="1"/>
              <a:t>cursor.fetchall</a:t>
            </a:r>
            <a:r>
              <a:rPr lang="en-US" sz="2400" dirty="0"/>
              <a:t>()) 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6D5C9-EDEC-6D41-2F62-F7EE5AAB1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3159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C0284-B90B-83C9-5211-6028428F8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726E9-B4A6-1CF2-22B7-76371812A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DeleteData.py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1B33B-B59E-7263-937C-65D9B2FC4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76819" cy="4351338"/>
          </a:xfrm>
        </p:spPr>
        <p:txBody>
          <a:bodyPr/>
          <a:lstStyle/>
          <a:p>
            <a:endParaRPr lang="en-US" sz="2700" i="1" dirty="0"/>
          </a:p>
          <a:p>
            <a:endParaRPr lang="en-US" sz="2700" i="1" dirty="0"/>
          </a:p>
          <a:p>
            <a:r>
              <a:rPr lang="en-US" sz="2700" i="1" dirty="0"/>
              <a:t>#Deleting the records </a:t>
            </a:r>
            <a:endParaRPr lang="en-US" sz="2700" dirty="0"/>
          </a:p>
          <a:p>
            <a:r>
              <a:rPr lang="en-US" sz="2700" dirty="0"/>
              <a:t>    </a:t>
            </a:r>
            <a:r>
              <a:rPr lang="en-US" sz="2700" dirty="0" err="1"/>
              <a:t>sql</a:t>
            </a:r>
            <a:r>
              <a:rPr lang="en-US" sz="2700" dirty="0"/>
              <a:t> </a:t>
            </a:r>
            <a:r>
              <a:rPr lang="en-US" sz="2700" i="1" dirty="0"/>
              <a:t>=</a:t>
            </a:r>
            <a:r>
              <a:rPr lang="en-US" sz="2700" dirty="0"/>
              <a:t> '''DELETE FROM EMPLOYEE WHERE AGE &gt; ? AND INCOME &lt; ?'''</a:t>
            </a:r>
          </a:p>
          <a:p>
            <a:r>
              <a:rPr lang="en-US" sz="2700" dirty="0"/>
              <a:t>    </a:t>
            </a:r>
            <a:r>
              <a:rPr lang="en-US" sz="2700" dirty="0" err="1"/>
              <a:t>cursor.execute</a:t>
            </a:r>
            <a:r>
              <a:rPr lang="en-US" sz="2700" dirty="0"/>
              <a:t>(</a:t>
            </a:r>
            <a:r>
              <a:rPr lang="en-US" sz="2700" dirty="0" err="1"/>
              <a:t>sql</a:t>
            </a:r>
            <a:r>
              <a:rPr lang="en-US" sz="2700" dirty="0"/>
              <a:t>,(</a:t>
            </a:r>
            <a:r>
              <a:rPr lang="en-US" sz="2700" dirty="0" err="1"/>
              <a:t>inputAge</a:t>
            </a:r>
            <a:r>
              <a:rPr lang="en-US" sz="2700" dirty="0"/>
              <a:t>, </a:t>
            </a:r>
            <a:r>
              <a:rPr lang="en-US" sz="2700" dirty="0" err="1"/>
              <a:t>inputIncome</a:t>
            </a:r>
            <a:r>
              <a:rPr lang="en-US" sz="2700" dirty="0"/>
              <a:t>,)) </a:t>
            </a:r>
          </a:p>
          <a:p>
            <a:r>
              <a:rPr lang="en-US" sz="2700" dirty="0"/>
              <a:t>    print("Table updated...... ")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F3E2E-B8E0-4F4E-0A71-56F185E3A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6221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D6EAE-AFE8-3D6C-52EA-FBAAFEA02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DeleteData.py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35AF1-4B33-95A3-AC85-FD93646A7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i="1" dirty="0"/>
              <a:t>#Fetching all the rows after the update </a:t>
            </a:r>
            <a:endParaRPr lang="en-US" sz="2400" dirty="0"/>
          </a:p>
          <a:p>
            <a:r>
              <a:rPr lang="en-US" sz="2400" dirty="0"/>
              <a:t>    print("Contents of the Employee table - After the update operation: ") </a:t>
            </a:r>
          </a:p>
          <a:p>
            <a:r>
              <a:rPr lang="en-US" sz="2400" dirty="0"/>
              <a:t>    </a:t>
            </a:r>
            <a:r>
              <a:rPr lang="en-US" sz="2400" dirty="0" err="1"/>
              <a:t>sql</a:t>
            </a:r>
            <a:r>
              <a:rPr lang="en-US" sz="2400" dirty="0"/>
              <a:t> </a:t>
            </a:r>
            <a:r>
              <a:rPr lang="en-US" sz="2400" i="1" dirty="0"/>
              <a:t>=</a:t>
            </a:r>
            <a:r>
              <a:rPr lang="en-US" sz="2400" dirty="0"/>
              <a:t> '''SELECT * from EMPLOYEE''' </a:t>
            </a:r>
          </a:p>
          <a:p>
            <a:r>
              <a:rPr lang="en-US" sz="2400" dirty="0"/>
              <a:t>    </a:t>
            </a:r>
            <a:r>
              <a:rPr lang="en-US" sz="2400" dirty="0" err="1"/>
              <a:t>cursor.execute</a:t>
            </a:r>
            <a:r>
              <a:rPr lang="en-US" sz="2400" dirty="0"/>
              <a:t>(</a:t>
            </a:r>
            <a:r>
              <a:rPr lang="en-US" sz="2400" dirty="0" err="1"/>
              <a:t>sql</a:t>
            </a:r>
            <a:r>
              <a:rPr lang="en-US" sz="2400" dirty="0"/>
              <a:t>) </a:t>
            </a:r>
          </a:p>
          <a:p>
            <a:r>
              <a:rPr lang="en-US" sz="2400" dirty="0"/>
              <a:t>    print(</a:t>
            </a:r>
            <a:r>
              <a:rPr lang="en-US" sz="2400" dirty="0" err="1"/>
              <a:t>cursor.fetchall</a:t>
            </a:r>
            <a:r>
              <a:rPr lang="en-US" sz="2400" dirty="0"/>
              <a:t>()) </a:t>
            </a:r>
          </a:p>
          <a:p>
            <a:endParaRPr lang="en-US" sz="1600" dirty="0"/>
          </a:p>
          <a:p>
            <a:r>
              <a:rPr lang="en-US" sz="2400" i="1" dirty="0"/>
              <a:t>#Commit your changes in the database </a:t>
            </a:r>
            <a:endParaRPr lang="en-US" sz="2400" dirty="0"/>
          </a:p>
          <a:p>
            <a:r>
              <a:rPr lang="en-US" sz="2400" dirty="0" err="1"/>
              <a:t>conn.commit</a:t>
            </a:r>
            <a:r>
              <a:rPr lang="en-US" sz="2400" dirty="0"/>
              <a:t>() </a:t>
            </a:r>
          </a:p>
          <a:p>
            <a:r>
              <a:rPr lang="en-US" sz="2400" i="1" dirty="0"/>
              <a:t>#Closing the connection </a:t>
            </a:r>
            <a:endParaRPr lang="en-US" sz="2400" dirty="0"/>
          </a:p>
          <a:p>
            <a:r>
              <a:rPr lang="en-US" sz="2400" dirty="0" err="1"/>
              <a:t>conn.close</a:t>
            </a:r>
            <a:r>
              <a:rPr lang="en-US" sz="2400" dirty="0"/>
              <a:t>()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F2D0E4-ACB7-C8A3-8BF5-DDF3DB54B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1637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D5BB-F859-A255-985B-5EF98AAE1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CF02C-3E83-A511-8A3C-773466B9D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5806"/>
            <a:ext cx="10515600" cy="5931157"/>
          </a:xfrm>
        </p:spPr>
        <p:txBody>
          <a:bodyPr>
            <a:noAutofit/>
          </a:bodyPr>
          <a:lstStyle/>
          <a:p>
            <a:r>
              <a:rPr lang="en-US" sz="2700" dirty="0"/>
              <a:t> &gt; python DeleteData.py</a:t>
            </a:r>
          </a:p>
          <a:p>
            <a:r>
              <a:rPr lang="en-US" sz="2700" dirty="0"/>
              <a:t>Enter Age limit:</a:t>
            </a:r>
          </a:p>
          <a:p>
            <a:r>
              <a:rPr lang="en-US" sz="2700" dirty="0"/>
              <a:t>100</a:t>
            </a:r>
          </a:p>
          <a:p>
            <a:r>
              <a:rPr lang="en-US" sz="2700" dirty="0"/>
              <a:t>Enter Income limit:</a:t>
            </a:r>
          </a:p>
          <a:p>
            <a:r>
              <a:rPr lang="en-US" sz="2700" dirty="0"/>
              <a:t>23456</a:t>
            </a:r>
          </a:p>
          <a:p>
            <a:r>
              <a:rPr lang="en-US" sz="2700" dirty="0"/>
              <a:t>Contents of the Employee table - Before</a:t>
            </a:r>
          </a:p>
          <a:p>
            <a:r>
              <a:rPr lang="en-US" sz="2000" dirty="0"/>
              <a:t>[(1, 'Daniela', 'CRUDU', 27, 'F', 9000.0), (2, 'Nina', 'ILIESCU', 99, 'F', 5000.0), (3, 'Emil', 'CONSTANTINESCU', 89, 'M', 6000.0), (4, 'Traian', 'BASESCU', 78, 'M', 7000.0), (5, 'Klaus Werner', 'JOHANNIS', 67, 'M', 8000.0), (6, 'Nicusor', 'DAN', 56, 'M', 9000.0), (7, 'Mirna', 'Burkin', 73, </a:t>
            </a:r>
          </a:p>
          <a:p>
            <a:r>
              <a:rPr lang="en-US" sz="2700" dirty="0"/>
              <a:t>…</a:t>
            </a:r>
          </a:p>
          <a:p>
            <a:r>
              <a:rPr lang="en-US" sz="2700" dirty="0"/>
              <a:t>Table updated......</a:t>
            </a:r>
          </a:p>
          <a:p>
            <a:r>
              <a:rPr lang="en-US" sz="2700" dirty="0"/>
              <a:t>Contents of the Employee table - After the update operation: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A37FFE-B94D-9310-2D02-BEF1FC501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EB03D-E4DE-45F6-B921-153213226E4E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513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D1F13D339BA04089B6530E3063BBB0" ma:contentTypeVersion="3" ma:contentTypeDescription="Create a new document." ma:contentTypeScope="" ma:versionID="e3be701f0a6c8f6221ff53300429adee">
  <xsd:schema xmlns:xsd="http://www.w3.org/2001/XMLSchema" xmlns:xs="http://www.w3.org/2001/XMLSchema" xmlns:p="http://schemas.microsoft.com/office/2006/metadata/properties" xmlns:ns2="a1338ef3-f957-4fbb-b33a-3b606fe126b3" targetNamespace="http://schemas.microsoft.com/office/2006/metadata/properties" ma:root="true" ma:fieldsID="974ac979782e2ad477dd4a10e8419547" ns2:_="">
    <xsd:import namespace="a1338ef3-f957-4fbb-b33a-3b606fe126b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338ef3-f957-4fbb-b33a-3b606fe126b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5F56532-EA08-4AA3-A892-69A16D22CBAE}"/>
</file>

<file path=customXml/itemProps2.xml><?xml version="1.0" encoding="utf-8"?>
<ds:datastoreItem xmlns:ds="http://schemas.openxmlformats.org/officeDocument/2006/customXml" ds:itemID="{943380EB-6142-4258-B2E0-422A3F65695A}"/>
</file>

<file path=customXml/itemProps3.xml><?xml version="1.0" encoding="utf-8"?>
<ds:datastoreItem xmlns:ds="http://schemas.openxmlformats.org/officeDocument/2006/customXml" ds:itemID="{3C062DEA-DDBE-44C3-83B3-E0A73E8174A9}"/>
</file>

<file path=docProps/app.xml><?xml version="1.0" encoding="utf-8"?>
<Properties xmlns="http://schemas.openxmlformats.org/officeDocument/2006/extended-properties" xmlns:vt="http://schemas.openxmlformats.org/officeDocument/2006/docPropsVTypes">
  <TotalTime>1293</TotalTime>
  <Words>2957</Words>
  <Application>Microsoft Office PowerPoint</Application>
  <PresentationFormat>Widescreen</PresentationFormat>
  <Paragraphs>349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6" baseType="lpstr">
      <vt:lpstr>Aptos</vt:lpstr>
      <vt:lpstr>Aptos Display</vt:lpstr>
      <vt:lpstr>Arial</vt:lpstr>
      <vt:lpstr>Courier New</vt:lpstr>
      <vt:lpstr>Office Theme</vt:lpstr>
      <vt:lpstr>Python</vt:lpstr>
      <vt:lpstr>Python.org  https://www.python.org/</vt:lpstr>
      <vt:lpstr>PowerPoint Presentation</vt:lpstr>
      <vt:lpstr>Python</vt:lpstr>
      <vt:lpstr>pip</vt:lpstr>
      <vt:lpstr>PowerPoint Presentation</vt:lpstr>
      <vt:lpstr>Connect.py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CreateTab.py</vt:lpstr>
      <vt:lpstr>CreateTab.py</vt:lpstr>
      <vt:lpstr>CreateTab.py</vt:lpstr>
      <vt:lpstr>PowerPoint Presentation</vt:lpstr>
      <vt:lpstr>PowerPoint Presentation</vt:lpstr>
      <vt:lpstr>Create InsertData.py</vt:lpstr>
      <vt:lpstr>InsertData.py</vt:lpstr>
      <vt:lpstr>InsertData.py</vt:lpstr>
      <vt:lpstr>PowerPoint Presentation</vt:lpstr>
      <vt:lpstr>PowerPoint Presentation</vt:lpstr>
      <vt:lpstr>InsertDataMany.py</vt:lpstr>
      <vt:lpstr>InsertDataMany.py</vt:lpstr>
      <vt:lpstr>InsertDataMany.py</vt:lpstr>
      <vt:lpstr>Read SelectData.py</vt:lpstr>
      <vt:lpstr>PowerPoint Presentation</vt:lpstr>
      <vt:lpstr>SelectData.py</vt:lpstr>
      <vt:lpstr>SelectData.py</vt:lpstr>
      <vt:lpstr>SelectData.py</vt:lpstr>
      <vt:lpstr>PowerPoint Presentation</vt:lpstr>
      <vt:lpstr>PowerPoint Presentation</vt:lpstr>
      <vt:lpstr>PowerPoint Presentation</vt:lpstr>
      <vt:lpstr>SelectDataT.py</vt:lpstr>
      <vt:lpstr>PowerPoint Presentation</vt:lpstr>
      <vt:lpstr>PowerPoint Presentation</vt:lpstr>
      <vt:lpstr>SelectDataD.py</vt:lpstr>
      <vt:lpstr>Update UpdateData.py</vt:lpstr>
      <vt:lpstr>UpdateData.py</vt:lpstr>
      <vt:lpstr>PowerPoint Presentation</vt:lpstr>
      <vt:lpstr>Update UpdateData.py</vt:lpstr>
      <vt:lpstr>Delete DeleteData.py</vt:lpstr>
      <vt:lpstr>Parameterized Queries</vt:lpstr>
      <vt:lpstr>PowerPoint Presentation</vt:lpstr>
      <vt:lpstr>PowerPoint Presentation</vt:lpstr>
      <vt:lpstr>PowerPoint Presentation</vt:lpstr>
      <vt:lpstr>DeleteData.py</vt:lpstr>
      <vt:lpstr>DeleteData.py</vt:lpstr>
      <vt:lpstr>DeleteData.py</vt:lpstr>
      <vt:lpstr>DeleteData.py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Calin Cenan</dc:creator>
  <cp:lastModifiedBy>Calin Cenan</cp:lastModifiedBy>
  <cp:revision>44</cp:revision>
  <dcterms:created xsi:type="dcterms:W3CDTF">2025-11-19T20:15:14Z</dcterms:created>
  <dcterms:modified xsi:type="dcterms:W3CDTF">2025-11-25T11:20:27Z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2025-11-19T20:29:01Z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9877d9dc-4839-4c13-9ea0-4d6d40c338a3</vt:lpwstr>
  </property>
  <property fmtid="{D5CDD505-2E9C-101B-9397-08002B2CF9AE}" pid="8" name="MSIP_Label_5b58b62f-6f94-46bd-8089-18e64b0a9abb_ContentBits">
    <vt:lpwstr>0</vt:lpwstr>
  </property>
  <property fmtid="{D5CDD505-2E9C-101B-9397-08002B2CF9AE}" pid="9" name="MSIP_Label_5b58b62f-6f94-46bd-8089-18e64b0a9abb_Tag">
    <vt:lpwstr>10, 3, 0, 1</vt:lpwstr>
  </property>
  <property fmtid="{D5CDD505-2E9C-101B-9397-08002B2CF9AE}" pid="10" name="ContentTypeId">
    <vt:lpwstr>0x01010042D1F13D339BA04089B6530E3063BBB0</vt:lpwstr>
  </property>
</Properties>
</file>