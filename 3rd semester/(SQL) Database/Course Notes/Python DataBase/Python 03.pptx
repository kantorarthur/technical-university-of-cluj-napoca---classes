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60" r:id="rId5"/>
    <p:sldId id="259" r:id="rId6"/>
    <p:sldId id="261" r:id="rId7"/>
    <p:sldId id="274" r:id="rId8"/>
    <p:sldId id="262" r:id="rId9"/>
    <p:sldId id="272" r:id="rId10"/>
    <p:sldId id="273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5" r:id="rId20"/>
    <p:sldId id="276" r:id="rId21"/>
    <p:sldId id="277" r:id="rId22"/>
    <p:sldId id="271" r:id="rId23"/>
    <p:sldId id="278" r:id="rId24"/>
    <p:sldId id="279" r:id="rId25"/>
    <p:sldId id="280" r:id="rId26"/>
    <p:sldId id="297" r:id="rId27"/>
    <p:sldId id="298" r:id="rId28"/>
    <p:sldId id="299" r:id="rId29"/>
    <p:sldId id="300" r:id="rId30"/>
    <p:sldId id="301" r:id="rId31"/>
    <p:sldId id="281" r:id="rId32"/>
    <p:sldId id="282" r:id="rId33"/>
    <p:sldId id="283" r:id="rId34"/>
    <p:sldId id="284" r:id="rId35"/>
    <p:sldId id="285" r:id="rId36"/>
    <p:sldId id="286" r:id="rId37"/>
    <p:sldId id="289" r:id="rId38"/>
    <p:sldId id="287" r:id="rId39"/>
    <p:sldId id="288" r:id="rId40"/>
    <p:sldId id="290" r:id="rId41"/>
    <p:sldId id="291" r:id="rId42"/>
    <p:sldId id="305" r:id="rId43"/>
    <p:sldId id="294" r:id="rId44"/>
    <p:sldId id="292" r:id="rId45"/>
    <p:sldId id="295" r:id="rId46"/>
    <p:sldId id="302" r:id="rId47"/>
    <p:sldId id="304" r:id="rId48"/>
    <p:sldId id="293" r:id="rId49"/>
    <p:sldId id="303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8" r:id="rId62"/>
    <p:sldId id="319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outlineViewPr>
    <p:cViewPr>
      <p:scale>
        <a:sx n="33" d="100"/>
        <a:sy n="33" d="100"/>
      </p:scale>
      <p:origin x="0" y="-195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197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0C8C8-4E43-4F6B-BCA9-4DAD26C562C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EEA07-331C-4B4E-8446-9CE82B5D0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2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EEA07-331C-4B4E-8446-9CE82B5D03C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1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CB10B-D70F-B908-85E7-8A73DB27C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22051-DA46-4A1D-BF48-307E75797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91D61-CCF1-4DF1-095B-1D986932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2952-5FE3-4623-85D9-D5EA17E17BEE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F4B7A-0206-F763-613A-BE948797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7AD7-6D79-07CB-A987-ACD1953A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4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9D91-9543-0336-AE70-789E2971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B5AB-1A75-8078-2120-06911B4A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571F3-64A9-5C1A-826F-A88D5CBA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923-1DA5-414D-965E-D46F50FB2DF9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68F59-7684-5DBC-EA1F-C1D2BB09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0D27D-112D-7433-D978-8F99F37F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DAF8-142D-A99C-1B8C-2CBA7565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D4DFD-831F-0EEB-1A21-C0ACEB1A8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7B83-A941-8EEA-C757-12F24FFB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077-7779-4C1C-864E-3AA38985489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D802C-CCC3-BBB5-E902-3F2362CD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D4BF6-4DFA-4B60-C4F0-C174AE08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2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86C1-119E-C543-5E8F-E6093111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C195-1220-601F-EAEF-9FB18C939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507F7-45F9-506A-D872-204AC5852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1279B-4487-3142-8E64-8B05DBCE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706-5F70-461E-ABF1-58B97905DDD4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EDF68-6F3A-BB30-6A3F-C2F1C0852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E278B-4B03-666A-6269-B449466E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8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D292-9016-F259-005F-FB10B936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90B0A-45F3-69ED-8C4B-7E62E1F69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F8742-D242-2FCC-E7FD-147865538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96105-BB58-B924-2826-1B1AD1C34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9EE0B-202C-E91D-77C4-2CD7F3BAA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2D4A7-9AF3-CBD3-6A25-3272150E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6E5E-8263-45EF-8399-E5769131E5D4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45EC2-354B-E984-8A70-005EE467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22DDC-8BDB-FDB4-8F9F-509E042F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9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DF16-55FA-FF8E-B4CA-608DA07C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77246-D8E5-26BB-158B-6DDEC6BF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0B813-B174-4139-9BC7-145776B4E9D8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161A1-D2D6-2F86-7A33-3A3E1AC5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ADBED-55F0-5B7D-1A07-F5C66BFA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2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0AA7F-E444-D1C9-CE34-A0EF902E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A77C-9C1A-4598-B7CC-5932B16B73A6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4ACB9-779A-C532-96FB-50B96C45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7F5AF-6140-28BE-9163-4106D3DA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0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FFB7-3B36-4F6B-97D1-14753A0C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E9035-F5D1-5960-013D-0BCD0581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75E6F-2A75-F05E-68DF-92C989CFA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EDC3F-1026-896E-4885-19A6DBC4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295A-DD12-4BA2-903D-24107874FC12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950D-625E-9009-2FDC-2BB90AF0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6DF52-D15F-D240-027B-02D5FD09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EC93-8FDA-5E3E-0B8B-130E0659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0649F-DC2B-A4DF-CDB0-146852F84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0D03C-0A73-AE57-8A38-56C197E02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754DC-A8E7-302A-358E-6418645C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6344F-9B26-4891-8455-AF59954B386A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2CCE9-4EAE-7ADB-BA52-4423A14E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40C52-670E-00C4-8CC2-978B0F38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3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6297-8D46-822D-CA70-D7F4C0AD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2489B-8571-B8AE-0990-24F887E86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1FDF3-2F69-92C5-B748-6FBA41C9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4B520-DBCB-4CF7-8A38-874FAC1D7F5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14BFE-339F-E30D-DA68-1AC03C1A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854DD-8DFB-8FB4-DC26-B0AC8CAF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DB0EC-63FA-FF38-4431-E71D9C735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923A8-8506-050E-A4C7-FF0E3D027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CB81A-0BFE-BDC4-C11F-B04FF4B5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D7D6-8B41-4CB2-A0E1-F1B22B36E69B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3778F-D2EC-3CB4-7D8D-ECD368C2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7490-8921-2AB7-0A75-0A84FD9C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2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D2D5-3635-22D6-741C-CD878A12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DD0E8-4D40-075E-D50E-35A7122A3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20B7E-2484-ADBC-7B91-40095F35C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7ABE8-C3A6-4197-9D95-A7D4AED8C229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1171-57F6-A4A2-8A5B-C2E2A4D4F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20380-9AD5-3718-1968-C8EB1190E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4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numpy.org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1E38-EAB6-A5E7-BAB8-D55DE8B0C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D6BC7-1EE5-BE3D-858E-1B60BDFFF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C294-A086-6CAB-DABA-E200D43B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C812-EA2F-41BE-4900-ADBB6F99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Python.org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2"/>
              </a:rPr>
              <a:t>https://www.python.org/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243F2-83E7-5C6E-DCC2-3330838CB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3008E-2999-0945-154F-AA9D2A27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python™">
            <a:extLst>
              <a:ext uri="{FF2B5EF4-FFF2-40B4-BE49-F238E27FC236}">
                <a16:creationId xmlns:a16="http://schemas.microsoft.com/office/drawing/2014/main" id="{B459E0A1-714F-1F47-D007-0AF8E976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2647950"/>
            <a:ext cx="5524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52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FE4A-2EE0-2A0F-C32D-ED2C7EA6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CC04B-22FD-1C3A-E5E3-3E945066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&gt;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python -V</a:t>
            </a:r>
          </a:p>
          <a:p>
            <a:r>
              <a:rPr lang="en-US" sz="3200" dirty="0"/>
              <a:t>Python 3.14.0</a:t>
            </a:r>
          </a:p>
          <a:p>
            <a:endParaRPr lang="en-US" dirty="0"/>
          </a:p>
          <a:p>
            <a:r>
              <a:rPr lang="en-US" dirty="0"/>
              <a:t> 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-V</a:t>
            </a:r>
          </a:p>
          <a:p>
            <a:r>
              <a:rPr lang="en-US" dirty="0"/>
              <a:t>pip 25.3 from C:\Python\Python314\Lib\site-packages\pip (python 3.14)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D116D-B725-8125-5717-2B8DD56B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4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B155-C1B2-62A7-A19B-2F0B81F8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9EDC-57B3-E1D7-4BED-CE232D18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5" y="1258529"/>
            <a:ext cx="11523406" cy="4918434"/>
          </a:xfrm>
        </p:spPr>
        <p:txBody>
          <a:bodyPr>
            <a:noAutofit/>
          </a:bodyPr>
          <a:lstStyle/>
          <a:p>
            <a:r>
              <a:rPr lang="en-US" sz="2700" dirty="0"/>
              <a:t>Python is a high-level, general-purpose programming language; its design philosophy emphasizes code readability with use of significant indentation</a:t>
            </a:r>
          </a:p>
          <a:p>
            <a:r>
              <a:rPr lang="en-US" sz="2700" dirty="0"/>
              <a:t>Python is dynamically type-checked and garbage-collected; supports multiple programming paradigms, including structured (</a:t>
            </a:r>
            <a:r>
              <a:rPr lang="en-US" sz="2700" dirty="0" err="1"/>
              <a:t>particulary</a:t>
            </a:r>
            <a:r>
              <a:rPr lang="en-US" sz="2700" dirty="0"/>
              <a:t>  </a:t>
            </a:r>
            <a:r>
              <a:rPr lang="en-US" sz="2700" dirty="0" err="1"/>
              <a:t>proce</a:t>
            </a:r>
            <a:r>
              <a:rPr lang="en-US" sz="2700" dirty="0"/>
              <a:t> - dural), object-oriented and functional programming</a:t>
            </a:r>
          </a:p>
          <a:p>
            <a:r>
              <a:rPr lang="en-US" sz="2700" dirty="0"/>
              <a:t>Guido van Rossum began working on Python in late 1980s Python 3.0, was major revision and not completely backward-compatible with earlier vers.</a:t>
            </a:r>
          </a:p>
          <a:p>
            <a:r>
              <a:rPr lang="en-US" sz="2700" dirty="0"/>
              <a:t>Python has gained widespread use in the machine learning community; it is widely taught as introductory programming language</a:t>
            </a:r>
          </a:p>
          <a:p>
            <a:r>
              <a:rPr lang="en-US" sz="2700" dirty="0"/>
              <a:t>since 2000, Python has consistently ranked in top ten of most popular programming languages in the Programming Community Index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CD209-CB55-1D66-7693-B350310B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12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39E2-C3D9-91AC-6DB9-C99204A4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14B1-F6AD-FA3B-5BE5-34EEA2F9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pip is a package manager (package management system) written in Python and is used to install and manage software packages</a:t>
            </a:r>
          </a:p>
          <a:p>
            <a:r>
              <a:rPr lang="en-US" dirty="0"/>
              <a:t>the Python Software Foundation recommends using pip to install Python applications and its dependencies during deployment</a:t>
            </a:r>
          </a:p>
          <a:p>
            <a:r>
              <a:rPr lang="en-US" dirty="0"/>
              <a:t>connects to an online software repository of public packages, named the Python Package Index (</a:t>
            </a:r>
            <a:r>
              <a:rPr lang="en-US" dirty="0" err="1"/>
              <a:t>PyPI</a:t>
            </a:r>
            <a:r>
              <a:rPr lang="en-US" dirty="0"/>
              <a:t>); can be configured to connect to other package repositories (local or remote), provided that they comply to Python Enhancement Proposal</a:t>
            </a:r>
          </a:p>
          <a:p>
            <a:r>
              <a:rPr lang="en-US" dirty="0"/>
              <a:t>most distributions of Python come with pip preinstalled, Python 3.4 and later include pip by default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ABE5B-9AD6-9218-0534-D832FA6B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0E49-99BA-E73C-6695-AFD5050C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E775-4E8E-459D-5C9B-43158F5B9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F6C10-A845-BBE2-8789-C37D7846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6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32F043-D16E-DA46-E112-7DF0DE62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in-memory database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15D5BA-4954-89A0-0558-0E12F2A8E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55152-35E9-FFFE-5618-FED2AB6E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0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5661-B9A4-355B-395F-5E9BF3E8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CDF95-C774-DACE-2230-027B81FD3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an in-memory database, use the special filename</a:t>
            </a:r>
          </a:p>
          <a:p>
            <a:r>
              <a:rPr lang="en-US" dirty="0"/>
              <a:t>import sqlite3 </a:t>
            </a:r>
          </a:p>
          <a:p>
            <a:r>
              <a:rPr lang="en-US" dirty="0"/>
              <a:t>conn = sqlite3.connect(':memory:’)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38B9-A7BE-063C-7616-D02E422B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78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6108-AAAF-53F4-EA5E-0D984F48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791D-BF25-4540-9248-D2E0ABC8A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Autofit/>
          </a:bodyPr>
          <a:lstStyle/>
          <a:p>
            <a:r>
              <a:rPr lang="en-US" sz="2700" dirty="0"/>
              <a:t>Advantages of In-Memory Databases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Extremely fast read and write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No disk I/O overhead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Useful for temporary data storage and processing </a:t>
            </a:r>
          </a:p>
          <a:p>
            <a:endParaRPr lang="en-US" sz="2700" dirty="0"/>
          </a:p>
          <a:p>
            <a:r>
              <a:rPr lang="en-US" sz="2700" dirty="0"/>
              <a:t>Use Cases for In-Memory Databases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Caching frequently accessed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Temporary data storage for complex calculations or data transformations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Testing and development environments where persistence is not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F34BB-B527-788C-19B4-AC2B2410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50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60059-DA54-B971-AA6C-4A21D484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F62A-FE5E-0ABA-FA49-5C3419AFD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 of In-Memory Databases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is lost when the connection is closed or the program terminates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Limited by available 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Not suitable for scenarios requiring data persistence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BEADE-7AF5-2440-A9CC-A63CC6D9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1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7541-2EAA-5A20-F819-BFB38763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execution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20AC9-7F19-DE64-9C6F-FA04AB91A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Disk storage was 2.838536024093628</a:t>
            </a:r>
          </a:p>
          <a:p>
            <a:r>
              <a:rPr lang="en-US" dirty="0"/>
              <a:t>in Memory storage was 0.052251577377319336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B8334-4D8B-ABA6-A46A-A2CCFD72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0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6397-20AA-3632-13FF-757B7AFA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inMemory.py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8D7F86-E015-677E-6AC3-B94BE5C588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with</a:t>
            </a:r>
            <a:r>
              <a:rPr lang="en-US" dirty="0"/>
              <a:t> sqlite3.connect ('</a:t>
            </a:r>
            <a:r>
              <a:rPr lang="en-US" dirty="0" err="1"/>
              <a:t>exampleDisk.db</a:t>
            </a:r>
            <a:r>
              <a:rPr lang="en-US" dirty="0"/>
              <a:t>') </a:t>
            </a:r>
            <a:r>
              <a:rPr lang="en-US" i="1" dirty="0"/>
              <a:t>as</a:t>
            </a:r>
            <a:r>
              <a:rPr lang="en-US" dirty="0"/>
              <a:t> conn: 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F5CE2-77EB-FD8F-CFB7-96FF760922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/>
              <a:t>with</a:t>
            </a:r>
            <a:r>
              <a:rPr lang="en-US" dirty="0"/>
              <a:t> sqlite3.connect (':memory:') </a:t>
            </a:r>
            <a:r>
              <a:rPr lang="en-US" i="1" dirty="0"/>
              <a:t>as</a:t>
            </a:r>
            <a:r>
              <a:rPr lang="en-US" dirty="0"/>
              <a:t> conn: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87470-A96F-1D62-05F3-5E6D40E5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23D2-7A18-DBE9-571A-788A4C0F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inMemory.py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54B51-4592-AEF6-C6A8-EF2F8CD43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time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endParaRPr lang="en-US" sz="1600" dirty="0"/>
          </a:p>
          <a:p>
            <a:r>
              <a:rPr lang="en-US" sz="2400" dirty="0" err="1"/>
              <a:t>mployee_data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[</a:t>
            </a:r>
          </a:p>
          <a:p>
            <a:r>
              <a:rPr lang="en-US" sz="2400" dirty="0"/>
              <a:t>('Mirna', 'Burkin', 73, 'F', 4542.46),</a:t>
            </a:r>
          </a:p>
          <a:p>
            <a:r>
              <a:rPr lang="en-US" sz="2400" dirty="0"/>
              <a:t>('Sherman', 'Livezey', 76, 'M', 5228.15),</a:t>
            </a:r>
          </a:p>
          <a:p>
            <a:r>
              <a:rPr lang="en-US" sz="2400" dirty="0"/>
              <a:t>('Katusha', 'Van der </a:t>
            </a:r>
            <a:r>
              <a:rPr lang="en-US" sz="2400" dirty="0" err="1"/>
              <a:t>Kruijs</a:t>
            </a:r>
            <a:r>
              <a:rPr lang="en-US" sz="2400" dirty="0"/>
              <a:t>', 109, 'F', 4080.52),</a:t>
            </a:r>
          </a:p>
          <a:p>
            <a:r>
              <a:rPr lang="en-US" sz="2400" dirty="0"/>
              <a:t>('Barbie', '</a:t>
            </a:r>
            <a:r>
              <a:rPr lang="en-US" sz="2400" dirty="0" err="1"/>
              <a:t>Mahaddie</a:t>
            </a:r>
            <a:r>
              <a:rPr lang="en-US" sz="2400" dirty="0"/>
              <a:t>', 73, 'F', 5073.8),</a:t>
            </a:r>
          </a:p>
          <a:p>
            <a:endParaRPr lang="en-US" sz="2400" dirty="0"/>
          </a:p>
          <a:p>
            <a:r>
              <a:rPr lang="en-US" sz="2400" dirty="0"/>
              <a:t>('Elvira', '</a:t>
            </a:r>
            <a:r>
              <a:rPr lang="en-US" sz="2400" dirty="0" err="1"/>
              <a:t>Pinwell</a:t>
            </a:r>
            <a:r>
              <a:rPr lang="en-US" sz="2400" dirty="0"/>
              <a:t>', 37, 'F', 6045.1),</a:t>
            </a:r>
          </a:p>
          <a:p>
            <a:r>
              <a:rPr lang="en-US" sz="2400" dirty="0"/>
              <a:t>('Rodolphe', '</a:t>
            </a:r>
            <a:r>
              <a:rPr lang="en-US" sz="2400" dirty="0" err="1"/>
              <a:t>Scoyne</a:t>
            </a:r>
            <a:r>
              <a:rPr lang="en-US" sz="2400" dirty="0"/>
              <a:t>', 52, 'M', 8238.47),</a:t>
            </a:r>
          </a:p>
          <a:p>
            <a:r>
              <a:rPr lang="en-US" sz="2400"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491CB-1D36-B4CA-0795-BD8B3AED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8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3B9F-3833-FA1D-A05A-83BC7BA3B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inMemory.py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745DB-D911-586D-B276-18912A62D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time.time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i="1" dirty="0"/>
              <a:t>with</a:t>
            </a:r>
            <a:r>
              <a:rPr lang="en-US" dirty="0"/>
              <a:t> sqlite3.connect('</a:t>
            </a:r>
            <a:r>
              <a:rPr lang="en-US" dirty="0" err="1"/>
              <a:t>exampleDisk.db</a:t>
            </a:r>
            <a:r>
              <a:rPr lang="en-US" dirty="0"/>
              <a:t>') </a:t>
            </a:r>
            <a:r>
              <a:rPr lang="en-US" i="1" dirty="0"/>
              <a:t>as</a:t>
            </a:r>
            <a:r>
              <a:rPr lang="en-US" dirty="0"/>
              <a:t> conn: </a:t>
            </a:r>
          </a:p>
          <a:p>
            <a:r>
              <a:rPr lang="en-US" i="1" dirty="0"/>
              <a:t># Perform database operations here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err="1"/>
              <a:t>conn.autocommit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True </a:t>
            </a:r>
          </a:p>
          <a:p>
            <a:r>
              <a:rPr lang="en-US" dirty="0"/>
              <a:t> 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9E663-BDE2-3B4F-376D-43831E24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66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3851-6F2B-8DDB-FCBA-458148AD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133D-15EB-89EE-A937-0E0DE734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inMemory.py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1C2EB-FA9D-01B1-5F88-FEA58737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4947931"/>
          </a:xfrm>
        </p:spPr>
        <p:txBody>
          <a:bodyPr>
            <a:noAutofit/>
          </a:bodyPr>
          <a:lstStyle/>
          <a:p>
            <a:r>
              <a:rPr lang="en-US" sz="2400" dirty="0"/>
              <a:t>    cursor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conn.cursor</a:t>
            </a:r>
            <a:r>
              <a:rPr lang="en-US" sz="2400" dirty="0"/>
              <a:t>() </a:t>
            </a:r>
          </a:p>
          <a:p>
            <a:r>
              <a:rPr lang="en-US" sz="2400" dirty="0"/>
              <a:t>        </a:t>
            </a:r>
            <a:r>
              <a:rPr lang="en-US" sz="2400" i="1" dirty="0"/>
              <a:t>#Creating table as per requirement </a:t>
            </a:r>
            <a:endParaRPr lang="en-US" sz="2400" dirty="0"/>
          </a:p>
          <a:p>
            <a:r>
              <a:rPr lang="en-US" sz="2400" dirty="0"/>
              <a:t>    </a:t>
            </a:r>
            <a:r>
              <a:rPr lang="en-US" sz="2400" dirty="0" err="1"/>
              <a:t>sql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'''CREATE TABLE EMPLOYEE( </a:t>
            </a:r>
          </a:p>
          <a:p>
            <a:r>
              <a:rPr lang="en-US" sz="2400" dirty="0"/>
              <a:t>        ID INTEGER PRIMARY KEY ,</a:t>
            </a:r>
          </a:p>
          <a:p>
            <a:r>
              <a:rPr lang="en-US" sz="2400" dirty="0"/>
              <a:t>        FIRST_NAME  TEXT NOT NULL, </a:t>
            </a:r>
          </a:p>
          <a:p>
            <a:r>
              <a:rPr lang="en-US" sz="2400" dirty="0"/>
              <a:t>        LAST_NAME  TEXT NOT NULL, </a:t>
            </a:r>
          </a:p>
          <a:p>
            <a:r>
              <a:rPr lang="en-US" sz="2400" dirty="0"/>
              <a:t>        AGE INTEGER, </a:t>
            </a:r>
          </a:p>
          <a:p>
            <a:r>
              <a:rPr lang="en-US" sz="2400" dirty="0"/>
              <a:t>        GENDER CHAR(1), </a:t>
            </a:r>
          </a:p>
          <a:p>
            <a:r>
              <a:rPr lang="en-US" sz="2400" dirty="0"/>
              <a:t>        INCOME REAL,</a:t>
            </a:r>
          </a:p>
          <a:p>
            <a:r>
              <a:rPr lang="en-US" sz="2400" dirty="0"/>
              <a:t>        UNIQUE ( FIRST_NAME, LAST_NAME ))'''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</a:t>
            </a:r>
            <a:r>
              <a:rPr lang="en-US" sz="2400" dirty="0" err="1"/>
              <a:t>sql</a:t>
            </a:r>
            <a:r>
              <a:rPr lang="en-US" sz="2400" dirty="0"/>
              <a:t>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conn.commit</a:t>
            </a:r>
            <a:r>
              <a:rPr lang="en-US" sz="2400" dirty="0"/>
              <a:t>()</a:t>
            </a:r>
          </a:p>
          <a:p>
            <a:r>
              <a:rPr lang="en-US" sz="2400" dirty="0"/>
              <a:t>    print("Table created successfully........")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790F0-5748-3D22-2C87-EC419D86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4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30B8-49A7-5080-8EE2-B8B27EB2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1E24-685F-C479-DAC1-1751CDD4B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inMemory.py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BECBB-0ED7-C66D-4B42-F2BC7CCEC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3697" cy="4351338"/>
          </a:xfrm>
        </p:spPr>
        <p:txBody>
          <a:bodyPr>
            <a:normAutofit/>
          </a:bodyPr>
          <a:lstStyle/>
          <a:p>
            <a:r>
              <a:rPr lang="en-US" sz="2700" dirty="0"/>
              <a:t>    </a:t>
            </a:r>
            <a:r>
              <a:rPr lang="en-US" sz="2700" dirty="0" err="1"/>
              <a:t>cursor.executemany</a:t>
            </a:r>
            <a:r>
              <a:rPr lang="en-US" sz="2700" dirty="0"/>
              <a:t>('''</a:t>
            </a:r>
          </a:p>
          <a:p>
            <a:r>
              <a:rPr lang="en-US" sz="2700" dirty="0"/>
              <a:t>    insert into EMPLOYEE (</a:t>
            </a:r>
            <a:r>
              <a:rPr lang="en-US" sz="2700" dirty="0" err="1"/>
              <a:t>first_name</a:t>
            </a:r>
            <a:r>
              <a:rPr lang="en-US" sz="2700" dirty="0"/>
              <a:t>, </a:t>
            </a:r>
            <a:r>
              <a:rPr lang="en-US" sz="2700" dirty="0" err="1"/>
              <a:t>last_name</a:t>
            </a:r>
            <a:r>
              <a:rPr lang="en-US" sz="2700" dirty="0"/>
              <a:t>, age, gender, income) </a:t>
            </a:r>
          </a:p>
          <a:p>
            <a:r>
              <a:rPr lang="en-US" sz="2700" dirty="0"/>
              <a:t>        values (?, ?, ?, ?, ?);</a:t>
            </a:r>
          </a:p>
          <a:p>
            <a:r>
              <a:rPr lang="en-US" sz="2700" dirty="0"/>
              <a:t>    ''', </a:t>
            </a:r>
            <a:r>
              <a:rPr lang="en-US" sz="2700" dirty="0" err="1"/>
              <a:t>employee_data</a:t>
            </a:r>
            <a:r>
              <a:rPr lang="en-US" sz="2700" dirty="0"/>
              <a:t>)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conn.commit</a:t>
            </a:r>
            <a:r>
              <a:rPr lang="en-US" sz="2700" dirty="0"/>
              <a:t>()</a:t>
            </a:r>
          </a:p>
          <a:p>
            <a:r>
              <a:rPr lang="en-US" sz="2700" dirty="0"/>
              <a:t>    print("Records inserted........")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2C269-585F-BE8C-9850-6005B651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0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48E2-695C-A535-C93D-117B2E17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inMemory.py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73CC6-AEED-0598-6942-D6CE17DDE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# 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conn.row_factory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sqlite3.Row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cursor.execute</a:t>
            </a:r>
            <a:r>
              <a:rPr lang="en-US" sz="2700" dirty="0"/>
              <a:t>('''SELECT * from EMPLOYEE''') </a:t>
            </a:r>
          </a:p>
          <a:p>
            <a:r>
              <a:rPr lang="en-US" sz="2700" dirty="0"/>
              <a:t>    result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cursor.fetchall</a:t>
            </a:r>
            <a:r>
              <a:rPr lang="en-US" sz="2700" dirty="0"/>
              <a:t>()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for</a:t>
            </a:r>
            <a:r>
              <a:rPr lang="en-US" sz="2700" dirty="0"/>
              <a:t> row </a:t>
            </a:r>
            <a:r>
              <a:rPr lang="en-US" sz="2700" i="1" dirty="0"/>
              <a:t>in</a:t>
            </a:r>
            <a:r>
              <a:rPr lang="en-US" sz="2700" dirty="0"/>
              <a:t> result:</a:t>
            </a:r>
          </a:p>
          <a:p>
            <a:r>
              <a:rPr lang="en-US" sz="2700" dirty="0"/>
              <a:t>        print(</a:t>
            </a:r>
            <a:r>
              <a:rPr lang="en-US" sz="2700" i="1" dirty="0"/>
              <a:t>f</a:t>
            </a:r>
            <a:r>
              <a:rPr lang="en-US" sz="2700" dirty="0"/>
              <a:t>"{row['FIRST_NAME']} {row['LAST_NAME']} is {row['AGE']} years old")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#Commit your changes in the database 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conn.commit</a:t>
            </a:r>
            <a:r>
              <a:rPr lang="en-US" sz="2700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3370D-3F64-9C81-919A-58E2FC06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60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9576-2DA9-225B-4B7E-04A66B82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inMemory.py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C06C-683F-A3C9-71F4-E0FC80AE9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>
            <a:normAutofit/>
          </a:bodyPr>
          <a:lstStyle/>
          <a:p>
            <a:r>
              <a:rPr lang="en-US" sz="2700" dirty="0" err="1"/>
              <a:t>conn.close</a:t>
            </a:r>
            <a:r>
              <a:rPr lang="en-US" sz="2700" dirty="0"/>
              <a:t>() </a:t>
            </a:r>
          </a:p>
          <a:p>
            <a:endParaRPr lang="en-US" sz="2700" dirty="0"/>
          </a:p>
          <a:p>
            <a:r>
              <a:rPr lang="en-US" sz="2700" dirty="0"/>
              <a:t>end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time.time</a:t>
            </a:r>
            <a:r>
              <a:rPr lang="en-US" sz="2700" dirty="0"/>
              <a:t>()</a:t>
            </a:r>
          </a:p>
          <a:p>
            <a:r>
              <a:rPr lang="en-US" sz="2700" dirty="0" err="1"/>
              <a:t>tdeltaDisk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end - start</a:t>
            </a:r>
          </a:p>
          <a:p>
            <a:r>
              <a:rPr lang="en-US" sz="2700" dirty="0"/>
              <a:t>print(</a:t>
            </a:r>
            <a:r>
              <a:rPr lang="en-US" sz="2700" i="1" dirty="0" err="1"/>
              <a:t>f</a:t>
            </a:r>
            <a:r>
              <a:rPr lang="en-US" sz="2700" dirty="0" err="1"/>
              <a:t>"on</a:t>
            </a:r>
            <a:r>
              <a:rPr lang="en-US" sz="2700" dirty="0"/>
              <a:t> Disk storage </a:t>
            </a:r>
            <a:r>
              <a:rPr lang="en-US" sz="2700" dirty="0" err="1"/>
              <a:t>DataBase</a:t>
            </a:r>
            <a:r>
              <a:rPr lang="en-US" sz="2700" dirty="0"/>
              <a:t> execution interval was {</a:t>
            </a:r>
            <a:r>
              <a:rPr lang="en-US" sz="2700" dirty="0" err="1"/>
              <a:t>tdeltaDisk</a:t>
            </a:r>
            <a:r>
              <a:rPr lang="en-US" sz="2700" dirty="0"/>
              <a:t>}")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26ECB-6FE4-1C38-6AE6-4146F0B8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36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232A-3C2F-3531-3230-BE5469791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90D714-DAD2-7C68-E1D0-E218707D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datasets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E1B625-1ABE-EDCA-A414-ECAF3EC4C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50CEF-7B1A-18D2-9C37-6FE01C6B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93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E0B11C-5C7E-4627-04D9-CE73C753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Large Datasets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7192B-6BA6-707F-364D-72EE79937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employ efficient techniques for importing, querying, and indexing data</a:t>
            </a:r>
          </a:p>
          <a:p>
            <a:r>
              <a:rPr lang="en-US" dirty="0"/>
              <a:t>the SQLite command-line tool provides an .import command that can be used to import data from CSV files directly into table - method is useful for smaller datasets or when working directly in SQLite </a:t>
            </a:r>
          </a:p>
          <a:p>
            <a:r>
              <a:rPr lang="en-US" dirty="0"/>
              <a:t>for very large datasets, this method may not be the most 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FB991-626F-6D15-3730-7B364A27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59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4441-BC14-2D1D-5E4C-9B18B991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6E2E5-F197-4669-ED12-3422B5C57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larger datasets, using Python to perform bulk inserts can be more 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FDFC6-9CC7-87ED-FFC0-3351A06B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21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1C80-7202-7379-3E2B-0BFDB608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largeDataSets.py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7BB0A-6D8C-7B51-7B29-77A2B9812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csv</a:t>
            </a:r>
          </a:p>
          <a:p>
            <a:endParaRPr lang="en-US" sz="14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car.db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# Create the table (if it doesn't exist)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cursor.execute</a:t>
            </a:r>
            <a:r>
              <a:rPr lang="en-US" sz="2700" dirty="0"/>
              <a:t>('''</a:t>
            </a:r>
          </a:p>
          <a:p>
            <a:r>
              <a:rPr lang="en-US" sz="2700" dirty="0"/>
              <a:t>    CREATE TABLE IF NOT EXISTS car (</a:t>
            </a:r>
          </a:p>
          <a:p>
            <a:r>
              <a:rPr lang="en-US" sz="2400" dirty="0"/>
              <a:t>        ID INTEGER PRIMARY KEY ,</a:t>
            </a:r>
          </a:p>
          <a:p>
            <a:r>
              <a:rPr lang="en-US" sz="2400" dirty="0"/>
              <a:t>        CAR_MAKER  TEXT NOT NULL, </a:t>
            </a:r>
          </a:p>
          <a:p>
            <a:r>
              <a:rPr lang="en-US" sz="2400" dirty="0"/>
              <a:t>        CAR_MODEL  TEXT NOT NULL, </a:t>
            </a:r>
          </a:p>
          <a:p>
            <a:r>
              <a:rPr lang="en-US" sz="2400" dirty="0"/>
              <a:t>        COLOR  TEXT NOT NULL, </a:t>
            </a:r>
          </a:p>
          <a:p>
            <a:r>
              <a:rPr lang="en-US" sz="2400" dirty="0"/>
              <a:t>        TYPE  TEXT NOT NULL)'''   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C4204-87E9-3411-3EF0-AA542F1D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28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F8CFB-568A-7A5A-ED2D-9DDDFFD7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C012-8DCA-9331-8141-16C7EBBA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A9129-5EA2-3422-55E7-51C3D52DB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Autofit/>
          </a:bodyPr>
          <a:lstStyle/>
          <a:p>
            <a:r>
              <a:rPr lang="en-US" sz="2400" dirty="0"/>
              <a:t> </a:t>
            </a:r>
            <a:r>
              <a:rPr lang="en-US" sz="2400" i="1" dirty="0"/>
              <a:t># Read the CSV file and insert data in batches</a:t>
            </a:r>
            <a:endParaRPr lang="en-US" sz="2400" dirty="0"/>
          </a:p>
          <a:p>
            <a:r>
              <a:rPr lang="en-US" dirty="0"/>
              <a:t>    </a:t>
            </a:r>
            <a:r>
              <a:rPr lang="en-US" b="1" dirty="0" err="1"/>
              <a:t>batch_size</a:t>
            </a:r>
            <a:r>
              <a:rPr lang="en-US" b="1" dirty="0"/>
              <a:t> </a:t>
            </a:r>
            <a:r>
              <a:rPr lang="en-US" b="1" i="1" dirty="0"/>
              <a:t>=</a:t>
            </a:r>
            <a:r>
              <a:rPr lang="en-US" b="1" dirty="0"/>
              <a:t> 1000</a:t>
            </a:r>
          </a:p>
          <a:p>
            <a:r>
              <a:rPr lang="en-US" sz="2400" dirty="0"/>
              <a:t>    data </a:t>
            </a:r>
            <a:r>
              <a:rPr lang="en-US" sz="2400" i="1" dirty="0"/>
              <a:t>=</a:t>
            </a:r>
            <a:r>
              <a:rPr lang="en-US" sz="2400" dirty="0"/>
              <a:t> []</a:t>
            </a:r>
          </a:p>
          <a:p>
            <a:r>
              <a:rPr lang="en-US" sz="2400" dirty="0"/>
              <a:t>    </a:t>
            </a:r>
            <a:r>
              <a:rPr lang="en-US" sz="2400" i="1" dirty="0"/>
              <a:t>with</a:t>
            </a:r>
            <a:r>
              <a:rPr lang="en-US" sz="2400" dirty="0"/>
              <a:t> open('cars.csv', 'r') </a:t>
            </a:r>
            <a:r>
              <a:rPr lang="en-US" sz="2400" i="1" dirty="0"/>
              <a:t>as</a:t>
            </a:r>
            <a:r>
              <a:rPr lang="en-US" sz="2400" dirty="0"/>
              <a:t> file:</a:t>
            </a:r>
          </a:p>
          <a:p>
            <a:r>
              <a:rPr lang="en-US" sz="2400" dirty="0"/>
              <a:t>        </a:t>
            </a:r>
            <a:r>
              <a:rPr lang="en-US" sz="2400" dirty="0" err="1"/>
              <a:t>csv_reader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csv.reader</a:t>
            </a:r>
            <a:r>
              <a:rPr lang="en-US" sz="2400" dirty="0"/>
              <a:t>(file)</a:t>
            </a:r>
          </a:p>
          <a:p>
            <a:r>
              <a:rPr lang="en-US" sz="2400" dirty="0"/>
              <a:t>        next(</a:t>
            </a:r>
            <a:r>
              <a:rPr lang="en-US" sz="2400" dirty="0" err="1"/>
              <a:t>csv_reader</a:t>
            </a:r>
            <a:r>
              <a:rPr lang="en-US" sz="2400" dirty="0"/>
              <a:t>)  </a:t>
            </a:r>
            <a:r>
              <a:rPr lang="en-US" sz="2400" i="1" dirty="0"/>
              <a:t># Skip header row</a:t>
            </a:r>
            <a:endParaRPr lang="en-US" sz="2400" dirty="0"/>
          </a:p>
          <a:p>
            <a:r>
              <a:rPr lang="en-US" sz="2400" dirty="0"/>
              <a:t>        </a:t>
            </a:r>
            <a:r>
              <a:rPr lang="en-US" sz="2400" i="1" dirty="0"/>
              <a:t>for</a:t>
            </a:r>
            <a:r>
              <a:rPr lang="en-US" sz="2400" dirty="0"/>
              <a:t> row </a:t>
            </a:r>
            <a:r>
              <a:rPr lang="en-US" sz="2400" i="1" dirty="0"/>
              <a:t>in</a:t>
            </a:r>
            <a:r>
              <a:rPr lang="en-US" sz="2400" dirty="0"/>
              <a:t> </a:t>
            </a:r>
            <a:r>
              <a:rPr lang="en-US" sz="2400" dirty="0" err="1"/>
              <a:t>csv_reader</a:t>
            </a:r>
            <a:r>
              <a:rPr lang="en-US" sz="2400" dirty="0"/>
              <a:t>:</a:t>
            </a:r>
          </a:p>
          <a:p>
            <a:r>
              <a:rPr lang="en-US" sz="2400" dirty="0"/>
              <a:t>            </a:t>
            </a:r>
            <a:r>
              <a:rPr lang="en-US" sz="2400" dirty="0" err="1"/>
              <a:t>data.append</a:t>
            </a:r>
            <a:r>
              <a:rPr lang="en-US" sz="2400" dirty="0"/>
              <a:t>((int(row[0]), row[1], row[2], row[3], row[4]))</a:t>
            </a:r>
          </a:p>
          <a:p>
            <a:r>
              <a:rPr lang="en-US" sz="2400" dirty="0"/>
              <a:t>        </a:t>
            </a:r>
            <a:r>
              <a:rPr lang="en-US" sz="2400" i="1" dirty="0"/>
              <a:t>if</a:t>
            </a:r>
            <a:r>
              <a:rPr lang="en-US" sz="2400" dirty="0"/>
              <a:t> </a:t>
            </a:r>
            <a:r>
              <a:rPr lang="en-US" sz="2400" dirty="0" err="1"/>
              <a:t>len</a:t>
            </a:r>
            <a:r>
              <a:rPr lang="en-US" sz="2400" dirty="0"/>
              <a:t>(data) </a:t>
            </a:r>
            <a:r>
              <a:rPr lang="en-US" sz="2400" i="1" dirty="0"/>
              <a:t>==</a:t>
            </a:r>
            <a:r>
              <a:rPr lang="en-US" sz="2400" dirty="0"/>
              <a:t> </a:t>
            </a:r>
            <a:r>
              <a:rPr lang="en-US" sz="2400" dirty="0" err="1"/>
              <a:t>batch_size</a:t>
            </a:r>
            <a:r>
              <a:rPr lang="en-US" sz="2400" dirty="0"/>
              <a:t>:</a:t>
            </a:r>
          </a:p>
          <a:p>
            <a:r>
              <a:rPr lang="en-US" sz="2400" dirty="0"/>
              <a:t>            </a:t>
            </a:r>
            <a:r>
              <a:rPr lang="en-US" sz="2400" dirty="0" err="1"/>
              <a:t>cursor.</a:t>
            </a:r>
            <a:r>
              <a:rPr lang="en-US" sz="2400" b="1" dirty="0" err="1"/>
              <a:t>executemany</a:t>
            </a:r>
            <a:r>
              <a:rPr lang="en-US" sz="2400" dirty="0"/>
              <a:t>('''INSERT INTO car (id, </a:t>
            </a:r>
          </a:p>
          <a:p>
            <a:r>
              <a:rPr lang="en-US" sz="2400" dirty="0"/>
              <a:t>                </a:t>
            </a:r>
            <a:r>
              <a:rPr lang="en-US" sz="2400" dirty="0" err="1"/>
              <a:t>car_maker</a:t>
            </a:r>
            <a:r>
              <a:rPr lang="en-US" sz="2400" dirty="0"/>
              <a:t>, </a:t>
            </a:r>
            <a:r>
              <a:rPr lang="en-US" sz="2400" dirty="0" err="1"/>
              <a:t>car_model</a:t>
            </a:r>
            <a:r>
              <a:rPr lang="en-US" sz="2400" dirty="0"/>
              <a:t>, color, type) VALUES (?, ?, ?, ?, ?)''', data)</a:t>
            </a:r>
          </a:p>
          <a:p>
            <a:r>
              <a:rPr lang="en-US" sz="2400" dirty="0"/>
              <a:t>            data </a:t>
            </a:r>
            <a:r>
              <a:rPr lang="en-US" sz="2400" i="1" dirty="0"/>
              <a:t>=</a:t>
            </a:r>
            <a:r>
              <a:rPr lang="en-US" sz="2400" dirty="0"/>
              <a:t> []</a:t>
            </a:r>
          </a:p>
          <a:p>
            <a:r>
              <a:rPr lang="en-US" sz="2400" dirty="0"/>
              <a:t>            </a:t>
            </a:r>
            <a:r>
              <a:rPr lang="en-US" sz="2400" dirty="0" err="1"/>
              <a:t>conn.commit</a:t>
            </a:r>
            <a:r>
              <a:rPr lang="en-US" sz="24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541C9-E983-957D-E23B-7DF550AD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32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B7840-D10A-C60C-8A8C-E4A4AAD8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BF0E-0E0A-4FE7-D95B-E6AC4BE9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largeDataSets.py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3EEDC-30C1-7A79-6F68-1A6F18FB4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     </a:t>
            </a:r>
            <a:r>
              <a:rPr lang="en-US" sz="2700" i="1" dirty="0"/>
              <a:t># Insert any remaining data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i="1" dirty="0"/>
              <a:t>if</a:t>
            </a:r>
            <a:r>
              <a:rPr lang="en-US" sz="2700" dirty="0"/>
              <a:t> data:</a:t>
            </a:r>
          </a:p>
          <a:p>
            <a:r>
              <a:rPr lang="en-US" sz="2700" dirty="0"/>
              <a:t>        </a:t>
            </a:r>
            <a:r>
              <a:rPr lang="en-US" sz="2700" dirty="0" err="1"/>
              <a:t>cursor.executemany</a:t>
            </a:r>
            <a:r>
              <a:rPr lang="en-US" sz="2700" dirty="0"/>
              <a:t>('''INSERT INTO car (id, </a:t>
            </a:r>
          </a:p>
          <a:p>
            <a:r>
              <a:rPr lang="en-US" sz="2700" dirty="0"/>
              <a:t>            </a:t>
            </a:r>
            <a:r>
              <a:rPr lang="en-US" sz="2700" dirty="0" err="1"/>
              <a:t>car_maker</a:t>
            </a:r>
            <a:r>
              <a:rPr lang="en-US" sz="2700" dirty="0"/>
              <a:t>, </a:t>
            </a:r>
            <a:r>
              <a:rPr lang="en-US" sz="2700" dirty="0" err="1"/>
              <a:t>car_model</a:t>
            </a:r>
            <a:r>
              <a:rPr lang="en-US" sz="2700" dirty="0"/>
              <a:t>, color, type) VALUES (?, ?, ?, ?, ?)''', data)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conn.commit</a:t>
            </a:r>
            <a:r>
              <a:rPr lang="en-US" sz="2700" dirty="0"/>
              <a:t>()</a:t>
            </a:r>
          </a:p>
          <a:p>
            <a:endParaRPr lang="en-US" sz="1600" dirty="0"/>
          </a:p>
          <a:p>
            <a:r>
              <a:rPr lang="en-US" sz="2700" dirty="0"/>
              <a:t>print("Records inserted........") </a:t>
            </a:r>
          </a:p>
          <a:p>
            <a:r>
              <a:rPr lang="en-US" sz="2700" dirty="0" err="1"/>
              <a:t>conn.close</a:t>
            </a:r>
            <a:r>
              <a:rPr lang="en-US" sz="2700" dirty="0"/>
              <a:t>()    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EBC11-8C80-F659-60BB-10A38D04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65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BB29-0D9F-D875-D8CC-7A197E0D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Appropriate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93592-7771-9670-6DB7-5BBAB8816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indexes can significantly improve query performance, especially for large datasets</a:t>
            </a:r>
          </a:p>
          <a:p>
            <a:r>
              <a:rPr lang="en-US" dirty="0"/>
              <a:t>create indexes on columns that are frequently used in WHERE clauses, JOIN conditions, or ORDER BY clauses</a:t>
            </a:r>
          </a:p>
          <a:p>
            <a:r>
              <a:rPr lang="en-US" dirty="0"/>
              <a:t>avoid over-indexing, as it can slow down INSERT, UPDATE, and DELETE operations</a:t>
            </a:r>
          </a:p>
          <a:p>
            <a:r>
              <a:rPr lang="en-US" dirty="0"/>
              <a:t>use composite indexes for queries that frequently filter on multiple columns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D06B0-93F5-2AC6-B7D5-5211FA71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94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7EE7-2AF3-47CD-A1BB-EE7AFD5F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loadTitanicCSV.py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7A79F-85BB-8F1E-1ACB-1255B7C0F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csv</a:t>
            </a:r>
          </a:p>
          <a:p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titanic.db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# Create the table (if it doesn't exist)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cursor.execute</a:t>
            </a:r>
            <a:r>
              <a:rPr lang="en-US" sz="2700" dirty="0"/>
              <a:t>('''</a:t>
            </a:r>
          </a:p>
          <a:p>
            <a:r>
              <a:rPr lang="en-US" sz="2700" dirty="0"/>
              <a:t>    CREATE TABLE IF NOT EXISTS titanic (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CFA25-1EBB-EA18-FA99-D3F49129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15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C4CC-B76C-2EAE-FDFE-4A4A75FF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3F930-ECF6-E292-60C1-E8A27E63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loadTitanicCSV.py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05F6-8711-8C5D-8033-CDD6D7DD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        </a:t>
            </a:r>
            <a:r>
              <a:rPr lang="en-US" sz="2400" dirty="0" err="1"/>
              <a:t>PassengerId</a:t>
            </a:r>
            <a:r>
              <a:rPr lang="en-US" sz="2400" dirty="0"/>
              <a:t> integer primary key ,</a:t>
            </a:r>
          </a:p>
          <a:p>
            <a:r>
              <a:rPr lang="en-US" sz="2400" dirty="0"/>
              <a:t>        Survived integer ,			        </a:t>
            </a:r>
            <a:r>
              <a:rPr lang="en-US" sz="2400" dirty="0" err="1"/>
              <a:t>PClass</a:t>
            </a:r>
            <a:r>
              <a:rPr lang="en-US" sz="2400" dirty="0"/>
              <a:t> integer ,</a:t>
            </a:r>
          </a:p>
          <a:p>
            <a:r>
              <a:rPr lang="en-US" sz="2400" dirty="0"/>
              <a:t>        Name text ,				        Sex text ,</a:t>
            </a:r>
          </a:p>
          <a:p>
            <a:r>
              <a:rPr lang="en-US" sz="2400" dirty="0"/>
              <a:t>        Age real ,				        </a:t>
            </a:r>
            <a:r>
              <a:rPr lang="en-US" sz="2400" dirty="0" err="1"/>
              <a:t>SibSp</a:t>
            </a:r>
            <a:r>
              <a:rPr lang="en-US" sz="2400" dirty="0"/>
              <a:t> integer ,</a:t>
            </a:r>
          </a:p>
          <a:p>
            <a:r>
              <a:rPr lang="en-US" sz="2400" dirty="0"/>
              <a:t>        Parch integer ,				        Ticket  text ,</a:t>
            </a:r>
          </a:p>
          <a:p>
            <a:r>
              <a:rPr lang="en-US" sz="2400" dirty="0"/>
              <a:t>        Fare real ,				        Cabin   text ,</a:t>
            </a:r>
          </a:p>
          <a:p>
            <a:r>
              <a:rPr lang="en-US" sz="2400" dirty="0"/>
              <a:t>        Embarked text)'''</a:t>
            </a:r>
          </a:p>
          <a:p>
            <a:r>
              <a:rPr lang="en-US" sz="2400" dirty="0"/>
              <a:t>    )</a:t>
            </a:r>
          </a:p>
          <a:p>
            <a:endParaRPr lang="en-US" sz="1200" dirty="0"/>
          </a:p>
          <a:p>
            <a:r>
              <a:rPr lang="en-US" sz="2700" dirty="0"/>
              <a:t>    </a:t>
            </a:r>
            <a:r>
              <a:rPr lang="en-US" sz="2700" i="1" dirty="0"/>
              <a:t>with</a:t>
            </a:r>
            <a:r>
              <a:rPr lang="en-US" sz="2700" dirty="0"/>
              <a:t> open('titanic.csv', 'r') </a:t>
            </a:r>
            <a:r>
              <a:rPr lang="en-US" sz="2700" i="1" dirty="0"/>
              <a:t>as</a:t>
            </a:r>
            <a:r>
              <a:rPr lang="en-US" sz="2700" dirty="0"/>
              <a:t> file: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712BC-6414-6BD2-0583-CB742BBA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15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CDA8-0B9C-2FCF-71D0-E25A24D2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2709-58F2-124B-E034-DD206C2E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loadTitanicCSV.py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06F5-C17B-B195-C802-87A029CC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    </a:t>
            </a:r>
            <a:r>
              <a:rPr lang="en-US" sz="2700" i="1" dirty="0"/>
              <a:t>with</a:t>
            </a:r>
            <a:r>
              <a:rPr lang="en-US" sz="2700" dirty="0"/>
              <a:t> open('titanic.csv', 'r') </a:t>
            </a:r>
            <a:r>
              <a:rPr lang="en-US" sz="2700" i="1" dirty="0"/>
              <a:t>as</a:t>
            </a:r>
            <a:r>
              <a:rPr lang="en-US" sz="2700" dirty="0"/>
              <a:t> file:</a:t>
            </a:r>
          </a:p>
          <a:p>
            <a:r>
              <a:rPr lang="en-US" sz="2700" dirty="0"/>
              <a:t>        </a:t>
            </a:r>
            <a:r>
              <a:rPr lang="en-US" sz="2700" dirty="0" err="1"/>
              <a:t>csv_reader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csv.reader</a:t>
            </a:r>
            <a:r>
              <a:rPr lang="en-US" sz="2700" dirty="0"/>
              <a:t>(file)</a:t>
            </a:r>
          </a:p>
          <a:p>
            <a:r>
              <a:rPr lang="en-US" sz="2700" dirty="0"/>
              <a:t>        next(</a:t>
            </a:r>
            <a:r>
              <a:rPr lang="en-US" sz="2700" dirty="0" err="1"/>
              <a:t>csv_reader</a:t>
            </a:r>
            <a:r>
              <a:rPr lang="en-US" sz="2700" dirty="0"/>
              <a:t>)  </a:t>
            </a:r>
            <a:r>
              <a:rPr lang="en-US" sz="2700" i="1" dirty="0"/>
              <a:t># Skip header row</a:t>
            </a:r>
            <a:endParaRPr lang="en-US" sz="2700" dirty="0"/>
          </a:p>
          <a:p>
            <a:r>
              <a:rPr lang="en-US" sz="2700" dirty="0"/>
              <a:t>        data </a:t>
            </a:r>
            <a:r>
              <a:rPr lang="en-US" sz="2700" i="1" dirty="0"/>
              <a:t>=</a:t>
            </a:r>
            <a:r>
              <a:rPr lang="en-US" sz="2700" dirty="0"/>
              <a:t> [(int(row[0]), int(row[1]), int(row[2]), row[3], row[4], row[5], int(row[6]), int(row[7]), row[8], float(row[9]), row[10], row[11]) \</a:t>
            </a:r>
          </a:p>
          <a:p>
            <a:r>
              <a:rPr lang="en-US" sz="2700" dirty="0"/>
              <a:t>                </a:t>
            </a:r>
            <a:r>
              <a:rPr lang="en-US" sz="2700" i="1" dirty="0"/>
              <a:t>for</a:t>
            </a:r>
            <a:r>
              <a:rPr lang="en-US" sz="2700" dirty="0"/>
              <a:t> row </a:t>
            </a:r>
            <a:r>
              <a:rPr lang="en-US" sz="2700" i="1" dirty="0"/>
              <a:t>in</a:t>
            </a:r>
            <a:r>
              <a:rPr lang="en-US" sz="2700" dirty="0"/>
              <a:t> </a:t>
            </a:r>
            <a:r>
              <a:rPr lang="en-US" sz="2700" dirty="0" err="1"/>
              <a:t>csv_reader</a:t>
            </a:r>
            <a:r>
              <a:rPr lang="en-US" sz="2700" dirty="0"/>
              <a:t>]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EEEC-66EC-E9A2-17E6-5ED2EDA1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86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866B8-6194-3E58-7B2D-C9AA41B2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F83A-BFC2-2D26-BCFB-BAD07B74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loadTitanicCSV.py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E0328-AB7C-98E4-0845-C2D8B6029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        </a:t>
            </a:r>
            <a:r>
              <a:rPr lang="en-US" sz="2700" dirty="0" err="1"/>
              <a:t>cursor.executemany</a:t>
            </a:r>
            <a:r>
              <a:rPr lang="en-US" sz="2700" dirty="0"/>
              <a:t>('''INSERT INTO titanic (</a:t>
            </a:r>
          </a:p>
          <a:p>
            <a:r>
              <a:rPr lang="en-US" sz="2700" dirty="0"/>
              <a:t>            </a:t>
            </a:r>
            <a:r>
              <a:rPr lang="en-US" sz="2700" dirty="0" err="1"/>
              <a:t>PassengerId</a:t>
            </a:r>
            <a:r>
              <a:rPr lang="en-US" sz="2700" dirty="0"/>
              <a:t>, Survived, </a:t>
            </a:r>
            <a:r>
              <a:rPr lang="en-US" sz="2700" dirty="0" err="1"/>
              <a:t>PClass</a:t>
            </a:r>
            <a:r>
              <a:rPr lang="en-US" sz="2700" dirty="0"/>
              <a:t>, Name, Sex, Age,</a:t>
            </a:r>
          </a:p>
          <a:p>
            <a:r>
              <a:rPr lang="en-US" sz="2700" dirty="0"/>
              <a:t>            </a:t>
            </a:r>
            <a:r>
              <a:rPr lang="en-US" sz="2700" dirty="0" err="1"/>
              <a:t>SibSp</a:t>
            </a:r>
            <a:r>
              <a:rPr lang="en-US" sz="2700" dirty="0"/>
              <a:t>, Parch, Ticket, Fare, Cabin , Embarked ) </a:t>
            </a:r>
          </a:p>
          <a:p>
            <a:r>
              <a:rPr lang="en-US" sz="2700" dirty="0"/>
              <a:t>                    VALUES (?, ?, ?, ?, ?, ?, ?, ?, ?, ?, ?, ?)''', data)</a:t>
            </a:r>
          </a:p>
          <a:p>
            <a:r>
              <a:rPr lang="en-US" sz="2700" dirty="0"/>
              <a:t>        </a:t>
            </a:r>
            <a:r>
              <a:rPr lang="en-US" sz="2700" dirty="0" err="1"/>
              <a:t>conn.commit</a:t>
            </a:r>
            <a:r>
              <a:rPr lang="en-US" sz="2700" dirty="0"/>
              <a:t>()</a:t>
            </a:r>
          </a:p>
          <a:p>
            <a:endParaRPr lang="en-US" sz="1600" dirty="0"/>
          </a:p>
          <a:p>
            <a:r>
              <a:rPr lang="en-US" sz="2700" dirty="0"/>
              <a:t>print("Records inserted........") </a:t>
            </a:r>
          </a:p>
          <a:p>
            <a:r>
              <a:rPr lang="en-US" sz="2700" dirty="0" err="1"/>
              <a:t>conn.commit</a:t>
            </a:r>
            <a:r>
              <a:rPr lang="en-US" sz="2700" dirty="0"/>
              <a:t>()</a:t>
            </a:r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5A51F-5D90-572A-C0E6-3A00FE77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5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5317-3D30-C7B7-E8E5-3DEAE20B9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1166-FA57-0323-F327-8514149F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C40C42-9416-5056-8D0D-4F519C48E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365125"/>
            <a:ext cx="10625254" cy="59134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15AE4-DBC2-7DC1-02DC-2CC90F4E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03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BC7D88-52DA-B2AD-6340-69CD5883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04FF8A-E3B2-E291-BC28-569E523E0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A5931-2075-EF2B-E889-82404FF5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69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0E9F-E1DE-353B-4FD1-5EE17A6F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11F3A-738E-203D-81B1-D64F0F4C8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Pandas is a powerful data manipulation and analysis library for Python - combined with database, it provides robust toolkit for working with structured data</a:t>
            </a:r>
          </a:p>
          <a:p>
            <a:r>
              <a:rPr lang="en-US" dirty="0"/>
              <a:t>Pandas is built on top of NumPy and provides high-performance, easy-to use data structures and data analysis tools</a:t>
            </a:r>
          </a:p>
          <a:p>
            <a:r>
              <a:rPr lang="en-US" dirty="0"/>
              <a:t>primary data structures in Pandas are: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Series: a one-dimensional labeled array capable of holding any data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DataFrame</a:t>
            </a:r>
            <a:r>
              <a:rPr lang="en-US" dirty="0"/>
              <a:t>: a two-dimensional labeled data structure with columns of potentially different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293C3-8AFD-C6B5-D07E-E65ED4BE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65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C36B-24A5-F952-F677-FA5406A78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E56B-7828-8BE8-4E5C-7F9C6ED09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pandas as pd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EA921-69D8-E074-A52F-D2B90FCD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08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F1253C-3508-2537-2ADE-4F8DA935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NumPy</a:t>
            </a:r>
            <a:r>
              <a:rPr lang="en-US" dirty="0"/>
              <a:t>    </a:t>
            </a:r>
            <a:r>
              <a:rPr lang="en-US" dirty="0">
                <a:hlinkClick r:id="rId2"/>
              </a:rPr>
              <a:t>https://numpy.org/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FB6B1-AD23-9726-6AA4-B86079CA6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is a library for the Python programming language, adding support for large, multi-dimensional arrays and matrices, along with a large collection of high-level mathematical functions to operate on these arrays</a:t>
            </a:r>
          </a:p>
          <a:p>
            <a:r>
              <a:rPr lang="en-US" dirty="0"/>
              <a:t>NumPy is open-source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36533-CF58-A3AE-83BD-02C9A850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42EA40-55C1-5A3B-C1CB-644C24371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60" y="182874"/>
            <a:ext cx="3364992" cy="1518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287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C8E5-C2D8-FF8F-E66F-461E32AC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pandas - Python Data Analysis Library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2"/>
              </a:rPr>
              <a:t>https://pandas.pydata.org/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3B835-5E85-103F-E4E6-BBB475903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is a software library for the Python programming language for data manipulation and analysis - offers data structures and operations for manipulating numerical tables and time series</a:t>
            </a:r>
          </a:p>
          <a:p>
            <a:r>
              <a:rPr lang="en-US" dirty="0"/>
              <a:t>it is free software </a:t>
            </a:r>
          </a:p>
          <a:p>
            <a:r>
              <a:rPr lang="en-US" dirty="0"/>
              <a:t>introduced into Python many features of working with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library is built upon another library, NumPy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D97DC-C153-5B36-8C78-CF6052F9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35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F26E4C-A772-A8F1-AE51-D4BF4F48B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80" y="914400"/>
            <a:ext cx="3755136" cy="152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984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0E43-C846-C9D0-F61B-5B6D4BAD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846BE-0241-84E2-E33F-69E9E03E6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install </a:t>
            </a:r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pip install pandas</a:t>
            </a:r>
          </a:p>
          <a:p>
            <a:endParaRPr lang="en-US" dirty="0"/>
          </a:p>
          <a:p>
            <a:r>
              <a:rPr lang="en-US" dirty="0"/>
              <a:t>pandas provides convenient functions for reading from and writing to SQLite databases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65441-16D6-6787-E45C-8345D5ED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88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E8BD9-C5C6-660F-854E-FF9BCAF5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D12E-3E3B-3B2A-5BF5-0D872827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readDF.py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1C079-C559-A464-A39A-F5467741C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i="1" dirty="0"/>
              <a:t>import</a:t>
            </a:r>
            <a:r>
              <a:rPr lang="en-US" sz="2400" dirty="0"/>
              <a:t> pandas </a:t>
            </a:r>
            <a:r>
              <a:rPr lang="en-US" sz="2400" i="1" dirty="0"/>
              <a:t>as</a:t>
            </a:r>
            <a:r>
              <a:rPr lang="en-US" sz="2400" dirty="0"/>
              <a:t> pd</a:t>
            </a:r>
          </a:p>
          <a:p>
            <a:r>
              <a:rPr lang="en-US" sz="2400" i="1" dirty="0"/>
              <a:t>import</a:t>
            </a:r>
            <a:r>
              <a:rPr lang="en-US" sz="24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i="1" dirty="0"/>
              <a:t>    </a:t>
            </a:r>
            <a:r>
              <a:rPr lang="en-US" sz="2700" i="1" dirty="0" err="1"/>
              <a:t>df</a:t>
            </a:r>
            <a:r>
              <a:rPr lang="en-US" sz="2700" i="1" dirty="0"/>
              <a:t> = </a:t>
            </a:r>
            <a:r>
              <a:rPr lang="en-US" sz="2700" i="1" dirty="0" err="1"/>
              <a:t>pd.read_sql_query</a:t>
            </a:r>
            <a:r>
              <a:rPr lang="en-US" sz="2700" i="1" dirty="0"/>
              <a:t>("SELECT * FROM EMPLOYEE", conn)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Close the connection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D1B55-6F6E-3188-E3B7-35A205F1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22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8F50-814C-F356-CE1B-9904F117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readDF.py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FC18-DD6A-F1D0-B503-E33D7E98B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2700" dirty="0"/>
          </a:p>
          <a:p>
            <a:r>
              <a:rPr lang="en-US" sz="2700" dirty="0"/>
              <a:t> </a:t>
            </a:r>
            <a:r>
              <a:rPr lang="en-US" sz="2700" i="1" dirty="0"/>
              <a:t># Close the connection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  <a:p>
            <a:endParaRPr lang="en-US" sz="2700" dirty="0"/>
          </a:p>
          <a:p>
            <a:r>
              <a:rPr lang="en-US" sz="2700" i="1" dirty="0"/>
              <a:t># Display the first few rows of the </a:t>
            </a:r>
            <a:r>
              <a:rPr lang="en-US" sz="2700" i="1" dirty="0" err="1"/>
              <a:t>DataFrame</a:t>
            </a:r>
            <a:endParaRPr lang="en-US" sz="2700" dirty="0"/>
          </a:p>
          <a:p>
            <a:r>
              <a:rPr lang="en-US" sz="2700" dirty="0"/>
              <a:t>print(</a:t>
            </a:r>
            <a:r>
              <a:rPr lang="en-US" sz="2700" dirty="0" err="1"/>
              <a:t>df.head</a:t>
            </a:r>
            <a:r>
              <a:rPr lang="en-US" sz="2700" dirty="0"/>
              <a:t>())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D6210-DF1C-554D-927F-B266AF0B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32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9CFD-596A-97B8-9EAF-13B6078E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E5DA-CEA0-0643-5B10-D61B443C3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&gt; python readDF.py</a:t>
            </a:r>
          </a:p>
          <a:p>
            <a:r>
              <a:rPr lang="en-US" dirty="0"/>
              <a:t>   ID    FIRST_NAME       LAST_NAME  AGE GENDER  INCOME</a:t>
            </a:r>
          </a:p>
          <a:p>
            <a:r>
              <a:rPr lang="en-US" dirty="0"/>
              <a:t>0   1       Daniela           CRUDU   27      F  9000.0</a:t>
            </a:r>
          </a:p>
          <a:p>
            <a:r>
              <a:rPr lang="en-US" dirty="0"/>
              <a:t>1   2          Nina         ILIESCU   99      F  5000.0</a:t>
            </a:r>
          </a:p>
          <a:p>
            <a:r>
              <a:rPr lang="en-US" dirty="0"/>
              <a:t>2   3          Emil  CONSTANTINESCU   89      M  6000.0</a:t>
            </a:r>
          </a:p>
          <a:p>
            <a:r>
              <a:rPr lang="en-US" dirty="0"/>
              <a:t>3   4        Traian         BASESCU   78      M  7000.0</a:t>
            </a:r>
          </a:p>
          <a:p>
            <a:r>
              <a:rPr lang="en-US" dirty="0"/>
              <a:t>4   5  Klaus Werner        JOHANNIS   67      M  8000.0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62CEC-8A32-8A23-8163-9324ADCF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886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1391-281F-DCB2-77D3-423F7730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writeDF.py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CADB6-E0DC-66DD-3D22-A0C42DFC4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pandas </a:t>
            </a:r>
            <a:r>
              <a:rPr lang="en-US" sz="2700" i="1" dirty="0"/>
              <a:t>as</a:t>
            </a:r>
            <a:r>
              <a:rPr lang="en-US" sz="2700" dirty="0"/>
              <a:t> pd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Create a sample </a:t>
            </a:r>
            <a:r>
              <a:rPr lang="en-US" sz="2700" i="1" dirty="0" err="1"/>
              <a:t>DataFrame</a:t>
            </a:r>
            <a:endParaRPr lang="en-US" sz="2700" dirty="0"/>
          </a:p>
          <a:p>
            <a:r>
              <a:rPr lang="en-US" sz="2700" dirty="0"/>
              <a:t>data </a:t>
            </a:r>
            <a:r>
              <a:rPr lang="en-US" sz="2700" i="1" dirty="0"/>
              <a:t>=</a:t>
            </a:r>
            <a:r>
              <a:rPr lang="en-US" sz="2700" dirty="0"/>
              <a:t> {</a:t>
            </a:r>
          </a:p>
          <a:p>
            <a:r>
              <a:rPr lang="en-US" sz="2700" dirty="0"/>
              <a:t>'name': ['Alexandru', 'Bogdan', 'Calin'],</a:t>
            </a:r>
          </a:p>
          <a:p>
            <a:r>
              <a:rPr lang="en-US" sz="2700" dirty="0"/>
              <a:t>'age': [25, 30, 55],</a:t>
            </a:r>
          </a:p>
          <a:p>
            <a:r>
              <a:rPr lang="en-US" sz="2700" dirty="0"/>
              <a:t>'city': ['New York', 'San Francisco', 'Los Angeles']</a:t>
            </a:r>
          </a:p>
          <a:p>
            <a:r>
              <a:rPr lang="en-US" sz="2700" dirty="0"/>
              <a:t>}</a:t>
            </a:r>
          </a:p>
          <a:p>
            <a:r>
              <a:rPr lang="en-US" sz="2700" dirty="0" err="1"/>
              <a:t>df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pd.DataFrame</a:t>
            </a:r>
            <a:r>
              <a:rPr lang="en-US" sz="2700" dirty="0"/>
              <a:t>(data)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17D5F-F5EA-5027-0806-365B5972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97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DC32E-8864-1846-D353-4C76868DB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5E81-4A53-AC00-2E61-859496E7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1549-1B12-C477-A0B4-577C0AE40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Autofit/>
          </a:bodyPr>
          <a:lstStyle/>
          <a:p>
            <a:r>
              <a:rPr lang="en-US" sz="2700" i="1" dirty="0"/>
              <a:t># Connect to the SQLite database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# Write the </a:t>
            </a:r>
            <a:r>
              <a:rPr lang="en-US" sz="2700" i="1" dirty="0" err="1"/>
              <a:t>DataFrame</a:t>
            </a:r>
            <a:r>
              <a:rPr lang="en-US" sz="2700" i="1" dirty="0"/>
              <a:t> to a new table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df.to_sql</a:t>
            </a:r>
            <a:r>
              <a:rPr lang="en-US" sz="2700" dirty="0"/>
              <a:t>('people', conn, </a:t>
            </a:r>
            <a:r>
              <a:rPr lang="en-US" sz="2700" i="1" dirty="0" err="1"/>
              <a:t>if_exists</a:t>
            </a:r>
            <a:r>
              <a:rPr lang="en-US" sz="2700" i="1" dirty="0"/>
              <a:t>=</a:t>
            </a:r>
            <a:r>
              <a:rPr lang="en-US" sz="2700" dirty="0"/>
              <a:t>'replace', </a:t>
            </a:r>
            <a:r>
              <a:rPr lang="en-US" sz="2700" i="1" dirty="0"/>
              <a:t>index=</a:t>
            </a:r>
            <a:r>
              <a:rPr lang="en-US" sz="2700" dirty="0"/>
              <a:t>False)</a:t>
            </a:r>
          </a:p>
          <a:p>
            <a:endParaRPr lang="en-US" sz="1600" dirty="0"/>
          </a:p>
          <a:p>
            <a:r>
              <a:rPr lang="en-US" sz="2400" dirty="0"/>
              <a:t>print("Records inserted........") </a:t>
            </a:r>
          </a:p>
          <a:p>
            <a:r>
              <a:rPr lang="en-US" sz="2400" dirty="0" err="1"/>
              <a:t>conn.commit</a:t>
            </a:r>
            <a:r>
              <a:rPr lang="en-US" sz="2400" dirty="0"/>
              <a:t>()</a:t>
            </a:r>
          </a:p>
          <a:p>
            <a:r>
              <a:rPr lang="en-US" sz="2400" i="1" dirty="0"/>
              <a:t># Close the connection</a:t>
            </a:r>
            <a:endParaRPr lang="en-US" sz="2400" dirty="0"/>
          </a:p>
          <a:p>
            <a:r>
              <a:rPr lang="en-US" sz="2400" dirty="0" err="1"/>
              <a:t>conn.close</a:t>
            </a:r>
            <a:r>
              <a:rPr lang="en-US" sz="2400" dirty="0"/>
              <a:t>()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99737-E337-A93C-C391-415EC0B8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941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5793-A0F1-6EC0-6BB6-257AFE3B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C845-2A84-D252-1E77-03F98A51A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	name		age	city</a:t>
            </a:r>
          </a:p>
          <a:p>
            <a:r>
              <a:rPr lang="en-US" dirty="0"/>
              <a:t>0	Alexandru	25	New York</a:t>
            </a:r>
          </a:p>
          <a:p>
            <a:r>
              <a:rPr lang="en-US" dirty="0"/>
              <a:t>1	Bogdan	30	San Francisco</a:t>
            </a:r>
          </a:p>
          <a:p>
            <a:r>
              <a:rPr lang="en-US" dirty="0"/>
              <a:t>2	Calin		55	Los Angeles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67448-21D7-D6E0-C8EC-4BFED12E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72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653B-8565-AD53-CD63-FF92C1ECB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9010E6-F994-01B2-031C-327E5EB86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74320"/>
            <a:ext cx="10429408" cy="61319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F546D-53D8-6BF7-7C2B-F98018AC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69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373C-4799-AEC0-91FF-C35D1E2C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EFD1-0BAC-8C3E-036C-906948D86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if_exists</a:t>
            </a:r>
            <a:r>
              <a:rPr lang="en-US" dirty="0"/>
              <a:t> parameter in </a:t>
            </a:r>
            <a:r>
              <a:rPr lang="en-US" dirty="0" err="1"/>
              <a:t>to_sql</a:t>
            </a:r>
            <a:r>
              <a:rPr lang="en-US" dirty="0"/>
              <a:t>() can be set to: </a:t>
            </a:r>
          </a:p>
          <a:p>
            <a:pPr lvl="1"/>
            <a:r>
              <a:rPr lang="en-US" sz="2700" dirty="0"/>
              <a:t>'fail': raise a </a:t>
            </a:r>
            <a:r>
              <a:rPr lang="en-US" sz="2700" dirty="0" err="1"/>
              <a:t>ValueError</a:t>
            </a:r>
            <a:r>
              <a:rPr lang="en-US" sz="2700" dirty="0"/>
              <a:t> if the table exists (default) </a:t>
            </a:r>
          </a:p>
          <a:p>
            <a:pPr lvl="1"/>
            <a:r>
              <a:rPr lang="en-US" sz="2700" dirty="0"/>
              <a:t>'replace': drop the table before inserting new values</a:t>
            </a:r>
          </a:p>
          <a:p>
            <a:pPr lvl="1"/>
            <a:r>
              <a:rPr lang="en-US" sz="2700"/>
              <a:t>'append': </a:t>
            </a:r>
            <a:r>
              <a:rPr lang="en-US" sz="2700" dirty="0"/>
              <a:t>insert new values to the existing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31299-B8BE-6E94-6D74-9BB3D327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83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108A-6983-3FDD-D3E8-5DB6E176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loadTitanicJSON.py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72ECE-42FB-99ED-2438-3AC392CE0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pandas </a:t>
            </a:r>
            <a:r>
              <a:rPr lang="en-US" sz="2700" i="1" dirty="0"/>
              <a:t>as</a:t>
            </a:r>
            <a:r>
              <a:rPr lang="en-US" sz="2700" dirty="0"/>
              <a:t> pd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endParaRPr lang="en-US" sz="1600" dirty="0"/>
          </a:p>
          <a:p>
            <a:r>
              <a:rPr lang="en-US" sz="2700" i="1" dirty="0" err="1"/>
              <a:t>df</a:t>
            </a:r>
            <a:r>
              <a:rPr lang="en-US" sz="2700" i="1" dirty="0"/>
              <a:t> = </a:t>
            </a:r>
            <a:r>
              <a:rPr lang="en-US" sz="2700" i="1" dirty="0" err="1"/>
              <a:t>pd.read_json</a:t>
            </a:r>
            <a:r>
              <a:rPr lang="en-US" sz="2700" i="1" dirty="0"/>
              <a:t>('</a:t>
            </a:r>
            <a:r>
              <a:rPr lang="en-US" sz="2700" i="1" dirty="0" err="1"/>
              <a:t>titanic.json</a:t>
            </a:r>
            <a:r>
              <a:rPr lang="en-US" sz="2700" i="1" dirty="0"/>
              <a:t>')</a:t>
            </a:r>
          </a:p>
          <a:p>
            <a:endParaRPr lang="en-US" sz="1600" i="1" dirty="0"/>
          </a:p>
          <a:p>
            <a:r>
              <a:rPr lang="en-US" sz="2700" i="1" dirty="0"/>
              <a:t># Connect to the SQLite database</a:t>
            </a:r>
            <a:endParaRPr lang="en-US" sz="2700" dirty="0"/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C9280-8EDF-B32D-0CFF-FAE3DB57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0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BB4C3-BBF6-D45F-71DB-A7408600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8913-0C10-C5A7-1BB7-E9D6932B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loadTitanicJSON.py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8F639-39B0-0EC2-7298-4A16028E9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titanic.db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# Write the </a:t>
            </a:r>
            <a:r>
              <a:rPr lang="en-US" sz="2700" i="1" dirty="0" err="1"/>
              <a:t>DataFrame</a:t>
            </a:r>
            <a:r>
              <a:rPr lang="en-US" sz="2700" i="1" dirty="0"/>
              <a:t> to a new table</a:t>
            </a:r>
            <a:endParaRPr lang="en-US" sz="2700" dirty="0"/>
          </a:p>
          <a:p>
            <a:r>
              <a:rPr lang="en-US" sz="2700" i="1" dirty="0"/>
              <a:t>    </a:t>
            </a:r>
            <a:r>
              <a:rPr lang="en-US" sz="2700" i="1" dirty="0" err="1"/>
              <a:t>df.to_sql</a:t>
            </a:r>
            <a:r>
              <a:rPr lang="en-US" sz="2700" i="1" dirty="0"/>
              <a:t>('titanic', conn, </a:t>
            </a:r>
            <a:r>
              <a:rPr lang="en-US" sz="2700" i="1" dirty="0" err="1"/>
              <a:t>if_exists</a:t>
            </a:r>
            <a:r>
              <a:rPr lang="en-US" sz="2700" i="1" dirty="0"/>
              <a:t>='replace')</a:t>
            </a:r>
          </a:p>
          <a:p>
            <a:endParaRPr lang="en-US" sz="1600" dirty="0"/>
          </a:p>
          <a:p>
            <a:r>
              <a:rPr lang="en-US" sz="2400" dirty="0"/>
              <a:t>print("Records inserted........") </a:t>
            </a:r>
          </a:p>
          <a:p>
            <a:r>
              <a:rPr lang="en-US" sz="2400" dirty="0" err="1"/>
              <a:t>conn.commit</a:t>
            </a:r>
            <a:r>
              <a:rPr lang="en-US" sz="2400" dirty="0"/>
              <a:t>()</a:t>
            </a:r>
          </a:p>
          <a:p>
            <a:r>
              <a:rPr lang="en-US" sz="2400" i="1" dirty="0"/>
              <a:t># Close the connection</a:t>
            </a:r>
            <a:endParaRPr lang="en-US" sz="2400" dirty="0"/>
          </a:p>
          <a:p>
            <a:r>
              <a:rPr lang="en-US" sz="2400" dirty="0" err="1"/>
              <a:t>conn.close</a:t>
            </a:r>
            <a:r>
              <a:rPr lang="en-US" sz="2400" dirty="0"/>
              <a:t>()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39C9-6D89-CD1D-4CB6-696BE243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222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B37DF-67AD-4085-14C7-5CCED34D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CA6F0-2110-1272-933C-B9014EECE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300" dirty="0"/>
              <a:t> &gt; python loadTitanicJSON.py</a:t>
            </a:r>
          </a:p>
          <a:p>
            <a:r>
              <a:rPr lang="en-US" sz="2300" dirty="0"/>
              <a:t>     </a:t>
            </a:r>
            <a:r>
              <a:rPr lang="en-US" sz="2300" dirty="0" err="1"/>
              <a:t>PassengerId</a:t>
            </a:r>
            <a:r>
              <a:rPr lang="en-US" sz="2300" dirty="0"/>
              <a:t>  Survived  </a:t>
            </a:r>
            <a:r>
              <a:rPr lang="en-US" sz="2300" dirty="0" err="1"/>
              <a:t>PClass</a:t>
            </a:r>
            <a:r>
              <a:rPr lang="en-US" sz="2300" dirty="0"/>
              <a:t>  ...     Fare Cabin Embarked</a:t>
            </a:r>
          </a:p>
          <a:p>
            <a:r>
              <a:rPr lang="en-US" sz="2300" dirty="0"/>
              <a:t>0              1         0       3  ...   7.2500              S</a:t>
            </a:r>
          </a:p>
          <a:p>
            <a:r>
              <a:rPr lang="en-US" sz="2300" dirty="0"/>
              <a:t>1              2         1       1  ...  71.2833   C85        C</a:t>
            </a:r>
          </a:p>
          <a:p>
            <a:r>
              <a:rPr lang="en-US" sz="2300" dirty="0"/>
              <a:t>2              3         1       3  ...   7.9250              S</a:t>
            </a:r>
          </a:p>
          <a:p>
            <a:r>
              <a:rPr lang="en-US" sz="2300" dirty="0"/>
              <a:t>3              4         1       1  ...  53.1000  C123        S</a:t>
            </a:r>
          </a:p>
          <a:p>
            <a:r>
              <a:rPr lang="en-US" sz="2300" dirty="0"/>
              <a:t>..           ...       ...     ...  ...      ...   ...      ...</a:t>
            </a:r>
          </a:p>
          <a:p>
            <a:r>
              <a:rPr lang="en-US" sz="2300" dirty="0"/>
              <a:t>889          890         1       1  ...  30.0000  C148        C</a:t>
            </a:r>
          </a:p>
          <a:p>
            <a:r>
              <a:rPr lang="en-US" sz="2300" dirty="0"/>
              <a:t>890          891         0       3  ...   7.7500              Q</a:t>
            </a:r>
          </a:p>
          <a:p>
            <a:endParaRPr lang="en-US" sz="2300" dirty="0"/>
          </a:p>
          <a:p>
            <a:r>
              <a:rPr lang="en-US" sz="2300" dirty="0"/>
              <a:t>[891 rows x 12 columns]</a:t>
            </a:r>
          </a:p>
          <a:p>
            <a:r>
              <a:rPr lang="en-US" sz="2300" dirty="0"/>
              <a:t>Records inserted........</a:t>
            </a:r>
          </a:p>
          <a:p>
            <a:endParaRPr lang="en-US" sz="2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45DF-1ED6-D21D-782F-4D26476E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098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3890D-09D4-A2FF-B779-7BD1C696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ED3A3C-61A8-7400-A598-E16BF3795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365125"/>
            <a:ext cx="10625254" cy="59134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B50F7-BD0D-5A48-6929-4A969DD6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448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4AC4-E320-A3B9-3801-4EF76F32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with Pandas and 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6A08-DC76-3E54-785C-264954D3B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CBB1E-4E66-1F14-5124-9EF15F09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24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595F7-7FFF-9AEC-3C36-45DF9A9C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5E9DD-95CE-258E-6D40-5970ED862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Filtering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B1270-1D58-DDB7-B5B8-F705E643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75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443E-AF3F-C291-29C1-7C58C4DD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filterDF.py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7A31E-A945-6986-646D-AA317A6EC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pandas </a:t>
            </a:r>
            <a:r>
              <a:rPr lang="en-US" sz="2700" i="1" dirty="0"/>
              <a:t>as</a:t>
            </a:r>
            <a:r>
              <a:rPr lang="en-US" sz="2700" dirty="0"/>
              <a:t> pd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titanic.db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df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pd.read_sql_query</a:t>
            </a:r>
            <a:r>
              <a:rPr lang="en-US" sz="2700" dirty="0"/>
              <a:t>("SELECT * FROM titanic", conn)</a:t>
            </a:r>
          </a:p>
          <a:p>
            <a:r>
              <a:rPr lang="en-US" sz="2700" i="1" dirty="0"/>
              <a:t># Close the connection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10C30-90F2-6759-996A-8B5374BF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401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F8A4-74A1-006F-5F2C-DB8FB321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0706-3C5C-039D-DD7B-031FCB15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filterDF.py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288A3-20EC-C00D-09E2-AE888AA0A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258529"/>
            <a:ext cx="11287431" cy="4918434"/>
          </a:xfrm>
        </p:spPr>
        <p:txBody>
          <a:bodyPr>
            <a:noAutofit/>
          </a:bodyPr>
          <a:lstStyle/>
          <a:p>
            <a:r>
              <a:rPr lang="en-US" sz="2700" b="1" i="1" dirty="0"/>
              <a:t># Filter rows based on a condition</a:t>
            </a:r>
            <a:endParaRPr lang="en-US" sz="2700" b="1" dirty="0"/>
          </a:p>
          <a:p>
            <a:r>
              <a:rPr lang="en-US" sz="2700" b="1" dirty="0"/>
              <a:t>minors </a:t>
            </a:r>
            <a:r>
              <a:rPr lang="en-US" sz="2700" b="1" i="1" dirty="0"/>
              <a:t>=</a:t>
            </a:r>
            <a:r>
              <a:rPr lang="en-US" sz="2700" b="1" dirty="0"/>
              <a:t> </a:t>
            </a:r>
            <a:r>
              <a:rPr lang="en-US" sz="2700" b="1" dirty="0" err="1"/>
              <a:t>df</a:t>
            </a:r>
            <a:r>
              <a:rPr lang="en-US" sz="2700" b="1" dirty="0"/>
              <a:t>[</a:t>
            </a:r>
            <a:r>
              <a:rPr lang="en-US" sz="2700" b="1" dirty="0" err="1"/>
              <a:t>df</a:t>
            </a:r>
            <a:r>
              <a:rPr lang="en-US" sz="2700" b="1" dirty="0"/>
              <a:t>['Age'] </a:t>
            </a:r>
            <a:r>
              <a:rPr lang="en-US" sz="2700" b="1" i="1" dirty="0"/>
              <a:t>&lt;</a:t>
            </a:r>
            <a:r>
              <a:rPr lang="en-US" sz="2700" b="1" dirty="0"/>
              <a:t> 18]</a:t>
            </a:r>
          </a:p>
          <a:p>
            <a:r>
              <a:rPr lang="en-US" sz="2700" dirty="0"/>
              <a:t>print("minors")</a:t>
            </a:r>
          </a:p>
          <a:p>
            <a:r>
              <a:rPr lang="en-US" sz="2700" i="1" dirty="0"/>
              <a:t>for</a:t>
            </a:r>
            <a:r>
              <a:rPr lang="en-US" sz="2700" dirty="0"/>
              <a:t> index, row </a:t>
            </a:r>
            <a:r>
              <a:rPr lang="en-US" sz="2700" i="1" dirty="0"/>
              <a:t>in</a:t>
            </a:r>
            <a:r>
              <a:rPr lang="en-US" sz="2700" dirty="0"/>
              <a:t> </a:t>
            </a:r>
            <a:r>
              <a:rPr lang="en-US" sz="2700" dirty="0" err="1"/>
              <a:t>minors.iterrows</a:t>
            </a:r>
            <a:r>
              <a:rPr lang="en-US" sz="2700" dirty="0"/>
              <a:t>():</a:t>
            </a:r>
          </a:p>
          <a:p>
            <a:r>
              <a:rPr lang="en-US" sz="2700" dirty="0"/>
              <a:t>    print(</a:t>
            </a:r>
            <a:r>
              <a:rPr lang="en-US" sz="2700" i="1" dirty="0"/>
              <a:t>f</a:t>
            </a:r>
            <a:r>
              <a:rPr lang="en-US" sz="2700" dirty="0"/>
              <a:t>"{row['Name']}, Age {row['Age']}")</a:t>
            </a:r>
          </a:p>
          <a:p>
            <a:endParaRPr lang="en-US" sz="1600" dirty="0"/>
          </a:p>
          <a:p>
            <a:r>
              <a:rPr lang="en-US" sz="2700" b="1" dirty="0"/>
              <a:t> </a:t>
            </a:r>
            <a:r>
              <a:rPr lang="en-US" sz="2700" b="1" i="1" dirty="0"/>
              <a:t># Filter rows based on multiple conditions</a:t>
            </a:r>
            <a:endParaRPr lang="en-US" sz="2700" b="1" dirty="0"/>
          </a:p>
          <a:p>
            <a:r>
              <a:rPr lang="en-US" sz="2700" b="1" dirty="0" err="1"/>
              <a:t>poor_girls</a:t>
            </a:r>
            <a:r>
              <a:rPr lang="en-US" sz="2700" b="1" dirty="0"/>
              <a:t> </a:t>
            </a:r>
            <a:r>
              <a:rPr lang="en-US" sz="2700" b="1" i="1" dirty="0"/>
              <a:t>=</a:t>
            </a:r>
            <a:r>
              <a:rPr lang="en-US" sz="2700" b="1" dirty="0"/>
              <a:t> </a:t>
            </a:r>
            <a:r>
              <a:rPr lang="en-US" sz="2700" b="1" dirty="0" err="1"/>
              <a:t>df</a:t>
            </a:r>
            <a:r>
              <a:rPr lang="en-US" sz="2700" b="1" dirty="0"/>
              <a:t>[(</a:t>
            </a:r>
            <a:r>
              <a:rPr lang="en-US" sz="2700" b="1" dirty="0" err="1"/>
              <a:t>df</a:t>
            </a:r>
            <a:r>
              <a:rPr lang="en-US" sz="2700" b="1" dirty="0"/>
              <a:t>['Age'] </a:t>
            </a:r>
            <a:r>
              <a:rPr lang="en-US" sz="2700" b="1" i="1" dirty="0"/>
              <a:t>&lt;</a:t>
            </a:r>
            <a:r>
              <a:rPr lang="en-US" sz="2700" b="1" dirty="0"/>
              <a:t> 18) </a:t>
            </a:r>
            <a:r>
              <a:rPr lang="en-US" sz="2700" b="1" i="1" dirty="0"/>
              <a:t>&amp;</a:t>
            </a:r>
            <a:r>
              <a:rPr lang="en-US" sz="2700" b="1" dirty="0"/>
              <a:t> (</a:t>
            </a:r>
            <a:r>
              <a:rPr lang="en-US" sz="2700" b="1" dirty="0" err="1"/>
              <a:t>df</a:t>
            </a:r>
            <a:r>
              <a:rPr lang="en-US" sz="2700" b="1" dirty="0"/>
              <a:t>['Sex'] </a:t>
            </a:r>
            <a:r>
              <a:rPr lang="en-US" sz="2700" b="1" i="1" dirty="0"/>
              <a:t>==</a:t>
            </a:r>
            <a:r>
              <a:rPr lang="en-US" sz="2700" b="1" dirty="0"/>
              <a:t> 'female') </a:t>
            </a:r>
            <a:r>
              <a:rPr lang="en-US" sz="2700" b="1" i="1" dirty="0"/>
              <a:t>&amp;</a:t>
            </a:r>
            <a:r>
              <a:rPr lang="en-US" sz="2700" b="1" dirty="0"/>
              <a:t> (</a:t>
            </a:r>
            <a:r>
              <a:rPr lang="en-US" sz="2700" b="1" dirty="0" err="1"/>
              <a:t>df</a:t>
            </a:r>
            <a:r>
              <a:rPr lang="en-US" sz="2700" b="1" dirty="0"/>
              <a:t>['Fare'] </a:t>
            </a:r>
            <a:r>
              <a:rPr lang="en-US" sz="2700" b="1" i="1" dirty="0"/>
              <a:t>&lt;</a:t>
            </a:r>
            <a:r>
              <a:rPr lang="en-US" sz="2700" b="1" dirty="0"/>
              <a:t> 10)]</a:t>
            </a:r>
          </a:p>
          <a:p>
            <a:r>
              <a:rPr lang="en-US" sz="2700" dirty="0"/>
              <a:t>print("poor girls")</a:t>
            </a:r>
          </a:p>
          <a:p>
            <a:r>
              <a:rPr lang="en-US" sz="2700" i="1" dirty="0"/>
              <a:t>for</a:t>
            </a:r>
            <a:r>
              <a:rPr lang="en-US" sz="2700" dirty="0"/>
              <a:t> index, row </a:t>
            </a:r>
            <a:r>
              <a:rPr lang="en-US" sz="2700" i="1" dirty="0"/>
              <a:t>in</a:t>
            </a:r>
            <a:r>
              <a:rPr lang="en-US" sz="2700" dirty="0"/>
              <a:t> </a:t>
            </a:r>
            <a:r>
              <a:rPr lang="en-US" sz="2700" dirty="0" err="1"/>
              <a:t>poor_girls.iterrows</a:t>
            </a:r>
            <a:r>
              <a:rPr lang="en-US" sz="2700" dirty="0"/>
              <a:t>():</a:t>
            </a:r>
          </a:p>
          <a:p>
            <a:r>
              <a:rPr lang="en-US" sz="2700" dirty="0"/>
              <a:t>    print(</a:t>
            </a:r>
            <a:r>
              <a:rPr lang="en-US" sz="2700" i="1" dirty="0"/>
              <a:t>f</a:t>
            </a:r>
            <a:r>
              <a:rPr lang="en-US" sz="2700" dirty="0"/>
              <a:t>"{row['Name']} {row['Age']} year - Fare: {row['Fare']}")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23A04-8665-131F-1D45-66CCBEC2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80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EC95-2524-5747-4518-A32F297B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&gt; python filterDF.py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0FF6E-40E2-DACF-5007-F7D8BC401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minors</a:t>
            </a:r>
          </a:p>
          <a:p>
            <a:r>
              <a:rPr lang="en-US" sz="2000" dirty="0"/>
              <a:t>Palsson, Master. Gosta Leonard, Age 2.0</a:t>
            </a:r>
          </a:p>
          <a:p>
            <a:r>
              <a:rPr lang="en-US" sz="2000" dirty="0"/>
              <a:t>Nasser, Mrs. Nicholas (Adele </a:t>
            </a:r>
            <a:r>
              <a:rPr lang="en-US" sz="2000" dirty="0" err="1"/>
              <a:t>Achem</a:t>
            </a:r>
            <a:r>
              <a:rPr lang="en-US" sz="2000" dirty="0"/>
              <a:t>), Age 14.0</a:t>
            </a:r>
          </a:p>
          <a:p>
            <a:r>
              <a:rPr lang="en-US" sz="2000" dirty="0"/>
              <a:t>…</a:t>
            </a:r>
          </a:p>
          <a:p>
            <a:r>
              <a:rPr lang="en-US" sz="2000" dirty="0"/>
              <a:t>Najib, Miss. Adele </a:t>
            </a:r>
            <a:r>
              <a:rPr lang="en-US" sz="2000" dirty="0" err="1"/>
              <a:t>Kiamie</a:t>
            </a:r>
            <a:r>
              <a:rPr lang="en-US" sz="2000" dirty="0"/>
              <a:t> "Jane", Age 15.0</a:t>
            </a:r>
          </a:p>
          <a:p>
            <a:r>
              <a:rPr lang="en-US" sz="2400" dirty="0"/>
              <a:t>poor girls</a:t>
            </a:r>
          </a:p>
          <a:p>
            <a:r>
              <a:rPr lang="en-US" sz="2000" dirty="0" err="1"/>
              <a:t>Vestrom</a:t>
            </a:r>
            <a:r>
              <a:rPr lang="en-US" sz="2000" dirty="0"/>
              <a:t>, Miss. Hulda Amanda Adolfina 14.0 year - Fare: 7.8542000000000005</a:t>
            </a:r>
          </a:p>
          <a:p>
            <a:r>
              <a:rPr lang="en-US" sz="2000" dirty="0"/>
              <a:t>McGowan, Miss. Anna "Annie" 15.0 year - Fare: 8.0292</a:t>
            </a:r>
          </a:p>
          <a:p>
            <a:r>
              <a:rPr lang="en-US" sz="2000" dirty="0"/>
              <a:t>…</a:t>
            </a:r>
          </a:p>
          <a:p>
            <a:r>
              <a:rPr lang="en-US" sz="2000" dirty="0"/>
              <a:t>Najib, Miss. Adele </a:t>
            </a:r>
            <a:r>
              <a:rPr lang="en-US" sz="2000" dirty="0" err="1"/>
              <a:t>Kiamie</a:t>
            </a:r>
            <a:r>
              <a:rPr lang="en-US" sz="2000" dirty="0"/>
              <a:t> "Jane" 15.0 year - Fare: 7.225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46862-AC56-64AE-B84E-6968C5A6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335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C8B7-AC87-7464-9164-E7B5707A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54AD2-A7C1-7FA9-8E61-0F6C8AB7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Basic Statistics</a:t>
            </a:r>
          </a:p>
          <a:p>
            <a:r>
              <a:rPr lang="en-US" sz="3200" dirty="0"/>
              <a:t>Grouping and Aggregation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CD1EB-73F7-074B-C966-6F1665C0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604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998C-1A7E-712D-256A-DF4137F8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staTitanic.py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7EE5B-9500-43D1-F3DB-D43E0D714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4859440"/>
          </a:xfrm>
        </p:spPr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pandas </a:t>
            </a:r>
            <a:r>
              <a:rPr lang="en-US" sz="2700" i="1" dirty="0"/>
              <a:t>as</a:t>
            </a:r>
            <a:r>
              <a:rPr lang="en-US" sz="2700" dirty="0"/>
              <a:t> pd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titanic.db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df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pd.read_sql_query</a:t>
            </a:r>
            <a:r>
              <a:rPr lang="en-US" sz="2700" dirty="0"/>
              <a:t>("SELECT * FROM titanic", conn)</a:t>
            </a:r>
          </a:p>
          <a:p>
            <a:r>
              <a:rPr lang="en-US" sz="2700" dirty="0"/>
              <a:t>    </a:t>
            </a:r>
            <a:r>
              <a:rPr lang="en-US" sz="2700" i="1" dirty="0"/>
              <a:t># Or, if you want to read an entire table</a:t>
            </a:r>
            <a:endParaRPr lang="en-US" sz="2700" dirty="0"/>
          </a:p>
          <a:p>
            <a:r>
              <a:rPr lang="en-US" sz="2700" i="1" dirty="0"/>
              <a:t># Close the connection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5A3A9-67D6-61BB-296D-13B83F80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407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BD1D2-C058-E805-6D20-0760A553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1EDA-D9FE-35B2-4D88-38643B69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staTitanic.py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8FA42-2B38-16EF-7F9B-928D595A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891684" cy="4859440"/>
          </a:xfrm>
        </p:spPr>
        <p:txBody>
          <a:bodyPr>
            <a:noAutofit/>
          </a:bodyPr>
          <a:lstStyle/>
          <a:p>
            <a:r>
              <a:rPr lang="en-US" sz="2700" dirty="0"/>
              <a:t>survived0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df</a:t>
            </a:r>
            <a:r>
              <a:rPr lang="en-US" sz="2700" dirty="0"/>
              <a:t>[</a:t>
            </a:r>
            <a:r>
              <a:rPr lang="en-US" sz="2700" dirty="0" err="1"/>
              <a:t>df</a:t>
            </a:r>
            <a:r>
              <a:rPr lang="en-US" sz="2700" dirty="0"/>
              <a:t>['Survived'] </a:t>
            </a:r>
            <a:r>
              <a:rPr lang="en-US" sz="2700" i="1" dirty="0"/>
              <a:t>==</a:t>
            </a:r>
            <a:r>
              <a:rPr lang="en-US" sz="2700" dirty="0"/>
              <a:t> 0]</a:t>
            </a:r>
          </a:p>
          <a:p>
            <a:r>
              <a:rPr lang="en-US" sz="2700" dirty="0"/>
              <a:t>survived1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df</a:t>
            </a:r>
            <a:r>
              <a:rPr lang="en-US" sz="2700" dirty="0"/>
              <a:t>[</a:t>
            </a:r>
            <a:r>
              <a:rPr lang="en-US" sz="2700" dirty="0" err="1"/>
              <a:t>df</a:t>
            </a:r>
            <a:r>
              <a:rPr lang="en-US" sz="2700" dirty="0"/>
              <a:t>['Survived'] </a:t>
            </a:r>
            <a:r>
              <a:rPr lang="en-US" sz="2700" i="1" dirty="0"/>
              <a:t>==</a:t>
            </a:r>
            <a:r>
              <a:rPr lang="en-US" sz="2700" dirty="0"/>
              <a:t> 1]</a:t>
            </a:r>
          </a:p>
          <a:p>
            <a:r>
              <a:rPr lang="en-US" sz="2700" dirty="0"/>
              <a:t>print(</a:t>
            </a:r>
            <a:r>
              <a:rPr lang="en-US" sz="2700" i="1" dirty="0" err="1"/>
              <a:t>f</a:t>
            </a:r>
            <a:r>
              <a:rPr lang="en-US" sz="2700" dirty="0" err="1"/>
              <a:t>"There</a:t>
            </a:r>
            <a:r>
              <a:rPr lang="en-US" sz="2700" dirty="0"/>
              <a:t> were {</a:t>
            </a:r>
            <a:r>
              <a:rPr lang="en-US" sz="2700" dirty="0" err="1"/>
              <a:t>df</a:t>
            </a:r>
            <a:r>
              <a:rPr lang="en-US" sz="2700" dirty="0"/>
              <a:t>['</a:t>
            </a:r>
            <a:r>
              <a:rPr lang="en-US" sz="2700" dirty="0" err="1"/>
              <a:t>PassengerId</a:t>
            </a:r>
            <a:r>
              <a:rPr lang="en-US" sz="2700" dirty="0"/>
              <a:t>'].count()} on Titanic \</a:t>
            </a:r>
          </a:p>
          <a:p>
            <a:r>
              <a:rPr lang="en-US" sz="2700" dirty="0"/>
              <a:t> and only {survived1['</a:t>
            </a:r>
            <a:r>
              <a:rPr lang="en-US" sz="2700" dirty="0" err="1"/>
              <a:t>PassengerId</a:t>
            </a:r>
            <a:r>
              <a:rPr lang="en-US" sz="2700" dirty="0"/>
              <a:t>'].count()} survived.")</a:t>
            </a:r>
          </a:p>
          <a:p>
            <a:endParaRPr lang="en-US" sz="1200" dirty="0"/>
          </a:p>
          <a:p>
            <a:r>
              <a:rPr lang="en-US" sz="2400" dirty="0"/>
              <a:t># Group by multiple columns and perform multiple aggregations</a:t>
            </a:r>
          </a:p>
          <a:p>
            <a:r>
              <a:rPr lang="en-US" sz="2700" dirty="0"/>
              <a:t>result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df.groupby</a:t>
            </a:r>
            <a:r>
              <a:rPr lang="en-US" sz="2700" dirty="0"/>
              <a:t>(['Survived', 'Sex']).</a:t>
            </a:r>
            <a:r>
              <a:rPr lang="en-US" sz="2700" dirty="0" err="1"/>
              <a:t>agg</a:t>
            </a:r>
            <a:r>
              <a:rPr lang="en-US" sz="2700" dirty="0"/>
              <a:t>({</a:t>
            </a:r>
          </a:p>
          <a:p>
            <a:r>
              <a:rPr lang="en-US" sz="2700" dirty="0"/>
              <a:t>'Age': ['count', 'min', 'mean', 'median', 'max'],</a:t>
            </a:r>
          </a:p>
          <a:p>
            <a:r>
              <a:rPr lang="en-US" sz="2700" dirty="0"/>
              <a:t>'Fare': ['count', 'mean', 'median']	})</a:t>
            </a:r>
          </a:p>
          <a:p>
            <a:r>
              <a:rPr lang="en-US" sz="2700" dirty="0"/>
              <a:t>print(result)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A56D1-B2B3-05BC-CC27-A879686F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55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5F80-FC50-D273-D461-FACDED15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764F-CE4F-F994-3D87-DCE17BBA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staTitanic.py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8A34-D5E8-8821-CC24-62CDF1F4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4859440"/>
          </a:xfrm>
        </p:spPr>
        <p:txBody>
          <a:bodyPr>
            <a:noAutofit/>
          </a:bodyPr>
          <a:lstStyle/>
          <a:p>
            <a:r>
              <a:rPr lang="en-US" sz="2400" dirty="0" err="1"/>
              <a:t>px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100 * ((result['Fare']['count'].loc[1, 'female'] + result['Fare']['count'].loc[1, 'male']) / \</a:t>
            </a:r>
          </a:p>
          <a:p>
            <a:r>
              <a:rPr lang="en-US" sz="2400" dirty="0"/>
              <a:t>(result['Fare']['count'].loc[1, 'female'] + result['Fare']['count'].loc[0, 'female'] \</a:t>
            </a:r>
          </a:p>
          <a:p>
            <a:r>
              <a:rPr lang="en-US" sz="2400" dirty="0"/>
              <a:t> + result['Fare']['count'].loc[1, 'male'] + result['Fare']['count'].loc[0, 'male']))</a:t>
            </a:r>
          </a:p>
          <a:p>
            <a:endParaRPr lang="en-US" sz="1200" dirty="0"/>
          </a:p>
          <a:p>
            <a:r>
              <a:rPr lang="en-US" sz="2400" dirty="0" err="1"/>
              <a:t>pxf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100 * ((result['Fare']['count'].loc[1, 'female']) / \</a:t>
            </a:r>
          </a:p>
          <a:p>
            <a:r>
              <a:rPr lang="en-US" sz="2400" dirty="0"/>
              <a:t>(result['Fare']['count'].loc[1, 'female'] + result['Fare']['count'].loc[0, 'female']))</a:t>
            </a:r>
          </a:p>
          <a:p>
            <a:endParaRPr lang="en-US" sz="1200" dirty="0"/>
          </a:p>
          <a:p>
            <a:r>
              <a:rPr lang="en-US" sz="2400" dirty="0" err="1"/>
              <a:t>pxm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100 * ((result['Fare']['count'].loc[1, 'male']) / \</a:t>
            </a:r>
          </a:p>
          <a:p>
            <a:r>
              <a:rPr lang="en-US" sz="2400" dirty="0"/>
              <a:t>(result['Fare']['count'].loc[1, 'male'] + result['Fare']['count'].loc[0, 'male']))</a:t>
            </a:r>
          </a:p>
          <a:p>
            <a:r>
              <a:rPr lang="en-US" sz="2400" dirty="0"/>
              <a:t>print(</a:t>
            </a:r>
            <a:r>
              <a:rPr lang="en-US" sz="2400" i="1" dirty="0"/>
              <a:t>f</a:t>
            </a:r>
            <a:r>
              <a:rPr lang="en-US" sz="2400" dirty="0"/>
              <a:t>"{round(</a:t>
            </a:r>
            <a:r>
              <a:rPr lang="en-US" sz="2400" dirty="0" err="1"/>
              <a:t>px</a:t>
            </a:r>
            <a:r>
              <a:rPr lang="en-US" sz="2400" dirty="0"/>
              <a:t>,  2)}% survived")</a:t>
            </a:r>
          </a:p>
          <a:p>
            <a:r>
              <a:rPr lang="en-US" sz="2400" dirty="0"/>
              <a:t>print(</a:t>
            </a:r>
            <a:r>
              <a:rPr lang="en-US" sz="2400" i="1" dirty="0"/>
              <a:t>f</a:t>
            </a:r>
            <a:r>
              <a:rPr lang="en-US" sz="2400" dirty="0"/>
              <a:t>"{round(</a:t>
            </a:r>
            <a:r>
              <a:rPr lang="en-US" sz="2400" dirty="0" err="1"/>
              <a:t>pxf</a:t>
            </a:r>
            <a:r>
              <a:rPr lang="en-US" sz="2400" dirty="0"/>
              <a:t>, 2)}% female survived")</a:t>
            </a:r>
          </a:p>
          <a:p>
            <a:r>
              <a:rPr lang="en-US" sz="2400" dirty="0"/>
              <a:t>print(</a:t>
            </a:r>
            <a:r>
              <a:rPr lang="en-US" sz="2400" i="1" dirty="0"/>
              <a:t>f</a:t>
            </a:r>
            <a:r>
              <a:rPr lang="en-US" sz="2400" dirty="0"/>
              <a:t>"{round(</a:t>
            </a:r>
            <a:r>
              <a:rPr lang="en-US" sz="2400" dirty="0" err="1"/>
              <a:t>pxm</a:t>
            </a:r>
            <a:r>
              <a:rPr lang="en-US" sz="2400" dirty="0"/>
              <a:t>, 2)}% male survived")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11EB-05A8-F5A8-81DD-7F4A3149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655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3E07-D42A-BB30-6255-B39E87A7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&gt; python staTitanic.py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CE54-058F-C189-01EA-D71A6584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There were 891 on Titanic  and only 342 survived.</a:t>
            </a:r>
          </a:p>
          <a:p>
            <a:r>
              <a:rPr lang="en-US" sz="2900" dirty="0"/>
              <a:t>                  		        Age                                		        </a:t>
            </a:r>
            <a:r>
              <a:rPr lang="en-US" sz="29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Fare</a:t>
            </a:r>
          </a:p>
          <a:p>
            <a:r>
              <a:rPr lang="en-US" sz="2900" dirty="0"/>
              <a:t>                	count   min       mean median   max </a:t>
            </a:r>
            <a:r>
              <a:rPr lang="en-US" sz="29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count       mean    median</a:t>
            </a:r>
          </a:p>
          <a:p>
            <a:r>
              <a:rPr lang="en-US" sz="2900" dirty="0"/>
              <a:t>Survived Sex</a:t>
            </a:r>
          </a:p>
          <a:p>
            <a:r>
              <a:rPr lang="en-US" dirty="0">
                <a:solidFill>
                  <a:schemeClr val="accent6"/>
                </a:solidFill>
              </a:rPr>
              <a:t>0        female    </a:t>
            </a:r>
            <a:r>
              <a:rPr lang="en-US" dirty="0"/>
              <a:t>64  2.00  25.046875   24.5  57.0    81  23.024385  15.24580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male     </a:t>
            </a:r>
            <a:r>
              <a:rPr lang="en-US" dirty="0"/>
              <a:t>360  1.00  31.618056   29.0  74.0   468  21.960993   9.41665</a:t>
            </a:r>
          </a:p>
          <a:p>
            <a:r>
              <a:rPr lang="en-US" dirty="0">
                <a:solidFill>
                  <a:schemeClr val="accent6"/>
                </a:solidFill>
              </a:rPr>
              <a:t>1        female</a:t>
            </a:r>
            <a:r>
              <a:rPr lang="en-US" dirty="0"/>
              <a:t>   197  0.75  28.847716   28.0  63.0   233  51.938573  26.00000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</a:t>
            </a:r>
            <a:r>
              <a:rPr lang="en-US" sz="2900" dirty="0">
                <a:solidFill>
                  <a:schemeClr val="accent6"/>
                </a:solidFill>
              </a:rPr>
              <a:t>male      </a:t>
            </a:r>
            <a:r>
              <a:rPr lang="en-US" sz="2900" dirty="0"/>
              <a:t>93  0.42  27.276022   28.0  80.0   109  40.821484  26.28750</a:t>
            </a:r>
          </a:p>
          <a:p>
            <a:r>
              <a:rPr lang="en-US" dirty="0"/>
              <a:t>38.38% survived</a:t>
            </a:r>
          </a:p>
          <a:p>
            <a:r>
              <a:rPr lang="en-US" dirty="0"/>
              <a:t>74.2% female survived</a:t>
            </a:r>
          </a:p>
          <a:p>
            <a:r>
              <a:rPr lang="en-US" dirty="0"/>
              <a:t>18.89% male survived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F9679-B920-6592-3181-3CC28DC8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341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6448-7FD6-D2DD-717F-7EBD10065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4ED9B-4BFE-BD5C-E60E-55F95078D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(result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['Fare']['count']</a:t>
            </a:r>
            <a:r>
              <a:rPr lang="en-US" dirty="0"/>
              <a:t>.loc[</a:t>
            </a:r>
            <a:r>
              <a:rPr lang="en-US" dirty="0">
                <a:solidFill>
                  <a:schemeClr val="accent6"/>
                </a:solidFill>
              </a:rPr>
              <a:t>1, 'female'</a:t>
            </a:r>
            <a:r>
              <a:rPr lang="en-US"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F2E5F-BB17-CEE8-80A9-5320A8E2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010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F306-9A2F-45CB-3834-38493F44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FEA8A-9244-85C7-BE5A-871054A0E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have multiple tables in database, can read them into separate </a:t>
            </a:r>
            <a:r>
              <a:rPr lang="en-US" sz="3200" dirty="0" err="1"/>
              <a:t>DataFrames</a:t>
            </a:r>
            <a:r>
              <a:rPr lang="en-US" sz="3200" dirty="0"/>
              <a:t> and merge them in Pandas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442A5-EE2E-96E7-6AF9-92CB7A0D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902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524C-A070-372C-B476-600EBC57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merged.py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A774B-BAA8-88CD-EB9C-5FC17A921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361"/>
            <a:ext cx="10515600" cy="4908602"/>
          </a:xfrm>
        </p:spPr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pandas </a:t>
            </a:r>
            <a:r>
              <a:rPr lang="en-US" sz="2700" i="1" dirty="0"/>
              <a:t>as</a:t>
            </a:r>
            <a:r>
              <a:rPr lang="en-US" sz="2700" dirty="0"/>
              <a:t> pd</a:t>
            </a:r>
          </a:p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northwind.db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products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pd.read_sql_query</a:t>
            </a:r>
            <a:r>
              <a:rPr lang="en-US" sz="2700" dirty="0"/>
              <a:t>("SELECT * FROM products", conn)</a:t>
            </a:r>
          </a:p>
          <a:p>
            <a:r>
              <a:rPr lang="en-US" sz="2700" dirty="0"/>
              <a:t>    categories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pd.read_sql_query</a:t>
            </a:r>
            <a:r>
              <a:rPr lang="en-US" sz="2700" dirty="0"/>
              <a:t>("SELECT * FROM categories", conn)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merged_df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pd.merge</a:t>
            </a:r>
            <a:r>
              <a:rPr lang="en-US" sz="2700" dirty="0"/>
              <a:t>(products, categories, </a:t>
            </a:r>
            <a:r>
              <a:rPr lang="en-US" sz="2700" i="1" dirty="0"/>
              <a:t>on=</a:t>
            </a:r>
            <a:r>
              <a:rPr lang="en-US" sz="2700" dirty="0"/>
              <a:t>'</a:t>
            </a:r>
            <a:r>
              <a:rPr lang="en-US" sz="2700" dirty="0" err="1"/>
              <a:t>category_id</a:t>
            </a:r>
            <a:r>
              <a:rPr lang="en-US" sz="2700" dirty="0"/>
              <a:t>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587B3-5776-59D8-0374-2C763879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839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1613-1565-84ED-D738-3CB07D20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9D52-9629-CEA7-CE7D-ECDA0EF7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merged.py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F4C30-A6B9-04DC-EE01-13358FA6A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i="1" dirty="0"/>
              <a:t># Close the connection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  <a:p>
            <a:endParaRPr lang="en-US" sz="1600" dirty="0"/>
          </a:p>
          <a:p>
            <a:r>
              <a:rPr lang="en-US" sz="2700" i="1" dirty="0"/>
              <a:t># Display the first few rows of the </a:t>
            </a:r>
            <a:r>
              <a:rPr lang="en-US" sz="2700" i="1" dirty="0" err="1"/>
              <a:t>DataFrame</a:t>
            </a:r>
            <a:endParaRPr lang="en-US" sz="2700" dirty="0"/>
          </a:p>
          <a:p>
            <a:r>
              <a:rPr lang="en-US" sz="2700" i="1" dirty="0"/>
              <a:t>for</a:t>
            </a:r>
            <a:r>
              <a:rPr lang="en-US" sz="2700" dirty="0"/>
              <a:t> index, row </a:t>
            </a:r>
            <a:r>
              <a:rPr lang="en-US" sz="2700" i="1" dirty="0"/>
              <a:t>in</a:t>
            </a:r>
            <a:r>
              <a:rPr lang="en-US" sz="2700" dirty="0"/>
              <a:t> </a:t>
            </a:r>
            <a:r>
              <a:rPr lang="en-US" sz="2700" dirty="0" err="1"/>
              <a:t>merged_df.sort_values</a:t>
            </a:r>
            <a:r>
              <a:rPr lang="en-US" sz="2700" dirty="0"/>
              <a:t>(</a:t>
            </a:r>
            <a:r>
              <a:rPr lang="en-US" sz="2700" i="1" dirty="0"/>
              <a:t>by=</a:t>
            </a:r>
            <a:r>
              <a:rPr lang="en-US" sz="2700" dirty="0"/>
              <a:t>['</a:t>
            </a:r>
            <a:r>
              <a:rPr lang="en-US" sz="2700" dirty="0" err="1"/>
              <a:t>category_name</a:t>
            </a:r>
            <a:r>
              <a:rPr lang="en-US" sz="2700" dirty="0"/>
              <a:t>', '</a:t>
            </a:r>
            <a:r>
              <a:rPr lang="en-US" sz="2700" dirty="0" err="1"/>
              <a:t>product_name</a:t>
            </a:r>
            <a:r>
              <a:rPr lang="en-US" sz="2700" dirty="0"/>
              <a:t>']).</a:t>
            </a:r>
            <a:r>
              <a:rPr lang="en-US" sz="2700" dirty="0" err="1"/>
              <a:t>iterrows</a:t>
            </a:r>
            <a:r>
              <a:rPr lang="en-US" sz="2700" dirty="0"/>
              <a:t>():</a:t>
            </a:r>
          </a:p>
          <a:p>
            <a:r>
              <a:rPr lang="en-US" sz="2700" dirty="0"/>
              <a:t>    print(</a:t>
            </a:r>
            <a:r>
              <a:rPr lang="en-US" sz="2700" i="1" dirty="0"/>
              <a:t>f</a:t>
            </a:r>
            <a:r>
              <a:rPr lang="en-US" sz="2700" dirty="0"/>
              <a:t>"{row['</a:t>
            </a:r>
            <a:r>
              <a:rPr lang="en-US" sz="2700" dirty="0" err="1"/>
              <a:t>product_name</a:t>
            </a:r>
            <a:r>
              <a:rPr lang="en-US" sz="2700" dirty="0"/>
              <a:t>']} of category: {row['</a:t>
            </a:r>
            <a:r>
              <a:rPr lang="en-US" sz="2700" dirty="0" err="1"/>
              <a:t>category_name</a:t>
            </a:r>
            <a:r>
              <a:rPr lang="en-US" sz="2700" dirty="0"/>
              <a:t>']}")</a:t>
            </a:r>
          </a:p>
          <a:p>
            <a:endParaRPr lang="en-US" sz="27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7ED51-5907-198F-3C7A-D67737CA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8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e3be701f0a6c8f6221ff53300429adee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74ac979782e2ad477dd4a10e8419547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E69448-3789-4D59-AA83-13C8E8B82EED}"/>
</file>

<file path=customXml/itemProps2.xml><?xml version="1.0" encoding="utf-8"?>
<ds:datastoreItem xmlns:ds="http://schemas.openxmlformats.org/officeDocument/2006/customXml" ds:itemID="{A0C3A7B3-AC19-44CD-AC1B-E9B4F016B218}"/>
</file>

<file path=customXml/itemProps3.xml><?xml version="1.0" encoding="utf-8"?>
<ds:datastoreItem xmlns:ds="http://schemas.openxmlformats.org/officeDocument/2006/customXml" ds:itemID="{10EF49CB-4F94-4EDC-8AB7-58CCE55EF6C6}"/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3383</Words>
  <Application>Microsoft Office PowerPoint</Application>
  <PresentationFormat>Widescreen</PresentationFormat>
  <Paragraphs>464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Arial</vt:lpstr>
      <vt:lpstr>Courier New</vt:lpstr>
      <vt:lpstr>Office Theme</vt:lpstr>
      <vt:lpstr>Python</vt:lpstr>
      <vt:lpstr>Python.org  https://www.python.org/</vt:lpstr>
      <vt:lpstr>PowerPoint Presentation</vt:lpstr>
      <vt:lpstr>Python</vt:lpstr>
      <vt:lpstr>pip</vt:lpstr>
      <vt:lpstr>PowerPoint Presentation</vt:lpstr>
      <vt:lpstr>in-memory database</vt:lpstr>
      <vt:lpstr>PowerPoint Presentation</vt:lpstr>
      <vt:lpstr>PowerPoint Presentation</vt:lpstr>
      <vt:lpstr>PowerPoint Presentation</vt:lpstr>
      <vt:lpstr>DataBase execution interval</vt:lpstr>
      <vt:lpstr>inMemory.py</vt:lpstr>
      <vt:lpstr>inMemory.py</vt:lpstr>
      <vt:lpstr>inMemory.py</vt:lpstr>
      <vt:lpstr>inMemory.py</vt:lpstr>
      <vt:lpstr>inMemory.py</vt:lpstr>
      <vt:lpstr>inMemory.py</vt:lpstr>
      <vt:lpstr>inMemory.py</vt:lpstr>
      <vt:lpstr>large datasets</vt:lpstr>
      <vt:lpstr>Working with Large Datasets</vt:lpstr>
      <vt:lpstr>PowerPoint Presentation</vt:lpstr>
      <vt:lpstr>largeDataSets.py</vt:lpstr>
      <vt:lpstr>PowerPoint Presentation</vt:lpstr>
      <vt:lpstr>largeDataSets.py</vt:lpstr>
      <vt:lpstr>Use Appropriate Indexing</vt:lpstr>
      <vt:lpstr>loadTitanicCSV.py</vt:lpstr>
      <vt:lpstr>loadTitanicCSV.py</vt:lpstr>
      <vt:lpstr>loadTitanicCSV.py</vt:lpstr>
      <vt:lpstr>loadTitanicCSV.py</vt:lpstr>
      <vt:lpstr>PowerPoint Presentation</vt:lpstr>
      <vt:lpstr>pandas</vt:lpstr>
      <vt:lpstr>PowerPoint Presentation</vt:lpstr>
      <vt:lpstr>PowerPoint Presentation</vt:lpstr>
      <vt:lpstr>NumPy    https://numpy.org/</vt:lpstr>
      <vt:lpstr>pandas - Python Data Analysis Library  https://pandas.pydata.org/</vt:lpstr>
      <vt:lpstr>PowerPoint Presentation</vt:lpstr>
      <vt:lpstr>readDF.py</vt:lpstr>
      <vt:lpstr>readDF.py</vt:lpstr>
      <vt:lpstr>PowerPoint Presentation</vt:lpstr>
      <vt:lpstr>writeDF.py</vt:lpstr>
      <vt:lpstr>PowerPoint Presentation</vt:lpstr>
      <vt:lpstr>print(df)</vt:lpstr>
      <vt:lpstr>PowerPoint Presentation</vt:lpstr>
      <vt:lpstr>PowerPoint Presentation</vt:lpstr>
      <vt:lpstr>loadTitanicJSON.py</vt:lpstr>
      <vt:lpstr>loadTitanicJSON.py</vt:lpstr>
      <vt:lpstr>print(df)</vt:lpstr>
      <vt:lpstr>PowerPoint Presentation</vt:lpstr>
      <vt:lpstr>Data Analysis with Pandas and SQLite</vt:lpstr>
      <vt:lpstr>PowerPoint Presentation</vt:lpstr>
      <vt:lpstr>filterDF.py</vt:lpstr>
      <vt:lpstr>filterDF.py</vt:lpstr>
      <vt:lpstr> &gt; python filterDF.py</vt:lpstr>
      <vt:lpstr>PowerPoint Presentation</vt:lpstr>
      <vt:lpstr>staTitanic.py</vt:lpstr>
      <vt:lpstr>staTitanic.py</vt:lpstr>
      <vt:lpstr>staTitanic.py</vt:lpstr>
      <vt:lpstr> &gt; python staTitanic.py</vt:lpstr>
      <vt:lpstr>PowerPoint Presentation</vt:lpstr>
      <vt:lpstr>Merging DataFrames</vt:lpstr>
      <vt:lpstr>merged.py</vt:lpstr>
      <vt:lpstr>merged.py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 Cenan</dc:creator>
  <cp:lastModifiedBy>Calin Cenan</cp:lastModifiedBy>
  <cp:revision>65</cp:revision>
  <dcterms:created xsi:type="dcterms:W3CDTF">2025-11-19T20:15:14Z</dcterms:created>
  <dcterms:modified xsi:type="dcterms:W3CDTF">2025-12-15T05:33:39Z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2025-11-19T20:29:01Z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9877d9dc-4839-4c13-9ea0-4d6d40c338a3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0x01010042D1F13D339BA04089B6530E3063BBB0</vt:lpwstr>
  </property>
</Properties>
</file>