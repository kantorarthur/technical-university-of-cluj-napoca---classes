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8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15" r:id="rId24"/>
    <p:sldId id="277" r:id="rId25"/>
    <p:sldId id="278" r:id="rId26"/>
    <p:sldId id="316" r:id="rId27"/>
    <p:sldId id="279" r:id="rId28"/>
    <p:sldId id="318" r:id="rId29"/>
    <p:sldId id="280" r:id="rId30"/>
    <p:sldId id="317" r:id="rId31"/>
    <p:sldId id="282" r:id="rId32"/>
    <p:sldId id="281" r:id="rId33"/>
    <p:sldId id="283" r:id="rId34"/>
    <p:sldId id="284" r:id="rId35"/>
    <p:sldId id="285" r:id="rId36"/>
    <p:sldId id="312" r:id="rId37"/>
    <p:sldId id="287" r:id="rId38"/>
    <p:sldId id="286" r:id="rId39"/>
    <p:sldId id="313" r:id="rId40"/>
    <p:sldId id="289" r:id="rId41"/>
    <p:sldId id="314" r:id="rId42"/>
    <p:sldId id="290" r:id="rId43"/>
    <p:sldId id="291" r:id="rId44"/>
    <p:sldId id="292" r:id="rId45"/>
    <p:sldId id="294" r:id="rId46"/>
    <p:sldId id="293" r:id="rId47"/>
    <p:sldId id="296" r:id="rId48"/>
    <p:sldId id="295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297" r:id="rId63"/>
    <p:sldId id="298" r:id="rId64"/>
    <p:sldId id="299" r:id="rId65"/>
    <p:sldId id="300" r:id="rId66"/>
    <p:sldId id="301" r:id="rId67"/>
    <p:sldId id="303" r:id="rId68"/>
    <p:sldId id="304" r:id="rId69"/>
    <p:sldId id="305" r:id="rId70"/>
    <p:sldId id="306" r:id="rId71"/>
    <p:sldId id="307" r:id="rId72"/>
    <p:sldId id="308" r:id="rId73"/>
    <p:sldId id="309" r:id="rId74"/>
    <p:sldId id="310" r:id="rId75"/>
    <p:sldId id="31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7"/>
  </p:normalViewPr>
  <p:slideViewPr>
    <p:cSldViewPr snapToGrid="0">
      <p:cViewPr varScale="1">
        <p:scale>
          <a:sx n="78" d="100"/>
          <a:sy n="78" d="100"/>
        </p:scale>
        <p:origin x="1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0C8C8-4E43-4F6B-BCA9-4DAD26C562C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EEA07-331C-4B4E-8446-9CE82B5D0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B10B-D70F-B908-85E7-8A73DB27C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22051-DA46-4A1D-BF48-307E75797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1D61-CCF1-4DF1-095B-1D986932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2952-5FE3-4623-85D9-D5EA17E17BEE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4B7A-0206-F763-613A-BE948797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7AD7-6D79-07CB-A987-ACD1953A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4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9D91-9543-0336-AE70-789E2971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B5AB-1A75-8078-2120-06911B4A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571F3-64A9-5C1A-826F-A88D5CBA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923-1DA5-414D-965E-D46F50FB2DF9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68F59-7684-5DBC-EA1F-C1D2BB09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D27D-112D-7433-D978-8F99F37F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DAF8-142D-A99C-1B8C-2CBA7565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D4DFD-831F-0EEB-1A21-C0ACEB1A8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7B83-A941-8EEA-C757-12F24FFB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077-7779-4C1C-864E-3AA389854890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D802C-CCC3-BBB5-E902-3F2362CD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D4BF6-4DFA-4B60-C4F0-C174AE08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2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86C1-119E-C543-5E8F-E6093111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C195-1220-601F-EAEF-9FB18C939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507F7-45F9-506A-D872-204AC585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1279B-4487-3142-8E64-8B05DBCE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706-5F70-461E-ABF1-58B97905DDD4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EDF68-6F3A-BB30-6A3F-C2F1C085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E278B-4B03-666A-6269-B449466E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8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D292-9016-F259-005F-FB10B936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90B0A-45F3-69ED-8C4B-7E62E1F69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F8742-D242-2FCC-E7FD-147865538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96105-BB58-B924-2826-1B1AD1C34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9EE0B-202C-E91D-77C4-2CD7F3BAA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2D4A7-9AF3-CBD3-6A25-3272150E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6E5E-8263-45EF-8399-E5769131E5D4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45EC2-354B-E984-8A70-005EE467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22DDC-8BDB-FDB4-8F9F-509E042F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9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DF16-55FA-FF8E-B4CA-608DA07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77246-D8E5-26BB-158B-6DDEC6BF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0B813-B174-4139-9BC7-145776B4E9D8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161A1-D2D6-2F86-7A33-3A3E1AC5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ADBED-55F0-5B7D-1A07-F5C66BFA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0AA7F-E444-D1C9-CE34-A0EF902E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A77C-9C1A-4598-B7CC-5932B16B73A6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4ACB9-779A-C532-96FB-50B96C45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7F5AF-6140-28BE-9163-4106D3DA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0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FFB7-3B36-4F6B-97D1-14753A0C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9035-F5D1-5960-013D-0BCD0581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75E6F-2A75-F05E-68DF-92C989CFA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EDC3F-1026-896E-4885-19A6DBC4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295A-DD12-4BA2-903D-24107874FC12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950D-625E-9009-2FDC-2BB90AF0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6DF52-D15F-D240-027B-02D5FD09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EC93-8FDA-5E3E-0B8B-130E0659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0649F-DC2B-A4DF-CDB0-146852F84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0D03C-0A73-AE57-8A38-56C197E02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754DC-A8E7-302A-358E-6418645C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344F-9B26-4891-8455-AF59954B386A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2CCE9-4EAE-7ADB-BA52-4423A14E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40C52-670E-00C4-8CC2-978B0F38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3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6297-8D46-822D-CA70-D7F4C0AD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2489B-8571-B8AE-0990-24F887E86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1FDF3-2F69-92C5-B748-6FBA41C9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4B520-DBCB-4CF7-8A38-874FAC1D7F57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4BFE-339F-E30D-DA68-1AC03C1A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854DD-8DFB-8FB4-DC26-B0AC8CAF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DB0EC-63FA-FF38-4431-E71D9C735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923A8-8506-050E-A4C7-FF0E3D027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CB81A-0BFE-BDC4-C11F-B04FF4B5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D7D6-8B41-4CB2-A0E1-F1B22B36E69B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3778F-D2EC-3CB4-7D8D-ECD368C2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7490-8921-2AB7-0A75-0A84FD9C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2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D2D5-3635-22D6-741C-CD878A12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D0E8-4D40-075E-D50E-35A7122A3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20B7E-2484-ADBC-7B91-40095F35C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7ABE8-C3A6-4197-9D95-A7D4AED8C229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1171-57F6-A4A2-8A5B-C2E2A4D4F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20380-9AD5-3718-1968-C8EB1190E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spyder-ide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jupyter.org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1E38-EAB6-A5E7-BAB8-D55DE8B0C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D6BC7-1EE5-BE3D-858E-1B60BDFFF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C294-A086-6CAB-DABA-E200D43B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C812-EA2F-41BE-4900-ADBB6F99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Python.org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2"/>
              </a:rPr>
              <a:t>https://www.python.org/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43F2-83E7-5C6E-DCC2-3330838CB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3008E-2999-0945-154F-AA9D2A27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ython™">
            <a:extLst>
              <a:ext uri="{FF2B5EF4-FFF2-40B4-BE49-F238E27FC236}">
                <a16:creationId xmlns:a16="http://schemas.microsoft.com/office/drawing/2014/main" id="{B459E0A1-714F-1F47-D007-0AF8E976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2647950"/>
            <a:ext cx="5524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2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FE4A-2EE0-2A0F-C32D-ED2C7EA6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C04B-22FD-1C3A-E5E3-3E945066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&gt;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python -V</a:t>
            </a:r>
          </a:p>
          <a:p>
            <a:r>
              <a:rPr lang="en-US" sz="3200" dirty="0"/>
              <a:t>Python 3.14.0</a:t>
            </a:r>
          </a:p>
          <a:p>
            <a:endParaRPr lang="en-US" dirty="0"/>
          </a:p>
          <a:p>
            <a:r>
              <a:rPr lang="en-US" dirty="0"/>
              <a:t> 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-V</a:t>
            </a:r>
          </a:p>
          <a:p>
            <a:r>
              <a:rPr lang="en-US" dirty="0"/>
              <a:t>pip 25.3 from C:\Python\Python314\Lib\site-packages\pip (python 3.14)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D116D-B725-8125-5717-2B8DD56B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4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B155-C1B2-62A7-A19B-2F0B81F8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9EDC-57B3-E1D7-4BED-CE232D18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5" y="1258529"/>
            <a:ext cx="11523406" cy="4918434"/>
          </a:xfrm>
        </p:spPr>
        <p:txBody>
          <a:bodyPr>
            <a:noAutofit/>
          </a:bodyPr>
          <a:lstStyle/>
          <a:p>
            <a:r>
              <a:rPr lang="en-US" sz="2700" dirty="0"/>
              <a:t>Python is a high-level, general-purpose programming language; its design philosophy emphasizes code readability with use of significant indentation</a:t>
            </a:r>
          </a:p>
          <a:p>
            <a:r>
              <a:rPr lang="en-US" sz="2700" dirty="0"/>
              <a:t>Python is dynamically type-checked and garbage-collected; supports multiple programming paradigms, including structured (</a:t>
            </a:r>
            <a:r>
              <a:rPr lang="en-US" sz="2700" dirty="0" err="1"/>
              <a:t>particulary</a:t>
            </a:r>
            <a:r>
              <a:rPr lang="en-US" sz="2700" dirty="0"/>
              <a:t>  </a:t>
            </a:r>
            <a:r>
              <a:rPr lang="en-US" sz="2700" dirty="0" err="1"/>
              <a:t>proce</a:t>
            </a:r>
            <a:r>
              <a:rPr lang="en-US" sz="2700" dirty="0"/>
              <a:t> - dural), object-oriented and functional programming</a:t>
            </a:r>
          </a:p>
          <a:p>
            <a:r>
              <a:rPr lang="en-US" sz="2700" dirty="0"/>
              <a:t>Guido van Rossum began working on Python in late 1980s Python 3.0, was major revision and not completely backward-compatible with earlier vers.</a:t>
            </a:r>
          </a:p>
          <a:p>
            <a:r>
              <a:rPr lang="en-US" sz="2700" dirty="0"/>
              <a:t>Python has gained widespread use in the machine learning community; it is widely taught as introductory programming language</a:t>
            </a:r>
          </a:p>
          <a:p>
            <a:r>
              <a:rPr lang="en-US" sz="2700" dirty="0"/>
              <a:t>since 2000, Python has consistently ranked in top ten of most popular programming languages in the Programming Community Index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CD209-CB55-1D66-7693-B350310B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1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39E2-C3D9-91AC-6DB9-C99204A4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14B1-F6AD-FA3B-5BE5-34EEA2F9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pip is a package manager (package management system) written in Python and is used to install and manage software packages</a:t>
            </a:r>
          </a:p>
          <a:p>
            <a:r>
              <a:rPr lang="en-US" dirty="0"/>
              <a:t>the Python Software Foundation recommends using pip to install Python applications and its dependencies during deployment</a:t>
            </a:r>
          </a:p>
          <a:p>
            <a:r>
              <a:rPr lang="en-US" dirty="0"/>
              <a:t>connects to an online software repository of public packages, named the Python Package Index (</a:t>
            </a:r>
            <a:r>
              <a:rPr lang="en-US" dirty="0" err="1"/>
              <a:t>PyPI</a:t>
            </a:r>
            <a:r>
              <a:rPr lang="en-US" dirty="0"/>
              <a:t>); can be configured to connect to other package repositories (local or remote), provided that they comply to Python Enhancement Proposal</a:t>
            </a:r>
          </a:p>
          <a:p>
            <a:r>
              <a:rPr lang="en-US" dirty="0"/>
              <a:t>most distributions of Python come with pip preinstalled, Python 3.4 and later include pip by default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ABE5B-9AD6-9218-0534-D832FA6B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8FF8-9789-790B-5140-AD41EBE0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2E43-324F-0093-6DAF-91A07BE3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way to install Python is to use individual edition of Anaconda distribution, available at Anaconda </a:t>
            </a:r>
            <a:r>
              <a:rPr lang="en-US" sz="2700" dirty="0">
                <a:hlinkClick r:id="rId2"/>
              </a:rPr>
              <a:t>Advance AI with Open Source | Anaconda</a:t>
            </a:r>
            <a:r>
              <a:rPr lang="en-US" sz="2400" dirty="0"/>
              <a:t>	</a:t>
            </a:r>
            <a:r>
              <a:rPr lang="en-US" sz="2700" dirty="0">
                <a:hlinkClick r:id="rId2"/>
              </a:rPr>
              <a:t>https://www.anaconda.com/</a:t>
            </a:r>
            <a:endParaRPr lang="en-US" sz="2700" dirty="0"/>
          </a:p>
          <a:p>
            <a:r>
              <a:rPr lang="en-US" dirty="0"/>
              <a:t>open-source and compatible with Linux, macOS, Windows, …</a:t>
            </a:r>
          </a:p>
          <a:p>
            <a:r>
              <a:rPr lang="en-US" dirty="0"/>
              <a:t>offers two versions: </a:t>
            </a:r>
          </a:p>
          <a:p>
            <a:pPr lvl="1"/>
            <a:r>
              <a:rPr lang="en-US" sz="2600" dirty="0"/>
              <a:t>full distribution includes over 300 pre-installed data science and machine learning packages but requires more disk space</a:t>
            </a:r>
          </a:p>
          <a:p>
            <a:pPr lvl="1"/>
            <a:r>
              <a:rPr lang="en-US" sz="2600" dirty="0" err="1"/>
              <a:t>Miniconda</a:t>
            </a:r>
            <a:r>
              <a:rPr lang="en-US" sz="2600" dirty="0"/>
              <a:t> is lightweight installer that includes only </a:t>
            </a:r>
            <a:r>
              <a:rPr lang="en-US" sz="2600" dirty="0" err="1"/>
              <a:t>conda</a:t>
            </a:r>
            <a:r>
              <a:rPr lang="en-US" sz="2600" dirty="0"/>
              <a:t>, Python, a few essential packages (possible to install latter packages 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4872F-CEE5-8211-058B-B4335701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8AA8-55BF-3EB7-94F9-210E4E75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70078-FBA6-21D3-6A6E-FB3736E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the </a:t>
            </a:r>
            <a:r>
              <a:rPr lang="en-US" dirty="0" err="1"/>
              <a:t>Miniconda</a:t>
            </a:r>
            <a:r>
              <a:rPr lang="en-US" dirty="0"/>
              <a:t> is installed, can open Anaconda Prompt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3BE52-84B8-4139-0C50-46339858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D9E8B-4A90-0B9F-55A2-A202575B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45" y="2743200"/>
            <a:ext cx="6890220" cy="305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2C59-AF06-83C8-A76F-DE58A45F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Spyder | Python IDE </a:t>
            </a:r>
            <a:br>
              <a:rPr lang="en-US" dirty="0">
                <a:hlinkClick r:id="rId2"/>
              </a:rPr>
            </a:br>
            <a:r>
              <a:rPr lang="en-US" dirty="0">
                <a:hlinkClick r:id="rId2"/>
              </a:rPr>
              <a:t>scientists and data analysts deserve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A8D45-0225-AF9D-4BD5-098B9B388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https://www.spyder-ide.org/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CF9B3-91E1-2556-F698-C803BE3E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FF054-E1F8-C889-57B5-E8500C675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5999"/>
            <a:ext cx="7009483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6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377F-CE22-104A-AF0E-E99175CC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160A-10B5-5FA6-DADA-A5AF83B3F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Autofit/>
          </a:bodyPr>
          <a:lstStyle/>
          <a:p>
            <a:r>
              <a:rPr lang="en-US" dirty="0"/>
              <a:t>Python is a high-level, interpreted programming language known for its simplicity, readability, and versatility; has grown to become one of the most popular programming languages in the world</a:t>
            </a:r>
          </a:p>
          <a:p>
            <a:r>
              <a:rPr lang="en-US" dirty="0"/>
              <a:t>philosophy emphasizes code readability with the use of significant whitespace and a clean, elegant syntax</a:t>
            </a:r>
          </a:p>
          <a:p>
            <a:r>
              <a:rPr lang="en-US" dirty="0"/>
              <a:t>interpreted language</a:t>
            </a:r>
          </a:p>
          <a:p>
            <a:r>
              <a:rPr lang="en-US" dirty="0"/>
              <a:t>dynamically typed</a:t>
            </a:r>
          </a:p>
          <a:p>
            <a:r>
              <a:rPr lang="en-US" dirty="0"/>
              <a:t>Object-Oriented</a:t>
            </a:r>
          </a:p>
          <a:p>
            <a:r>
              <a:rPr lang="en-US" dirty="0"/>
              <a:t>extensive libraries </a:t>
            </a:r>
          </a:p>
          <a:p>
            <a:r>
              <a:rPr lang="en-US" dirty="0"/>
              <a:t>cross-platform compatibility: Linux, macOS, Windows, …</a:t>
            </a:r>
          </a:p>
          <a:p>
            <a:r>
              <a:rPr lang="en-US" dirty="0"/>
              <a:t>open-source: free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2C355-BF73-B8F7-13CE-640697B4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9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DC40-38B4-D2E1-7ACD-8EDB5350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C09AF-0B72-01E8-906F-BD60EF3FC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8442960" cy="61824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ABD1C-E5BE-4B12-2873-1CD94EA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0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4AB6E0-D2DD-086F-31AF-F1F625A1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50CA7-549F-EF0C-3DF6-0D293118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097" y="285135"/>
            <a:ext cx="5380703" cy="5891828"/>
          </a:xfrm>
        </p:spPr>
        <p:txBody>
          <a:bodyPr>
            <a:noAutofit/>
          </a:bodyPr>
          <a:lstStyle/>
          <a:p>
            <a:r>
              <a:rPr lang="en-US" sz="2700" dirty="0"/>
              <a:t>#!/</a:t>
            </a:r>
            <a:r>
              <a:rPr lang="en-US" sz="2700" dirty="0" err="1"/>
              <a:t>usr</a:t>
            </a:r>
            <a:r>
              <a:rPr lang="en-US" sz="2700" dirty="0"/>
              <a:t>/bin/env python3</a:t>
            </a:r>
          </a:p>
          <a:p>
            <a:r>
              <a:rPr lang="en-US" sz="2700" dirty="0"/>
              <a:t># -*- coding: utf-8 -*-</a:t>
            </a:r>
          </a:p>
          <a:p>
            <a:r>
              <a:rPr lang="en-US" sz="2700" dirty="0"/>
              <a:t>"""</a:t>
            </a:r>
          </a:p>
          <a:p>
            <a:r>
              <a:rPr lang="en-US" sz="2700" dirty="0"/>
              <a:t>Spyder Editor   This is a script file.</a:t>
            </a:r>
          </a:p>
          <a:p>
            <a:r>
              <a:rPr lang="en-US" sz="2700" dirty="0"/>
              <a:t>This is a docstring. It's used to provide a brief description</a:t>
            </a:r>
          </a:p>
          <a:p>
            <a:r>
              <a:rPr lang="en-US" sz="2700" dirty="0"/>
              <a:t>of the script's purpose and functionality.</a:t>
            </a:r>
          </a:p>
          <a:p>
            <a:r>
              <a:rPr lang="en-US" sz="2700" dirty="0"/>
              <a:t>"""</a:t>
            </a:r>
          </a:p>
          <a:p>
            <a:endParaRPr lang="en-US" sz="2700" dirty="0"/>
          </a:p>
          <a:p>
            <a:r>
              <a:rPr lang="en-US" sz="2700" dirty="0"/>
              <a:t>import math</a:t>
            </a:r>
          </a:p>
          <a:p>
            <a:r>
              <a:rPr lang="en-US" sz="2700" dirty="0"/>
              <a:t>from datetime import datetime</a:t>
            </a:r>
          </a:p>
          <a:p>
            <a:endParaRPr lang="en-US" sz="27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CEE28-6EB0-DECC-D2AA-73353722D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5135"/>
            <a:ext cx="5181600" cy="5891828"/>
          </a:xfrm>
        </p:spPr>
        <p:txBody>
          <a:bodyPr>
            <a:noAutofit/>
          </a:bodyPr>
          <a:lstStyle/>
          <a:p>
            <a:r>
              <a:rPr lang="en-US" sz="2700" dirty="0"/>
              <a:t>def greet(name):</a:t>
            </a:r>
          </a:p>
          <a:p>
            <a:r>
              <a:rPr lang="en-US" sz="2700" dirty="0"/>
              <a:t>    return </a:t>
            </a:r>
            <a:r>
              <a:rPr lang="en-US" sz="2700" dirty="0" err="1"/>
              <a:t>f"Hello</a:t>
            </a:r>
            <a:r>
              <a:rPr lang="en-US" sz="2700" dirty="0"/>
              <a:t>, {name}!"</a:t>
            </a:r>
          </a:p>
          <a:p>
            <a:endParaRPr lang="en-US" sz="2700" dirty="0"/>
          </a:p>
          <a:p>
            <a:r>
              <a:rPr lang="en-US" sz="2700" dirty="0"/>
              <a:t>class Person:</a:t>
            </a:r>
          </a:p>
          <a:p>
            <a:r>
              <a:rPr lang="en-US" sz="2700" dirty="0"/>
              <a:t>    def __</a:t>
            </a:r>
            <a:r>
              <a:rPr lang="en-US" sz="2700" dirty="0" err="1"/>
              <a:t>init</a:t>
            </a:r>
            <a:r>
              <a:rPr lang="en-US" sz="2700" dirty="0"/>
              <a:t>__(self, name, age):</a:t>
            </a:r>
          </a:p>
          <a:p>
            <a:r>
              <a:rPr lang="en-US" sz="2700" dirty="0"/>
              <a:t>        self.name = name</a:t>
            </a:r>
          </a:p>
          <a:p>
            <a:r>
              <a:rPr lang="en-US" sz="2700" dirty="0"/>
              <a:t>        </a:t>
            </a:r>
            <a:r>
              <a:rPr lang="en-US" sz="2700" dirty="0" err="1"/>
              <a:t>self.age</a:t>
            </a:r>
            <a:r>
              <a:rPr lang="en-US" sz="2700" dirty="0"/>
              <a:t> = age</a:t>
            </a:r>
          </a:p>
          <a:p>
            <a:endParaRPr lang="en-US" sz="2700" dirty="0"/>
          </a:p>
          <a:p>
            <a:r>
              <a:rPr lang="en-US" sz="2700" dirty="0"/>
              <a:t>if __name__ == "__main__":</a:t>
            </a:r>
          </a:p>
          <a:p>
            <a:r>
              <a:rPr lang="en-US" sz="2700" dirty="0"/>
              <a:t>    # Code to run when the script is executed directly</a:t>
            </a:r>
          </a:p>
          <a:p>
            <a:r>
              <a:rPr lang="en-US" sz="2700" dirty="0"/>
              <a:t>    print("This is the main execution block")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2CF6-C309-1800-6A44-46025104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2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CBCF53-DE1C-DB09-D69A-A110D9589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4"/>
            <a:ext cx="9334500" cy="62395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376216-7C7E-A404-317D-036CEEA8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1FDBB-20EE-CC54-0E9A-2712657CF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C0C4D-6029-9A3C-9D9D-5F716A9D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9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A711-4A43-5946-258A-A4ABD3AF5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script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CA88B-DACA-5568-6A4A-11A92BB37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730"/>
            <a:ext cx="10515600" cy="4908233"/>
          </a:xfrm>
        </p:spPr>
        <p:txBody>
          <a:bodyPr>
            <a:noAutofit/>
          </a:bodyPr>
          <a:lstStyle/>
          <a:p>
            <a:r>
              <a:rPr lang="en-US" sz="2700" dirty="0"/>
              <a:t>Shebang line (optional, for Unix-like systems):</a:t>
            </a:r>
          </a:p>
          <a:p>
            <a:r>
              <a:rPr lang="en-US" sz="2700" dirty="0"/>
              <a:t>Docstring (optional, but recommended):</a:t>
            </a:r>
          </a:p>
          <a:p>
            <a:r>
              <a:rPr lang="en-US" sz="2700" dirty="0"/>
              <a:t>Import statements</a:t>
            </a:r>
          </a:p>
          <a:p>
            <a:r>
              <a:rPr lang="en-US" sz="2700" dirty="0"/>
              <a:t>Constants and global variables:</a:t>
            </a:r>
          </a:p>
          <a:p>
            <a:r>
              <a:rPr lang="en-US" sz="2700" dirty="0"/>
              <a:t>Function definitions</a:t>
            </a:r>
          </a:p>
          <a:p>
            <a:r>
              <a:rPr lang="en-US" sz="2700" dirty="0"/>
              <a:t>Class definitions</a:t>
            </a:r>
          </a:p>
          <a:p>
            <a:r>
              <a:rPr lang="en-US" sz="2700" dirty="0"/>
              <a:t>Main execution block:</a:t>
            </a:r>
          </a:p>
          <a:p>
            <a:pPr lvl="1"/>
            <a:r>
              <a:rPr lang="en-US" sz="2300" dirty="0"/>
              <a:t>class keyword, followed by the class name.</a:t>
            </a:r>
          </a:p>
          <a:p>
            <a:pPr lvl="1"/>
            <a:r>
              <a:rPr lang="en-US" sz="2300" dirty="0"/>
              <a:t>if __name__ == "__main__":</a:t>
            </a:r>
          </a:p>
          <a:p>
            <a:pPr lvl="1"/>
            <a:r>
              <a:rPr lang="en-US" sz="2300" dirty="0"/>
              <a:t># Code to run when the script is executed directly</a:t>
            </a:r>
          </a:p>
          <a:p>
            <a:pPr lvl="1"/>
            <a:r>
              <a:rPr lang="en-US" sz="2300" dirty="0"/>
              <a:t>print("This is the main execution block")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5240B-60B2-3E9B-177F-6883767C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40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90C4B3-4920-83D3-2DFF-8AB0F4FB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Data types </a:t>
            </a:r>
            <a:br>
              <a:rPr lang="en-US" dirty="0"/>
            </a:br>
            <a:r>
              <a:rPr lang="en-US" dirty="0"/>
              <a:t>Data Structures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F00069-34B0-3BEF-86D0-4BA55B051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E07F1-48E7-75D6-63DF-AAB8B529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B694-DF2D-07D3-0E43-5B46ABFA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3229-A219-06F7-E644-4136B0EB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06E9-1567-7F23-5066-B5EC69629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don't need to declare the type of variable - interpreter infers </a:t>
            </a:r>
          </a:p>
          <a:p>
            <a:r>
              <a:rPr lang="en-US" dirty="0"/>
              <a:t>variable names can contain letters, numbers, and underscores; must start with letter or _underscore</a:t>
            </a:r>
          </a:p>
          <a:p>
            <a:r>
              <a:rPr lang="en-US" dirty="0"/>
              <a:t>are case-sensitive</a:t>
            </a:r>
          </a:p>
          <a:p>
            <a:r>
              <a:rPr lang="en-US" dirty="0"/>
              <a:t>follow the </a:t>
            </a:r>
            <a:r>
              <a:rPr lang="en-US" dirty="0" err="1"/>
              <a:t>snake_case</a:t>
            </a:r>
            <a:r>
              <a:rPr lang="en-US" dirty="0"/>
              <a:t> convention for variable names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C7BB6-314A-C29D-E20C-BA6F9EC7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8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6ADD-8D87-C5EC-503F-781F7F7C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8D50-2117-DCA1-CAFF-243623536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Integers (int)</a:t>
            </a:r>
          </a:p>
          <a:p>
            <a:r>
              <a:rPr lang="en-US" dirty="0"/>
              <a:t>Floating-point numbers (float): numbers with decimal points</a:t>
            </a:r>
          </a:p>
          <a:p>
            <a:r>
              <a:rPr lang="en-US" dirty="0"/>
              <a:t>Strings (str): sequences of characters, enclosed </a:t>
            </a:r>
            <a:r>
              <a:rPr lang="en-US"/>
              <a:t>in 'single</a:t>
            </a:r>
            <a:r>
              <a:rPr lang="en-US" dirty="0"/>
              <a:t>' or "double" quotes</a:t>
            </a:r>
          </a:p>
          <a:p>
            <a:r>
              <a:rPr lang="en-US" dirty="0"/>
              <a:t>Booleans (bool): represents True or False values</a:t>
            </a:r>
          </a:p>
          <a:p>
            <a:r>
              <a:rPr lang="en-US" dirty="0"/>
              <a:t>None: represents the absence of a value or a null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8BC84-D62D-FBDC-4E23-9C61E133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7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8DE9-7773-AA0A-9890-6465EAAE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5D97-83DF-15DD-F130-485644D99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900" dirty="0"/>
              <a:t>Lists: ordered, mutable sequences of elements</a:t>
            </a:r>
          </a:p>
          <a:p>
            <a:r>
              <a:rPr lang="en-US" sz="2500" dirty="0"/>
              <a:t> 	fruits = ["apple", "banana", "cherry"]</a:t>
            </a:r>
          </a:p>
          <a:p>
            <a:r>
              <a:rPr lang="en-US" sz="2500" dirty="0"/>
              <a:t> 	numbers = [1, 2, 3, 4, 5]</a:t>
            </a:r>
          </a:p>
          <a:p>
            <a:r>
              <a:rPr lang="en-US" sz="2900" dirty="0"/>
              <a:t>Tuples: ordered, immutable sequences of elements</a:t>
            </a:r>
          </a:p>
          <a:p>
            <a:r>
              <a:rPr lang="en-US" sz="2500" dirty="0"/>
              <a:t> 	coordinates = (10, 20)</a:t>
            </a:r>
          </a:p>
          <a:p>
            <a:r>
              <a:rPr lang="en-US" sz="2500" dirty="0"/>
              <a:t> 	</a:t>
            </a:r>
            <a:r>
              <a:rPr lang="en-US" sz="2500" dirty="0" err="1"/>
              <a:t>rgb</a:t>
            </a:r>
            <a:r>
              <a:rPr lang="en-US" sz="2500" dirty="0"/>
              <a:t> = (255, 0, 0)</a:t>
            </a:r>
          </a:p>
          <a:p>
            <a:r>
              <a:rPr lang="en-US" sz="2900" dirty="0"/>
              <a:t>Dictionaries: unordered collections of key-value pairs</a:t>
            </a:r>
          </a:p>
          <a:p>
            <a:r>
              <a:rPr lang="en-US" sz="2500" dirty="0"/>
              <a:t> 	person = {"name": "Alice", "age": 5, "city": "Doesn't Live Here Anymore"}</a:t>
            </a:r>
          </a:p>
          <a:p>
            <a:r>
              <a:rPr lang="en-US" sz="2900" dirty="0"/>
              <a:t>Sets: unordered collections of unique elements</a:t>
            </a:r>
          </a:p>
          <a:p>
            <a:r>
              <a:rPr lang="en-US" sz="2500" dirty="0"/>
              <a:t> 	</a:t>
            </a:r>
            <a:r>
              <a:rPr lang="en-US" sz="2500" dirty="0" err="1"/>
              <a:t>unique_numbers</a:t>
            </a:r>
            <a:r>
              <a:rPr lang="en-US" sz="2500" dirty="0"/>
              <a:t> = {1, 2, 3, 5, 8}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1466B-85EE-0392-99D4-B260BB9C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8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7ABF4-73B4-C96C-BAF2-F4F3FDAE6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hello_world.py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A7461-ADA8-A243-2967-093571F08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9768" y="1825625"/>
            <a:ext cx="5420032" cy="4351338"/>
          </a:xfrm>
        </p:spPr>
        <p:txBody>
          <a:bodyPr>
            <a:normAutofit/>
          </a:bodyPr>
          <a:lstStyle/>
          <a:p>
            <a:r>
              <a:rPr lang="en-US" sz="2700" i="1" dirty="0"/>
              <a:t># This is a comment. Comments are ignored by Python interpreter</a:t>
            </a:r>
            <a:endParaRPr lang="en-US" sz="2700" dirty="0"/>
          </a:p>
          <a:p>
            <a:endParaRPr lang="en-US" sz="1600" dirty="0"/>
          </a:p>
          <a:p>
            <a:r>
              <a:rPr lang="en-US" sz="2700" dirty="0"/>
              <a:t>print("Starting the program...")</a:t>
            </a:r>
          </a:p>
          <a:p>
            <a:endParaRPr lang="en-US" sz="1600" dirty="0"/>
          </a:p>
          <a:p>
            <a:r>
              <a:rPr lang="en-US" sz="2700" i="1" dirty="0"/>
              <a:t># Variable assignment</a:t>
            </a:r>
            <a:endParaRPr lang="en-US" sz="2700" dirty="0"/>
          </a:p>
          <a:p>
            <a:r>
              <a:rPr lang="en-US" sz="2700" dirty="0"/>
              <a:t>message </a:t>
            </a:r>
            <a:r>
              <a:rPr lang="en-US" sz="2700" i="1" dirty="0"/>
              <a:t>=</a:t>
            </a:r>
            <a:r>
              <a:rPr lang="en-US" sz="2700" dirty="0"/>
              <a:t> "Hello, World! from Python"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6B4B40-C64F-A8B5-73A6-E8F2D398D2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700" i="1" dirty="0"/>
              <a:t># Function definition</a:t>
            </a:r>
            <a:endParaRPr lang="en-US" sz="2700" dirty="0"/>
          </a:p>
          <a:p>
            <a:r>
              <a:rPr lang="en-US" sz="2700" i="1" dirty="0"/>
              <a:t>def</a:t>
            </a:r>
            <a:r>
              <a:rPr lang="en-US" sz="2700" dirty="0"/>
              <a:t> greet(</a:t>
            </a:r>
            <a:r>
              <a:rPr lang="en-US" sz="2700" i="1" dirty="0"/>
              <a:t>name</a:t>
            </a:r>
            <a:r>
              <a:rPr lang="en-US" sz="2700" dirty="0"/>
              <a:t>):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return</a:t>
            </a:r>
            <a:r>
              <a:rPr lang="en-US" sz="2700" dirty="0"/>
              <a:t> </a:t>
            </a:r>
            <a:r>
              <a:rPr lang="en-US" sz="2700" i="1" dirty="0" err="1"/>
              <a:t>f</a:t>
            </a:r>
            <a:r>
              <a:rPr lang="en-US" sz="2700" dirty="0" err="1"/>
              <a:t>"My</a:t>
            </a:r>
            <a:r>
              <a:rPr lang="en-US" sz="2700" dirty="0"/>
              <a:t> name is, {name}!"</a:t>
            </a:r>
          </a:p>
          <a:p>
            <a:r>
              <a:rPr lang="en-US" sz="2700" dirty="0"/>
              <a:t> 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Main execution</a:t>
            </a:r>
            <a:endParaRPr lang="en-US" sz="2700" dirty="0"/>
          </a:p>
          <a:p>
            <a:r>
              <a:rPr lang="en-US" sz="2700" dirty="0"/>
              <a:t>print(message)</a:t>
            </a:r>
          </a:p>
          <a:p>
            <a:r>
              <a:rPr lang="en-US" sz="2700" dirty="0"/>
              <a:t>print(greet("Calin"))</a:t>
            </a:r>
          </a:p>
          <a:p>
            <a:r>
              <a:rPr lang="en-US" sz="2700" dirty="0"/>
              <a:t>print("Ending the program...")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0A651-5923-5380-DB3F-0FA8F987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36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F3D2-3FE1-2F92-BC97-081D3922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5FCF-5509-DACF-C382-5E8FCA3BC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and double quotes are used for single-line strings</a:t>
            </a:r>
          </a:p>
          <a:p>
            <a:r>
              <a:rPr lang="en-US" dirty="0"/>
              <a:t>triple quotes are used for multi-line strings - can also include both single and double quotes without escaping them</a:t>
            </a:r>
          </a:p>
          <a:p>
            <a:endParaRPr lang="en-US" dirty="0"/>
          </a:p>
          <a:p>
            <a:r>
              <a:rPr lang="en-US" dirty="0"/>
              <a:t>strings area special type of data, sequence of characters, where each character has specific position, known as its index – when indexed from left to right, the characters are assigned indices starting from 0 up to n−1, where n is the length of string; when indexed from right to left, the characters are assigned indices starting from −1down to −n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0B0A5-5CB1-B185-D0F3-8CB9B6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8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A47300-9029-C562-967D-1612C7C5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A9602-29DF-81CB-8E34-D36BDC1434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s1 </a:t>
            </a:r>
            <a:r>
              <a:rPr lang="en-US" sz="2700" i="1" dirty="0"/>
              <a:t>=</a:t>
            </a:r>
            <a:r>
              <a:rPr lang="en-US" sz="2700" dirty="0"/>
              <a:t> "a string"</a:t>
            </a:r>
          </a:p>
          <a:p>
            <a:endParaRPr lang="en-US" sz="2700" dirty="0"/>
          </a:p>
          <a:p>
            <a:r>
              <a:rPr lang="en-US" sz="2700" dirty="0"/>
              <a:t>print(</a:t>
            </a:r>
            <a:r>
              <a:rPr lang="en-US" sz="2700" dirty="0" err="1"/>
              <a:t>len</a:t>
            </a:r>
            <a:r>
              <a:rPr lang="en-US" sz="2700" dirty="0"/>
              <a:t>(s1))</a:t>
            </a:r>
          </a:p>
          <a:p>
            <a:r>
              <a:rPr lang="en-US" sz="2700" dirty="0"/>
              <a:t>print(s1[0:2])</a:t>
            </a:r>
          </a:p>
          <a:p>
            <a:r>
              <a:rPr lang="en-US" sz="2700" dirty="0"/>
              <a:t>print(s1[-1])</a:t>
            </a:r>
          </a:p>
          <a:p>
            <a:r>
              <a:rPr lang="en-US" sz="2700" dirty="0"/>
              <a:t>print(s1[-3:-1])</a:t>
            </a:r>
          </a:p>
          <a:p>
            <a:r>
              <a:rPr lang="en-US" sz="2700" dirty="0"/>
              <a:t>print(s1[-3:])</a:t>
            </a:r>
          </a:p>
          <a:p>
            <a:endParaRPr lang="en-US" sz="27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157713-F1F9-2099-66B4-79E9CCAF2D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8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g</a:t>
            </a:r>
          </a:p>
          <a:p>
            <a:r>
              <a:rPr lang="en-US" dirty="0"/>
              <a:t>in</a:t>
            </a:r>
          </a:p>
          <a:p>
            <a:r>
              <a:rPr lang="en-US" dirty="0" err="1"/>
              <a:t>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17A97-A9AC-EE17-EE8F-48FF9161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25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D2AD-A352-17F1-C866-24792E5F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13E23-6E68-8BC0-5EF6-22B36DCBB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+ concatenates two strings</a:t>
            </a:r>
          </a:p>
          <a:p>
            <a:r>
              <a:rPr lang="en-US" dirty="0"/>
              <a:t>* repeats a string</a:t>
            </a:r>
          </a:p>
          <a:p>
            <a:r>
              <a:rPr lang="en-US" dirty="0"/>
              <a:t>[:] slices string based on character positions</a:t>
            </a:r>
          </a:p>
          <a:p>
            <a:r>
              <a:rPr lang="en-US" dirty="0"/>
              <a:t>in checks if string is substring of another string</a:t>
            </a:r>
          </a:p>
          <a:p>
            <a:r>
              <a:rPr lang="en-US" dirty="0"/>
              <a:t>replace replaces substring within string with another substring</a:t>
            </a:r>
          </a:p>
          <a:p>
            <a:r>
              <a:rPr lang="en-US" dirty="0"/>
              <a:t>split splits string into list of substrings using specified delimiter </a:t>
            </a:r>
          </a:p>
          <a:p>
            <a:r>
              <a:rPr lang="en-US" dirty="0"/>
              <a:t>format formats string by replacing placeholders () with specified values</a:t>
            </a:r>
          </a:p>
          <a:p>
            <a:r>
              <a:rPr lang="en-US" dirty="0"/>
              <a:t>join joins list of strings into single string using specified delimiter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12646-A4BD-3F72-30BB-8752E9A9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08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D9AC-C252-7B5C-0C6A-CFF39172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-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16BF-8602-E17C-3BCD-8D661A7BD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0174" cy="4351338"/>
          </a:xfrm>
        </p:spPr>
        <p:txBody>
          <a:bodyPr>
            <a:noAutofit/>
          </a:bodyPr>
          <a:lstStyle/>
          <a:p>
            <a:r>
              <a:rPr lang="en-US" dirty="0"/>
              <a:t>ordered collection of elements, which can be of any data type</a:t>
            </a:r>
          </a:p>
          <a:p>
            <a:r>
              <a:rPr lang="en-US" dirty="0"/>
              <a:t>lists are defined using square brackets [], with elements separated by commas</a:t>
            </a:r>
          </a:p>
          <a:p>
            <a:r>
              <a:rPr lang="en-US" dirty="0"/>
              <a:t>lst1 = ["a string", 2, True]</a:t>
            </a:r>
          </a:p>
          <a:p>
            <a:r>
              <a:rPr lang="en-US" dirty="0"/>
              <a:t>lists are mutable, for example, can add an element to the end of list by using function append:</a:t>
            </a:r>
          </a:p>
          <a:p>
            <a:r>
              <a:rPr lang="en-US" dirty="0"/>
              <a:t>lst1.append(3.141592)</a:t>
            </a:r>
          </a:p>
          <a:p>
            <a:r>
              <a:rPr lang="en-US" dirty="0"/>
              <a:t>can also insert element into specified position </a:t>
            </a:r>
          </a:p>
          <a:p>
            <a:r>
              <a:rPr lang="en-US" dirty="0"/>
              <a:t>lst1.insert(0, 'begin')        lst2 </a:t>
            </a:r>
            <a:r>
              <a:rPr lang="en-US" i="1" dirty="0"/>
              <a:t>=</a:t>
            </a:r>
            <a:r>
              <a:rPr lang="en-US" dirty="0"/>
              <a:t> ['another', 'string']        lst1.insert(1, lst2)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60339-E2D2-E817-E9F1-3C78B451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99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AEC3-19A2-20F9-D6D7-6697DF44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466F-FBDE-4787-ADFB-AE71076F3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["apple", "banana", "cherry"]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fruit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print(fruit)</a:t>
            </a:r>
          </a:p>
          <a:p>
            <a:endParaRPr lang="en-US" dirty="0"/>
          </a:p>
          <a:p>
            <a:r>
              <a:rPr lang="en-US" dirty="0"/>
              <a:t>apple</a:t>
            </a:r>
          </a:p>
          <a:p>
            <a:r>
              <a:rPr lang="en-US" dirty="0"/>
              <a:t>banana</a:t>
            </a:r>
          </a:p>
          <a:p>
            <a:r>
              <a:rPr lang="en-US" dirty="0"/>
              <a:t>cherry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D987-5A3B-359B-850F-35A650C4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6853"/>
            <a:ext cx="2743200" cy="365125"/>
          </a:xfrm>
        </p:spPr>
        <p:txBody>
          <a:bodyPr/>
          <a:lstStyle/>
          <a:p>
            <a:fld id="{1DBEB03D-E4DE-45F6-B921-153213226E4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74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77FB-82B7-B87F-E92A-C3A378CE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06C3C-163A-F8FE-8255-933B2E959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 for accessing elements in a list:</a:t>
            </a:r>
          </a:p>
          <a:p>
            <a:pPr lvl="1"/>
            <a:r>
              <a:rPr lang="en-US" sz="2700" dirty="0"/>
              <a:t>[pos] - gets the element with index pos</a:t>
            </a:r>
          </a:p>
          <a:p>
            <a:pPr lvl="1"/>
            <a:r>
              <a:rPr lang="en-US" sz="2700" dirty="0"/>
              <a:t>[</a:t>
            </a:r>
            <a:r>
              <a:rPr lang="en-US" sz="2700" dirty="0" err="1"/>
              <a:t>start:stop</a:t>
            </a:r>
            <a:r>
              <a:rPr lang="en-US" sz="2700" dirty="0"/>
              <a:t>] - gets elements with indices from start (inclusive) to stop (exclusive)</a:t>
            </a:r>
          </a:p>
          <a:p>
            <a:pPr lvl="1"/>
            <a:r>
              <a:rPr lang="en-US" sz="2700" dirty="0"/>
              <a:t>[</a:t>
            </a:r>
            <a:r>
              <a:rPr lang="en-US" sz="2700" dirty="0" err="1"/>
              <a:t>start:stop:stride</a:t>
            </a:r>
            <a:r>
              <a:rPr lang="en-US" sz="2700" dirty="0"/>
              <a:t>] - gets elements with indices from start (inclusive) to stop (exclusive) with step size stride</a:t>
            </a:r>
          </a:p>
          <a:p>
            <a:r>
              <a:rPr lang="en-US" dirty="0"/>
              <a:t>see that method [::-1] essentially reverses the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7729A-AA5A-8504-2640-2CB3FF48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395C-B863-4C71-483E-F2C0938C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-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0F738-DB6F-F5E3-9EA5-FDD2086FA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a list, however, tuples are immutable - once tuple is created, it cannot be modified</a:t>
            </a:r>
          </a:p>
          <a:p>
            <a:r>
              <a:rPr lang="en-US" dirty="0"/>
              <a:t>tuples are defined by parentheses and elements of tuple are separated by commas</a:t>
            </a:r>
          </a:p>
          <a:p>
            <a:r>
              <a:rPr lang="en-US" dirty="0"/>
              <a:t>tpl2 </a:t>
            </a:r>
            <a:r>
              <a:rPr lang="en-US" i="1" dirty="0"/>
              <a:t>=</a:t>
            </a:r>
            <a:r>
              <a:rPr lang="en-US" dirty="0"/>
              <a:t> ("a string", 2, True)</a:t>
            </a:r>
          </a:p>
          <a:p>
            <a:r>
              <a:rPr lang="en-US" dirty="0"/>
              <a:t>elements of tuple can be accessed by square brackets with indices tpl2[2])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31A89-DEA6-95AC-5E49-63A4A037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82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E19F2-F540-F6B1-53E4-2E41B029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D28A2-618F-41E9-5374-74444FBDC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("apple", "banana", "cherry")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fruit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print(fruit)</a:t>
            </a:r>
          </a:p>
          <a:p>
            <a:endParaRPr lang="en-US" dirty="0"/>
          </a:p>
          <a:p>
            <a:r>
              <a:rPr lang="en-US" dirty="0"/>
              <a:t>apple</a:t>
            </a:r>
          </a:p>
          <a:p>
            <a:r>
              <a:rPr lang="en-US" dirty="0"/>
              <a:t>banana</a:t>
            </a:r>
          </a:p>
          <a:p>
            <a:r>
              <a:rPr lang="en-US" dirty="0"/>
              <a:t>cherry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2CBC5-3CBC-3D21-6421-97AE1714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3DA2-B0DD-CC34-F835-133C9136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-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9E80-ADCE-9192-6713-476AEA7E0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store key-value pairs </a:t>
            </a:r>
          </a:p>
          <a:p>
            <a:r>
              <a:rPr lang="en-US" dirty="0"/>
              <a:t>created by using curly brackets and key-value pairs are separated by commas; key and value of a pair are separated by a colon:</a:t>
            </a:r>
          </a:p>
          <a:p>
            <a:r>
              <a:rPr lang="en-US" dirty="0"/>
              <a:t>dict3 </a:t>
            </a:r>
            <a:r>
              <a:rPr lang="en-US" i="1" dirty="0"/>
              <a:t>=</a:t>
            </a:r>
            <a:r>
              <a:rPr lang="en-US" dirty="0"/>
              <a:t> {"One" : 1, "Two" : 2, 3 : 'c’}</a:t>
            </a:r>
          </a:p>
          <a:p>
            <a:r>
              <a:rPr lang="en-US" dirty="0"/>
              <a:t>values in dictionary can be accessed by their keys dict3['Two']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79516-7B56-515A-EE6D-F20D29DC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60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853A-6C7F-9527-95A6-76B887EB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D1DEC-46B1-ACD8-AD28-96C10FBE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fruit_dictionary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{"apple" : "red", "banana" : "green", "cherry" : "blue"}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k, v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fruit_dictionary.items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"{k} is {v}")</a:t>
            </a:r>
          </a:p>
          <a:p>
            <a:endParaRPr lang="en-US" dirty="0"/>
          </a:p>
          <a:p>
            <a:r>
              <a:rPr lang="en-US" dirty="0"/>
              <a:t>apple is red</a:t>
            </a:r>
          </a:p>
          <a:p>
            <a:r>
              <a:rPr lang="en-US" dirty="0"/>
              <a:t>banana is green</a:t>
            </a:r>
          </a:p>
          <a:p>
            <a:r>
              <a:rPr lang="en-US" dirty="0"/>
              <a:t>cherry is blue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1AEB-09C0-729A-BD5A-3E8504DB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69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A5517-CE4D-5AF6-0414-5F21C567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-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7EA8-C7A0-70A4-0010-24BFDF0F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collection of unordered and unique elements</a:t>
            </a:r>
          </a:p>
          <a:p>
            <a:r>
              <a:rPr lang="en-US" dirty="0"/>
              <a:t>created using curly brackets {} or the set function</a:t>
            </a:r>
          </a:p>
          <a:p>
            <a:r>
              <a:rPr lang="en-US" dirty="0"/>
              <a:t>s1 </a:t>
            </a:r>
            <a:r>
              <a:rPr lang="en-US" i="1" dirty="0"/>
              <a:t>=</a:t>
            </a:r>
            <a:r>
              <a:rPr lang="en-US" dirty="0"/>
              <a:t> set()		s1.add(1)		s1.add("a")</a:t>
            </a:r>
          </a:p>
          <a:p>
            <a:r>
              <a:rPr lang="en-US" dirty="0"/>
              <a:t>s2 </a:t>
            </a:r>
            <a:r>
              <a:rPr lang="en-US" i="1" dirty="0"/>
              <a:t>=</a:t>
            </a:r>
            <a:r>
              <a:rPr lang="en-US" dirty="0"/>
              <a:t> {1, "a", "b", True, False}</a:t>
            </a:r>
          </a:p>
          <a:p>
            <a:r>
              <a:rPr lang="en-US" dirty="0"/>
              <a:t>sets automatically eliminate duplicate values, ensuring that each item appears only once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0D043-510B-6E18-FB4F-84BB1FB0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9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C283-FB7C-CAA4-A451-43F54273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7AA66-18FE-3248-CA99-8C2F5E097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{"apple", "banana", "cherry"}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fruit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fruit_set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print(fruit)</a:t>
            </a:r>
          </a:p>
          <a:p>
            <a:endParaRPr lang="en-US" dirty="0"/>
          </a:p>
          <a:p>
            <a:r>
              <a:rPr lang="en-US" dirty="0"/>
              <a:t>cherry</a:t>
            </a:r>
          </a:p>
          <a:p>
            <a:r>
              <a:rPr lang="en-US" dirty="0"/>
              <a:t>banana</a:t>
            </a:r>
          </a:p>
          <a:p>
            <a:r>
              <a:rPr lang="en-US" dirty="0"/>
              <a:t>apple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95DED-526A-7523-0568-E67AE6D2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82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380EB9-40CC-C8C5-D421-8515D633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statements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477435-B5F8-46B4-7E7E-3AACB4531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7390A-B6F6-3DBE-8EC4-5FBFB123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9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56BE-3700-D532-C955-EE2DD46D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Statements and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812CC-5395-3469-6593-102B2E712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Autofit/>
          </a:bodyPr>
          <a:lstStyle/>
          <a:p>
            <a:r>
              <a:rPr lang="en-US" dirty="0"/>
              <a:t>manage  flow of execution within a program</a:t>
            </a:r>
          </a:p>
          <a:p>
            <a:r>
              <a:rPr lang="en-US" dirty="0"/>
              <a:t>if, if-else, and if-</a:t>
            </a:r>
            <a:r>
              <a:rPr lang="en-US" dirty="0" err="1"/>
              <a:t>elif</a:t>
            </a:r>
            <a:r>
              <a:rPr lang="en-US" dirty="0"/>
              <a:t>-else </a:t>
            </a:r>
          </a:p>
          <a:p>
            <a:r>
              <a:rPr lang="en-US" dirty="0"/>
              <a:t>loops in Python include for loop, which iterates over a sequence, and  while loop, which repeats as long as a given condition remains true</a:t>
            </a:r>
          </a:p>
          <a:p>
            <a:r>
              <a:rPr lang="en-US" sz="2700" dirty="0"/>
              <a:t>x </a:t>
            </a:r>
            <a:r>
              <a:rPr lang="en-US" sz="2700" i="1" dirty="0"/>
              <a:t>=</a:t>
            </a:r>
            <a:r>
              <a:rPr lang="en-US" sz="2700" dirty="0"/>
              <a:t> 1</a:t>
            </a:r>
          </a:p>
          <a:p>
            <a:r>
              <a:rPr lang="en-US" sz="2700" i="1" dirty="0"/>
              <a:t>if</a:t>
            </a:r>
            <a:r>
              <a:rPr lang="en-US" sz="2700" dirty="0"/>
              <a:t> x </a:t>
            </a:r>
            <a:r>
              <a:rPr lang="en-US" sz="2700" i="1" dirty="0"/>
              <a:t>&gt;</a:t>
            </a:r>
            <a:r>
              <a:rPr lang="en-US" sz="2700" dirty="0"/>
              <a:t> 0:</a:t>
            </a:r>
          </a:p>
          <a:p>
            <a:r>
              <a:rPr lang="en-US" sz="2700" dirty="0"/>
              <a:t>    print("x is positive")</a:t>
            </a:r>
          </a:p>
          <a:p>
            <a:r>
              <a:rPr lang="en-US" sz="2700" dirty="0"/>
              <a:t>    print("and something more ...")</a:t>
            </a:r>
          </a:p>
          <a:p>
            <a:r>
              <a:rPr lang="en-US" sz="2700" i="1" dirty="0"/>
              <a:t>else</a:t>
            </a:r>
            <a:r>
              <a:rPr lang="en-US" sz="2700" dirty="0"/>
              <a:t>:</a:t>
            </a:r>
          </a:p>
          <a:p>
            <a:r>
              <a:rPr lang="en-US" sz="2700" dirty="0"/>
              <a:t>    print('x is negative')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28FE4-9715-BA74-EE00-AC466009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6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94620B-8BA1-B893-229F-809FD7DF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18F0-9C70-0293-CD61-637D060C6D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nn-NO" dirty="0"/>
              <a:t>dSum1 </a:t>
            </a:r>
            <a:r>
              <a:rPr lang="nn-NO" i="1" dirty="0"/>
              <a:t>=</a:t>
            </a:r>
            <a:r>
              <a:rPr lang="nn-NO" dirty="0"/>
              <a:t> 0</a:t>
            </a:r>
          </a:p>
          <a:p>
            <a:endParaRPr lang="nn-NO" i="1" dirty="0"/>
          </a:p>
          <a:p>
            <a:r>
              <a:rPr lang="nn-NO" i="1" dirty="0"/>
              <a:t>for</a:t>
            </a:r>
            <a:r>
              <a:rPr lang="nn-NO" dirty="0"/>
              <a:t> i </a:t>
            </a:r>
            <a:r>
              <a:rPr lang="nn-NO" i="1" dirty="0"/>
              <a:t>in</a:t>
            </a:r>
            <a:r>
              <a:rPr lang="nn-NO" dirty="0"/>
              <a:t> range(3, 89+1):</a:t>
            </a:r>
          </a:p>
          <a:p>
            <a:r>
              <a:rPr lang="nn-NO" dirty="0"/>
              <a:t>    dSum1 </a:t>
            </a:r>
            <a:r>
              <a:rPr lang="nn-NO" i="1" dirty="0"/>
              <a:t>+=</a:t>
            </a:r>
            <a:r>
              <a:rPr lang="nn-NO" dirty="0"/>
              <a:t> i</a:t>
            </a:r>
          </a:p>
          <a:p>
            <a:endParaRPr lang="nn-NO" dirty="0"/>
          </a:p>
          <a:p>
            <a:endParaRPr lang="nn-NO" dirty="0"/>
          </a:p>
          <a:p>
            <a:r>
              <a:rPr lang="nn-NO" dirty="0"/>
              <a:t>print(dSum1 - (89-3) * 2)</a:t>
            </a:r>
          </a:p>
          <a:p>
            <a:endParaRPr lang="nn-NO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891AA-489C-5B07-AD22-79ACD17229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nn-NO" dirty="0"/>
              <a:t>dSum2 </a:t>
            </a:r>
            <a:r>
              <a:rPr lang="nn-NO" i="1" dirty="0"/>
              <a:t>=</a:t>
            </a:r>
            <a:r>
              <a:rPr lang="nn-NO" dirty="0"/>
              <a:t> 0</a:t>
            </a:r>
          </a:p>
          <a:p>
            <a:r>
              <a:rPr lang="nn-NO" dirty="0"/>
              <a:t>i </a:t>
            </a:r>
            <a:r>
              <a:rPr lang="nn-NO" i="1" dirty="0"/>
              <a:t>=</a:t>
            </a:r>
            <a:r>
              <a:rPr lang="nn-NO" dirty="0"/>
              <a:t> 3</a:t>
            </a:r>
          </a:p>
          <a:p>
            <a:r>
              <a:rPr lang="nn-NO" i="1" dirty="0"/>
              <a:t>while</a:t>
            </a:r>
            <a:r>
              <a:rPr lang="nn-NO" dirty="0"/>
              <a:t> i </a:t>
            </a:r>
            <a:r>
              <a:rPr lang="nn-NO" i="1" dirty="0"/>
              <a:t>&lt;=</a:t>
            </a:r>
            <a:r>
              <a:rPr lang="nn-NO" dirty="0"/>
              <a:t> 89:</a:t>
            </a:r>
          </a:p>
          <a:p>
            <a:r>
              <a:rPr lang="nn-NO" dirty="0"/>
              <a:t>    dSum2 </a:t>
            </a:r>
            <a:r>
              <a:rPr lang="nn-NO" i="1" dirty="0"/>
              <a:t>+=</a:t>
            </a:r>
            <a:r>
              <a:rPr lang="nn-NO" dirty="0"/>
              <a:t> i</a:t>
            </a:r>
          </a:p>
          <a:p>
            <a:r>
              <a:rPr lang="nn-NO" dirty="0"/>
              <a:t>    i </a:t>
            </a:r>
            <a:r>
              <a:rPr lang="nn-NO" i="1" dirty="0"/>
              <a:t>+=</a:t>
            </a:r>
            <a:r>
              <a:rPr lang="nn-NO" dirty="0"/>
              <a:t> 1</a:t>
            </a:r>
          </a:p>
          <a:p>
            <a:r>
              <a:rPr lang="nn-NO" dirty="0"/>
              <a:t>print(dSum2 - (89-3) * 2)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A99F0-9E1A-EDBB-20CC-B6E9BA7F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39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03B9-6D14-ED37-9757-EC5A9B2D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F4F7B-5F36-A0CB-4CA0-332FD19BD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dSum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0</a:t>
            </a:r>
          </a:p>
          <a:p>
            <a:r>
              <a:rPr lang="en-US" i="1" dirty="0"/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/>
              <a:t>in</a:t>
            </a:r>
            <a:r>
              <a:rPr lang="en-US" dirty="0"/>
              <a:t> range(1, 1001):</a:t>
            </a:r>
          </a:p>
          <a:p>
            <a:r>
              <a:rPr lang="en-US" dirty="0"/>
              <a:t>    </a:t>
            </a:r>
            <a:r>
              <a:rPr lang="en-US" dirty="0" err="1"/>
              <a:t>dSum</a:t>
            </a:r>
            <a:r>
              <a:rPr lang="en-US" dirty="0"/>
              <a:t> </a:t>
            </a:r>
            <a:r>
              <a:rPr lang="en-US" i="1" dirty="0"/>
              <a:t>+=</a:t>
            </a:r>
            <a:r>
              <a:rPr lang="en-US" dirty="0"/>
              <a:t>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    </a:t>
            </a:r>
            <a:r>
              <a:rPr lang="en-US" i="1" dirty="0"/>
              <a:t>if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% 100 </a:t>
            </a:r>
            <a:r>
              <a:rPr lang="en-US" i="1" dirty="0"/>
              <a:t>==</a:t>
            </a:r>
            <a:r>
              <a:rPr lang="en-US" dirty="0"/>
              <a:t> 0:</a:t>
            </a:r>
          </a:p>
          <a:p>
            <a:r>
              <a:rPr lang="en-US" dirty="0"/>
              <a:t>        print("Iteration {}: {}".format(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dSum</a:t>
            </a:r>
            <a:r>
              <a:rPr lang="en-US" dirty="0"/>
              <a:t>))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9DAE8-8A68-EA51-C9FA-7E91589B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6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97B4-B140-0E75-F8EC-860769F1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6070-A1C0-02EB-8FCC-654BECD1B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includes two key statements for controlling loops: </a:t>
            </a:r>
            <a:r>
              <a:rPr lang="en-US" i="1" dirty="0"/>
              <a:t>break</a:t>
            </a:r>
            <a:r>
              <a:rPr lang="en-US" dirty="0"/>
              <a:t> and </a:t>
            </a:r>
            <a:r>
              <a:rPr lang="en-US" i="1" dirty="0"/>
              <a:t>continue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5E6E0-2570-D926-F98E-2AD8E809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21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F773-1D9F-DA53-E8B6-7EA56573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for</a:t>
            </a:r>
            <a:r>
              <a:rPr lang="en-US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FC847-E197-4803-29D5-005D176A3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for</a:t>
            </a:r>
            <a:r>
              <a:rPr lang="en-US" dirty="0"/>
              <a:t> loop is used to iterate over a sequence (like list, tuple, string) or other </a:t>
            </a:r>
            <a:r>
              <a:rPr lang="en-US" dirty="0" err="1"/>
              <a:t>iterable</a:t>
            </a:r>
            <a:r>
              <a:rPr lang="en-US" dirty="0"/>
              <a:t> objects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/>
              <a:t>for fruit in fruits: </a:t>
            </a:r>
          </a:p>
          <a:p>
            <a:r>
              <a:rPr lang="en-US" dirty="0"/>
              <a:t> 	print(fruit)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5871B-734B-1AB2-794C-87209DF0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33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614377-F86A-D697-4B62-2BF676E1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65E76B-22E5-0B82-85C6-EC04A52FF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E9F7D-2277-9731-43E4-BDE9760B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02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78CB-589A-A5E7-CA2E-1525C24E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28340-1EA5-4688-04AB-F6457EEB8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defined to encapsulate blocks of reusable code</a:t>
            </a:r>
          </a:p>
          <a:p>
            <a:r>
              <a:rPr lang="en-US" dirty="0"/>
              <a:t>accept arguments (inputs) and return values (outputs); arguments are specified inside parentheses of function definition</a:t>
            </a:r>
          </a:p>
          <a:p>
            <a:r>
              <a:rPr lang="en-US" dirty="0"/>
              <a:t>supports different types of arguments:</a:t>
            </a:r>
          </a:p>
          <a:p>
            <a:pPr lvl="1"/>
            <a:r>
              <a:rPr lang="en-US" sz="2700" dirty="0"/>
              <a:t>positional arguments</a:t>
            </a:r>
          </a:p>
          <a:p>
            <a:pPr lvl="1"/>
            <a:r>
              <a:rPr lang="en-US" sz="2700" dirty="0"/>
              <a:t>keyword arguments</a:t>
            </a:r>
          </a:p>
          <a:p>
            <a:pPr lvl="1"/>
            <a:r>
              <a:rPr lang="en-US" sz="2700" dirty="0"/>
              <a:t>default arguments</a:t>
            </a:r>
          </a:p>
          <a:p>
            <a:pPr lvl="1"/>
            <a:r>
              <a:rPr lang="en-US" sz="2700" dirty="0"/>
              <a:t>variable-length arguments: use *</a:t>
            </a:r>
            <a:r>
              <a:rPr lang="en-US" sz="2700" dirty="0" err="1"/>
              <a:t>args</a:t>
            </a:r>
            <a:r>
              <a:rPr lang="en-US" sz="2700" dirty="0"/>
              <a:t> for variable number of positional arguments and **</a:t>
            </a:r>
            <a:r>
              <a:rPr lang="en-US" sz="2700" dirty="0" err="1"/>
              <a:t>kwargs</a:t>
            </a:r>
            <a:r>
              <a:rPr lang="en-US" sz="2700" dirty="0"/>
              <a:t> for variable number of keyword arguments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65844-0026-AA82-81D9-3FB31563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54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F2EA-8654-9931-7AD5-8C888F1C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0E42-7AED-F8A3-918F-86AA6765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can return values using the return statement</a:t>
            </a:r>
          </a:p>
          <a:p>
            <a:r>
              <a:rPr lang="en-US" dirty="0"/>
              <a:t>function can return multiple values as a tuple</a:t>
            </a:r>
          </a:p>
          <a:p>
            <a:r>
              <a:rPr lang="en-US" dirty="0"/>
              <a:t>if no return statement is used, function returns None by default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C90F-845B-ADE1-4CEC-28C9208E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23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DF5C-635E-E0C8-22AC-1707E22D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A1986-22BD-56BE-B4B9-64EA50574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4032" cy="4351338"/>
          </a:xfrm>
        </p:spPr>
        <p:txBody>
          <a:bodyPr>
            <a:normAutofit/>
          </a:bodyPr>
          <a:lstStyle/>
          <a:p>
            <a:r>
              <a:rPr lang="en-US" dirty="0"/>
              <a:t>also known as anonymous functions, nameless function typically used for short, simple operations where a full function definition is unnecessary, particularly useful for quick, inline functionality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square = lambda x: x ** 2 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print(square(5))</a:t>
            </a:r>
            <a:r>
              <a:rPr lang="en-US" sz="2700" dirty="0"/>
              <a:t> # Output: 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8D2B6-8F07-6CD4-BF3D-28B4AF58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07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8871-6594-9B73-DA66-215AF1F7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2D70-9B07-DD63-B665-4761ABCB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3026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[(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(x))(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range(1,11)]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700" dirty="0"/>
              <a:t>[1.0, 1.4142135623730951, 1.7320508075688772, 2.0, 2.23606797749979, 2.449489742783178, 2.6457513110645907, 2.8284271247461903, 3.0, 3.1622776601683795]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5BB8C-B6CE-DEA4-2F16-F6D618E7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001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B2727F-62FD-B0BE-2778-A60C4F94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7DCF25-421B-4E81-3C32-9DECFCF6C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6FF6-F86B-2A3F-9C21-05BE4DA3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62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6883-76C2-D672-8536-E18CD4D6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0281F-DAC8-FE3C-FA74-DE22F32A7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for file handling</a:t>
            </a:r>
          </a:p>
          <a:p>
            <a:r>
              <a:rPr lang="en-US" dirty="0"/>
              <a:t>ensure that Python can locate the file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endParaRPr 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fi = open(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os.path.join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r"c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:\users\...\documents\ …", "file.txt"), "r")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content =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fi.read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fi.close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print(content)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D1F1A-738F-ED7A-7399-B374F1153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897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8757-FC24-A376-9B3D-94669508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CB96C-AFE5-2EBE-06C0-21D6D793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open(</a:t>
            </a:r>
            <a:r>
              <a:rPr lang="en-US" dirty="0" err="1"/>
              <a:t>os.path.join</a:t>
            </a:r>
            <a:r>
              <a:rPr lang="en-US" dirty="0"/>
              <a:t>(</a:t>
            </a:r>
            <a:r>
              <a:rPr lang="en-US" dirty="0" err="1"/>
              <a:t>r"c</a:t>
            </a:r>
            <a:r>
              <a:rPr lang="en-US" dirty="0"/>
              <a:t>:\users\...", "file.txt"), "r") as fi: </a:t>
            </a:r>
          </a:p>
          <a:p>
            <a:r>
              <a:rPr lang="en-US" dirty="0"/>
              <a:t> 	content = </a:t>
            </a:r>
            <a:r>
              <a:rPr lang="en-US" dirty="0" err="1"/>
              <a:t>fi.read</a:t>
            </a:r>
            <a:r>
              <a:rPr lang="en-US" dirty="0"/>
              <a:t>()</a:t>
            </a:r>
          </a:p>
          <a:p>
            <a:r>
              <a:rPr lang="en-US" dirty="0"/>
              <a:t>print(content)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471D3-51E4-62B2-9774-5FAE8F4C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908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D1A070-07C8-DF7A-095C-FF4A7127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1AF727-E054-9198-791D-59546FE8C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3635E-9A79-0A8F-A244-F90F5EC8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49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1FE4-2779-8AB6-F646-3E1E1435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AC64-D6A6-22FB-6B88-CD634BF02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try-except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6E726-6A21-8817-4510-0F71C811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992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14AA64-E75B-9B08-2DB6-C184C3F0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2E1C17-94FE-E02D-1ABD-7B0452966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A39F1-1476-6C58-0AE2-E3F21991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07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16D1-6CA1-B1C6-DA07-8FF593D7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F2C1F-306D-3593-CDA4-7E075AE0B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programming paradigm that uses objects to structure programs </a:t>
            </a:r>
          </a:p>
          <a:p>
            <a:r>
              <a:rPr lang="en-US" dirty="0"/>
              <a:t>object models real-world entity and contain data and methods</a:t>
            </a:r>
          </a:p>
          <a:p>
            <a:r>
              <a:rPr lang="en-US" dirty="0" err="1"/>
              <a:t>OOPis</a:t>
            </a:r>
            <a:r>
              <a:rPr lang="en-US" dirty="0"/>
              <a:t> built on encapsulation, inheritance, and polymorphism</a:t>
            </a:r>
          </a:p>
          <a:p>
            <a:r>
              <a:rPr lang="en-US" dirty="0"/>
              <a:t>encapsulation integrates data and methods into a single unit, the class, restricting direct access to certain details</a:t>
            </a:r>
          </a:p>
          <a:p>
            <a:r>
              <a:rPr lang="en-US" dirty="0"/>
              <a:t>inheritance allows new class to derive from an existing class, inheriting its data and methods</a:t>
            </a:r>
          </a:p>
          <a:p>
            <a:r>
              <a:rPr lang="en-US" dirty="0"/>
              <a:t>polymorphism enables a single interface to represent different underlying implementations, allowing for flexible and dynamic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7144-1EAE-019E-B49B-343EF3C4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06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1C3A-0998-3C5C-495F-7B44ED57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4A289C-A2A4-5659-175F-4050AAE6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Packages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B571A3-6BD7-9610-92FA-A2AB4617E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E02FE-0D1A-179B-CE33-704F48FB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170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A2D2-3B1B-B9AF-9C00-8435225B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F727-FA00-177C-1478-5ED51608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67B1-0005-A64C-5947-830FD7290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are ways to organize and reuse code in Python, allow to break down large programs into smaller, more manageable files and provide a mechanism for </a:t>
            </a:r>
            <a:r>
              <a:rPr lang="en-US" dirty="0" err="1"/>
              <a:t>namespacing</a:t>
            </a:r>
            <a:r>
              <a:rPr lang="en-US" dirty="0"/>
              <a:t> to avoid naming conflicts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9C6F6-E1B1-B596-3383-F9AC3F24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097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7224-6652-EAA9-40DD-2EB7E685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D4284-376D-C5E0-FD64-9FDF68C92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module is a file containing Python definitions and statements</a:t>
            </a:r>
          </a:p>
          <a:p>
            <a:r>
              <a:rPr lang="en-US" dirty="0"/>
              <a:t>file name is the module name with the suffix .</a:t>
            </a:r>
            <a:r>
              <a:rPr lang="en-US" dirty="0" err="1"/>
              <a:t>py</a:t>
            </a:r>
            <a:r>
              <a:rPr lang="en-US" dirty="0"/>
              <a:t> added</a:t>
            </a:r>
          </a:p>
          <a:p>
            <a:r>
              <a:rPr lang="en-US" dirty="0"/>
              <a:t>can create your own modules by saving Python code in a .</a:t>
            </a:r>
            <a:r>
              <a:rPr lang="en-US" dirty="0" err="1"/>
              <a:t>py</a:t>
            </a:r>
            <a:r>
              <a:rPr lang="en-US" dirty="0"/>
              <a:t> file</a:t>
            </a:r>
          </a:p>
          <a:p>
            <a:r>
              <a:rPr lang="en-US" dirty="0"/>
              <a:t>to use module in Python script, need to import it: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(16))</a:t>
            </a:r>
          </a:p>
          <a:p>
            <a:r>
              <a:rPr lang="en-US" dirty="0"/>
              <a:t># Output: 3.141592653589793 </a:t>
            </a:r>
          </a:p>
          <a:p>
            <a:r>
              <a:rPr lang="en-US" dirty="0"/>
              <a:t># Output: 4.0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5F7A1-447B-17AB-7E4A-FAB637A9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098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CEE5-6F47-0635-1BA1-FB0A9F94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718A1-2B9B-3ADB-91AA-804E3F6B0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import specific items from a module: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 import pi, sqrt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print(pi)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print(sqrt(16))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14EC7-677A-4BBE-31AB-063E97EE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93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5648-532B-0221-D481-FBD7C389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56F6E-8CF6-FBCA-1BA5-0406AB932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use aliases to rename imported modules or items: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 as m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sqrt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square_root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square_root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(16))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14010-8F78-9FF4-C302-111562A6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25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FF05-4E51-C3AF-8A5F-CA26DD6A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1717B-68D3-E8A0-7DDF-DC1B24AF4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way of organizing related modules into a directory hierarchy</a:t>
            </a:r>
          </a:p>
          <a:p>
            <a:r>
              <a:rPr lang="en-US" dirty="0"/>
              <a:t>a directory containing a special file called __init__.py (which can be empty) and other Python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387EE-A571-586C-6EAA-FE5142CC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798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693F-69CD-C3D4-717D-BAAD3967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a package structure: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02292-CC19-4EDA-FDF6-F314998A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mypackage</a:t>
            </a:r>
            <a:r>
              <a:rPr lang="en-US" dirty="0"/>
              <a:t>/</a:t>
            </a:r>
          </a:p>
          <a:p>
            <a:r>
              <a:rPr lang="en-US" dirty="0"/>
              <a:t> 	 __init__.py </a:t>
            </a:r>
          </a:p>
          <a:p>
            <a:r>
              <a:rPr lang="en-US" dirty="0"/>
              <a:t> 	module1.py </a:t>
            </a:r>
          </a:p>
          <a:p>
            <a:r>
              <a:rPr lang="en-US" dirty="0"/>
              <a:t> 	module2.py </a:t>
            </a:r>
          </a:p>
          <a:p>
            <a:r>
              <a:rPr lang="en-US" dirty="0"/>
              <a:t> 	subpackage/ </a:t>
            </a:r>
          </a:p>
          <a:p>
            <a:r>
              <a:rPr lang="en-US" dirty="0"/>
              <a:t> 		__init__.py </a:t>
            </a:r>
          </a:p>
          <a:p>
            <a:r>
              <a:rPr lang="en-US" dirty="0"/>
              <a:t> 		module3.py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17C08-F751-6DD9-846E-76158F94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247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EA8A-3E8B-1D34-F26D-8ADD94ED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00728-7AF7-FE41-83E1-DF767FDEA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import modules from a package like this: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mypackage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module1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mypackage.subpackage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module3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AF6B-2055-7B6C-85C8-DDF52780A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15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54F7-83A7-A61B-AB2F-3A13ADCD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88990-B19B-9B1D-442A-BAA94A714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pip to Install Packages - pip is the package installer for Python, additional packages that are not part of Python standard library</a:t>
            </a:r>
          </a:p>
          <a:p>
            <a:r>
              <a:rPr lang="en-US" dirty="0"/>
              <a:t>pip install </a:t>
            </a:r>
            <a:r>
              <a:rPr lang="en-US" dirty="0" err="1"/>
              <a:t>package_name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3E974-4612-9A82-DD3D-9601894F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37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8D95-27A6-FCAD-87A9-757C1605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F0F30-F32A-52D1-31EE-1E045143F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install --upgrade </a:t>
            </a:r>
            <a:r>
              <a:rPr lang="en-US" dirty="0" err="1"/>
              <a:t>package_name</a:t>
            </a:r>
            <a:r>
              <a:rPr lang="en-US" dirty="0"/>
              <a:t> </a:t>
            </a:r>
          </a:p>
          <a:p>
            <a:r>
              <a:rPr lang="en-US" dirty="0"/>
              <a:t>pip uninstall </a:t>
            </a:r>
            <a:r>
              <a:rPr lang="en-US" dirty="0" err="1"/>
              <a:t>package_name</a:t>
            </a:r>
            <a:endParaRPr lang="en-US" dirty="0"/>
          </a:p>
          <a:p>
            <a:r>
              <a:rPr lang="en-US" dirty="0"/>
              <a:t>pip list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63FCC-B264-DC2A-ECB7-5822860B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807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B62F-EEBB-719B-940C-7B34033C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8477-8312-3139-B6B2-58DB7167B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4032" cy="4351338"/>
          </a:xfrm>
        </p:spPr>
        <p:txBody>
          <a:bodyPr/>
          <a:lstStyle/>
          <a:p>
            <a:r>
              <a:rPr lang="en-US" dirty="0"/>
              <a:t>can create requirements.txt file to specify dependencies for project: </a:t>
            </a:r>
          </a:p>
          <a:p>
            <a:r>
              <a:rPr lang="en-US" dirty="0"/>
              <a:t># requirements.txt </a:t>
            </a:r>
          </a:p>
          <a:p>
            <a:r>
              <a:rPr lang="en-US" dirty="0"/>
              <a:t>requests==2.25.1 </a:t>
            </a:r>
          </a:p>
          <a:p>
            <a:r>
              <a:rPr lang="en-US" dirty="0" err="1"/>
              <a:t>numpy</a:t>
            </a:r>
            <a:r>
              <a:rPr lang="en-US" dirty="0"/>
              <a:t>==1.20.1 </a:t>
            </a:r>
          </a:p>
          <a:p>
            <a:r>
              <a:rPr lang="en-US" dirty="0"/>
              <a:t>pandas==1.2.3 </a:t>
            </a:r>
          </a:p>
          <a:p>
            <a:endParaRPr lang="en-US" dirty="0"/>
          </a:p>
          <a:p>
            <a:r>
              <a:rPr lang="en-US" dirty="0"/>
              <a:t>then, can install all dependencies at once using: </a:t>
            </a:r>
          </a:p>
          <a:p>
            <a:r>
              <a:rPr lang="en-US" dirty="0"/>
              <a:t>pip install -r requirements.txt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57263-AB76-D919-743A-689CD710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377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CE87-C9FF-8EE1-6EC0-BA2C0171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B1D60-EA3A-C9D6-31D0-FC358A47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working on multiple Python projects, it's a good practice to use virtual environments</a:t>
            </a:r>
          </a:p>
          <a:p>
            <a:r>
              <a:rPr lang="en-US" dirty="0"/>
              <a:t>virtual environments allow you to have a separate set of Python packages for each project, avoiding conflicts between package versions</a:t>
            </a:r>
          </a:p>
          <a:p>
            <a:r>
              <a:rPr lang="en-US" dirty="0"/>
              <a:t>to create a virtual environment, use </a:t>
            </a:r>
            <a:r>
              <a:rPr lang="en-US" dirty="0" err="1"/>
              <a:t>venv</a:t>
            </a:r>
            <a:r>
              <a:rPr lang="en-US" dirty="0"/>
              <a:t> module: </a:t>
            </a:r>
          </a:p>
          <a:p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myenv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317E3-A2D2-4C75-9CCC-C5AF06A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25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68F0-B4E8-C2BC-A36D-4FC96182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69C5-B08E-F316-2786-57ACAD3C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8101-FD7C-597E-1322-4EC33065E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activating virtual environment on </a:t>
            </a:r>
          </a:p>
          <a:p>
            <a:pPr lvl="1"/>
            <a:r>
              <a:rPr lang="en-US" dirty="0"/>
              <a:t>Windows: </a:t>
            </a:r>
            <a:r>
              <a:rPr lang="en-US" dirty="0" err="1"/>
              <a:t>myenv</a:t>
            </a:r>
            <a:r>
              <a:rPr lang="en-US" dirty="0"/>
              <a:t>\Scripts\activate On</a:t>
            </a:r>
          </a:p>
          <a:p>
            <a:pPr lvl="1"/>
            <a:r>
              <a:rPr lang="en-US" dirty="0"/>
              <a:t>macOS and Linux: source </a:t>
            </a:r>
            <a:r>
              <a:rPr lang="en-US" dirty="0" err="1"/>
              <a:t>myenv</a:t>
            </a:r>
            <a:r>
              <a:rPr lang="en-US" dirty="0"/>
              <a:t>/bin/activate </a:t>
            </a:r>
          </a:p>
          <a:p>
            <a:r>
              <a:rPr lang="en-US" dirty="0"/>
              <a:t>once activated, any packages you install using pip will be isolated to this environment</a:t>
            </a:r>
          </a:p>
          <a:p>
            <a:r>
              <a:rPr lang="en-US" dirty="0"/>
              <a:t>to exit virtual environment: </a:t>
            </a:r>
          </a:p>
          <a:p>
            <a:r>
              <a:rPr lang="en-US" dirty="0"/>
              <a:t>deactivate </a:t>
            </a:r>
          </a:p>
          <a:p>
            <a:r>
              <a:rPr lang="en-US" dirty="0"/>
              <a:t>can ensure that each of your Python projects has its own set of dependencies, regardless of what other projects on your system require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09DE-12FD-57BD-916E-70F80D82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941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8E8833-2FD3-D1B4-C330-58D79C95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0411E1-3E86-C2C3-197E-E0954C9A8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14BF-3395-F323-D862-7B395C51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062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76AA-0A4F-6F44-61E3-D32A8CA5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9C6EE-2F39-B82E-B8D1-9BB2640A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Jupyter</a:t>
            </a:r>
            <a:r>
              <a:rPr lang="en-US" dirty="0"/>
              <a:t>   </a:t>
            </a:r>
            <a:r>
              <a:rPr lang="en-US" dirty="0">
                <a:hlinkClick r:id="rId2"/>
              </a:rPr>
              <a:t>https://jupyter.org/</a:t>
            </a:r>
            <a:r>
              <a:rPr lang="en-US" dirty="0"/>
              <a:t>   </a:t>
            </a:r>
            <a:r>
              <a:rPr lang="en-US" dirty="0" err="1"/>
              <a:t>Jupyter</a:t>
            </a:r>
            <a:r>
              <a:rPr lang="en-US" dirty="0"/>
              <a:t> Notebook is an open-source web application that allows you to create and share documents containing live code, equations, visualizations, and narrative text</a:t>
            </a:r>
          </a:p>
          <a:p>
            <a:r>
              <a:rPr lang="en-US" dirty="0"/>
              <a:t>can be used for various Python programming tasks</a:t>
            </a:r>
          </a:p>
          <a:p>
            <a:r>
              <a:rPr lang="en-US" dirty="0"/>
              <a:t>popular in data science and scientific computing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C60B7-37FF-6CC8-0B01-0E8126BA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368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F87B-D99E-3EE9-DBAC-3AD75101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00C5-E96A-06CA-7A11-832E7D1EE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Python installed on your system; and pip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terminal, command line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</a:t>
            </a:r>
            <a:r>
              <a:rPr lang="en-US" dirty="0" err="1"/>
              <a:t>Jupyter</a:t>
            </a:r>
            <a:r>
              <a:rPr lang="en-US" dirty="0"/>
              <a:t> using pip, Python's package installer: </a:t>
            </a:r>
          </a:p>
          <a:p>
            <a:pPr lvl="1"/>
            <a:r>
              <a:rPr lang="en-US" sz="2800" dirty="0"/>
              <a:t>pip install </a:t>
            </a:r>
            <a:r>
              <a:rPr lang="en-US" sz="2800" dirty="0" err="1"/>
              <a:t>jupyter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CD93B-E365-8DB9-2D1A-622C79AAD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437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D89437-3342-F35B-CF39-10DC50F0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540CB-1437-7F21-19AC-2880496EAC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to verify installation, run:</a:t>
            </a:r>
          </a:p>
          <a:p>
            <a:r>
              <a:rPr lang="en-US" sz="2700" dirty="0" err="1"/>
              <a:t>jupyter</a:t>
            </a:r>
            <a:r>
              <a:rPr lang="en-US" sz="2700" dirty="0"/>
              <a:t> --version </a:t>
            </a:r>
          </a:p>
          <a:p>
            <a:r>
              <a:rPr lang="en-US" sz="2700" dirty="0"/>
              <a:t>alternatively, can install </a:t>
            </a:r>
            <a:r>
              <a:rPr lang="en-US" sz="2700" dirty="0" err="1"/>
              <a:t>Jupyter</a:t>
            </a:r>
            <a:r>
              <a:rPr lang="en-US" sz="2700" dirty="0"/>
              <a:t> as part of Anaconda  and once installed, can launch </a:t>
            </a:r>
            <a:r>
              <a:rPr lang="en-US" sz="2700" dirty="0" err="1"/>
              <a:t>Jupyter</a:t>
            </a:r>
            <a:r>
              <a:rPr lang="en-US" sz="2700" dirty="0"/>
              <a:t> Notebook from Anaconda Navigator or Anaconda prompt command line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F817E4-69B4-1B83-04DA-4B51F3201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90785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--version</a:t>
            </a:r>
          </a:p>
          <a:p>
            <a:r>
              <a:rPr lang="en-US" dirty="0"/>
              <a:t>Selected </a:t>
            </a:r>
            <a:r>
              <a:rPr lang="en-US" dirty="0" err="1"/>
              <a:t>Jupyter</a:t>
            </a:r>
            <a:r>
              <a:rPr lang="en-US" dirty="0"/>
              <a:t> core packages...</a:t>
            </a:r>
          </a:p>
          <a:p>
            <a:r>
              <a:rPr lang="en-US" dirty="0" err="1"/>
              <a:t>IPython</a:t>
            </a:r>
            <a:r>
              <a:rPr lang="en-US" dirty="0"/>
              <a:t>          : 9.7.0</a:t>
            </a:r>
          </a:p>
          <a:p>
            <a:r>
              <a:rPr lang="en-US" dirty="0" err="1"/>
              <a:t>ipykernel</a:t>
            </a:r>
            <a:r>
              <a:rPr lang="en-US" dirty="0"/>
              <a:t>        : 7.1.0</a:t>
            </a:r>
          </a:p>
          <a:p>
            <a:r>
              <a:rPr lang="en-US" dirty="0" err="1"/>
              <a:t>ipywidgets</a:t>
            </a:r>
            <a:r>
              <a:rPr lang="en-US" dirty="0"/>
              <a:t>       : 8.1.8</a:t>
            </a:r>
          </a:p>
          <a:p>
            <a:r>
              <a:rPr lang="en-US" dirty="0" err="1"/>
              <a:t>jupyter_client</a:t>
            </a:r>
            <a:r>
              <a:rPr lang="en-US" dirty="0"/>
              <a:t>   : 8.6.3</a:t>
            </a:r>
          </a:p>
          <a:p>
            <a:r>
              <a:rPr lang="en-US" dirty="0" err="1"/>
              <a:t>jupyter_core</a:t>
            </a:r>
            <a:r>
              <a:rPr lang="en-US" dirty="0"/>
              <a:t>     : 5.9.1</a:t>
            </a:r>
          </a:p>
          <a:p>
            <a:r>
              <a:rPr lang="en-US" dirty="0" err="1"/>
              <a:t>jupyter_server</a:t>
            </a:r>
            <a:r>
              <a:rPr lang="en-US" dirty="0"/>
              <a:t>   : 2.17.0</a:t>
            </a:r>
          </a:p>
          <a:p>
            <a:r>
              <a:rPr lang="en-US" dirty="0" err="1"/>
              <a:t>jupyterlab</a:t>
            </a:r>
            <a:r>
              <a:rPr lang="en-US" dirty="0"/>
              <a:t>       : 4.5.0</a:t>
            </a:r>
          </a:p>
          <a:p>
            <a:r>
              <a:rPr lang="en-US" dirty="0" err="1"/>
              <a:t>nbclient</a:t>
            </a:r>
            <a:r>
              <a:rPr lang="en-US" dirty="0"/>
              <a:t>         : 0.10.2</a:t>
            </a:r>
          </a:p>
          <a:p>
            <a:r>
              <a:rPr lang="en-US" dirty="0" err="1"/>
              <a:t>nbconvert</a:t>
            </a:r>
            <a:r>
              <a:rPr lang="en-US" dirty="0"/>
              <a:t>        : 7.16.6</a:t>
            </a:r>
          </a:p>
          <a:p>
            <a:r>
              <a:rPr lang="en-US" dirty="0" err="1"/>
              <a:t>nbformat</a:t>
            </a:r>
            <a:r>
              <a:rPr lang="en-US" dirty="0"/>
              <a:t>         : 5.10.4</a:t>
            </a:r>
          </a:p>
          <a:p>
            <a:r>
              <a:rPr lang="en-US" dirty="0"/>
              <a:t>notebook         : 7.5.0</a:t>
            </a:r>
          </a:p>
          <a:p>
            <a:r>
              <a:rPr lang="en-US" dirty="0" err="1"/>
              <a:t>qtconsole</a:t>
            </a:r>
            <a:r>
              <a:rPr lang="en-US" dirty="0"/>
              <a:t>        : not installed</a:t>
            </a:r>
          </a:p>
          <a:p>
            <a:r>
              <a:rPr lang="en-US" dirty="0" err="1"/>
              <a:t>traitlets</a:t>
            </a:r>
            <a:r>
              <a:rPr lang="en-US" dirty="0"/>
              <a:t>        : 5.14.3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E4D5B-085F-52C7-7074-ED6B1345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1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D04B-3684-9F2A-4723-530F76D4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B2F2D-D23B-B681-4D28-78CB59C01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48"/>
            <a:ext cx="10515600" cy="5400215"/>
          </a:xfrm>
        </p:spPr>
        <p:txBody>
          <a:bodyPr/>
          <a:lstStyle/>
          <a:p>
            <a:r>
              <a:rPr lang="en-US" dirty="0"/>
              <a:t>open terminal command line interface</a:t>
            </a:r>
          </a:p>
          <a:p>
            <a:r>
              <a:rPr lang="en-US" dirty="0"/>
              <a:t>navigate to directory where you want to create your notebook</a:t>
            </a:r>
          </a:p>
          <a:p>
            <a:r>
              <a:rPr lang="en-US" dirty="0"/>
              <a:t>run the command: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2CC91-CD36-183E-DECC-735D5D8E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D68BE-E456-3665-9D97-2F4B90B93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11592853" cy="330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887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58F7-D3BD-B270-92C3-ADEB697A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C6379-3BF4-51B3-A039-6A38714F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 err="1"/>
              <a:t>Jupyter</a:t>
            </a:r>
            <a:r>
              <a:rPr lang="en-US" dirty="0"/>
              <a:t> interface, click on "New" in the top right corner</a:t>
            </a:r>
          </a:p>
          <a:p>
            <a:r>
              <a:rPr lang="en-US" dirty="0"/>
              <a:t>select "Python 3" (or the appropriate kernel) from dropdown menu</a:t>
            </a:r>
          </a:p>
          <a:p>
            <a:r>
              <a:rPr lang="en-US" dirty="0"/>
              <a:t>new notebook will open in a new tab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F8523-E3E9-9FC2-63EA-08C73A2B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DDACF-1B28-CEE7-B465-D056EF843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91839"/>
            <a:ext cx="11580051" cy="313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931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F276-5007-DA91-3714-7E1EC4E0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84C6F-0F18-87F4-E966-FCFA07D43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8C09C-85DD-E376-E292-E1C40D05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3B66C-6F5F-0506-EBCD-9070678CA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"/>
            <a:ext cx="3687180" cy="2787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53D025-E7E8-3413-6408-66952A1B0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" y="3383279"/>
            <a:ext cx="11888535" cy="254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193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02D5-6435-0903-17AF-6A764A47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111A5-90C4-4288-15A6-267288C7F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9168" cy="4351338"/>
          </a:xfrm>
        </p:spPr>
        <p:txBody>
          <a:bodyPr/>
          <a:lstStyle/>
          <a:p>
            <a:r>
              <a:rPr lang="en-US" dirty="0"/>
              <a:t>notebook consists of cells, which can contain code or markdown text</a:t>
            </a:r>
          </a:p>
          <a:p>
            <a:r>
              <a:rPr lang="en-US" dirty="0"/>
              <a:t>toolbar provides options for running cells, changing cell types, …</a:t>
            </a:r>
          </a:p>
          <a:p>
            <a:r>
              <a:rPr lang="en-US" dirty="0"/>
              <a:t>kernel indicator in top right shows status of Python kernel</a:t>
            </a:r>
          </a:p>
          <a:p>
            <a:endParaRPr lang="en-US" dirty="0"/>
          </a:p>
          <a:p>
            <a:r>
              <a:rPr lang="en-US" dirty="0"/>
              <a:t>to write code, simply type in a code cell</a:t>
            </a:r>
          </a:p>
          <a:p>
            <a:r>
              <a:rPr lang="en-US" dirty="0"/>
              <a:t>to execute code in cell, press </a:t>
            </a:r>
            <a:r>
              <a:rPr lang="en-US" dirty="0" err="1"/>
              <a:t>Shift+Enter</a:t>
            </a:r>
            <a:r>
              <a:rPr lang="en-US" dirty="0"/>
              <a:t> or click "Run" button</a:t>
            </a:r>
          </a:p>
          <a:p>
            <a:pPr lvl="1"/>
            <a:r>
              <a:rPr lang="en-US" sz="2800" dirty="0"/>
              <a:t>output will appear below the cell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7F198-84E4-FF82-9BF4-9F036260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616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692F-825D-58E9-C70D-4EB4599B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0578-16FE-F17C-2823-54C45A5E2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1DDF9-1CC7-52A8-F9B8-B12E5F7C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CB7B4-3333-117C-D90B-3F0E83FF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"/>
            <a:ext cx="6411414" cy="2961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8AD850-0CB5-E4F4-8F01-60F70197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383280"/>
            <a:ext cx="6726910" cy="245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817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0E51-02DF-BC55-815F-AD609183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1C9B-BA17-7EFC-F433-116A848F3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cell, can define variables and use them in subsequent cells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88089-5E49-A5A6-1320-227C7E49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B5F6E-5681-0506-1DE7-89B52849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2286000"/>
            <a:ext cx="6697417" cy="42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388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CDAA-24C3-0810-F1BC-35423A6E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9F23-FADC-1102-DC12-9A3D769B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/>
              <a:t>import </a:t>
            </a:r>
            <a:r>
              <a:rPr lang="en-US" sz="3000" dirty="0" err="1"/>
              <a:t>matplotlib.pyplot</a:t>
            </a:r>
            <a:r>
              <a:rPr lang="en-US" sz="3000" dirty="0"/>
              <a:t> as </a:t>
            </a:r>
            <a:r>
              <a:rPr lang="en-US" sz="3000" dirty="0" err="1"/>
              <a:t>plt</a:t>
            </a:r>
            <a:endParaRPr lang="en-US" sz="3000" dirty="0"/>
          </a:p>
          <a:p>
            <a:r>
              <a:rPr lang="en-US" sz="3000" dirty="0"/>
              <a:t>import </a:t>
            </a:r>
            <a:r>
              <a:rPr lang="en-US" sz="3000" dirty="0" err="1"/>
              <a:t>numpy</a:t>
            </a:r>
            <a:r>
              <a:rPr lang="en-US" sz="3000" dirty="0"/>
              <a:t> as np</a:t>
            </a:r>
          </a:p>
          <a:p>
            <a:endParaRPr lang="en-US" sz="1700" dirty="0"/>
          </a:p>
          <a:p>
            <a:r>
              <a:rPr lang="en-US" sz="3000" dirty="0"/>
              <a:t>x = </a:t>
            </a:r>
            <a:r>
              <a:rPr lang="en-US" sz="3000" dirty="0" err="1"/>
              <a:t>np.linspace</a:t>
            </a:r>
            <a:r>
              <a:rPr lang="en-US" sz="3000" dirty="0"/>
              <a:t>(0, 10, 100)</a:t>
            </a:r>
          </a:p>
          <a:p>
            <a:r>
              <a:rPr lang="en-US" sz="3000" dirty="0"/>
              <a:t>y = </a:t>
            </a:r>
            <a:r>
              <a:rPr lang="en-US" sz="3000" dirty="0" err="1"/>
              <a:t>np.sin</a:t>
            </a:r>
            <a:r>
              <a:rPr lang="en-US" sz="3000" dirty="0"/>
              <a:t>(x)</a:t>
            </a:r>
          </a:p>
          <a:p>
            <a:r>
              <a:rPr lang="en-US" sz="3000" dirty="0" err="1"/>
              <a:t>plt.plot</a:t>
            </a:r>
            <a:r>
              <a:rPr lang="en-US" sz="3000" dirty="0"/>
              <a:t>(x, y)</a:t>
            </a:r>
          </a:p>
          <a:p>
            <a:r>
              <a:rPr lang="en-US" sz="3000" dirty="0" err="1"/>
              <a:t>plt.title</a:t>
            </a:r>
            <a:r>
              <a:rPr lang="en-US" sz="3000" dirty="0"/>
              <a:t>("Sine Wave")</a:t>
            </a:r>
          </a:p>
          <a:p>
            <a:r>
              <a:rPr lang="en-US" sz="3000" dirty="0" err="1"/>
              <a:t>plt.xlabel</a:t>
            </a:r>
            <a:r>
              <a:rPr lang="en-US" sz="3000" dirty="0"/>
              <a:t>("x")</a:t>
            </a:r>
          </a:p>
          <a:p>
            <a:r>
              <a:rPr lang="en-US" sz="3000" dirty="0" err="1"/>
              <a:t>plt.ylabel</a:t>
            </a:r>
            <a:r>
              <a:rPr lang="en-US" sz="3000" dirty="0"/>
              <a:t>("sin(x)")</a:t>
            </a:r>
          </a:p>
          <a:p>
            <a:r>
              <a:rPr lang="en-US" sz="3000" dirty="0" err="1"/>
              <a:t>plt.show</a:t>
            </a:r>
            <a:r>
              <a:rPr lang="en-US" sz="30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E6A72-6DBB-A864-F2DE-D2FB8B03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635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72A8-C16B-13E0-04FB-73F29509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C71BC-733A-67BE-841D-D1CB3B0CC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4C553-7351-1D9B-970E-09438B34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305EA-8728-43DB-25D7-CB66D2AC6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103120"/>
            <a:ext cx="7648705" cy="30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448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86F2-C819-5601-383C-ACABA86F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DD5A-0B9A-4927-F6C0-3EE12E59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D206F-3365-3CDC-BC3A-495C1E35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A3161-6417-1CE7-0E5D-30C3DD1C2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731520"/>
            <a:ext cx="6792523" cy="53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765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B0DB-6420-56CB-101F-EC5D0AF47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DD1C-2430-949C-C4F2-8252B3FB7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92776-6DD1-6B3A-FA7C-82013D73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7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e3be701f0a6c8f6221ff53300429adee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74ac979782e2ad477dd4a10e8419547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3E6384-ED4C-430E-BE8B-0130C33FC2F4}"/>
</file>

<file path=customXml/itemProps2.xml><?xml version="1.0" encoding="utf-8"?>
<ds:datastoreItem xmlns:ds="http://schemas.openxmlformats.org/officeDocument/2006/customXml" ds:itemID="{C7CA4C80-8F0B-416F-81D5-89A7749D63A7}"/>
</file>

<file path=customXml/itemProps3.xml><?xml version="1.0" encoding="utf-8"?>
<ds:datastoreItem xmlns:ds="http://schemas.openxmlformats.org/officeDocument/2006/customXml" ds:itemID="{F3AB92C5-D08C-4E21-934D-221402B7E5D7}"/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3140</Words>
  <Application>Microsoft Office PowerPoint</Application>
  <PresentationFormat>Widescreen</PresentationFormat>
  <Paragraphs>462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Aptos</vt:lpstr>
      <vt:lpstr>Aptos Display</vt:lpstr>
      <vt:lpstr>Arial</vt:lpstr>
      <vt:lpstr>Courier New</vt:lpstr>
      <vt:lpstr>Office Theme</vt:lpstr>
      <vt:lpstr>Python</vt:lpstr>
      <vt:lpstr>Python.org  https://www.python.org/</vt:lpstr>
      <vt:lpstr>PowerPoint Presentation</vt:lpstr>
      <vt:lpstr>Python</vt:lpstr>
      <vt:lpstr>pip</vt:lpstr>
      <vt:lpstr>PowerPoint Presentation</vt:lpstr>
      <vt:lpstr>PowerPoint Presentation</vt:lpstr>
      <vt:lpstr>Spyder | Python IDE  scientists and data analysts deserve</vt:lpstr>
      <vt:lpstr>Python</vt:lpstr>
      <vt:lpstr>PowerPoint Presentation</vt:lpstr>
      <vt:lpstr>PowerPoint Presentation</vt:lpstr>
      <vt:lpstr>PowerPoint Presentation</vt:lpstr>
      <vt:lpstr>Python script structure</vt:lpstr>
      <vt:lpstr>Variable Data types  Data Structures</vt:lpstr>
      <vt:lpstr>Variables and data types</vt:lpstr>
      <vt:lpstr>Data Types</vt:lpstr>
      <vt:lpstr>Data Types</vt:lpstr>
      <vt:lpstr>hello_world.py</vt:lpstr>
      <vt:lpstr>PowerPoint Presentation</vt:lpstr>
      <vt:lpstr>PowerPoint Presentation</vt:lpstr>
      <vt:lpstr>PowerPoint Presentation</vt:lpstr>
      <vt:lpstr>Data Structure - List</vt:lpstr>
      <vt:lpstr>PowerPoint Presentation</vt:lpstr>
      <vt:lpstr>PowerPoint Presentation</vt:lpstr>
      <vt:lpstr>Data Structure - Tuple</vt:lpstr>
      <vt:lpstr>PowerPoint Presentation</vt:lpstr>
      <vt:lpstr>Data Structure - Dictionary</vt:lpstr>
      <vt:lpstr>PowerPoint Presentation</vt:lpstr>
      <vt:lpstr>Data Structure - Set</vt:lpstr>
      <vt:lpstr>PowerPoint Presentation</vt:lpstr>
      <vt:lpstr>Control statements</vt:lpstr>
      <vt:lpstr>Control Statements and Loops</vt:lpstr>
      <vt:lpstr>PowerPoint Presentation</vt:lpstr>
      <vt:lpstr>PowerPoint Presentation</vt:lpstr>
      <vt:lpstr>PowerPoint Presentation</vt:lpstr>
      <vt:lpstr>for loop</vt:lpstr>
      <vt:lpstr>Functions</vt:lpstr>
      <vt:lpstr>Functions</vt:lpstr>
      <vt:lpstr>PowerPoint Presentation</vt:lpstr>
      <vt:lpstr>Lambda functions</vt:lpstr>
      <vt:lpstr>PowerPoint Presentation</vt:lpstr>
      <vt:lpstr>Files</vt:lpstr>
      <vt:lpstr>File Input Output</vt:lpstr>
      <vt:lpstr>PowerPoint Presentation</vt:lpstr>
      <vt:lpstr>Error handling</vt:lpstr>
      <vt:lpstr>PowerPoint Presentation</vt:lpstr>
      <vt:lpstr>Object Oriented Programming</vt:lpstr>
      <vt:lpstr>Object-Oriented Programming OOP</vt:lpstr>
      <vt:lpstr>Modules and Packages</vt:lpstr>
      <vt:lpstr>Modules and Packages</vt:lpstr>
      <vt:lpstr>Import Module</vt:lpstr>
      <vt:lpstr>PowerPoint Presentation</vt:lpstr>
      <vt:lpstr>PowerPoint Presentation</vt:lpstr>
      <vt:lpstr>Packages</vt:lpstr>
      <vt:lpstr>an example of a package structure:  </vt:lpstr>
      <vt:lpstr>PowerPoint Presentation</vt:lpstr>
      <vt:lpstr>pip</vt:lpstr>
      <vt:lpstr>PowerPoint Presentation</vt:lpstr>
      <vt:lpstr>PowerPoint Presentation</vt:lpstr>
      <vt:lpstr>Virtual Environments</vt:lpstr>
      <vt:lpstr>Virtual Environments</vt:lpstr>
      <vt:lpstr> Jupyter Notebook</vt:lpstr>
      <vt:lpstr>Jupyter Notebook</vt:lpstr>
      <vt:lpstr>install Jupyter Notebook</vt:lpstr>
      <vt:lpstr>PowerPoint Presentation</vt:lpstr>
      <vt:lpstr>PowerPoint Presentation</vt:lpstr>
      <vt:lpstr>Create new notebook</vt:lpstr>
      <vt:lpstr>PowerPoint Presentation</vt:lpstr>
      <vt:lpstr>Jupyter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29</cp:revision>
  <dcterms:created xsi:type="dcterms:W3CDTF">2025-11-19T20:15:14Z</dcterms:created>
  <dcterms:modified xsi:type="dcterms:W3CDTF">2025-11-23T11:26:42Z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2025-11-19T20:29:01Z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9877d9dc-4839-4c13-9ea0-4d6d40c338a3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