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391" r:id="rId3"/>
    <p:sldId id="390" r:id="rId4"/>
    <p:sldId id="392" r:id="rId5"/>
    <p:sldId id="393" r:id="rId6"/>
    <p:sldId id="394" r:id="rId7"/>
    <p:sldId id="395" r:id="rId8"/>
    <p:sldId id="396" r:id="rId9"/>
    <p:sldId id="397" r:id="rId10"/>
    <p:sldId id="398" r:id="rId11"/>
    <p:sldId id="399" r:id="rId12"/>
    <p:sldId id="400" r:id="rId13"/>
    <p:sldId id="401" r:id="rId14"/>
    <p:sldId id="403" r:id="rId15"/>
    <p:sldId id="402" r:id="rId16"/>
    <p:sldId id="404" r:id="rId17"/>
    <p:sldId id="405" r:id="rId18"/>
    <p:sldId id="406" r:id="rId19"/>
    <p:sldId id="407" r:id="rId20"/>
    <p:sldId id="408" r:id="rId21"/>
    <p:sldId id="409" r:id="rId22"/>
    <p:sldId id="410" r:id="rId23"/>
    <p:sldId id="411" r:id="rId24"/>
    <p:sldId id="412" r:id="rId25"/>
    <p:sldId id="413" r:id="rId26"/>
    <p:sldId id="414" r:id="rId27"/>
    <p:sldId id="415" r:id="rId28"/>
    <p:sldId id="416" r:id="rId29"/>
    <p:sldId id="417" r:id="rId30"/>
    <p:sldId id="418" r:id="rId31"/>
    <p:sldId id="419" r:id="rId32"/>
    <p:sldId id="420" r:id="rId33"/>
    <p:sldId id="421" r:id="rId34"/>
    <p:sldId id="422" r:id="rId35"/>
    <p:sldId id="423" r:id="rId36"/>
    <p:sldId id="424"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437" r:id="rId50"/>
    <p:sldId id="438" r:id="rId51"/>
    <p:sldId id="440" r:id="rId52"/>
    <p:sldId id="439" r:id="rId53"/>
    <p:sldId id="441" r:id="rId54"/>
    <p:sldId id="442" r:id="rId55"/>
    <p:sldId id="444" r:id="rId56"/>
    <p:sldId id="443" r:id="rId57"/>
    <p:sldId id="445" r:id="rId58"/>
    <p:sldId id="450" r:id="rId59"/>
    <p:sldId id="446" r:id="rId60"/>
    <p:sldId id="447" r:id="rId61"/>
    <p:sldId id="448" r:id="rId62"/>
    <p:sldId id="449" r:id="rId63"/>
    <p:sldId id="452" r:id="rId64"/>
    <p:sldId id="451" r:id="rId65"/>
    <p:sldId id="453" r:id="rId66"/>
    <p:sldId id="454" r:id="rId67"/>
    <p:sldId id="455" r:id="rId68"/>
    <p:sldId id="456" r:id="rId69"/>
    <p:sldId id="457" r:id="rId70"/>
    <p:sldId id="458" r:id="rId71"/>
    <p:sldId id="459" r:id="rId72"/>
    <p:sldId id="460" r:id="rId73"/>
    <p:sldId id="461" r:id="rId74"/>
    <p:sldId id="462" r:id="rId75"/>
    <p:sldId id="463" r:id="rId76"/>
    <p:sldId id="464" r:id="rId77"/>
    <p:sldId id="465" r:id="rId78"/>
    <p:sldId id="466" r:id="rId79"/>
    <p:sldId id="467" r:id="rId80"/>
    <p:sldId id="468" r:id="rId81"/>
    <p:sldId id="469" r:id="rId82"/>
    <p:sldId id="470" r:id="rId83"/>
    <p:sldId id="472" r:id="rId84"/>
    <p:sldId id="471" r:id="rId85"/>
    <p:sldId id="473" r:id="rId86"/>
    <p:sldId id="474" r:id="rId87"/>
    <p:sldId id="475" r:id="rId88"/>
    <p:sldId id="476" r:id="rId89"/>
    <p:sldId id="477" r:id="rId90"/>
    <p:sldId id="478" r:id="rId91"/>
    <p:sldId id="479" r:id="rId92"/>
    <p:sldId id="480" r:id="rId93"/>
    <p:sldId id="481" r:id="rId94"/>
    <p:sldId id="482" r:id="rId95"/>
    <p:sldId id="483" r:id="rId96"/>
    <p:sldId id="484" r:id="rId97"/>
    <p:sldId id="485" r:id="rId98"/>
    <p:sldId id="486" r:id="rId99"/>
    <p:sldId id="487" r:id="rId100"/>
    <p:sldId id="488" r:id="rId101"/>
    <p:sldId id="489" r:id="rId102"/>
    <p:sldId id="490" r:id="rId103"/>
    <p:sldId id="491" r:id="rId104"/>
    <p:sldId id="493" r:id="rId105"/>
    <p:sldId id="492" r:id="rId106"/>
    <p:sldId id="494" r:id="rId107"/>
    <p:sldId id="495" r:id="rId108"/>
    <p:sldId id="496" r:id="rId109"/>
    <p:sldId id="497" r:id="rId110"/>
    <p:sldId id="498" r:id="rId111"/>
    <p:sldId id="499" r:id="rId112"/>
    <p:sldId id="500" r:id="rId113"/>
    <p:sldId id="501"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customXml" Target="../customXml/item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8/4/2025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8/4/2025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8/4/2025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8/4/2025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8/4/2025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8/4/2025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8/4/2025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8/4/2025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8/4/2025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8/4/2025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8/4/2025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8/4/2025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8/4/2025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2EF6-520E-D21B-D71D-7758CB54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C78AD-A182-8472-7962-185D2CB90C29}"/>
              </a:ext>
            </a:extLst>
          </p:cNvPr>
          <p:cNvSpPr>
            <a:spLocks noGrp="1"/>
          </p:cNvSpPr>
          <p:nvPr>
            <p:ph type="ctrTitle"/>
          </p:nvPr>
        </p:nvSpPr>
        <p:spPr/>
        <p:txBody>
          <a:bodyPr/>
          <a:lstStyle/>
          <a:p>
            <a:r>
              <a:rPr lang="en-US" dirty="0"/>
              <a:t>Data Modeling</a:t>
            </a:r>
          </a:p>
        </p:txBody>
      </p:sp>
      <p:sp>
        <p:nvSpPr>
          <p:cNvPr id="3" name="Subtitle 2">
            <a:extLst>
              <a:ext uri="{FF2B5EF4-FFF2-40B4-BE49-F238E27FC236}">
                <a16:creationId xmlns:a16="http://schemas.microsoft.com/office/drawing/2014/main" id="{56E6C5CE-4600-67F6-DDFE-487B5680D946}"/>
              </a:ext>
            </a:extLst>
          </p:cNvPr>
          <p:cNvSpPr>
            <a:spLocks noGrp="1"/>
          </p:cNvSpPr>
          <p:nvPr>
            <p:ph type="subTitle" idx="1"/>
          </p:nvPr>
        </p:nvSpPr>
        <p:spPr/>
        <p:txBody>
          <a:bodyPr>
            <a:normAutofit/>
          </a:bodyPr>
          <a:lstStyle/>
          <a:p>
            <a:r>
              <a:rPr lang="en-US" sz="4000" dirty="0"/>
              <a:t>using Entity–Relationship (ER) Model</a:t>
            </a:r>
          </a:p>
        </p:txBody>
      </p:sp>
      <p:sp>
        <p:nvSpPr>
          <p:cNvPr id="4" name="Slide Number Placeholder 3">
            <a:extLst>
              <a:ext uri="{FF2B5EF4-FFF2-40B4-BE49-F238E27FC236}">
                <a16:creationId xmlns:a16="http://schemas.microsoft.com/office/drawing/2014/main" id="{B531E3A4-BEB6-64D4-2DD7-CEF077D13C8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239229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A4A05-F964-5310-028D-9477F9E3844B}"/>
              </a:ext>
            </a:extLst>
          </p:cNvPr>
          <p:cNvSpPr>
            <a:spLocks noGrp="1"/>
          </p:cNvSpPr>
          <p:nvPr>
            <p:ph type="title"/>
          </p:nvPr>
        </p:nvSpPr>
        <p:spPr/>
        <p:txBody>
          <a:bodyPr/>
          <a:lstStyle/>
          <a:p>
            <a:r>
              <a:rPr lang="en-US" dirty="0"/>
              <a:t>Entity–Relationship (ER) Model</a:t>
            </a:r>
          </a:p>
        </p:txBody>
      </p:sp>
      <p:sp>
        <p:nvSpPr>
          <p:cNvPr id="3" name="Content Placeholder 2">
            <a:extLst>
              <a:ext uri="{FF2B5EF4-FFF2-40B4-BE49-F238E27FC236}">
                <a16:creationId xmlns:a16="http://schemas.microsoft.com/office/drawing/2014/main" id="{BD76D813-DC1F-5573-E57B-479EEA0F23CF}"/>
              </a:ext>
            </a:extLst>
          </p:cNvPr>
          <p:cNvSpPr>
            <a:spLocks noGrp="1"/>
          </p:cNvSpPr>
          <p:nvPr>
            <p:ph idx="1"/>
          </p:nvPr>
        </p:nvSpPr>
        <p:spPr/>
        <p:txBody>
          <a:bodyPr>
            <a:normAutofit/>
          </a:bodyPr>
          <a:lstStyle/>
          <a:p>
            <a:r>
              <a:rPr lang="en-US" sz="3200" dirty="0"/>
              <a:t>high-level conceptual data model</a:t>
            </a:r>
            <a:endParaRPr lang="en-US" sz="3600" dirty="0"/>
          </a:p>
        </p:txBody>
      </p:sp>
      <p:sp>
        <p:nvSpPr>
          <p:cNvPr id="4" name="Slide Number Placeholder 3">
            <a:extLst>
              <a:ext uri="{FF2B5EF4-FFF2-40B4-BE49-F238E27FC236}">
                <a16:creationId xmlns:a16="http://schemas.microsoft.com/office/drawing/2014/main" id="{B97CB063-502A-7B18-5604-8DAFED245F5A}"/>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1502528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7B109-142D-EE46-62B6-1A48A9F9AF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87231A-9A3C-5A52-982C-9F1E77ECD6CD}"/>
              </a:ext>
            </a:extLst>
          </p:cNvPr>
          <p:cNvSpPr>
            <a:spLocks noGrp="1"/>
          </p:cNvSpPr>
          <p:nvPr>
            <p:ph idx="1"/>
          </p:nvPr>
        </p:nvSpPr>
        <p:spPr/>
        <p:txBody>
          <a:bodyPr/>
          <a:lstStyle/>
          <a:p>
            <a:r>
              <a:rPr lang="en-US" dirty="0"/>
              <a:t>Entity–Relationship</a:t>
            </a:r>
          </a:p>
          <a:p>
            <a:r>
              <a:rPr lang="en-US" dirty="0"/>
              <a:t>ER diagram</a:t>
            </a:r>
          </a:p>
        </p:txBody>
      </p:sp>
      <p:sp>
        <p:nvSpPr>
          <p:cNvPr id="4" name="Slide Number Placeholder 3">
            <a:extLst>
              <a:ext uri="{FF2B5EF4-FFF2-40B4-BE49-F238E27FC236}">
                <a16:creationId xmlns:a16="http://schemas.microsoft.com/office/drawing/2014/main" id="{722899A8-D12F-C7B0-9DFD-9EFCBF82F230}"/>
              </a:ext>
            </a:extLst>
          </p:cNvPr>
          <p:cNvSpPr>
            <a:spLocks noGrp="1"/>
          </p:cNvSpPr>
          <p:nvPr>
            <p:ph type="sldNum" sz="quarter" idx="12"/>
          </p:nvPr>
        </p:nvSpPr>
        <p:spPr/>
        <p:txBody>
          <a:bodyPr/>
          <a:lstStyle/>
          <a:p>
            <a:fld id="{6264BDCF-5269-49AC-A246-ED26C2B980E3}" type="slidenum">
              <a:rPr lang="en-US" smtClean="0"/>
              <a:t>4</a:t>
            </a:fld>
            <a:endParaRPr lang="en-US"/>
          </a:p>
        </p:txBody>
      </p:sp>
      <p:pic>
        <p:nvPicPr>
          <p:cNvPr id="6" name="Picture 5">
            <a:extLst>
              <a:ext uri="{FF2B5EF4-FFF2-40B4-BE49-F238E27FC236}">
                <a16:creationId xmlns:a16="http://schemas.microsoft.com/office/drawing/2014/main" id="{054196FE-3401-D605-BED7-82D203661776}"/>
              </a:ext>
            </a:extLst>
          </p:cNvPr>
          <p:cNvPicPr>
            <a:picLocks noChangeAspect="1"/>
          </p:cNvPicPr>
          <p:nvPr/>
        </p:nvPicPr>
        <p:blipFill>
          <a:blip r:embed="rId2"/>
          <a:stretch>
            <a:fillRect/>
          </a:stretch>
        </p:blipFill>
        <p:spPr>
          <a:xfrm>
            <a:off x="4023360" y="91440"/>
            <a:ext cx="7717977" cy="6731329"/>
          </a:xfrm>
          <a:prstGeom prst="rect">
            <a:avLst/>
          </a:prstGeom>
        </p:spPr>
      </p:pic>
    </p:spTree>
    <p:extLst>
      <p:ext uri="{BB962C8B-B14F-4D97-AF65-F5344CB8AC3E}">
        <p14:creationId xmlns:p14="http://schemas.microsoft.com/office/powerpoint/2010/main" val="2266755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E5B9-A4C8-7D13-4925-DB639C1329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7C8C62-C6B9-9622-39AC-13D09939B157}"/>
              </a:ext>
            </a:extLst>
          </p:cNvPr>
          <p:cNvSpPr>
            <a:spLocks noGrp="1"/>
          </p:cNvSpPr>
          <p:nvPr>
            <p:ph idx="1"/>
          </p:nvPr>
        </p:nvSpPr>
        <p:spPr/>
        <p:txBody>
          <a:bodyPr>
            <a:normAutofit/>
          </a:bodyPr>
          <a:lstStyle/>
          <a:p>
            <a:r>
              <a:rPr lang="en-US" dirty="0"/>
              <a:t>Object </a:t>
            </a:r>
            <a:r>
              <a:rPr lang="en-US" dirty="0" err="1"/>
              <a:t>Orietend</a:t>
            </a:r>
            <a:r>
              <a:rPr lang="en-US" dirty="0"/>
              <a:t> modeling methodologies such as the Unified Modeling Language (UML) are popular in both database and software design; these methodologies go beyond database design to specify detailed design of software modules and their interactions using various types of diagrams</a:t>
            </a:r>
          </a:p>
          <a:p>
            <a:r>
              <a:rPr lang="en-US" dirty="0"/>
              <a:t>part of these methodologies, class diagrams,  are similar in many ways to ER diagrams</a:t>
            </a:r>
          </a:p>
        </p:txBody>
      </p:sp>
      <p:sp>
        <p:nvSpPr>
          <p:cNvPr id="4" name="Slide Number Placeholder 3">
            <a:extLst>
              <a:ext uri="{FF2B5EF4-FFF2-40B4-BE49-F238E27FC236}">
                <a16:creationId xmlns:a16="http://schemas.microsoft.com/office/drawing/2014/main" id="{BB40D56E-5325-E0DA-BC97-00419ADE9F8D}"/>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317812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D993-9A11-4C91-7FA9-76715599FBE2}"/>
              </a:ext>
            </a:extLst>
          </p:cNvPr>
          <p:cNvSpPr>
            <a:spLocks noGrp="1"/>
          </p:cNvSpPr>
          <p:nvPr>
            <p:ph type="title"/>
          </p:nvPr>
        </p:nvSpPr>
        <p:spPr/>
        <p:txBody>
          <a:bodyPr/>
          <a:lstStyle/>
          <a:p>
            <a:r>
              <a:rPr lang="en-US" dirty="0"/>
              <a:t>main phases of database design</a:t>
            </a:r>
          </a:p>
        </p:txBody>
      </p:sp>
      <p:sp>
        <p:nvSpPr>
          <p:cNvPr id="3" name="Content Placeholder 2">
            <a:extLst>
              <a:ext uri="{FF2B5EF4-FFF2-40B4-BE49-F238E27FC236}">
                <a16:creationId xmlns:a16="http://schemas.microsoft.com/office/drawing/2014/main" id="{0B32DDCC-15E3-EAE6-3BD8-D3DCC339DEF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231057A-35B6-B46D-4E04-B326E3ED391E}"/>
              </a:ext>
            </a:extLst>
          </p:cNvPr>
          <p:cNvSpPr>
            <a:spLocks noGrp="1"/>
          </p:cNvSpPr>
          <p:nvPr>
            <p:ph type="sldNum" sz="quarter" idx="12"/>
          </p:nvPr>
        </p:nvSpPr>
        <p:spPr/>
        <p:txBody>
          <a:bodyPr/>
          <a:lstStyle/>
          <a:p>
            <a:fld id="{6264BDCF-5269-49AC-A246-ED26C2B980E3}" type="slidenum">
              <a:rPr lang="en-US" smtClean="0"/>
              <a:t>6</a:t>
            </a:fld>
            <a:endParaRPr lang="en-US"/>
          </a:p>
        </p:txBody>
      </p:sp>
      <p:pic>
        <p:nvPicPr>
          <p:cNvPr id="6" name="Picture 5">
            <a:extLst>
              <a:ext uri="{FF2B5EF4-FFF2-40B4-BE49-F238E27FC236}">
                <a16:creationId xmlns:a16="http://schemas.microsoft.com/office/drawing/2014/main" id="{41588F3A-AD03-1FD8-A668-CAB347F31123}"/>
              </a:ext>
            </a:extLst>
          </p:cNvPr>
          <p:cNvPicPr>
            <a:picLocks noChangeAspect="1"/>
          </p:cNvPicPr>
          <p:nvPr/>
        </p:nvPicPr>
        <p:blipFill>
          <a:blip r:embed="rId2"/>
          <a:stretch>
            <a:fillRect/>
          </a:stretch>
        </p:blipFill>
        <p:spPr>
          <a:xfrm>
            <a:off x="3108960" y="1280160"/>
            <a:ext cx="5020110" cy="5505928"/>
          </a:xfrm>
          <a:prstGeom prst="rect">
            <a:avLst/>
          </a:prstGeom>
        </p:spPr>
      </p:pic>
    </p:spTree>
    <p:extLst>
      <p:ext uri="{BB962C8B-B14F-4D97-AF65-F5344CB8AC3E}">
        <p14:creationId xmlns:p14="http://schemas.microsoft.com/office/powerpoint/2010/main" val="1948746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00D5-AD07-5A33-DFC4-5B3245FBBE79}"/>
              </a:ext>
            </a:extLst>
          </p:cNvPr>
          <p:cNvSpPr>
            <a:spLocks noGrp="1"/>
          </p:cNvSpPr>
          <p:nvPr>
            <p:ph type="title"/>
          </p:nvPr>
        </p:nvSpPr>
        <p:spPr/>
        <p:txBody>
          <a:bodyPr>
            <a:normAutofit/>
          </a:bodyPr>
          <a:lstStyle/>
          <a:p>
            <a:r>
              <a:rPr lang="en-US" dirty="0"/>
              <a:t>Using High-Level Conceptual Data Models</a:t>
            </a:r>
            <a:br>
              <a:rPr lang="en-US" dirty="0"/>
            </a:br>
            <a:r>
              <a:rPr lang="en-US" dirty="0"/>
              <a:t>for Database Design</a:t>
            </a:r>
          </a:p>
        </p:txBody>
      </p:sp>
      <p:sp>
        <p:nvSpPr>
          <p:cNvPr id="3" name="Content Placeholder 2">
            <a:extLst>
              <a:ext uri="{FF2B5EF4-FFF2-40B4-BE49-F238E27FC236}">
                <a16:creationId xmlns:a16="http://schemas.microsoft.com/office/drawing/2014/main" id="{58030E9A-F552-A2AA-337F-BED4F781A27D}"/>
              </a:ext>
            </a:extLst>
          </p:cNvPr>
          <p:cNvSpPr>
            <a:spLocks noGrp="1"/>
          </p:cNvSpPr>
          <p:nvPr>
            <p:ph idx="1"/>
          </p:nvPr>
        </p:nvSpPr>
        <p:spPr>
          <a:xfrm>
            <a:off x="838200" y="1825625"/>
            <a:ext cx="10734368" cy="4351338"/>
          </a:xfrm>
        </p:spPr>
        <p:txBody>
          <a:bodyPr>
            <a:noAutofit/>
          </a:bodyPr>
          <a:lstStyle/>
          <a:p>
            <a:r>
              <a:rPr lang="en-US" dirty="0"/>
              <a:t>previous figure shows a simplified overview of database design process</a:t>
            </a:r>
          </a:p>
          <a:p>
            <a:r>
              <a:rPr lang="en-US" dirty="0"/>
              <a:t>first step shown is requirements collection and analysis</a:t>
            </a:r>
          </a:p>
          <a:p>
            <a:r>
              <a:rPr lang="en-US" sz="2700" dirty="0"/>
              <a:t>interview prospective users to understand their data requirements and the known functional requirements of the application</a:t>
            </a:r>
          </a:p>
          <a:p>
            <a:r>
              <a:rPr lang="en-US" sz="2700" dirty="0"/>
              <a:t>user defined operations (or transactions) that will be applied to database</a:t>
            </a:r>
          </a:p>
          <a:p>
            <a:r>
              <a:rPr lang="en-US" sz="2700" dirty="0"/>
              <a:t>in software design, it is common to use </a:t>
            </a:r>
            <a:r>
              <a:rPr lang="en-US" sz="2700" i="1" dirty="0"/>
              <a:t>data flow diagrams</a:t>
            </a:r>
            <a:r>
              <a:rPr lang="en-US" sz="2700" dirty="0"/>
              <a:t>, </a:t>
            </a:r>
            <a:r>
              <a:rPr lang="en-US" sz="2700" i="1" dirty="0"/>
              <a:t>sequence diagrams</a:t>
            </a:r>
            <a:r>
              <a:rPr lang="en-US" sz="2700" dirty="0"/>
              <a:t>, </a:t>
            </a:r>
            <a:r>
              <a:rPr lang="en-US" sz="2700" i="1" dirty="0"/>
              <a:t>scenarios</a:t>
            </a:r>
            <a:r>
              <a:rPr lang="en-US" sz="2700" dirty="0"/>
              <a:t>, and other techniques to specify functional requirements</a:t>
            </a:r>
          </a:p>
          <a:p>
            <a:r>
              <a:rPr lang="en-US" dirty="0"/>
              <a:t>once the requirements have been collected and analyzed, next step is to create a conceptual schema for database, using high-level conceptual data model</a:t>
            </a:r>
          </a:p>
        </p:txBody>
      </p:sp>
      <p:sp>
        <p:nvSpPr>
          <p:cNvPr id="4" name="Slide Number Placeholder 3">
            <a:extLst>
              <a:ext uri="{FF2B5EF4-FFF2-40B4-BE49-F238E27FC236}">
                <a16:creationId xmlns:a16="http://schemas.microsoft.com/office/drawing/2014/main" id="{0A784D14-A8EE-C75F-25F9-8DA25A7E171B}"/>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562026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56B4-1668-04E5-1CB8-3433F7B39820}"/>
              </a:ext>
            </a:extLst>
          </p:cNvPr>
          <p:cNvSpPr>
            <a:spLocks noGrp="1"/>
          </p:cNvSpPr>
          <p:nvPr>
            <p:ph type="title"/>
          </p:nvPr>
        </p:nvSpPr>
        <p:spPr/>
        <p:txBody>
          <a:bodyPr/>
          <a:lstStyle/>
          <a:p>
            <a:r>
              <a:rPr lang="en-US" dirty="0"/>
              <a:t>Conceptual Design</a:t>
            </a:r>
          </a:p>
        </p:txBody>
      </p:sp>
      <p:sp>
        <p:nvSpPr>
          <p:cNvPr id="3" name="Content Placeholder 2">
            <a:extLst>
              <a:ext uri="{FF2B5EF4-FFF2-40B4-BE49-F238E27FC236}">
                <a16:creationId xmlns:a16="http://schemas.microsoft.com/office/drawing/2014/main" id="{40832D69-8337-4BDA-D2ED-D32A1702CF0D}"/>
              </a:ext>
            </a:extLst>
          </p:cNvPr>
          <p:cNvSpPr>
            <a:spLocks noGrp="1"/>
          </p:cNvSpPr>
          <p:nvPr>
            <p:ph idx="1"/>
          </p:nvPr>
        </p:nvSpPr>
        <p:spPr>
          <a:xfrm>
            <a:off x="838200" y="1825625"/>
            <a:ext cx="10734368" cy="4351338"/>
          </a:xfrm>
        </p:spPr>
        <p:txBody>
          <a:bodyPr>
            <a:noAutofit/>
          </a:bodyPr>
          <a:lstStyle/>
          <a:p>
            <a:r>
              <a:rPr lang="en-US" dirty="0"/>
              <a:t>step is called </a:t>
            </a:r>
            <a:r>
              <a:rPr lang="en-US" b="1" dirty="0"/>
              <a:t>conceptual design; conceptual schema</a:t>
            </a:r>
            <a:r>
              <a:rPr lang="en-US" dirty="0"/>
              <a:t> is a concise description of the data requirements of the users and includes detailed descriptions of the entity types, relationships, and constraints; expressed using concepts provided by the high-level data model</a:t>
            </a:r>
          </a:p>
          <a:p>
            <a:r>
              <a:rPr lang="en-US" dirty="0"/>
              <a:t>these concepts do not include implementation details, easier to understand and can be used to communicate with nontechnical users</a:t>
            </a:r>
          </a:p>
          <a:p>
            <a:r>
              <a:rPr lang="en-US" dirty="0"/>
              <a:t>conceptual schema can also be used as a reference to ensure that all users’ data requirements are met</a:t>
            </a:r>
          </a:p>
          <a:p>
            <a:r>
              <a:rPr lang="en-US" dirty="0"/>
              <a:t>database designers specifying the properties of the data, without being concerned with storage and implementation details</a:t>
            </a:r>
          </a:p>
        </p:txBody>
      </p:sp>
      <p:sp>
        <p:nvSpPr>
          <p:cNvPr id="4" name="Slide Number Placeholder 3">
            <a:extLst>
              <a:ext uri="{FF2B5EF4-FFF2-40B4-BE49-F238E27FC236}">
                <a16:creationId xmlns:a16="http://schemas.microsoft.com/office/drawing/2014/main" id="{B3B524D8-B32E-FD23-9F49-C8C8B60A2AEA}"/>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3188909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C8613-4552-B49E-D624-689E619C2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9B097-5313-B4A0-88A7-231A0C6602A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B68E273-0A50-A1E6-8FD8-D6EAA5F4199C}"/>
              </a:ext>
            </a:extLst>
          </p:cNvPr>
          <p:cNvSpPr>
            <a:spLocks noGrp="1"/>
          </p:cNvSpPr>
          <p:nvPr>
            <p:ph idx="1"/>
          </p:nvPr>
        </p:nvSpPr>
        <p:spPr/>
        <p:txBody>
          <a:bodyPr>
            <a:noAutofit/>
          </a:bodyPr>
          <a:lstStyle/>
          <a:p>
            <a:r>
              <a:rPr lang="en-US" dirty="0"/>
              <a:t>next step in database design is the actual implementation of database, using commercial DBMS</a:t>
            </a:r>
          </a:p>
          <a:p>
            <a:r>
              <a:rPr lang="en-US" dirty="0"/>
              <a:t>conceptual schema is transformed from high-level data model into implementation data model</a:t>
            </a:r>
          </a:p>
          <a:p>
            <a:r>
              <a:rPr lang="en-US" dirty="0"/>
              <a:t>step is called </a:t>
            </a:r>
            <a:r>
              <a:rPr lang="en-US" b="1" dirty="0"/>
              <a:t>logical design </a:t>
            </a:r>
            <a:r>
              <a:rPr lang="en-US" dirty="0"/>
              <a:t>or </a:t>
            </a:r>
            <a:r>
              <a:rPr lang="en-US" b="1" dirty="0"/>
              <a:t>data model mapping</a:t>
            </a:r>
            <a:r>
              <a:rPr lang="en-US" dirty="0"/>
              <a:t>; its result is a database schema in the implementation data model of the DBMS</a:t>
            </a:r>
          </a:p>
          <a:p>
            <a:r>
              <a:rPr lang="en-US" dirty="0"/>
              <a:t>last step is the </a:t>
            </a:r>
            <a:r>
              <a:rPr lang="en-US" b="1" dirty="0"/>
              <a:t>physical design </a:t>
            </a:r>
            <a:r>
              <a:rPr lang="en-US" dirty="0"/>
              <a:t>phase, during which the internal storage structures, file organizations, indexes, access paths, and physical design parameters for the database files are specified</a:t>
            </a:r>
          </a:p>
        </p:txBody>
      </p:sp>
      <p:sp>
        <p:nvSpPr>
          <p:cNvPr id="4" name="Slide Number Placeholder 3">
            <a:extLst>
              <a:ext uri="{FF2B5EF4-FFF2-40B4-BE49-F238E27FC236}">
                <a16:creationId xmlns:a16="http://schemas.microsoft.com/office/drawing/2014/main" id="{BC2A653E-EEFB-5DBF-1C76-F4884C76E8AC}"/>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3468312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3047-10A5-B526-7A09-04455452CE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89700E-FF30-4178-8728-7646262D2332}"/>
              </a:ext>
            </a:extLst>
          </p:cNvPr>
          <p:cNvSpPr>
            <a:spLocks noGrp="1"/>
          </p:cNvSpPr>
          <p:nvPr>
            <p:ph idx="1"/>
          </p:nvPr>
        </p:nvSpPr>
        <p:spPr/>
        <p:txBody>
          <a:bodyPr/>
          <a:lstStyle/>
          <a:p>
            <a:r>
              <a:rPr lang="en-US" dirty="0"/>
              <a:t>application programs are designed and implemented as database transactions corresponding to high-level transaction specifications</a:t>
            </a:r>
          </a:p>
          <a:p>
            <a:endParaRPr lang="en-US" dirty="0"/>
          </a:p>
        </p:txBody>
      </p:sp>
      <p:sp>
        <p:nvSpPr>
          <p:cNvPr id="4" name="Slide Number Placeholder 3">
            <a:extLst>
              <a:ext uri="{FF2B5EF4-FFF2-40B4-BE49-F238E27FC236}">
                <a16:creationId xmlns:a16="http://schemas.microsoft.com/office/drawing/2014/main" id="{28134E90-3CF2-355E-1955-CECE9816AFD0}"/>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197086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AED5-215A-CD19-2343-1F6D6F7D021E}"/>
              </a:ext>
            </a:extLst>
          </p:cNvPr>
          <p:cNvSpPr>
            <a:spLocks noGrp="1"/>
          </p:cNvSpPr>
          <p:nvPr>
            <p:ph type="title"/>
          </p:nvPr>
        </p:nvSpPr>
        <p:spPr/>
        <p:txBody>
          <a:bodyPr/>
          <a:lstStyle/>
          <a:p>
            <a:r>
              <a:rPr lang="en-US" dirty="0"/>
              <a:t>sample database application</a:t>
            </a:r>
          </a:p>
        </p:txBody>
      </p:sp>
      <p:sp>
        <p:nvSpPr>
          <p:cNvPr id="3" name="Content Placeholder 2">
            <a:extLst>
              <a:ext uri="{FF2B5EF4-FFF2-40B4-BE49-F238E27FC236}">
                <a16:creationId xmlns:a16="http://schemas.microsoft.com/office/drawing/2014/main" id="{9E13FA8C-2FD7-39FE-48AF-D5AEEDD5BF06}"/>
              </a:ext>
            </a:extLst>
          </p:cNvPr>
          <p:cNvSpPr>
            <a:spLocks noGrp="1"/>
          </p:cNvSpPr>
          <p:nvPr>
            <p:ph idx="1"/>
          </p:nvPr>
        </p:nvSpPr>
        <p:spPr/>
        <p:txBody>
          <a:bodyPr>
            <a:normAutofit/>
          </a:bodyPr>
          <a:lstStyle/>
          <a:p>
            <a:r>
              <a:rPr lang="en-US" dirty="0"/>
              <a:t>sample database application, called COMPANY</a:t>
            </a:r>
          </a:p>
          <a:p>
            <a:r>
              <a:rPr lang="en-US" dirty="0"/>
              <a:t>COMPANY database keeps track of company’s employees, departments, and projects</a:t>
            </a:r>
          </a:p>
          <a:p>
            <a:r>
              <a:rPr lang="en-US" dirty="0"/>
              <a:t>description of the </a:t>
            </a:r>
            <a:r>
              <a:rPr lang="en-US" i="1" dirty="0" err="1"/>
              <a:t>miniworld</a:t>
            </a:r>
            <a:r>
              <a:rPr lang="en-US" i="1" dirty="0"/>
              <a:t> </a:t>
            </a:r>
            <a:r>
              <a:rPr lang="en-US" dirty="0"/>
              <a:t>— part of the company that will be represented in the database</a:t>
            </a:r>
          </a:p>
        </p:txBody>
      </p:sp>
      <p:sp>
        <p:nvSpPr>
          <p:cNvPr id="4" name="Slide Number Placeholder 3">
            <a:extLst>
              <a:ext uri="{FF2B5EF4-FFF2-40B4-BE49-F238E27FC236}">
                <a16:creationId xmlns:a16="http://schemas.microsoft.com/office/drawing/2014/main" id="{9914F758-E4C2-6975-C410-0C6843281FF0}"/>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19269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B7B72-B1F8-2524-CD2A-307137B54C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CF8C33-0611-4EF0-4B88-DFE10404DEC7}"/>
              </a:ext>
            </a:extLst>
          </p:cNvPr>
          <p:cNvSpPr>
            <a:spLocks noGrp="1"/>
          </p:cNvSpPr>
          <p:nvPr>
            <p:ph idx="1"/>
          </p:nvPr>
        </p:nvSpPr>
        <p:spPr/>
        <p:txBody>
          <a:bodyPr>
            <a:normAutofit/>
          </a:bodyPr>
          <a:lstStyle/>
          <a:p>
            <a:r>
              <a:rPr lang="en-US" dirty="0"/>
              <a:t>company is organized into departments; each department has a unique name, unique number, and a particular employee who manages the department</a:t>
            </a:r>
          </a:p>
          <a:p>
            <a:r>
              <a:rPr lang="en-US" dirty="0"/>
              <a:t>we keep track of the start date when that employee began managing the department</a:t>
            </a:r>
          </a:p>
          <a:p>
            <a:r>
              <a:rPr lang="en-US" dirty="0"/>
              <a:t>department may have several locations</a:t>
            </a:r>
          </a:p>
          <a:p>
            <a:r>
              <a:rPr lang="en-US" dirty="0"/>
              <a:t>department controls a number of projects, each of which has a unique name, unique number, and a single location</a:t>
            </a:r>
          </a:p>
        </p:txBody>
      </p:sp>
      <p:sp>
        <p:nvSpPr>
          <p:cNvPr id="4" name="Slide Number Placeholder 3">
            <a:extLst>
              <a:ext uri="{FF2B5EF4-FFF2-40B4-BE49-F238E27FC236}">
                <a16:creationId xmlns:a16="http://schemas.microsoft.com/office/drawing/2014/main" id="{795A3FEC-6B0D-445D-4378-0856DC9AF53A}"/>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3227445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F26B1-CA64-205F-27C5-C15F3834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33CB0-3540-F82B-B409-16D170EFFA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7ABAA2-C6E4-086E-16B9-F6DE16E5D5BB}"/>
              </a:ext>
            </a:extLst>
          </p:cNvPr>
          <p:cNvSpPr>
            <a:spLocks noGrp="1"/>
          </p:cNvSpPr>
          <p:nvPr>
            <p:ph idx="1"/>
          </p:nvPr>
        </p:nvSpPr>
        <p:spPr/>
        <p:txBody>
          <a:bodyPr>
            <a:normAutofit lnSpcReduction="10000"/>
          </a:bodyPr>
          <a:lstStyle/>
          <a:p>
            <a:r>
              <a:rPr lang="en-US" dirty="0"/>
              <a:t>database will store each employee’s name, Social Security number, address, salary, sex (gender), and birth date</a:t>
            </a:r>
          </a:p>
          <a:p>
            <a:r>
              <a:rPr lang="en-US" dirty="0"/>
              <a:t>employee is assigned to one department, but may work on several projects, which are not necessarily controlled by the same department</a:t>
            </a:r>
          </a:p>
          <a:p>
            <a:r>
              <a:rPr lang="en-US" dirty="0"/>
              <a:t>it is required to keep track of current number of hours per week that an employee works on each project, as well as the direct supervisor of each employee (who is another employee)</a:t>
            </a:r>
          </a:p>
          <a:p>
            <a:r>
              <a:rPr lang="en-US" dirty="0"/>
              <a:t>database will keep track of the dependents of each employee for insurance purposes, including each dependent’s first name, sex, birth date, and relationship to the employee</a:t>
            </a:r>
          </a:p>
        </p:txBody>
      </p:sp>
      <p:sp>
        <p:nvSpPr>
          <p:cNvPr id="4" name="Slide Number Placeholder 3">
            <a:extLst>
              <a:ext uri="{FF2B5EF4-FFF2-40B4-BE49-F238E27FC236}">
                <a16:creationId xmlns:a16="http://schemas.microsoft.com/office/drawing/2014/main" id="{4FF12ADC-CF44-940D-5294-5ABCAA8C1DE9}"/>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97603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3EBB-852A-0DBA-9EC5-5C7AB3C07F40}"/>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7D90AE8C-68BC-6A13-811F-24BC4C5BB952}"/>
              </a:ext>
            </a:extLst>
          </p:cNvPr>
          <p:cNvSpPr>
            <a:spLocks noGrp="1"/>
          </p:cNvSpPr>
          <p:nvPr>
            <p:ph type="sldNum" sz="quarter" idx="12"/>
          </p:nvPr>
        </p:nvSpPr>
        <p:spPr/>
        <p:txBody>
          <a:bodyPr/>
          <a:lstStyle/>
          <a:p>
            <a:fld id="{6264BDCF-5269-49AC-A246-ED26C2B980E3}" type="slidenum">
              <a:rPr lang="en-US" smtClean="0"/>
              <a:t>14</a:t>
            </a:fld>
            <a:endParaRPr lang="en-US"/>
          </a:p>
        </p:txBody>
      </p:sp>
      <p:pic>
        <p:nvPicPr>
          <p:cNvPr id="5" name="Content Placeholder 4">
            <a:extLst>
              <a:ext uri="{FF2B5EF4-FFF2-40B4-BE49-F238E27FC236}">
                <a16:creationId xmlns:a16="http://schemas.microsoft.com/office/drawing/2014/main" id="{4B147663-6ECF-2CF1-E11B-3CFAF0AB6F88}"/>
              </a:ext>
            </a:extLst>
          </p:cNvPr>
          <p:cNvPicPr>
            <a:picLocks noGrp="1" noChangeAspect="1"/>
          </p:cNvPicPr>
          <p:nvPr>
            <p:ph idx="1"/>
          </p:nvPr>
        </p:nvPicPr>
        <p:blipFill>
          <a:blip r:embed="rId2"/>
          <a:stretch>
            <a:fillRect/>
          </a:stretch>
        </p:blipFill>
        <p:spPr>
          <a:xfrm>
            <a:off x="1920237" y="91438"/>
            <a:ext cx="7717977" cy="6731329"/>
          </a:xfrm>
          <a:prstGeom prst="rect">
            <a:avLst/>
          </a:prstGeom>
        </p:spPr>
      </p:pic>
    </p:spTree>
    <p:extLst>
      <p:ext uri="{BB962C8B-B14F-4D97-AF65-F5344CB8AC3E}">
        <p14:creationId xmlns:p14="http://schemas.microsoft.com/office/powerpoint/2010/main" val="1497385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EEB63-ADB2-9DBA-5093-C065C9C689F9}"/>
              </a:ext>
            </a:extLst>
          </p:cNvPr>
          <p:cNvSpPr>
            <a:spLocks noGrp="1"/>
          </p:cNvSpPr>
          <p:nvPr>
            <p:ph type="title"/>
          </p:nvPr>
        </p:nvSpPr>
        <p:spPr/>
        <p:txBody>
          <a:bodyPr/>
          <a:lstStyle/>
          <a:p>
            <a:r>
              <a:rPr lang="en-US" dirty="0"/>
              <a:t>Entity–Relationship (ER) Model</a:t>
            </a:r>
          </a:p>
        </p:txBody>
      </p:sp>
      <p:sp>
        <p:nvSpPr>
          <p:cNvPr id="3" name="Content Placeholder 2">
            <a:extLst>
              <a:ext uri="{FF2B5EF4-FFF2-40B4-BE49-F238E27FC236}">
                <a16:creationId xmlns:a16="http://schemas.microsoft.com/office/drawing/2014/main" id="{A8536CDD-0747-768F-6D83-3DF3B4E6CEBD}"/>
              </a:ext>
            </a:extLst>
          </p:cNvPr>
          <p:cNvSpPr>
            <a:spLocks noGrp="1"/>
          </p:cNvSpPr>
          <p:nvPr>
            <p:ph idx="1"/>
          </p:nvPr>
        </p:nvSpPr>
        <p:spPr/>
        <p:txBody>
          <a:bodyPr>
            <a:normAutofit/>
          </a:bodyPr>
          <a:lstStyle/>
          <a:p>
            <a:r>
              <a:rPr lang="en-US" dirty="0"/>
              <a:t>describes data as </a:t>
            </a:r>
            <a:r>
              <a:rPr lang="en-US" i="1" dirty="0"/>
              <a:t>entities</a:t>
            </a:r>
            <a:r>
              <a:rPr lang="en-US" dirty="0"/>
              <a:t>, </a:t>
            </a:r>
            <a:r>
              <a:rPr lang="en-US" i="1" dirty="0"/>
              <a:t>relationships</a:t>
            </a:r>
            <a:r>
              <a:rPr lang="en-US" dirty="0"/>
              <a:t>, and </a:t>
            </a:r>
            <a:r>
              <a:rPr lang="en-US" i="1" dirty="0"/>
              <a:t>attributes</a:t>
            </a:r>
          </a:p>
        </p:txBody>
      </p:sp>
      <p:sp>
        <p:nvSpPr>
          <p:cNvPr id="4" name="Slide Number Placeholder 3">
            <a:extLst>
              <a:ext uri="{FF2B5EF4-FFF2-40B4-BE49-F238E27FC236}">
                <a16:creationId xmlns:a16="http://schemas.microsoft.com/office/drawing/2014/main" id="{221D54DE-ECF6-EF78-FF9B-A0E25259FF46}"/>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4219998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66BEC-BBFB-EA65-6260-5ED7EA743AF8}"/>
              </a:ext>
            </a:extLst>
          </p:cNvPr>
          <p:cNvSpPr>
            <a:spLocks noGrp="1"/>
          </p:cNvSpPr>
          <p:nvPr>
            <p:ph type="title"/>
          </p:nvPr>
        </p:nvSpPr>
        <p:spPr/>
        <p:txBody>
          <a:bodyPr/>
          <a:lstStyle/>
          <a:p>
            <a:r>
              <a:rPr lang="en-US" dirty="0"/>
              <a:t>Entities and their Attributes</a:t>
            </a:r>
          </a:p>
        </p:txBody>
      </p:sp>
      <p:sp>
        <p:nvSpPr>
          <p:cNvPr id="3" name="Content Placeholder 2">
            <a:extLst>
              <a:ext uri="{FF2B5EF4-FFF2-40B4-BE49-F238E27FC236}">
                <a16:creationId xmlns:a16="http://schemas.microsoft.com/office/drawing/2014/main" id="{DDF21778-0DAC-0726-21D6-AB859E2C15B3}"/>
              </a:ext>
            </a:extLst>
          </p:cNvPr>
          <p:cNvSpPr>
            <a:spLocks noGrp="1"/>
          </p:cNvSpPr>
          <p:nvPr>
            <p:ph idx="1"/>
          </p:nvPr>
        </p:nvSpPr>
        <p:spPr/>
        <p:txBody>
          <a:bodyPr>
            <a:noAutofit/>
          </a:bodyPr>
          <a:lstStyle/>
          <a:p>
            <a:r>
              <a:rPr lang="en-US" dirty="0"/>
              <a:t>basic concept that the ER model represents is an entity, which is a thing or object in the real world with an independent existence</a:t>
            </a:r>
          </a:p>
          <a:p>
            <a:pPr lvl="1"/>
            <a:r>
              <a:rPr lang="en-US" sz="2700" dirty="0"/>
              <a:t>object with physical existence (person, car, house, or employee)</a:t>
            </a:r>
          </a:p>
          <a:p>
            <a:pPr lvl="1"/>
            <a:r>
              <a:rPr lang="en-US" sz="2700" dirty="0"/>
              <a:t>object with conceptual existence (company, job, or university course)</a:t>
            </a:r>
          </a:p>
          <a:p>
            <a:r>
              <a:rPr lang="en-US" dirty="0"/>
              <a:t>each entity has attributes, particular properties that describe it</a:t>
            </a:r>
          </a:p>
          <a:p>
            <a:pPr lvl="1"/>
            <a:r>
              <a:rPr lang="en-US" sz="2700" dirty="0"/>
              <a:t>for example, an EMPLOYEE entity may be described by employee’s name, age, address, salary, and job</a:t>
            </a:r>
          </a:p>
          <a:p>
            <a:r>
              <a:rPr lang="en-US" dirty="0"/>
              <a:t>particular entity will have values for attributes; values that describe entity become part of the data stored in the database</a:t>
            </a:r>
          </a:p>
        </p:txBody>
      </p:sp>
      <p:sp>
        <p:nvSpPr>
          <p:cNvPr id="4" name="Slide Number Placeholder 3">
            <a:extLst>
              <a:ext uri="{FF2B5EF4-FFF2-40B4-BE49-F238E27FC236}">
                <a16:creationId xmlns:a16="http://schemas.microsoft.com/office/drawing/2014/main" id="{1DB4BCA5-8C4C-06E3-4BF8-95A38BE794C6}"/>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398844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8442-CEB3-DB6B-3DDB-DE68FA0348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38E2E9-740B-B0C3-029E-CEE08DF95D99}"/>
              </a:ext>
            </a:extLst>
          </p:cNvPr>
          <p:cNvSpPr>
            <a:spLocks noGrp="1"/>
          </p:cNvSpPr>
          <p:nvPr>
            <p:ph idx="1"/>
          </p:nvPr>
        </p:nvSpPr>
        <p:spPr/>
        <p:txBody>
          <a:bodyPr/>
          <a:lstStyle/>
          <a:p>
            <a:r>
              <a:rPr lang="en-US" dirty="0"/>
              <a:t>several types of attributes occur in the ER model: simple versus composite, single valued versus multi-valued, and stored versus derived</a:t>
            </a:r>
          </a:p>
        </p:txBody>
      </p:sp>
      <p:sp>
        <p:nvSpPr>
          <p:cNvPr id="4" name="Slide Number Placeholder 3">
            <a:extLst>
              <a:ext uri="{FF2B5EF4-FFF2-40B4-BE49-F238E27FC236}">
                <a16:creationId xmlns:a16="http://schemas.microsoft.com/office/drawing/2014/main" id="{45DF9AA5-43AC-83B2-7D1F-EAC3285B3A7C}"/>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2095073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9BFD-1113-29D3-3C92-A1D2B9E6925D}"/>
              </a:ext>
            </a:extLst>
          </p:cNvPr>
          <p:cNvSpPr>
            <a:spLocks noGrp="1"/>
          </p:cNvSpPr>
          <p:nvPr>
            <p:ph type="title"/>
          </p:nvPr>
        </p:nvSpPr>
        <p:spPr/>
        <p:txBody>
          <a:bodyPr/>
          <a:lstStyle/>
          <a:p>
            <a:r>
              <a:rPr lang="en-US" dirty="0"/>
              <a:t>Composite versus Simple (Atomic) Attributes</a:t>
            </a:r>
          </a:p>
        </p:txBody>
      </p:sp>
      <p:sp>
        <p:nvSpPr>
          <p:cNvPr id="3" name="Content Placeholder 2">
            <a:extLst>
              <a:ext uri="{FF2B5EF4-FFF2-40B4-BE49-F238E27FC236}">
                <a16:creationId xmlns:a16="http://schemas.microsoft.com/office/drawing/2014/main" id="{B2A9EE01-9307-22F9-0FC0-8E4D892A1862}"/>
              </a:ext>
            </a:extLst>
          </p:cNvPr>
          <p:cNvSpPr>
            <a:spLocks noGrp="1"/>
          </p:cNvSpPr>
          <p:nvPr>
            <p:ph idx="1"/>
          </p:nvPr>
        </p:nvSpPr>
        <p:spPr/>
        <p:txBody>
          <a:bodyPr>
            <a:normAutofit lnSpcReduction="10000"/>
          </a:bodyPr>
          <a:lstStyle/>
          <a:p>
            <a:r>
              <a:rPr lang="en-US" dirty="0"/>
              <a:t>composite attributes can be divided into smaller subparts, which represent more basic attributes with independent meanings</a:t>
            </a:r>
          </a:p>
          <a:p>
            <a:r>
              <a:rPr lang="en-US" dirty="0"/>
              <a:t>for example, the Address attribute of the EMPLOYEE entity can be subdivided into </a:t>
            </a:r>
            <a:r>
              <a:rPr lang="en-US" dirty="0" err="1"/>
              <a:t>Street_address</a:t>
            </a:r>
            <a:r>
              <a:rPr lang="en-US" dirty="0"/>
              <a:t>, City, State, and </a:t>
            </a:r>
            <a:r>
              <a:rPr lang="en-US" dirty="0" err="1"/>
              <a:t>Zip_code</a:t>
            </a:r>
            <a:endParaRPr lang="en-US" dirty="0"/>
          </a:p>
          <a:p>
            <a:r>
              <a:rPr lang="en-US" dirty="0"/>
              <a:t>attributes that are not divisible are called simple or atomic attributes</a:t>
            </a:r>
          </a:p>
          <a:p>
            <a:r>
              <a:rPr lang="en-US" dirty="0"/>
              <a:t>composite attributes can form a hierarchy; for example, </a:t>
            </a:r>
            <a:r>
              <a:rPr lang="en-US" dirty="0" err="1"/>
              <a:t>Street_address</a:t>
            </a:r>
            <a:r>
              <a:rPr lang="en-US" dirty="0"/>
              <a:t> can be further subdivided into three simple component attributes: Number, Street, and </a:t>
            </a:r>
            <a:r>
              <a:rPr lang="en-US" dirty="0" err="1"/>
              <a:t>Apartment_number</a:t>
            </a:r>
            <a:r>
              <a:rPr lang="en-US" dirty="0"/>
              <a:t>, …</a:t>
            </a:r>
          </a:p>
          <a:p>
            <a:r>
              <a:rPr lang="en-US" dirty="0"/>
              <a:t>value of composite attribute is the concatenation of the values of its component simple attributes</a:t>
            </a:r>
          </a:p>
        </p:txBody>
      </p:sp>
      <p:sp>
        <p:nvSpPr>
          <p:cNvPr id="4" name="Slide Number Placeholder 3">
            <a:extLst>
              <a:ext uri="{FF2B5EF4-FFF2-40B4-BE49-F238E27FC236}">
                <a16:creationId xmlns:a16="http://schemas.microsoft.com/office/drawing/2014/main" id="{FF558AA5-43BC-05E6-EBC0-5BE8EFB832D8}"/>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3834421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2BE53-F07F-8E19-60A8-B5046A305E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609B67-949B-31AD-800B-70C4586ABE74}"/>
              </a:ext>
            </a:extLst>
          </p:cNvPr>
          <p:cNvSpPr>
            <a:spLocks noGrp="1"/>
          </p:cNvSpPr>
          <p:nvPr>
            <p:ph idx="1"/>
          </p:nvPr>
        </p:nvSpPr>
        <p:spPr/>
        <p:txBody>
          <a:bodyPr>
            <a:normAutofit/>
          </a:bodyPr>
          <a:lstStyle/>
          <a:p>
            <a:r>
              <a:rPr lang="en-US" dirty="0"/>
              <a:t>composite attributes are useful to model situations in which a user sometimes refers to composite attribute as a unit but at other times refers specifically to its component</a:t>
            </a:r>
          </a:p>
          <a:p>
            <a:r>
              <a:rPr lang="en-US" dirty="0"/>
              <a:t>just send mail at address	/	search for people from a city</a:t>
            </a:r>
          </a:p>
          <a:p>
            <a:r>
              <a:rPr lang="en-US" dirty="0"/>
              <a:t>if composite attribute is referenced only as a whole, there is no need to subdivide it into component attributes; for example, if there is no need to refer to individual components of an address then whole address can be designated as simple attribute</a:t>
            </a:r>
          </a:p>
        </p:txBody>
      </p:sp>
      <p:sp>
        <p:nvSpPr>
          <p:cNvPr id="4" name="Slide Number Placeholder 3">
            <a:extLst>
              <a:ext uri="{FF2B5EF4-FFF2-40B4-BE49-F238E27FC236}">
                <a16:creationId xmlns:a16="http://schemas.microsoft.com/office/drawing/2014/main" id="{E4676DA0-143E-F6E5-F973-3A4D90DE3BDA}"/>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43400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827A-FB35-1C62-F49D-9F8468DEBC58}"/>
              </a:ext>
            </a:extLst>
          </p:cNvPr>
          <p:cNvSpPr>
            <a:spLocks noGrp="1"/>
          </p:cNvSpPr>
          <p:nvPr>
            <p:ph type="title"/>
          </p:nvPr>
        </p:nvSpPr>
        <p:spPr/>
        <p:txBody>
          <a:bodyPr/>
          <a:lstStyle/>
          <a:p>
            <a:r>
              <a:rPr lang="en-US" dirty="0"/>
              <a:t>Single-Valued versus Multivalued Attributes</a:t>
            </a:r>
          </a:p>
        </p:txBody>
      </p:sp>
      <p:sp>
        <p:nvSpPr>
          <p:cNvPr id="3" name="Content Placeholder 2">
            <a:extLst>
              <a:ext uri="{FF2B5EF4-FFF2-40B4-BE49-F238E27FC236}">
                <a16:creationId xmlns:a16="http://schemas.microsoft.com/office/drawing/2014/main" id="{FFAC4A2A-DE31-6690-706E-097DD3210DED}"/>
              </a:ext>
            </a:extLst>
          </p:cNvPr>
          <p:cNvSpPr>
            <a:spLocks noGrp="1"/>
          </p:cNvSpPr>
          <p:nvPr>
            <p:ph idx="1"/>
          </p:nvPr>
        </p:nvSpPr>
        <p:spPr/>
        <p:txBody>
          <a:bodyPr>
            <a:noAutofit/>
          </a:bodyPr>
          <a:lstStyle/>
          <a:p>
            <a:r>
              <a:rPr lang="en-US" dirty="0"/>
              <a:t>most attributes have a single value for a particular entity</a:t>
            </a:r>
          </a:p>
          <a:p>
            <a:r>
              <a:rPr lang="en-US" dirty="0"/>
              <a:t>for example, age is a single-valued attribute of a person</a:t>
            </a:r>
          </a:p>
          <a:p>
            <a:r>
              <a:rPr lang="en-US" dirty="0"/>
              <a:t>Real Madrid are </a:t>
            </a:r>
            <a:r>
              <a:rPr lang="en-US" dirty="0" err="1"/>
              <a:t>los</a:t>
            </a:r>
            <a:r>
              <a:rPr lang="en-US" dirty="0"/>
              <a:t> </a:t>
            </a:r>
            <a:r>
              <a:rPr lang="en-US" dirty="0" err="1"/>
              <a:t>blancos</a:t>
            </a:r>
            <a:r>
              <a:rPr lang="en-US" dirty="0"/>
              <a:t>	/	Barcelona are </a:t>
            </a:r>
            <a:r>
              <a:rPr lang="en-US" dirty="0" err="1"/>
              <a:t>blau</a:t>
            </a:r>
            <a:r>
              <a:rPr lang="en-US" dirty="0"/>
              <a:t> grana</a:t>
            </a:r>
          </a:p>
          <a:p>
            <a:r>
              <a:rPr lang="en-US" dirty="0"/>
              <a:t>in some cases an attribute can have a set of values for same entity, for instance, a Colors attribute for car, or a </a:t>
            </a:r>
            <a:r>
              <a:rPr lang="en-US" dirty="0" err="1"/>
              <a:t>College_degrees</a:t>
            </a:r>
            <a:r>
              <a:rPr lang="en-US" dirty="0"/>
              <a:t> attribute for person</a:t>
            </a:r>
          </a:p>
          <a:p>
            <a:pPr lvl="1"/>
            <a:r>
              <a:rPr lang="en-US" sz="2600" dirty="0"/>
              <a:t>one person may not have any college degrees</a:t>
            </a:r>
          </a:p>
          <a:p>
            <a:pPr lvl="1"/>
            <a:r>
              <a:rPr lang="en-US" sz="2600" dirty="0"/>
              <a:t>another person may have one</a:t>
            </a:r>
          </a:p>
          <a:p>
            <a:pPr lvl="1"/>
            <a:r>
              <a:rPr lang="en-US" sz="2600" dirty="0"/>
              <a:t>a third person may have two or more degrees</a:t>
            </a:r>
          </a:p>
        </p:txBody>
      </p:sp>
      <p:sp>
        <p:nvSpPr>
          <p:cNvPr id="4" name="Slide Number Placeholder 3">
            <a:extLst>
              <a:ext uri="{FF2B5EF4-FFF2-40B4-BE49-F238E27FC236}">
                <a16:creationId xmlns:a16="http://schemas.microsoft.com/office/drawing/2014/main" id="{A727BA59-6331-2F6A-E24D-845999881A7E}"/>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2914970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19AFD-8DFC-658F-5657-CB43FF393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3D104-0587-1693-02FB-92D0A1E142DF}"/>
              </a:ext>
            </a:extLst>
          </p:cNvPr>
          <p:cNvSpPr>
            <a:spLocks noGrp="1"/>
          </p:cNvSpPr>
          <p:nvPr>
            <p:ph type="title"/>
          </p:nvPr>
        </p:nvSpPr>
        <p:spPr/>
        <p:txBody>
          <a:bodyPr/>
          <a:lstStyle/>
          <a:p>
            <a:r>
              <a:rPr lang="en-US" dirty="0"/>
              <a:t>Single-Valued versus Multivalued Attributes</a:t>
            </a:r>
          </a:p>
        </p:txBody>
      </p:sp>
      <p:sp>
        <p:nvSpPr>
          <p:cNvPr id="3" name="Content Placeholder 2">
            <a:extLst>
              <a:ext uri="{FF2B5EF4-FFF2-40B4-BE49-F238E27FC236}">
                <a16:creationId xmlns:a16="http://schemas.microsoft.com/office/drawing/2014/main" id="{15F59611-A3F3-9B8B-3092-78C03D5243CA}"/>
              </a:ext>
            </a:extLst>
          </p:cNvPr>
          <p:cNvSpPr>
            <a:spLocks noGrp="1"/>
          </p:cNvSpPr>
          <p:nvPr>
            <p:ph idx="1"/>
          </p:nvPr>
        </p:nvSpPr>
        <p:spPr/>
        <p:txBody>
          <a:bodyPr>
            <a:normAutofit/>
          </a:bodyPr>
          <a:lstStyle/>
          <a:p>
            <a:r>
              <a:rPr lang="en-US" dirty="0"/>
              <a:t>different people can have different numbers of values for </a:t>
            </a:r>
            <a:r>
              <a:rPr lang="en-US" dirty="0" err="1"/>
              <a:t>College_degrees</a:t>
            </a:r>
            <a:r>
              <a:rPr lang="en-US" dirty="0"/>
              <a:t> attribute</a:t>
            </a:r>
          </a:p>
          <a:p>
            <a:r>
              <a:rPr lang="en-US" dirty="0"/>
              <a:t>such attributes are called multivalued</a:t>
            </a:r>
          </a:p>
          <a:p>
            <a:r>
              <a:rPr lang="en-US" dirty="0"/>
              <a:t>multivalued attribute may have lower and upper bounds to constrain the number of values allowed for each individual entity</a:t>
            </a:r>
          </a:p>
        </p:txBody>
      </p:sp>
      <p:sp>
        <p:nvSpPr>
          <p:cNvPr id="4" name="Slide Number Placeholder 3">
            <a:extLst>
              <a:ext uri="{FF2B5EF4-FFF2-40B4-BE49-F238E27FC236}">
                <a16:creationId xmlns:a16="http://schemas.microsoft.com/office/drawing/2014/main" id="{876577FD-951B-0C68-1A95-51C86760A357}"/>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907386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E1CB0-9210-5EAC-985A-BE913499B77E}"/>
              </a:ext>
            </a:extLst>
          </p:cNvPr>
          <p:cNvSpPr>
            <a:spLocks noGrp="1"/>
          </p:cNvSpPr>
          <p:nvPr>
            <p:ph type="title"/>
          </p:nvPr>
        </p:nvSpPr>
        <p:spPr/>
        <p:txBody>
          <a:bodyPr/>
          <a:lstStyle/>
          <a:p>
            <a:r>
              <a:rPr lang="en-US" dirty="0"/>
              <a:t>Stored versus Derived Attributes</a:t>
            </a:r>
          </a:p>
        </p:txBody>
      </p:sp>
      <p:sp>
        <p:nvSpPr>
          <p:cNvPr id="3" name="Content Placeholder 2">
            <a:extLst>
              <a:ext uri="{FF2B5EF4-FFF2-40B4-BE49-F238E27FC236}">
                <a16:creationId xmlns:a16="http://schemas.microsoft.com/office/drawing/2014/main" id="{06BE9CE7-56B3-3857-C96D-D96B2CE43FE3}"/>
              </a:ext>
            </a:extLst>
          </p:cNvPr>
          <p:cNvSpPr>
            <a:spLocks noGrp="1"/>
          </p:cNvSpPr>
          <p:nvPr>
            <p:ph idx="1"/>
          </p:nvPr>
        </p:nvSpPr>
        <p:spPr/>
        <p:txBody>
          <a:bodyPr>
            <a:normAutofit lnSpcReduction="10000"/>
          </a:bodyPr>
          <a:lstStyle/>
          <a:p>
            <a:r>
              <a:rPr lang="en-US" dirty="0"/>
              <a:t>in some cases, two (or more) attribute values are related, for example, the Age and Birth_date attributes of a person;</a:t>
            </a:r>
          </a:p>
          <a:p>
            <a:r>
              <a:rPr lang="en-US" dirty="0"/>
              <a:t>for particular person entity, value of Age can be determined from current (today’s) date and value of that person’s Birth_date</a:t>
            </a:r>
          </a:p>
          <a:p>
            <a:r>
              <a:rPr lang="en-US" dirty="0"/>
              <a:t>Age attribute is hence called a </a:t>
            </a:r>
            <a:r>
              <a:rPr lang="en-US" i="1" dirty="0"/>
              <a:t>derived attribute</a:t>
            </a:r>
            <a:r>
              <a:rPr lang="en-US" b="1" dirty="0"/>
              <a:t> </a:t>
            </a:r>
            <a:r>
              <a:rPr lang="en-US" dirty="0"/>
              <a:t>and is said to be derivable from the Birth_date attribute, which is called a stored attribute</a:t>
            </a:r>
          </a:p>
          <a:p>
            <a:r>
              <a:rPr lang="en-US" dirty="0"/>
              <a:t>some attribute values can be derived from related entities; for example,  attribute </a:t>
            </a:r>
            <a:r>
              <a:rPr lang="en-US" dirty="0" err="1"/>
              <a:t>Number_of_employees</a:t>
            </a:r>
            <a:r>
              <a:rPr lang="en-US" dirty="0"/>
              <a:t> of DEPARTMENT entity can be derived by counting the number of employees related to (working for) that department</a:t>
            </a:r>
          </a:p>
        </p:txBody>
      </p:sp>
      <p:sp>
        <p:nvSpPr>
          <p:cNvPr id="4" name="Slide Number Placeholder 3">
            <a:extLst>
              <a:ext uri="{FF2B5EF4-FFF2-40B4-BE49-F238E27FC236}">
                <a16:creationId xmlns:a16="http://schemas.microsoft.com/office/drawing/2014/main" id="{9C474C90-B94E-AEB8-2780-EEBC40FE2F9A}"/>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3396673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1CC6-6397-4A97-3BB6-179563B84449}"/>
              </a:ext>
            </a:extLst>
          </p:cNvPr>
          <p:cNvSpPr>
            <a:spLocks noGrp="1"/>
          </p:cNvSpPr>
          <p:nvPr>
            <p:ph type="title"/>
          </p:nvPr>
        </p:nvSpPr>
        <p:spPr/>
        <p:txBody>
          <a:bodyPr>
            <a:normAutofit/>
          </a:bodyPr>
          <a:lstStyle/>
          <a:p>
            <a:r>
              <a:rPr lang="en-US" sz="4800" b="1" dirty="0"/>
              <a:t>NULL Values</a:t>
            </a:r>
            <a:endParaRPr lang="en-US" sz="4800" dirty="0"/>
          </a:p>
        </p:txBody>
      </p:sp>
      <p:sp>
        <p:nvSpPr>
          <p:cNvPr id="3" name="Content Placeholder 2">
            <a:extLst>
              <a:ext uri="{FF2B5EF4-FFF2-40B4-BE49-F238E27FC236}">
                <a16:creationId xmlns:a16="http://schemas.microsoft.com/office/drawing/2014/main" id="{F88CC690-CB02-00E4-7797-646626344C6E}"/>
              </a:ext>
            </a:extLst>
          </p:cNvPr>
          <p:cNvSpPr>
            <a:spLocks noGrp="1"/>
          </p:cNvSpPr>
          <p:nvPr>
            <p:ph idx="1"/>
          </p:nvPr>
        </p:nvSpPr>
        <p:spPr/>
        <p:txBody>
          <a:bodyPr>
            <a:noAutofit/>
          </a:bodyPr>
          <a:lstStyle/>
          <a:p>
            <a:r>
              <a:rPr lang="en-US" dirty="0"/>
              <a:t>in some cases, particular entity may not have applicable value for an attribute; for example, the </a:t>
            </a:r>
            <a:r>
              <a:rPr lang="en-US" dirty="0" err="1"/>
              <a:t>Apartment_number</a:t>
            </a:r>
            <a:r>
              <a:rPr lang="en-US" dirty="0"/>
              <a:t> attribute of address applies only to addresses that are in apartment buildings and not to other types of residences, such as single-family homes</a:t>
            </a:r>
          </a:p>
          <a:p>
            <a:r>
              <a:rPr lang="en-US" dirty="0"/>
              <a:t>for such situations, a special value called NULL is created</a:t>
            </a:r>
          </a:p>
          <a:p>
            <a:r>
              <a:rPr lang="en-US" dirty="0"/>
              <a:t>person with no college degree would have NULL for </a:t>
            </a:r>
            <a:r>
              <a:rPr lang="en-US" dirty="0" err="1"/>
              <a:t>College_degrees</a:t>
            </a:r>
            <a:r>
              <a:rPr lang="en-US" dirty="0"/>
              <a:t>, </a:t>
            </a:r>
            <a:r>
              <a:rPr lang="en-US" i="1" dirty="0"/>
              <a:t>not applicable</a:t>
            </a:r>
            <a:endParaRPr lang="en-US" dirty="0"/>
          </a:p>
          <a:p>
            <a:r>
              <a:rPr lang="en-US" dirty="0"/>
              <a:t>if we do not know home phone number of employee meaning of NULL is </a:t>
            </a:r>
            <a:r>
              <a:rPr lang="en-US" i="1" dirty="0"/>
              <a:t>unknown</a:t>
            </a:r>
          </a:p>
        </p:txBody>
      </p:sp>
      <p:sp>
        <p:nvSpPr>
          <p:cNvPr id="4" name="Slide Number Placeholder 3">
            <a:extLst>
              <a:ext uri="{FF2B5EF4-FFF2-40B4-BE49-F238E27FC236}">
                <a16:creationId xmlns:a16="http://schemas.microsoft.com/office/drawing/2014/main" id="{165BCE27-F5CE-F390-A9DD-FAAECA121387}"/>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1617045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633B-3868-84D1-5042-2923EDEAEA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5025BA-B93D-FC1F-6849-91FA62C17532}"/>
              </a:ext>
            </a:extLst>
          </p:cNvPr>
          <p:cNvSpPr>
            <a:spLocks noGrp="1"/>
          </p:cNvSpPr>
          <p:nvPr>
            <p:ph idx="1"/>
          </p:nvPr>
        </p:nvSpPr>
        <p:spPr/>
        <p:txBody>
          <a:bodyPr/>
          <a:lstStyle/>
          <a:p>
            <a:r>
              <a:rPr lang="en-US" dirty="0"/>
              <a:t>attribute value exists but is </a:t>
            </a:r>
            <a:r>
              <a:rPr lang="en-US" i="1" dirty="0"/>
              <a:t>missing</a:t>
            </a:r>
          </a:p>
          <a:p>
            <a:r>
              <a:rPr lang="en-US" dirty="0"/>
              <a:t>attribute values is </a:t>
            </a:r>
            <a:r>
              <a:rPr lang="en-US" i="1" dirty="0"/>
              <a:t>not known</a:t>
            </a:r>
            <a:endParaRPr lang="en-US" dirty="0"/>
          </a:p>
        </p:txBody>
      </p:sp>
      <p:sp>
        <p:nvSpPr>
          <p:cNvPr id="4" name="Slide Number Placeholder 3">
            <a:extLst>
              <a:ext uri="{FF2B5EF4-FFF2-40B4-BE49-F238E27FC236}">
                <a16:creationId xmlns:a16="http://schemas.microsoft.com/office/drawing/2014/main" id="{F37D0D4F-6AE5-C14F-6E52-222DE5699F95}"/>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4131467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3DD1-DD08-966A-1B1F-B7EF9B96B2AB}"/>
              </a:ext>
            </a:extLst>
          </p:cNvPr>
          <p:cNvSpPr>
            <a:spLocks noGrp="1"/>
          </p:cNvSpPr>
          <p:nvPr>
            <p:ph type="title"/>
          </p:nvPr>
        </p:nvSpPr>
        <p:spPr/>
        <p:txBody>
          <a:bodyPr/>
          <a:lstStyle/>
          <a:p>
            <a:r>
              <a:rPr lang="en-US" dirty="0"/>
              <a:t>Complex Attributes</a:t>
            </a:r>
          </a:p>
        </p:txBody>
      </p:sp>
      <p:sp>
        <p:nvSpPr>
          <p:cNvPr id="3" name="Content Placeholder 2">
            <a:extLst>
              <a:ext uri="{FF2B5EF4-FFF2-40B4-BE49-F238E27FC236}">
                <a16:creationId xmlns:a16="http://schemas.microsoft.com/office/drawing/2014/main" id="{FC1D678B-FE39-5581-07E0-970D3E2C1723}"/>
              </a:ext>
            </a:extLst>
          </p:cNvPr>
          <p:cNvSpPr>
            <a:spLocks noGrp="1"/>
          </p:cNvSpPr>
          <p:nvPr>
            <p:ph idx="1"/>
          </p:nvPr>
        </p:nvSpPr>
        <p:spPr/>
        <p:txBody>
          <a:bodyPr/>
          <a:lstStyle/>
          <a:p>
            <a:r>
              <a:rPr lang="en-US" dirty="0"/>
              <a:t>composite and multivalued attributes can be nested arbitrarily</a:t>
            </a:r>
          </a:p>
        </p:txBody>
      </p:sp>
      <p:sp>
        <p:nvSpPr>
          <p:cNvPr id="4" name="Slide Number Placeholder 3">
            <a:extLst>
              <a:ext uri="{FF2B5EF4-FFF2-40B4-BE49-F238E27FC236}">
                <a16:creationId xmlns:a16="http://schemas.microsoft.com/office/drawing/2014/main" id="{71768AD9-5338-9B08-925B-9258E9074240}"/>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1309158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7E686-AE13-A24C-AB2F-CD80218E6255}"/>
              </a:ext>
            </a:extLst>
          </p:cNvPr>
          <p:cNvSpPr>
            <a:spLocks noGrp="1"/>
          </p:cNvSpPr>
          <p:nvPr>
            <p:ph type="title"/>
          </p:nvPr>
        </p:nvSpPr>
        <p:spPr/>
        <p:txBody>
          <a:bodyPr/>
          <a:lstStyle/>
          <a:p>
            <a:r>
              <a:rPr lang="en-US" dirty="0"/>
              <a:t>Entity Type, Entity Set</a:t>
            </a:r>
          </a:p>
        </p:txBody>
      </p:sp>
      <p:sp>
        <p:nvSpPr>
          <p:cNvPr id="3" name="Content Placeholder 2">
            <a:extLst>
              <a:ext uri="{FF2B5EF4-FFF2-40B4-BE49-F238E27FC236}">
                <a16:creationId xmlns:a16="http://schemas.microsoft.com/office/drawing/2014/main" id="{007EB339-68A9-70D4-CA02-A7E0303AC997}"/>
              </a:ext>
            </a:extLst>
          </p:cNvPr>
          <p:cNvSpPr>
            <a:spLocks noGrp="1"/>
          </p:cNvSpPr>
          <p:nvPr>
            <p:ph idx="1"/>
          </p:nvPr>
        </p:nvSpPr>
        <p:spPr/>
        <p:txBody>
          <a:bodyPr>
            <a:normAutofit/>
          </a:bodyPr>
          <a:lstStyle/>
          <a:p>
            <a:r>
              <a:rPr lang="en-US" dirty="0"/>
              <a:t>database usually contains groups of entities that are similar</a:t>
            </a:r>
          </a:p>
          <a:p>
            <a:r>
              <a:rPr lang="en-US" dirty="0"/>
              <a:t>for example, company employing hundreds of employees may want to store similar information concerning each of the employees; these employee entities share the same attributes, but each entity has its own value(s) for each attribute</a:t>
            </a:r>
          </a:p>
          <a:p>
            <a:r>
              <a:rPr lang="en-US" b="1" dirty="0"/>
              <a:t>entity type</a:t>
            </a:r>
            <a:r>
              <a:rPr lang="en-US" dirty="0"/>
              <a:t> defines a collection</a:t>
            </a:r>
            <a:r>
              <a:rPr lang="en-US" i="1" dirty="0"/>
              <a:t> </a:t>
            </a:r>
            <a:r>
              <a:rPr lang="en-US" dirty="0"/>
              <a:t>(or </a:t>
            </a:r>
            <a:r>
              <a:rPr lang="en-US" i="1" dirty="0"/>
              <a:t>set</a:t>
            </a:r>
            <a:r>
              <a:rPr lang="en-US" dirty="0"/>
              <a:t>) of entities that have the same attributes; each entity set in database is described by its name and attributes</a:t>
            </a:r>
          </a:p>
        </p:txBody>
      </p:sp>
      <p:sp>
        <p:nvSpPr>
          <p:cNvPr id="4" name="Slide Number Placeholder 3">
            <a:extLst>
              <a:ext uri="{FF2B5EF4-FFF2-40B4-BE49-F238E27FC236}">
                <a16:creationId xmlns:a16="http://schemas.microsoft.com/office/drawing/2014/main" id="{B6F5EC98-7A34-78F2-B516-4149CCAD997F}"/>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769458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87D0-38E4-3199-71DE-5AA85674A6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7331AE-2B1C-156A-1F0F-FEA9B7CCFEA5}"/>
              </a:ext>
            </a:extLst>
          </p:cNvPr>
          <p:cNvSpPr>
            <a:spLocks noGrp="1"/>
          </p:cNvSpPr>
          <p:nvPr>
            <p:ph idx="1"/>
          </p:nvPr>
        </p:nvSpPr>
        <p:spPr/>
        <p:txBody>
          <a:bodyPr>
            <a:normAutofit lnSpcReduction="10000"/>
          </a:bodyPr>
          <a:lstStyle/>
          <a:p>
            <a:r>
              <a:rPr lang="en-US" dirty="0"/>
              <a:t>collection of all entities of a particular entity type in database at any point in time is called </a:t>
            </a:r>
            <a:r>
              <a:rPr lang="en-US" b="1" dirty="0"/>
              <a:t>entity set </a:t>
            </a:r>
            <a:r>
              <a:rPr lang="en-US" dirty="0"/>
              <a:t>or </a:t>
            </a:r>
            <a:r>
              <a:rPr lang="en-US" b="1" dirty="0"/>
              <a:t>entity collection</a:t>
            </a:r>
          </a:p>
          <a:p>
            <a:r>
              <a:rPr lang="en-US" dirty="0"/>
              <a:t>entity set is usually referred to using same name as entity type</a:t>
            </a:r>
          </a:p>
          <a:p>
            <a:r>
              <a:rPr lang="en-US" dirty="0"/>
              <a:t>EMPLOYEE refers to both </a:t>
            </a:r>
            <a:r>
              <a:rPr lang="en-US" i="1" dirty="0"/>
              <a:t>type of entity </a:t>
            </a:r>
            <a:r>
              <a:rPr lang="en-US" dirty="0"/>
              <a:t>as well as current collection </a:t>
            </a:r>
            <a:r>
              <a:rPr lang="en-US" i="1" dirty="0"/>
              <a:t>of all employee entities </a:t>
            </a:r>
            <a:r>
              <a:rPr lang="en-US" dirty="0"/>
              <a:t>in the database</a:t>
            </a:r>
          </a:p>
          <a:p>
            <a:endParaRPr lang="en-US" dirty="0"/>
          </a:p>
          <a:p>
            <a:r>
              <a:rPr lang="en-US" dirty="0"/>
              <a:t>entity type describes the </a:t>
            </a:r>
            <a:r>
              <a:rPr lang="en-US" b="1" dirty="0"/>
              <a:t>schema </a:t>
            </a:r>
            <a:r>
              <a:rPr lang="en-US" dirty="0"/>
              <a:t>or </a:t>
            </a:r>
            <a:r>
              <a:rPr lang="en-US" b="1" dirty="0"/>
              <a:t>intension </a:t>
            </a:r>
            <a:r>
              <a:rPr lang="en-US" dirty="0"/>
              <a:t>for a set of entities</a:t>
            </a:r>
            <a:r>
              <a:rPr lang="en-US" i="1" dirty="0"/>
              <a:t> </a:t>
            </a:r>
            <a:r>
              <a:rPr lang="en-US" dirty="0"/>
              <a:t>that share same structure</a:t>
            </a:r>
          </a:p>
          <a:p>
            <a:r>
              <a:rPr lang="en-US" dirty="0"/>
              <a:t>collection of entities of a particular entity type is grouped into entity set, which is also called </a:t>
            </a:r>
            <a:r>
              <a:rPr lang="en-US" b="1" dirty="0"/>
              <a:t>extension </a:t>
            </a:r>
            <a:r>
              <a:rPr lang="en-US" dirty="0"/>
              <a:t>of entity type</a:t>
            </a:r>
          </a:p>
        </p:txBody>
      </p:sp>
      <p:sp>
        <p:nvSpPr>
          <p:cNvPr id="4" name="Slide Number Placeholder 3">
            <a:extLst>
              <a:ext uri="{FF2B5EF4-FFF2-40B4-BE49-F238E27FC236}">
                <a16:creationId xmlns:a16="http://schemas.microsoft.com/office/drawing/2014/main" id="{44ABA830-1BCB-7D75-CEB8-B36C15D7075A}"/>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3312392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2A4A-E8DE-BACE-0566-C0AB303836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B276A4-6105-750B-BBED-23F31CA92878}"/>
              </a:ext>
            </a:extLst>
          </p:cNvPr>
          <p:cNvSpPr>
            <a:spLocks noGrp="1"/>
          </p:cNvSpPr>
          <p:nvPr>
            <p:ph idx="1"/>
          </p:nvPr>
        </p:nvSpPr>
        <p:spPr/>
        <p:txBody>
          <a:bodyPr/>
          <a:lstStyle/>
          <a:p>
            <a:r>
              <a:rPr lang="en-US" dirty="0"/>
              <a:t>entity type is represented in ER diagrams as a rectangular box enclosing entity type name</a:t>
            </a:r>
          </a:p>
          <a:p>
            <a:r>
              <a:rPr lang="en-US" dirty="0"/>
              <a:t>attribute names are enclosed in ovals and are attached to their entity type by straight lines</a:t>
            </a:r>
          </a:p>
          <a:p>
            <a:r>
              <a:rPr lang="en-US" dirty="0"/>
              <a:t>composite attributes are attached to their component attributes by straight lines</a:t>
            </a:r>
          </a:p>
          <a:p>
            <a:r>
              <a:rPr lang="en-US" dirty="0"/>
              <a:t>multivalued attributes are displayed in double ovals</a:t>
            </a:r>
          </a:p>
        </p:txBody>
      </p:sp>
      <p:sp>
        <p:nvSpPr>
          <p:cNvPr id="4" name="Slide Number Placeholder 3">
            <a:extLst>
              <a:ext uri="{FF2B5EF4-FFF2-40B4-BE49-F238E27FC236}">
                <a16:creationId xmlns:a16="http://schemas.microsoft.com/office/drawing/2014/main" id="{D8B3111A-AD87-A215-12F4-00EC1C092E97}"/>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924425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2814-3D7C-A332-CF7C-219796120067}"/>
              </a:ext>
            </a:extLst>
          </p:cNvPr>
          <p:cNvSpPr>
            <a:spLocks noGrp="1"/>
          </p:cNvSpPr>
          <p:nvPr>
            <p:ph type="title"/>
          </p:nvPr>
        </p:nvSpPr>
        <p:spPr/>
        <p:txBody>
          <a:bodyPr/>
          <a:lstStyle/>
          <a:p>
            <a:r>
              <a:rPr lang="en-US" dirty="0"/>
              <a:t>Key Attributes of Entity Type</a:t>
            </a:r>
          </a:p>
        </p:txBody>
      </p:sp>
      <p:sp>
        <p:nvSpPr>
          <p:cNvPr id="3" name="Content Placeholder 2">
            <a:extLst>
              <a:ext uri="{FF2B5EF4-FFF2-40B4-BE49-F238E27FC236}">
                <a16:creationId xmlns:a16="http://schemas.microsoft.com/office/drawing/2014/main" id="{4F396239-EA0A-912E-AFC0-6B97FF2B1A7B}"/>
              </a:ext>
            </a:extLst>
          </p:cNvPr>
          <p:cNvSpPr>
            <a:spLocks noGrp="1"/>
          </p:cNvSpPr>
          <p:nvPr>
            <p:ph idx="1"/>
          </p:nvPr>
        </p:nvSpPr>
        <p:spPr/>
        <p:txBody>
          <a:bodyPr>
            <a:noAutofit/>
          </a:bodyPr>
          <a:lstStyle/>
          <a:p>
            <a:r>
              <a:rPr lang="en-US" dirty="0"/>
              <a:t>important constraint on entities of an entity type is the </a:t>
            </a:r>
            <a:r>
              <a:rPr lang="en-US" b="1" dirty="0"/>
              <a:t>key </a:t>
            </a:r>
            <a:r>
              <a:rPr lang="en-US" dirty="0"/>
              <a:t>or </a:t>
            </a:r>
            <a:r>
              <a:rPr lang="en-US" b="1" dirty="0"/>
              <a:t>uniqueness constraint </a:t>
            </a:r>
            <a:r>
              <a:rPr lang="en-US" dirty="0"/>
              <a:t>on attributes</a:t>
            </a:r>
          </a:p>
          <a:p>
            <a:r>
              <a:rPr lang="en-US" dirty="0"/>
              <a:t>entity type usually has one or more attributes whose values are distinct for each individual entity in the entity set; such an attribute (set of attributes) is called </a:t>
            </a:r>
            <a:r>
              <a:rPr lang="en-US" b="1" dirty="0"/>
              <a:t>key attribute</a:t>
            </a:r>
            <a:r>
              <a:rPr lang="en-US" dirty="0"/>
              <a:t>, and its values can be used to identify each entity uniquely</a:t>
            </a:r>
          </a:p>
          <a:p>
            <a:r>
              <a:rPr lang="en-US" dirty="0"/>
              <a:t>for example, Name attribute is a key of COMPANY entity type; for PERSON entity type, typical key attribute is SSN (Social Security Number)</a:t>
            </a:r>
          </a:p>
          <a:p>
            <a:r>
              <a:rPr lang="en-US" dirty="0"/>
              <a:t>sometimes several attributes together form a key, meaning that the combination</a:t>
            </a:r>
            <a:r>
              <a:rPr lang="en-US" i="1" dirty="0"/>
              <a:t> </a:t>
            </a:r>
            <a:r>
              <a:rPr lang="en-US" dirty="0"/>
              <a:t>of attribute values must be distinct for each entity</a:t>
            </a:r>
          </a:p>
        </p:txBody>
      </p:sp>
      <p:sp>
        <p:nvSpPr>
          <p:cNvPr id="4" name="Slide Number Placeholder 3">
            <a:extLst>
              <a:ext uri="{FF2B5EF4-FFF2-40B4-BE49-F238E27FC236}">
                <a16:creationId xmlns:a16="http://schemas.microsoft.com/office/drawing/2014/main" id="{B4BC64CF-BA4D-4A7A-2AB3-1F87ADB724FC}"/>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327180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0627-2674-B9C5-E2C6-59D24CD214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ED7048-A3E3-7A05-9F04-1A531D3C7E3A}"/>
              </a:ext>
            </a:extLst>
          </p:cNvPr>
          <p:cNvSpPr>
            <a:spLocks noGrp="1"/>
          </p:cNvSpPr>
          <p:nvPr>
            <p:ph idx="1"/>
          </p:nvPr>
        </p:nvSpPr>
        <p:spPr/>
        <p:txBody>
          <a:bodyPr>
            <a:normAutofit/>
          </a:bodyPr>
          <a:lstStyle/>
          <a:p>
            <a:r>
              <a:rPr lang="en-US" dirty="0"/>
              <a:t>if a set of attributes possesses this property, proper way to represent this in ER model is to define composite attribute</a:t>
            </a:r>
            <a:r>
              <a:rPr lang="en-US" i="1" dirty="0"/>
              <a:t> </a:t>
            </a:r>
            <a:r>
              <a:rPr lang="en-US" dirty="0"/>
              <a:t>and designate it as key attribute</a:t>
            </a:r>
          </a:p>
          <a:p>
            <a:r>
              <a:rPr lang="en-US" dirty="0"/>
              <a:t>such a composite key must be minimal; that is, all component attributes must be included in composite attribute to have the uniqueness property, superfluous attributes must not be included in key</a:t>
            </a:r>
          </a:p>
          <a:p>
            <a:r>
              <a:rPr lang="en-US" dirty="0"/>
              <a:t>in ER diagrammatic notation, each key attribute has its </a:t>
            </a:r>
            <a:r>
              <a:rPr lang="en-US" u="sng" dirty="0"/>
              <a:t>name underlined</a:t>
            </a:r>
            <a:r>
              <a:rPr lang="en-US" b="1" dirty="0"/>
              <a:t> </a:t>
            </a:r>
            <a:r>
              <a:rPr lang="en-US" dirty="0"/>
              <a:t>inside oval</a:t>
            </a:r>
          </a:p>
        </p:txBody>
      </p:sp>
      <p:sp>
        <p:nvSpPr>
          <p:cNvPr id="4" name="Slide Number Placeholder 3">
            <a:extLst>
              <a:ext uri="{FF2B5EF4-FFF2-40B4-BE49-F238E27FC236}">
                <a16:creationId xmlns:a16="http://schemas.microsoft.com/office/drawing/2014/main" id="{50A76928-B978-54D5-1238-AEB1707494CC}"/>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1078176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1E8B-9766-A718-E5F4-7520FC17FC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3723CE-AA34-70AE-3CBA-A17A8244864F}"/>
              </a:ext>
            </a:extLst>
          </p:cNvPr>
          <p:cNvSpPr>
            <a:spLocks noGrp="1"/>
          </p:cNvSpPr>
          <p:nvPr>
            <p:ph idx="1"/>
          </p:nvPr>
        </p:nvSpPr>
        <p:spPr/>
        <p:txBody>
          <a:bodyPr>
            <a:normAutofit/>
          </a:bodyPr>
          <a:lstStyle/>
          <a:p>
            <a:r>
              <a:rPr lang="en-US" dirty="0"/>
              <a:t>key constraint, and other constraints, are derived from the constraints of the </a:t>
            </a:r>
            <a:r>
              <a:rPr lang="en-US" dirty="0" err="1"/>
              <a:t>miniworld</a:t>
            </a:r>
            <a:r>
              <a:rPr lang="en-US" dirty="0"/>
              <a:t> that the database represents</a:t>
            </a:r>
          </a:p>
          <a:p>
            <a:r>
              <a:rPr lang="en-US" sz="2700" dirty="0"/>
              <a:t>it is not the property of particular entity set; rather, it is a constraint on </a:t>
            </a:r>
            <a:r>
              <a:rPr lang="en-US" sz="2700" i="1" dirty="0"/>
              <a:t>any entity set </a:t>
            </a:r>
            <a:r>
              <a:rPr lang="en-US" sz="2700" dirty="0"/>
              <a:t>of entity type at any point in time</a:t>
            </a:r>
          </a:p>
          <a:p>
            <a:endParaRPr lang="en-US" sz="2700" dirty="0"/>
          </a:p>
          <a:p>
            <a:r>
              <a:rPr lang="en-US" dirty="0"/>
              <a:t>some entity types have more than one</a:t>
            </a:r>
            <a:r>
              <a:rPr lang="en-US" i="1" dirty="0"/>
              <a:t> </a:t>
            </a:r>
            <a:r>
              <a:rPr lang="en-US" dirty="0"/>
              <a:t>key attribute</a:t>
            </a:r>
            <a:endParaRPr lang="en-US" sz="2700" dirty="0"/>
          </a:p>
        </p:txBody>
      </p:sp>
      <p:sp>
        <p:nvSpPr>
          <p:cNvPr id="4" name="Slide Number Placeholder 3">
            <a:extLst>
              <a:ext uri="{FF2B5EF4-FFF2-40B4-BE49-F238E27FC236}">
                <a16:creationId xmlns:a16="http://schemas.microsoft.com/office/drawing/2014/main" id="{AEF361DA-55C6-A399-D3EB-B82C61E96CEF}"/>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2132433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225DC-4376-8596-B251-29A08A6DCE9D}"/>
              </a:ext>
            </a:extLst>
          </p:cNvPr>
          <p:cNvSpPr>
            <a:spLocks noGrp="1"/>
          </p:cNvSpPr>
          <p:nvPr>
            <p:ph type="title"/>
          </p:nvPr>
        </p:nvSpPr>
        <p:spPr/>
        <p:txBody>
          <a:bodyPr/>
          <a:lstStyle/>
          <a:p>
            <a:r>
              <a:rPr lang="en-US" dirty="0"/>
              <a:t>Value Sets (Domains) of Attributes</a:t>
            </a:r>
          </a:p>
        </p:txBody>
      </p:sp>
      <p:sp>
        <p:nvSpPr>
          <p:cNvPr id="3" name="Content Placeholder 2">
            <a:extLst>
              <a:ext uri="{FF2B5EF4-FFF2-40B4-BE49-F238E27FC236}">
                <a16:creationId xmlns:a16="http://schemas.microsoft.com/office/drawing/2014/main" id="{EFB86174-4504-E3E0-4AE0-E7333F583945}"/>
              </a:ext>
            </a:extLst>
          </p:cNvPr>
          <p:cNvSpPr>
            <a:spLocks noGrp="1"/>
          </p:cNvSpPr>
          <p:nvPr>
            <p:ph idx="1"/>
          </p:nvPr>
        </p:nvSpPr>
        <p:spPr/>
        <p:txBody>
          <a:bodyPr>
            <a:normAutofit/>
          </a:bodyPr>
          <a:lstStyle/>
          <a:p>
            <a:r>
              <a:rPr lang="en-US" dirty="0"/>
              <a:t>each simple attribute of entity type is associated with a </a:t>
            </a:r>
            <a:r>
              <a:rPr lang="en-US" b="1" dirty="0"/>
              <a:t>value set </a:t>
            </a:r>
            <a:r>
              <a:rPr lang="en-US" dirty="0"/>
              <a:t>(or </a:t>
            </a:r>
            <a:r>
              <a:rPr lang="en-US" b="1" dirty="0"/>
              <a:t>domain </a:t>
            </a:r>
            <a:r>
              <a:rPr lang="en-US" dirty="0"/>
              <a:t>of values), which specifies the set of values that may be assigned to that attribute for each individual entity</a:t>
            </a:r>
          </a:p>
          <a:p>
            <a:r>
              <a:rPr lang="en-US" dirty="0"/>
              <a:t>range of ages allowed for employees is between 16 and 70, can specify value set of Age attribute of EMPLOYEE to be the set of integer numbers between 16 and 70</a:t>
            </a:r>
          </a:p>
          <a:p>
            <a:r>
              <a:rPr lang="en-US" dirty="0"/>
              <a:t>value sets are not typically displayed in basic ER diagrams and are similar to the basic </a:t>
            </a:r>
            <a:r>
              <a:rPr lang="en-US" b="1" dirty="0"/>
              <a:t>data types </a:t>
            </a:r>
            <a:r>
              <a:rPr lang="en-US" dirty="0"/>
              <a:t>available in most programming languages, such as integer, string, Boolean, float, enumerated type, subrange, and so on</a:t>
            </a:r>
          </a:p>
        </p:txBody>
      </p:sp>
      <p:sp>
        <p:nvSpPr>
          <p:cNvPr id="4" name="Slide Number Placeholder 3">
            <a:extLst>
              <a:ext uri="{FF2B5EF4-FFF2-40B4-BE49-F238E27FC236}">
                <a16:creationId xmlns:a16="http://schemas.microsoft.com/office/drawing/2014/main" id="{F9D3221C-C809-73B7-80FD-A273A5051D9F}"/>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709636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EC7D-11F0-2BBF-15D3-48EC4585DE3F}"/>
              </a:ext>
            </a:extLst>
          </p:cNvPr>
          <p:cNvSpPr>
            <a:spLocks noGrp="1"/>
          </p:cNvSpPr>
          <p:nvPr>
            <p:ph type="title"/>
          </p:nvPr>
        </p:nvSpPr>
        <p:spPr/>
        <p:txBody>
          <a:bodyPr/>
          <a:lstStyle/>
          <a:p>
            <a:r>
              <a:rPr lang="en-US" b="1" dirty="0"/>
              <a:t>Relationship</a:t>
            </a:r>
            <a:endParaRPr lang="en-US" dirty="0"/>
          </a:p>
        </p:txBody>
      </p:sp>
      <p:sp>
        <p:nvSpPr>
          <p:cNvPr id="3" name="Content Placeholder 2">
            <a:extLst>
              <a:ext uri="{FF2B5EF4-FFF2-40B4-BE49-F238E27FC236}">
                <a16:creationId xmlns:a16="http://schemas.microsoft.com/office/drawing/2014/main" id="{DAD382D3-EA05-F9D5-8552-F23E92DE2C1B}"/>
              </a:ext>
            </a:extLst>
          </p:cNvPr>
          <p:cNvSpPr>
            <a:spLocks noGrp="1"/>
          </p:cNvSpPr>
          <p:nvPr>
            <p:ph idx="1"/>
          </p:nvPr>
        </p:nvSpPr>
        <p:spPr/>
        <p:txBody>
          <a:bodyPr>
            <a:normAutofit/>
          </a:bodyPr>
          <a:lstStyle/>
          <a:p>
            <a:r>
              <a:rPr lang="en-US" dirty="0"/>
              <a:t>implicit relationships among various entity types whenever an attribute of one entity type refers to another entity type, some relationship exists</a:t>
            </a:r>
          </a:p>
          <a:p>
            <a:r>
              <a:rPr lang="en-US" dirty="0"/>
              <a:t>for example, attribute Manager of DEPARTMENT refers to an employee who manages the department</a:t>
            </a:r>
          </a:p>
          <a:p>
            <a:r>
              <a:rPr lang="en-US" dirty="0"/>
              <a:t>in the ER model, these references should not be represented as attributes but as </a:t>
            </a:r>
            <a:r>
              <a:rPr lang="en-US" b="1" dirty="0"/>
              <a:t>relationships</a:t>
            </a:r>
          </a:p>
          <a:p>
            <a:r>
              <a:rPr lang="en-US" dirty="0"/>
              <a:t>in initial design of entity types, relationships are typically captured in the form of attributes; as design is refined, these attributes get converted into relationships between entity types</a:t>
            </a:r>
          </a:p>
        </p:txBody>
      </p:sp>
      <p:sp>
        <p:nvSpPr>
          <p:cNvPr id="4" name="Slide Number Placeholder 3">
            <a:extLst>
              <a:ext uri="{FF2B5EF4-FFF2-40B4-BE49-F238E27FC236}">
                <a16:creationId xmlns:a16="http://schemas.microsoft.com/office/drawing/2014/main" id="{025813E5-754C-0193-BB93-AC909B6BE504}"/>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3140131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1EC5-4E57-690D-542E-6E4C7323DB47}"/>
              </a:ext>
            </a:extLst>
          </p:cNvPr>
          <p:cNvSpPr>
            <a:spLocks noGrp="1"/>
          </p:cNvSpPr>
          <p:nvPr>
            <p:ph type="title"/>
          </p:nvPr>
        </p:nvSpPr>
        <p:spPr/>
        <p:txBody>
          <a:bodyPr/>
          <a:lstStyle/>
          <a:p>
            <a:r>
              <a:rPr lang="en-US" dirty="0"/>
              <a:t>Relationship Types, Sets, and Instances</a:t>
            </a:r>
          </a:p>
        </p:txBody>
      </p:sp>
      <p:sp>
        <p:nvSpPr>
          <p:cNvPr id="3" name="Content Placeholder 2">
            <a:extLst>
              <a:ext uri="{FF2B5EF4-FFF2-40B4-BE49-F238E27FC236}">
                <a16:creationId xmlns:a16="http://schemas.microsoft.com/office/drawing/2014/main" id="{539982DD-8606-BDAF-2139-64F1517A7124}"/>
              </a:ext>
            </a:extLst>
          </p:cNvPr>
          <p:cNvSpPr>
            <a:spLocks noGrp="1"/>
          </p:cNvSpPr>
          <p:nvPr>
            <p:ph idx="1"/>
          </p:nvPr>
        </p:nvSpPr>
        <p:spPr>
          <a:xfrm>
            <a:off x="838200" y="1825625"/>
            <a:ext cx="10911348" cy="4351338"/>
          </a:xfrm>
        </p:spPr>
        <p:txBody>
          <a:bodyPr>
            <a:noAutofit/>
          </a:bodyPr>
          <a:lstStyle/>
          <a:p>
            <a:r>
              <a:rPr lang="en-US" dirty="0"/>
              <a:t>a </a:t>
            </a:r>
            <a:r>
              <a:rPr lang="en-US" b="1" dirty="0"/>
              <a:t>relationship type </a:t>
            </a:r>
            <a:r>
              <a:rPr lang="en-US" i="1" dirty="0"/>
              <a:t>R </a:t>
            </a:r>
            <a:r>
              <a:rPr lang="en-US" dirty="0"/>
              <a:t>among </a:t>
            </a:r>
            <a:r>
              <a:rPr lang="en-US" i="1" dirty="0"/>
              <a:t>n </a:t>
            </a:r>
            <a:r>
              <a:rPr lang="en-US" dirty="0"/>
              <a:t>entity types </a:t>
            </a:r>
            <a:r>
              <a:rPr lang="en-US" i="1" dirty="0"/>
              <a:t>E</a:t>
            </a:r>
            <a:r>
              <a:rPr lang="en-US" baseline="-25000" dirty="0"/>
              <a:t>1</a:t>
            </a:r>
            <a:r>
              <a:rPr lang="en-US" dirty="0"/>
              <a:t>, </a:t>
            </a:r>
            <a:r>
              <a:rPr lang="en-US" i="1" dirty="0"/>
              <a:t>E</a:t>
            </a:r>
            <a:r>
              <a:rPr lang="en-US" baseline="-25000" dirty="0"/>
              <a:t>2</a:t>
            </a:r>
            <a:r>
              <a:rPr lang="en-US" dirty="0"/>
              <a:t>, . . . , </a:t>
            </a:r>
            <a:r>
              <a:rPr lang="en-US" i="1" dirty="0"/>
              <a:t>E</a:t>
            </a:r>
            <a:r>
              <a:rPr lang="en-US" baseline="-25000" dirty="0"/>
              <a:t>n</a:t>
            </a:r>
            <a:r>
              <a:rPr lang="en-US" i="1" dirty="0"/>
              <a:t> </a:t>
            </a:r>
            <a:r>
              <a:rPr lang="en-US" dirty="0"/>
              <a:t>defines a set of associations or a </a:t>
            </a:r>
            <a:r>
              <a:rPr lang="en-US" b="1" dirty="0"/>
              <a:t>relationship set </a:t>
            </a:r>
            <a:r>
              <a:rPr lang="en-US" dirty="0"/>
              <a:t>among entities from these entity types</a:t>
            </a:r>
          </a:p>
          <a:p>
            <a:r>
              <a:rPr lang="en-US" dirty="0"/>
              <a:t>mathematically, the relationship set </a:t>
            </a:r>
            <a:r>
              <a:rPr lang="en-US" i="1" dirty="0"/>
              <a:t>R </a:t>
            </a:r>
            <a:r>
              <a:rPr lang="en-US" dirty="0"/>
              <a:t>is a set of </a:t>
            </a:r>
            <a:r>
              <a:rPr lang="en-US" b="1" dirty="0"/>
              <a:t>relationship instances </a:t>
            </a:r>
            <a:r>
              <a:rPr lang="en-US" i="1" dirty="0" err="1"/>
              <a:t>r</a:t>
            </a:r>
            <a:r>
              <a:rPr lang="en-US" baseline="-25000" dirty="0" err="1"/>
              <a:t>i</a:t>
            </a:r>
            <a:r>
              <a:rPr lang="en-US" i="1" dirty="0"/>
              <a:t>, </a:t>
            </a:r>
            <a:r>
              <a:rPr lang="en-US" dirty="0"/>
              <a:t>where each </a:t>
            </a:r>
            <a:r>
              <a:rPr lang="en-US" i="1" dirty="0" err="1"/>
              <a:t>r</a:t>
            </a:r>
            <a:r>
              <a:rPr lang="en-US" baseline="-25000" dirty="0" err="1"/>
              <a:t>i</a:t>
            </a:r>
            <a:r>
              <a:rPr lang="en-US" i="1" dirty="0"/>
              <a:t> </a:t>
            </a:r>
            <a:r>
              <a:rPr lang="en-US" dirty="0"/>
              <a:t>associates </a:t>
            </a:r>
            <a:r>
              <a:rPr lang="en-US" i="1" dirty="0"/>
              <a:t>n </a:t>
            </a:r>
            <a:r>
              <a:rPr lang="en-US" dirty="0"/>
              <a:t>individual entities (</a:t>
            </a:r>
            <a:r>
              <a:rPr lang="en-US" i="1" dirty="0"/>
              <a:t>e</a:t>
            </a:r>
            <a:r>
              <a:rPr lang="en-US" baseline="-25000" dirty="0"/>
              <a:t>1</a:t>
            </a:r>
            <a:r>
              <a:rPr lang="en-US" dirty="0"/>
              <a:t>, </a:t>
            </a:r>
            <a:r>
              <a:rPr lang="en-US" i="1" dirty="0"/>
              <a:t>e</a:t>
            </a:r>
            <a:r>
              <a:rPr lang="en-US" i="1" baseline="-25000" dirty="0"/>
              <a:t>2</a:t>
            </a:r>
            <a:r>
              <a:rPr lang="en-US" dirty="0"/>
              <a:t>, . . . , </a:t>
            </a:r>
            <a:r>
              <a:rPr lang="en-US" i="1" dirty="0" err="1"/>
              <a:t>e</a:t>
            </a:r>
            <a:r>
              <a:rPr lang="en-US" baseline="-25000" dirty="0" err="1"/>
              <a:t>n</a:t>
            </a:r>
            <a:r>
              <a:rPr lang="en-US" dirty="0"/>
              <a:t>), and each entity </a:t>
            </a:r>
            <a:r>
              <a:rPr lang="en-US" i="1" dirty="0" err="1"/>
              <a:t>e</a:t>
            </a:r>
            <a:r>
              <a:rPr lang="en-US" baseline="-25000" dirty="0" err="1"/>
              <a:t>j</a:t>
            </a:r>
            <a:r>
              <a:rPr lang="en-US" i="1" dirty="0"/>
              <a:t> </a:t>
            </a:r>
            <a:r>
              <a:rPr lang="en-US" dirty="0"/>
              <a:t>in </a:t>
            </a:r>
            <a:r>
              <a:rPr lang="en-US" i="1" dirty="0" err="1"/>
              <a:t>r</a:t>
            </a:r>
            <a:r>
              <a:rPr lang="en-US" baseline="-25000" dirty="0" err="1"/>
              <a:t>i</a:t>
            </a:r>
            <a:r>
              <a:rPr lang="en-US" i="1" dirty="0"/>
              <a:t> </a:t>
            </a:r>
            <a:r>
              <a:rPr lang="en-US" dirty="0"/>
              <a:t>is a member of entity set </a:t>
            </a:r>
            <a:r>
              <a:rPr lang="en-US" i="1" dirty="0" err="1"/>
              <a:t>E</a:t>
            </a:r>
            <a:r>
              <a:rPr lang="en-US" baseline="-25000" dirty="0" err="1"/>
              <a:t>j</a:t>
            </a:r>
            <a:r>
              <a:rPr lang="en-US" dirty="0"/>
              <a:t>, 1 ≤ </a:t>
            </a:r>
            <a:r>
              <a:rPr lang="en-US" i="1" dirty="0"/>
              <a:t>j </a:t>
            </a:r>
            <a:r>
              <a:rPr lang="en-US" dirty="0"/>
              <a:t>≤ </a:t>
            </a:r>
            <a:r>
              <a:rPr lang="en-US" i="1" dirty="0"/>
              <a:t>n</a:t>
            </a:r>
            <a:r>
              <a:rPr lang="en-US" dirty="0"/>
              <a:t> </a:t>
            </a:r>
          </a:p>
          <a:p>
            <a:r>
              <a:rPr lang="en-US" dirty="0"/>
              <a:t>relationship set is a mathematical relation on </a:t>
            </a:r>
            <a:r>
              <a:rPr lang="en-US" i="1" dirty="0"/>
              <a:t>E</a:t>
            </a:r>
            <a:r>
              <a:rPr lang="en-US" baseline="-25000" dirty="0"/>
              <a:t>1</a:t>
            </a:r>
            <a:r>
              <a:rPr lang="en-US" dirty="0"/>
              <a:t>, </a:t>
            </a:r>
            <a:r>
              <a:rPr lang="en-US" i="1" dirty="0"/>
              <a:t>E</a:t>
            </a:r>
            <a:r>
              <a:rPr lang="en-US" baseline="-25000" dirty="0"/>
              <a:t>2</a:t>
            </a:r>
            <a:r>
              <a:rPr lang="en-US" dirty="0"/>
              <a:t>, . . . , </a:t>
            </a:r>
            <a:r>
              <a:rPr lang="en-US" i="1" dirty="0"/>
              <a:t>E</a:t>
            </a:r>
            <a:r>
              <a:rPr lang="en-US" baseline="-25000" dirty="0"/>
              <a:t>n</a:t>
            </a:r>
            <a:r>
              <a:rPr lang="en-US" dirty="0"/>
              <a:t>; alternatively, it can be defined as subset of Cartesian product of the entity sets </a:t>
            </a:r>
            <a:r>
              <a:rPr lang="en-US" i="1" dirty="0"/>
              <a:t>E</a:t>
            </a:r>
            <a:r>
              <a:rPr lang="en-US" baseline="-25000" dirty="0"/>
              <a:t>1</a:t>
            </a:r>
            <a:r>
              <a:rPr lang="en-US" dirty="0"/>
              <a:t> × </a:t>
            </a:r>
            <a:r>
              <a:rPr lang="en-US" i="1" dirty="0"/>
              <a:t>E</a:t>
            </a:r>
            <a:r>
              <a:rPr lang="en-US" baseline="-25000" dirty="0"/>
              <a:t>2</a:t>
            </a:r>
            <a:r>
              <a:rPr lang="en-US" dirty="0"/>
              <a:t> × . . . × </a:t>
            </a:r>
            <a:r>
              <a:rPr lang="en-US" i="1" dirty="0"/>
              <a:t>E</a:t>
            </a:r>
            <a:r>
              <a:rPr lang="en-US" baseline="-25000" dirty="0"/>
              <a:t>n</a:t>
            </a:r>
            <a:r>
              <a:rPr lang="en-US" dirty="0"/>
              <a:t>. Each of the entity types </a:t>
            </a:r>
            <a:r>
              <a:rPr lang="en-US" i="1" dirty="0"/>
              <a:t>E</a:t>
            </a:r>
            <a:r>
              <a:rPr lang="en-US" baseline="-25000" dirty="0"/>
              <a:t>1</a:t>
            </a:r>
            <a:r>
              <a:rPr lang="en-US" dirty="0"/>
              <a:t>, </a:t>
            </a:r>
            <a:r>
              <a:rPr lang="en-US" i="1" dirty="0"/>
              <a:t>E</a:t>
            </a:r>
            <a:r>
              <a:rPr lang="en-US" i="1" baseline="-25000" dirty="0"/>
              <a:t>2</a:t>
            </a:r>
            <a:r>
              <a:rPr lang="en-US" dirty="0"/>
              <a:t>, . . . , </a:t>
            </a:r>
            <a:r>
              <a:rPr lang="en-US" i="1" dirty="0"/>
              <a:t>E</a:t>
            </a:r>
            <a:r>
              <a:rPr lang="en-US" baseline="-25000" dirty="0"/>
              <a:t>n</a:t>
            </a:r>
            <a:r>
              <a:rPr lang="en-US" i="1" dirty="0"/>
              <a:t> </a:t>
            </a:r>
            <a:r>
              <a:rPr lang="en-US" dirty="0"/>
              <a:t>is said to participate</a:t>
            </a:r>
            <a:r>
              <a:rPr lang="en-US" b="1" dirty="0"/>
              <a:t> </a:t>
            </a:r>
            <a:r>
              <a:rPr lang="en-US" dirty="0"/>
              <a:t>in the relationship type </a:t>
            </a:r>
            <a:r>
              <a:rPr lang="en-US" i="1" dirty="0"/>
              <a:t>R</a:t>
            </a:r>
            <a:r>
              <a:rPr lang="en-US" dirty="0"/>
              <a:t>; similarly, each of the individual entities </a:t>
            </a:r>
            <a:r>
              <a:rPr lang="en-US" i="1" dirty="0"/>
              <a:t>e</a:t>
            </a:r>
            <a:r>
              <a:rPr lang="en-US" baseline="-25000" dirty="0"/>
              <a:t>1</a:t>
            </a:r>
            <a:r>
              <a:rPr lang="en-US" dirty="0"/>
              <a:t>, </a:t>
            </a:r>
            <a:r>
              <a:rPr lang="en-US" i="1" dirty="0"/>
              <a:t>e</a:t>
            </a:r>
            <a:r>
              <a:rPr lang="en-US" baseline="-25000" dirty="0"/>
              <a:t>2</a:t>
            </a:r>
            <a:r>
              <a:rPr lang="en-US" dirty="0"/>
              <a:t>, . . . , </a:t>
            </a:r>
            <a:r>
              <a:rPr lang="en-US" i="1" dirty="0" err="1"/>
              <a:t>e</a:t>
            </a:r>
            <a:r>
              <a:rPr lang="en-US" baseline="-25000" dirty="0" err="1"/>
              <a:t>n</a:t>
            </a:r>
            <a:r>
              <a:rPr lang="en-US" i="1" dirty="0"/>
              <a:t> </a:t>
            </a:r>
            <a:r>
              <a:rPr lang="en-US" dirty="0"/>
              <a:t>is said to participate</a:t>
            </a:r>
            <a:r>
              <a:rPr lang="en-US" b="1" dirty="0"/>
              <a:t> </a:t>
            </a:r>
            <a:r>
              <a:rPr lang="en-US" dirty="0"/>
              <a:t>in relationship instance </a:t>
            </a:r>
            <a:r>
              <a:rPr lang="en-US" i="1" dirty="0" err="1"/>
              <a:t>r</a:t>
            </a:r>
            <a:r>
              <a:rPr lang="en-US" baseline="-25000" dirty="0" err="1"/>
              <a:t>i</a:t>
            </a:r>
            <a:r>
              <a:rPr lang="en-US" i="1" dirty="0"/>
              <a:t> </a:t>
            </a:r>
            <a:r>
              <a:rPr lang="en-US" dirty="0"/>
              <a:t>= (</a:t>
            </a:r>
            <a:r>
              <a:rPr lang="en-US" i="1" dirty="0"/>
              <a:t>e</a:t>
            </a:r>
            <a:r>
              <a:rPr lang="en-US" baseline="-25000" dirty="0"/>
              <a:t>1</a:t>
            </a:r>
            <a:r>
              <a:rPr lang="en-US" dirty="0"/>
              <a:t>, </a:t>
            </a:r>
            <a:r>
              <a:rPr lang="en-US" i="1" dirty="0"/>
              <a:t>e</a:t>
            </a:r>
            <a:r>
              <a:rPr lang="en-US" baseline="-25000" dirty="0"/>
              <a:t>2</a:t>
            </a:r>
            <a:r>
              <a:rPr lang="en-US" dirty="0"/>
              <a:t>, . . . , </a:t>
            </a:r>
            <a:r>
              <a:rPr lang="en-US" i="1" dirty="0" err="1"/>
              <a:t>e</a:t>
            </a:r>
            <a:r>
              <a:rPr lang="en-US" baseline="-25000" dirty="0" err="1"/>
              <a:t>n</a:t>
            </a:r>
            <a:r>
              <a:rPr lang="en-US" dirty="0"/>
              <a:t>)</a:t>
            </a:r>
          </a:p>
        </p:txBody>
      </p:sp>
      <p:sp>
        <p:nvSpPr>
          <p:cNvPr id="4" name="Slide Number Placeholder 3">
            <a:extLst>
              <a:ext uri="{FF2B5EF4-FFF2-40B4-BE49-F238E27FC236}">
                <a16:creationId xmlns:a16="http://schemas.microsoft.com/office/drawing/2014/main" id="{B6B620AB-1466-66C9-CB2C-5AF4669CAEA5}"/>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2723503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E9425-BE5E-AD37-4FC9-4917BB264B65}"/>
              </a:ext>
            </a:extLst>
          </p:cNvPr>
          <p:cNvSpPr>
            <a:spLocks noGrp="1"/>
          </p:cNvSpPr>
          <p:nvPr>
            <p:ph type="title"/>
          </p:nvPr>
        </p:nvSpPr>
        <p:spPr/>
        <p:txBody>
          <a:bodyPr>
            <a:normAutofit/>
          </a:bodyPr>
          <a:lstStyle/>
          <a:p>
            <a:r>
              <a:rPr lang="en-US" dirty="0"/>
              <a:t>instances in WORKS_FOR relationship set</a:t>
            </a:r>
          </a:p>
        </p:txBody>
      </p:sp>
      <p:sp>
        <p:nvSpPr>
          <p:cNvPr id="3" name="Content Placeholder 2">
            <a:extLst>
              <a:ext uri="{FF2B5EF4-FFF2-40B4-BE49-F238E27FC236}">
                <a16:creationId xmlns:a16="http://schemas.microsoft.com/office/drawing/2014/main" id="{F7E1D5FA-F1A0-246E-1C0B-5E1ED3D523C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2C239BE-161C-6804-7254-288874CB42E3}"/>
              </a:ext>
            </a:extLst>
          </p:cNvPr>
          <p:cNvSpPr>
            <a:spLocks noGrp="1"/>
          </p:cNvSpPr>
          <p:nvPr>
            <p:ph type="sldNum" sz="quarter" idx="12"/>
          </p:nvPr>
        </p:nvSpPr>
        <p:spPr/>
        <p:txBody>
          <a:bodyPr/>
          <a:lstStyle/>
          <a:p>
            <a:fld id="{6264BDCF-5269-49AC-A246-ED26C2B980E3}" type="slidenum">
              <a:rPr lang="en-US" smtClean="0"/>
              <a:t>35</a:t>
            </a:fld>
            <a:endParaRPr lang="en-US"/>
          </a:p>
        </p:txBody>
      </p:sp>
      <p:pic>
        <p:nvPicPr>
          <p:cNvPr id="6" name="Picture 5">
            <a:extLst>
              <a:ext uri="{FF2B5EF4-FFF2-40B4-BE49-F238E27FC236}">
                <a16:creationId xmlns:a16="http://schemas.microsoft.com/office/drawing/2014/main" id="{EEE2F6F3-AD37-EE48-8ABD-55564CA6ABAF}"/>
              </a:ext>
            </a:extLst>
          </p:cNvPr>
          <p:cNvPicPr>
            <a:picLocks noChangeAspect="1"/>
          </p:cNvPicPr>
          <p:nvPr/>
        </p:nvPicPr>
        <p:blipFill>
          <a:blip r:embed="rId2"/>
          <a:stretch>
            <a:fillRect/>
          </a:stretch>
        </p:blipFill>
        <p:spPr>
          <a:xfrm>
            <a:off x="2286000" y="1371600"/>
            <a:ext cx="6474513" cy="5340559"/>
          </a:xfrm>
          <a:prstGeom prst="rect">
            <a:avLst/>
          </a:prstGeom>
        </p:spPr>
      </p:pic>
    </p:spTree>
    <p:extLst>
      <p:ext uri="{BB962C8B-B14F-4D97-AF65-F5344CB8AC3E}">
        <p14:creationId xmlns:p14="http://schemas.microsoft.com/office/powerpoint/2010/main" val="1997210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046C-CD55-AF81-0F47-D7F75356FC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DA0313-3003-CCDB-EEDD-ED78F04DF80F}"/>
              </a:ext>
            </a:extLst>
          </p:cNvPr>
          <p:cNvSpPr>
            <a:spLocks noGrp="1"/>
          </p:cNvSpPr>
          <p:nvPr>
            <p:ph idx="1"/>
          </p:nvPr>
        </p:nvSpPr>
        <p:spPr/>
        <p:txBody>
          <a:bodyPr/>
          <a:lstStyle/>
          <a:p>
            <a:r>
              <a:rPr lang="en-US" dirty="0"/>
              <a:t>in ER diagrams, relationship types are displayed as diamond-shaped boxes, which are connected by straight lines to the rectangular boxes representing the participating entity types; relationship name is displayed in the </a:t>
            </a:r>
            <a:r>
              <a:rPr lang="en-US"/>
              <a:t>diamond-shaped box</a:t>
            </a:r>
            <a:endParaRPr lang="en-US" dirty="0"/>
          </a:p>
        </p:txBody>
      </p:sp>
      <p:sp>
        <p:nvSpPr>
          <p:cNvPr id="4" name="Slide Number Placeholder 3">
            <a:extLst>
              <a:ext uri="{FF2B5EF4-FFF2-40B4-BE49-F238E27FC236}">
                <a16:creationId xmlns:a16="http://schemas.microsoft.com/office/drawing/2014/main" id="{A5A40604-FCF9-E789-3A85-9C88AB938CED}"/>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2405503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BEB9-1FCA-3BD6-F23A-23559F3D9034}"/>
              </a:ext>
            </a:extLst>
          </p:cNvPr>
          <p:cNvSpPr>
            <a:spLocks noGrp="1"/>
          </p:cNvSpPr>
          <p:nvPr>
            <p:ph type="title"/>
          </p:nvPr>
        </p:nvSpPr>
        <p:spPr/>
        <p:txBody>
          <a:bodyPr/>
          <a:lstStyle/>
          <a:p>
            <a:r>
              <a:rPr lang="en-US" dirty="0"/>
              <a:t>Degree of a Relationship Type</a:t>
            </a:r>
          </a:p>
        </p:txBody>
      </p:sp>
      <p:sp>
        <p:nvSpPr>
          <p:cNvPr id="3" name="Content Placeholder 2">
            <a:extLst>
              <a:ext uri="{FF2B5EF4-FFF2-40B4-BE49-F238E27FC236}">
                <a16:creationId xmlns:a16="http://schemas.microsoft.com/office/drawing/2014/main" id="{B8243A77-96D3-91D2-68D1-D48B2083A993}"/>
              </a:ext>
            </a:extLst>
          </p:cNvPr>
          <p:cNvSpPr>
            <a:spLocks noGrp="1"/>
          </p:cNvSpPr>
          <p:nvPr>
            <p:ph idx="1"/>
          </p:nvPr>
        </p:nvSpPr>
        <p:spPr/>
        <p:txBody>
          <a:bodyPr>
            <a:normAutofit/>
          </a:bodyPr>
          <a:lstStyle/>
          <a:p>
            <a:r>
              <a:rPr lang="en-US" dirty="0"/>
              <a:t>is the number of participating entity types</a:t>
            </a:r>
          </a:p>
          <a:p>
            <a:r>
              <a:rPr lang="en-US" dirty="0"/>
              <a:t>the WORKS_FOR relationship is of degree two</a:t>
            </a:r>
          </a:p>
          <a:p>
            <a:r>
              <a:rPr lang="en-US" dirty="0"/>
              <a:t>a relationship type of degree two is called </a:t>
            </a:r>
            <a:r>
              <a:rPr lang="en-US" b="1" dirty="0"/>
              <a:t>binary</a:t>
            </a:r>
            <a:r>
              <a:rPr lang="en-US" dirty="0"/>
              <a:t>, and one of degree three is called ternary; example of a ternary relationship is SUPPLY where each relationship instance </a:t>
            </a:r>
            <a:r>
              <a:rPr lang="en-US" i="1" dirty="0" err="1"/>
              <a:t>r</a:t>
            </a:r>
            <a:r>
              <a:rPr lang="en-US" i="1" baseline="-25000" dirty="0" err="1"/>
              <a:t>i</a:t>
            </a:r>
            <a:r>
              <a:rPr lang="en-US" i="1" dirty="0"/>
              <a:t> </a:t>
            </a:r>
            <a:r>
              <a:rPr lang="en-US" dirty="0"/>
              <a:t>associates three entities: a supplier </a:t>
            </a:r>
            <a:r>
              <a:rPr lang="en-US" i="1" dirty="0"/>
              <a:t>s</a:t>
            </a:r>
            <a:r>
              <a:rPr lang="en-US" dirty="0"/>
              <a:t>, a part </a:t>
            </a:r>
            <a:r>
              <a:rPr lang="en-US" i="1" dirty="0"/>
              <a:t>p</a:t>
            </a:r>
            <a:r>
              <a:rPr lang="en-US" dirty="0"/>
              <a:t>, and a project </a:t>
            </a:r>
            <a:r>
              <a:rPr lang="en-US" i="1" dirty="0"/>
              <a:t>j </a:t>
            </a:r>
            <a:r>
              <a:rPr lang="en-US" dirty="0"/>
              <a:t>whenever </a:t>
            </a:r>
            <a:r>
              <a:rPr lang="en-US" i="1" dirty="0"/>
              <a:t>s </a:t>
            </a:r>
            <a:r>
              <a:rPr lang="en-US" dirty="0"/>
              <a:t>supplies part </a:t>
            </a:r>
            <a:r>
              <a:rPr lang="en-US" i="1" dirty="0"/>
              <a:t>p </a:t>
            </a:r>
            <a:r>
              <a:rPr lang="en-US" dirty="0"/>
              <a:t>to project </a:t>
            </a:r>
            <a:r>
              <a:rPr lang="en-US" i="1" dirty="0"/>
              <a:t>j</a:t>
            </a:r>
          </a:p>
          <a:p>
            <a:r>
              <a:rPr lang="en-US" dirty="0"/>
              <a:t>relationship can be of any degree - most common are binary relationships</a:t>
            </a:r>
          </a:p>
        </p:txBody>
      </p:sp>
      <p:sp>
        <p:nvSpPr>
          <p:cNvPr id="4" name="Slide Number Placeholder 3">
            <a:extLst>
              <a:ext uri="{FF2B5EF4-FFF2-40B4-BE49-F238E27FC236}">
                <a16:creationId xmlns:a16="http://schemas.microsoft.com/office/drawing/2014/main" id="{9B8AB06D-103D-90A0-3D6B-CE6AF8E025FA}"/>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3843253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338F9-004C-CF62-19BC-9DD83C1C3F2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9541701-9D0D-1A4E-1810-9C1C3C7A2723}"/>
              </a:ext>
            </a:extLst>
          </p:cNvPr>
          <p:cNvPicPr>
            <a:picLocks noGrp="1" noChangeAspect="1"/>
          </p:cNvPicPr>
          <p:nvPr>
            <p:ph idx="1"/>
          </p:nvPr>
        </p:nvPicPr>
        <p:blipFill>
          <a:blip r:embed="rId2"/>
          <a:stretch>
            <a:fillRect/>
          </a:stretch>
        </p:blipFill>
        <p:spPr>
          <a:xfrm>
            <a:off x="2194560" y="182880"/>
            <a:ext cx="7229264" cy="6583794"/>
          </a:xfrm>
          <a:prstGeom prst="rect">
            <a:avLst/>
          </a:prstGeom>
        </p:spPr>
      </p:pic>
      <p:sp>
        <p:nvSpPr>
          <p:cNvPr id="4" name="Slide Number Placeholder 3">
            <a:extLst>
              <a:ext uri="{FF2B5EF4-FFF2-40B4-BE49-F238E27FC236}">
                <a16:creationId xmlns:a16="http://schemas.microsoft.com/office/drawing/2014/main" id="{6445EC39-A0E7-2DDE-9957-8FFE83A1E048}"/>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1746641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B0C12-D4A0-356A-6B87-6A8D7831698C}"/>
              </a:ext>
            </a:extLst>
          </p:cNvPr>
          <p:cNvSpPr>
            <a:spLocks noGrp="1"/>
          </p:cNvSpPr>
          <p:nvPr>
            <p:ph type="title"/>
          </p:nvPr>
        </p:nvSpPr>
        <p:spPr/>
        <p:txBody>
          <a:bodyPr/>
          <a:lstStyle/>
          <a:p>
            <a:r>
              <a:rPr lang="en-US" dirty="0"/>
              <a:t>Relationships as Attributes</a:t>
            </a:r>
          </a:p>
        </p:txBody>
      </p:sp>
      <p:sp>
        <p:nvSpPr>
          <p:cNvPr id="3" name="Content Placeholder 2">
            <a:extLst>
              <a:ext uri="{FF2B5EF4-FFF2-40B4-BE49-F238E27FC236}">
                <a16:creationId xmlns:a16="http://schemas.microsoft.com/office/drawing/2014/main" id="{E31EFC80-5100-03CC-B7D7-420F73D10504}"/>
              </a:ext>
            </a:extLst>
          </p:cNvPr>
          <p:cNvSpPr>
            <a:spLocks noGrp="1"/>
          </p:cNvSpPr>
          <p:nvPr>
            <p:ph idx="1"/>
          </p:nvPr>
        </p:nvSpPr>
        <p:spPr/>
        <p:txBody>
          <a:bodyPr>
            <a:noAutofit/>
          </a:bodyPr>
          <a:lstStyle/>
          <a:p>
            <a:r>
              <a:rPr lang="en-US" dirty="0"/>
              <a:t>sometimes convenient to think of a binary relationship type in terms of attributes</a:t>
            </a:r>
          </a:p>
          <a:p>
            <a:r>
              <a:rPr lang="en-US" dirty="0"/>
              <a:t>consider the WORKS_FOR relationship type; can think of attribute called Department of EMPLOYEE entity type, where the value of Department for each EMPLOYEE entity is (a reference to) the DEPARTMENT entity for which that employee works</a:t>
            </a:r>
          </a:p>
        </p:txBody>
      </p:sp>
      <p:sp>
        <p:nvSpPr>
          <p:cNvPr id="4" name="Slide Number Placeholder 3">
            <a:extLst>
              <a:ext uri="{FF2B5EF4-FFF2-40B4-BE49-F238E27FC236}">
                <a16:creationId xmlns:a16="http://schemas.microsoft.com/office/drawing/2014/main" id="{C9837CE5-13C1-AE79-9081-1935CABBF408}"/>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1607965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AEB04-C46D-83BF-FAE1-F4174A1B6C89}"/>
              </a:ext>
            </a:extLst>
          </p:cNvPr>
          <p:cNvSpPr>
            <a:spLocks noGrp="1"/>
          </p:cNvSpPr>
          <p:nvPr>
            <p:ph type="title"/>
          </p:nvPr>
        </p:nvSpPr>
        <p:spPr/>
        <p:txBody>
          <a:bodyPr/>
          <a:lstStyle/>
          <a:p>
            <a:r>
              <a:rPr lang="en-US" dirty="0"/>
              <a:t>Relationships as Attributes</a:t>
            </a:r>
          </a:p>
        </p:txBody>
      </p:sp>
      <p:sp>
        <p:nvSpPr>
          <p:cNvPr id="3" name="Content Placeholder 2">
            <a:extLst>
              <a:ext uri="{FF2B5EF4-FFF2-40B4-BE49-F238E27FC236}">
                <a16:creationId xmlns:a16="http://schemas.microsoft.com/office/drawing/2014/main" id="{781EA2EC-7FB2-1BD8-7BD7-362BDACC432C}"/>
              </a:ext>
            </a:extLst>
          </p:cNvPr>
          <p:cNvSpPr>
            <a:spLocks noGrp="1"/>
          </p:cNvSpPr>
          <p:nvPr>
            <p:ph idx="1"/>
          </p:nvPr>
        </p:nvSpPr>
        <p:spPr/>
        <p:txBody>
          <a:bodyPr>
            <a:normAutofit/>
          </a:bodyPr>
          <a:lstStyle/>
          <a:p>
            <a:r>
              <a:rPr lang="en-US" dirty="0"/>
              <a:t>when we think of a binary relationship as attribute, we always have two options or two points of view</a:t>
            </a:r>
          </a:p>
          <a:p>
            <a:r>
              <a:rPr lang="en-US" dirty="0"/>
              <a:t>alternative point of view is to think of multivalued attribute Employees of entity type DEPARTMENT whose value for each DEPARTMENT entity is the set of EMPLOYEE entities who work for that department</a:t>
            </a:r>
          </a:p>
          <a:p>
            <a:endParaRPr lang="en-US" dirty="0"/>
          </a:p>
        </p:txBody>
      </p:sp>
      <p:sp>
        <p:nvSpPr>
          <p:cNvPr id="4" name="Slide Number Placeholder 3">
            <a:extLst>
              <a:ext uri="{FF2B5EF4-FFF2-40B4-BE49-F238E27FC236}">
                <a16:creationId xmlns:a16="http://schemas.microsoft.com/office/drawing/2014/main" id="{5BAA81F2-810D-24FD-E850-49627C425BA0}"/>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32243414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5EBD-9118-D723-F8D5-6A8C69595167}"/>
              </a:ext>
            </a:extLst>
          </p:cNvPr>
          <p:cNvSpPr>
            <a:spLocks noGrp="1"/>
          </p:cNvSpPr>
          <p:nvPr>
            <p:ph type="title"/>
          </p:nvPr>
        </p:nvSpPr>
        <p:spPr/>
        <p:txBody>
          <a:bodyPr/>
          <a:lstStyle/>
          <a:p>
            <a:r>
              <a:rPr lang="en-US" dirty="0"/>
              <a:t>Relationships as Attributes</a:t>
            </a:r>
          </a:p>
        </p:txBody>
      </p:sp>
      <p:sp>
        <p:nvSpPr>
          <p:cNvPr id="3" name="Content Placeholder 2">
            <a:extLst>
              <a:ext uri="{FF2B5EF4-FFF2-40B4-BE49-F238E27FC236}">
                <a16:creationId xmlns:a16="http://schemas.microsoft.com/office/drawing/2014/main" id="{E80C9F89-07DB-6EE5-7D8C-AEB85A68F0D9}"/>
              </a:ext>
            </a:extLst>
          </p:cNvPr>
          <p:cNvSpPr>
            <a:spLocks noGrp="1"/>
          </p:cNvSpPr>
          <p:nvPr>
            <p:ph idx="1"/>
          </p:nvPr>
        </p:nvSpPr>
        <p:spPr>
          <a:xfrm>
            <a:off x="838199" y="1825625"/>
            <a:ext cx="10724535" cy="4351338"/>
          </a:xfrm>
        </p:spPr>
        <p:txBody>
          <a:bodyPr/>
          <a:lstStyle/>
          <a:p>
            <a:r>
              <a:rPr lang="en-US" dirty="0"/>
              <a:t>either of these two attributes: Department of EMPLOYEE or Employees of DEPARTMENT can represent the WORKS_FOR relationship type</a:t>
            </a:r>
          </a:p>
          <a:p>
            <a:r>
              <a:rPr lang="en-US" dirty="0"/>
              <a:t>if both are represented, they are constrained to be inverses of each other</a:t>
            </a:r>
          </a:p>
          <a:p>
            <a:endParaRPr lang="en-US" dirty="0"/>
          </a:p>
          <a:p>
            <a:endParaRPr lang="en-US" dirty="0"/>
          </a:p>
        </p:txBody>
      </p:sp>
      <p:sp>
        <p:nvSpPr>
          <p:cNvPr id="4" name="Slide Number Placeholder 3">
            <a:extLst>
              <a:ext uri="{FF2B5EF4-FFF2-40B4-BE49-F238E27FC236}">
                <a16:creationId xmlns:a16="http://schemas.microsoft.com/office/drawing/2014/main" id="{355FA9BF-464F-C5BC-CFF6-A7319B20082F}"/>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2497842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F4660-0673-D276-7478-09C0933F9678}"/>
              </a:ext>
            </a:extLst>
          </p:cNvPr>
          <p:cNvSpPr>
            <a:spLocks noGrp="1"/>
          </p:cNvSpPr>
          <p:nvPr>
            <p:ph type="title"/>
          </p:nvPr>
        </p:nvSpPr>
        <p:spPr/>
        <p:txBody>
          <a:bodyPr/>
          <a:lstStyle/>
          <a:p>
            <a:r>
              <a:rPr lang="en-US" dirty="0"/>
              <a:t>Role Names</a:t>
            </a:r>
          </a:p>
        </p:txBody>
      </p:sp>
      <p:sp>
        <p:nvSpPr>
          <p:cNvPr id="3" name="Content Placeholder 2">
            <a:extLst>
              <a:ext uri="{FF2B5EF4-FFF2-40B4-BE49-F238E27FC236}">
                <a16:creationId xmlns:a16="http://schemas.microsoft.com/office/drawing/2014/main" id="{065B9368-E1B5-DE44-BE84-B22EDB4AEDF5}"/>
              </a:ext>
            </a:extLst>
          </p:cNvPr>
          <p:cNvSpPr>
            <a:spLocks noGrp="1"/>
          </p:cNvSpPr>
          <p:nvPr>
            <p:ph idx="1"/>
          </p:nvPr>
        </p:nvSpPr>
        <p:spPr/>
        <p:txBody>
          <a:bodyPr>
            <a:normAutofit/>
          </a:bodyPr>
          <a:lstStyle/>
          <a:p>
            <a:r>
              <a:rPr lang="en-US" dirty="0"/>
              <a:t>each entity type that participates in a relationship type plays a particular role in the relationship</a:t>
            </a:r>
          </a:p>
          <a:p>
            <a:r>
              <a:rPr lang="en-US" dirty="0"/>
              <a:t>role name</a:t>
            </a:r>
            <a:r>
              <a:rPr lang="en-US" b="1" dirty="0"/>
              <a:t> </a:t>
            </a:r>
            <a:r>
              <a:rPr lang="en-US" dirty="0"/>
              <a:t>signifies role that participating entity from entity type plays in each relationship instance, and it helps to explain what the relationship means</a:t>
            </a:r>
          </a:p>
          <a:p>
            <a:r>
              <a:rPr lang="en-US" dirty="0"/>
              <a:t>for example, in WORKS_FOR relationship type, EMPLOYEE plays the role of </a:t>
            </a:r>
            <a:r>
              <a:rPr lang="en-US" i="1" dirty="0"/>
              <a:t>employee </a:t>
            </a:r>
            <a:r>
              <a:rPr lang="en-US" dirty="0"/>
              <a:t>or </a:t>
            </a:r>
            <a:r>
              <a:rPr lang="en-US" i="1" dirty="0"/>
              <a:t>worker </a:t>
            </a:r>
            <a:r>
              <a:rPr lang="en-US" dirty="0"/>
              <a:t>and DEPARTMENT plays the role of </a:t>
            </a:r>
            <a:r>
              <a:rPr lang="en-US" i="1" dirty="0"/>
              <a:t>department </a:t>
            </a:r>
            <a:r>
              <a:rPr lang="en-US" dirty="0"/>
              <a:t>or </a:t>
            </a:r>
            <a:r>
              <a:rPr lang="en-US" i="1" dirty="0"/>
              <a:t>employer</a:t>
            </a:r>
            <a:endParaRPr lang="en-US" dirty="0"/>
          </a:p>
        </p:txBody>
      </p:sp>
      <p:sp>
        <p:nvSpPr>
          <p:cNvPr id="4" name="Slide Number Placeholder 3">
            <a:extLst>
              <a:ext uri="{FF2B5EF4-FFF2-40B4-BE49-F238E27FC236}">
                <a16:creationId xmlns:a16="http://schemas.microsoft.com/office/drawing/2014/main" id="{103F4EF4-3FEF-72F2-7081-A3102159AD7B}"/>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2052156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D8FE-878B-2434-DE4D-AB58619322A4}"/>
              </a:ext>
            </a:extLst>
          </p:cNvPr>
          <p:cNvSpPr>
            <a:spLocks noGrp="1"/>
          </p:cNvSpPr>
          <p:nvPr>
            <p:ph type="title"/>
          </p:nvPr>
        </p:nvSpPr>
        <p:spPr/>
        <p:txBody>
          <a:bodyPr/>
          <a:lstStyle/>
          <a:p>
            <a:r>
              <a:rPr lang="en-US" dirty="0"/>
              <a:t>Recursive Relationship</a:t>
            </a:r>
          </a:p>
        </p:txBody>
      </p:sp>
      <p:sp>
        <p:nvSpPr>
          <p:cNvPr id="3" name="Content Placeholder 2">
            <a:extLst>
              <a:ext uri="{FF2B5EF4-FFF2-40B4-BE49-F238E27FC236}">
                <a16:creationId xmlns:a16="http://schemas.microsoft.com/office/drawing/2014/main" id="{7F0F3EE6-2EA5-9A65-C9A1-29BB2ADF4E57}"/>
              </a:ext>
            </a:extLst>
          </p:cNvPr>
          <p:cNvSpPr>
            <a:spLocks noGrp="1"/>
          </p:cNvSpPr>
          <p:nvPr>
            <p:ph idx="1"/>
          </p:nvPr>
        </p:nvSpPr>
        <p:spPr/>
        <p:txBody>
          <a:bodyPr>
            <a:normAutofit/>
          </a:bodyPr>
          <a:lstStyle/>
          <a:p>
            <a:r>
              <a:rPr lang="en-US" dirty="0"/>
              <a:t>role names are not technically necessary in relationship types where all participating entity types are distinct, since each participating entity type name can be used as the role name</a:t>
            </a:r>
          </a:p>
          <a:p>
            <a:r>
              <a:rPr lang="en-US" dirty="0"/>
              <a:t>in some cases, </a:t>
            </a:r>
            <a:r>
              <a:rPr lang="en-US" i="1" dirty="0"/>
              <a:t>same </a:t>
            </a:r>
            <a:r>
              <a:rPr lang="en-US" dirty="0"/>
              <a:t>entity type participates more than once in a relationship type in </a:t>
            </a:r>
            <a:r>
              <a:rPr lang="en-US" i="1" dirty="0"/>
              <a:t>different roles</a:t>
            </a:r>
            <a:r>
              <a:rPr lang="en-US" dirty="0"/>
              <a:t>;</a:t>
            </a:r>
            <a:r>
              <a:rPr lang="en-US" i="1" dirty="0"/>
              <a:t> </a:t>
            </a:r>
            <a:r>
              <a:rPr lang="en-US" dirty="0"/>
              <a:t>in such cases role name becomes essential for distinguishing meaning of the role that each participating entity plays</a:t>
            </a:r>
          </a:p>
          <a:p>
            <a:r>
              <a:rPr lang="en-US" dirty="0"/>
              <a:t>such relationship types are called </a:t>
            </a:r>
            <a:r>
              <a:rPr lang="en-US" b="1" dirty="0"/>
              <a:t>recursive relationships </a:t>
            </a:r>
            <a:r>
              <a:rPr lang="en-US" dirty="0"/>
              <a:t>or </a:t>
            </a:r>
            <a:r>
              <a:rPr lang="en-US" b="1" dirty="0"/>
              <a:t>self-referencing relationships</a:t>
            </a:r>
            <a:endParaRPr lang="en-US" dirty="0"/>
          </a:p>
        </p:txBody>
      </p:sp>
      <p:sp>
        <p:nvSpPr>
          <p:cNvPr id="4" name="Slide Number Placeholder 3">
            <a:extLst>
              <a:ext uri="{FF2B5EF4-FFF2-40B4-BE49-F238E27FC236}">
                <a16:creationId xmlns:a16="http://schemas.microsoft.com/office/drawing/2014/main" id="{35CC8050-22B5-11CB-011E-9F9EEC2479C6}"/>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238298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3B875-680A-C2D2-CEB8-CE978E67FCE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47A7398-C1D0-E26D-F2F7-D2877988DDA4}"/>
              </a:ext>
            </a:extLst>
          </p:cNvPr>
          <p:cNvPicPr>
            <a:picLocks noGrp="1" noChangeAspect="1"/>
          </p:cNvPicPr>
          <p:nvPr>
            <p:ph idx="1"/>
          </p:nvPr>
        </p:nvPicPr>
        <p:blipFill>
          <a:blip r:embed="rId2"/>
          <a:stretch>
            <a:fillRect/>
          </a:stretch>
        </p:blipFill>
        <p:spPr>
          <a:xfrm>
            <a:off x="1828800" y="182880"/>
            <a:ext cx="8262016" cy="6629899"/>
          </a:xfrm>
          <a:prstGeom prst="rect">
            <a:avLst/>
          </a:prstGeom>
        </p:spPr>
      </p:pic>
      <p:sp>
        <p:nvSpPr>
          <p:cNvPr id="4" name="Slide Number Placeholder 3">
            <a:extLst>
              <a:ext uri="{FF2B5EF4-FFF2-40B4-BE49-F238E27FC236}">
                <a16:creationId xmlns:a16="http://schemas.microsoft.com/office/drawing/2014/main" id="{E419A918-A1A4-B839-9F0F-B831C9226050}"/>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450509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C381-42B5-6FA2-86EB-01BEB639F9B4}"/>
              </a:ext>
            </a:extLst>
          </p:cNvPr>
          <p:cNvSpPr>
            <a:spLocks noGrp="1"/>
          </p:cNvSpPr>
          <p:nvPr>
            <p:ph type="title"/>
          </p:nvPr>
        </p:nvSpPr>
        <p:spPr/>
        <p:txBody>
          <a:bodyPr/>
          <a:lstStyle/>
          <a:p>
            <a:r>
              <a:rPr lang="en-US" dirty="0"/>
              <a:t>Recursive Relationship</a:t>
            </a:r>
          </a:p>
        </p:txBody>
      </p:sp>
      <p:sp>
        <p:nvSpPr>
          <p:cNvPr id="3" name="Content Placeholder 2">
            <a:extLst>
              <a:ext uri="{FF2B5EF4-FFF2-40B4-BE49-F238E27FC236}">
                <a16:creationId xmlns:a16="http://schemas.microsoft.com/office/drawing/2014/main" id="{173D3AC8-2712-3B11-BEFC-A8B1BCD9D8CF}"/>
              </a:ext>
            </a:extLst>
          </p:cNvPr>
          <p:cNvSpPr>
            <a:spLocks noGrp="1"/>
          </p:cNvSpPr>
          <p:nvPr>
            <p:ph idx="1"/>
          </p:nvPr>
        </p:nvSpPr>
        <p:spPr/>
        <p:txBody>
          <a:bodyPr>
            <a:normAutofit/>
          </a:bodyPr>
          <a:lstStyle/>
          <a:p>
            <a:r>
              <a:rPr lang="en-US" dirty="0"/>
              <a:t>SUPERVISION relationship type relates employee to supervisor, where both employee and supervisor entities are members of same EMPLOYEE entity set; EMPLOYEE entity type participates twice</a:t>
            </a:r>
            <a:r>
              <a:rPr lang="en-US" i="1" dirty="0"/>
              <a:t> </a:t>
            </a:r>
            <a:r>
              <a:rPr lang="en-US" dirty="0"/>
              <a:t>in SUPERVISION: once in the role of supervisor (or boss or master), and once in the role of supervisee (or subordinate or slave)</a:t>
            </a:r>
          </a:p>
          <a:p>
            <a:r>
              <a:rPr lang="en-US" dirty="0"/>
              <a:t>each relationship instance </a:t>
            </a:r>
            <a:r>
              <a:rPr lang="en-US" dirty="0" err="1"/>
              <a:t>r</a:t>
            </a:r>
            <a:r>
              <a:rPr lang="en-US" baseline="-25000" dirty="0" err="1"/>
              <a:t>i</a:t>
            </a:r>
            <a:r>
              <a:rPr lang="en-US" dirty="0"/>
              <a:t> in SUPERVISION associates two different employee entities </a:t>
            </a:r>
            <a:r>
              <a:rPr lang="en-US" dirty="0" err="1"/>
              <a:t>e</a:t>
            </a:r>
            <a:r>
              <a:rPr lang="en-US" baseline="-25000" dirty="0" err="1"/>
              <a:t>j</a:t>
            </a:r>
            <a:r>
              <a:rPr lang="en-US" dirty="0"/>
              <a:t> and e</a:t>
            </a:r>
            <a:r>
              <a:rPr lang="en-US" baseline="-25000" dirty="0"/>
              <a:t>k</a:t>
            </a:r>
            <a:r>
              <a:rPr lang="en-US" dirty="0"/>
              <a:t>, one of which plays the role of supervisor and the other the role of supervisee</a:t>
            </a:r>
          </a:p>
          <a:p>
            <a:r>
              <a:rPr lang="en-US" dirty="0"/>
              <a:t>in figure lines marked ‘1’ represent supervisor role, and those marked ‘2’ represent the supervisee role</a:t>
            </a:r>
          </a:p>
        </p:txBody>
      </p:sp>
      <p:sp>
        <p:nvSpPr>
          <p:cNvPr id="4" name="Slide Number Placeholder 3">
            <a:extLst>
              <a:ext uri="{FF2B5EF4-FFF2-40B4-BE49-F238E27FC236}">
                <a16:creationId xmlns:a16="http://schemas.microsoft.com/office/drawing/2014/main" id="{A3519271-AF28-ED3D-9AF7-275C64588CCE}"/>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1470383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4293-B843-F832-60DB-5D9CEF634378}"/>
              </a:ext>
            </a:extLst>
          </p:cNvPr>
          <p:cNvSpPr>
            <a:spLocks noGrp="1"/>
          </p:cNvSpPr>
          <p:nvPr>
            <p:ph type="title"/>
          </p:nvPr>
        </p:nvSpPr>
        <p:spPr/>
        <p:txBody>
          <a:bodyPr/>
          <a:lstStyle/>
          <a:p>
            <a:r>
              <a:rPr lang="en-US" dirty="0"/>
              <a:t>Constraints on Binary Relationship Types</a:t>
            </a:r>
          </a:p>
        </p:txBody>
      </p:sp>
      <p:sp>
        <p:nvSpPr>
          <p:cNvPr id="3" name="Content Placeholder 2">
            <a:extLst>
              <a:ext uri="{FF2B5EF4-FFF2-40B4-BE49-F238E27FC236}">
                <a16:creationId xmlns:a16="http://schemas.microsoft.com/office/drawing/2014/main" id="{9E6FBA18-BBF3-1384-3D19-88207259421E}"/>
              </a:ext>
            </a:extLst>
          </p:cNvPr>
          <p:cNvSpPr>
            <a:spLocks noGrp="1"/>
          </p:cNvSpPr>
          <p:nvPr>
            <p:ph idx="1"/>
          </p:nvPr>
        </p:nvSpPr>
        <p:spPr/>
        <p:txBody>
          <a:bodyPr>
            <a:normAutofit/>
          </a:bodyPr>
          <a:lstStyle/>
          <a:p>
            <a:r>
              <a:rPr lang="en-US" dirty="0"/>
              <a:t>that limit possible combinations of entities that may participate in corresponding relationship set</a:t>
            </a:r>
          </a:p>
          <a:p>
            <a:r>
              <a:rPr lang="en-US" dirty="0"/>
              <a:t>constraints are determined from the </a:t>
            </a:r>
            <a:r>
              <a:rPr lang="en-US" dirty="0" err="1"/>
              <a:t>miniworld</a:t>
            </a:r>
            <a:endParaRPr lang="en-US" dirty="0"/>
          </a:p>
          <a:p>
            <a:r>
              <a:rPr lang="en-US" dirty="0"/>
              <a:t>for example, if the company has a rule that each employee must work for exactly one department</a:t>
            </a:r>
          </a:p>
          <a:p>
            <a:r>
              <a:rPr lang="en-US" dirty="0"/>
              <a:t>can distinguish two main types of binary relationship constraints: cardinality ratio and participation; taken together, as the structural constraints</a:t>
            </a:r>
            <a:r>
              <a:rPr lang="en-US" b="1" dirty="0"/>
              <a:t> </a:t>
            </a:r>
            <a:r>
              <a:rPr lang="en-US" dirty="0"/>
              <a:t>of a relationship type</a:t>
            </a:r>
          </a:p>
          <a:p>
            <a:endParaRPr lang="en-US" dirty="0"/>
          </a:p>
        </p:txBody>
      </p:sp>
      <p:sp>
        <p:nvSpPr>
          <p:cNvPr id="4" name="Slide Number Placeholder 3">
            <a:extLst>
              <a:ext uri="{FF2B5EF4-FFF2-40B4-BE49-F238E27FC236}">
                <a16:creationId xmlns:a16="http://schemas.microsoft.com/office/drawing/2014/main" id="{500CDD4D-F7A6-EBB2-961B-1764679B3681}"/>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8647518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99C0-AC79-9B96-44F1-E9871AB8905E}"/>
              </a:ext>
            </a:extLst>
          </p:cNvPr>
          <p:cNvSpPr>
            <a:spLocks noGrp="1"/>
          </p:cNvSpPr>
          <p:nvPr>
            <p:ph type="title"/>
          </p:nvPr>
        </p:nvSpPr>
        <p:spPr/>
        <p:txBody>
          <a:bodyPr/>
          <a:lstStyle/>
          <a:p>
            <a:r>
              <a:rPr lang="en-US" dirty="0"/>
              <a:t>Cardinality Ratios</a:t>
            </a:r>
          </a:p>
        </p:txBody>
      </p:sp>
      <p:sp>
        <p:nvSpPr>
          <p:cNvPr id="3" name="Content Placeholder 2">
            <a:extLst>
              <a:ext uri="{FF2B5EF4-FFF2-40B4-BE49-F238E27FC236}">
                <a16:creationId xmlns:a16="http://schemas.microsoft.com/office/drawing/2014/main" id="{BA656AF4-C3A9-3119-F948-27CE2A7DA2DD}"/>
              </a:ext>
            </a:extLst>
          </p:cNvPr>
          <p:cNvSpPr>
            <a:spLocks noGrp="1"/>
          </p:cNvSpPr>
          <p:nvPr>
            <p:ph idx="1"/>
          </p:nvPr>
        </p:nvSpPr>
        <p:spPr/>
        <p:txBody>
          <a:bodyPr>
            <a:normAutofit/>
          </a:bodyPr>
          <a:lstStyle/>
          <a:p>
            <a:r>
              <a:rPr lang="en-US" dirty="0"/>
              <a:t>specifies the maximum number of relationship instances that an entity can participate in</a:t>
            </a:r>
          </a:p>
          <a:p>
            <a:r>
              <a:rPr lang="en-US" dirty="0"/>
              <a:t>for example, in WORKS_FOR binary relationship type, DEPARTMENT:EMPLOYEE is of cardinality ratio 1:N, meaning that each department can be related to (that is, employs) any number of employees (N), but an employee can be related to (work for) at most one department (1)</a:t>
            </a:r>
          </a:p>
          <a:p>
            <a:r>
              <a:rPr lang="en-US" dirty="0"/>
              <a:t>possible cardinality ratios for binary relationship types are 1:1, 1:N, N:1, and M:N</a:t>
            </a:r>
          </a:p>
        </p:txBody>
      </p:sp>
      <p:sp>
        <p:nvSpPr>
          <p:cNvPr id="4" name="Slide Number Placeholder 3">
            <a:extLst>
              <a:ext uri="{FF2B5EF4-FFF2-40B4-BE49-F238E27FC236}">
                <a16:creationId xmlns:a16="http://schemas.microsoft.com/office/drawing/2014/main" id="{462C941B-7FC0-06FB-435E-76C0FB3B6A76}"/>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14182256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F291-7769-EDF4-5B3E-844D6613BA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763C55-60CF-6A7C-7CEE-EC8524E30B12}"/>
              </a:ext>
            </a:extLst>
          </p:cNvPr>
          <p:cNvSpPr>
            <a:spLocks noGrp="1"/>
          </p:cNvSpPr>
          <p:nvPr>
            <p:ph idx="1"/>
          </p:nvPr>
        </p:nvSpPr>
        <p:spPr/>
        <p:txBody>
          <a:bodyPr>
            <a:normAutofit/>
          </a:bodyPr>
          <a:lstStyle/>
          <a:p>
            <a:r>
              <a:rPr lang="en-US" dirty="0"/>
              <a:t>example of a 1:1 binary relationship is MANAGES which relates a department entity to employee who manages that department</a:t>
            </a:r>
          </a:p>
          <a:p>
            <a:r>
              <a:rPr lang="en-US" dirty="0"/>
              <a:t>represents the </a:t>
            </a:r>
            <a:r>
              <a:rPr lang="en-US" dirty="0" err="1"/>
              <a:t>miniworld</a:t>
            </a:r>
            <a:r>
              <a:rPr lang="en-US" dirty="0"/>
              <a:t> constraints that an employee can manage at most one department, and a department can have at most one manager</a:t>
            </a:r>
          </a:p>
          <a:p>
            <a:r>
              <a:rPr lang="en-US" dirty="0"/>
              <a:t>relationship type WORKS_ON is of cardinality ratio M:N, because the </a:t>
            </a:r>
            <a:r>
              <a:rPr lang="en-US" dirty="0" err="1"/>
              <a:t>miniworld</a:t>
            </a:r>
            <a:r>
              <a:rPr lang="en-US" dirty="0"/>
              <a:t> rule is that an employee can work on several projects and a project can have several employees</a:t>
            </a:r>
          </a:p>
        </p:txBody>
      </p:sp>
      <p:sp>
        <p:nvSpPr>
          <p:cNvPr id="4" name="Slide Number Placeholder 3">
            <a:extLst>
              <a:ext uri="{FF2B5EF4-FFF2-40B4-BE49-F238E27FC236}">
                <a16:creationId xmlns:a16="http://schemas.microsoft.com/office/drawing/2014/main" id="{E8114DDE-9BB7-8719-3BD2-62A808797591}"/>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2483769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397B-E6EF-88A2-2F04-175B588EA6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C31393-E8F7-185B-499D-189A19E36DF3}"/>
              </a:ext>
            </a:extLst>
          </p:cNvPr>
          <p:cNvSpPr>
            <a:spLocks noGrp="1"/>
          </p:cNvSpPr>
          <p:nvPr>
            <p:ph idx="1"/>
          </p:nvPr>
        </p:nvSpPr>
        <p:spPr/>
        <p:txBody>
          <a:bodyPr/>
          <a:lstStyle/>
          <a:p>
            <a:r>
              <a:rPr lang="en-US" dirty="0"/>
              <a:t>cardinality ratios for binary relationships are represented on ER diagrams by displaying 1, M, and N on the diamonds</a:t>
            </a:r>
          </a:p>
          <a:p>
            <a:r>
              <a:rPr lang="en-US" dirty="0"/>
              <a:t>can either specify no maximum (N) or a maximum of one (1) </a:t>
            </a:r>
          </a:p>
          <a:p>
            <a:r>
              <a:rPr lang="en-US" dirty="0"/>
              <a:t>alternative notation allows the designer to specify a specific maximum number</a:t>
            </a:r>
            <a:r>
              <a:rPr lang="en-US" i="1" dirty="0"/>
              <a:t> </a:t>
            </a:r>
            <a:r>
              <a:rPr lang="en-US" dirty="0"/>
              <a:t>on participation</a:t>
            </a:r>
          </a:p>
        </p:txBody>
      </p:sp>
      <p:sp>
        <p:nvSpPr>
          <p:cNvPr id="4" name="Slide Number Placeholder 3">
            <a:extLst>
              <a:ext uri="{FF2B5EF4-FFF2-40B4-BE49-F238E27FC236}">
                <a16:creationId xmlns:a16="http://schemas.microsoft.com/office/drawing/2014/main" id="{9C96E865-A6FE-7ABF-14D3-6F0059631192}"/>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2846127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E5E2B-2DAD-E00C-1B26-3CC63EBC45B9}"/>
              </a:ext>
            </a:extLst>
          </p:cNvPr>
          <p:cNvSpPr>
            <a:spLocks noGrp="1"/>
          </p:cNvSpPr>
          <p:nvPr>
            <p:ph type="title"/>
          </p:nvPr>
        </p:nvSpPr>
        <p:spPr/>
        <p:txBody>
          <a:bodyPr/>
          <a:lstStyle/>
          <a:p>
            <a:r>
              <a:rPr lang="en-US" dirty="0"/>
              <a:t>Participation Constraints and </a:t>
            </a:r>
            <a:br>
              <a:rPr lang="en-US" dirty="0"/>
            </a:br>
            <a:r>
              <a:rPr lang="en-US" dirty="0"/>
              <a:t>Existence Dependencies</a:t>
            </a:r>
          </a:p>
        </p:txBody>
      </p:sp>
      <p:sp>
        <p:nvSpPr>
          <p:cNvPr id="3" name="Content Placeholder 2">
            <a:extLst>
              <a:ext uri="{FF2B5EF4-FFF2-40B4-BE49-F238E27FC236}">
                <a16:creationId xmlns:a16="http://schemas.microsoft.com/office/drawing/2014/main" id="{CFD57C30-5DE3-DA5B-D9B1-117E677F9286}"/>
              </a:ext>
            </a:extLst>
          </p:cNvPr>
          <p:cNvSpPr>
            <a:spLocks noGrp="1"/>
          </p:cNvSpPr>
          <p:nvPr>
            <p:ph idx="1"/>
          </p:nvPr>
        </p:nvSpPr>
        <p:spPr/>
        <p:txBody>
          <a:bodyPr>
            <a:noAutofit/>
          </a:bodyPr>
          <a:lstStyle/>
          <a:p>
            <a:r>
              <a:rPr lang="en-US" b="1" dirty="0"/>
              <a:t>participation constraint </a:t>
            </a:r>
            <a:r>
              <a:rPr lang="en-US" dirty="0"/>
              <a:t>specifies whether the existence of an entity depends on its being related to another entity via the relationship type</a:t>
            </a:r>
          </a:p>
          <a:p>
            <a:r>
              <a:rPr lang="en-US" dirty="0"/>
              <a:t>constraint specifies the </a:t>
            </a:r>
            <a:r>
              <a:rPr lang="en-US" i="1" dirty="0"/>
              <a:t>minimum </a:t>
            </a:r>
            <a:r>
              <a:rPr lang="en-US" dirty="0"/>
              <a:t>number of relationship instances that each entity can participate in and is sometimes called the minimum cardinality constraint</a:t>
            </a:r>
          </a:p>
          <a:p>
            <a:r>
              <a:rPr lang="en-US" dirty="0"/>
              <a:t>two types of participation constraints: total and partial</a:t>
            </a:r>
          </a:p>
        </p:txBody>
      </p:sp>
      <p:sp>
        <p:nvSpPr>
          <p:cNvPr id="4" name="Slide Number Placeholder 3">
            <a:extLst>
              <a:ext uri="{FF2B5EF4-FFF2-40B4-BE49-F238E27FC236}">
                <a16:creationId xmlns:a16="http://schemas.microsoft.com/office/drawing/2014/main" id="{4AB23008-9536-B93F-5D77-FF1C9E2BFDF2}"/>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821193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F1C0-1DA2-ACA6-BA3B-B5352CC15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A1443-A4C0-8463-253E-FD6870880FCB}"/>
              </a:ext>
            </a:extLst>
          </p:cNvPr>
          <p:cNvSpPr>
            <a:spLocks noGrp="1"/>
          </p:cNvSpPr>
          <p:nvPr>
            <p:ph type="title"/>
          </p:nvPr>
        </p:nvSpPr>
        <p:spPr/>
        <p:txBody>
          <a:bodyPr/>
          <a:lstStyle/>
          <a:p>
            <a:r>
              <a:rPr lang="en-US" dirty="0"/>
              <a:t>Participation Constraints and </a:t>
            </a:r>
            <a:br>
              <a:rPr lang="en-US" dirty="0"/>
            </a:br>
            <a:r>
              <a:rPr lang="en-US" dirty="0"/>
              <a:t>Existence Dependencies</a:t>
            </a:r>
          </a:p>
        </p:txBody>
      </p:sp>
      <p:sp>
        <p:nvSpPr>
          <p:cNvPr id="3" name="Content Placeholder 2">
            <a:extLst>
              <a:ext uri="{FF2B5EF4-FFF2-40B4-BE49-F238E27FC236}">
                <a16:creationId xmlns:a16="http://schemas.microsoft.com/office/drawing/2014/main" id="{A7E3FFFB-D2DF-CC71-3B7B-29B5E2F06AD3}"/>
              </a:ext>
            </a:extLst>
          </p:cNvPr>
          <p:cNvSpPr>
            <a:spLocks noGrp="1"/>
          </p:cNvSpPr>
          <p:nvPr>
            <p:ph idx="1"/>
          </p:nvPr>
        </p:nvSpPr>
        <p:spPr>
          <a:xfrm>
            <a:off x="838199" y="1825625"/>
            <a:ext cx="10862187" cy="4351338"/>
          </a:xfrm>
        </p:spPr>
        <p:txBody>
          <a:bodyPr>
            <a:noAutofit/>
          </a:bodyPr>
          <a:lstStyle/>
          <a:p>
            <a:r>
              <a:rPr lang="en-US" dirty="0"/>
              <a:t>if company policy states that every employee must work for a department, then an employee entity can exist only if it participates in at least one WORKS_FOR relationship instance; thus, the participation of EMPLOYEE in WORKS_FOR is called </a:t>
            </a:r>
            <a:r>
              <a:rPr lang="en-US" b="1" dirty="0"/>
              <a:t>total participation</a:t>
            </a:r>
          </a:p>
          <a:p>
            <a:r>
              <a:rPr lang="en-US" dirty="0"/>
              <a:t>also called </a:t>
            </a:r>
            <a:r>
              <a:rPr lang="en-US" b="1" dirty="0"/>
              <a:t>existence dependency </a:t>
            </a:r>
            <a:r>
              <a:rPr lang="en-US" dirty="0"/>
              <a:t>do not expect every employee to manage a department, so participation of EMPLOYEE in the</a:t>
            </a:r>
          </a:p>
          <a:p>
            <a:r>
              <a:rPr lang="en-US" dirty="0"/>
              <a:t>MANAGES relationship type is </a:t>
            </a:r>
            <a:r>
              <a:rPr lang="en-US" b="1" dirty="0"/>
              <a:t>partial</a:t>
            </a:r>
            <a:r>
              <a:rPr lang="en-US" dirty="0"/>
              <a:t>, meaning that some or part of set of employee entities are related to some department entity via MANAGES, but not necessarily all</a:t>
            </a:r>
          </a:p>
        </p:txBody>
      </p:sp>
      <p:sp>
        <p:nvSpPr>
          <p:cNvPr id="4" name="Slide Number Placeholder 3">
            <a:extLst>
              <a:ext uri="{FF2B5EF4-FFF2-40B4-BE49-F238E27FC236}">
                <a16:creationId xmlns:a16="http://schemas.microsoft.com/office/drawing/2014/main" id="{94D5D3B9-C554-581B-65EC-7881A1611FBA}"/>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1190638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42060-4804-3380-48E5-A3BADD8B57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37605D-BF1C-AB60-55CA-923BB5F4C68E}"/>
              </a:ext>
            </a:extLst>
          </p:cNvPr>
          <p:cNvSpPr>
            <a:spLocks noGrp="1"/>
          </p:cNvSpPr>
          <p:nvPr>
            <p:ph idx="1"/>
          </p:nvPr>
        </p:nvSpPr>
        <p:spPr/>
        <p:txBody>
          <a:bodyPr/>
          <a:lstStyle/>
          <a:p>
            <a:r>
              <a:rPr lang="en-US" dirty="0"/>
              <a:t>do not expect every employee to manage a department, so participation of EMPLOYEE in the</a:t>
            </a:r>
          </a:p>
          <a:p>
            <a:r>
              <a:rPr lang="en-US" dirty="0"/>
              <a:t>MANAGES relationship type is </a:t>
            </a:r>
            <a:r>
              <a:rPr lang="en-US" b="1" dirty="0"/>
              <a:t>partial</a:t>
            </a:r>
            <a:r>
              <a:rPr lang="en-US" dirty="0"/>
              <a:t>, meaning that </a:t>
            </a:r>
            <a:r>
              <a:rPr lang="en-US" i="1" dirty="0"/>
              <a:t>some </a:t>
            </a:r>
            <a:r>
              <a:rPr lang="en-US" dirty="0"/>
              <a:t>or </a:t>
            </a:r>
            <a:r>
              <a:rPr lang="en-US" i="1" dirty="0"/>
              <a:t>part of the set of</a:t>
            </a:r>
          </a:p>
          <a:p>
            <a:r>
              <a:rPr lang="en-US" dirty="0"/>
              <a:t>employee entities are related to some department entity via MANAGES, but not necessarily all</a:t>
            </a:r>
          </a:p>
        </p:txBody>
      </p:sp>
      <p:sp>
        <p:nvSpPr>
          <p:cNvPr id="4" name="Slide Number Placeholder 3">
            <a:extLst>
              <a:ext uri="{FF2B5EF4-FFF2-40B4-BE49-F238E27FC236}">
                <a16:creationId xmlns:a16="http://schemas.microsoft.com/office/drawing/2014/main" id="{448BA237-4291-B4FB-A7BE-955685187375}"/>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315787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F92B-A13F-2345-8BA4-3B5E009837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F3B2CF-CDA3-5CD7-E0F5-39D59FB12BDE}"/>
              </a:ext>
            </a:extLst>
          </p:cNvPr>
          <p:cNvSpPr>
            <a:spLocks noGrp="1"/>
          </p:cNvSpPr>
          <p:nvPr>
            <p:ph idx="1"/>
          </p:nvPr>
        </p:nvSpPr>
        <p:spPr/>
        <p:txBody>
          <a:bodyPr>
            <a:normAutofit/>
          </a:bodyPr>
          <a:lstStyle/>
          <a:p>
            <a:r>
              <a:rPr lang="en-US" dirty="0"/>
              <a:t>in ER diagrams, total participation (or existence dependency) is displayed as a double line connecting participating entity type to relationship, whereas partial participation is represented by single line </a:t>
            </a:r>
          </a:p>
          <a:p>
            <a:r>
              <a:rPr lang="en-US" dirty="0"/>
              <a:t>alternative notation allows designer to specify specific minimum number on participation in relationship</a:t>
            </a:r>
          </a:p>
        </p:txBody>
      </p:sp>
      <p:sp>
        <p:nvSpPr>
          <p:cNvPr id="4" name="Slide Number Placeholder 3">
            <a:extLst>
              <a:ext uri="{FF2B5EF4-FFF2-40B4-BE49-F238E27FC236}">
                <a16:creationId xmlns:a16="http://schemas.microsoft.com/office/drawing/2014/main" id="{3E858515-5375-34CF-8775-73E02EC8E8AB}"/>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36748357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08DA9-E70A-FC10-9373-48E4224F7AC9}"/>
              </a:ext>
            </a:extLst>
          </p:cNvPr>
          <p:cNvSpPr>
            <a:spLocks noGrp="1"/>
          </p:cNvSpPr>
          <p:nvPr>
            <p:ph type="title"/>
          </p:nvPr>
        </p:nvSpPr>
        <p:spPr/>
        <p:txBody>
          <a:bodyPr/>
          <a:lstStyle/>
          <a:p>
            <a:r>
              <a:rPr lang="en-US" dirty="0"/>
              <a:t>Attributes of Relationship Types</a:t>
            </a:r>
          </a:p>
        </p:txBody>
      </p:sp>
      <p:sp>
        <p:nvSpPr>
          <p:cNvPr id="3" name="Content Placeholder 2">
            <a:extLst>
              <a:ext uri="{FF2B5EF4-FFF2-40B4-BE49-F238E27FC236}">
                <a16:creationId xmlns:a16="http://schemas.microsoft.com/office/drawing/2014/main" id="{57DBFF80-515C-8FF9-F249-6D158FA86212}"/>
              </a:ext>
            </a:extLst>
          </p:cNvPr>
          <p:cNvSpPr>
            <a:spLocks noGrp="1"/>
          </p:cNvSpPr>
          <p:nvPr>
            <p:ph idx="1"/>
          </p:nvPr>
        </p:nvSpPr>
        <p:spPr/>
        <p:txBody>
          <a:bodyPr>
            <a:noAutofit/>
          </a:bodyPr>
          <a:lstStyle/>
          <a:p>
            <a:r>
              <a:rPr lang="en-US" dirty="0"/>
              <a:t>relationship types can also have attributes, similar to those of entity types</a:t>
            </a:r>
          </a:p>
          <a:p>
            <a:r>
              <a:rPr lang="en-US" dirty="0"/>
              <a:t>for example, to record number of hours per week that particular employee works on particular project</a:t>
            </a:r>
          </a:p>
        </p:txBody>
      </p:sp>
      <p:sp>
        <p:nvSpPr>
          <p:cNvPr id="4" name="Slide Number Placeholder 3">
            <a:extLst>
              <a:ext uri="{FF2B5EF4-FFF2-40B4-BE49-F238E27FC236}">
                <a16:creationId xmlns:a16="http://schemas.microsoft.com/office/drawing/2014/main" id="{90A20E77-6890-19DA-13B2-D838E75740AB}"/>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15913639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62C68-AC56-A562-73D0-C782C9B705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FB1B10-0C71-C68D-BA0B-C69C5DD77373}"/>
              </a:ext>
            </a:extLst>
          </p:cNvPr>
          <p:cNvSpPr>
            <a:spLocks noGrp="1"/>
          </p:cNvSpPr>
          <p:nvPr>
            <p:ph idx="1"/>
          </p:nvPr>
        </p:nvSpPr>
        <p:spPr/>
        <p:txBody>
          <a:bodyPr>
            <a:noAutofit/>
          </a:bodyPr>
          <a:lstStyle/>
          <a:p>
            <a:r>
              <a:rPr lang="en-US" dirty="0"/>
              <a:t>another example is to include the date on which manager started managing department via an attribute </a:t>
            </a:r>
            <a:r>
              <a:rPr lang="en-US" dirty="0" err="1"/>
              <a:t>Start_date</a:t>
            </a:r>
            <a:r>
              <a:rPr lang="en-US" dirty="0"/>
              <a:t> for MANAGES relationship type</a:t>
            </a:r>
          </a:p>
          <a:p>
            <a:r>
              <a:rPr lang="en-US" dirty="0"/>
              <a:t>can be an attribute of either EMPLOYEE (manager) or DEPARTMENT, although conceptually it belongs to MANAGES - because MANAGES is a 1:1 relationship</a:t>
            </a:r>
          </a:p>
          <a:p>
            <a:r>
              <a:rPr lang="en-US" dirty="0"/>
              <a:t>for a 1:N relationship type, relationship attribute can be migrated only to entity type on the N-side of relationship</a:t>
            </a:r>
          </a:p>
        </p:txBody>
      </p:sp>
      <p:sp>
        <p:nvSpPr>
          <p:cNvPr id="4" name="Slide Number Placeholder 3">
            <a:extLst>
              <a:ext uri="{FF2B5EF4-FFF2-40B4-BE49-F238E27FC236}">
                <a16:creationId xmlns:a16="http://schemas.microsoft.com/office/drawing/2014/main" id="{3A1AD6EA-7982-4AF9-E6E5-EEAAEBB2CB52}"/>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2139971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45A9-1FD4-3B23-E26E-74D6E4F508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9915DD-0649-E978-D40A-6470A506F539}"/>
              </a:ext>
            </a:extLst>
          </p:cNvPr>
          <p:cNvSpPr>
            <a:spLocks noGrp="1"/>
          </p:cNvSpPr>
          <p:nvPr>
            <p:ph idx="1"/>
          </p:nvPr>
        </p:nvSpPr>
        <p:spPr/>
        <p:txBody>
          <a:bodyPr>
            <a:normAutofit/>
          </a:bodyPr>
          <a:lstStyle/>
          <a:p>
            <a:r>
              <a:rPr lang="en-US" dirty="0"/>
              <a:t>for M:N (many-to-many) relationship types, some attributes may be determined by the combination of participating entities in a relationship instance, not by any single entity; such attributes must be specified as relationship attributes</a:t>
            </a:r>
          </a:p>
          <a:p>
            <a:r>
              <a:rPr lang="en-US" dirty="0"/>
              <a:t>an example is the Hours attribute of the M:N relationship WORKS_ON; number of hours per week an employee currently works on a project</a:t>
            </a:r>
          </a:p>
        </p:txBody>
      </p:sp>
      <p:sp>
        <p:nvSpPr>
          <p:cNvPr id="4" name="Slide Number Placeholder 3">
            <a:extLst>
              <a:ext uri="{FF2B5EF4-FFF2-40B4-BE49-F238E27FC236}">
                <a16:creationId xmlns:a16="http://schemas.microsoft.com/office/drawing/2014/main" id="{6ADC3269-478A-18D0-E69E-3790D985D00F}"/>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736529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F7E80-F3A1-A423-0D0B-186609AAF762}"/>
              </a:ext>
            </a:extLst>
          </p:cNvPr>
          <p:cNvSpPr>
            <a:spLocks noGrp="1"/>
          </p:cNvSpPr>
          <p:nvPr>
            <p:ph type="title"/>
          </p:nvPr>
        </p:nvSpPr>
        <p:spPr/>
        <p:txBody>
          <a:bodyPr/>
          <a:lstStyle/>
          <a:p>
            <a:r>
              <a:rPr lang="en-US" dirty="0"/>
              <a:t>Weak Entity Types</a:t>
            </a:r>
          </a:p>
        </p:txBody>
      </p:sp>
      <p:sp>
        <p:nvSpPr>
          <p:cNvPr id="3" name="Content Placeholder 2">
            <a:extLst>
              <a:ext uri="{FF2B5EF4-FFF2-40B4-BE49-F238E27FC236}">
                <a16:creationId xmlns:a16="http://schemas.microsoft.com/office/drawing/2014/main" id="{039AC8D4-C84A-A7D9-1A51-8E8DEA626E7E}"/>
              </a:ext>
            </a:extLst>
          </p:cNvPr>
          <p:cNvSpPr>
            <a:spLocks noGrp="1"/>
          </p:cNvSpPr>
          <p:nvPr>
            <p:ph idx="1"/>
          </p:nvPr>
        </p:nvSpPr>
        <p:spPr/>
        <p:txBody>
          <a:bodyPr>
            <a:noAutofit/>
          </a:bodyPr>
          <a:lstStyle/>
          <a:p>
            <a:r>
              <a:rPr lang="en-US" sz="2700" dirty="0"/>
              <a:t>entity types that do not have key attributes of their own are called </a:t>
            </a:r>
            <a:r>
              <a:rPr lang="en-US" sz="2700" b="1" dirty="0"/>
              <a:t>weak entity types</a:t>
            </a:r>
          </a:p>
          <a:p>
            <a:r>
              <a:rPr lang="en-US" sz="2700" dirty="0"/>
              <a:t>In contrast, regular entity types</a:t>
            </a:r>
            <a:r>
              <a:rPr lang="en-US" sz="2700" b="1" dirty="0"/>
              <a:t> </a:t>
            </a:r>
            <a:r>
              <a:rPr lang="en-US" sz="2700" dirty="0"/>
              <a:t>that do have a key attribute are called </a:t>
            </a:r>
            <a:r>
              <a:rPr lang="en-US" sz="2700" b="1" dirty="0"/>
              <a:t>strong entity types</a:t>
            </a:r>
          </a:p>
          <a:p>
            <a:r>
              <a:rPr lang="en-US" sz="2700" dirty="0"/>
              <a:t>entities belonging to a weak entity type are identified by being related to specific entities from another entity type in combination with one of their attribute values</a:t>
            </a:r>
          </a:p>
          <a:p>
            <a:r>
              <a:rPr lang="en-US" sz="2700" dirty="0"/>
              <a:t>call this other entity type the </a:t>
            </a:r>
            <a:r>
              <a:rPr lang="en-US" sz="2700" b="1" dirty="0"/>
              <a:t>identifying </a:t>
            </a:r>
            <a:r>
              <a:rPr lang="en-US" sz="2700" dirty="0"/>
              <a:t>or </a:t>
            </a:r>
            <a:r>
              <a:rPr lang="en-US" sz="2700" b="1" dirty="0"/>
              <a:t>owner entity type</a:t>
            </a:r>
            <a:r>
              <a:rPr lang="en-US" sz="2700" dirty="0"/>
              <a:t>, and we call the relationship type that relates a weak entity type to its owner the </a:t>
            </a:r>
            <a:r>
              <a:rPr lang="en-US" sz="2700" b="1" dirty="0"/>
              <a:t>identifying relationship </a:t>
            </a:r>
            <a:r>
              <a:rPr lang="en-US" sz="2700" dirty="0"/>
              <a:t>of the weak entity type</a:t>
            </a:r>
          </a:p>
        </p:txBody>
      </p:sp>
      <p:sp>
        <p:nvSpPr>
          <p:cNvPr id="4" name="Slide Number Placeholder 3">
            <a:extLst>
              <a:ext uri="{FF2B5EF4-FFF2-40B4-BE49-F238E27FC236}">
                <a16:creationId xmlns:a16="http://schemas.microsoft.com/office/drawing/2014/main" id="{3BF7C904-4EB7-32A7-C071-DD6E8C5878DE}"/>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8007196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7EDD-2271-D2B1-13A3-E7A58026F8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1F5BF2-6F8A-D505-FB95-E593AC582CBA}"/>
              </a:ext>
            </a:extLst>
          </p:cNvPr>
          <p:cNvSpPr>
            <a:spLocks noGrp="1"/>
          </p:cNvSpPr>
          <p:nvPr>
            <p:ph idx="1"/>
          </p:nvPr>
        </p:nvSpPr>
        <p:spPr/>
        <p:txBody>
          <a:bodyPr/>
          <a:lstStyle/>
          <a:p>
            <a:r>
              <a:rPr lang="en-US" dirty="0"/>
              <a:t>weak entity type always has a </a:t>
            </a:r>
            <a:r>
              <a:rPr lang="en-US" i="1" dirty="0"/>
              <a:t>total participation constraint </a:t>
            </a:r>
            <a:r>
              <a:rPr lang="en-US" dirty="0"/>
              <a:t>(existence dependency) with respect to its identifying relationship because weak entity cannot be identified without an owner entity</a:t>
            </a:r>
          </a:p>
          <a:p>
            <a:r>
              <a:rPr lang="en-US" dirty="0"/>
              <a:t>in general, any number of levels of weak entity types can be defined</a:t>
            </a:r>
          </a:p>
        </p:txBody>
      </p:sp>
      <p:sp>
        <p:nvSpPr>
          <p:cNvPr id="4" name="Slide Number Placeholder 3">
            <a:extLst>
              <a:ext uri="{FF2B5EF4-FFF2-40B4-BE49-F238E27FC236}">
                <a16:creationId xmlns:a16="http://schemas.microsoft.com/office/drawing/2014/main" id="{EEC60B6F-7622-1C89-6CC9-AFB342427A71}"/>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24530472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65EEC-08A8-1E4E-770B-966EA646B7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54BD37-3BBE-00AC-FA4C-69F85BF358F5}"/>
              </a:ext>
            </a:extLst>
          </p:cNvPr>
          <p:cNvSpPr>
            <a:spLocks noGrp="1"/>
          </p:cNvSpPr>
          <p:nvPr>
            <p:ph idx="1"/>
          </p:nvPr>
        </p:nvSpPr>
        <p:spPr/>
        <p:txBody>
          <a:bodyPr/>
          <a:lstStyle/>
          <a:p>
            <a:r>
              <a:rPr lang="en-US" dirty="0"/>
              <a:t>not every existence dependency results in a weak entity type</a:t>
            </a:r>
          </a:p>
          <a:p>
            <a:r>
              <a:rPr lang="en-US" dirty="0"/>
              <a:t>for example, a DRIVER_LICENSE entity cannot exist unless it is related to a PERSON entity, even though it has its own key (</a:t>
            </a:r>
            <a:r>
              <a:rPr lang="en-US" dirty="0" err="1"/>
              <a:t>License_number</a:t>
            </a:r>
            <a:r>
              <a:rPr lang="en-US" dirty="0"/>
              <a:t>) and hence is not a weak entity</a:t>
            </a:r>
          </a:p>
          <a:p>
            <a:endParaRPr lang="en-US" dirty="0"/>
          </a:p>
        </p:txBody>
      </p:sp>
      <p:sp>
        <p:nvSpPr>
          <p:cNvPr id="4" name="Slide Number Placeholder 3">
            <a:extLst>
              <a:ext uri="{FF2B5EF4-FFF2-40B4-BE49-F238E27FC236}">
                <a16:creationId xmlns:a16="http://schemas.microsoft.com/office/drawing/2014/main" id="{61A29BD3-A2A5-A552-ED96-4F52BC068931}"/>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39540850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43E2-4A8C-2E10-45E1-A08BF25B7C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E77ABF-F4DF-5497-55ED-3209BBD9F9DD}"/>
              </a:ext>
            </a:extLst>
          </p:cNvPr>
          <p:cNvSpPr>
            <a:spLocks noGrp="1"/>
          </p:cNvSpPr>
          <p:nvPr>
            <p:ph idx="1"/>
          </p:nvPr>
        </p:nvSpPr>
        <p:spPr/>
        <p:txBody>
          <a:bodyPr>
            <a:normAutofit/>
          </a:bodyPr>
          <a:lstStyle/>
          <a:p>
            <a:r>
              <a:rPr lang="en-US" dirty="0"/>
              <a:t>entity type DEPENDENT, related to EMPLOYEE, used to keep track of the dependents of each employee via a 1:N relationship </a:t>
            </a:r>
          </a:p>
          <a:p>
            <a:r>
              <a:rPr lang="en-US" dirty="0"/>
              <a:t>two dependents of employees may, by chance, have same values for Name, </a:t>
            </a:r>
            <a:r>
              <a:rPr lang="en-US" dirty="0" err="1"/>
              <a:t>Birth_date</a:t>
            </a:r>
            <a:r>
              <a:rPr lang="en-US" dirty="0"/>
              <a:t>, Sex, and Relationship, but they are still distinct entities, identified as distinct entities only after determining particular employee entity to which each dependent is related</a:t>
            </a:r>
          </a:p>
          <a:p>
            <a:r>
              <a:rPr lang="en-US" dirty="0"/>
              <a:t>each employee entity is said to own dependent entities that are related to it</a:t>
            </a:r>
          </a:p>
        </p:txBody>
      </p:sp>
      <p:sp>
        <p:nvSpPr>
          <p:cNvPr id="4" name="Slide Number Placeholder 3">
            <a:extLst>
              <a:ext uri="{FF2B5EF4-FFF2-40B4-BE49-F238E27FC236}">
                <a16:creationId xmlns:a16="http://schemas.microsoft.com/office/drawing/2014/main" id="{4F563C29-AEAB-4FF7-17E4-988E7EA8F68E}"/>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37135665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1D553-DAA9-9CF7-9319-1A34B22E0F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ADB26A-0801-5B18-14A9-EEADDE3B7258}"/>
              </a:ext>
            </a:extLst>
          </p:cNvPr>
          <p:cNvSpPr>
            <a:spLocks noGrp="1"/>
          </p:cNvSpPr>
          <p:nvPr>
            <p:ph idx="1"/>
          </p:nvPr>
        </p:nvSpPr>
        <p:spPr/>
        <p:txBody>
          <a:bodyPr>
            <a:normAutofit/>
          </a:bodyPr>
          <a:lstStyle/>
          <a:p>
            <a:r>
              <a:rPr lang="en-US" dirty="0"/>
              <a:t>weak entity type normally has partial key, which is the attribute that can uniquely identify weak entities that are related to same owner entity </a:t>
            </a:r>
          </a:p>
          <a:p>
            <a:r>
              <a:rPr lang="en-US" dirty="0"/>
              <a:t>assume that no two dependents of the same employee ever have the same first name, attribute Name of DEPENDENT is partial key</a:t>
            </a:r>
          </a:p>
        </p:txBody>
      </p:sp>
      <p:sp>
        <p:nvSpPr>
          <p:cNvPr id="4" name="Slide Number Placeholder 3">
            <a:extLst>
              <a:ext uri="{FF2B5EF4-FFF2-40B4-BE49-F238E27FC236}">
                <a16:creationId xmlns:a16="http://schemas.microsoft.com/office/drawing/2014/main" id="{BCE59568-EF9E-E925-0EE8-7D9B560D3C45}"/>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36852991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FB280-EB58-2C30-F71C-887080FF09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00A41C-931E-DADD-8132-DDF719D7A31C}"/>
              </a:ext>
            </a:extLst>
          </p:cNvPr>
          <p:cNvSpPr>
            <a:spLocks noGrp="1"/>
          </p:cNvSpPr>
          <p:nvPr>
            <p:ph idx="1"/>
          </p:nvPr>
        </p:nvSpPr>
        <p:spPr/>
        <p:txBody>
          <a:bodyPr/>
          <a:lstStyle/>
          <a:p>
            <a:r>
              <a:rPr lang="en-US" dirty="0"/>
              <a:t>in ER diagrams, both a weak entity type and its identifying relationship are distinguished by surrounding their boxes and diamonds with double lines </a:t>
            </a:r>
          </a:p>
          <a:p>
            <a:r>
              <a:rPr lang="en-US" dirty="0"/>
              <a:t>partial key attribute is underlined with a dashed or dotted line</a:t>
            </a:r>
          </a:p>
        </p:txBody>
      </p:sp>
      <p:sp>
        <p:nvSpPr>
          <p:cNvPr id="4" name="Slide Number Placeholder 3">
            <a:extLst>
              <a:ext uri="{FF2B5EF4-FFF2-40B4-BE49-F238E27FC236}">
                <a16:creationId xmlns:a16="http://schemas.microsoft.com/office/drawing/2014/main" id="{BFC3D39E-78B1-2C4C-01B9-77D6A20DD6BC}"/>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23101969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3C189-D180-1544-4C13-707DC9020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7088A-A713-BA0D-8540-B6857DB06A6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1E0C350-AF35-27C7-D0DE-8E755533B312}"/>
              </a:ext>
            </a:extLst>
          </p:cNvPr>
          <p:cNvSpPr>
            <a:spLocks noGrp="1"/>
          </p:cNvSpPr>
          <p:nvPr>
            <p:ph type="sldNum" sz="quarter" idx="12"/>
          </p:nvPr>
        </p:nvSpPr>
        <p:spPr/>
        <p:txBody>
          <a:bodyPr/>
          <a:lstStyle/>
          <a:p>
            <a:fld id="{6264BDCF-5269-49AC-A246-ED26C2B980E3}" type="slidenum">
              <a:rPr lang="en-US" smtClean="0"/>
              <a:t>63</a:t>
            </a:fld>
            <a:endParaRPr lang="en-US"/>
          </a:p>
        </p:txBody>
      </p:sp>
      <p:pic>
        <p:nvPicPr>
          <p:cNvPr id="5" name="Content Placeholder 4">
            <a:extLst>
              <a:ext uri="{FF2B5EF4-FFF2-40B4-BE49-F238E27FC236}">
                <a16:creationId xmlns:a16="http://schemas.microsoft.com/office/drawing/2014/main" id="{20F705A5-014D-56A8-D92A-8D8DF59048C0}"/>
              </a:ext>
            </a:extLst>
          </p:cNvPr>
          <p:cNvPicPr>
            <a:picLocks noGrp="1" noChangeAspect="1"/>
          </p:cNvPicPr>
          <p:nvPr>
            <p:ph idx="1"/>
          </p:nvPr>
        </p:nvPicPr>
        <p:blipFill>
          <a:blip r:embed="rId2"/>
          <a:stretch>
            <a:fillRect/>
          </a:stretch>
        </p:blipFill>
        <p:spPr>
          <a:xfrm>
            <a:off x="1920237" y="91438"/>
            <a:ext cx="7717977" cy="6731329"/>
          </a:xfrm>
          <a:prstGeom prst="rect">
            <a:avLst/>
          </a:prstGeom>
        </p:spPr>
      </p:pic>
    </p:spTree>
    <p:extLst>
      <p:ext uri="{BB962C8B-B14F-4D97-AF65-F5344CB8AC3E}">
        <p14:creationId xmlns:p14="http://schemas.microsoft.com/office/powerpoint/2010/main" val="19351303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B0A9-18CC-E362-E48E-EAB9D6125C96}"/>
              </a:ext>
            </a:extLst>
          </p:cNvPr>
          <p:cNvSpPr>
            <a:spLocks noGrp="1"/>
          </p:cNvSpPr>
          <p:nvPr>
            <p:ph type="title"/>
          </p:nvPr>
        </p:nvSpPr>
        <p:spPr/>
        <p:txBody>
          <a:bodyPr/>
          <a:lstStyle/>
          <a:p>
            <a:r>
              <a:rPr lang="en-US" dirty="0"/>
              <a:t>Proper Naming of Schema Constructs</a:t>
            </a:r>
          </a:p>
        </p:txBody>
      </p:sp>
      <p:sp>
        <p:nvSpPr>
          <p:cNvPr id="3" name="Content Placeholder 2">
            <a:extLst>
              <a:ext uri="{FF2B5EF4-FFF2-40B4-BE49-F238E27FC236}">
                <a16:creationId xmlns:a16="http://schemas.microsoft.com/office/drawing/2014/main" id="{BC0C5D36-B17E-FBB1-AA56-AE2228B1D0EF}"/>
              </a:ext>
            </a:extLst>
          </p:cNvPr>
          <p:cNvSpPr>
            <a:spLocks noGrp="1"/>
          </p:cNvSpPr>
          <p:nvPr>
            <p:ph idx="1"/>
          </p:nvPr>
        </p:nvSpPr>
        <p:spPr>
          <a:xfrm>
            <a:off x="838200" y="1825625"/>
            <a:ext cx="10891684" cy="4351338"/>
          </a:xfrm>
        </p:spPr>
        <p:txBody>
          <a:bodyPr>
            <a:normAutofit/>
          </a:bodyPr>
          <a:lstStyle/>
          <a:p>
            <a:r>
              <a:rPr lang="en-US" dirty="0"/>
              <a:t>choice of names for entity types, attributes, relationship types, and roles </a:t>
            </a:r>
          </a:p>
          <a:p>
            <a:r>
              <a:rPr lang="en-US" dirty="0"/>
              <a:t>be consistent!</a:t>
            </a:r>
          </a:p>
          <a:p>
            <a:r>
              <a:rPr lang="en-US" dirty="0"/>
              <a:t>English it is better then Romanian with the exception of </a:t>
            </a:r>
            <a:r>
              <a:rPr lang="en-US" dirty="0" err="1"/>
              <a:t>reservered</a:t>
            </a:r>
            <a:r>
              <a:rPr lang="en-US" dirty="0"/>
              <a:t> keywords line user</a:t>
            </a:r>
          </a:p>
        </p:txBody>
      </p:sp>
      <p:sp>
        <p:nvSpPr>
          <p:cNvPr id="4" name="Slide Number Placeholder 3">
            <a:extLst>
              <a:ext uri="{FF2B5EF4-FFF2-40B4-BE49-F238E27FC236}">
                <a16:creationId xmlns:a16="http://schemas.microsoft.com/office/drawing/2014/main" id="{CACF1A8D-CBB3-F201-6FD5-8ABFFB7ACC25}"/>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2679946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4913A-35D2-7A82-DF3F-76EA7C5CF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04677-846D-9AF9-77C6-CDC659398076}"/>
              </a:ext>
            </a:extLst>
          </p:cNvPr>
          <p:cNvSpPr>
            <a:spLocks noGrp="1"/>
          </p:cNvSpPr>
          <p:nvPr>
            <p:ph type="title"/>
          </p:nvPr>
        </p:nvSpPr>
        <p:spPr/>
        <p:txBody>
          <a:bodyPr/>
          <a:lstStyle/>
          <a:p>
            <a:r>
              <a:rPr lang="en-US" dirty="0"/>
              <a:t>Proper Naming of Schema Constructs</a:t>
            </a:r>
          </a:p>
        </p:txBody>
      </p:sp>
      <p:sp>
        <p:nvSpPr>
          <p:cNvPr id="3" name="Content Placeholder 2">
            <a:extLst>
              <a:ext uri="{FF2B5EF4-FFF2-40B4-BE49-F238E27FC236}">
                <a16:creationId xmlns:a16="http://schemas.microsoft.com/office/drawing/2014/main" id="{CF3B21B0-BC94-A7D8-5DF3-690B7F1F878A}"/>
              </a:ext>
            </a:extLst>
          </p:cNvPr>
          <p:cNvSpPr>
            <a:spLocks noGrp="1"/>
          </p:cNvSpPr>
          <p:nvPr>
            <p:ph idx="1"/>
          </p:nvPr>
        </p:nvSpPr>
        <p:spPr>
          <a:xfrm>
            <a:off x="838199" y="1825625"/>
            <a:ext cx="11019503" cy="4351338"/>
          </a:xfrm>
        </p:spPr>
        <p:txBody>
          <a:bodyPr>
            <a:normAutofit/>
          </a:bodyPr>
          <a:lstStyle/>
          <a:p>
            <a:r>
              <a:rPr lang="en-US" dirty="0"/>
              <a:t>choice of names for entity types, attributes, relationship types, and roles </a:t>
            </a:r>
          </a:p>
          <a:p>
            <a:r>
              <a:rPr lang="en-US" dirty="0"/>
              <a:t>choose to use singular names for entity types, rather than plural ones, because entity type name applies to each individual entity belonging to that entity type</a:t>
            </a:r>
          </a:p>
          <a:p>
            <a:r>
              <a:rPr lang="en-US" dirty="0"/>
              <a:t>in sample ER diagrams, use the convention that entity type and relationship type names are in uppercase letters, attribute names have their initial letter capitalized, and role names are in lowercase letters</a:t>
            </a:r>
          </a:p>
        </p:txBody>
      </p:sp>
      <p:sp>
        <p:nvSpPr>
          <p:cNvPr id="4" name="Slide Number Placeholder 3">
            <a:extLst>
              <a:ext uri="{FF2B5EF4-FFF2-40B4-BE49-F238E27FC236}">
                <a16:creationId xmlns:a16="http://schemas.microsoft.com/office/drawing/2014/main" id="{B1FFC972-4EF8-0FD9-0AEE-05916A663548}"/>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27346565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6EC9E-5019-D76C-9305-F69AAEFB21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845BED-B43C-C4D5-1B6F-B6E6898DD9F1}"/>
              </a:ext>
            </a:extLst>
          </p:cNvPr>
          <p:cNvSpPr>
            <a:spLocks noGrp="1"/>
          </p:cNvSpPr>
          <p:nvPr>
            <p:ph idx="1"/>
          </p:nvPr>
        </p:nvSpPr>
        <p:spPr/>
        <p:txBody>
          <a:bodyPr/>
          <a:lstStyle/>
          <a:p>
            <a:r>
              <a:rPr lang="en-US" i="1" dirty="0"/>
              <a:t>nouns </a:t>
            </a:r>
            <a:r>
              <a:rPr lang="en-US" dirty="0"/>
              <a:t>appearing in narrative tend to give rise to entity type names</a:t>
            </a:r>
          </a:p>
          <a:p>
            <a:r>
              <a:rPr lang="en-US" i="1" dirty="0"/>
              <a:t>verbs </a:t>
            </a:r>
            <a:r>
              <a:rPr lang="en-US" dirty="0"/>
              <a:t>tend to indicate names of relationship types</a:t>
            </a:r>
          </a:p>
          <a:p>
            <a:r>
              <a:rPr lang="en-US" dirty="0"/>
              <a:t>attribute names generally arise from additional nouns that describe the nouns corresponding to entity types</a:t>
            </a:r>
          </a:p>
        </p:txBody>
      </p:sp>
      <p:sp>
        <p:nvSpPr>
          <p:cNvPr id="4" name="Slide Number Placeholder 3">
            <a:extLst>
              <a:ext uri="{FF2B5EF4-FFF2-40B4-BE49-F238E27FC236}">
                <a16:creationId xmlns:a16="http://schemas.microsoft.com/office/drawing/2014/main" id="{86AA27AC-2701-BB5D-C29D-E16D66E86C64}"/>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37218900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B04B-7C13-10CE-4D2C-5CA2CB4D5E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BAAED0-BD1D-F98D-60B8-F966B2993E76}"/>
              </a:ext>
            </a:extLst>
          </p:cNvPr>
          <p:cNvSpPr>
            <a:spLocks noGrp="1"/>
          </p:cNvSpPr>
          <p:nvPr>
            <p:ph idx="1"/>
          </p:nvPr>
        </p:nvSpPr>
        <p:spPr/>
        <p:txBody>
          <a:bodyPr/>
          <a:lstStyle/>
          <a:p>
            <a:r>
              <a:rPr lang="en-US" dirty="0"/>
              <a:t>the schema design process should be considered an iterative refinement process …</a:t>
            </a:r>
          </a:p>
        </p:txBody>
      </p:sp>
      <p:sp>
        <p:nvSpPr>
          <p:cNvPr id="4" name="Slide Number Placeholder 3">
            <a:extLst>
              <a:ext uri="{FF2B5EF4-FFF2-40B4-BE49-F238E27FC236}">
                <a16:creationId xmlns:a16="http://schemas.microsoft.com/office/drawing/2014/main" id="{E0BC6706-47A0-5157-ADB6-66D69880A72E}"/>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42504204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69551-F6F3-FF10-356F-746AAE3D0B17}"/>
              </a:ext>
            </a:extLst>
          </p:cNvPr>
          <p:cNvSpPr>
            <a:spLocks noGrp="1"/>
          </p:cNvSpPr>
          <p:nvPr>
            <p:ph type="title"/>
          </p:nvPr>
        </p:nvSpPr>
        <p:spPr>
          <a:xfrm>
            <a:off x="838200" y="365125"/>
            <a:ext cx="10685206" cy="1325563"/>
          </a:xfrm>
        </p:spPr>
        <p:txBody>
          <a:bodyPr/>
          <a:lstStyle/>
          <a:p>
            <a:r>
              <a:rPr lang="en-US" dirty="0"/>
              <a:t>ER diagram for a UNIVERSITY database schema</a:t>
            </a:r>
          </a:p>
        </p:txBody>
      </p:sp>
      <p:sp>
        <p:nvSpPr>
          <p:cNvPr id="3" name="Content Placeholder 2">
            <a:extLst>
              <a:ext uri="{FF2B5EF4-FFF2-40B4-BE49-F238E27FC236}">
                <a16:creationId xmlns:a16="http://schemas.microsoft.com/office/drawing/2014/main" id="{F6B76F4F-4261-85D9-CEBE-951509F1410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F14E21B-B6E8-4BD5-0ABA-95C4880262E8}"/>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9199425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BA78-2EED-5930-971C-376B1DCDE69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DAC3F20-974A-1D0C-92DF-08DA9BFC7D77}"/>
              </a:ext>
            </a:extLst>
          </p:cNvPr>
          <p:cNvPicPr>
            <a:picLocks noGrp="1" noChangeAspect="1"/>
          </p:cNvPicPr>
          <p:nvPr>
            <p:ph idx="1"/>
          </p:nvPr>
        </p:nvPicPr>
        <p:blipFill>
          <a:blip r:embed="rId2"/>
          <a:stretch>
            <a:fillRect/>
          </a:stretch>
        </p:blipFill>
        <p:spPr>
          <a:xfrm>
            <a:off x="2103120" y="0"/>
            <a:ext cx="6877113" cy="6809442"/>
          </a:xfrm>
          <a:prstGeom prst="rect">
            <a:avLst/>
          </a:prstGeom>
        </p:spPr>
      </p:pic>
      <p:sp>
        <p:nvSpPr>
          <p:cNvPr id="4" name="Slide Number Placeholder 3">
            <a:extLst>
              <a:ext uri="{FF2B5EF4-FFF2-40B4-BE49-F238E27FC236}">
                <a16:creationId xmlns:a16="http://schemas.microsoft.com/office/drawing/2014/main" id="{6262F34B-1BB1-277C-6A9B-D7B33C89B800}"/>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26918602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6E2A14-C46A-5E1F-5D2A-28A58E9C4331}"/>
              </a:ext>
            </a:extLst>
          </p:cNvPr>
          <p:cNvSpPr>
            <a:spLocks noGrp="1"/>
          </p:cNvSpPr>
          <p:nvPr>
            <p:ph type="title"/>
          </p:nvPr>
        </p:nvSpPr>
        <p:spPr/>
        <p:txBody>
          <a:bodyPr/>
          <a:lstStyle/>
          <a:p>
            <a:r>
              <a:rPr lang="en-US" b="1" dirty="0"/>
              <a:t>Enhanced Entity–Relationship</a:t>
            </a:r>
            <a:br>
              <a:rPr lang="en-US" b="1" dirty="0"/>
            </a:br>
            <a:r>
              <a:rPr lang="en-US" b="1" dirty="0"/>
              <a:t>(EER) Model</a:t>
            </a:r>
            <a:endParaRPr lang="en-US" dirty="0"/>
          </a:p>
        </p:txBody>
      </p:sp>
      <p:sp>
        <p:nvSpPr>
          <p:cNvPr id="6" name="Text Placeholder 5">
            <a:extLst>
              <a:ext uri="{FF2B5EF4-FFF2-40B4-BE49-F238E27FC236}">
                <a16:creationId xmlns:a16="http://schemas.microsoft.com/office/drawing/2014/main" id="{2B17C9E2-E70D-79E7-4923-1EC2F2A701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7A61D2-70D4-91F7-ECBC-B9D31999643D}"/>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19187384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741FA-BED9-301A-AB3D-A83087321FFF}"/>
              </a:ext>
            </a:extLst>
          </p:cNvPr>
          <p:cNvSpPr>
            <a:spLocks noGrp="1"/>
          </p:cNvSpPr>
          <p:nvPr>
            <p:ph type="title"/>
          </p:nvPr>
        </p:nvSpPr>
        <p:spPr/>
        <p:txBody>
          <a:bodyPr/>
          <a:lstStyle/>
          <a:p>
            <a:r>
              <a:rPr lang="en-US" dirty="0"/>
              <a:t>Has-a</a:t>
            </a:r>
          </a:p>
        </p:txBody>
      </p:sp>
      <p:sp>
        <p:nvSpPr>
          <p:cNvPr id="3" name="Content Placeholder 2">
            <a:extLst>
              <a:ext uri="{FF2B5EF4-FFF2-40B4-BE49-F238E27FC236}">
                <a16:creationId xmlns:a16="http://schemas.microsoft.com/office/drawing/2014/main" id="{A84817B9-7CA9-DFFF-7ACC-2A755B7CA2A1}"/>
              </a:ext>
            </a:extLst>
          </p:cNvPr>
          <p:cNvSpPr>
            <a:spLocks noGrp="1"/>
          </p:cNvSpPr>
          <p:nvPr>
            <p:ph idx="1"/>
          </p:nvPr>
        </p:nvSpPr>
        <p:spPr/>
        <p:txBody>
          <a:bodyPr/>
          <a:lstStyle/>
          <a:p>
            <a:r>
              <a:rPr lang="en-US" dirty="0"/>
              <a:t>a Department has a Employee</a:t>
            </a:r>
          </a:p>
          <a:p>
            <a:r>
              <a:rPr lang="en-US" dirty="0"/>
              <a:t>in Object-Oriented Programming Has-a relationship implies that instance of one class has a reference to instance of another class</a:t>
            </a:r>
          </a:p>
          <a:p>
            <a:endParaRPr lang="en-US" dirty="0"/>
          </a:p>
        </p:txBody>
      </p:sp>
      <p:sp>
        <p:nvSpPr>
          <p:cNvPr id="4" name="Slide Number Placeholder 3">
            <a:extLst>
              <a:ext uri="{FF2B5EF4-FFF2-40B4-BE49-F238E27FC236}">
                <a16:creationId xmlns:a16="http://schemas.microsoft.com/office/drawing/2014/main" id="{C8F42755-5101-6C07-84FC-5568F27683A1}"/>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29120348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3ABEB-5739-6EF3-53E4-F2876D6DCEB0}"/>
              </a:ext>
            </a:extLst>
          </p:cNvPr>
          <p:cNvSpPr>
            <a:spLocks noGrp="1"/>
          </p:cNvSpPr>
          <p:nvPr>
            <p:ph type="title"/>
          </p:nvPr>
        </p:nvSpPr>
        <p:spPr/>
        <p:txBody>
          <a:bodyPr/>
          <a:lstStyle/>
          <a:p>
            <a:r>
              <a:rPr lang="en-US" dirty="0"/>
              <a:t>Is-A</a:t>
            </a:r>
          </a:p>
        </p:txBody>
      </p:sp>
      <p:sp>
        <p:nvSpPr>
          <p:cNvPr id="3" name="Content Placeholder 2">
            <a:extLst>
              <a:ext uri="{FF2B5EF4-FFF2-40B4-BE49-F238E27FC236}">
                <a16:creationId xmlns:a16="http://schemas.microsoft.com/office/drawing/2014/main" id="{1193B006-B220-D13C-0ADE-E1EEA1571D8A}"/>
              </a:ext>
            </a:extLst>
          </p:cNvPr>
          <p:cNvSpPr>
            <a:spLocks noGrp="1"/>
          </p:cNvSpPr>
          <p:nvPr>
            <p:ph idx="1"/>
          </p:nvPr>
        </p:nvSpPr>
        <p:spPr/>
        <p:txBody>
          <a:bodyPr/>
          <a:lstStyle/>
          <a:p>
            <a:r>
              <a:rPr lang="en-US" dirty="0"/>
              <a:t>a Student is a Person</a:t>
            </a:r>
          </a:p>
          <a:p>
            <a:r>
              <a:rPr lang="en-US" dirty="0"/>
              <a:t>represents inheritance, for example, a Car is-a Vehicle means the Car class inherits from class Vehicle</a:t>
            </a:r>
          </a:p>
          <a:p>
            <a:r>
              <a:rPr lang="en-US" dirty="0"/>
              <a:t>Has-A represents composition</a:t>
            </a:r>
          </a:p>
          <a:p>
            <a:endParaRPr lang="en-US" dirty="0"/>
          </a:p>
        </p:txBody>
      </p:sp>
      <p:sp>
        <p:nvSpPr>
          <p:cNvPr id="4" name="Slide Number Placeholder 3">
            <a:extLst>
              <a:ext uri="{FF2B5EF4-FFF2-40B4-BE49-F238E27FC236}">
                <a16:creationId xmlns:a16="http://schemas.microsoft.com/office/drawing/2014/main" id="{7E2AB64A-6DC0-5B2A-C8AB-DD31A063D5C4}"/>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1156296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F0CA1-ADFA-8541-9C8B-ED25FD0138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91BE79-2AED-1914-FB9B-FADF1ED1D90B}"/>
              </a:ext>
            </a:extLst>
          </p:cNvPr>
          <p:cNvSpPr>
            <a:spLocks noGrp="1"/>
          </p:cNvSpPr>
          <p:nvPr>
            <p:ph idx="1"/>
          </p:nvPr>
        </p:nvSpPr>
        <p:spPr/>
        <p:txBody>
          <a:bodyPr>
            <a:normAutofit/>
          </a:bodyPr>
          <a:lstStyle/>
          <a:p>
            <a:r>
              <a:rPr lang="en-US" dirty="0"/>
              <a:t>both historical data models (hierarchical, network) and current relational data model were filled with many examples of has a relationships like a Product have many Parts, … </a:t>
            </a:r>
          </a:p>
          <a:p>
            <a:endParaRPr lang="en-US" dirty="0"/>
          </a:p>
        </p:txBody>
      </p:sp>
      <p:sp>
        <p:nvSpPr>
          <p:cNvPr id="4" name="Slide Number Placeholder 3">
            <a:extLst>
              <a:ext uri="{FF2B5EF4-FFF2-40B4-BE49-F238E27FC236}">
                <a16:creationId xmlns:a16="http://schemas.microsoft.com/office/drawing/2014/main" id="{307D6AE9-B4FA-81EE-CBA1-0A6131CE2730}"/>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27440807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9998-D61B-9219-9FA3-AAF91E5CC8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BE256F-798E-D60B-9B59-88D9FCE5A5FE}"/>
              </a:ext>
            </a:extLst>
          </p:cNvPr>
          <p:cNvSpPr>
            <a:spLocks noGrp="1"/>
          </p:cNvSpPr>
          <p:nvPr>
            <p:ph idx="1"/>
          </p:nvPr>
        </p:nvSpPr>
        <p:spPr/>
        <p:txBody>
          <a:bodyPr/>
          <a:lstStyle/>
          <a:p>
            <a:r>
              <a:rPr lang="en-US" dirty="0"/>
              <a:t>features that have been proposed for semantic data models</a:t>
            </a:r>
          </a:p>
          <a:p>
            <a:r>
              <a:rPr lang="en-US" dirty="0"/>
              <a:t>ER model can be enhanced to include these concepts</a:t>
            </a:r>
          </a:p>
          <a:p>
            <a:r>
              <a:rPr lang="en-US" dirty="0"/>
              <a:t>leads to Enhanced Entity-Relationship (EER) model</a:t>
            </a:r>
          </a:p>
          <a:p>
            <a:endParaRPr lang="en-US" i="1" dirty="0"/>
          </a:p>
          <a:p>
            <a:r>
              <a:rPr lang="en-US" i="1" dirty="0"/>
              <a:t>class/subclass </a:t>
            </a:r>
            <a:r>
              <a:rPr lang="en-US" dirty="0"/>
              <a:t>relationships</a:t>
            </a:r>
            <a:r>
              <a:rPr lang="en-US" i="1" dirty="0"/>
              <a:t> </a:t>
            </a:r>
          </a:p>
          <a:p>
            <a:r>
              <a:rPr lang="en-US" i="1" dirty="0"/>
              <a:t>type inheritance </a:t>
            </a:r>
          </a:p>
          <a:p>
            <a:r>
              <a:rPr lang="en-US" i="1" dirty="0"/>
              <a:t>specialization </a:t>
            </a:r>
            <a:r>
              <a:rPr lang="en-US" dirty="0"/>
              <a:t>and </a:t>
            </a:r>
            <a:r>
              <a:rPr lang="en-US" i="1" dirty="0"/>
              <a:t>generalization</a:t>
            </a:r>
            <a:endParaRPr lang="en-US" dirty="0"/>
          </a:p>
          <a:p>
            <a:endParaRPr lang="en-US" dirty="0"/>
          </a:p>
        </p:txBody>
      </p:sp>
      <p:sp>
        <p:nvSpPr>
          <p:cNvPr id="4" name="Slide Number Placeholder 3">
            <a:extLst>
              <a:ext uri="{FF2B5EF4-FFF2-40B4-BE49-F238E27FC236}">
                <a16:creationId xmlns:a16="http://schemas.microsoft.com/office/drawing/2014/main" id="{3B53BDE7-5467-99C7-5950-D843BF78E59E}"/>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10222138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9ACD-2893-2886-0063-152AAEE9C253}"/>
              </a:ext>
            </a:extLst>
          </p:cNvPr>
          <p:cNvSpPr>
            <a:spLocks noGrp="1"/>
          </p:cNvSpPr>
          <p:nvPr>
            <p:ph type="title"/>
          </p:nvPr>
        </p:nvSpPr>
        <p:spPr/>
        <p:txBody>
          <a:bodyPr/>
          <a:lstStyle/>
          <a:p>
            <a:r>
              <a:rPr lang="en-US" b="1" dirty="0"/>
              <a:t>Enhanced Entity–Relationship (EER) Model</a:t>
            </a:r>
          </a:p>
        </p:txBody>
      </p:sp>
      <p:sp>
        <p:nvSpPr>
          <p:cNvPr id="3" name="Content Placeholder 2">
            <a:extLst>
              <a:ext uri="{FF2B5EF4-FFF2-40B4-BE49-F238E27FC236}">
                <a16:creationId xmlns:a16="http://schemas.microsoft.com/office/drawing/2014/main" id="{F3FFFA2A-516C-2B6F-3E36-3A734527AD92}"/>
              </a:ext>
            </a:extLst>
          </p:cNvPr>
          <p:cNvSpPr>
            <a:spLocks noGrp="1"/>
          </p:cNvSpPr>
          <p:nvPr>
            <p:ph idx="1"/>
          </p:nvPr>
        </p:nvSpPr>
        <p:spPr/>
        <p:txBody>
          <a:bodyPr/>
          <a:lstStyle/>
          <a:p>
            <a:r>
              <a:rPr lang="en-US" dirty="0"/>
              <a:t>includes all modeling concepts of the Entity-Relationship model</a:t>
            </a:r>
          </a:p>
          <a:p>
            <a:r>
              <a:rPr lang="en-US" dirty="0"/>
              <a:t>in addition, it includes concepts of </a:t>
            </a:r>
            <a:r>
              <a:rPr lang="en-US" b="1" dirty="0"/>
              <a:t>subclass </a:t>
            </a:r>
            <a:r>
              <a:rPr lang="en-US" dirty="0"/>
              <a:t>and </a:t>
            </a:r>
            <a:r>
              <a:rPr lang="en-US" b="1" dirty="0"/>
              <a:t>superclass </a:t>
            </a:r>
            <a:r>
              <a:rPr lang="en-US" dirty="0"/>
              <a:t>and related concepts of </a:t>
            </a:r>
            <a:r>
              <a:rPr lang="en-US" b="1" dirty="0"/>
              <a:t>specialization </a:t>
            </a:r>
            <a:r>
              <a:rPr lang="en-US" dirty="0"/>
              <a:t>and </a:t>
            </a:r>
            <a:r>
              <a:rPr lang="en-US" b="1" dirty="0"/>
              <a:t>generalization</a:t>
            </a:r>
          </a:p>
          <a:p>
            <a:endParaRPr lang="en-US" dirty="0"/>
          </a:p>
        </p:txBody>
      </p:sp>
      <p:sp>
        <p:nvSpPr>
          <p:cNvPr id="4" name="Slide Number Placeholder 3">
            <a:extLst>
              <a:ext uri="{FF2B5EF4-FFF2-40B4-BE49-F238E27FC236}">
                <a16:creationId xmlns:a16="http://schemas.microsoft.com/office/drawing/2014/main" id="{43153503-12F5-CC7B-FD5A-ED18ADD372B2}"/>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22840948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B1356-9FEA-4949-786F-45E22000B571}"/>
              </a:ext>
            </a:extLst>
          </p:cNvPr>
          <p:cNvSpPr>
            <a:spLocks noGrp="1"/>
          </p:cNvSpPr>
          <p:nvPr>
            <p:ph type="title"/>
          </p:nvPr>
        </p:nvSpPr>
        <p:spPr/>
        <p:txBody>
          <a:bodyPr/>
          <a:lstStyle/>
          <a:p>
            <a:r>
              <a:rPr lang="en-US" dirty="0"/>
              <a:t>Subtype</a:t>
            </a:r>
          </a:p>
        </p:txBody>
      </p:sp>
      <p:sp>
        <p:nvSpPr>
          <p:cNvPr id="3" name="Content Placeholder 2">
            <a:extLst>
              <a:ext uri="{FF2B5EF4-FFF2-40B4-BE49-F238E27FC236}">
                <a16:creationId xmlns:a16="http://schemas.microsoft.com/office/drawing/2014/main" id="{B6E65235-CCD6-30C1-B7AE-F7C6E23BCDD5}"/>
              </a:ext>
            </a:extLst>
          </p:cNvPr>
          <p:cNvSpPr>
            <a:spLocks noGrp="1"/>
          </p:cNvSpPr>
          <p:nvPr>
            <p:ph idx="1"/>
          </p:nvPr>
        </p:nvSpPr>
        <p:spPr/>
        <p:txBody>
          <a:bodyPr>
            <a:normAutofit/>
          </a:bodyPr>
          <a:lstStyle/>
          <a:p>
            <a:r>
              <a:rPr lang="en-US" dirty="0"/>
              <a:t>for example, entity type EMPLOYEE; in many cases entity type has numerous subgroupings or subtypes of its entities that are meaningful and need to be represented explicitly because of their significance to database application</a:t>
            </a:r>
          </a:p>
          <a:p>
            <a:r>
              <a:rPr lang="en-US" dirty="0"/>
              <a:t>for example, entities that are members of EMPLOYEE entity type may be distinguished further into SECRETARY, ENGINEER, MANAGER, TECHNICIAN, SALARIED_EMPLOYEE, HOURLY_EMPLOYEE, and so on</a:t>
            </a:r>
          </a:p>
          <a:p>
            <a:r>
              <a:rPr lang="en-US" dirty="0"/>
              <a:t>set of entities in each of the latter groupings is a subset of entities that belong to EMPLOYEE entity set, meaning that every entity that is member of one of these subgroupings is also an employee</a:t>
            </a:r>
          </a:p>
        </p:txBody>
      </p:sp>
      <p:sp>
        <p:nvSpPr>
          <p:cNvPr id="4" name="Slide Number Placeholder 3">
            <a:extLst>
              <a:ext uri="{FF2B5EF4-FFF2-40B4-BE49-F238E27FC236}">
                <a16:creationId xmlns:a16="http://schemas.microsoft.com/office/drawing/2014/main" id="{00CE31AF-54D1-DB01-45C3-084045030030}"/>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42115620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01C-D3FB-C0B4-6086-BD26FA2B55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30CBE7-5BD0-F590-7C09-47E5B2E850DA}"/>
              </a:ext>
            </a:extLst>
          </p:cNvPr>
          <p:cNvSpPr>
            <a:spLocks noGrp="1"/>
          </p:cNvSpPr>
          <p:nvPr>
            <p:ph idx="1"/>
          </p:nvPr>
        </p:nvSpPr>
        <p:spPr/>
        <p:txBody>
          <a:bodyPr>
            <a:noAutofit/>
          </a:bodyPr>
          <a:lstStyle/>
          <a:p>
            <a:r>
              <a:rPr lang="en-US" sz="2700" dirty="0"/>
              <a:t>call each of these subgroupings a </a:t>
            </a:r>
            <a:r>
              <a:rPr lang="en-US" sz="2700" b="1" dirty="0"/>
              <a:t>subclass </a:t>
            </a:r>
            <a:r>
              <a:rPr lang="en-US" sz="2700" dirty="0"/>
              <a:t>or </a:t>
            </a:r>
            <a:r>
              <a:rPr lang="en-US" sz="2700" b="1" dirty="0"/>
              <a:t>subtype </a:t>
            </a:r>
            <a:r>
              <a:rPr lang="en-US" sz="2700" dirty="0"/>
              <a:t>of EMPLOYEE entity type, and the EMPLOYEE entity type is called the </a:t>
            </a:r>
            <a:r>
              <a:rPr lang="en-US" sz="2700" b="1" dirty="0"/>
              <a:t>superclass </a:t>
            </a:r>
            <a:r>
              <a:rPr lang="en-US" sz="2700" dirty="0"/>
              <a:t>or </a:t>
            </a:r>
            <a:r>
              <a:rPr lang="en-US" sz="2700" b="1" dirty="0"/>
              <a:t>supertype </a:t>
            </a:r>
            <a:r>
              <a:rPr lang="en-US" sz="2700" dirty="0"/>
              <a:t>for each of these subclasses</a:t>
            </a:r>
          </a:p>
          <a:p>
            <a:r>
              <a:rPr lang="en-US" sz="2700" dirty="0"/>
              <a:t>relationship between a superclass and any one of its subclasses it is called superclass/subclass or supertype/subtype relationship</a:t>
            </a:r>
          </a:p>
          <a:p>
            <a:r>
              <a:rPr lang="en-US" sz="2700" dirty="0"/>
              <a:t>a member entity of the subclass represents the same real-world entity as some member of the superclass; </a:t>
            </a:r>
          </a:p>
          <a:p>
            <a:r>
              <a:rPr lang="en-US" sz="2700" dirty="0"/>
              <a:t>for example, a SECRETARY entity ‘Daniela Crudu’ is also the EMPLOYEE ‘Daniela Crudu’</a:t>
            </a:r>
          </a:p>
          <a:p>
            <a:r>
              <a:rPr lang="en-US" sz="2700" dirty="0"/>
              <a:t>subclass member is the same as the entity in the superclass, but in a distinct specific role</a:t>
            </a:r>
          </a:p>
        </p:txBody>
      </p:sp>
      <p:sp>
        <p:nvSpPr>
          <p:cNvPr id="4" name="Slide Number Placeholder 3">
            <a:extLst>
              <a:ext uri="{FF2B5EF4-FFF2-40B4-BE49-F238E27FC236}">
                <a16:creationId xmlns:a16="http://schemas.microsoft.com/office/drawing/2014/main" id="{F04C218E-A948-F1C2-ABAA-7BCC316FE2C0}"/>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26785004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001A-5471-460A-A279-45CF7C5865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EDDC60-8B5B-062D-780D-FE7AF3C1AC10}"/>
              </a:ext>
            </a:extLst>
          </p:cNvPr>
          <p:cNvSpPr>
            <a:spLocks noGrp="1"/>
          </p:cNvSpPr>
          <p:nvPr>
            <p:ph idx="1"/>
          </p:nvPr>
        </p:nvSpPr>
        <p:spPr/>
        <p:txBody>
          <a:bodyPr>
            <a:normAutofit/>
          </a:bodyPr>
          <a:lstStyle/>
          <a:p>
            <a:r>
              <a:rPr lang="en-US" dirty="0"/>
              <a:t>an entity cannot exist in database merely by being a member of a subclass; it must also be member of superclass; such an entity can be included optionally as member of any number of subclasses</a:t>
            </a:r>
          </a:p>
          <a:p>
            <a:r>
              <a:rPr lang="en-US" dirty="0"/>
              <a:t>for example, salaried employee who is engineer belongs to two subclasses ENGINEER and SALARIED_EMPLOYEE of the EMPLOYEE entity type</a:t>
            </a:r>
          </a:p>
          <a:p>
            <a:r>
              <a:rPr lang="en-US" dirty="0"/>
              <a:t>however, it is not necessary that every entity in a superclass is a member of some subclass</a:t>
            </a:r>
          </a:p>
        </p:txBody>
      </p:sp>
      <p:sp>
        <p:nvSpPr>
          <p:cNvPr id="4" name="Slide Number Placeholder 3">
            <a:extLst>
              <a:ext uri="{FF2B5EF4-FFF2-40B4-BE49-F238E27FC236}">
                <a16:creationId xmlns:a16="http://schemas.microsoft.com/office/drawing/2014/main" id="{F2155113-79CC-AFCB-2D7A-27CB91CBDC35}"/>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6732372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AEF6-64EA-7688-5B9D-8A8B7F1D7947}"/>
              </a:ext>
            </a:extLst>
          </p:cNvPr>
          <p:cNvSpPr>
            <a:spLocks noGrp="1"/>
          </p:cNvSpPr>
          <p:nvPr>
            <p:ph type="title"/>
          </p:nvPr>
        </p:nvSpPr>
        <p:spPr/>
        <p:txBody>
          <a:bodyPr/>
          <a:lstStyle/>
          <a:p>
            <a:r>
              <a:rPr lang="en-US" dirty="0"/>
              <a:t>Type Inheritance</a:t>
            </a:r>
          </a:p>
        </p:txBody>
      </p:sp>
      <p:sp>
        <p:nvSpPr>
          <p:cNvPr id="3" name="Content Placeholder 2">
            <a:extLst>
              <a:ext uri="{FF2B5EF4-FFF2-40B4-BE49-F238E27FC236}">
                <a16:creationId xmlns:a16="http://schemas.microsoft.com/office/drawing/2014/main" id="{08B07016-AC17-0DB8-23E3-D5273C04E45E}"/>
              </a:ext>
            </a:extLst>
          </p:cNvPr>
          <p:cNvSpPr>
            <a:spLocks noGrp="1"/>
          </p:cNvSpPr>
          <p:nvPr>
            <p:ph idx="1"/>
          </p:nvPr>
        </p:nvSpPr>
        <p:spPr/>
        <p:txBody>
          <a:bodyPr>
            <a:normAutofit/>
          </a:bodyPr>
          <a:lstStyle/>
          <a:p>
            <a:r>
              <a:rPr lang="en-US" dirty="0"/>
              <a:t>because an entity in the subclass represents the same real-world entity from the superclass, it should possess values for its specific attributes as well</a:t>
            </a:r>
            <a:r>
              <a:rPr lang="en-US" i="1" dirty="0"/>
              <a:t> as </a:t>
            </a:r>
            <a:r>
              <a:rPr lang="en-US" dirty="0"/>
              <a:t>values of its attributes as a member of the superclass</a:t>
            </a:r>
          </a:p>
          <a:p>
            <a:r>
              <a:rPr lang="en-US" dirty="0"/>
              <a:t>entity that is a member of subclass </a:t>
            </a:r>
            <a:r>
              <a:rPr lang="en-US" b="1" dirty="0"/>
              <a:t>inherits </a:t>
            </a:r>
            <a:r>
              <a:rPr lang="en-US" dirty="0"/>
              <a:t>all attributes of entity as a member of superclass; entity also inherits all relationships in which the superclass participates</a:t>
            </a:r>
          </a:p>
          <a:p>
            <a:r>
              <a:rPr lang="en-US" dirty="0"/>
              <a:t>a subclass, with its own specific, or local, attributes and relationships together with all the attributes and relationships it inherits from superclass, can be considered entity type</a:t>
            </a:r>
            <a:r>
              <a:rPr lang="en-US" i="1" dirty="0"/>
              <a:t> </a:t>
            </a:r>
            <a:r>
              <a:rPr lang="en-US" dirty="0"/>
              <a:t>in its own right</a:t>
            </a:r>
          </a:p>
        </p:txBody>
      </p:sp>
      <p:sp>
        <p:nvSpPr>
          <p:cNvPr id="4" name="Slide Number Placeholder 3">
            <a:extLst>
              <a:ext uri="{FF2B5EF4-FFF2-40B4-BE49-F238E27FC236}">
                <a16:creationId xmlns:a16="http://schemas.microsoft.com/office/drawing/2014/main" id="{8CBE2EF7-1A0B-4A83-2689-A81A73DD061E}"/>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23873027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FAC8-0EB4-D450-86C3-CFD8D98BA36B}"/>
              </a:ext>
            </a:extLst>
          </p:cNvPr>
          <p:cNvSpPr>
            <a:spLocks noGrp="1"/>
          </p:cNvSpPr>
          <p:nvPr>
            <p:ph type="title"/>
          </p:nvPr>
        </p:nvSpPr>
        <p:spPr/>
        <p:txBody>
          <a:bodyPr/>
          <a:lstStyle/>
          <a:p>
            <a:endParaRPr lang="en-US"/>
          </a:p>
        </p:txBody>
      </p:sp>
      <p:pic>
        <p:nvPicPr>
          <p:cNvPr id="8" name="Content Placeholder 7" descr="A diagram of a company&#10;&#10;AI-generated content may be incorrect.">
            <a:extLst>
              <a:ext uri="{FF2B5EF4-FFF2-40B4-BE49-F238E27FC236}">
                <a16:creationId xmlns:a16="http://schemas.microsoft.com/office/drawing/2014/main" id="{8B5AD462-0755-3C08-93E0-F1E2FE68AB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 y="91438"/>
            <a:ext cx="10954741" cy="6630848"/>
          </a:xfrm>
        </p:spPr>
      </p:pic>
      <p:sp>
        <p:nvSpPr>
          <p:cNvPr id="4" name="Slide Number Placeholder 3">
            <a:extLst>
              <a:ext uri="{FF2B5EF4-FFF2-40B4-BE49-F238E27FC236}">
                <a16:creationId xmlns:a16="http://schemas.microsoft.com/office/drawing/2014/main" id="{58047FC6-11AA-2AE2-082B-95DC1A278129}"/>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22943877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F962-4AAB-02EE-2BE8-1316F21FA607}"/>
              </a:ext>
            </a:extLst>
          </p:cNvPr>
          <p:cNvSpPr>
            <a:spLocks noGrp="1"/>
          </p:cNvSpPr>
          <p:nvPr>
            <p:ph type="title"/>
          </p:nvPr>
        </p:nvSpPr>
        <p:spPr/>
        <p:txBody>
          <a:bodyPr/>
          <a:lstStyle/>
          <a:p>
            <a:r>
              <a:rPr lang="en-US" dirty="0"/>
              <a:t>Specialization</a:t>
            </a:r>
          </a:p>
        </p:txBody>
      </p:sp>
      <p:sp>
        <p:nvSpPr>
          <p:cNvPr id="3" name="Content Placeholder 2">
            <a:extLst>
              <a:ext uri="{FF2B5EF4-FFF2-40B4-BE49-F238E27FC236}">
                <a16:creationId xmlns:a16="http://schemas.microsoft.com/office/drawing/2014/main" id="{AD08DE3B-5CDF-9AE9-0905-4217E0FD6089}"/>
              </a:ext>
            </a:extLst>
          </p:cNvPr>
          <p:cNvSpPr>
            <a:spLocks noGrp="1"/>
          </p:cNvSpPr>
          <p:nvPr>
            <p:ph idx="1"/>
          </p:nvPr>
        </p:nvSpPr>
        <p:spPr/>
        <p:txBody>
          <a:bodyPr>
            <a:normAutofit/>
          </a:bodyPr>
          <a:lstStyle/>
          <a:p>
            <a:r>
              <a:rPr lang="en-US" dirty="0"/>
              <a:t>is the process of defining a set of subclasses of an entity type; this entity type is called superclass of specialization</a:t>
            </a:r>
          </a:p>
          <a:p>
            <a:r>
              <a:rPr lang="en-US" dirty="0"/>
              <a:t>set of subclasses that forms specialization is defined on the basis of some distinguishing characteristic of the entities in the superclass</a:t>
            </a:r>
          </a:p>
          <a:p>
            <a:r>
              <a:rPr lang="en-US" dirty="0"/>
              <a:t>for example, specialization of EMPLOYEE entity type may yield the set of subclasses {SALARIED_EMPLOYEE, HOURLY_EMPLOYEE};  specialization distinguishes among employees based on the method of pay</a:t>
            </a:r>
          </a:p>
          <a:p>
            <a:endParaRPr lang="en-US" dirty="0"/>
          </a:p>
        </p:txBody>
      </p:sp>
      <p:sp>
        <p:nvSpPr>
          <p:cNvPr id="4" name="Slide Number Placeholder 3">
            <a:extLst>
              <a:ext uri="{FF2B5EF4-FFF2-40B4-BE49-F238E27FC236}">
                <a16:creationId xmlns:a16="http://schemas.microsoft.com/office/drawing/2014/main" id="{4765BE7A-38D2-0917-95C8-F8F9302DC220}"/>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33826549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3BB38-FF80-16BB-53F1-31EB29E684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CD6BBC-C992-C9D0-D442-4FE0C5ED2985}"/>
              </a:ext>
            </a:extLst>
          </p:cNvPr>
          <p:cNvSpPr>
            <a:spLocks noGrp="1"/>
          </p:cNvSpPr>
          <p:nvPr>
            <p:ph idx="1"/>
          </p:nvPr>
        </p:nvSpPr>
        <p:spPr/>
        <p:txBody>
          <a:bodyPr/>
          <a:lstStyle/>
          <a:p>
            <a:r>
              <a:rPr lang="en-US" dirty="0"/>
              <a:t>Secretary Kim attributes:</a:t>
            </a:r>
          </a:p>
          <a:p>
            <a:pPr lvl="1"/>
            <a:r>
              <a:rPr lang="en-US" sz="2800" dirty="0" err="1"/>
              <a:t>Typing_speed</a:t>
            </a:r>
            <a:endParaRPr lang="en-US" sz="2800" dirty="0"/>
          </a:p>
          <a:p>
            <a:pPr lvl="1"/>
            <a:r>
              <a:rPr lang="en-US" sz="2800" dirty="0"/>
              <a:t>Name</a:t>
            </a:r>
          </a:p>
          <a:p>
            <a:pPr lvl="1"/>
            <a:r>
              <a:rPr lang="en-US" sz="2800" dirty="0"/>
              <a:t>SSN</a:t>
            </a:r>
          </a:p>
          <a:p>
            <a:pPr lvl="1"/>
            <a:r>
              <a:rPr lang="en-US" sz="2800" dirty="0"/>
              <a:t>Birthdate</a:t>
            </a:r>
          </a:p>
          <a:p>
            <a:pPr lvl="1"/>
            <a:r>
              <a:rPr lang="en-US" sz="2800" dirty="0"/>
              <a:t>Address</a:t>
            </a:r>
          </a:p>
          <a:p>
            <a:r>
              <a:rPr lang="en-US" dirty="0"/>
              <a:t>to get her net worth we have to access Employee and then either Salary or </a:t>
            </a:r>
            <a:r>
              <a:rPr lang="en-US" dirty="0" err="1"/>
              <a:t>Pay_scale</a:t>
            </a:r>
            <a:endParaRPr lang="en-US" dirty="0"/>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CC91897C-FE09-9B01-87C0-0FCFDA12E2AA}"/>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17879749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F5848-632E-2C4D-CFAA-F427B7F02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1B5A6-3691-3AE9-08DF-4A7105EB5B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460971-AF1D-098E-A50A-9BCCB65CA2D3}"/>
              </a:ext>
            </a:extLst>
          </p:cNvPr>
          <p:cNvSpPr>
            <a:spLocks noGrp="1"/>
          </p:cNvSpPr>
          <p:nvPr>
            <p:ph idx="1"/>
          </p:nvPr>
        </p:nvSpPr>
        <p:spPr/>
        <p:txBody>
          <a:bodyPr/>
          <a:lstStyle/>
          <a:p>
            <a:r>
              <a:rPr lang="en-US" dirty="0"/>
              <a:t>Student’s attributes in University information system</a:t>
            </a:r>
          </a:p>
          <a:p>
            <a:pPr lvl="1"/>
            <a:r>
              <a:rPr lang="en-US" sz="2800" dirty="0"/>
              <a:t>Name</a:t>
            </a:r>
          </a:p>
          <a:p>
            <a:pPr lvl="1"/>
            <a:r>
              <a:rPr lang="en-US" sz="2800" dirty="0"/>
              <a:t>SSN</a:t>
            </a:r>
          </a:p>
          <a:p>
            <a:pPr lvl="1"/>
            <a:r>
              <a:rPr lang="en-US" sz="2800" dirty="0"/>
              <a:t>Group</a:t>
            </a:r>
          </a:p>
          <a:p>
            <a:pPr lvl="1"/>
            <a:r>
              <a:rPr lang="en-US" sz="2800" dirty="0"/>
              <a:t>Faculty</a:t>
            </a:r>
          </a:p>
          <a:p>
            <a:pPr lvl="1"/>
            <a:r>
              <a:rPr lang="en-US" sz="2800" dirty="0"/>
              <a:t> </a:t>
            </a:r>
          </a:p>
        </p:txBody>
      </p:sp>
      <p:sp>
        <p:nvSpPr>
          <p:cNvPr id="4" name="Slide Number Placeholder 3">
            <a:extLst>
              <a:ext uri="{FF2B5EF4-FFF2-40B4-BE49-F238E27FC236}">
                <a16:creationId xmlns:a16="http://schemas.microsoft.com/office/drawing/2014/main" id="{C7B4A64A-9208-99D8-CF02-2A072B8BE9AD}"/>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36089132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1020-393B-DE1B-24F0-645C44C5C9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1A70A2-8924-4057-CE02-2CD4E2698A99}"/>
              </a:ext>
            </a:extLst>
          </p:cNvPr>
          <p:cNvSpPr>
            <a:spLocks noGrp="1"/>
          </p:cNvSpPr>
          <p:nvPr>
            <p:ph idx="1"/>
          </p:nvPr>
        </p:nvSpPr>
        <p:spPr/>
        <p:txBody>
          <a:bodyPr/>
          <a:lstStyle/>
          <a:p>
            <a:r>
              <a:rPr lang="en-US" dirty="0"/>
              <a:t>Faculty’s – faculty staff attributes in University information system</a:t>
            </a:r>
          </a:p>
          <a:p>
            <a:pPr lvl="1"/>
            <a:r>
              <a:rPr lang="en-US" sz="2800" dirty="0"/>
              <a:t>Name</a:t>
            </a:r>
          </a:p>
          <a:p>
            <a:pPr lvl="1"/>
            <a:r>
              <a:rPr lang="en-US" sz="2800" dirty="0"/>
              <a:t>SSN</a:t>
            </a:r>
          </a:p>
          <a:p>
            <a:pPr lvl="1"/>
            <a:r>
              <a:rPr lang="en-US" sz="2800" dirty="0"/>
              <a:t>Title</a:t>
            </a:r>
          </a:p>
          <a:p>
            <a:pPr lvl="1"/>
            <a:r>
              <a:rPr lang="en-US" sz="2800" dirty="0"/>
              <a:t>Department</a:t>
            </a:r>
          </a:p>
          <a:p>
            <a:pPr lvl="1"/>
            <a:r>
              <a:rPr lang="en-US" sz="2800" dirty="0"/>
              <a:t>Faculty</a:t>
            </a:r>
          </a:p>
          <a:p>
            <a:pPr lvl="1"/>
            <a:r>
              <a:rPr lang="en-US" sz="2800" dirty="0"/>
              <a:t> </a:t>
            </a:r>
          </a:p>
        </p:txBody>
      </p:sp>
      <p:sp>
        <p:nvSpPr>
          <p:cNvPr id="4" name="Slide Number Placeholder 3">
            <a:extLst>
              <a:ext uri="{FF2B5EF4-FFF2-40B4-BE49-F238E27FC236}">
                <a16:creationId xmlns:a16="http://schemas.microsoft.com/office/drawing/2014/main" id="{81338A36-FB2B-0827-4015-20DA2849A127}"/>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27587733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A06E-3322-724E-D8B8-7A4095414C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811E37-AA57-AE86-929F-CB6D39FDE495}"/>
              </a:ext>
            </a:extLst>
          </p:cNvPr>
          <p:cNvSpPr>
            <a:spLocks noGrp="1"/>
          </p:cNvSpPr>
          <p:nvPr>
            <p:ph idx="1"/>
          </p:nvPr>
        </p:nvSpPr>
        <p:spPr/>
        <p:txBody>
          <a:bodyPr/>
          <a:lstStyle/>
          <a:p>
            <a:r>
              <a:rPr lang="en-US" dirty="0"/>
              <a:t>Person’s attributes in University information system</a:t>
            </a:r>
          </a:p>
          <a:p>
            <a:pPr lvl="1"/>
            <a:r>
              <a:rPr lang="en-US" sz="2800" dirty="0"/>
              <a:t>Name</a:t>
            </a:r>
          </a:p>
          <a:p>
            <a:pPr lvl="1"/>
            <a:r>
              <a:rPr lang="en-US" sz="2800" dirty="0"/>
              <a:t>SSN</a:t>
            </a:r>
          </a:p>
        </p:txBody>
      </p:sp>
      <p:sp>
        <p:nvSpPr>
          <p:cNvPr id="4" name="Slide Number Placeholder 3">
            <a:extLst>
              <a:ext uri="{FF2B5EF4-FFF2-40B4-BE49-F238E27FC236}">
                <a16:creationId xmlns:a16="http://schemas.microsoft.com/office/drawing/2014/main" id="{54D31B7B-CD33-FD67-731C-7295A349871D}"/>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37683792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8AEF2-74F0-EAE9-BED4-BDFECFA777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DDC0E8-A536-77DC-4259-9F39B9090373}"/>
              </a:ext>
            </a:extLst>
          </p:cNvPr>
          <p:cNvSpPr>
            <a:spLocks noGrp="1"/>
          </p:cNvSpPr>
          <p:nvPr>
            <p:ph idx="1"/>
          </p:nvPr>
        </p:nvSpPr>
        <p:spPr/>
        <p:txBody>
          <a:bodyPr>
            <a:noAutofit/>
          </a:bodyPr>
          <a:lstStyle/>
          <a:p>
            <a:r>
              <a:rPr lang="en-US" dirty="0"/>
              <a:t>reasons for including class/subclass relationships and specializations</a:t>
            </a:r>
          </a:p>
          <a:p>
            <a:pPr marL="514350" indent="-514350">
              <a:buFont typeface="+mj-lt"/>
              <a:buAutoNum type="arabicPeriod"/>
            </a:pPr>
            <a:r>
              <a:rPr lang="en-US" dirty="0"/>
              <a:t>certain attributes may apply to some but not all entities of superclass entity type; subclass is defined in order to group the entities to which these attributes apply; members of subclass may still share majority of their attributes with other members of  superclass</a:t>
            </a:r>
          </a:p>
          <a:p>
            <a:pPr marL="514350" indent="-514350">
              <a:buFont typeface="+mj-lt"/>
              <a:buAutoNum type="arabicPeriod"/>
            </a:pPr>
            <a:r>
              <a:rPr lang="en-US" dirty="0"/>
              <a:t>some relationship types may be participated in only by entities that are members of the subclass</a:t>
            </a:r>
          </a:p>
          <a:p>
            <a:pPr lvl="1"/>
            <a:r>
              <a:rPr lang="en-US" sz="2600" dirty="0"/>
              <a:t>for example, only HOURLY_EMPLOYEES can belong to trade union</a:t>
            </a:r>
          </a:p>
          <a:p>
            <a:pPr lvl="1"/>
            <a:endParaRPr lang="en-US" dirty="0"/>
          </a:p>
        </p:txBody>
      </p:sp>
      <p:sp>
        <p:nvSpPr>
          <p:cNvPr id="4" name="Slide Number Placeholder 3">
            <a:extLst>
              <a:ext uri="{FF2B5EF4-FFF2-40B4-BE49-F238E27FC236}">
                <a16:creationId xmlns:a16="http://schemas.microsoft.com/office/drawing/2014/main" id="{AF028669-D969-941A-4154-722608270F92}"/>
              </a:ext>
            </a:extLst>
          </p:cNvPr>
          <p:cNvSpPr>
            <a:spLocks noGrp="1"/>
          </p:cNvSpPr>
          <p:nvPr>
            <p:ph type="sldNum" sz="quarter" idx="12"/>
          </p:nvPr>
        </p:nvSpPr>
        <p:spPr/>
        <p:txBody>
          <a:bodyPr/>
          <a:lstStyle/>
          <a:p>
            <a:fld id="{6264BDCF-5269-49AC-A246-ED26C2B980E3}" type="slidenum">
              <a:rPr lang="en-US" smtClean="0"/>
              <a:t>86</a:t>
            </a:fld>
            <a:endParaRPr lang="en-US"/>
          </a:p>
        </p:txBody>
      </p:sp>
    </p:spTree>
    <p:extLst>
      <p:ext uri="{BB962C8B-B14F-4D97-AF65-F5344CB8AC3E}">
        <p14:creationId xmlns:p14="http://schemas.microsoft.com/office/powerpoint/2010/main" val="2571981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2FF30-B27E-B6B8-73CA-592B6BCE9231}"/>
              </a:ext>
            </a:extLst>
          </p:cNvPr>
          <p:cNvSpPr>
            <a:spLocks noGrp="1"/>
          </p:cNvSpPr>
          <p:nvPr>
            <p:ph type="title"/>
          </p:nvPr>
        </p:nvSpPr>
        <p:spPr/>
        <p:txBody>
          <a:bodyPr/>
          <a:lstStyle/>
          <a:p>
            <a:r>
              <a:rPr lang="en-US" dirty="0"/>
              <a:t>Generalization</a:t>
            </a:r>
          </a:p>
        </p:txBody>
      </p:sp>
      <p:sp>
        <p:nvSpPr>
          <p:cNvPr id="3" name="Content Placeholder 2">
            <a:extLst>
              <a:ext uri="{FF2B5EF4-FFF2-40B4-BE49-F238E27FC236}">
                <a16:creationId xmlns:a16="http://schemas.microsoft.com/office/drawing/2014/main" id="{740A7A2B-37B7-37AE-E802-EE04F22711E4}"/>
              </a:ext>
            </a:extLst>
          </p:cNvPr>
          <p:cNvSpPr>
            <a:spLocks noGrp="1"/>
          </p:cNvSpPr>
          <p:nvPr>
            <p:ph idx="1"/>
          </p:nvPr>
        </p:nvSpPr>
        <p:spPr/>
        <p:txBody>
          <a:bodyPr>
            <a:normAutofit/>
          </a:bodyPr>
          <a:lstStyle/>
          <a:p>
            <a:r>
              <a:rPr lang="en-US" dirty="0"/>
              <a:t>reverse process of abstraction in which we suppress differences among several entity types, identify their common features, and generalize them into a single superclass of which the original entity types are special subclasses</a:t>
            </a:r>
          </a:p>
        </p:txBody>
      </p:sp>
      <p:sp>
        <p:nvSpPr>
          <p:cNvPr id="4" name="Slide Number Placeholder 3">
            <a:extLst>
              <a:ext uri="{FF2B5EF4-FFF2-40B4-BE49-F238E27FC236}">
                <a16:creationId xmlns:a16="http://schemas.microsoft.com/office/drawing/2014/main" id="{7A69B922-F518-D097-223C-63CBD8DC8B5F}"/>
              </a:ext>
            </a:extLst>
          </p:cNvPr>
          <p:cNvSpPr>
            <a:spLocks noGrp="1"/>
          </p:cNvSpPr>
          <p:nvPr>
            <p:ph type="sldNum" sz="quarter" idx="12"/>
          </p:nvPr>
        </p:nvSpPr>
        <p:spPr/>
        <p:txBody>
          <a:bodyPr/>
          <a:lstStyle/>
          <a:p>
            <a:fld id="{6264BDCF-5269-49AC-A246-ED26C2B980E3}" type="slidenum">
              <a:rPr lang="en-US" smtClean="0"/>
              <a:t>87</a:t>
            </a:fld>
            <a:endParaRPr lang="en-US"/>
          </a:p>
        </p:txBody>
      </p:sp>
    </p:spTree>
    <p:extLst>
      <p:ext uri="{BB962C8B-B14F-4D97-AF65-F5344CB8AC3E}">
        <p14:creationId xmlns:p14="http://schemas.microsoft.com/office/powerpoint/2010/main" val="31010308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E86B5-1E0E-5439-2592-758BD4B62256}"/>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0B2B7AED-4584-5F16-B06A-B9CC27D070BB}"/>
              </a:ext>
            </a:extLst>
          </p:cNvPr>
          <p:cNvPicPr>
            <a:picLocks noGrp="1" noChangeAspect="1"/>
          </p:cNvPicPr>
          <p:nvPr>
            <p:ph idx="1"/>
          </p:nvPr>
        </p:nvPicPr>
        <p:blipFill>
          <a:blip r:embed="rId2"/>
          <a:stretch>
            <a:fillRect/>
          </a:stretch>
        </p:blipFill>
        <p:spPr>
          <a:xfrm>
            <a:off x="548640" y="91439"/>
            <a:ext cx="10242168" cy="6584251"/>
          </a:xfrm>
          <a:prstGeom prst="rect">
            <a:avLst/>
          </a:prstGeom>
        </p:spPr>
      </p:pic>
      <p:sp>
        <p:nvSpPr>
          <p:cNvPr id="4" name="Slide Number Placeholder 3">
            <a:extLst>
              <a:ext uri="{FF2B5EF4-FFF2-40B4-BE49-F238E27FC236}">
                <a16:creationId xmlns:a16="http://schemas.microsoft.com/office/drawing/2014/main" id="{0FE5300F-B58F-1D6E-93C3-210711934770}"/>
              </a:ext>
            </a:extLst>
          </p:cNvPr>
          <p:cNvSpPr>
            <a:spLocks noGrp="1"/>
          </p:cNvSpPr>
          <p:nvPr>
            <p:ph type="sldNum" sz="quarter" idx="12"/>
          </p:nvPr>
        </p:nvSpPr>
        <p:spPr/>
        <p:txBody>
          <a:bodyPr/>
          <a:lstStyle/>
          <a:p>
            <a:fld id="{6264BDCF-5269-49AC-A246-ED26C2B980E3}" type="slidenum">
              <a:rPr lang="en-US" smtClean="0"/>
              <a:t>88</a:t>
            </a:fld>
            <a:endParaRPr lang="en-US"/>
          </a:p>
        </p:txBody>
      </p:sp>
    </p:spTree>
    <p:extLst>
      <p:ext uri="{BB962C8B-B14F-4D97-AF65-F5344CB8AC3E}">
        <p14:creationId xmlns:p14="http://schemas.microsoft.com/office/powerpoint/2010/main" val="15307583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1A91-56E5-2AD2-7EBD-C4FD3FA125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1C6981-5BF3-EA1E-A48B-C2AB522D7D9F}"/>
              </a:ext>
            </a:extLst>
          </p:cNvPr>
          <p:cNvSpPr>
            <a:spLocks noGrp="1"/>
          </p:cNvSpPr>
          <p:nvPr>
            <p:ph idx="1"/>
          </p:nvPr>
        </p:nvSpPr>
        <p:spPr/>
        <p:txBody>
          <a:bodyPr>
            <a:noAutofit/>
          </a:bodyPr>
          <a:lstStyle/>
          <a:p>
            <a:r>
              <a:rPr lang="en-US" dirty="0"/>
              <a:t>for example, entity types CAR and TRUCK have several common attributes, they can be generalized into entity type VEHICLE</a:t>
            </a:r>
          </a:p>
          <a:p>
            <a:endParaRPr lang="en-US" dirty="0"/>
          </a:p>
          <a:p>
            <a:r>
              <a:rPr lang="en-US" dirty="0"/>
              <a:t>use term generalization to refer to the process of defining generalized entity type from given entity types</a:t>
            </a:r>
          </a:p>
          <a:p>
            <a:r>
              <a:rPr lang="en-US" dirty="0"/>
              <a:t>generalization process can be viewed as being functionally the inverse of specialization process</a:t>
            </a:r>
          </a:p>
          <a:p>
            <a:r>
              <a:rPr lang="en-US" dirty="0"/>
              <a:t>decision as to which process was followed in particular situation is often subjective</a:t>
            </a:r>
          </a:p>
        </p:txBody>
      </p:sp>
      <p:sp>
        <p:nvSpPr>
          <p:cNvPr id="4" name="Slide Number Placeholder 3">
            <a:extLst>
              <a:ext uri="{FF2B5EF4-FFF2-40B4-BE49-F238E27FC236}">
                <a16:creationId xmlns:a16="http://schemas.microsoft.com/office/drawing/2014/main" id="{59DECB73-D3ED-1F68-E4C7-C1B0427357F4}"/>
              </a:ext>
            </a:extLst>
          </p:cNvPr>
          <p:cNvSpPr>
            <a:spLocks noGrp="1"/>
          </p:cNvSpPr>
          <p:nvPr>
            <p:ph type="sldNum" sz="quarter" idx="12"/>
          </p:nvPr>
        </p:nvSpPr>
        <p:spPr/>
        <p:txBody>
          <a:bodyPr/>
          <a:lstStyle/>
          <a:p>
            <a:fld id="{6264BDCF-5269-49AC-A246-ED26C2B980E3}" type="slidenum">
              <a:rPr lang="en-US" smtClean="0"/>
              <a:t>89</a:t>
            </a:fld>
            <a:endParaRPr lang="en-US"/>
          </a:p>
        </p:txBody>
      </p:sp>
    </p:spTree>
    <p:extLst>
      <p:ext uri="{BB962C8B-B14F-4D97-AF65-F5344CB8AC3E}">
        <p14:creationId xmlns:p14="http://schemas.microsoft.com/office/powerpoint/2010/main" val="9317270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7517-1930-DE79-0147-066072C549B3}"/>
              </a:ext>
            </a:extLst>
          </p:cNvPr>
          <p:cNvSpPr>
            <a:spLocks noGrp="1"/>
          </p:cNvSpPr>
          <p:nvPr>
            <p:ph type="title"/>
          </p:nvPr>
        </p:nvSpPr>
        <p:spPr>
          <a:xfrm>
            <a:off x="838199" y="365125"/>
            <a:ext cx="11147323" cy="1325563"/>
          </a:xfrm>
        </p:spPr>
        <p:txBody>
          <a:bodyPr>
            <a:normAutofit/>
          </a:bodyPr>
          <a:lstStyle/>
          <a:p>
            <a:r>
              <a:rPr lang="en-US" dirty="0"/>
              <a:t>Constraints on Specialization and Generalization</a:t>
            </a:r>
          </a:p>
        </p:txBody>
      </p:sp>
      <p:sp>
        <p:nvSpPr>
          <p:cNvPr id="3" name="Content Placeholder 2">
            <a:extLst>
              <a:ext uri="{FF2B5EF4-FFF2-40B4-BE49-F238E27FC236}">
                <a16:creationId xmlns:a16="http://schemas.microsoft.com/office/drawing/2014/main" id="{D47D8D89-D478-6AAC-0AFC-6068C1DB58CA}"/>
              </a:ext>
            </a:extLst>
          </p:cNvPr>
          <p:cNvSpPr>
            <a:spLocks noGrp="1"/>
          </p:cNvSpPr>
          <p:nvPr>
            <p:ph idx="1"/>
          </p:nvPr>
        </p:nvSpPr>
        <p:spPr/>
        <p:txBody>
          <a:bodyPr>
            <a:normAutofit/>
          </a:bodyPr>
          <a:lstStyle/>
          <a:p>
            <a:r>
              <a:rPr lang="en-US" dirty="0"/>
              <a:t>in some specializations we can determine exactly entities that will become members of each subclass by placing a condition on the value of some attribute of the superclass; such subclasses are called predicate-defined (or condition-defined) subclasses</a:t>
            </a:r>
          </a:p>
          <a:p>
            <a:r>
              <a:rPr lang="en-US" dirty="0"/>
              <a:t>for example, if EMPLOYEE entity type has attribute </a:t>
            </a:r>
            <a:r>
              <a:rPr lang="en-US" dirty="0" err="1"/>
              <a:t>Job_type</a:t>
            </a:r>
            <a:r>
              <a:rPr lang="en-US" dirty="0"/>
              <a:t> can specify condition of membership in SECRETARY / ENGINEER /  MANAGER / TECHNICIAN subclass</a:t>
            </a:r>
          </a:p>
        </p:txBody>
      </p:sp>
      <p:sp>
        <p:nvSpPr>
          <p:cNvPr id="4" name="Slide Number Placeholder 3">
            <a:extLst>
              <a:ext uri="{FF2B5EF4-FFF2-40B4-BE49-F238E27FC236}">
                <a16:creationId xmlns:a16="http://schemas.microsoft.com/office/drawing/2014/main" id="{1C0C08C8-9FD7-20D7-32D4-01ED1A9AAEDA}"/>
              </a:ext>
            </a:extLst>
          </p:cNvPr>
          <p:cNvSpPr>
            <a:spLocks noGrp="1"/>
          </p:cNvSpPr>
          <p:nvPr>
            <p:ph type="sldNum" sz="quarter" idx="12"/>
          </p:nvPr>
        </p:nvSpPr>
        <p:spPr/>
        <p:txBody>
          <a:bodyPr/>
          <a:lstStyle/>
          <a:p>
            <a:fld id="{6264BDCF-5269-49AC-A246-ED26C2B980E3}" type="slidenum">
              <a:rPr lang="en-US" smtClean="0"/>
              <a:t>90</a:t>
            </a:fld>
            <a:endParaRPr lang="en-US"/>
          </a:p>
        </p:txBody>
      </p:sp>
    </p:spTree>
    <p:extLst>
      <p:ext uri="{BB962C8B-B14F-4D97-AF65-F5344CB8AC3E}">
        <p14:creationId xmlns:p14="http://schemas.microsoft.com/office/powerpoint/2010/main" val="359586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3FDE-851C-F4A9-62D0-84D70C1D7B9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A4CA4F0-3D5C-B73B-EC0C-4FD98E235355}"/>
              </a:ext>
            </a:extLst>
          </p:cNvPr>
          <p:cNvPicPr>
            <a:picLocks noGrp="1" noChangeAspect="1"/>
          </p:cNvPicPr>
          <p:nvPr>
            <p:ph idx="1"/>
          </p:nvPr>
        </p:nvPicPr>
        <p:blipFill>
          <a:blip r:embed="rId2"/>
          <a:stretch>
            <a:fillRect/>
          </a:stretch>
        </p:blipFill>
        <p:spPr>
          <a:xfrm>
            <a:off x="731520" y="365760"/>
            <a:ext cx="10207113" cy="6165647"/>
          </a:xfrm>
          <a:prstGeom prst="rect">
            <a:avLst/>
          </a:prstGeom>
        </p:spPr>
      </p:pic>
      <p:sp>
        <p:nvSpPr>
          <p:cNvPr id="4" name="Slide Number Placeholder 3">
            <a:extLst>
              <a:ext uri="{FF2B5EF4-FFF2-40B4-BE49-F238E27FC236}">
                <a16:creationId xmlns:a16="http://schemas.microsoft.com/office/drawing/2014/main" id="{FD7B3DCD-1A8A-FB43-D2C9-F52639927BC6}"/>
              </a:ext>
            </a:extLst>
          </p:cNvPr>
          <p:cNvSpPr>
            <a:spLocks noGrp="1"/>
          </p:cNvSpPr>
          <p:nvPr>
            <p:ph type="sldNum" sz="quarter" idx="12"/>
          </p:nvPr>
        </p:nvSpPr>
        <p:spPr/>
        <p:txBody>
          <a:bodyPr/>
          <a:lstStyle/>
          <a:p>
            <a:fld id="{6264BDCF-5269-49AC-A246-ED26C2B980E3}" type="slidenum">
              <a:rPr lang="en-US" smtClean="0"/>
              <a:t>91</a:t>
            </a:fld>
            <a:endParaRPr lang="en-US"/>
          </a:p>
        </p:txBody>
      </p:sp>
    </p:spTree>
    <p:extLst>
      <p:ext uri="{BB962C8B-B14F-4D97-AF65-F5344CB8AC3E}">
        <p14:creationId xmlns:p14="http://schemas.microsoft.com/office/powerpoint/2010/main" val="40075299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2711B-514A-9F93-4C8B-40E965F5C1FE}"/>
              </a:ext>
            </a:extLst>
          </p:cNvPr>
          <p:cNvSpPr>
            <a:spLocks noGrp="1"/>
          </p:cNvSpPr>
          <p:nvPr>
            <p:ph type="title"/>
          </p:nvPr>
        </p:nvSpPr>
        <p:spPr/>
        <p:txBody>
          <a:bodyPr/>
          <a:lstStyle/>
          <a:p>
            <a:r>
              <a:rPr lang="en-US" dirty="0"/>
              <a:t>Defining Attribute</a:t>
            </a:r>
          </a:p>
        </p:txBody>
      </p:sp>
      <p:sp>
        <p:nvSpPr>
          <p:cNvPr id="3" name="Content Placeholder 2">
            <a:extLst>
              <a:ext uri="{FF2B5EF4-FFF2-40B4-BE49-F238E27FC236}">
                <a16:creationId xmlns:a16="http://schemas.microsoft.com/office/drawing/2014/main" id="{739ECB72-882B-B361-CD91-6DBC7730EB25}"/>
              </a:ext>
            </a:extLst>
          </p:cNvPr>
          <p:cNvSpPr>
            <a:spLocks noGrp="1"/>
          </p:cNvSpPr>
          <p:nvPr>
            <p:ph idx="1"/>
          </p:nvPr>
        </p:nvSpPr>
        <p:spPr/>
        <p:txBody>
          <a:bodyPr>
            <a:normAutofit/>
          </a:bodyPr>
          <a:lstStyle/>
          <a:p>
            <a:r>
              <a:rPr lang="en-US" dirty="0"/>
              <a:t>if all subclasses in specialization have their membership condition on same attribute of superclass, specialization itself is called attribute-defined specialization, and the attribute is called defining attribute of specialization</a:t>
            </a:r>
          </a:p>
          <a:p>
            <a:r>
              <a:rPr lang="en-US" dirty="0"/>
              <a:t>all entities with same value for attribute belong to same subclass</a:t>
            </a:r>
          </a:p>
        </p:txBody>
      </p:sp>
      <p:sp>
        <p:nvSpPr>
          <p:cNvPr id="4" name="Slide Number Placeholder 3">
            <a:extLst>
              <a:ext uri="{FF2B5EF4-FFF2-40B4-BE49-F238E27FC236}">
                <a16:creationId xmlns:a16="http://schemas.microsoft.com/office/drawing/2014/main" id="{5C58922B-DE07-AC53-E267-E64C96329BA8}"/>
              </a:ext>
            </a:extLst>
          </p:cNvPr>
          <p:cNvSpPr>
            <a:spLocks noGrp="1"/>
          </p:cNvSpPr>
          <p:nvPr>
            <p:ph type="sldNum" sz="quarter" idx="12"/>
          </p:nvPr>
        </p:nvSpPr>
        <p:spPr/>
        <p:txBody>
          <a:bodyPr/>
          <a:lstStyle/>
          <a:p>
            <a:fld id="{6264BDCF-5269-49AC-A246-ED26C2B980E3}" type="slidenum">
              <a:rPr lang="en-US" smtClean="0"/>
              <a:t>92</a:t>
            </a:fld>
            <a:endParaRPr lang="en-US"/>
          </a:p>
        </p:txBody>
      </p:sp>
    </p:spTree>
    <p:extLst>
      <p:ext uri="{BB962C8B-B14F-4D97-AF65-F5344CB8AC3E}">
        <p14:creationId xmlns:p14="http://schemas.microsoft.com/office/powerpoint/2010/main" val="4535864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CE4C-84F2-229F-21EF-D75459E615E0}"/>
              </a:ext>
            </a:extLst>
          </p:cNvPr>
          <p:cNvSpPr>
            <a:spLocks noGrp="1"/>
          </p:cNvSpPr>
          <p:nvPr>
            <p:ph type="title"/>
          </p:nvPr>
        </p:nvSpPr>
        <p:spPr/>
        <p:txBody>
          <a:bodyPr/>
          <a:lstStyle/>
          <a:p>
            <a:r>
              <a:rPr lang="en-US" dirty="0"/>
              <a:t>User Defined</a:t>
            </a:r>
          </a:p>
        </p:txBody>
      </p:sp>
      <p:sp>
        <p:nvSpPr>
          <p:cNvPr id="3" name="Content Placeholder 2">
            <a:extLst>
              <a:ext uri="{FF2B5EF4-FFF2-40B4-BE49-F238E27FC236}">
                <a16:creationId xmlns:a16="http://schemas.microsoft.com/office/drawing/2014/main" id="{9D310032-68B1-FC7D-7073-7958D766C06C}"/>
              </a:ext>
            </a:extLst>
          </p:cNvPr>
          <p:cNvSpPr>
            <a:spLocks noGrp="1"/>
          </p:cNvSpPr>
          <p:nvPr>
            <p:ph idx="1"/>
          </p:nvPr>
        </p:nvSpPr>
        <p:spPr/>
        <p:txBody>
          <a:bodyPr>
            <a:normAutofit/>
          </a:bodyPr>
          <a:lstStyle/>
          <a:p>
            <a:r>
              <a:rPr lang="en-US" dirty="0"/>
              <a:t>when do not have condition for determining membership in subclass, subclass is called user-defined</a:t>
            </a:r>
          </a:p>
          <a:p>
            <a:r>
              <a:rPr lang="en-US" dirty="0"/>
              <a:t>membership in such subclass is determined by database users when they apply operation to add entity to subclass; hence, membership is specified individually for each entity by the user, not by any condition that may be evaluated automatically</a:t>
            </a:r>
          </a:p>
        </p:txBody>
      </p:sp>
      <p:sp>
        <p:nvSpPr>
          <p:cNvPr id="4" name="Slide Number Placeholder 3">
            <a:extLst>
              <a:ext uri="{FF2B5EF4-FFF2-40B4-BE49-F238E27FC236}">
                <a16:creationId xmlns:a16="http://schemas.microsoft.com/office/drawing/2014/main" id="{89B8E294-7515-19F1-FF40-771A11F8DBC6}"/>
              </a:ext>
            </a:extLst>
          </p:cNvPr>
          <p:cNvSpPr>
            <a:spLocks noGrp="1"/>
          </p:cNvSpPr>
          <p:nvPr>
            <p:ph type="sldNum" sz="quarter" idx="12"/>
          </p:nvPr>
        </p:nvSpPr>
        <p:spPr/>
        <p:txBody>
          <a:bodyPr/>
          <a:lstStyle/>
          <a:p>
            <a:fld id="{6264BDCF-5269-49AC-A246-ED26C2B980E3}" type="slidenum">
              <a:rPr lang="en-US" smtClean="0"/>
              <a:t>93</a:t>
            </a:fld>
            <a:endParaRPr lang="en-US"/>
          </a:p>
        </p:txBody>
      </p:sp>
    </p:spTree>
    <p:extLst>
      <p:ext uri="{BB962C8B-B14F-4D97-AF65-F5344CB8AC3E}">
        <p14:creationId xmlns:p14="http://schemas.microsoft.com/office/powerpoint/2010/main" val="845909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DD41A-FA21-609B-B9AF-BA7354B0C800}"/>
              </a:ext>
            </a:extLst>
          </p:cNvPr>
          <p:cNvSpPr>
            <a:spLocks noGrp="1"/>
          </p:cNvSpPr>
          <p:nvPr>
            <p:ph type="title"/>
          </p:nvPr>
        </p:nvSpPr>
        <p:spPr/>
        <p:txBody>
          <a:bodyPr/>
          <a:lstStyle/>
          <a:p>
            <a:r>
              <a:rPr lang="en-US" dirty="0"/>
              <a:t>Disjoint Constraint</a:t>
            </a:r>
          </a:p>
        </p:txBody>
      </p:sp>
      <p:sp>
        <p:nvSpPr>
          <p:cNvPr id="3" name="Content Placeholder 2">
            <a:extLst>
              <a:ext uri="{FF2B5EF4-FFF2-40B4-BE49-F238E27FC236}">
                <a16:creationId xmlns:a16="http://schemas.microsoft.com/office/drawing/2014/main" id="{802EBECD-DD71-5BCE-01E4-7AA5CD80F1F0}"/>
              </a:ext>
            </a:extLst>
          </p:cNvPr>
          <p:cNvSpPr>
            <a:spLocks noGrp="1"/>
          </p:cNvSpPr>
          <p:nvPr>
            <p:ph idx="1"/>
          </p:nvPr>
        </p:nvSpPr>
        <p:spPr/>
        <p:txBody>
          <a:bodyPr>
            <a:normAutofit/>
          </a:bodyPr>
          <a:lstStyle/>
          <a:p>
            <a:r>
              <a:rPr lang="en-US" dirty="0"/>
              <a:t>specifies that the subclasses of the specialization must be disjoint sets</a:t>
            </a:r>
          </a:p>
          <a:p>
            <a:r>
              <a:rPr lang="en-US" dirty="0"/>
              <a:t>means that an entity can be a member of at most one of the subclasses of the specialization</a:t>
            </a:r>
          </a:p>
          <a:p>
            <a:r>
              <a:rPr lang="en-US" dirty="0"/>
              <a:t>specialization that is attribute-defined implies the disjoint constraint (if attribute used to define membership predicate is single valued)</a:t>
            </a:r>
          </a:p>
        </p:txBody>
      </p:sp>
      <p:sp>
        <p:nvSpPr>
          <p:cNvPr id="4" name="Slide Number Placeholder 3">
            <a:extLst>
              <a:ext uri="{FF2B5EF4-FFF2-40B4-BE49-F238E27FC236}">
                <a16:creationId xmlns:a16="http://schemas.microsoft.com/office/drawing/2014/main" id="{51191DDC-4B74-52F8-FFFE-C3802D9A6F00}"/>
              </a:ext>
            </a:extLst>
          </p:cNvPr>
          <p:cNvSpPr>
            <a:spLocks noGrp="1"/>
          </p:cNvSpPr>
          <p:nvPr>
            <p:ph type="sldNum" sz="quarter" idx="12"/>
          </p:nvPr>
        </p:nvSpPr>
        <p:spPr/>
        <p:txBody>
          <a:bodyPr/>
          <a:lstStyle/>
          <a:p>
            <a:fld id="{6264BDCF-5269-49AC-A246-ED26C2B980E3}" type="slidenum">
              <a:rPr lang="en-US" smtClean="0"/>
              <a:t>94</a:t>
            </a:fld>
            <a:endParaRPr lang="en-US"/>
          </a:p>
        </p:txBody>
      </p:sp>
    </p:spTree>
    <p:extLst>
      <p:ext uri="{BB962C8B-B14F-4D97-AF65-F5344CB8AC3E}">
        <p14:creationId xmlns:p14="http://schemas.microsoft.com/office/powerpoint/2010/main" val="41461767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F771-CC02-4C05-E65D-36DE93FC4BB7}"/>
              </a:ext>
            </a:extLst>
          </p:cNvPr>
          <p:cNvSpPr>
            <a:spLocks noGrp="1"/>
          </p:cNvSpPr>
          <p:nvPr>
            <p:ph type="title"/>
          </p:nvPr>
        </p:nvSpPr>
        <p:spPr/>
        <p:txBody>
          <a:bodyPr/>
          <a:lstStyle/>
          <a:p>
            <a:r>
              <a:rPr lang="en-US" dirty="0"/>
              <a:t>Overlapping</a:t>
            </a:r>
          </a:p>
        </p:txBody>
      </p:sp>
      <p:sp>
        <p:nvSpPr>
          <p:cNvPr id="3" name="Content Placeholder 2">
            <a:extLst>
              <a:ext uri="{FF2B5EF4-FFF2-40B4-BE49-F238E27FC236}">
                <a16:creationId xmlns:a16="http://schemas.microsoft.com/office/drawing/2014/main" id="{2EECA467-3E1C-A463-65BE-B4593470BA37}"/>
              </a:ext>
            </a:extLst>
          </p:cNvPr>
          <p:cNvSpPr>
            <a:spLocks noGrp="1"/>
          </p:cNvSpPr>
          <p:nvPr>
            <p:ph idx="1"/>
          </p:nvPr>
        </p:nvSpPr>
        <p:spPr/>
        <p:txBody>
          <a:bodyPr>
            <a:normAutofit/>
          </a:bodyPr>
          <a:lstStyle/>
          <a:p>
            <a:r>
              <a:rPr lang="en-US" dirty="0"/>
              <a:t>if subclasses are not constrained to be disjoint, their sets of entities may be overlapping; that is, same (real-world) entity may be a member of more than one subclass of specialization</a:t>
            </a:r>
          </a:p>
          <a:p>
            <a:r>
              <a:rPr lang="en-US" dirty="0"/>
              <a:t>this case is the default</a:t>
            </a:r>
          </a:p>
        </p:txBody>
      </p:sp>
      <p:sp>
        <p:nvSpPr>
          <p:cNvPr id="4" name="Slide Number Placeholder 3">
            <a:extLst>
              <a:ext uri="{FF2B5EF4-FFF2-40B4-BE49-F238E27FC236}">
                <a16:creationId xmlns:a16="http://schemas.microsoft.com/office/drawing/2014/main" id="{A746B168-64F5-4445-2E71-14AFC9459C3A}"/>
              </a:ext>
            </a:extLst>
          </p:cNvPr>
          <p:cNvSpPr>
            <a:spLocks noGrp="1"/>
          </p:cNvSpPr>
          <p:nvPr>
            <p:ph type="sldNum" sz="quarter" idx="12"/>
          </p:nvPr>
        </p:nvSpPr>
        <p:spPr/>
        <p:txBody>
          <a:bodyPr/>
          <a:lstStyle/>
          <a:p>
            <a:fld id="{6264BDCF-5269-49AC-A246-ED26C2B980E3}" type="slidenum">
              <a:rPr lang="en-US" smtClean="0"/>
              <a:t>95</a:t>
            </a:fld>
            <a:endParaRPr lang="en-US"/>
          </a:p>
        </p:txBody>
      </p:sp>
    </p:spTree>
    <p:extLst>
      <p:ext uri="{BB962C8B-B14F-4D97-AF65-F5344CB8AC3E}">
        <p14:creationId xmlns:p14="http://schemas.microsoft.com/office/powerpoint/2010/main" val="191370052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CC4E-9429-336A-CA0C-9572AC950DB4}"/>
              </a:ext>
            </a:extLst>
          </p:cNvPr>
          <p:cNvSpPr>
            <a:spLocks noGrp="1"/>
          </p:cNvSpPr>
          <p:nvPr>
            <p:ph type="title"/>
          </p:nvPr>
        </p:nvSpPr>
        <p:spPr/>
        <p:txBody>
          <a:bodyPr/>
          <a:lstStyle/>
          <a:p>
            <a:r>
              <a:rPr lang="en-US" dirty="0"/>
              <a:t>Completeness Constraint </a:t>
            </a:r>
          </a:p>
        </p:txBody>
      </p:sp>
      <p:sp>
        <p:nvSpPr>
          <p:cNvPr id="3" name="Content Placeholder 2">
            <a:extLst>
              <a:ext uri="{FF2B5EF4-FFF2-40B4-BE49-F238E27FC236}">
                <a16:creationId xmlns:a16="http://schemas.microsoft.com/office/drawing/2014/main" id="{44371813-1E97-B627-D164-A3074DC1E95E}"/>
              </a:ext>
            </a:extLst>
          </p:cNvPr>
          <p:cNvSpPr>
            <a:spLocks noGrp="1"/>
          </p:cNvSpPr>
          <p:nvPr>
            <p:ph idx="1"/>
          </p:nvPr>
        </p:nvSpPr>
        <p:spPr>
          <a:xfrm>
            <a:off x="838199" y="1825625"/>
            <a:ext cx="10724535" cy="4351338"/>
          </a:xfrm>
        </p:spPr>
        <p:txBody>
          <a:bodyPr>
            <a:normAutofit/>
          </a:bodyPr>
          <a:lstStyle/>
          <a:p>
            <a:r>
              <a:rPr lang="en-US" dirty="0"/>
              <a:t>may be total or partial</a:t>
            </a:r>
          </a:p>
          <a:p>
            <a:r>
              <a:rPr lang="en-US" b="1" dirty="0"/>
              <a:t>total specialization </a:t>
            </a:r>
            <a:r>
              <a:rPr lang="en-US" dirty="0"/>
              <a:t>constraint specifies that every entity in superclass must be member of at least one subclass in specialization</a:t>
            </a:r>
          </a:p>
          <a:p>
            <a:pPr lvl="1"/>
            <a:r>
              <a:rPr lang="en-US" sz="2600" dirty="0"/>
              <a:t>for example, every EMPLOYEE must be either HOURLY_EMPLOYEE or SALARIED_EMPLOYEE; is a total specialization of EMPLOYEE</a:t>
            </a:r>
          </a:p>
          <a:p>
            <a:r>
              <a:rPr lang="en-US" b="1" dirty="0"/>
              <a:t>partial specialization</a:t>
            </a:r>
            <a:r>
              <a:rPr lang="en-US" dirty="0"/>
              <a:t> allows an entity not to belong to any of the subclasses</a:t>
            </a:r>
          </a:p>
          <a:p>
            <a:pPr lvl="1"/>
            <a:r>
              <a:rPr lang="en-US" sz="2600" dirty="0"/>
              <a:t>for example, some EMPLOYEE entities do not belong to any of subclasses {SECRETARY, ENGINEER, TECHNICIAN}; specialization is partial</a:t>
            </a:r>
          </a:p>
        </p:txBody>
      </p:sp>
      <p:sp>
        <p:nvSpPr>
          <p:cNvPr id="4" name="Slide Number Placeholder 3">
            <a:extLst>
              <a:ext uri="{FF2B5EF4-FFF2-40B4-BE49-F238E27FC236}">
                <a16:creationId xmlns:a16="http://schemas.microsoft.com/office/drawing/2014/main" id="{78182E99-5C50-28A0-5E7F-ADFDA508CE46}"/>
              </a:ext>
            </a:extLst>
          </p:cNvPr>
          <p:cNvSpPr>
            <a:spLocks noGrp="1"/>
          </p:cNvSpPr>
          <p:nvPr>
            <p:ph type="sldNum" sz="quarter" idx="12"/>
          </p:nvPr>
        </p:nvSpPr>
        <p:spPr/>
        <p:txBody>
          <a:bodyPr/>
          <a:lstStyle/>
          <a:p>
            <a:fld id="{6264BDCF-5269-49AC-A246-ED26C2B980E3}" type="slidenum">
              <a:rPr lang="en-US" smtClean="0"/>
              <a:t>96</a:t>
            </a:fld>
            <a:endParaRPr lang="en-US"/>
          </a:p>
        </p:txBody>
      </p:sp>
    </p:spTree>
    <p:extLst>
      <p:ext uri="{BB962C8B-B14F-4D97-AF65-F5344CB8AC3E}">
        <p14:creationId xmlns:p14="http://schemas.microsoft.com/office/powerpoint/2010/main" val="28196347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A1BFF-F78F-4FA2-4AEE-911B4C3291A0}"/>
              </a:ext>
            </a:extLst>
          </p:cNvPr>
          <p:cNvSpPr>
            <a:spLocks noGrp="1"/>
          </p:cNvSpPr>
          <p:nvPr>
            <p:ph type="title"/>
          </p:nvPr>
        </p:nvSpPr>
        <p:spPr/>
        <p:txBody>
          <a:bodyPr/>
          <a:lstStyle/>
          <a:p>
            <a:r>
              <a:rPr lang="en-US" dirty="0"/>
              <a:t>disjoint and complete constraints</a:t>
            </a:r>
          </a:p>
        </p:txBody>
      </p:sp>
      <p:sp>
        <p:nvSpPr>
          <p:cNvPr id="3" name="Content Placeholder 2">
            <a:extLst>
              <a:ext uri="{FF2B5EF4-FFF2-40B4-BE49-F238E27FC236}">
                <a16:creationId xmlns:a16="http://schemas.microsoft.com/office/drawing/2014/main" id="{73ACD996-05D9-9879-5EE7-FDF5B426E370}"/>
              </a:ext>
            </a:extLst>
          </p:cNvPr>
          <p:cNvSpPr>
            <a:spLocks noGrp="1"/>
          </p:cNvSpPr>
          <p:nvPr>
            <p:ph idx="1"/>
          </p:nvPr>
        </p:nvSpPr>
        <p:spPr/>
        <p:txBody>
          <a:bodyPr>
            <a:normAutofit/>
          </a:bodyPr>
          <a:lstStyle/>
          <a:p>
            <a:r>
              <a:rPr lang="en-US" dirty="0"/>
              <a:t>disjoint and complete constraints are </a:t>
            </a:r>
            <a:r>
              <a:rPr lang="en-US" i="1" dirty="0"/>
              <a:t>independent</a:t>
            </a:r>
          </a:p>
          <a:p>
            <a:pPr lvl="1"/>
            <a:r>
              <a:rPr lang="en-US" sz="2800" dirty="0"/>
              <a:t>disjoint, total</a:t>
            </a:r>
          </a:p>
          <a:p>
            <a:pPr lvl="1"/>
            <a:r>
              <a:rPr lang="en-US" sz="2800" dirty="0"/>
              <a:t>disjoint, partial</a:t>
            </a:r>
          </a:p>
          <a:p>
            <a:pPr lvl="1"/>
            <a:r>
              <a:rPr lang="en-US" sz="2800" dirty="0"/>
              <a:t>overlapping, total</a:t>
            </a:r>
          </a:p>
          <a:p>
            <a:pPr lvl="1"/>
            <a:r>
              <a:rPr lang="en-US" sz="2800" dirty="0"/>
              <a:t>overlapping, partial</a:t>
            </a:r>
          </a:p>
          <a:p>
            <a:r>
              <a:rPr lang="en-US" dirty="0"/>
              <a:t>constraint is determined from real-world meaning that applies to each specialization</a:t>
            </a:r>
          </a:p>
        </p:txBody>
      </p:sp>
      <p:sp>
        <p:nvSpPr>
          <p:cNvPr id="4" name="Slide Number Placeholder 3">
            <a:extLst>
              <a:ext uri="{FF2B5EF4-FFF2-40B4-BE49-F238E27FC236}">
                <a16:creationId xmlns:a16="http://schemas.microsoft.com/office/drawing/2014/main" id="{5323EF7E-C1E3-A87C-E6B5-0F4DB6C578BC}"/>
              </a:ext>
            </a:extLst>
          </p:cNvPr>
          <p:cNvSpPr>
            <a:spLocks noGrp="1"/>
          </p:cNvSpPr>
          <p:nvPr>
            <p:ph type="sldNum" sz="quarter" idx="12"/>
          </p:nvPr>
        </p:nvSpPr>
        <p:spPr/>
        <p:txBody>
          <a:bodyPr/>
          <a:lstStyle/>
          <a:p>
            <a:fld id="{6264BDCF-5269-49AC-A246-ED26C2B980E3}" type="slidenum">
              <a:rPr lang="en-US" smtClean="0"/>
              <a:t>97</a:t>
            </a:fld>
            <a:endParaRPr lang="en-US"/>
          </a:p>
        </p:txBody>
      </p:sp>
    </p:spTree>
    <p:extLst>
      <p:ext uri="{BB962C8B-B14F-4D97-AF65-F5344CB8AC3E}">
        <p14:creationId xmlns:p14="http://schemas.microsoft.com/office/powerpoint/2010/main" val="18008064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549E-8544-7E9B-DA79-7A2CCF0B4809}"/>
              </a:ext>
            </a:extLst>
          </p:cNvPr>
          <p:cNvSpPr>
            <a:spLocks noGrp="1"/>
          </p:cNvSpPr>
          <p:nvPr>
            <p:ph type="title"/>
          </p:nvPr>
        </p:nvSpPr>
        <p:spPr/>
        <p:txBody>
          <a:bodyPr/>
          <a:lstStyle/>
          <a:p>
            <a:r>
              <a:rPr lang="en-US" dirty="0"/>
              <a:t>Cascade Delete</a:t>
            </a:r>
          </a:p>
        </p:txBody>
      </p:sp>
      <p:sp>
        <p:nvSpPr>
          <p:cNvPr id="3" name="Content Placeholder 2">
            <a:extLst>
              <a:ext uri="{FF2B5EF4-FFF2-40B4-BE49-F238E27FC236}">
                <a16:creationId xmlns:a16="http://schemas.microsoft.com/office/drawing/2014/main" id="{534E382A-C84D-F20E-B362-7D27CB945F7A}"/>
              </a:ext>
            </a:extLst>
          </p:cNvPr>
          <p:cNvSpPr>
            <a:spLocks noGrp="1"/>
          </p:cNvSpPr>
          <p:nvPr>
            <p:ph idx="1"/>
          </p:nvPr>
        </p:nvSpPr>
        <p:spPr/>
        <p:txBody>
          <a:bodyPr/>
          <a:lstStyle/>
          <a:p>
            <a:r>
              <a:rPr lang="en-US" dirty="0"/>
              <a:t>deleting entity from a superclass implies that it is automatically deleted from all subclasses to which it belongs</a:t>
            </a:r>
          </a:p>
        </p:txBody>
      </p:sp>
      <p:sp>
        <p:nvSpPr>
          <p:cNvPr id="4" name="Slide Number Placeholder 3">
            <a:extLst>
              <a:ext uri="{FF2B5EF4-FFF2-40B4-BE49-F238E27FC236}">
                <a16:creationId xmlns:a16="http://schemas.microsoft.com/office/drawing/2014/main" id="{7C42B515-9055-6735-757A-DCB88255E9AA}"/>
              </a:ext>
            </a:extLst>
          </p:cNvPr>
          <p:cNvSpPr>
            <a:spLocks noGrp="1"/>
          </p:cNvSpPr>
          <p:nvPr>
            <p:ph type="sldNum" sz="quarter" idx="12"/>
          </p:nvPr>
        </p:nvSpPr>
        <p:spPr/>
        <p:txBody>
          <a:bodyPr/>
          <a:lstStyle/>
          <a:p>
            <a:fld id="{6264BDCF-5269-49AC-A246-ED26C2B980E3}" type="slidenum">
              <a:rPr lang="en-US" smtClean="0"/>
              <a:t>98</a:t>
            </a:fld>
            <a:endParaRPr lang="en-US"/>
          </a:p>
        </p:txBody>
      </p:sp>
    </p:spTree>
    <p:extLst>
      <p:ext uri="{BB962C8B-B14F-4D97-AF65-F5344CB8AC3E}">
        <p14:creationId xmlns:p14="http://schemas.microsoft.com/office/powerpoint/2010/main" val="25892499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2A850-A09E-D466-7E6B-6039AD7F3A1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541358-844C-CA51-F8ED-93B67FD39685}"/>
              </a:ext>
            </a:extLst>
          </p:cNvPr>
          <p:cNvSpPr>
            <a:spLocks noGrp="1"/>
          </p:cNvSpPr>
          <p:nvPr>
            <p:ph idx="1"/>
          </p:nvPr>
        </p:nvSpPr>
        <p:spPr/>
        <p:txBody>
          <a:bodyPr>
            <a:normAutofit/>
          </a:bodyPr>
          <a:lstStyle/>
          <a:p>
            <a:r>
              <a:rPr lang="en-US" dirty="0"/>
              <a:t>inserting entity in superclass implies that entity is mandatorily inserted in all predicate-defined (or attribute-defined) subclasses for which entity satisfies defining predicate</a:t>
            </a:r>
          </a:p>
          <a:p>
            <a:r>
              <a:rPr lang="en-US" dirty="0"/>
              <a:t>inserting entity in superclass of total specialization implies that entity is mandatorily inserted in at least one of subclasses of specialization</a:t>
            </a:r>
          </a:p>
        </p:txBody>
      </p:sp>
      <p:sp>
        <p:nvSpPr>
          <p:cNvPr id="4" name="Slide Number Placeholder 3">
            <a:extLst>
              <a:ext uri="{FF2B5EF4-FFF2-40B4-BE49-F238E27FC236}">
                <a16:creationId xmlns:a16="http://schemas.microsoft.com/office/drawing/2014/main" id="{1343D269-7695-3C7A-C02C-C2218E3EEAB1}"/>
              </a:ext>
            </a:extLst>
          </p:cNvPr>
          <p:cNvSpPr>
            <a:spLocks noGrp="1"/>
          </p:cNvSpPr>
          <p:nvPr>
            <p:ph type="sldNum" sz="quarter" idx="12"/>
          </p:nvPr>
        </p:nvSpPr>
        <p:spPr/>
        <p:txBody>
          <a:bodyPr/>
          <a:lstStyle/>
          <a:p>
            <a:fld id="{6264BDCF-5269-49AC-A246-ED26C2B980E3}" type="slidenum">
              <a:rPr lang="en-US" smtClean="0"/>
              <a:t>99</a:t>
            </a:fld>
            <a:endParaRPr lang="en-US"/>
          </a:p>
        </p:txBody>
      </p:sp>
    </p:spTree>
    <p:extLst>
      <p:ext uri="{BB962C8B-B14F-4D97-AF65-F5344CB8AC3E}">
        <p14:creationId xmlns:p14="http://schemas.microsoft.com/office/powerpoint/2010/main" val="200505407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F6BF-7339-3931-747F-C9E290126298}"/>
              </a:ext>
            </a:extLst>
          </p:cNvPr>
          <p:cNvSpPr>
            <a:spLocks noGrp="1"/>
          </p:cNvSpPr>
          <p:nvPr>
            <p:ph type="title"/>
          </p:nvPr>
        </p:nvSpPr>
        <p:spPr/>
        <p:txBody>
          <a:bodyPr/>
          <a:lstStyle/>
          <a:p>
            <a:r>
              <a:rPr lang="en-US" dirty="0"/>
              <a:t>One-to-One relationship </a:t>
            </a:r>
          </a:p>
        </p:txBody>
      </p:sp>
      <p:sp>
        <p:nvSpPr>
          <p:cNvPr id="3" name="Content Placeholder 2">
            <a:extLst>
              <a:ext uri="{FF2B5EF4-FFF2-40B4-BE49-F238E27FC236}">
                <a16:creationId xmlns:a16="http://schemas.microsoft.com/office/drawing/2014/main" id="{851FDB7F-F984-8D5E-DC2C-F9CA1343394B}"/>
              </a:ext>
            </a:extLst>
          </p:cNvPr>
          <p:cNvSpPr>
            <a:spLocks noGrp="1"/>
          </p:cNvSpPr>
          <p:nvPr>
            <p:ph idx="1"/>
          </p:nvPr>
        </p:nvSpPr>
        <p:spPr/>
        <p:txBody>
          <a:bodyPr/>
          <a:lstStyle/>
          <a:p>
            <a:r>
              <a:rPr lang="en-US" dirty="0"/>
              <a:t>One SECRETARY is One EMPLOYEE</a:t>
            </a:r>
          </a:p>
          <a:p>
            <a:r>
              <a:rPr lang="en-US" dirty="0"/>
              <a:t>One EMPLOYEE is One SECRETARY</a:t>
            </a:r>
          </a:p>
          <a:p>
            <a:endParaRPr lang="en-US" dirty="0"/>
          </a:p>
        </p:txBody>
      </p:sp>
      <p:sp>
        <p:nvSpPr>
          <p:cNvPr id="4" name="Slide Number Placeholder 3">
            <a:extLst>
              <a:ext uri="{FF2B5EF4-FFF2-40B4-BE49-F238E27FC236}">
                <a16:creationId xmlns:a16="http://schemas.microsoft.com/office/drawing/2014/main" id="{201007EE-5210-BE1E-A728-FACE790F3E5C}"/>
              </a:ext>
            </a:extLst>
          </p:cNvPr>
          <p:cNvSpPr>
            <a:spLocks noGrp="1"/>
          </p:cNvSpPr>
          <p:nvPr>
            <p:ph type="sldNum" sz="quarter" idx="12"/>
          </p:nvPr>
        </p:nvSpPr>
        <p:spPr/>
        <p:txBody>
          <a:bodyPr/>
          <a:lstStyle/>
          <a:p>
            <a:fld id="{6264BDCF-5269-49AC-A246-ED26C2B980E3}" type="slidenum">
              <a:rPr lang="en-US" smtClean="0"/>
              <a:t>100</a:t>
            </a:fld>
            <a:endParaRPr lang="en-US"/>
          </a:p>
        </p:txBody>
      </p:sp>
    </p:spTree>
    <p:extLst>
      <p:ext uri="{BB962C8B-B14F-4D97-AF65-F5344CB8AC3E}">
        <p14:creationId xmlns:p14="http://schemas.microsoft.com/office/powerpoint/2010/main" val="6061331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750C-7943-0629-5994-6E5646F00547}"/>
              </a:ext>
            </a:extLst>
          </p:cNvPr>
          <p:cNvSpPr>
            <a:spLocks noGrp="1"/>
          </p:cNvSpPr>
          <p:nvPr>
            <p:ph type="title"/>
          </p:nvPr>
        </p:nvSpPr>
        <p:spPr/>
        <p:txBody>
          <a:bodyPr>
            <a:normAutofit/>
          </a:bodyPr>
          <a:lstStyle/>
          <a:p>
            <a:r>
              <a:rPr lang="en-US" dirty="0"/>
              <a:t>Specialization with Multiple Inheritance for  									UNIVERSITY </a:t>
            </a:r>
          </a:p>
        </p:txBody>
      </p:sp>
      <p:pic>
        <p:nvPicPr>
          <p:cNvPr id="8" name="Content Placeholder 7" descr="A diagram of a student's degree&#10;&#10;AI-generated content may be incorrect.">
            <a:extLst>
              <a:ext uri="{FF2B5EF4-FFF2-40B4-BE49-F238E27FC236}">
                <a16:creationId xmlns:a16="http://schemas.microsoft.com/office/drawing/2014/main" id="{A2C84A7F-497A-CF36-DA49-1AE68A0998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520" y="1097280"/>
            <a:ext cx="7000646" cy="5625389"/>
          </a:xfrm>
        </p:spPr>
      </p:pic>
      <p:sp>
        <p:nvSpPr>
          <p:cNvPr id="4" name="Slide Number Placeholder 3">
            <a:extLst>
              <a:ext uri="{FF2B5EF4-FFF2-40B4-BE49-F238E27FC236}">
                <a16:creationId xmlns:a16="http://schemas.microsoft.com/office/drawing/2014/main" id="{297E8642-6347-1A08-7A64-3CD472CD4E24}"/>
              </a:ext>
            </a:extLst>
          </p:cNvPr>
          <p:cNvSpPr>
            <a:spLocks noGrp="1"/>
          </p:cNvSpPr>
          <p:nvPr>
            <p:ph type="sldNum" sz="quarter" idx="12"/>
          </p:nvPr>
        </p:nvSpPr>
        <p:spPr/>
        <p:txBody>
          <a:bodyPr/>
          <a:lstStyle/>
          <a:p>
            <a:fld id="{6264BDCF-5269-49AC-A246-ED26C2B980E3}" type="slidenum">
              <a:rPr lang="en-US" smtClean="0"/>
              <a:t>101</a:t>
            </a:fld>
            <a:endParaRPr lang="en-US"/>
          </a:p>
        </p:txBody>
      </p:sp>
    </p:spTree>
    <p:extLst>
      <p:ext uri="{BB962C8B-B14F-4D97-AF65-F5344CB8AC3E}">
        <p14:creationId xmlns:p14="http://schemas.microsoft.com/office/powerpoint/2010/main" val="27146049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74FF5-7CF8-002C-7AF4-9EE7CF7FFD78}"/>
              </a:ext>
            </a:extLst>
          </p:cNvPr>
          <p:cNvSpPr>
            <a:spLocks noGrp="1"/>
          </p:cNvSpPr>
          <p:nvPr>
            <p:ph type="title"/>
          </p:nvPr>
        </p:nvSpPr>
        <p:spPr/>
        <p:txBody>
          <a:bodyPr/>
          <a:lstStyle/>
          <a:p>
            <a:r>
              <a:rPr lang="en-US" dirty="0"/>
              <a:t>Modeling of UNION Types Using Categories</a:t>
            </a:r>
          </a:p>
        </p:txBody>
      </p:sp>
      <p:sp>
        <p:nvSpPr>
          <p:cNvPr id="3" name="Content Placeholder 2">
            <a:extLst>
              <a:ext uri="{FF2B5EF4-FFF2-40B4-BE49-F238E27FC236}">
                <a16:creationId xmlns:a16="http://schemas.microsoft.com/office/drawing/2014/main" id="{6716568A-C22E-4125-7ECA-DE42444AAC61}"/>
              </a:ext>
            </a:extLst>
          </p:cNvPr>
          <p:cNvSpPr>
            <a:spLocks noGrp="1"/>
          </p:cNvSpPr>
          <p:nvPr>
            <p:ph idx="1"/>
          </p:nvPr>
        </p:nvSpPr>
        <p:spPr/>
        <p:txBody>
          <a:bodyPr>
            <a:noAutofit/>
          </a:bodyPr>
          <a:lstStyle/>
          <a:p>
            <a:r>
              <a:rPr lang="en-US" dirty="0"/>
              <a:t>sometimes necessary to represent a collection of entities from different entity types: subclass will represent a collection of entities that is a subset of the UNION of entities from distinct entity types</a:t>
            </a:r>
          </a:p>
          <a:p>
            <a:r>
              <a:rPr lang="en-US" dirty="0"/>
              <a:t>call such a subclass a union type or a category</a:t>
            </a:r>
          </a:p>
        </p:txBody>
      </p:sp>
      <p:sp>
        <p:nvSpPr>
          <p:cNvPr id="4" name="Slide Number Placeholder 3">
            <a:extLst>
              <a:ext uri="{FF2B5EF4-FFF2-40B4-BE49-F238E27FC236}">
                <a16:creationId xmlns:a16="http://schemas.microsoft.com/office/drawing/2014/main" id="{849E84CE-D77F-3CCA-CC42-0C2E0D018B5C}"/>
              </a:ext>
            </a:extLst>
          </p:cNvPr>
          <p:cNvSpPr>
            <a:spLocks noGrp="1"/>
          </p:cNvSpPr>
          <p:nvPr>
            <p:ph type="sldNum" sz="quarter" idx="12"/>
          </p:nvPr>
        </p:nvSpPr>
        <p:spPr/>
        <p:txBody>
          <a:bodyPr/>
          <a:lstStyle/>
          <a:p>
            <a:fld id="{6264BDCF-5269-49AC-A246-ED26C2B980E3}" type="slidenum">
              <a:rPr lang="en-US" smtClean="0"/>
              <a:t>102</a:t>
            </a:fld>
            <a:endParaRPr lang="en-US"/>
          </a:p>
        </p:txBody>
      </p:sp>
    </p:spTree>
    <p:extLst>
      <p:ext uri="{BB962C8B-B14F-4D97-AF65-F5344CB8AC3E}">
        <p14:creationId xmlns:p14="http://schemas.microsoft.com/office/powerpoint/2010/main" val="38774275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8AE3-6CED-D858-2C3C-E131F40B05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3EFD25-42AB-10AF-CB57-10569D040C9D}"/>
              </a:ext>
            </a:extLst>
          </p:cNvPr>
          <p:cNvSpPr>
            <a:spLocks noGrp="1"/>
          </p:cNvSpPr>
          <p:nvPr>
            <p:ph idx="1"/>
          </p:nvPr>
        </p:nvSpPr>
        <p:spPr/>
        <p:txBody>
          <a:bodyPr>
            <a:normAutofit/>
          </a:bodyPr>
          <a:lstStyle/>
          <a:p>
            <a:r>
              <a:rPr lang="en-US" dirty="0"/>
              <a:t>for example, suppose that we have three entity types: PERSON, BANK, and COMPANY in a database for motor vehicle registration</a:t>
            </a:r>
          </a:p>
          <a:p>
            <a:r>
              <a:rPr lang="en-US" dirty="0"/>
              <a:t>owner of a vehicle can be a person, a bank (holding a lien on a vehicle), or a company</a:t>
            </a:r>
          </a:p>
          <a:p>
            <a:r>
              <a:rPr lang="en-US" dirty="0"/>
              <a:t>need to create a class (collection of entities) that includes entities of all three types to play the role of vehicle owner</a:t>
            </a:r>
          </a:p>
          <a:p>
            <a:r>
              <a:rPr lang="en-US" dirty="0"/>
              <a:t>category (union type) OWNER that is a subclass of the UNION of the three entity sets of COMPANY, BANK, and PERSON can be created for this purpose</a:t>
            </a:r>
          </a:p>
        </p:txBody>
      </p:sp>
      <p:sp>
        <p:nvSpPr>
          <p:cNvPr id="4" name="Slide Number Placeholder 3">
            <a:extLst>
              <a:ext uri="{FF2B5EF4-FFF2-40B4-BE49-F238E27FC236}">
                <a16:creationId xmlns:a16="http://schemas.microsoft.com/office/drawing/2014/main" id="{779666FB-5A44-C415-EEC0-B4BCB55EA37F}"/>
              </a:ext>
            </a:extLst>
          </p:cNvPr>
          <p:cNvSpPr>
            <a:spLocks noGrp="1"/>
          </p:cNvSpPr>
          <p:nvPr>
            <p:ph type="sldNum" sz="quarter" idx="12"/>
          </p:nvPr>
        </p:nvSpPr>
        <p:spPr/>
        <p:txBody>
          <a:bodyPr/>
          <a:lstStyle/>
          <a:p>
            <a:fld id="{6264BDCF-5269-49AC-A246-ED26C2B980E3}" type="slidenum">
              <a:rPr lang="en-US" smtClean="0"/>
              <a:t>103</a:t>
            </a:fld>
            <a:endParaRPr lang="en-US"/>
          </a:p>
        </p:txBody>
      </p:sp>
    </p:spTree>
    <p:extLst>
      <p:ext uri="{BB962C8B-B14F-4D97-AF65-F5344CB8AC3E}">
        <p14:creationId xmlns:p14="http://schemas.microsoft.com/office/powerpoint/2010/main" val="32681023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B739BA-4B22-ADCF-AC21-ECBD5C6F2D53}"/>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1AF17DBF-AA54-6DDE-BE3A-DEEA030C1382}"/>
              </a:ext>
            </a:extLst>
          </p:cNvPr>
          <p:cNvSpPr>
            <a:spLocks noGrp="1"/>
          </p:cNvSpPr>
          <p:nvPr>
            <p:ph sz="half" idx="1"/>
          </p:nvPr>
        </p:nvSpPr>
        <p:spPr>
          <a:xfrm>
            <a:off x="838200" y="1825625"/>
            <a:ext cx="4107426" cy="4351338"/>
          </a:xfrm>
        </p:spPr>
        <p:txBody>
          <a:bodyPr>
            <a:normAutofit fontScale="47500" lnSpcReduction="20000"/>
          </a:bodyPr>
          <a:lstStyle/>
          <a:p>
            <a:endParaRPr lang="en-US" dirty="0"/>
          </a:p>
        </p:txBody>
      </p:sp>
      <p:sp>
        <p:nvSpPr>
          <p:cNvPr id="7" name="Content Placeholder 6">
            <a:extLst>
              <a:ext uri="{FF2B5EF4-FFF2-40B4-BE49-F238E27FC236}">
                <a16:creationId xmlns:a16="http://schemas.microsoft.com/office/drawing/2014/main" id="{04D35F5D-2399-C4FC-830E-42A778580FDE}"/>
              </a:ext>
            </a:extLst>
          </p:cNvPr>
          <p:cNvSpPr>
            <a:spLocks noGrp="1"/>
          </p:cNvSpPr>
          <p:nvPr>
            <p:ph sz="half" idx="2"/>
          </p:nvPr>
        </p:nvSpPr>
        <p:spPr>
          <a:xfrm>
            <a:off x="5258247" y="1825625"/>
            <a:ext cx="6095553" cy="4351338"/>
          </a:xfrm>
        </p:spPr>
        <p:txBody>
          <a:bodyPr>
            <a:noAutofit/>
          </a:bodyPr>
          <a:lstStyle/>
          <a:p>
            <a:r>
              <a:rPr lang="en-US" dirty="0"/>
              <a:t>category has two or more </a:t>
            </a:r>
            <a:r>
              <a:rPr lang="en-US" dirty="0" err="1"/>
              <a:t>superclasses</a:t>
            </a:r>
            <a:r>
              <a:rPr lang="en-US" dirty="0"/>
              <a:t> that may represent collections of entities from distinct entity types, whereas other superclass/subclass relationships always have a single superclass</a:t>
            </a:r>
          </a:p>
        </p:txBody>
      </p:sp>
      <p:sp>
        <p:nvSpPr>
          <p:cNvPr id="4" name="Slide Number Placeholder 3">
            <a:extLst>
              <a:ext uri="{FF2B5EF4-FFF2-40B4-BE49-F238E27FC236}">
                <a16:creationId xmlns:a16="http://schemas.microsoft.com/office/drawing/2014/main" id="{3CC0B53C-0F87-1B24-CFE0-5F0DFA08D7BF}"/>
              </a:ext>
            </a:extLst>
          </p:cNvPr>
          <p:cNvSpPr>
            <a:spLocks noGrp="1"/>
          </p:cNvSpPr>
          <p:nvPr>
            <p:ph type="sldNum" sz="quarter" idx="12"/>
          </p:nvPr>
        </p:nvSpPr>
        <p:spPr/>
        <p:txBody>
          <a:bodyPr/>
          <a:lstStyle/>
          <a:p>
            <a:fld id="{6264BDCF-5269-49AC-A246-ED26C2B980E3}" type="slidenum">
              <a:rPr lang="en-US" smtClean="0"/>
              <a:t>104</a:t>
            </a:fld>
            <a:endParaRPr lang="en-US"/>
          </a:p>
        </p:txBody>
      </p:sp>
      <p:pic>
        <p:nvPicPr>
          <p:cNvPr id="8" name="Picture 7">
            <a:extLst>
              <a:ext uri="{FF2B5EF4-FFF2-40B4-BE49-F238E27FC236}">
                <a16:creationId xmlns:a16="http://schemas.microsoft.com/office/drawing/2014/main" id="{A85C7BC8-962D-2444-2F46-95B664C6E439}"/>
              </a:ext>
            </a:extLst>
          </p:cNvPr>
          <p:cNvPicPr>
            <a:picLocks noChangeAspect="1"/>
          </p:cNvPicPr>
          <p:nvPr/>
        </p:nvPicPr>
        <p:blipFill>
          <a:blip r:embed="rId2"/>
          <a:stretch>
            <a:fillRect/>
          </a:stretch>
        </p:blipFill>
        <p:spPr>
          <a:xfrm>
            <a:off x="91440" y="91440"/>
            <a:ext cx="5166807" cy="6675699"/>
          </a:xfrm>
          <a:prstGeom prst="rect">
            <a:avLst/>
          </a:prstGeom>
        </p:spPr>
      </p:pic>
    </p:spTree>
    <p:extLst>
      <p:ext uri="{BB962C8B-B14F-4D97-AF65-F5344CB8AC3E}">
        <p14:creationId xmlns:p14="http://schemas.microsoft.com/office/powerpoint/2010/main" val="3406605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8919-F3E7-6449-211B-6289C4A7E3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256CDC-CBBB-43E0-3F2A-D62490EA7FB6}"/>
              </a:ext>
            </a:extLst>
          </p:cNvPr>
          <p:cNvSpPr>
            <a:spLocks noGrp="1"/>
          </p:cNvSpPr>
          <p:nvPr>
            <p:ph idx="1"/>
          </p:nvPr>
        </p:nvSpPr>
        <p:spPr/>
        <p:txBody>
          <a:bodyPr>
            <a:normAutofit lnSpcReduction="10000"/>
          </a:bodyPr>
          <a:lstStyle/>
          <a:p>
            <a:r>
              <a:rPr lang="en-US" dirty="0"/>
              <a:t>compare a category, such as OWNER with ENGINEERING_MANAGER shared subclass of each of the three </a:t>
            </a:r>
            <a:r>
              <a:rPr lang="en-US" dirty="0" err="1"/>
              <a:t>superclasses</a:t>
            </a:r>
            <a:r>
              <a:rPr lang="en-US" dirty="0"/>
              <a:t> ENGINEER, MANAGER, and SALARIED_EMPLOYEE, so an entity that is a member of ENGINEERING_MANAGER must exist in all three collections</a:t>
            </a:r>
          </a:p>
          <a:p>
            <a:r>
              <a:rPr lang="en-US" dirty="0"/>
              <a:t>represents the constraint that an engineering manager must be an ENGINEER, a MANAGER, and a SALARIED_EMPLOYEE; </a:t>
            </a:r>
          </a:p>
          <a:p>
            <a:r>
              <a:rPr lang="en-US" dirty="0"/>
              <a:t>category is a subset of the union of its </a:t>
            </a:r>
            <a:r>
              <a:rPr lang="en-US" dirty="0" err="1"/>
              <a:t>superclasses</a:t>
            </a:r>
            <a:endParaRPr lang="en-US" dirty="0"/>
          </a:p>
          <a:p>
            <a:r>
              <a:rPr lang="en-US" dirty="0"/>
              <a:t>hence, entity that is a member of OWNER must exist in only one of the </a:t>
            </a:r>
            <a:r>
              <a:rPr lang="en-US" dirty="0" err="1"/>
              <a:t>superclasses</a:t>
            </a:r>
            <a:endParaRPr lang="en-US" dirty="0"/>
          </a:p>
          <a:p>
            <a:r>
              <a:rPr lang="en-US" dirty="0"/>
              <a:t>constraint that an OWNER may be a COMPANY, a BANK, or a PERSON</a:t>
            </a:r>
          </a:p>
        </p:txBody>
      </p:sp>
      <p:sp>
        <p:nvSpPr>
          <p:cNvPr id="4" name="Slide Number Placeholder 3">
            <a:extLst>
              <a:ext uri="{FF2B5EF4-FFF2-40B4-BE49-F238E27FC236}">
                <a16:creationId xmlns:a16="http://schemas.microsoft.com/office/drawing/2014/main" id="{F56F2479-97F6-FFF5-4D4C-E8DAB2C62530}"/>
              </a:ext>
            </a:extLst>
          </p:cNvPr>
          <p:cNvSpPr>
            <a:spLocks noGrp="1"/>
          </p:cNvSpPr>
          <p:nvPr>
            <p:ph type="sldNum" sz="quarter" idx="12"/>
          </p:nvPr>
        </p:nvSpPr>
        <p:spPr/>
        <p:txBody>
          <a:bodyPr/>
          <a:lstStyle/>
          <a:p>
            <a:fld id="{6264BDCF-5269-49AC-A246-ED26C2B980E3}" type="slidenum">
              <a:rPr lang="en-US" smtClean="0"/>
              <a:t>105</a:t>
            </a:fld>
            <a:endParaRPr lang="en-US"/>
          </a:p>
        </p:txBody>
      </p:sp>
    </p:spTree>
    <p:extLst>
      <p:ext uri="{BB962C8B-B14F-4D97-AF65-F5344CB8AC3E}">
        <p14:creationId xmlns:p14="http://schemas.microsoft.com/office/powerpoint/2010/main" val="41317175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67A7-5C70-CD54-DBBE-403BB41A4B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C41D01-61C2-DA02-A968-6AF3A7B25289}"/>
              </a:ext>
            </a:extLst>
          </p:cNvPr>
          <p:cNvSpPr>
            <a:spLocks noGrp="1"/>
          </p:cNvSpPr>
          <p:nvPr>
            <p:ph idx="1"/>
          </p:nvPr>
        </p:nvSpPr>
        <p:spPr/>
        <p:txBody>
          <a:bodyPr/>
          <a:lstStyle/>
          <a:p>
            <a:r>
              <a:rPr lang="en-US" dirty="0"/>
              <a:t>each OWNER entity inherits attributes of a COMPANY, a PERSON, or a BANK, depending on superclass to which entity belongs</a:t>
            </a:r>
          </a:p>
          <a:p>
            <a:r>
              <a:rPr lang="en-US" dirty="0"/>
              <a:t>shared subclass such as ENGINEERING_MANAGER inherits </a:t>
            </a:r>
            <a:r>
              <a:rPr lang="en-US" i="1" dirty="0"/>
              <a:t>all </a:t>
            </a:r>
            <a:r>
              <a:rPr lang="en-US" dirty="0"/>
              <a:t>the attributes of its </a:t>
            </a:r>
            <a:r>
              <a:rPr lang="en-US" dirty="0" err="1"/>
              <a:t>superclasses</a:t>
            </a:r>
            <a:r>
              <a:rPr lang="en-US" dirty="0"/>
              <a:t> SALARIED_EMPLOYEE, ENGINEER, and MANAGER</a:t>
            </a:r>
          </a:p>
        </p:txBody>
      </p:sp>
      <p:sp>
        <p:nvSpPr>
          <p:cNvPr id="4" name="Slide Number Placeholder 3">
            <a:extLst>
              <a:ext uri="{FF2B5EF4-FFF2-40B4-BE49-F238E27FC236}">
                <a16:creationId xmlns:a16="http://schemas.microsoft.com/office/drawing/2014/main" id="{3AFC8F6D-65D6-E829-D636-25718DF9024E}"/>
              </a:ext>
            </a:extLst>
          </p:cNvPr>
          <p:cNvSpPr>
            <a:spLocks noGrp="1"/>
          </p:cNvSpPr>
          <p:nvPr>
            <p:ph type="sldNum" sz="quarter" idx="12"/>
          </p:nvPr>
        </p:nvSpPr>
        <p:spPr/>
        <p:txBody>
          <a:bodyPr/>
          <a:lstStyle/>
          <a:p>
            <a:fld id="{6264BDCF-5269-49AC-A246-ED26C2B980E3}" type="slidenum">
              <a:rPr lang="en-US" smtClean="0"/>
              <a:t>106</a:t>
            </a:fld>
            <a:endParaRPr lang="en-US"/>
          </a:p>
        </p:txBody>
      </p:sp>
    </p:spTree>
    <p:extLst>
      <p:ext uri="{BB962C8B-B14F-4D97-AF65-F5344CB8AC3E}">
        <p14:creationId xmlns:p14="http://schemas.microsoft.com/office/powerpoint/2010/main" val="26707495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FDB3B-3CB4-E9B1-8933-BBD1A7BAB51C}"/>
              </a:ext>
            </a:extLst>
          </p:cNvPr>
          <p:cNvSpPr>
            <a:spLocks noGrp="1"/>
          </p:cNvSpPr>
          <p:nvPr>
            <p:ph type="title"/>
          </p:nvPr>
        </p:nvSpPr>
        <p:spPr/>
        <p:txBody>
          <a:bodyPr/>
          <a:lstStyle/>
          <a:p>
            <a:r>
              <a:rPr lang="en-US" dirty="0"/>
              <a:t>Design Choices for Specialization/Generalization</a:t>
            </a:r>
          </a:p>
        </p:txBody>
      </p:sp>
      <p:sp>
        <p:nvSpPr>
          <p:cNvPr id="3" name="Content Placeholder 2">
            <a:extLst>
              <a:ext uri="{FF2B5EF4-FFF2-40B4-BE49-F238E27FC236}">
                <a16:creationId xmlns:a16="http://schemas.microsoft.com/office/drawing/2014/main" id="{E6C89B08-6CF5-BDDC-D796-8E61622FFF1D}"/>
              </a:ext>
            </a:extLst>
          </p:cNvPr>
          <p:cNvSpPr>
            <a:spLocks noGrp="1"/>
          </p:cNvSpPr>
          <p:nvPr>
            <p:ph idx="1"/>
          </p:nvPr>
        </p:nvSpPr>
        <p:spPr/>
        <p:txBody>
          <a:bodyPr>
            <a:normAutofit/>
          </a:bodyPr>
          <a:lstStyle/>
          <a:p>
            <a:r>
              <a:rPr lang="en-US" dirty="0"/>
              <a:t>in general, many specializations and subclasses can be defined to make conceptual model accurate</a:t>
            </a:r>
          </a:p>
          <a:p>
            <a:r>
              <a:rPr lang="en-US" dirty="0"/>
              <a:t>important to represent only those subclasses that are necessary to avoid extreme cluttering of conceptual schema</a:t>
            </a:r>
          </a:p>
          <a:p>
            <a:r>
              <a:rPr lang="en-US" dirty="0"/>
              <a:t>if a subclass has few specific (local) attributes and no specific relationships, it can be merged into superclass; specific attributes would hold NULL values for entities that are not members of subclass</a:t>
            </a:r>
          </a:p>
        </p:txBody>
      </p:sp>
      <p:sp>
        <p:nvSpPr>
          <p:cNvPr id="4" name="Slide Number Placeholder 3">
            <a:extLst>
              <a:ext uri="{FF2B5EF4-FFF2-40B4-BE49-F238E27FC236}">
                <a16:creationId xmlns:a16="http://schemas.microsoft.com/office/drawing/2014/main" id="{A12ADFB9-47F5-4D8C-7B86-0C1E4932BD87}"/>
              </a:ext>
            </a:extLst>
          </p:cNvPr>
          <p:cNvSpPr>
            <a:spLocks noGrp="1"/>
          </p:cNvSpPr>
          <p:nvPr>
            <p:ph type="sldNum" sz="quarter" idx="12"/>
          </p:nvPr>
        </p:nvSpPr>
        <p:spPr/>
        <p:txBody>
          <a:bodyPr/>
          <a:lstStyle/>
          <a:p>
            <a:fld id="{6264BDCF-5269-49AC-A246-ED26C2B980E3}" type="slidenum">
              <a:rPr lang="en-US" smtClean="0"/>
              <a:t>107</a:t>
            </a:fld>
            <a:endParaRPr lang="en-US"/>
          </a:p>
        </p:txBody>
      </p:sp>
    </p:spTree>
    <p:extLst>
      <p:ext uri="{BB962C8B-B14F-4D97-AF65-F5344CB8AC3E}">
        <p14:creationId xmlns:p14="http://schemas.microsoft.com/office/powerpoint/2010/main" val="20289601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A23C-3369-0A5D-C2E4-A685DED1F502}"/>
              </a:ext>
            </a:extLst>
          </p:cNvPr>
          <p:cNvSpPr>
            <a:spLocks noGrp="1"/>
          </p:cNvSpPr>
          <p:nvPr>
            <p:ph type="title"/>
          </p:nvPr>
        </p:nvSpPr>
        <p:spPr/>
        <p:txBody>
          <a:bodyPr/>
          <a:lstStyle/>
          <a:p>
            <a:r>
              <a:rPr lang="en-US" dirty="0"/>
              <a:t>Design Choices for Specialization/Generalization</a:t>
            </a:r>
          </a:p>
        </p:txBody>
      </p:sp>
      <p:sp>
        <p:nvSpPr>
          <p:cNvPr id="3" name="Content Placeholder 2">
            <a:extLst>
              <a:ext uri="{FF2B5EF4-FFF2-40B4-BE49-F238E27FC236}">
                <a16:creationId xmlns:a16="http://schemas.microsoft.com/office/drawing/2014/main" id="{12D37135-4FDA-8106-E64E-B4629899FE63}"/>
              </a:ext>
            </a:extLst>
          </p:cNvPr>
          <p:cNvSpPr>
            <a:spLocks noGrp="1"/>
          </p:cNvSpPr>
          <p:nvPr>
            <p:ph idx="1"/>
          </p:nvPr>
        </p:nvSpPr>
        <p:spPr/>
        <p:txBody>
          <a:bodyPr>
            <a:normAutofit/>
          </a:bodyPr>
          <a:lstStyle/>
          <a:p>
            <a:r>
              <a:rPr lang="en-US" dirty="0"/>
              <a:t>if all subclasses of a specialization/generalization have few specific attributes and no specific relationships, they can be merged into superclass and replaced with one or more </a:t>
            </a:r>
            <a:r>
              <a:rPr lang="en-US" i="1" dirty="0"/>
              <a:t>type </a:t>
            </a:r>
            <a:r>
              <a:rPr lang="en-US" dirty="0"/>
              <a:t>attributes that specify subclass or subclasses that each entity belongs to </a:t>
            </a:r>
          </a:p>
          <a:p>
            <a:r>
              <a:rPr lang="en-US" dirty="0"/>
              <a:t>union types and categories should generally be avoided unless the situation definitely warrants this type of construct, which does occur in some practical situations</a:t>
            </a:r>
          </a:p>
          <a:p>
            <a:pPr lvl="1"/>
            <a:r>
              <a:rPr lang="en-US" sz="2700" dirty="0"/>
              <a:t>if possible, try to model using specialization/generalization</a:t>
            </a:r>
          </a:p>
        </p:txBody>
      </p:sp>
      <p:sp>
        <p:nvSpPr>
          <p:cNvPr id="4" name="Slide Number Placeholder 3">
            <a:extLst>
              <a:ext uri="{FF2B5EF4-FFF2-40B4-BE49-F238E27FC236}">
                <a16:creationId xmlns:a16="http://schemas.microsoft.com/office/drawing/2014/main" id="{1EAE897C-563F-CC74-3012-EDB85D203E24}"/>
              </a:ext>
            </a:extLst>
          </p:cNvPr>
          <p:cNvSpPr>
            <a:spLocks noGrp="1"/>
          </p:cNvSpPr>
          <p:nvPr>
            <p:ph type="sldNum" sz="quarter" idx="12"/>
          </p:nvPr>
        </p:nvSpPr>
        <p:spPr/>
        <p:txBody>
          <a:bodyPr/>
          <a:lstStyle/>
          <a:p>
            <a:fld id="{6264BDCF-5269-49AC-A246-ED26C2B980E3}" type="slidenum">
              <a:rPr lang="en-US" smtClean="0"/>
              <a:t>108</a:t>
            </a:fld>
            <a:endParaRPr lang="en-US"/>
          </a:p>
        </p:txBody>
      </p:sp>
    </p:spTree>
    <p:extLst>
      <p:ext uri="{BB962C8B-B14F-4D97-AF65-F5344CB8AC3E}">
        <p14:creationId xmlns:p14="http://schemas.microsoft.com/office/powerpoint/2010/main" val="15750134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A86F-CCB1-D7D4-54AA-89CAB8154913}"/>
              </a:ext>
            </a:extLst>
          </p:cNvPr>
          <p:cNvSpPr>
            <a:spLocks noGrp="1"/>
          </p:cNvSpPr>
          <p:nvPr>
            <p:ph type="title"/>
          </p:nvPr>
        </p:nvSpPr>
        <p:spPr/>
        <p:txBody>
          <a:bodyPr/>
          <a:lstStyle/>
          <a:p>
            <a:r>
              <a:rPr lang="en-US" dirty="0"/>
              <a:t>Design Choices for Specialization/Generalization</a:t>
            </a:r>
          </a:p>
        </p:txBody>
      </p:sp>
      <p:sp>
        <p:nvSpPr>
          <p:cNvPr id="3" name="Content Placeholder 2">
            <a:extLst>
              <a:ext uri="{FF2B5EF4-FFF2-40B4-BE49-F238E27FC236}">
                <a16:creationId xmlns:a16="http://schemas.microsoft.com/office/drawing/2014/main" id="{3A87A732-5C18-2749-0F2F-DD9368DF9A86}"/>
              </a:ext>
            </a:extLst>
          </p:cNvPr>
          <p:cNvSpPr>
            <a:spLocks noGrp="1"/>
          </p:cNvSpPr>
          <p:nvPr>
            <p:ph idx="1"/>
          </p:nvPr>
        </p:nvSpPr>
        <p:spPr/>
        <p:txBody>
          <a:bodyPr/>
          <a:lstStyle/>
          <a:p>
            <a:r>
              <a:rPr lang="en-US" dirty="0"/>
              <a:t>choice of disjoint/overlapping and total/partial constraints on specialization/generalization is driven by the rules in the </a:t>
            </a:r>
            <a:r>
              <a:rPr lang="en-US" dirty="0" err="1"/>
              <a:t>miniworld</a:t>
            </a:r>
            <a:r>
              <a:rPr lang="en-US" dirty="0"/>
              <a:t> being modeled</a:t>
            </a:r>
          </a:p>
          <a:p>
            <a:r>
              <a:rPr lang="en-US" dirty="0"/>
              <a:t>if the requirements do not indicate any particular constraints, default would generally be overlapping and partial, since this does not specify any restrictions on subclass membership</a:t>
            </a:r>
          </a:p>
        </p:txBody>
      </p:sp>
      <p:sp>
        <p:nvSpPr>
          <p:cNvPr id="4" name="Slide Number Placeholder 3">
            <a:extLst>
              <a:ext uri="{FF2B5EF4-FFF2-40B4-BE49-F238E27FC236}">
                <a16:creationId xmlns:a16="http://schemas.microsoft.com/office/drawing/2014/main" id="{79371EA5-DE42-832B-0FB9-C8C64437C6FB}"/>
              </a:ext>
            </a:extLst>
          </p:cNvPr>
          <p:cNvSpPr>
            <a:spLocks noGrp="1"/>
          </p:cNvSpPr>
          <p:nvPr>
            <p:ph type="sldNum" sz="quarter" idx="12"/>
          </p:nvPr>
        </p:nvSpPr>
        <p:spPr/>
        <p:txBody>
          <a:bodyPr/>
          <a:lstStyle/>
          <a:p>
            <a:fld id="{6264BDCF-5269-49AC-A246-ED26C2B980E3}" type="slidenum">
              <a:rPr lang="en-US" smtClean="0"/>
              <a:t>109</a:t>
            </a:fld>
            <a:endParaRPr lang="en-US"/>
          </a:p>
        </p:txBody>
      </p:sp>
    </p:spTree>
    <p:extLst>
      <p:ext uri="{BB962C8B-B14F-4D97-AF65-F5344CB8AC3E}">
        <p14:creationId xmlns:p14="http://schemas.microsoft.com/office/powerpoint/2010/main" val="16604815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D233-BAA9-57DF-09BA-C321488EEE8B}"/>
              </a:ext>
            </a:extLst>
          </p:cNvPr>
          <p:cNvSpPr>
            <a:spLocks noGrp="1"/>
          </p:cNvSpPr>
          <p:nvPr>
            <p:ph type="title"/>
          </p:nvPr>
        </p:nvSpPr>
        <p:spPr/>
        <p:txBody>
          <a:bodyPr>
            <a:noAutofit/>
          </a:bodyPr>
          <a:lstStyle/>
          <a:p>
            <a:r>
              <a:rPr lang="en-US" sz="4600" b="1" dirty="0"/>
              <a:t>Data Abstraction, Knowledge</a:t>
            </a:r>
            <a:br>
              <a:rPr lang="en-US" sz="4600" b="1" dirty="0"/>
            </a:br>
            <a:r>
              <a:rPr lang="en-US" sz="4600" b="1" dirty="0"/>
              <a:t>Representation, and Ontology Concepts</a:t>
            </a:r>
          </a:p>
        </p:txBody>
      </p:sp>
      <p:sp>
        <p:nvSpPr>
          <p:cNvPr id="3" name="Content Placeholder 2">
            <a:extLst>
              <a:ext uri="{FF2B5EF4-FFF2-40B4-BE49-F238E27FC236}">
                <a16:creationId xmlns:a16="http://schemas.microsoft.com/office/drawing/2014/main" id="{1D084C62-0129-D868-AA22-CF5E114BCD03}"/>
              </a:ext>
            </a:extLst>
          </p:cNvPr>
          <p:cNvSpPr>
            <a:spLocks noGrp="1"/>
          </p:cNvSpPr>
          <p:nvPr>
            <p:ph idx="1"/>
          </p:nvPr>
        </p:nvSpPr>
        <p:spPr/>
        <p:txBody>
          <a:bodyPr>
            <a:normAutofit/>
          </a:bodyPr>
          <a:lstStyle/>
          <a:p>
            <a:r>
              <a:rPr lang="en-US" dirty="0"/>
              <a:t>goal of Knowledge Representation techniques is to develop concepts for accurately modeling some </a:t>
            </a:r>
            <a:r>
              <a:rPr lang="en-US" b="1" dirty="0"/>
              <a:t>domain of knowledge </a:t>
            </a:r>
            <a:r>
              <a:rPr lang="en-US" dirty="0"/>
              <a:t>by creating an </a:t>
            </a:r>
            <a:r>
              <a:rPr lang="en-US" b="1" dirty="0"/>
              <a:t>ontology</a:t>
            </a:r>
            <a:r>
              <a:rPr lang="en-US" dirty="0"/>
              <a:t> that describes concepts of the domain and how these concepts are interrelated</a:t>
            </a:r>
          </a:p>
          <a:p>
            <a:r>
              <a:rPr lang="en-US" dirty="0"/>
              <a:t>ontology is used to store and manipulate knowledge for drawing inferences, making decisions, or answering questions</a:t>
            </a:r>
          </a:p>
          <a:p>
            <a:r>
              <a:rPr lang="en-US" dirty="0"/>
              <a:t>goals of Knowledge Representation are similar to those of semantic data models</a:t>
            </a:r>
          </a:p>
        </p:txBody>
      </p:sp>
      <p:sp>
        <p:nvSpPr>
          <p:cNvPr id="4" name="Slide Number Placeholder 3">
            <a:extLst>
              <a:ext uri="{FF2B5EF4-FFF2-40B4-BE49-F238E27FC236}">
                <a16:creationId xmlns:a16="http://schemas.microsoft.com/office/drawing/2014/main" id="{3F350860-6127-3308-8358-88AF689E010F}"/>
              </a:ext>
            </a:extLst>
          </p:cNvPr>
          <p:cNvSpPr>
            <a:spLocks noGrp="1"/>
          </p:cNvSpPr>
          <p:nvPr>
            <p:ph type="sldNum" sz="quarter" idx="12"/>
          </p:nvPr>
        </p:nvSpPr>
        <p:spPr/>
        <p:txBody>
          <a:bodyPr/>
          <a:lstStyle/>
          <a:p>
            <a:fld id="{6264BDCF-5269-49AC-A246-ED26C2B980E3}" type="slidenum">
              <a:rPr lang="en-US" smtClean="0"/>
              <a:t>110</a:t>
            </a:fld>
            <a:endParaRPr lang="en-US"/>
          </a:p>
        </p:txBody>
      </p:sp>
    </p:spTree>
    <p:extLst>
      <p:ext uri="{BB962C8B-B14F-4D97-AF65-F5344CB8AC3E}">
        <p14:creationId xmlns:p14="http://schemas.microsoft.com/office/powerpoint/2010/main" val="8630153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4E77-48CF-60E2-DD82-ED32D22B4D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F1FAF9-C9EE-8350-687A-B9D3C9982413}"/>
              </a:ext>
            </a:extLst>
          </p:cNvPr>
          <p:cNvSpPr>
            <a:spLocks noGrp="1"/>
          </p:cNvSpPr>
          <p:nvPr>
            <p:ph idx="1"/>
          </p:nvPr>
        </p:nvSpPr>
        <p:spPr/>
        <p:txBody>
          <a:bodyPr>
            <a:noAutofit/>
          </a:bodyPr>
          <a:lstStyle/>
          <a:p>
            <a:r>
              <a:rPr lang="en-US" b="1" dirty="0"/>
              <a:t>Semantic Web </a:t>
            </a:r>
            <a:r>
              <a:rPr lang="en-US" dirty="0"/>
              <a:t>attempts to create knowledge representation models that are quite general in order to allow meaningful information exchange and search among machines</a:t>
            </a:r>
          </a:p>
          <a:p>
            <a:r>
              <a:rPr lang="en-US" dirty="0"/>
              <a:t>the concept of </a:t>
            </a:r>
            <a:r>
              <a:rPr lang="en-US" b="1" i="1" dirty="0"/>
              <a:t>ontology</a:t>
            </a:r>
            <a:r>
              <a:rPr lang="en-US" i="1" dirty="0"/>
              <a:t> </a:t>
            </a:r>
            <a:r>
              <a:rPr lang="en-US" dirty="0"/>
              <a:t>is considered to be the most promising basis for achieving the goals of the Semantic Web and is closely related to knowledge representation</a:t>
            </a:r>
          </a:p>
        </p:txBody>
      </p:sp>
      <p:sp>
        <p:nvSpPr>
          <p:cNvPr id="4" name="Slide Number Placeholder 3">
            <a:extLst>
              <a:ext uri="{FF2B5EF4-FFF2-40B4-BE49-F238E27FC236}">
                <a16:creationId xmlns:a16="http://schemas.microsoft.com/office/drawing/2014/main" id="{C2A1EF21-5B57-B8CE-7084-C3CBB20008B4}"/>
              </a:ext>
            </a:extLst>
          </p:cNvPr>
          <p:cNvSpPr>
            <a:spLocks noGrp="1"/>
          </p:cNvSpPr>
          <p:nvPr>
            <p:ph type="sldNum" sz="quarter" idx="12"/>
          </p:nvPr>
        </p:nvSpPr>
        <p:spPr/>
        <p:txBody>
          <a:bodyPr/>
          <a:lstStyle/>
          <a:p>
            <a:fld id="{6264BDCF-5269-49AC-A246-ED26C2B980E3}" type="slidenum">
              <a:rPr lang="en-US" smtClean="0"/>
              <a:t>111</a:t>
            </a:fld>
            <a:endParaRPr lang="en-US"/>
          </a:p>
        </p:txBody>
      </p:sp>
    </p:spTree>
    <p:extLst>
      <p:ext uri="{BB962C8B-B14F-4D97-AF65-F5344CB8AC3E}">
        <p14:creationId xmlns:p14="http://schemas.microsoft.com/office/powerpoint/2010/main" val="1857342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BA7E-EC30-8F76-AC95-8304BAB812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801DFA-87B5-BE3A-44C4-67CC128D544F}"/>
              </a:ext>
            </a:extLst>
          </p:cNvPr>
          <p:cNvSpPr>
            <a:spLocks noGrp="1"/>
          </p:cNvSpPr>
          <p:nvPr>
            <p:ph idx="1"/>
          </p:nvPr>
        </p:nvSpPr>
        <p:spPr/>
        <p:txBody>
          <a:bodyPr>
            <a:noAutofit/>
          </a:bodyPr>
          <a:lstStyle/>
          <a:p>
            <a:r>
              <a:rPr lang="en-US" dirty="0"/>
              <a:t>ontologies attempts to describe concepts and relationships that are possible in reality through some common vocabulary; therefore, it can be considered as a way to describe the knowledge of a certain community about reality</a:t>
            </a:r>
          </a:p>
          <a:p>
            <a:r>
              <a:rPr lang="en-US" b="1" dirty="0"/>
              <a:t>ontology </a:t>
            </a:r>
            <a:r>
              <a:rPr lang="en-US" dirty="0"/>
              <a:t>is </a:t>
            </a:r>
            <a:r>
              <a:rPr lang="en-US" i="1" dirty="0"/>
              <a:t>a specification </a:t>
            </a:r>
            <a:r>
              <a:rPr lang="en-US" dirty="0"/>
              <a:t>of a </a:t>
            </a:r>
            <a:r>
              <a:rPr lang="en-US" i="1" dirty="0"/>
              <a:t>conceptualization</a:t>
            </a:r>
          </a:p>
          <a:p>
            <a:r>
              <a:rPr lang="en-US" b="1" dirty="0"/>
              <a:t>conceptualization </a:t>
            </a:r>
            <a:r>
              <a:rPr lang="en-US" dirty="0"/>
              <a:t>is the set of concepts and relationships that are used to represent the part of reality or knowledge that is of interest to a community of users</a:t>
            </a:r>
          </a:p>
          <a:p>
            <a:r>
              <a:rPr lang="en-US" b="1" dirty="0"/>
              <a:t>specification </a:t>
            </a:r>
            <a:r>
              <a:rPr lang="en-US" dirty="0"/>
              <a:t>refers to the language and vocabulary terms that are used to specify the conceptualization</a:t>
            </a:r>
          </a:p>
        </p:txBody>
      </p:sp>
      <p:sp>
        <p:nvSpPr>
          <p:cNvPr id="4" name="Slide Number Placeholder 3">
            <a:extLst>
              <a:ext uri="{FF2B5EF4-FFF2-40B4-BE49-F238E27FC236}">
                <a16:creationId xmlns:a16="http://schemas.microsoft.com/office/drawing/2014/main" id="{F1D83C6E-580C-18D9-47AA-CE05B59F1044}"/>
              </a:ext>
            </a:extLst>
          </p:cNvPr>
          <p:cNvSpPr>
            <a:spLocks noGrp="1"/>
          </p:cNvSpPr>
          <p:nvPr>
            <p:ph type="sldNum" sz="quarter" idx="12"/>
          </p:nvPr>
        </p:nvSpPr>
        <p:spPr/>
        <p:txBody>
          <a:bodyPr/>
          <a:lstStyle/>
          <a:p>
            <a:fld id="{6264BDCF-5269-49AC-A246-ED26C2B980E3}" type="slidenum">
              <a:rPr lang="en-US" smtClean="0"/>
              <a:t>112</a:t>
            </a:fld>
            <a:endParaRPr lang="en-US"/>
          </a:p>
        </p:txBody>
      </p:sp>
    </p:spTree>
    <p:extLst>
      <p:ext uri="{BB962C8B-B14F-4D97-AF65-F5344CB8AC3E}">
        <p14:creationId xmlns:p14="http://schemas.microsoft.com/office/powerpoint/2010/main" val="25751532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5BF2-6A1C-2D77-60F9-62D11F937E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C2848A-2C64-B957-7CAE-39B7B1F0B644}"/>
              </a:ext>
            </a:extLst>
          </p:cNvPr>
          <p:cNvSpPr>
            <a:spLocks noGrp="1"/>
          </p:cNvSpPr>
          <p:nvPr>
            <p:ph idx="1"/>
          </p:nvPr>
        </p:nvSpPr>
        <p:spPr/>
        <p:txBody>
          <a:bodyPr>
            <a:normAutofit lnSpcReduction="10000"/>
          </a:bodyPr>
          <a:lstStyle/>
          <a:p>
            <a:r>
              <a:rPr lang="en-US" b="1" dirty="0"/>
              <a:t>thesaurus </a:t>
            </a:r>
            <a:r>
              <a:rPr lang="en-US" dirty="0"/>
              <a:t>(or even a </a:t>
            </a:r>
            <a:r>
              <a:rPr lang="en-US" b="1" dirty="0"/>
              <a:t>dictionary </a:t>
            </a:r>
            <a:r>
              <a:rPr lang="en-US" dirty="0"/>
              <a:t>or a </a:t>
            </a:r>
            <a:r>
              <a:rPr lang="en-US" b="1" dirty="0"/>
              <a:t>glossary </a:t>
            </a:r>
            <a:r>
              <a:rPr lang="en-US" dirty="0"/>
              <a:t>of terms) describes the relationships between words (vocabulary) that represent various concepts</a:t>
            </a:r>
          </a:p>
          <a:p>
            <a:r>
              <a:rPr lang="en-US" b="1" dirty="0"/>
              <a:t>taxonomy </a:t>
            </a:r>
            <a:r>
              <a:rPr lang="en-US" dirty="0"/>
              <a:t>describes how concepts of a particular area of knowledge are related using structures similar to those used in a specialization or generalization</a:t>
            </a:r>
          </a:p>
          <a:p>
            <a:r>
              <a:rPr lang="en-US" dirty="0"/>
              <a:t>detailed </a:t>
            </a:r>
            <a:r>
              <a:rPr lang="en-US" b="1" dirty="0"/>
              <a:t>database schema </a:t>
            </a:r>
            <a:r>
              <a:rPr lang="en-US" dirty="0"/>
              <a:t>is considered by some to be an ontology that describes the concepts (entities and attributes) and relationships of a </a:t>
            </a:r>
            <a:r>
              <a:rPr lang="en-US" dirty="0" err="1"/>
              <a:t>miniworld</a:t>
            </a:r>
            <a:r>
              <a:rPr lang="en-US" dirty="0"/>
              <a:t> from reality</a:t>
            </a:r>
          </a:p>
          <a:p>
            <a:r>
              <a:rPr lang="en-US" b="1" dirty="0"/>
              <a:t>logical theory </a:t>
            </a:r>
            <a:r>
              <a:rPr lang="en-US" dirty="0"/>
              <a:t>uses concepts from mathematical logic to try to define concepts and their interrelationships</a:t>
            </a:r>
          </a:p>
        </p:txBody>
      </p:sp>
      <p:sp>
        <p:nvSpPr>
          <p:cNvPr id="4" name="Slide Number Placeholder 3">
            <a:extLst>
              <a:ext uri="{FF2B5EF4-FFF2-40B4-BE49-F238E27FC236}">
                <a16:creationId xmlns:a16="http://schemas.microsoft.com/office/drawing/2014/main" id="{0BACE010-59C2-1EDF-38B4-7B27FB82E6D8}"/>
              </a:ext>
            </a:extLst>
          </p:cNvPr>
          <p:cNvSpPr>
            <a:spLocks noGrp="1"/>
          </p:cNvSpPr>
          <p:nvPr>
            <p:ph type="sldNum" sz="quarter" idx="12"/>
          </p:nvPr>
        </p:nvSpPr>
        <p:spPr/>
        <p:txBody>
          <a:bodyPr/>
          <a:lstStyle/>
          <a:p>
            <a:fld id="{6264BDCF-5269-49AC-A246-ED26C2B980E3}" type="slidenum">
              <a:rPr lang="en-US" smtClean="0"/>
              <a:t>113</a:t>
            </a:fld>
            <a:endParaRPr lang="en-US"/>
          </a:p>
        </p:txBody>
      </p:sp>
    </p:spTree>
    <p:extLst>
      <p:ext uri="{BB962C8B-B14F-4D97-AF65-F5344CB8AC3E}">
        <p14:creationId xmlns:p14="http://schemas.microsoft.com/office/powerpoint/2010/main" val="2863764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5F1AB4-5A06-452D-B1E2-575730FF3BA2}"/>
</file>

<file path=customXml/itemProps2.xml><?xml version="1.0" encoding="utf-8"?>
<ds:datastoreItem xmlns:ds="http://schemas.openxmlformats.org/officeDocument/2006/customXml" ds:itemID="{440FCB7D-08ED-4627-9711-57F9A604F292}"/>
</file>

<file path=customXml/itemProps3.xml><?xml version="1.0" encoding="utf-8"?>
<ds:datastoreItem xmlns:ds="http://schemas.openxmlformats.org/officeDocument/2006/customXml" ds:itemID="{2FFBAEF1-72E7-4AE9-9D01-1EDE63FA0470}"/>
</file>

<file path=docProps/app.xml><?xml version="1.0" encoding="utf-8"?>
<Properties xmlns="http://schemas.openxmlformats.org/officeDocument/2006/extended-properties" xmlns:vt="http://schemas.openxmlformats.org/officeDocument/2006/docPropsVTypes">
  <TotalTime>1846</TotalTime>
  <Words>6267</Words>
  <Application>Microsoft Office PowerPoint</Application>
  <PresentationFormat>Widescreen</PresentationFormat>
  <Paragraphs>480</Paragraphs>
  <Slides>113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113</vt:i4>
      </vt:variant>
    </vt:vector>
  </HeadingPairs>
  <TitlesOfParts>
    <vt:vector size="117" baseType="lpstr">
      <vt:lpstr>Arial</vt:lpstr>
      <vt:lpstr>Calibri</vt:lpstr>
      <vt:lpstr>Calibri Light</vt:lpstr>
      <vt:lpstr>Office Theme</vt:lpstr>
      <vt:lpstr>DataBase</vt:lpstr>
      <vt:lpstr>Data Modeling</vt:lpstr>
      <vt:lpstr>Entity–Relationship (ER) Model</vt:lpstr>
      <vt:lpstr>PowerPoint Presentation</vt:lpstr>
      <vt:lpstr>PowerPoint Presentation</vt:lpstr>
      <vt:lpstr>main phases of database design</vt:lpstr>
      <vt:lpstr>Using High-Level Conceptual Data Models for Database Design</vt:lpstr>
      <vt:lpstr>Conceptual Design</vt:lpstr>
      <vt:lpstr>PowerPoint Presentation</vt:lpstr>
      <vt:lpstr>PowerPoint Presentation</vt:lpstr>
      <vt:lpstr>sample database application</vt:lpstr>
      <vt:lpstr>PowerPoint Presentation</vt:lpstr>
      <vt:lpstr>PowerPoint Presentation</vt:lpstr>
      <vt:lpstr>PowerPoint Presentation</vt:lpstr>
      <vt:lpstr>Entity–Relationship (ER) Model</vt:lpstr>
      <vt:lpstr>Entities and their Attributes</vt:lpstr>
      <vt:lpstr>PowerPoint Presentation</vt:lpstr>
      <vt:lpstr>Composite versus Simple (Atomic) Attributes</vt:lpstr>
      <vt:lpstr>PowerPoint Presentation</vt:lpstr>
      <vt:lpstr>Single-Valued versus Multivalued Attributes</vt:lpstr>
      <vt:lpstr>Single-Valued versus Multivalued Attributes</vt:lpstr>
      <vt:lpstr>Stored versus Derived Attributes</vt:lpstr>
      <vt:lpstr>NULL Values</vt:lpstr>
      <vt:lpstr>PowerPoint Presentation</vt:lpstr>
      <vt:lpstr>Complex Attributes</vt:lpstr>
      <vt:lpstr>Entity Type, Entity Set</vt:lpstr>
      <vt:lpstr>PowerPoint Presentation</vt:lpstr>
      <vt:lpstr>PowerPoint Presentation</vt:lpstr>
      <vt:lpstr>Key Attributes of Entity Type</vt:lpstr>
      <vt:lpstr>PowerPoint Presentation</vt:lpstr>
      <vt:lpstr>PowerPoint Presentation</vt:lpstr>
      <vt:lpstr>Value Sets (Domains) of Attributes</vt:lpstr>
      <vt:lpstr>Relationship</vt:lpstr>
      <vt:lpstr>Relationship Types, Sets, and Instances</vt:lpstr>
      <vt:lpstr>instances in WORKS_FOR relationship set</vt:lpstr>
      <vt:lpstr>PowerPoint Presentation</vt:lpstr>
      <vt:lpstr>Degree of a Relationship Type</vt:lpstr>
      <vt:lpstr>PowerPoint Presentation</vt:lpstr>
      <vt:lpstr>Relationships as Attributes</vt:lpstr>
      <vt:lpstr>Relationships as Attributes</vt:lpstr>
      <vt:lpstr>Relationships as Attributes</vt:lpstr>
      <vt:lpstr>Role Names</vt:lpstr>
      <vt:lpstr>Recursive Relationship</vt:lpstr>
      <vt:lpstr>PowerPoint Presentation</vt:lpstr>
      <vt:lpstr>Recursive Relationship</vt:lpstr>
      <vt:lpstr>Constraints on Binary Relationship Types</vt:lpstr>
      <vt:lpstr>Cardinality Ratios</vt:lpstr>
      <vt:lpstr>PowerPoint Presentation</vt:lpstr>
      <vt:lpstr>PowerPoint Presentation</vt:lpstr>
      <vt:lpstr>Participation Constraints and  Existence Dependencies</vt:lpstr>
      <vt:lpstr>Participation Constraints and  Existence Dependencies</vt:lpstr>
      <vt:lpstr>PowerPoint Presentation</vt:lpstr>
      <vt:lpstr>PowerPoint Presentation</vt:lpstr>
      <vt:lpstr>Attributes of Relationship Types</vt:lpstr>
      <vt:lpstr>PowerPoint Presentation</vt:lpstr>
      <vt:lpstr>PowerPoint Presentation</vt:lpstr>
      <vt:lpstr>Weak Entity Types</vt:lpstr>
      <vt:lpstr>PowerPoint Presentation</vt:lpstr>
      <vt:lpstr>PowerPoint Presentation</vt:lpstr>
      <vt:lpstr>PowerPoint Presentation</vt:lpstr>
      <vt:lpstr>PowerPoint Presentation</vt:lpstr>
      <vt:lpstr>PowerPoint Presentation</vt:lpstr>
      <vt:lpstr>PowerPoint Presentation</vt:lpstr>
      <vt:lpstr>Proper Naming of Schema Constructs</vt:lpstr>
      <vt:lpstr>Proper Naming of Schema Constructs</vt:lpstr>
      <vt:lpstr>PowerPoint Presentation</vt:lpstr>
      <vt:lpstr>PowerPoint Presentation</vt:lpstr>
      <vt:lpstr>ER diagram for a UNIVERSITY database schema</vt:lpstr>
      <vt:lpstr>PowerPoint Presentation</vt:lpstr>
      <vt:lpstr>Enhanced Entity–Relationship (EER) Model</vt:lpstr>
      <vt:lpstr>Has-a</vt:lpstr>
      <vt:lpstr>Is-A</vt:lpstr>
      <vt:lpstr>PowerPoint Presentation</vt:lpstr>
      <vt:lpstr>PowerPoint Presentation</vt:lpstr>
      <vt:lpstr>Enhanced Entity–Relationship (EER) Model</vt:lpstr>
      <vt:lpstr>Subtype</vt:lpstr>
      <vt:lpstr>PowerPoint Presentation</vt:lpstr>
      <vt:lpstr>PowerPoint Presentation</vt:lpstr>
      <vt:lpstr>Type Inheritance</vt:lpstr>
      <vt:lpstr>PowerPoint Presentation</vt:lpstr>
      <vt:lpstr>Specialization</vt:lpstr>
      <vt:lpstr>PowerPoint Presentation</vt:lpstr>
      <vt:lpstr>PowerPoint Presentation</vt:lpstr>
      <vt:lpstr>PowerPoint Presentation</vt:lpstr>
      <vt:lpstr>PowerPoint Presentation</vt:lpstr>
      <vt:lpstr>PowerPoint Presentation</vt:lpstr>
      <vt:lpstr>Generalization</vt:lpstr>
      <vt:lpstr>PowerPoint Presentation</vt:lpstr>
      <vt:lpstr>PowerPoint Presentation</vt:lpstr>
      <vt:lpstr>Constraints on Specialization and Generalization</vt:lpstr>
      <vt:lpstr>PowerPoint Presentation</vt:lpstr>
      <vt:lpstr>Defining Attribute</vt:lpstr>
      <vt:lpstr>User Defined</vt:lpstr>
      <vt:lpstr>Disjoint Constraint</vt:lpstr>
      <vt:lpstr>Overlapping</vt:lpstr>
      <vt:lpstr>Completeness Constraint </vt:lpstr>
      <vt:lpstr>disjoint and complete constraints</vt:lpstr>
      <vt:lpstr>Cascade Delete</vt:lpstr>
      <vt:lpstr>PowerPoint Presentation</vt:lpstr>
      <vt:lpstr>One-to-One relationship </vt:lpstr>
      <vt:lpstr>Specialization with Multiple Inheritance for           UNIVERSITY </vt:lpstr>
      <vt:lpstr>Modeling of UNION Types Using Categories</vt:lpstr>
      <vt:lpstr>PowerPoint Presentation</vt:lpstr>
      <vt:lpstr>PowerPoint Presentation</vt:lpstr>
      <vt:lpstr>PowerPoint Presentation</vt:lpstr>
      <vt:lpstr>PowerPoint Presentation</vt:lpstr>
      <vt:lpstr>Design Choices for Specialization/Generalization</vt:lpstr>
      <vt:lpstr>Design Choices for Specialization/Generalization</vt:lpstr>
      <vt:lpstr>Design Choices for Specialization/Generalization</vt:lpstr>
      <vt:lpstr>Data Abstraction, Knowledge Representation, and Ontology Concepts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72</cp:revision>
  <dcterms:created xsi:type="dcterms:W3CDTF">2023-08-06T12:55:35Z</dcterms:created>
  <dcterms:modified xsi:type="dcterms:W3CDTF">2025-08-04T03:54:30Z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