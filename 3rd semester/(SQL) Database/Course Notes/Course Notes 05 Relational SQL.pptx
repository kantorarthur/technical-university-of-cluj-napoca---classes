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7"/>
  </p:notesMasterIdLst>
  <p:sldIdLst>
    <p:sldId id="256" r:id="rId2"/>
    <p:sldId id="391" r:id="rId3"/>
    <p:sldId id="393" r:id="rId4"/>
    <p:sldId id="392" r:id="rId5"/>
    <p:sldId id="394" r:id="rId6"/>
    <p:sldId id="281" r:id="rId7"/>
    <p:sldId id="282" r:id="rId8"/>
    <p:sldId id="283" r:id="rId9"/>
    <p:sldId id="284" r:id="rId10"/>
    <p:sldId id="285" r:id="rId11"/>
    <p:sldId id="286" r:id="rId12"/>
    <p:sldId id="395" r:id="rId13"/>
    <p:sldId id="396" r:id="rId14"/>
    <p:sldId id="397" r:id="rId15"/>
    <p:sldId id="398" r:id="rId16"/>
    <p:sldId id="400" r:id="rId17"/>
    <p:sldId id="399" r:id="rId18"/>
    <p:sldId id="401" r:id="rId19"/>
    <p:sldId id="402" r:id="rId20"/>
    <p:sldId id="403" r:id="rId21"/>
    <p:sldId id="404" r:id="rId22"/>
    <p:sldId id="405" r:id="rId23"/>
    <p:sldId id="406" r:id="rId24"/>
    <p:sldId id="407" r:id="rId25"/>
    <p:sldId id="408" r:id="rId26"/>
    <p:sldId id="409" r:id="rId27"/>
    <p:sldId id="410" r:id="rId28"/>
    <p:sldId id="411" r:id="rId29"/>
    <p:sldId id="412" r:id="rId30"/>
    <p:sldId id="413" r:id="rId31"/>
    <p:sldId id="414" r:id="rId32"/>
    <p:sldId id="415" r:id="rId33"/>
    <p:sldId id="416" r:id="rId34"/>
    <p:sldId id="417" r:id="rId35"/>
    <p:sldId id="418" r:id="rId36"/>
    <p:sldId id="462" r:id="rId37"/>
    <p:sldId id="419" r:id="rId38"/>
    <p:sldId id="420" r:id="rId39"/>
    <p:sldId id="421" r:id="rId40"/>
    <p:sldId id="422" r:id="rId41"/>
    <p:sldId id="423" r:id="rId42"/>
    <p:sldId id="424" r:id="rId43"/>
    <p:sldId id="425" r:id="rId44"/>
    <p:sldId id="426" r:id="rId45"/>
    <p:sldId id="427" r:id="rId46"/>
    <p:sldId id="428" r:id="rId47"/>
    <p:sldId id="429" r:id="rId48"/>
    <p:sldId id="431" r:id="rId49"/>
    <p:sldId id="432" r:id="rId50"/>
    <p:sldId id="433" r:id="rId51"/>
    <p:sldId id="434" r:id="rId52"/>
    <p:sldId id="435" r:id="rId53"/>
    <p:sldId id="436" r:id="rId54"/>
    <p:sldId id="437" r:id="rId55"/>
    <p:sldId id="438" r:id="rId56"/>
    <p:sldId id="439" r:id="rId57"/>
    <p:sldId id="440" r:id="rId58"/>
    <p:sldId id="441" r:id="rId59"/>
    <p:sldId id="443" r:id="rId60"/>
    <p:sldId id="442" r:id="rId61"/>
    <p:sldId id="444" r:id="rId62"/>
    <p:sldId id="445" r:id="rId63"/>
    <p:sldId id="446" r:id="rId64"/>
    <p:sldId id="447" r:id="rId65"/>
    <p:sldId id="448" r:id="rId66"/>
    <p:sldId id="449" r:id="rId67"/>
    <p:sldId id="450" r:id="rId68"/>
    <p:sldId id="451" r:id="rId69"/>
    <p:sldId id="452" r:id="rId70"/>
    <p:sldId id="453" r:id="rId71"/>
    <p:sldId id="455" r:id="rId72"/>
    <p:sldId id="454" r:id="rId73"/>
    <p:sldId id="456" r:id="rId74"/>
    <p:sldId id="457" r:id="rId75"/>
    <p:sldId id="458" r:id="rId76"/>
    <p:sldId id="459" r:id="rId77"/>
    <p:sldId id="460" r:id="rId78"/>
    <p:sldId id="461" r:id="rId79"/>
    <p:sldId id="463" r:id="rId80"/>
    <p:sldId id="464" r:id="rId81"/>
    <p:sldId id="465" r:id="rId82"/>
    <p:sldId id="466" r:id="rId83"/>
    <p:sldId id="467" r:id="rId84"/>
    <p:sldId id="468" r:id="rId85"/>
    <p:sldId id="469" r:id="rId86"/>
    <p:sldId id="470" r:id="rId87"/>
    <p:sldId id="471" r:id="rId88"/>
    <p:sldId id="472" r:id="rId89"/>
    <p:sldId id="473" r:id="rId90"/>
    <p:sldId id="474" r:id="rId91"/>
    <p:sldId id="475" r:id="rId92"/>
    <p:sldId id="476" r:id="rId93"/>
    <p:sldId id="477" r:id="rId94"/>
    <p:sldId id="478" r:id="rId95"/>
    <p:sldId id="479" r:id="rId96"/>
    <p:sldId id="480" r:id="rId97"/>
    <p:sldId id="481" r:id="rId98"/>
    <p:sldId id="482" r:id="rId99"/>
    <p:sldId id="483" r:id="rId100"/>
    <p:sldId id="486" r:id="rId101"/>
    <p:sldId id="484" r:id="rId102"/>
    <p:sldId id="485" r:id="rId103"/>
    <p:sldId id="487" r:id="rId104"/>
    <p:sldId id="488" r:id="rId105"/>
    <p:sldId id="490" r:id="rId106"/>
    <p:sldId id="489" r:id="rId107"/>
    <p:sldId id="491" r:id="rId108"/>
    <p:sldId id="492" r:id="rId109"/>
    <p:sldId id="493" r:id="rId110"/>
    <p:sldId id="494" r:id="rId111"/>
    <p:sldId id="495" r:id="rId112"/>
    <p:sldId id="496" r:id="rId113"/>
    <p:sldId id="498" r:id="rId114"/>
    <p:sldId id="497" r:id="rId115"/>
    <p:sldId id="500" r:id="rId116"/>
    <p:sldId id="499" r:id="rId117"/>
    <p:sldId id="501" r:id="rId118"/>
    <p:sldId id="502" r:id="rId119"/>
    <p:sldId id="503" r:id="rId120"/>
    <p:sldId id="504" r:id="rId121"/>
    <p:sldId id="507" r:id="rId122"/>
    <p:sldId id="506" r:id="rId123"/>
    <p:sldId id="508" r:id="rId124"/>
    <p:sldId id="505" r:id="rId125"/>
    <p:sldId id="509" r:id="rId126"/>
    <p:sldId id="510" r:id="rId127"/>
    <p:sldId id="511" r:id="rId128"/>
    <p:sldId id="512" r:id="rId129"/>
    <p:sldId id="513" r:id="rId130"/>
    <p:sldId id="514" r:id="rId131"/>
    <p:sldId id="515" r:id="rId132"/>
    <p:sldId id="517" r:id="rId133"/>
    <p:sldId id="520" r:id="rId134"/>
    <p:sldId id="518" r:id="rId135"/>
    <p:sldId id="519" r:id="rId136"/>
    <p:sldId id="521" r:id="rId137"/>
    <p:sldId id="522" r:id="rId138"/>
    <p:sldId id="523" r:id="rId139"/>
    <p:sldId id="524" r:id="rId140"/>
    <p:sldId id="525" r:id="rId141"/>
    <p:sldId id="526" r:id="rId142"/>
    <p:sldId id="527" r:id="rId143"/>
    <p:sldId id="528" r:id="rId144"/>
    <p:sldId id="529" r:id="rId145"/>
    <p:sldId id="530" r:id="rId146"/>
    <p:sldId id="531" r:id="rId147"/>
    <p:sldId id="532" r:id="rId148"/>
    <p:sldId id="533" r:id="rId149"/>
    <p:sldId id="534" r:id="rId150"/>
    <p:sldId id="535" r:id="rId151"/>
    <p:sldId id="536" r:id="rId152"/>
    <p:sldId id="537" r:id="rId153"/>
    <p:sldId id="538" r:id="rId154"/>
    <p:sldId id="539" r:id="rId155"/>
    <p:sldId id="540" r:id="rId1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customXml" Target="../customXml/item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customXml" Target="../customXml/item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11/10/2025</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11/10/2025</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11/10/2025</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11/10/2025</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11/10/2025</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11/10/2025</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11/10/2025</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11/10/2025</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11/10/2025</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11/10/2025</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11/10/2025</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11/10/2025</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12EF6-520E-D21B-D71D-7758CB548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C78AD-A182-8472-7962-185D2CB90C29}"/>
              </a:ext>
            </a:extLst>
          </p:cNvPr>
          <p:cNvSpPr>
            <a:spLocks noGrp="1"/>
          </p:cNvSpPr>
          <p:nvPr>
            <p:ph type="ctrTitle"/>
          </p:nvPr>
        </p:nvSpPr>
        <p:spPr/>
        <p:txBody>
          <a:bodyPr/>
          <a:lstStyle/>
          <a:p>
            <a:r>
              <a:rPr lang="en-US" b="1" dirty="0"/>
              <a:t>Relational Data Model</a:t>
            </a:r>
            <a:endParaRPr lang="en-US" dirty="0"/>
          </a:p>
        </p:txBody>
      </p:sp>
      <p:sp>
        <p:nvSpPr>
          <p:cNvPr id="3" name="Subtitle 2">
            <a:extLst>
              <a:ext uri="{FF2B5EF4-FFF2-40B4-BE49-F238E27FC236}">
                <a16:creationId xmlns:a16="http://schemas.microsoft.com/office/drawing/2014/main" id="{56E6C5CE-4600-67F6-DDFE-487B5680D946}"/>
              </a:ext>
            </a:extLst>
          </p:cNvPr>
          <p:cNvSpPr>
            <a:spLocks noGrp="1"/>
          </p:cNvSpPr>
          <p:nvPr>
            <p:ph type="subTitle" idx="1"/>
          </p:nvPr>
        </p:nvSpPr>
        <p:spPr/>
        <p:txBody>
          <a:bodyPr>
            <a:normAutofit/>
          </a:bodyPr>
          <a:lstStyle/>
          <a:p>
            <a:r>
              <a:rPr lang="en-US" sz="4000" b="1" dirty="0"/>
              <a:t>Relational Database Constraints</a:t>
            </a:r>
          </a:p>
          <a:p>
            <a:r>
              <a:rPr lang="en-US" sz="3600" b="1" dirty="0"/>
              <a:t>Structured Query Language</a:t>
            </a:r>
            <a:endParaRPr lang="en-US" sz="3600" dirty="0"/>
          </a:p>
        </p:txBody>
      </p:sp>
      <p:sp>
        <p:nvSpPr>
          <p:cNvPr id="4" name="Slide Number Placeholder 3">
            <a:extLst>
              <a:ext uri="{FF2B5EF4-FFF2-40B4-BE49-F238E27FC236}">
                <a16:creationId xmlns:a16="http://schemas.microsoft.com/office/drawing/2014/main" id="{B531E3A4-BEB6-64D4-2DD7-CEF077D13C87}"/>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239229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A78A16-EFAF-FDAB-70C9-B6627ABDD0E4}"/>
              </a:ext>
            </a:extLst>
          </p:cNvPr>
          <p:cNvSpPr>
            <a:spLocks noGrp="1"/>
          </p:cNvSpPr>
          <p:nvPr>
            <p:ph type="title"/>
          </p:nvPr>
        </p:nvSpPr>
        <p:spPr/>
        <p:txBody>
          <a:bodyPr/>
          <a:lstStyle/>
          <a:p>
            <a:r>
              <a:rPr lang="en-US" b="1" dirty="0"/>
              <a:t>Relational Model</a:t>
            </a:r>
            <a:endParaRPr lang="en-US" dirty="0"/>
          </a:p>
        </p:txBody>
      </p:sp>
      <p:sp>
        <p:nvSpPr>
          <p:cNvPr id="6" name="Text Placeholder 5">
            <a:extLst>
              <a:ext uri="{FF2B5EF4-FFF2-40B4-BE49-F238E27FC236}">
                <a16:creationId xmlns:a16="http://schemas.microsoft.com/office/drawing/2014/main" id="{2A0F9BF1-B5A9-2B70-670F-2BDEEB4C55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E9522A-FA95-C232-06AA-443988B479BB}"/>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3406594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CFDF5-B756-C64E-74ED-76B063B9C459}"/>
              </a:ext>
            </a:extLst>
          </p:cNvPr>
          <p:cNvSpPr>
            <a:spLocks noGrp="1"/>
          </p:cNvSpPr>
          <p:nvPr>
            <p:ph type="title"/>
          </p:nvPr>
        </p:nvSpPr>
        <p:spPr/>
        <p:txBody>
          <a:bodyPr/>
          <a:lstStyle/>
          <a:p>
            <a:r>
              <a:rPr lang="en-US" b="1" dirty="0"/>
              <a:t>Relational Model</a:t>
            </a:r>
            <a:br>
              <a:rPr lang="en-US" b="1" dirty="0"/>
            </a:br>
            <a:r>
              <a:rPr lang="en-US" b="1" dirty="0"/>
              <a:t>Concepts</a:t>
            </a:r>
            <a:endParaRPr lang="en-US" dirty="0"/>
          </a:p>
        </p:txBody>
      </p:sp>
      <p:sp>
        <p:nvSpPr>
          <p:cNvPr id="3" name="Content Placeholder 2">
            <a:extLst>
              <a:ext uri="{FF2B5EF4-FFF2-40B4-BE49-F238E27FC236}">
                <a16:creationId xmlns:a16="http://schemas.microsoft.com/office/drawing/2014/main" id="{38C65BE5-F89E-8BF3-01BA-E006CBDB3E61}"/>
              </a:ext>
            </a:extLst>
          </p:cNvPr>
          <p:cNvSpPr>
            <a:spLocks noGrp="1"/>
          </p:cNvSpPr>
          <p:nvPr>
            <p:ph idx="1"/>
          </p:nvPr>
        </p:nvSpPr>
        <p:spPr/>
        <p:txBody>
          <a:bodyPr>
            <a:normAutofit/>
          </a:bodyPr>
          <a:lstStyle/>
          <a:p>
            <a:r>
              <a:rPr lang="en-US" dirty="0"/>
              <a:t>relational model represents the database as a collection of </a:t>
            </a:r>
            <a:r>
              <a:rPr lang="en-US" i="1" dirty="0"/>
              <a:t>relations</a:t>
            </a:r>
          </a:p>
          <a:p>
            <a:r>
              <a:rPr lang="en-US" dirty="0"/>
              <a:t>informally, each relation resembles a table of values or, to some extent, a flat</a:t>
            </a:r>
            <a:r>
              <a:rPr lang="en-US" i="1" dirty="0"/>
              <a:t> </a:t>
            </a:r>
            <a:r>
              <a:rPr lang="en-US" dirty="0"/>
              <a:t>file of records</a:t>
            </a:r>
          </a:p>
          <a:p>
            <a:pPr lvl="1"/>
            <a:r>
              <a:rPr lang="en-US" dirty="0"/>
              <a:t>called flat file</a:t>
            </a:r>
            <a:r>
              <a:rPr lang="en-US" b="1" dirty="0"/>
              <a:t> </a:t>
            </a:r>
            <a:r>
              <a:rPr lang="en-US" dirty="0"/>
              <a:t>because each record has a simple linear or flat</a:t>
            </a:r>
            <a:r>
              <a:rPr lang="en-US" i="1" dirty="0"/>
              <a:t> </a:t>
            </a:r>
            <a:r>
              <a:rPr lang="en-US" dirty="0"/>
              <a:t>structure</a:t>
            </a:r>
          </a:p>
          <a:p>
            <a:endParaRPr lang="en-US" dirty="0"/>
          </a:p>
          <a:p>
            <a:r>
              <a:rPr lang="en-US" dirty="0"/>
              <a:t>differences between relations and files …</a:t>
            </a:r>
          </a:p>
        </p:txBody>
      </p:sp>
      <p:sp>
        <p:nvSpPr>
          <p:cNvPr id="4" name="Slide Number Placeholder 3">
            <a:extLst>
              <a:ext uri="{FF2B5EF4-FFF2-40B4-BE49-F238E27FC236}">
                <a16:creationId xmlns:a16="http://schemas.microsoft.com/office/drawing/2014/main" id="{9069E956-5E35-18BB-1F06-FD29EABB1BED}"/>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1212517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1034B-A751-076C-A0DB-21FCC884A73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F2EC857-E399-5EE3-563A-24D94F74AA61}"/>
              </a:ext>
            </a:extLst>
          </p:cNvPr>
          <p:cNvSpPr>
            <a:spLocks noGrp="1"/>
          </p:cNvSpPr>
          <p:nvPr>
            <p:ph idx="1"/>
          </p:nvPr>
        </p:nvSpPr>
        <p:spPr/>
        <p:txBody>
          <a:bodyPr/>
          <a:lstStyle/>
          <a:p>
            <a:r>
              <a:rPr lang="en-US" dirty="0"/>
              <a:t>Relation</a:t>
            </a:r>
          </a:p>
          <a:p>
            <a:r>
              <a:rPr lang="en-US" dirty="0"/>
              <a:t>Table</a:t>
            </a:r>
          </a:p>
          <a:p>
            <a:r>
              <a:rPr lang="en-US" dirty="0"/>
              <a:t>File</a:t>
            </a:r>
          </a:p>
          <a:p>
            <a:endParaRPr lang="en-US" dirty="0"/>
          </a:p>
        </p:txBody>
      </p:sp>
      <p:sp>
        <p:nvSpPr>
          <p:cNvPr id="4" name="Slide Number Placeholder 3">
            <a:extLst>
              <a:ext uri="{FF2B5EF4-FFF2-40B4-BE49-F238E27FC236}">
                <a16:creationId xmlns:a16="http://schemas.microsoft.com/office/drawing/2014/main" id="{40780150-14D8-20BB-1341-471EBF70B131}"/>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3632177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88B02-6B0B-787C-FCEF-0F53EF3E3CEA}"/>
              </a:ext>
            </a:extLst>
          </p:cNvPr>
          <p:cNvSpPr>
            <a:spLocks noGrp="1"/>
          </p:cNvSpPr>
          <p:nvPr>
            <p:ph type="title"/>
          </p:nvPr>
        </p:nvSpPr>
        <p:spPr/>
        <p:txBody>
          <a:bodyPr/>
          <a:lstStyle/>
          <a:p>
            <a:r>
              <a:rPr lang="en-US" dirty="0"/>
              <a:t>Example University database</a:t>
            </a:r>
          </a:p>
        </p:txBody>
      </p:sp>
      <p:sp>
        <p:nvSpPr>
          <p:cNvPr id="3" name="Content Placeholder 2">
            <a:extLst>
              <a:ext uri="{FF2B5EF4-FFF2-40B4-BE49-F238E27FC236}">
                <a16:creationId xmlns:a16="http://schemas.microsoft.com/office/drawing/2014/main" id="{4455DF95-F100-5F73-2855-B93E3802E2E3}"/>
              </a:ext>
            </a:extLst>
          </p:cNvPr>
          <p:cNvSpPr>
            <a:spLocks noGrp="1"/>
          </p:cNvSpPr>
          <p:nvPr>
            <p:ph idx="1"/>
          </p:nvPr>
        </p:nvSpPr>
        <p:spPr/>
        <p:txBody>
          <a:bodyPr>
            <a:normAutofit/>
          </a:bodyPr>
          <a:lstStyle/>
          <a:p>
            <a:r>
              <a:rPr lang="en-US" dirty="0"/>
              <a:t>for maintaining information concerning students, courses, and grades in a university environment</a:t>
            </a:r>
          </a:p>
          <a:p>
            <a:r>
              <a:rPr lang="en-US" dirty="0"/>
              <a:t>database is organized as five files</a:t>
            </a:r>
          </a:p>
          <a:p>
            <a:pPr marL="971550" lvl="1" indent="-514350">
              <a:buFont typeface="+mj-lt"/>
              <a:buAutoNum type="arabicPeriod"/>
            </a:pPr>
            <a:r>
              <a:rPr lang="en-US" sz="2500" dirty="0"/>
              <a:t>STUDENT file stores data on each student</a:t>
            </a:r>
          </a:p>
          <a:p>
            <a:pPr marL="971550" lvl="1" indent="-514350">
              <a:buFont typeface="+mj-lt"/>
              <a:buAutoNum type="arabicPeriod"/>
            </a:pPr>
            <a:r>
              <a:rPr lang="en-US" sz="2500" dirty="0"/>
              <a:t>COURSE file stores data on each course (</a:t>
            </a:r>
            <a:r>
              <a:rPr lang="en-US" sz="2500" dirty="0" err="1"/>
              <a:t>DataBase</a:t>
            </a:r>
            <a:r>
              <a:rPr lang="en-US" sz="2500" dirty="0"/>
              <a:t> is course)</a:t>
            </a:r>
          </a:p>
          <a:p>
            <a:pPr marL="971550" lvl="1" indent="-514350">
              <a:buFont typeface="+mj-lt"/>
              <a:buAutoNum type="arabicPeriod"/>
            </a:pPr>
            <a:r>
              <a:rPr lang="en-US" sz="2500" dirty="0"/>
              <a:t>SECTION file stores data on each section of a course (</a:t>
            </a:r>
            <a:r>
              <a:rPr lang="en-US" sz="2500" dirty="0" err="1"/>
              <a:t>DataBase</a:t>
            </a:r>
            <a:r>
              <a:rPr lang="en-US" sz="2500" dirty="0"/>
              <a:t> English 1</a:t>
            </a:r>
            <a:r>
              <a:rPr lang="en-US" sz="2500" baseline="30000" dirty="0"/>
              <a:t>st</a:t>
            </a:r>
            <a:r>
              <a:rPr lang="en-US" sz="2500" dirty="0"/>
              <a:t> series and 2</a:t>
            </a:r>
            <a:r>
              <a:rPr lang="en-US" sz="2500" baseline="30000" dirty="0"/>
              <a:t>nd</a:t>
            </a:r>
            <a:r>
              <a:rPr lang="en-US" sz="2500" dirty="0"/>
              <a:t> series are section) </a:t>
            </a:r>
          </a:p>
          <a:p>
            <a:pPr marL="971550" lvl="1" indent="-514350">
              <a:buFont typeface="+mj-lt"/>
              <a:buAutoNum type="arabicPeriod"/>
            </a:pPr>
            <a:r>
              <a:rPr lang="en-US" sz="2500" dirty="0"/>
              <a:t>GRADE_REPORT file stores grades that students receive</a:t>
            </a:r>
          </a:p>
          <a:p>
            <a:pPr marL="971550" lvl="1" indent="-514350">
              <a:buFont typeface="+mj-lt"/>
              <a:buAutoNum type="arabicPeriod"/>
            </a:pPr>
            <a:r>
              <a:rPr lang="en-US" sz="2500" dirty="0"/>
              <a:t>PREREQUISITE stores the prerequisites of each course</a:t>
            </a:r>
          </a:p>
        </p:txBody>
      </p:sp>
      <p:sp>
        <p:nvSpPr>
          <p:cNvPr id="4" name="Slide Number Placeholder 3">
            <a:extLst>
              <a:ext uri="{FF2B5EF4-FFF2-40B4-BE49-F238E27FC236}">
                <a16:creationId xmlns:a16="http://schemas.microsoft.com/office/drawing/2014/main" id="{0EBA59A0-0058-3290-501A-8209B813D573}"/>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2190217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C0106-CE08-C100-0665-E73147F36A1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9AA0BFEA-A893-83CD-6F2D-B64CA804065D}"/>
              </a:ext>
            </a:extLst>
          </p:cNvPr>
          <p:cNvPicPr>
            <a:picLocks noGrp="1" noChangeAspect="1"/>
          </p:cNvPicPr>
          <p:nvPr>
            <p:ph idx="1"/>
          </p:nvPr>
        </p:nvPicPr>
        <p:blipFill>
          <a:blip r:embed="rId2"/>
          <a:stretch>
            <a:fillRect/>
          </a:stretch>
        </p:blipFill>
        <p:spPr>
          <a:xfrm>
            <a:off x="838200" y="365124"/>
            <a:ext cx="10935153" cy="3063875"/>
          </a:xfrm>
        </p:spPr>
      </p:pic>
      <p:sp>
        <p:nvSpPr>
          <p:cNvPr id="4" name="Slide Number Placeholder 3">
            <a:extLst>
              <a:ext uri="{FF2B5EF4-FFF2-40B4-BE49-F238E27FC236}">
                <a16:creationId xmlns:a16="http://schemas.microsoft.com/office/drawing/2014/main" id="{83B55B5F-6CFC-B5B6-1986-CC14FD168E5C}"/>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3350262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462C-3BA1-56D2-E41F-997F56C84D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71BBCA-4CAB-F689-524B-250964761F9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BC26F06-6045-9BEA-2623-4D676B6D6B0A}"/>
              </a:ext>
            </a:extLst>
          </p:cNvPr>
          <p:cNvSpPr>
            <a:spLocks noGrp="1"/>
          </p:cNvSpPr>
          <p:nvPr>
            <p:ph type="sldNum" sz="quarter" idx="12"/>
          </p:nvPr>
        </p:nvSpPr>
        <p:spPr/>
        <p:txBody>
          <a:bodyPr/>
          <a:lstStyle/>
          <a:p>
            <a:fld id="{6264BDCF-5269-49AC-A246-ED26C2B980E3}" type="slidenum">
              <a:rPr lang="en-US" smtClean="0"/>
              <a:t>8</a:t>
            </a:fld>
            <a:endParaRPr lang="en-US"/>
          </a:p>
        </p:txBody>
      </p:sp>
      <p:pic>
        <p:nvPicPr>
          <p:cNvPr id="6" name="Picture 5">
            <a:extLst>
              <a:ext uri="{FF2B5EF4-FFF2-40B4-BE49-F238E27FC236}">
                <a16:creationId xmlns:a16="http://schemas.microsoft.com/office/drawing/2014/main" id="{4A174EFB-52E9-3A6D-6A51-F3BA8B07090C}"/>
              </a:ext>
            </a:extLst>
          </p:cNvPr>
          <p:cNvPicPr>
            <a:picLocks noChangeAspect="1"/>
          </p:cNvPicPr>
          <p:nvPr/>
        </p:nvPicPr>
        <p:blipFill>
          <a:blip r:embed="rId2"/>
          <a:stretch>
            <a:fillRect/>
          </a:stretch>
        </p:blipFill>
        <p:spPr>
          <a:xfrm>
            <a:off x="838200" y="365125"/>
            <a:ext cx="10693228" cy="3140075"/>
          </a:xfrm>
          <a:prstGeom prst="rect">
            <a:avLst/>
          </a:prstGeom>
        </p:spPr>
      </p:pic>
    </p:spTree>
    <p:extLst>
      <p:ext uri="{BB962C8B-B14F-4D97-AF65-F5344CB8AC3E}">
        <p14:creationId xmlns:p14="http://schemas.microsoft.com/office/powerpoint/2010/main" val="2880380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7E23F-00CE-5435-444A-BA7EBE246A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02D0C1-4611-6B82-98C0-4289EE55874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81033B5-F794-C2E7-F787-183174FED21F}"/>
              </a:ext>
            </a:extLst>
          </p:cNvPr>
          <p:cNvSpPr>
            <a:spLocks noGrp="1"/>
          </p:cNvSpPr>
          <p:nvPr>
            <p:ph type="sldNum" sz="quarter" idx="12"/>
          </p:nvPr>
        </p:nvSpPr>
        <p:spPr/>
        <p:txBody>
          <a:bodyPr/>
          <a:lstStyle/>
          <a:p>
            <a:fld id="{6264BDCF-5269-49AC-A246-ED26C2B980E3}" type="slidenum">
              <a:rPr lang="en-US" smtClean="0"/>
              <a:t>9</a:t>
            </a:fld>
            <a:endParaRPr lang="en-US"/>
          </a:p>
        </p:txBody>
      </p:sp>
      <p:pic>
        <p:nvPicPr>
          <p:cNvPr id="6" name="Picture 5">
            <a:extLst>
              <a:ext uri="{FF2B5EF4-FFF2-40B4-BE49-F238E27FC236}">
                <a16:creationId xmlns:a16="http://schemas.microsoft.com/office/drawing/2014/main" id="{77BCB014-4274-5F8A-FA96-D841C17E1841}"/>
              </a:ext>
            </a:extLst>
          </p:cNvPr>
          <p:cNvPicPr>
            <a:picLocks noChangeAspect="1"/>
          </p:cNvPicPr>
          <p:nvPr/>
        </p:nvPicPr>
        <p:blipFill>
          <a:blip r:embed="rId2"/>
          <a:stretch>
            <a:fillRect/>
          </a:stretch>
        </p:blipFill>
        <p:spPr>
          <a:xfrm>
            <a:off x="838199" y="365125"/>
            <a:ext cx="10595135" cy="4044315"/>
          </a:xfrm>
          <a:prstGeom prst="rect">
            <a:avLst/>
          </a:prstGeom>
        </p:spPr>
      </p:pic>
    </p:spTree>
    <p:extLst>
      <p:ext uri="{BB962C8B-B14F-4D97-AF65-F5344CB8AC3E}">
        <p14:creationId xmlns:p14="http://schemas.microsoft.com/office/powerpoint/2010/main" val="4274145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63CC-4F7D-0380-D5D1-D970FA9EA3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E11C29-4465-2F10-EE82-84011424434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352645A-D058-21E9-F77A-766BF1E08D45}"/>
              </a:ext>
            </a:extLst>
          </p:cNvPr>
          <p:cNvSpPr>
            <a:spLocks noGrp="1"/>
          </p:cNvSpPr>
          <p:nvPr>
            <p:ph type="sldNum" sz="quarter" idx="12"/>
          </p:nvPr>
        </p:nvSpPr>
        <p:spPr/>
        <p:txBody>
          <a:bodyPr/>
          <a:lstStyle/>
          <a:p>
            <a:fld id="{6264BDCF-5269-49AC-A246-ED26C2B980E3}" type="slidenum">
              <a:rPr lang="en-US" smtClean="0"/>
              <a:t>10</a:t>
            </a:fld>
            <a:endParaRPr lang="en-US"/>
          </a:p>
        </p:txBody>
      </p:sp>
      <p:pic>
        <p:nvPicPr>
          <p:cNvPr id="6" name="Picture 5">
            <a:extLst>
              <a:ext uri="{FF2B5EF4-FFF2-40B4-BE49-F238E27FC236}">
                <a16:creationId xmlns:a16="http://schemas.microsoft.com/office/drawing/2014/main" id="{C1C832F4-6D02-E591-A0C6-737ED31B6D67}"/>
              </a:ext>
            </a:extLst>
          </p:cNvPr>
          <p:cNvPicPr>
            <a:picLocks noChangeAspect="1"/>
          </p:cNvPicPr>
          <p:nvPr/>
        </p:nvPicPr>
        <p:blipFill>
          <a:blip r:embed="rId2"/>
          <a:stretch>
            <a:fillRect/>
          </a:stretch>
        </p:blipFill>
        <p:spPr>
          <a:xfrm>
            <a:off x="838200" y="365125"/>
            <a:ext cx="10601960" cy="5498533"/>
          </a:xfrm>
          <a:prstGeom prst="rect">
            <a:avLst/>
          </a:prstGeom>
        </p:spPr>
      </p:pic>
    </p:spTree>
    <p:extLst>
      <p:ext uri="{BB962C8B-B14F-4D97-AF65-F5344CB8AC3E}">
        <p14:creationId xmlns:p14="http://schemas.microsoft.com/office/powerpoint/2010/main" val="2618629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8744-F8B1-E659-8BE9-C387844BB90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7498B4CC-1BE0-DD26-4A77-99F35B07010E}"/>
              </a:ext>
            </a:extLst>
          </p:cNvPr>
          <p:cNvPicPr>
            <a:picLocks noGrp="1" noChangeAspect="1"/>
          </p:cNvPicPr>
          <p:nvPr>
            <p:ph idx="1"/>
          </p:nvPr>
        </p:nvPicPr>
        <p:blipFill>
          <a:blip r:embed="rId2"/>
          <a:stretch>
            <a:fillRect/>
          </a:stretch>
        </p:blipFill>
        <p:spPr>
          <a:xfrm>
            <a:off x="838200" y="365125"/>
            <a:ext cx="10866368" cy="4603115"/>
          </a:xfrm>
        </p:spPr>
      </p:pic>
      <p:sp>
        <p:nvSpPr>
          <p:cNvPr id="4" name="Slide Number Placeholder 3">
            <a:extLst>
              <a:ext uri="{FF2B5EF4-FFF2-40B4-BE49-F238E27FC236}">
                <a16:creationId xmlns:a16="http://schemas.microsoft.com/office/drawing/2014/main" id="{BA40A76A-F43C-108A-0338-CB5AA7EF010A}"/>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1203873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EA50B-C5DA-4E46-600F-044F2DE1EC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611DEC-CB7D-EB1B-7B7E-C0D3B16C742D}"/>
              </a:ext>
            </a:extLst>
          </p:cNvPr>
          <p:cNvSpPr>
            <a:spLocks noGrp="1"/>
          </p:cNvSpPr>
          <p:nvPr>
            <p:ph idx="1"/>
          </p:nvPr>
        </p:nvSpPr>
        <p:spPr/>
        <p:txBody>
          <a:bodyPr>
            <a:noAutofit/>
          </a:bodyPr>
          <a:lstStyle/>
          <a:p>
            <a:r>
              <a:rPr lang="en-US" dirty="0"/>
              <a:t>relation is thought of as table of values</a:t>
            </a:r>
          </a:p>
          <a:p>
            <a:r>
              <a:rPr lang="en-US" dirty="0"/>
              <a:t>each row in table represents collection of related data values</a:t>
            </a:r>
          </a:p>
          <a:p>
            <a:pPr lvl="1"/>
            <a:r>
              <a:rPr lang="en-US" sz="2700" dirty="0"/>
              <a:t>represents fact that typically corresponds to real-world entity or relationship</a:t>
            </a:r>
          </a:p>
          <a:p>
            <a:r>
              <a:rPr lang="en-US" dirty="0"/>
              <a:t>table and column names used to interpret meaning of values in each row</a:t>
            </a:r>
          </a:p>
          <a:p>
            <a:r>
              <a:rPr lang="en-US" sz="2700" dirty="0"/>
              <a:t>for example, table is called STUDENT because each row represents facts about particular student entity; column names - Name, </a:t>
            </a:r>
            <a:r>
              <a:rPr lang="en-US" sz="2700" dirty="0" err="1"/>
              <a:t>Student_number</a:t>
            </a:r>
            <a:r>
              <a:rPr lang="en-US" sz="2700" dirty="0"/>
              <a:t> Class, and Major - specify how to interpret data values in each row; all values in column are of the same data type</a:t>
            </a:r>
          </a:p>
        </p:txBody>
      </p:sp>
      <p:sp>
        <p:nvSpPr>
          <p:cNvPr id="4" name="Slide Number Placeholder 3">
            <a:extLst>
              <a:ext uri="{FF2B5EF4-FFF2-40B4-BE49-F238E27FC236}">
                <a16:creationId xmlns:a16="http://schemas.microsoft.com/office/drawing/2014/main" id="{D54161CA-ED9F-FB28-A871-C7CD7D0F0B8D}"/>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2083005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8F7E-0460-65EF-68C6-210D9C75A82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92B2E1-9E34-F220-CA52-B6FE7541CFB2}"/>
              </a:ext>
            </a:extLst>
          </p:cNvPr>
          <p:cNvSpPr>
            <a:spLocks noGrp="1"/>
          </p:cNvSpPr>
          <p:nvPr>
            <p:ph idx="1"/>
          </p:nvPr>
        </p:nvSpPr>
        <p:spPr/>
        <p:txBody>
          <a:bodyPr/>
          <a:lstStyle/>
          <a:p>
            <a:r>
              <a:rPr lang="en-US" dirty="0"/>
              <a:t>in formal relational model terminology, a row is a </a:t>
            </a:r>
            <a:r>
              <a:rPr lang="en-US" i="1" dirty="0"/>
              <a:t>tuple, </a:t>
            </a:r>
            <a:r>
              <a:rPr lang="en-US" dirty="0"/>
              <a:t>a column header is an </a:t>
            </a:r>
            <a:r>
              <a:rPr lang="en-US" i="1" dirty="0"/>
              <a:t>attribute, </a:t>
            </a:r>
            <a:r>
              <a:rPr lang="en-US" dirty="0"/>
              <a:t>and table is a </a:t>
            </a:r>
            <a:r>
              <a:rPr lang="en-US" i="1" dirty="0"/>
              <a:t>relation; </a:t>
            </a:r>
            <a:r>
              <a:rPr lang="en-US" dirty="0"/>
              <a:t>data type describing the types of values that can appear in each column is a </a:t>
            </a:r>
            <a:r>
              <a:rPr lang="en-US" i="1" dirty="0"/>
              <a:t>domain </a:t>
            </a:r>
            <a:r>
              <a:rPr lang="en-US" dirty="0"/>
              <a:t>of possible values</a:t>
            </a:r>
          </a:p>
        </p:txBody>
      </p:sp>
      <p:sp>
        <p:nvSpPr>
          <p:cNvPr id="4" name="Slide Number Placeholder 3">
            <a:extLst>
              <a:ext uri="{FF2B5EF4-FFF2-40B4-BE49-F238E27FC236}">
                <a16:creationId xmlns:a16="http://schemas.microsoft.com/office/drawing/2014/main" id="{34278B9B-E024-B3C3-C5E3-C52B1DA1B167}"/>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3383872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1817A-43C5-D399-80E3-FF155D5F9FBA}"/>
              </a:ext>
            </a:extLst>
          </p:cNvPr>
          <p:cNvSpPr>
            <a:spLocks noGrp="1"/>
          </p:cNvSpPr>
          <p:nvPr>
            <p:ph type="title"/>
          </p:nvPr>
        </p:nvSpPr>
        <p:spPr/>
        <p:txBody>
          <a:bodyPr/>
          <a:lstStyle/>
          <a:p>
            <a:r>
              <a:rPr lang="en-US" dirty="0"/>
              <a:t>Domain</a:t>
            </a:r>
          </a:p>
        </p:txBody>
      </p:sp>
      <p:sp>
        <p:nvSpPr>
          <p:cNvPr id="3" name="Content Placeholder 2">
            <a:extLst>
              <a:ext uri="{FF2B5EF4-FFF2-40B4-BE49-F238E27FC236}">
                <a16:creationId xmlns:a16="http://schemas.microsoft.com/office/drawing/2014/main" id="{E0D5457F-196C-936F-0A1C-25DF9D2F78FC}"/>
              </a:ext>
            </a:extLst>
          </p:cNvPr>
          <p:cNvSpPr>
            <a:spLocks noGrp="1"/>
          </p:cNvSpPr>
          <p:nvPr>
            <p:ph idx="1"/>
          </p:nvPr>
        </p:nvSpPr>
        <p:spPr/>
        <p:txBody>
          <a:bodyPr/>
          <a:lstStyle/>
          <a:p>
            <a:r>
              <a:rPr lang="en-US" dirty="0"/>
              <a:t>a domain D is a set of atomic values</a:t>
            </a:r>
          </a:p>
          <a:p>
            <a:r>
              <a:rPr lang="en-US" dirty="0"/>
              <a:t>by atomic we mean that each value in domain is indivisible as far as the formal relational model is concerned</a:t>
            </a:r>
          </a:p>
          <a:p>
            <a:r>
              <a:rPr lang="en-US" dirty="0"/>
              <a:t>common method of specifying domain is to specify data type from which data values forming the domain are drawn</a:t>
            </a:r>
          </a:p>
          <a:p>
            <a:r>
              <a:rPr lang="en-US" dirty="0"/>
              <a:t>useful to specify a name for the domain, to help in interpreting its values</a:t>
            </a:r>
          </a:p>
        </p:txBody>
      </p:sp>
      <p:sp>
        <p:nvSpPr>
          <p:cNvPr id="4" name="Slide Number Placeholder 3">
            <a:extLst>
              <a:ext uri="{FF2B5EF4-FFF2-40B4-BE49-F238E27FC236}">
                <a16:creationId xmlns:a16="http://schemas.microsoft.com/office/drawing/2014/main" id="{6B41AFD0-D0D3-5804-58CD-C003B0B4A476}"/>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3561286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5AF0E-10DA-080A-DA27-4C8246AC26B6}"/>
              </a:ext>
            </a:extLst>
          </p:cNvPr>
          <p:cNvSpPr>
            <a:spLocks noGrp="1"/>
          </p:cNvSpPr>
          <p:nvPr>
            <p:ph type="title"/>
          </p:nvPr>
        </p:nvSpPr>
        <p:spPr/>
        <p:txBody>
          <a:bodyPr/>
          <a:lstStyle/>
          <a:p>
            <a:r>
              <a:rPr lang="en-US" dirty="0"/>
              <a:t>examples of domains</a:t>
            </a:r>
          </a:p>
        </p:txBody>
      </p:sp>
      <p:sp>
        <p:nvSpPr>
          <p:cNvPr id="3" name="Content Placeholder 2">
            <a:extLst>
              <a:ext uri="{FF2B5EF4-FFF2-40B4-BE49-F238E27FC236}">
                <a16:creationId xmlns:a16="http://schemas.microsoft.com/office/drawing/2014/main" id="{45D2DA61-0564-F6C7-84FD-3FE38ACC4F01}"/>
              </a:ext>
            </a:extLst>
          </p:cNvPr>
          <p:cNvSpPr>
            <a:spLocks noGrp="1"/>
          </p:cNvSpPr>
          <p:nvPr>
            <p:ph idx="1"/>
          </p:nvPr>
        </p:nvSpPr>
        <p:spPr/>
        <p:txBody>
          <a:bodyPr>
            <a:noAutofit/>
          </a:bodyPr>
          <a:lstStyle/>
          <a:p>
            <a:r>
              <a:rPr lang="en-US" dirty="0" err="1"/>
              <a:t>National_phone_numbers</a:t>
            </a:r>
            <a:r>
              <a:rPr lang="en-US" dirty="0"/>
              <a:t>: set of ten-digit phone numbers valid nation wide – </a:t>
            </a:r>
            <a:r>
              <a:rPr lang="en-US" b="1" dirty="0"/>
              <a:t>typically a fixed length character string!</a:t>
            </a:r>
          </a:p>
          <a:p>
            <a:r>
              <a:rPr lang="en-US" dirty="0" err="1"/>
              <a:t>Local_phone_numbers</a:t>
            </a:r>
            <a:r>
              <a:rPr lang="en-US" dirty="0"/>
              <a:t>: set of six-digit phone numbers valid within particular area code – </a:t>
            </a:r>
            <a:r>
              <a:rPr lang="en-US" i="1" dirty="0"/>
              <a:t>becoming obsolete</a:t>
            </a:r>
          </a:p>
          <a:p>
            <a:r>
              <a:rPr lang="en-US" dirty="0" err="1"/>
              <a:t>Social_Security_Numbers</a:t>
            </a:r>
            <a:r>
              <a:rPr lang="en-US" dirty="0"/>
              <a:t>: set of valid nine-digit Social Security numbers – Cod Numeric Personal fixed length of 13 characters string</a:t>
            </a:r>
          </a:p>
          <a:p>
            <a:pPr lvl="1"/>
            <a:r>
              <a:rPr lang="en-US" sz="2800" dirty="0"/>
              <a:t>unique identifier assigned to each person</a:t>
            </a:r>
          </a:p>
          <a:p>
            <a:r>
              <a:rPr lang="en-US" dirty="0"/>
              <a:t>Names: set of character strings that represent names of persons.</a:t>
            </a:r>
          </a:p>
        </p:txBody>
      </p:sp>
      <p:sp>
        <p:nvSpPr>
          <p:cNvPr id="4" name="Slide Number Placeholder 3">
            <a:extLst>
              <a:ext uri="{FF2B5EF4-FFF2-40B4-BE49-F238E27FC236}">
                <a16:creationId xmlns:a16="http://schemas.microsoft.com/office/drawing/2014/main" id="{4507B410-F9A3-2790-46DC-ED577E36B557}"/>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2315244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5E741-D125-09B3-1CA2-2A5FCB6D45AE}"/>
              </a:ext>
            </a:extLst>
          </p:cNvPr>
          <p:cNvSpPr>
            <a:spLocks noGrp="1"/>
          </p:cNvSpPr>
          <p:nvPr>
            <p:ph type="title"/>
          </p:nvPr>
        </p:nvSpPr>
        <p:spPr/>
        <p:txBody>
          <a:bodyPr/>
          <a:lstStyle/>
          <a:p>
            <a:r>
              <a:rPr lang="en-US" dirty="0"/>
              <a:t>The Artist Formerly Known As Prince</a:t>
            </a:r>
          </a:p>
        </p:txBody>
      </p:sp>
      <p:sp>
        <p:nvSpPr>
          <p:cNvPr id="3" name="Content Placeholder 2">
            <a:extLst>
              <a:ext uri="{FF2B5EF4-FFF2-40B4-BE49-F238E27FC236}">
                <a16:creationId xmlns:a16="http://schemas.microsoft.com/office/drawing/2014/main" id="{53518DC1-4186-ACAA-DF40-526EBB979099}"/>
              </a:ext>
            </a:extLst>
          </p:cNvPr>
          <p:cNvSpPr>
            <a:spLocks noGrp="1"/>
          </p:cNvSpPr>
          <p:nvPr>
            <p:ph idx="1"/>
          </p:nvPr>
        </p:nvSpPr>
        <p:spPr/>
        <p:txBody>
          <a:bodyPr/>
          <a:lstStyle/>
          <a:p>
            <a:r>
              <a:rPr lang="en-US" dirty="0"/>
              <a:t>changes his name to a symbol that didn't mean anything</a:t>
            </a:r>
          </a:p>
          <a:p>
            <a:r>
              <a:rPr lang="en-US" dirty="0"/>
              <a:t>no one knew what to call him, so he suggested "The Artist Formerly Known As Prince“</a:t>
            </a:r>
          </a:p>
          <a:p>
            <a:r>
              <a:rPr lang="en-US" dirty="0"/>
              <a:t>difficult to store in a database</a:t>
            </a:r>
          </a:p>
        </p:txBody>
      </p:sp>
      <p:sp>
        <p:nvSpPr>
          <p:cNvPr id="4" name="Slide Number Placeholder 3">
            <a:extLst>
              <a:ext uri="{FF2B5EF4-FFF2-40B4-BE49-F238E27FC236}">
                <a16:creationId xmlns:a16="http://schemas.microsoft.com/office/drawing/2014/main" id="{3CC3B445-DC53-28B6-9D96-A81AD81E95B1}"/>
              </a:ext>
            </a:extLst>
          </p:cNvPr>
          <p:cNvSpPr>
            <a:spLocks noGrp="1"/>
          </p:cNvSpPr>
          <p:nvPr>
            <p:ph type="sldNum" sz="quarter" idx="12"/>
          </p:nvPr>
        </p:nvSpPr>
        <p:spPr/>
        <p:txBody>
          <a:bodyPr/>
          <a:lstStyle/>
          <a:p>
            <a:fld id="{6264BDCF-5269-49AC-A246-ED26C2B980E3}" type="slidenum">
              <a:rPr lang="en-US" smtClean="0"/>
              <a:t>16</a:t>
            </a:fld>
            <a:endParaRPr lang="en-US"/>
          </a:p>
        </p:txBody>
      </p:sp>
      <p:pic>
        <p:nvPicPr>
          <p:cNvPr id="1034" name="Picture 10" descr="did Prince change his name to a symbol ...">
            <a:extLst>
              <a:ext uri="{FF2B5EF4-FFF2-40B4-BE49-F238E27FC236}">
                <a16:creationId xmlns:a16="http://schemas.microsoft.com/office/drawing/2014/main" id="{7A54D7B9-5FA1-0FE2-AAD6-D5B9E9565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2160" y="2926080"/>
            <a:ext cx="3657600" cy="2048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731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9F2E2-0BD8-0C43-5650-70ED95C7B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9AF4D-3520-AE2A-45CB-9934EB7B88D0}"/>
              </a:ext>
            </a:extLst>
          </p:cNvPr>
          <p:cNvSpPr>
            <a:spLocks noGrp="1"/>
          </p:cNvSpPr>
          <p:nvPr>
            <p:ph type="title"/>
          </p:nvPr>
        </p:nvSpPr>
        <p:spPr/>
        <p:txBody>
          <a:bodyPr/>
          <a:lstStyle/>
          <a:p>
            <a:r>
              <a:rPr lang="en-US" dirty="0"/>
              <a:t>examples of domains</a:t>
            </a:r>
          </a:p>
        </p:txBody>
      </p:sp>
      <p:sp>
        <p:nvSpPr>
          <p:cNvPr id="3" name="Content Placeholder 2">
            <a:extLst>
              <a:ext uri="{FF2B5EF4-FFF2-40B4-BE49-F238E27FC236}">
                <a16:creationId xmlns:a16="http://schemas.microsoft.com/office/drawing/2014/main" id="{28832D90-1352-6098-F661-4CB3765A37DE}"/>
              </a:ext>
            </a:extLst>
          </p:cNvPr>
          <p:cNvSpPr>
            <a:spLocks noGrp="1"/>
          </p:cNvSpPr>
          <p:nvPr>
            <p:ph idx="1"/>
          </p:nvPr>
        </p:nvSpPr>
        <p:spPr/>
        <p:txBody>
          <a:bodyPr>
            <a:noAutofit/>
          </a:bodyPr>
          <a:lstStyle/>
          <a:p>
            <a:r>
              <a:rPr lang="en-US" dirty="0" err="1"/>
              <a:t>Grade_point_averages</a:t>
            </a:r>
            <a:r>
              <a:rPr lang="en-US" dirty="0"/>
              <a:t>: possible values of computed grade point averages; each must be a real (floating-point) number between 0 and 10.0.</a:t>
            </a:r>
          </a:p>
          <a:p>
            <a:r>
              <a:rPr lang="en-US" dirty="0" err="1"/>
              <a:t>Employee_ages</a:t>
            </a:r>
            <a:r>
              <a:rPr lang="en-US" dirty="0"/>
              <a:t>: possible ages of employees in a company; each must be an integer value between 15 and 80</a:t>
            </a:r>
          </a:p>
          <a:p>
            <a:r>
              <a:rPr lang="en-US" dirty="0" err="1"/>
              <a:t>Academic_department_names</a:t>
            </a:r>
            <a:r>
              <a:rPr lang="en-US" dirty="0"/>
              <a:t>: set of academic department names in a university, such as Computer Science, Economics, and Physics</a:t>
            </a:r>
          </a:p>
          <a:p>
            <a:r>
              <a:rPr lang="en-US" dirty="0" err="1"/>
              <a:t>Academic_department_codes</a:t>
            </a:r>
            <a:r>
              <a:rPr lang="en-US" dirty="0"/>
              <a:t>: set of academic department codes, such as ‘CS’, ‘ECON’, and ‘PHYS’</a:t>
            </a:r>
          </a:p>
        </p:txBody>
      </p:sp>
      <p:sp>
        <p:nvSpPr>
          <p:cNvPr id="4" name="Slide Number Placeholder 3">
            <a:extLst>
              <a:ext uri="{FF2B5EF4-FFF2-40B4-BE49-F238E27FC236}">
                <a16:creationId xmlns:a16="http://schemas.microsoft.com/office/drawing/2014/main" id="{180937B0-3E79-A36B-2C5F-C93E49FAF2E4}"/>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1791569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73915-CBEC-9E43-29E4-EECEFEB6B5F8}"/>
              </a:ext>
            </a:extLst>
          </p:cNvPr>
          <p:cNvSpPr>
            <a:spLocks noGrp="1"/>
          </p:cNvSpPr>
          <p:nvPr>
            <p:ph type="title"/>
          </p:nvPr>
        </p:nvSpPr>
        <p:spPr/>
        <p:txBody>
          <a:bodyPr/>
          <a:lstStyle/>
          <a:p>
            <a:r>
              <a:rPr lang="en-US" dirty="0"/>
              <a:t>Logical Definitions of Domains</a:t>
            </a:r>
          </a:p>
        </p:txBody>
      </p:sp>
      <p:sp>
        <p:nvSpPr>
          <p:cNvPr id="3" name="Content Placeholder 2">
            <a:extLst>
              <a:ext uri="{FF2B5EF4-FFF2-40B4-BE49-F238E27FC236}">
                <a16:creationId xmlns:a16="http://schemas.microsoft.com/office/drawing/2014/main" id="{9665F61D-06E0-44F1-A016-E7344E9CE460}"/>
              </a:ext>
            </a:extLst>
          </p:cNvPr>
          <p:cNvSpPr>
            <a:spLocks noGrp="1"/>
          </p:cNvSpPr>
          <p:nvPr>
            <p:ph idx="1"/>
          </p:nvPr>
        </p:nvSpPr>
        <p:spPr>
          <a:xfrm>
            <a:off x="838200" y="1825625"/>
            <a:ext cx="10685206" cy="4351338"/>
          </a:xfrm>
        </p:spPr>
        <p:txBody>
          <a:bodyPr>
            <a:noAutofit/>
          </a:bodyPr>
          <a:lstStyle/>
          <a:p>
            <a:r>
              <a:rPr lang="en-US" dirty="0"/>
              <a:t>data type and format is also specified for each domain</a:t>
            </a:r>
          </a:p>
          <a:p>
            <a:r>
              <a:rPr lang="en-US" dirty="0"/>
              <a:t>for example:</a:t>
            </a:r>
          </a:p>
          <a:p>
            <a:pPr lvl="1"/>
            <a:r>
              <a:rPr lang="en-US" sz="2700" dirty="0"/>
              <a:t>data type for the domain </a:t>
            </a:r>
            <a:r>
              <a:rPr lang="en-US" sz="2700" dirty="0" err="1"/>
              <a:t>National_phone_numbers</a:t>
            </a:r>
            <a:r>
              <a:rPr lang="en-US" sz="2700" dirty="0"/>
              <a:t> can be declared as a character string of the form (</a:t>
            </a:r>
            <a:r>
              <a:rPr lang="en-US" sz="2700" dirty="0" err="1"/>
              <a:t>dddd</a:t>
            </a:r>
            <a:r>
              <a:rPr lang="en-US" sz="2700" dirty="0"/>
              <a:t>) </a:t>
            </a:r>
            <a:r>
              <a:rPr lang="en-US" sz="2700" dirty="0" err="1"/>
              <a:t>ddd-ddd</a:t>
            </a:r>
            <a:r>
              <a:rPr lang="en-US" sz="2700" dirty="0"/>
              <a:t>, where each </a:t>
            </a:r>
            <a:r>
              <a:rPr lang="en-US" sz="2700" i="1" dirty="0"/>
              <a:t>d</a:t>
            </a:r>
            <a:r>
              <a:rPr lang="en-US" sz="2700" dirty="0"/>
              <a:t> is a numeric (decimal) digit and first four digits form a valid telephone area code</a:t>
            </a:r>
          </a:p>
          <a:p>
            <a:pPr lvl="1"/>
            <a:r>
              <a:rPr lang="en-US" sz="2700" dirty="0"/>
              <a:t>data type for </a:t>
            </a:r>
            <a:r>
              <a:rPr lang="en-US" sz="2700" dirty="0" err="1"/>
              <a:t>Employee_ages</a:t>
            </a:r>
            <a:r>
              <a:rPr lang="en-US" sz="2700" dirty="0"/>
              <a:t> is an integer number between 15 and 80</a:t>
            </a:r>
          </a:p>
          <a:p>
            <a:pPr lvl="1"/>
            <a:r>
              <a:rPr lang="en-US" sz="2700" dirty="0" err="1"/>
              <a:t>Academic_department_names</a:t>
            </a:r>
            <a:r>
              <a:rPr lang="en-US" sz="2700" dirty="0"/>
              <a:t>, data type is the set of all character strings that represent valid department names</a:t>
            </a:r>
          </a:p>
        </p:txBody>
      </p:sp>
      <p:sp>
        <p:nvSpPr>
          <p:cNvPr id="4" name="Slide Number Placeholder 3">
            <a:extLst>
              <a:ext uri="{FF2B5EF4-FFF2-40B4-BE49-F238E27FC236}">
                <a16:creationId xmlns:a16="http://schemas.microsoft.com/office/drawing/2014/main" id="{74C850F5-C60C-5A07-59DE-EB016094A588}"/>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4216078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6A66-46B6-6667-FFEE-0E7A6AB77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6FAEB-E82B-4B98-46CE-5BE8DE6A667D}"/>
              </a:ext>
            </a:extLst>
          </p:cNvPr>
          <p:cNvSpPr>
            <a:spLocks noGrp="1"/>
          </p:cNvSpPr>
          <p:nvPr>
            <p:ph type="title"/>
          </p:nvPr>
        </p:nvSpPr>
        <p:spPr/>
        <p:txBody>
          <a:bodyPr/>
          <a:lstStyle/>
          <a:p>
            <a:r>
              <a:rPr lang="en-US" dirty="0"/>
              <a:t>Logical Definitions of Domains</a:t>
            </a:r>
          </a:p>
        </p:txBody>
      </p:sp>
      <p:sp>
        <p:nvSpPr>
          <p:cNvPr id="3" name="Content Placeholder 2">
            <a:extLst>
              <a:ext uri="{FF2B5EF4-FFF2-40B4-BE49-F238E27FC236}">
                <a16:creationId xmlns:a16="http://schemas.microsoft.com/office/drawing/2014/main" id="{B683E5C9-18AD-7135-177F-7EFAB29917AD}"/>
              </a:ext>
            </a:extLst>
          </p:cNvPr>
          <p:cNvSpPr>
            <a:spLocks noGrp="1"/>
          </p:cNvSpPr>
          <p:nvPr>
            <p:ph idx="1"/>
          </p:nvPr>
        </p:nvSpPr>
        <p:spPr/>
        <p:txBody>
          <a:bodyPr>
            <a:noAutofit/>
          </a:bodyPr>
          <a:lstStyle/>
          <a:p>
            <a:r>
              <a:rPr lang="en-US" dirty="0"/>
              <a:t>domain is thus given a name, data type, and format</a:t>
            </a:r>
          </a:p>
          <a:p>
            <a:r>
              <a:rPr lang="en-US" dirty="0"/>
              <a:t>additional information for interpreting values of a domain can also be given</a:t>
            </a:r>
          </a:p>
          <a:p>
            <a:r>
              <a:rPr lang="en-US" dirty="0"/>
              <a:t>for example, a numeric domain such as </a:t>
            </a:r>
            <a:r>
              <a:rPr lang="en-US" dirty="0" err="1"/>
              <a:t>Person_weights</a:t>
            </a:r>
            <a:r>
              <a:rPr lang="en-US" dirty="0"/>
              <a:t> should have the units of measurement, such as pounds or kilograms</a:t>
            </a:r>
          </a:p>
          <a:p>
            <a:endParaRPr lang="en-US" dirty="0"/>
          </a:p>
          <a:p>
            <a:r>
              <a:rPr lang="en-US" dirty="0"/>
              <a:t>It is possible for several attributes to have the same domain</a:t>
            </a:r>
          </a:p>
        </p:txBody>
      </p:sp>
      <p:sp>
        <p:nvSpPr>
          <p:cNvPr id="4" name="Slide Number Placeholder 3">
            <a:extLst>
              <a:ext uri="{FF2B5EF4-FFF2-40B4-BE49-F238E27FC236}">
                <a16:creationId xmlns:a16="http://schemas.microsoft.com/office/drawing/2014/main" id="{B8DA9903-ED91-804F-0C6F-722BBF01452C}"/>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2218630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9645-EF29-9019-A703-D1B2CC98B118}"/>
              </a:ext>
            </a:extLst>
          </p:cNvPr>
          <p:cNvSpPr>
            <a:spLocks noGrp="1"/>
          </p:cNvSpPr>
          <p:nvPr>
            <p:ph type="title"/>
          </p:nvPr>
        </p:nvSpPr>
        <p:spPr/>
        <p:txBody>
          <a:bodyPr/>
          <a:lstStyle/>
          <a:p>
            <a:r>
              <a:rPr lang="en-US" dirty="0"/>
              <a:t>Relation Schema</a:t>
            </a:r>
          </a:p>
        </p:txBody>
      </p:sp>
      <p:sp>
        <p:nvSpPr>
          <p:cNvPr id="3" name="Content Placeholder 2">
            <a:extLst>
              <a:ext uri="{FF2B5EF4-FFF2-40B4-BE49-F238E27FC236}">
                <a16:creationId xmlns:a16="http://schemas.microsoft.com/office/drawing/2014/main" id="{102AB6D9-9078-75EC-7E3D-14CB5C8F44F5}"/>
              </a:ext>
            </a:extLst>
          </p:cNvPr>
          <p:cNvSpPr>
            <a:spLocks noGrp="1"/>
          </p:cNvSpPr>
          <p:nvPr>
            <p:ph idx="1"/>
          </p:nvPr>
        </p:nvSpPr>
        <p:spPr/>
        <p:txBody>
          <a:bodyPr>
            <a:normAutofit/>
          </a:bodyPr>
          <a:lstStyle/>
          <a:p>
            <a:r>
              <a:rPr lang="en-US" dirty="0"/>
              <a:t>a relation schema </a:t>
            </a:r>
            <a:r>
              <a:rPr lang="en-US" i="1" dirty="0"/>
              <a:t>R</a:t>
            </a:r>
            <a:r>
              <a:rPr lang="en-US" dirty="0"/>
              <a:t>, denoted by </a:t>
            </a:r>
            <a:r>
              <a:rPr lang="en-US" i="1" dirty="0"/>
              <a:t>R</a:t>
            </a:r>
            <a:r>
              <a:rPr lang="en-US" dirty="0"/>
              <a:t>(</a:t>
            </a:r>
            <a:r>
              <a:rPr lang="en-US" i="1" dirty="0"/>
              <a:t>A</a:t>
            </a:r>
            <a:r>
              <a:rPr lang="en-US" baseline="-25000" dirty="0"/>
              <a:t>1</a:t>
            </a:r>
            <a:r>
              <a:rPr lang="en-US" dirty="0"/>
              <a:t>, </a:t>
            </a:r>
            <a:r>
              <a:rPr lang="en-US" i="1" dirty="0"/>
              <a:t>A</a:t>
            </a:r>
            <a:r>
              <a:rPr lang="en-US" baseline="-25000" dirty="0"/>
              <a:t>2</a:t>
            </a:r>
            <a:r>
              <a:rPr lang="en-US" dirty="0"/>
              <a:t>, … , </a:t>
            </a:r>
            <a:r>
              <a:rPr lang="en-US" i="1" dirty="0"/>
              <a:t>A</a:t>
            </a:r>
            <a:r>
              <a:rPr lang="en-US" i="1" baseline="-25000" dirty="0"/>
              <a:t>n</a:t>
            </a:r>
            <a:r>
              <a:rPr lang="en-US" dirty="0"/>
              <a:t>), is made up of relation name </a:t>
            </a:r>
            <a:r>
              <a:rPr lang="en-US" i="1" dirty="0"/>
              <a:t>R </a:t>
            </a:r>
            <a:r>
              <a:rPr lang="en-US" dirty="0"/>
              <a:t>and list of attributes, </a:t>
            </a:r>
            <a:r>
              <a:rPr lang="en-US" i="1" dirty="0"/>
              <a:t>A</a:t>
            </a:r>
            <a:r>
              <a:rPr lang="en-US" baseline="-25000" dirty="0"/>
              <a:t>1</a:t>
            </a:r>
            <a:r>
              <a:rPr lang="en-US" dirty="0"/>
              <a:t>, </a:t>
            </a:r>
            <a:r>
              <a:rPr lang="en-US" i="1" dirty="0"/>
              <a:t>A</a:t>
            </a:r>
            <a:r>
              <a:rPr lang="en-US" baseline="-25000" dirty="0"/>
              <a:t>2</a:t>
            </a:r>
            <a:r>
              <a:rPr lang="en-US" dirty="0"/>
              <a:t>, … , </a:t>
            </a:r>
            <a:r>
              <a:rPr lang="en-US" i="1" dirty="0"/>
              <a:t>A</a:t>
            </a:r>
            <a:r>
              <a:rPr lang="en-US" i="1" baseline="-25000" dirty="0"/>
              <a:t>n</a:t>
            </a:r>
            <a:r>
              <a:rPr lang="en-US" dirty="0"/>
              <a:t>; each attribute</a:t>
            </a:r>
            <a:r>
              <a:rPr lang="en-US" b="1" dirty="0"/>
              <a:t> </a:t>
            </a:r>
            <a:r>
              <a:rPr lang="en-US" i="1" dirty="0"/>
              <a:t>A</a:t>
            </a:r>
            <a:r>
              <a:rPr lang="en-US" i="1" baseline="-25000" dirty="0"/>
              <a:t>i</a:t>
            </a:r>
            <a:r>
              <a:rPr lang="en-US" i="1" dirty="0"/>
              <a:t> </a:t>
            </a:r>
            <a:r>
              <a:rPr lang="en-US" dirty="0"/>
              <a:t>is the name of a role played by some domain </a:t>
            </a:r>
            <a:r>
              <a:rPr lang="en-US" i="1" dirty="0"/>
              <a:t>D</a:t>
            </a:r>
            <a:r>
              <a:rPr lang="en-US" i="1" baseline="-25000" dirty="0"/>
              <a:t>i</a:t>
            </a:r>
            <a:r>
              <a:rPr lang="en-US" i="1" dirty="0"/>
              <a:t> </a:t>
            </a:r>
            <a:r>
              <a:rPr lang="en-US" dirty="0"/>
              <a:t>in relation schema </a:t>
            </a:r>
            <a:r>
              <a:rPr lang="en-US" i="1" dirty="0"/>
              <a:t>R;</a:t>
            </a:r>
            <a:r>
              <a:rPr lang="en-US" dirty="0"/>
              <a:t> </a:t>
            </a:r>
            <a:r>
              <a:rPr lang="en-US" i="1" dirty="0"/>
              <a:t>D</a:t>
            </a:r>
            <a:r>
              <a:rPr lang="en-US" i="1" baseline="-25000" dirty="0"/>
              <a:t>i</a:t>
            </a:r>
            <a:r>
              <a:rPr lang="en-US" i="1" dirty="0"/>
              <a:t> </a:t>
            </a:r>
            <a:r>
              <a:rPr lang="en-US" dirty="0"/>
              <a:t>is called domain</a:t>
            </a:r>
            <a:r>
              <a:rPr lang="en-US" b="1" dirty="0"/>
              <a:t> </a:t>
            </a:r>
            <a:r>
              <a:rPr lang="en-US" dirty="0"/>
              <a:t>of </a:t>
            </a:r>
            <a:r>
              <a:rPr lang="en-US" i="1" dirty="0"/>
              <a:t>A</a:t>
            </a:r>
            <a:r>
              <a:rPr lang="en-US" i="1" baseline="-25000" dirty="0"/>
              <a:t>i </a:t>
            </a:r>
            <a:r>
              <a:rPr lang="en-US" dirty="0"/>
              <a:t>and denoted by </a:t>
            </a:r>
            <a:r>
              <a:rPr lang="en-US" b="1" dirty="0" err="1"/>
              <a:t>dom</a:t>
            </a:r>
            <a:r>
              <a:rPr lang="en-US" dirty="0"/>
              <a:t>(</a:t>
            </a:r>
            <a:r>
              <a:rPr lang="en-US" b="1" i="1" dirty="0"/>
              <a:t>A</a:t>
            </a:r>
            <a:r>
              <a:rPr lang="en-US" i="1" baseline="-25000" dirty="0"/>
              <a:t>i</a:t>
            </a:r>
            <a:r>
              <a:rPr lang="en-US" i="1" dirty="0"/>
              <a:t>)</a:t>
            </a:r>
          </a:p>
          <a:p>
            <a:r>
              <a:rPr lang="en-US" dirty="0"/>
              <a:t>relation schema is used to describe</a:t>
            </a:r>
            <a:r>
              <a:rPr lang="en-US" i="1" dirty="0"/>
              <a:t> </a:t>
            </a:r>
            <a:r>
              <a:rPr lang="en-US" dirty="0"/>
              <a:t>a relation</a:t>
            </a:r>
          </a:p>
          <a:p>
            <a:r>
              <a:rPr lang="en-US" b="1" dirty="0"/>
              <a:t>degree </a:t>
            </a:r>
            <a:r>
              <a:rPr lang="en-US" dirty="0"/>
              <a:t>(or </a:t>
            </a:r>
            <a:r>
              <a:rPr lang="en-US" b="1" dirty="0"/>
              <a:t>arity</a:t>
            </a:r>
            <a:r>
              <a:rPr lang="en-US" dirty="0"/>
              <a:t>) of relation is the number of attributes </a:t>
            </a:r>
            <a:r>
              <a:rPr lang="en-US" i="1" dirty="0"/>
              <a:t>n</a:t>
            </a:r>
            <a:r>
              <a:rPr lang="en-US" dirty="0"/>
              <a:t> (domains) of its relation schema</a:t>
            </a:r>
          </a:p>
        </p:txBody>
      </p:sp>
      <p:sp>
        <p:nvSpPr>
          <p:cNvPr id="4" name="Slide Number Placeholder 3">
            <a:extLst>
              <a:ext uri="{FF2B5EF4-FFF2-40B4-BE49-F238E27FC236}">
                <a16:creationId xmlns:a16="http://schemas.microsoft.com/office/drawing/2014/main" id="{7DD376AF-1511-D7CE-F8E7-53C8BFABFAE9}"/>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1765233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F7C5B-D35F-97DB-5BE5-D745FD88EDFC}"/>
              </a:ext>
            </a:extLst>
          </p:cNvPr>
          <p:cNvSpPr>
            <a:spLocks noGrp="1"/>
          </p:cNvSpPr>
          <p:nvPr>
            <p:ph type="title"/>
          </p:nvPr>
        </p:nvSpPr>
        <p:spPr/>
        <p:txBody>
          <a:bodyPr/>
          <a:lstStyle/>
          <a:p>
            <a:r>
              <a:rPr lang="en-US" dirty="0"/>
              <a:t>Relation Schema STUDENT</a:t>
            </a:r>
          </a:p>
        </p:txBody>
      </p:sp>
      <p:sp>
        <p:nvSpPr>
          <p:cNvPr id="3" name="Content Placeholder 2">
            <a:extLst>
              <a:ext uri="{FF2B5EF4-FFF2-40B4-BE49-F238E27FC236}">
                <a16:creationId xmlns:a16="http://schemas.microsoft.com/office/drawing/2014/main" id="{17FBEDA2-4AF5-6635-37F0-2F63930AECF4}"/>
              </a:ext>
            </a:extLst>
          </p:cNvPr>
          <p:cNvSpPr>
            <a:spLocks noGrp="1"/>
          </p:cNvSpPr>
          <p:nvPr>
            <p:ph idx="1"/>
          </p:nvPr>
        </p:nvSpPr>
        <p:spPr/>
        <p:txBody>
          <a:bodyPr>
            <a:normAutofit lnSpcReduction="10000"/>
          </a:bodyPr>
          <a:lstStyle/>
          <a:p>
            <a:r>
              <a:rPr lang="en-US" dirty="0"/>
              <a:t>relation of degree seven, which stores information about university students, would contain seven attributes / domains describing each student as follows:</a:t>
            </a:r>
          </a:p>
          <a:p>
            <a:r>
              <a:rPr lang="en-US" sz="2700" dirty="0"/>
              <a:t>STUDENT(Name, </a:t>
            </a:r>
            <a:r>
              <a:rPr lang="en-US" sz="2700" dirty="0" err="1"/>
              <a:t>Ssn</a:t>
            </a:r>
            <a:r>
              <a:rPr lang="en-US" sz="2700" dirty="0"/>
              <a:t>, </a:t>
            </a:r>
            <a:r>
              <a:rPr lang="en-US" sz="2700" dirty="0" err="1"/>
              <a:t>Home_phone</a:t>
            </a:r>
            <a:r>
              <a:rPr lang="en-US" sz="2700" dirty="0"/>
              <a:t>, Address, </a:t>
            </a:r>
            <a:r>
              <a:rPr lang="en-US" sz="2700" dirty="0" err="1"/>
              <a:t>Office_phone</a:t>
            </a:r>
            <a:r>
              <a:rPr lang="en-US" sz="2700" dirty="0"/>
              <a:t>, Age, </a:t>
            </a:r>
            <a:r>
              <a:rPr lang="en-US" sz="2700" dirty="0" err="1"/>
              <a:t>Gpa</a:t>
            </a:r>
            <a:r>
              <a:rPr lang="en-US" sz="2700" dirty="0"/>
              <a:t>)</a:t>
            </a:r>
          </a:p>
          <a:p>
            <a:r>
              <a:rPr lang="en-US" dirty="0"/>
              <a:t>sometimes written as:</a:t>
            </a:r>
          </a:p>
          <a:p>
            <a:r>
              <a:rPr lang="en-US" sz="2700" dirty="0"/>
              <a:t>STUDENT(Name: string, </a:t>
            </a:r>
            <a:r>
              <a:rPr lang="en-US" sz="2700" dirty="0" err="1"/>
              <a:t>Ssn</a:t>
            </a:r>
            <a:r>
              <a:rPr lang="en-US" sz="2700" dirty="0"/>
              <a:t>: string, </a:t>
            </a:r>
            <a:r>
              <a:rPr lang="en-US" sz="2700" dirty="0" err="1"/>
              <a:t>Home_phone</a:t>
            </a:r>
            <a:r>
              <a:rPr lang="en-US" sz="2700" dirty="0"/>
              <a:t>: string, Address: string, </a:t>
            </a:r>
            <a:r>
              <a:rPr lang="en-US" sz="2700" dirty="0" err="1"/>
              <a:t>Office_phone</a:t>
            </a:r>
            <a:r>
              <a:rPr lang="en-US" sz="2700" dirty="0"/>
              <a:t>: string, Age: integer, </a:t>
            </a:r>
            <a:r>
              <a:rPr lang="en-US" sz="2700" dirty="0" err="1"/>
              <a:t>Gpa</a:t>
            </a:r>
            <a:r>
              <a:rPr lang="en-US" sz="2700" dirty="0"/>
              <a:t>: real)</a:t>
            </a:r>
          </a:p>
          <a:p>
            <a:r>
              <a:rPr lang="en-US" sz="2700" dirty="0" err="1"/>
              <a:t>dom</a:t>
            </a:r>
            <a:r>
              <a:rPr lang="en-US" sz="2700" dirty="0"/>
              <a:t>(Name) = Names; </a:t>
            </a:r>
            <a:r>
              <a:rPr lang="en-US" sz="2700" dirty="0" err="1"/>
              <a:t>dom</a:t>
            </a:r>
            <a:r>
              <a:rPr lang="en-US" sz="2700" dirty="0"/>
              <a:t>(</a:t>
            </a:r>
            <a:r>
              <a:rPr lang="en-US" sz="2700" dirty="0" err="1"/>
              <a:t>Ssn</a:t>
            </a:r>
            <a:r>
              <a:rPr lang="en-US" sz="2700" dirty="0"/>
              <a:t>) = </a:t>
            </a:r>
            <a:r>
              <a:rPr lang="en-US" sz="2700" dirty="0" err="1"/>
              <a:t>Social_security_numbers</a:t>
            </a:r>
            <a:r>
              <a:rPr lang="en-US" sz="2700" dirty="0"/>
              <a:t>; </a:t>
            </a:r>
            <a:r>
              <a:rPr lang="en-US" sz="2700" dirty="0" err="1"/>
              <a:t>dom</a:t>
            </a:r>
            <a:r>
              <a:rPr lang="en-US" sz="2700" dirty="0"/>
              <a:t>(</a:t>
            </a:r>
            <a:r>
              <a:rPr lang="en-US" sz="2700" dirty="0" err="1"/>
              <a:t>HomePhone</a:t>
            </a:r>
            <a:r>
              <a:rPr lang="en-US" sz="2700" dirty="0"/>
              <a:t>) = </a:t>
            </a:r>
            <a:r>
              <a:rPr lang="en-US" sz="2700" dirty="0" err="1"/>
              <a:t>USA_phone_numbers</a:t>
            </a:r>
            <a:r>
              <a:rPr lang="en-US" sz="2700" dirty="0"/>
              <a:t>, </a:t>
            </a:r>
            <a:r>
              <a:rPr lang="en-US" sz="2700" dirty="0" err="1"/>
              <a:t>dom</a:t>
            </a:r>
            <a:r>
              <a:rPr lang="en-US" sz="2700" dirty="0"/>
              <a:t>(</a:t>
            </a:r>
            <a:r>
              <a:rPr lang="en-US" sz="2700" dirty="0" err="1"/>
              <a:t>Office_phone</a:t>
            </a:r>
            <a:r>
              <a:rPr lang="en-US" sz="2700" dirty="0"/>
              <a:t>) = </a:t>
            </a:r>
            <a:r>
              <a:rPr lang="en-US" sz="2700" dirty="0" err="1"/>
              <a:t>USA_phone_numbers</a:t>
            </a:r>
            <a:r>
              <a:rPr lang="en-US" sz="2700" dirty="0"/>
              <a:t>, </a:t>
            </a:r>
            <a:r>
              <a:rPr lang="en-US" sz="2700" dirty="0" err="1"/>
              <a:t>dom</a:t>
            </a:r>
            <a:r>
              <a:rPr lang="en-US" sz="2700" dirty="0"/>
              <a:t>(Age) = Age and </a:t>
            </a:r>
            <a:r>
              <a:rPr lang="en-US" sz="2700" dirty="0" err="1"/>
              <a:t>dom</a:t>
            </a:r>
            <a:r>
              <a:rPr lang="en-US" sz="2700" dirty="0"/>
              <a:t>(</a:t>
            </a:r>
            <a:r>
              <a:rPr lang="en-US" sz="2700" dirty="0" err="1"/>
              <a:t>Gpa</a:t>
            </a:r>
            <a:r>
              <a:rPr lang="en-US" sz="2700" dirty="0"/>
              <a:t>) = </a:t>
            </a:r>
            <a:r>
              <a:rPr lang="en-US" sz="2700" dirty="0" err="1"/>
              <a:t>Grade_point_averages</a:t>
            </a:r>
            <a:endParaRPr lang="en-US" sz="2700" dirty="0"/>
          </a:p>
          <a:p>
            <a:endParaRPr lang="en-US" sz="2700" dirty="0"/>
          </a:p>
        </p:txBody>
      </p:sp>
      <p:sp>
        <p:nvSpPr>
          <p:cNvPr id="4" name="Slide Number Placeholder 3">
            <a:extLst>
              <a:ext uri="{FF2B5EF4-FFF2-40B4-BE49-F238E27FC236}">
                <a16:creationId xmlns:a16="http://schemas.microsoft.com/office/drawing/2014/main" id="{8AAF460F-E058-19E4-66A6-19CDE5071DBD}"/>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2069512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E87D-A5C0-3E44-2A5C-3DDC5EBB0AA8}"/>
              </a:ext>
            </a:extLst>
          </p:cNvPr>
          <p:cNvSpPr>
            <a:spLocks noGrp="1"/>
          </p:cNvSpPr>
          <p:nvPr>
            <p:ph type="title"/>
          </p:nvPr>
        </p:nvSpPr>
        <p:spPr/>
        <p:txBody>
          <a:bodyPr/>
          <a:lstStyle/>
          <a:p>
            <a:r>
              <a:rPr lang="en-US" dirty="0"/>
              <a:t>Relation State</a:t>
            </a:r>
          </a:p>
        </p:txBody>
      </p:sp>
      <p:sp>
        <p:nvSpPr>
          <p:cNvPr id="3" name="Content Placeholder 2">
            <a:extLst>
              <a:ext uri="{FF2B5EF4-FFF2-40B4-BE49-F238E27FC236}">
                <a16:creationId xmlns:a16="http://schemas.microsoft.com/office/drawing/2014/main" id="{A635A196-CDC8-4B35-0E3F-E0C62D603462}"/>
              </a:ext>
            </a:extLst>
          </p:cNvPr>
          <p:cNvSpPr>
            <a:spLocks noGrp="1"/>
          </p:cNvSpPr>
          <p:nvPr>
            <p:ph idx="1"/>
          </p:nvPr>
        </p:nvSpPr>
        <p:spPr/>
        <p:txBody>
          <a:bodyPr>
            <a:normAutofit/>
          </a:bodyPr>
          <a:lstStyle/>
          <a:p>
            <a:r>
              <a:rPr lang="en-US" dirty="0"/>
              <a:t>a relation state of the relation schema </a:t>
            </a:r>
            <a:r>
              <a:rPr lang="en-US" i="1" dirty="0"/>
              <a:t>R</a:t>
            </a:r>
            <a:r>
              <a:rPr lang="en-US" dirty="0"/>
              <a:t>(</a:t>
            </a:r>
            <a:r>
              <a:rPr lang="en-US" i="1" dirty="0"/>
              <a:t>A</a:t>
            </a:r>
            <a:r>
              <a:rPr lang="en-US" baseline="-25000" dirty="0"/>
              <a:t>1</a:t>
            </a:r>
            <a:r>
              <a:rPr lang="en-US" dirty="0"/>
              <a:t>, </a:t>
            </a:r>
            <a:r>
              <a:rPr lang="en-US" i="1" dirty="0"/>
              <a:t>A</a:t>
            </a:r>
            <a:r>
              <a:rPr lang="en-US" baseline="-25000" dirty="0"/>
              <a:t>2</a:t>
            </a:r>
            <a:r>
              <a:rPr lang="en-US" dirty="0"/>
              <a:t>, … , </a:t>
            </a:r>
            <a:r>
              <a:rPr lang="en-US" i="1" dirty="0"/>
              <a:t>A</a:t>
            </a:r>
            <a:r>
              <a:rPr lang="en-US" i="1" baseline="-25000" dirty="0"/>
              <a:t>n</a:t>
            </a:r>
            <a:r>
              <a:rPr lang="en-US" dirty="0"/>
              <a:t>), also denoted by r(R), is a set of n-tuples r = {t</a:t>
            </a:r>
            <a:r>
              <a:rPr lang="en-US" baseline="-25000" dirty="0"/>
              <a:t>1</a:t>
            </a:r>
            <a:r>
              <a:rPr lang="en-US" dirty="0"/>
              <a:t>, t</a:t>
            </a:r>
            <a:r>
              <a:rPr lang="en-US" baseline="-25000" dirty="0"/>
              <a:t>2</a:t>
            </a:r>
            <a:r>
              <a:rPr lang="en-US" dirty="0"/>
              <a:t>, … , t</a:t>
            </a:r>
            <a:r>
              <a:rPr lang="en-US" baseline="-25000" dirty="0"/>
              <a:t>m</a:t>
            </a:r>
            <a:r>
              <a:rPr lang="en-US" dirty="0"/>
              <a:t>}; each n-tuple </a:t>
            </a:r>
            <a:r>
              <a:rPr lang="en-US" i="1" dirty="0"/>
              <a:t>t</a:t>
            </a:r>
            <a:r>
              <a:rPr lang="en-US" dirty="0"/>
              <a:t> is an ordered list of n values </a:t>
            </a:r>
            <a:r>
              <a:rPr lang="en-US" i="1" dirty="0"/>
              <a:t>t</a:t>
            </a:r>
            <a:r>
              <a:rPr lang="en-US" dirty="0"/>
              <a:t> = &lt;v</a:t>
            </a:r>
            <a:r>
              <a:rPr lang="en-US" baseline="-25000" dirty="0"/>
              <a:t>1</a:t>
            </a:r>
            <a:r>
              <a:rPr lang="en-US" dirty="0"/>
              <a:t>, v</a:t>
            </a:r>
            <a:r>
              <a:rPr lang="en-US" baseline="-25000" dirty="0"/>
              <a:t>2</a:t>
            </a:r>
            <a:r>
              <a:rPr lang="en-US" dirty="0"/>
              <a:t>, … , </a:t>
            </a:r>
            <a:r>
              <a:rPr lang="en-US" dirty="0" err="1"/>
              <a:t>v</a:t>
            </a:r>
            <a:r>
              <a:rPr lang="en-US" baseline="-25000" dirty="0" err="1"/>
              <a:t>n</a:t>
            </a:r>
            <a:r>
              <a:rPr lang="en-US" dirty="0"/>
              <a:t>&gt;, where each value v</a:t>
            </a:r>
            <a:r>
              <a:rPr lang="en-US" baseline="-25000" dirty="0"/>
              <a:t>i</a:t>
            </a:r>
            <a:r>
              <a:rPr lang="en-US" dirty="0"/>
              <a:t>, 1 ≤ </a:t>
            </a:r>
            <a:r>
              <a:rPr lang="en-US" dirty="0" err="1"/>
              <a:t>i</a:t>
            </a:r>
            <a:r>
              <a:rPr lang="en-US" dirty="0"/>
              <a:t> ≤ n, is an element of </a:t>
            </a:r>
            <a:r>
              <a:rPr lang="en-US" dirty="0" err="1"/>
              <a:t>dom</a:t>
            </a:r>
            <a:r>
              <a:rPr lang="en-US" dirty="0"/>
              <a:t> (A</a:t>
            </a:r>
            <a:r>
              <a:rPr lang="en-US" baseline="-25000" dirty="0"/>
              <a:t>i</a:t>
            </a:r>
            <a:r>
              <a:rPr lang="en-US" dirty="0"/>
              <a:t>) or is special NULL value</a:t>
            </a:r>
          </a:p>
          <a:p>
            <a:r>
              <a:rPr lang="en-US" dirty="0" err="1"/>
              <a:t>i</a:t>
            </a:r>
            <a:r>
              <a:rPr lang="en-US" baseline="30000" dirty="0" err="1"/>
              <a:t>th</a:t>
            </a:r>
            <a:r>
              <a:rPr lang="en-US" baseline="30000" dirty="0"/>
              <a:t> </a:t>
            </a:r>
            <a:r>
              <a:rPr lang="en-US" dirty="0"/>
              <a:t>value in tuple t, which corresponds to attribute A</a:t>
            </a:r>
            <a:r>
              <a:rPr lang="en-US" baseline="-25000" dirty="0"/>
              <a:t>i</a:t>
            </a:r>
            <a:r>
              <a:rPr lang="en-US" dirty="0"/>
              <a:t>, is referred to as t[A</a:t>
            </a:r>
            <a:r>
              <a:rPr lang="en-US" baseline="-25000" dirty="0"/>
              <a:t>i</a:t>
            </a:r>
            <a:r>
              <a:rPr lang="en-US" dirty="0"/>
              <a:t>] or </a:t>
            </a:r>
            <a:r>
              <a:rPr lang="en-US" dirty="0" err="1"/>
              <a:t>t.A</a:t>
            </a:r>
            <a:r>
              <a:rPr lang="en-US" baseline="-25000" dirty="0" err="1"/>
              <a:t>i</a:t>
            </a:r>
            <a:r>
              <a:rPr lang="en-US" dirty="0"/>
              <a:t> </a:t>
            </a:r>
          </a:p>
          <a:p>
            <a:endParaRPr lang="en-US" dirty="0"/>
          </a:p>
          <a:p>
            <a:r>
              <a:rPr lang="en-US" dirty="0"/>
              <a:t>terms relation intension for the schema R and relation extension for relation state r(R) are also commonly used</a:t>
            </a:r>
          </a:p>
        </p:txBody>
      </p:sp>
      <p:sp>
        <p:nvSpPr>
          <p:cNvPr id="4" name="Slide Number Placeholder 3">
            <a:extLst>
              <a:ext uri="{FF2B5EF4-FFF2-40B4-BE49-F238E27FC236}">
                <a16:creationId xmlns:a16="http://schemas.microsoft.com/office/drawing/2014/main" id="{00BC14FF-05FE-785E-80F3-0C1C0ECC630D}"/>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1424839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D27DC-16EC-E2A3-821C-F8603D50A9EA}"/>
              </a:ext>
            </a:extLst>
          </p:cNvPr>
          <p:cNvSpPr>
            <a:spLocks noGrp="1"/>
          </p:cNvSpPr>
          <p:nvPr>
            <p:ph type="title"/>
          </p:nvPr>
        </p:nvSpPr>
        <p:spPr/>
        <p:txBody>
          <a:bodyPr/>
          <a:lstStyle/>
          <a:p>
            <a:r>
              <a:rPr lang="en-US" dirty="0"/>
              <a:t>Attributes and tuples of a Relation STUDENT</a:t>
            </a:r>
          </a:p>
        </p:txBody>
      </p:sp>
      <p:pic>
        <p:nvPicPr>
          <p:cNvPr id="6" name="Content Placeholder 5">
            <a:extLst>
              <a:ext uri="{FF2B5EF4-FFF2-40B4-BE49-F238E27FC236}">
                <a16:creationId xmlns:a16="http://schemas.microsoft.com/office/drawing/2014/main" id="{29005A75-A89C-EB89-ACE6-9EBDF6B6F717}"/>
              </a:ext>
            </a:extLst>
          </p:cNvPr>
          <p:cNvPicPr>
            <a:picLocks noGrp="1" noChangeAspect="1"/>
          </p:cNvPicPr>
          <p:nvPr>
            <p:ph idx="1"/>
          </p:nvPr>
        </p:nvPicPr>
        <p:blipFill>
          <a:blip r:embed="rId2"/>
          <a:stretch>
            <a:fillRect/>
          </a:stretch>
        </p:blipFill>
        <p:spPr>
          <a:xfrm>
            <a:off x="182880" y="2011680"/>
            <a:ext cx="11911092" cy="3349280"/>
          </a:xfrm>
          <a:prstGeom prst="rect">
            <a:avLst/>
          </a:prstGeom>
        </p:spPr>
      </p:pic>
      <p:sp>
        <p:nvSpPr>
          <p:cNvPr id="4" name="Slide Number Placeholder 3">
            <a:extLst>
              <a:ext uri="{FF2B5EF4-FFF2-40B4-BE49-F238E27FC236}">
                <a16:creationId xmlns:a16="http://schemas.microsoft.com/office/drawing/2014/main" id="{963277F3-BD00-7BA4-C1AE-CF7A7562DBAA}"/>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3972979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44C76-0811-AD7E-0E83-C47FAA00DBF9}"/>
              </a:ext>
            </a:extLst>
          </p:cNvPr>
          <p:cNvSpPr>
            <a:spLocks noGrp="1"/>
          </p:cNvSpPr>
          <p:nvPr>
            <p:ph type="title"/>
          </p:nvPr>
        </p:nvSpPr>
        <p:spPr/>
        <p:txBody>
          <a:bodyPr/>
          <a:lstStyle/>
          <a:p>
            <a:r>
              <a:rPr lang="en-US" dirty="0"/>
              <a:t>Relational Formalism</a:t>
            </a:r>
            <a:br>
              <a:rPr lang="en-US" dirty="0"/>
            </a:br>
            <a:r>
              <a:rPr lang="en-US" dirty="0"/>
              <a:t>Relation = subset of Cartesian product</a:t>
            </a:r>
          </a:p>
        </p:txBody>
      </p:sp>
      <p:sp>
        <p:nvSpPr>
          <p:cNvPr id="3" name="Content Placeholder 2">
            <a:extLst>
              <a:ext uri="{FF2B5EF4-FFF2-40B4-BE49-F238E27FC236}">
                <a16:creationId xmlns:a16="http://schemas.microsoft.com/office/drawing/2014/main" id="{FB03F470-6502-8913-E70C-ABEDD91880AF}"/>
              </a:ext>
            </a:extLst>
          </p:cNvPr>
          <p:cNvSpPr>
            <a:spLocks noGrp="1"/>
          </p:cNvSpPr>
          <p:nvPr>
            <p:ph idx="1"/>
          </p:nvPr>
        </p:nvSpPr>
        <p:spPr/>
        <p:txBody>
          <a:bodyPr>
            <a:normAutofit fontScale="92500" lnSpcReduction="10000"/>
          </a:bodyPr>
          <a:lstStyle/>
          <a:p>
            <a:r>
              <a:rPr lang="en-US" dirty="0"/>
              <a:t>using mathematics set theory concepts </a:t>
            </a:r>
          </a:p>
          <a:p>
            <a:r>
              <a:rPr lang="en-US" dirty="0"/>
              <a:t>a relation (or relation state) </a:t>
            </a:r>
            <a:r>
              <a:rPr lang="en-US" i="1" dirty="0"/>
              <a:t>r</a:t>
            </a:r>
            <a:r>
              <a:rPr lang="en-US" dirty="0"/>
              <a:t>(</a:t>
            </a:r>
            <a:r>
              <a:rPr lang="en-US" i="1" dirty="0"/>
              <a:t>R</a:t>
            </a:r>
            <a:r>
              <a:rPr lang="en-US" dirty="0"/>
              <a:t>) is a mathematical relation</a:t>
            </a:r>
            <a:r>
              <a:rPr lang="en-US" b="1" dirty="0"/>
              <a:t> </a:t>
            </a:r>
            <a:r>
              <a:rPr lang="en-US" dirty="0"/>
              <a:t>of degree </a:t>
            </a:r>
            <a:r>
              <a:rPr lang="en-US" i="1" dirty="0"/>
              <a:t>n </a:t>
            </a:r>
            <a:r>
              <a:rPr lang="en-US" dirty="0"/>
              <a:t>on the domains </a:t>
            </a:r>
            <a:r>
              <a:rPr lang="en-US" dirty="0" err="1"/>
              <a:t>dom</a:t>
            </a:r>
            <a:r>
              <a:rPr lang="en-US" dirty="0"/>
              <a:t>(</a:t>
            </a:r>
            <a:r>
              <a:rPr lang="en-US" i="1" dirty="0"/>
              <a:t>A</a:t>
            </a:r>
            <a:r>
              <a:rPr lang="en-US" baseline="-25000" dirty="0"/>
              <a:t>1</a:t>
            </a:r>
            <a:r>
              <a:rPr lang="en-US" dirty="0"/>
              <a:t>), </a:t>
            </a:r>
            <a:r>
              <a:rPr lang="en-US" dirty="0" err="1"/>
              <a:t>dom</a:t>
            </a:r>
            <a:r>
              <a:rPr lang="en-US" dirty="0"/>
              <a:t>(</a:t>
            </a:r>
            <a:r>
              <a:rPr lang="en-US" i="1" dirty="0"/>
              <a:t>A</a:t>
            </a:r>
            <a:r>
              <a:rPr lang="en-US" baseline="-25000" dirty="0"/>
              <a:t>2</a:t>
            </a:r>
            <a:r>
              <a:rPr lang="en-US" dirty="0"/>
              <a:t>), … , </a:t>
            </a:r>
            <a:r>
              <a:rPr lang="en-US" dirty="0" err="1"/>
              <a:t>dom</a:t>
            </a:r>
            <a:r>
              <a:rPr lang="en-US" dirty="0"/>
              <a:t>(</a:t>
            </a:r>
            <a:r>
              <a:rPr lang="en-US" i="1" dirty="0"/>
              <a:t>A</a:t>
            </a:r>
            <a:r>
              <a:rPr lang="en-US" baseline="-25000" dirty="0"/>
              <a:t>n</a:t>
            </a:r>
            <a:r>
              <a:rPr lang="en-US" dirty="0"/>
              <a:t>), which is a </a:t>
            </a:r>
            <a:r>
              <a:rPr lang="en-US" b="1" dirty="0"/>
              <a:t>subset </a:t>
            </a:r>
            <a:r>
              <a:rPr lang="en-US" dirty="0"/>
              <a:t>of </a:t>
            </a:r>
            <a:r>
              <a:rPr lang="en-US" b="1" dirty="0"/>
              <a:t>Cartesian product </a:t>
            </a:r>
            <a:r>
              <a:rPr lang="en-US" dirty="0"/>
              <a:t>(denoted by ×) of the domains that define </a:t>
            </a:r>
            <a:r>
              <a:rPr lang="en-US" i="1" dirty="0"/>
              <a:t>R</a:t>
            </a:r>
            <a:r>
              <a:rPr lang="en-US" dirty="0"/>
              <a:t>:</a:t>
            </a:r>
          </a:p>
          <a:p>
            <a:r>
              <a:rPr lang="pt-BR" i="1" dirty="0"/>
              <a:t>r</a:t>
            </a:r>
            <a:r>
              <a:rPr lang="pt-BR" dirty="0"/>
              <a:t>(</a:t>
            </a:r>
            <a:r>
              <a:rPr lang="pt-BR" i="1" dirty="0"/>
              <a:t>R</a:t>
            </a:r>
            <a:r>
              <a:rPr lang="pt-BR" dirty="0"/>
              <a:t>) ⊆ (dom(</a:t>
            </a:r>
            <a:r>
              <a:rPr lang="pt-BR" i="1" dirty="0"/>
              <a:t>A</a:t>
            </a:r>
            <a:r>
              <a:rPr lang="pt-BR" baseline="-25000" dirty="0"/>
              <a:t>1</a:t>
            </a:r>
            <a:r>
              <a:rPr lang="pt-BR" dirty="0"/>
              <a:t>) × dom(</a:t>
            </a:r>
            <a:r>
              <a:rPr lang="pt-BR" i="1" dirty="0"/>
              <a:t>A</a:t>
            </a:r>
            <a:r>
              <a:rPr lang="pt-BR" baseline="-25000" dirty="0"/>
              <a:t>2</a:t>
            </a:r>
            <a:r>
              <a:rPr lang="pt-BR" dirty="0"/>
              <a:t>) × . . . × (dom(</a:t>
            </a:r>
            <a:r>
              <a:rPr lang="pt-BR" i="1" dirty="0"/>
              <a:t>A</a:t>
            </a:r>
            <a:r>
              <a:rPr lang="pt-BR" i="1" baseline="-25000" dirty="0"/>
              <a:t>n</a:t>
            </a:r>
            <a:r>
              <a:rPr lang="pt-BR" dirty="0"/>
              <a:t>))</a:t>
            </a:r>
          </a:p>
          <a:p>
            <a:r>
              <a:rPr lang="en-US" dirty="0"/>
              <a:t>Cartesian product specifies all possible combinations of values from domains</a:t>
            </a:r>
          </a:p>
          <a:p>
            <a:r>
              <a:rPr lang="en-US" dirty="0"/>
              <a:t>if we denote total number of values, or cardinality</a:t>
            </a:r>
            <a:r>
              <a:rPr lang="en-US" b="1" dirty="0"/>
              <a:t>, </a:t>
            </a:r>
            <a:r>
              <a:rPr lang="en-US" dirty="0"/>
              <a:t>in a domain </a:t>
            </a:r>
            <a:r>
              <a:rPr lang="en-US" i="1" dirty="0"/>
              <a:t>D </a:t>
            </a:r>
            <a:r>
              <a:rPr lang="en-US" dirty="0"/>
              <a:t>by |</a:t>
            </a:r>
            <a:r>
              <a:rPr lang="en-US" i="1" dirty="0"/>
              <a:t>D</a:t>
            </a:r>
            <a:r>
              <a:rPr lang="en-US" dirty="0"/>
              <a:t>| (assuming that all domains are finite), total number of tuples in Cartesian product is</a:t>
            </a:r>
          </a:p>
          <a:p>
            <a:r>
              <a:rPr lang="en-US" dirty="0"/>
              <a:t>|</a:t>
            </a:r>
            <a:r>
              <a:rPr lang="en-US" dirty="0" err="1"/>
              <a:t>dom</a:t>
            </a:r>
            <a:r>
              <a:rPr lang="en-US" dirty="0"/>
              <a:t>(</a:t>
            </a:r>
            <a:r>
              <a:rPr lang="en-US" i="1" dirty="0"/>
              <a:t>A</a:t>
            </a:r>
            <a:r>
              <a:rPr lang="en-US" baseline="-25000" dirty="0"/>
              <a:t>1</a:t>
            </a:r>
            <a:r>
              <a:rPr lang="en-US" dirty="0"/>
              <a:t>)| × |</a:t>
            </a:r>
            <a:r>
              <a:rPr lang="en-US" dirty="0" err="1"/>
              <a:t>dom</a:t>
            </a:r>
            <a:r>
              <a:rPr lang="en-US" dirty="0"/>
              <a:t>(</a:t>
            </a:r>
            <a:r>
              <a:rPr lang="en-US" i="1" dirty="0"/>
              <a:t>A</a:t>
            </a:r>
            <a:r>
              <a:rPr lang="en-US" baseline="-25000" dirty="0"/>
              <a:t>2</a:t>
            </a:r>
            <a:r>
              <a:rPr lang="en-US" dirty="0"/>
              <a:t>)| × . . . × |</a:t>
            </a:r>
            <a:r>
              <a:rPr lang="en-US" dirty="0" err="1"/>
              <a:t>dom</a:t>
            </a:r>
            <a:r>
              <a:rPr lang="en-US" dirty="0"/>
              <a:t>(</a:t>
            </a:r>
            <a:r>
              <a:rPr lang="en-US" i="1" dirty="0"/>
              <a:t>A</a:t>
            </a:r>
            <a:r>
              <a:rPr lang="en-US" i="1" baseline="-25000" dirty="0"/>
              <a:t>n</a:t>
            </a:r>
            <a:r>
              <a:rPr lang="en-US" dirty="0"/>
              <a:t>)|</a:t>
            </a:r>
          </a:p>
        </p:txBody>
      </p:sp>
      <p:sp>
        <p:nvSpPr>
          <p:cNvPr id="4" name="Slide Number Placeholder 3">
            <a:extLst>
              <a:ext uri="{FF2B5EF4-FFF2-40B4-BE49-F238E27FC236}">
                <a16:creationId xmlns:a16="http://schemas.microsoft.com/office/drawing/2014/main" id="{28174505-1B06-A813-4AF2-4DF39C9F4FE6}"/>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1718316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C7A41-4967-11B9-E7FA-CC1A73FAA2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E53D4D-5990-E6D9-6745-19D7A8FA4F74}"/>
              </a:ext>
            </a:extLst>
          </p:cNvPr>
          <p:cNvSpPr>
            <a:spLocks noGrp="1"/>
          </p:cNvSpPr>
          <p:nvPr>
            <p:ph idx="1"/>
          </p:nvPr>
        </p:nvSpPr>
        <p:spPr/>
        <p:txBody>
          <a:bodyPr>
            <a:normAutofit/>
          </a:bodyPr>
          <a:lstStyle/>
          <a:p>
            <a:r>
              <a:rPr lang="en-US" sz="3200" dirty="0"/>
              <a:t>relation STUDENT</a:t>
            </a:r>
          </a:p>
          <a:p>
            <a:r>
              <a:rPr lang="pt-BR" sz="3600" dirty="0"/>
              <a:t>⊆</a:t>
            </a:r>
          </a:p>
          <a:p>
            <a:r>
              <a:rPr lang="en-US" sz="3200" dirty="0" err="1"/>
              <a:t>dom</a:t>
            </a:r>
            <a:r>
              <a:rPr lang="en-US" sz="3200" dirty="0"/>
              <a:t>(Name)</a:t>
            </a:r>
            <a:r>
              <a:rPr lang="en-US" sz="3600" dirty="0"/>
              <a:t> </a:t>
            </a:r>
            <a:r>
              <a:rPr lang="pt-BR" sz="3600" dirty="0"/>
              <a:t>× </a:t>
            </a:r>
            <a:r>
              <a:rPr lang="en-US" sz="3200" dirty="0" err="1"/>
              <a:t>dom</a:t>
            </a:r>
            <a:r>
              <a:rPr lang="en-US" sz="3200" dirty="0"/>
              <a:t>(</a:t>
            </a:r>
            <a:r>
              <a:rPr lang="en-US" sz="3200" dirty="0" err="1"/>
              <a:t>Ssn</a:t>
            </a:r>
            <a:r>
              <a:rPr lang="en-US" sz="3200" dirty="0"/>
              <a:t>)</a:t>
            </a:r>
            <a:r>
              <a:rPr lang="en-US" sz="3600" dirty="0"/>
              <a:t> </a:t>
            </a:r>
            <a:r>
              <a:rPr lang="pt-BR" sz="3600" dirty="0"/>
              <a:t>× </a:t>
            </a:r>
            <a:r>
              <a:rPr lang="en-US" sz="3200" dirty="0" err="1"/>
              <a:t>dom</a:t>
            </a:r>
            <a:r>
              <a:rPr lang="en-US" sz="3200" dirty="0"/>
              <a:t>(</a:t>
            </a:r>
            <a:r>
              <a:rPr lang="en-US" sz="3200" dirty="0" err="1"/>
              <a:t>HomePhone</a:t>
            </a:r>
            <a:r>
              <a:rPr lang="en-US" sz="3200" dirty="0"/>
              <a:t>)</a:t>
            </a:r>
            <a:r>
              <a:rPr lang="en-US" sz="3600" dirty="0"/>
              <a:t> </a:t>
            </a:r>
            <a:r>
              <a:rPr lang="pt-BR" sz="3600" dirty="0"/>
              <a:t>× </a:t>
            </a:r>
            <a:r>
              <a:rPr lang="en-US" sz="3200" dirty="0" err="1"/>
              <a:t>dom</a:t>
            </a:r>
            <a:r>
              <a:rPr lang="en-US" sz="3200" dirty="0"/>
              <a:t>(Address)</a:t>
            </a:r>
            <a:r>
              <a:rPr lang="en-US" sz="3600" dirty="0"/>
              <a:t> </a:t>
            </a:r>
            <a:r>
              <a:rPr lang="pt-BR" sz="3600" dirty="0"/>
              <a:t>× </a:t>
            </a:r>
            <a:r>
              <a:rPr lang="en-US" sz="3200" dirty="0" err="1"/>
              <a:t>dom</a:t>
            </a:r>
            <a:r>
              <a:rPr lang="en-US" sz="3200" dirty="0"/>
              <a:t>(</a:t>
            </a:r>
            <a:r>
              <a:rPr lang="en-US" sz="3200" dirty="0" err="1"/>
              <a:t>Office_phone</a:t>
            </a:r>
            <a:r>
              <a:rPr lang="en-US" sz="3200" dirty="0"/>
              <a:t>)</a:t>
            </a:r>
            <a:r>
              <a:rPr lang="en-US" sz="3600" dirty="0"/>
              <a:t> </a:t>
            </a:r>
            <a:r>
              <a:rPr lang="pt-BR" sz="3600" dirty="0"/>
              <a:t>× </a:t>
            </a:r>
            <a:r>
              <a:rPr lang="en-US" sz="3200" dirty="0" err="1"/>
              <a:t>dom</a:t>
            </a:r>
            <a:r>
              <a:rPr lang="en-US" sz="3200" dirty="0"/>
              <a:t>(Age)</a:t>
            </a:r>
            <a:r>
              <a:rPr lang="en-US" sz="3600" dirty="0"/>
              <a:t> </a:t>
            </a:r>
            <a:r>
              <a:rPr lang="pt-BR" sz="3600" dirty="0"/>
              <a:t>×</a:t>
            </a:r>
            <a:r>
              <a:rPr lang="en-US" sz="3600" dirty="0"/>
              <a:t> </a:t>
            </a:r>
            <a:r>
              <a:rPr lang="en-US" sz="3200" dirty="0" err="1"/>
              <a:t>dom</a:t>
            </a:r>
            <a:r>
              <a:rPr lang="en-US" sz="3200" dirty="0"/>
              <a:t>(</a:t>
            </a:r>
            <a:r>
              <a:rPr lang="en-US" sz="3200" dirty="0" err="1"/>
              <a:t>Gpa</a:t>
            </a:r>
            <a:r>
              <a:rPr lang="en-US" sz="3200" dirty="0"/>
              <a:t>)</a:t>
            </a:r>
          </a:p>
        </p:txBody>
      </p:sp>
      <p:sp>
        <p:nvSpPr>
          <p:cNvPr id="4" name="Slide Number Placeholder 3">
            <a:extLst>
              <a:ext uri="{FF2B5EF4-FFF2-40B4-BE49-F238E27FC236}">
                <a16:creationId xmlns:a16="http://schemas.microsoft.com/office/drawing/2014/main" id="{F7D01FDF-B167-7C71-B149-3A701C3FCF95}"/>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3119338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2724-43B6-EB50-D07D-401BB6B259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36BA92-928C-6CE0-8BF5-7E5E868D17CA}"/>
              </a:ext>
            </a:extLst>
          </p:cNvPr>
          <p:cNvSpPr>
            <a:spLocks noGrp="1"/>
          </p:cNvSpPr>
          <p:nvPr>
            <p:ph idx="1"/>
          </p:nvPr>
        </p:nvSpPr>
        <p:spPr/>
        <p:txBody>
          <a:bodyPr>
            <a:normAutofit/>
          </a:bodyPr>
          <a:lstStyle/>
          <a:p>
            <a:r>
              <a:rPr lang="en-US" dirty="0"/>
              <a:t>product of cardinalities of all domains represents total number of possible instances or tuples that can ever exist in any relation state </a:t>
            </a:r>
            <a:r>
              <a:rPr lang="en-US" i="1" dirty="0"/>
              <a:t>r</a:t>
            </a:r>
            <a:r>
              <a:rPr lang="en-US" dirty="0"/>
              <a:t>(</a:t>
            </a:r>
            <a:r>
              <a:rPr lang="en-US" i="1" dirty="0"/>
              <a:t>R</a:t>
            </a:r>
            <a:r>
              <a:rPr lang="en-US" dirty="0"/>
              <a:t>)</a:t>
            </a:r>
          </a:p>
          <a:p>
            <a:r>
              <a:rPr lang="en-US" dirty="0"/>
              <a:t>of all these possible combinations, a relation state at a given time reflects only </a:t>
            </a:r>
            <a:r>
              <a:rPr lang="en-US" i="1" dirty="0"/>
              <a:t>valid</a:t>
            </a:r>
            <a:r>
              <a:rPr lang="en-US" dirty="0"/>
              <a:t> tuples that represent a particular state of real world</a:t>
            </a:r>
          </a:p>
          <a:p>
            <a:r>
              <a:rPr lang="en-US" dirty="0"/>
              <a:t>state of real world changes, so does relation state</a:t>
            </a:r>
          </a:p>
          <a:p>
            <a:r>
              <a:rPr lang="en-US" dirty="0"/>
              <a:t>schema </a:t>
            </a:r>
            <a:r>
              <a:rPr lang="en-US" i="1" dirty="0"/>
              <a:t>R </a:t>
            </a:r>
            <a:r>
              <a:rPr lang="en-US" dirty="0"/>
              <a:t>is relatively static and changes very</a:t>
            </a:r>
            <a:r>
              <a:rPr lang="en-US" i="1" dirty="0"/>
              <a:t> </a:t>
            </a:r>
            <a:r>
              <a:rPr lang="en-US" dirty="0"/>
              <a:t>infrequently</a:t>
            </a:r>
          </a:p>
          <a:p>
            <a:pPr lvl="1"/>
            <a:r>
              <a:rPr lang="en-US" dirty="0"/>
              <a:t>for example, as a result of adding an attribute to represent new information that was not originally stored in relation</a:t>
            </a:r>
          </a:p>
        </p:txBody>
      </p:sp>
      <p:sp>
        <p:nvSpPr>
          <p:cNvPr id="4" name="Slide Number Placeholder 3">
            <a:extLst>
              <a:ext uri="{FF2B5EF4-FFF2-40B4-BE49-F238E27FC236}">
                <a16:creationId xmlns:a16="http://schemas.microsoft.com/office/drawing/2014/main" id="{9FA6390E-4BFD-0BEC-1404-B2B466FD2B9F}"/>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1641160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EF2C3-5A49-C499-6F16-0BCCB5AAB746}"/>
              </a:ext>
            </a:extLst>
          </p:cNvPr>
          <p:cNvSpPr>
            <a:spLocks noGrp="1"/>
          </p:cNvSpPr>
          <p:nvPr>
            <p:ph type="title"/>
          </p:nvPr>
        </p:nvSpPr>
        <p:spPr/>
        <p:txBody>
          <a:bodyPr/>
          <a:lstStyle/>
          <a:p>
            <a:r>
              <a:rPr lang="en-US" dirty="0"/>
              <a:t>Characteristics of Relations</a:t>
            </a:r>
          </a:p>
        </p:txBody>
      </p:sp>
      <p:sp>
        <p:nvSpPr>
          <p:cNvPr id="3" name="Content Placeholder 2">
            <a:extLst>
              <a:ext uri="{FF2B5EF4-FFF2-40B4-BE49-F238E27FC236}">
                <a16:creationId xmlns:a16="http://schemas.microsoft.com/office/drawing/2014/main" id="{47566789-06DE-7D3C-27C7-F1F255AAFF4F}"/>
              </a:ext>
            </a:extLst>
          </p:cNvPr>
          <p:cNvSpPr>
            <a:spLocks noGrp="1"/>
          </p:cNvSpPr>
          <p:nvPr>
            <p:ph idx="1"/>
          </p:nvPr>
        </p:nvSpPr>
        <p:spPr/>
        <p:txBody>
          <a:bodyPr>
            <a:normAutofit/>
          </a:bodyPr>
          <a:lstStyle/>
          <a:p>
            <a:r>
              <a:rPr lang="en-US" dirty="0"/>
              <a:t>definition of relations implies certain characteristics that make a  relation different from a file or a table</a:t>
            </a:r>
          </a:p>
        </p:txBody>
      </p:sp>
      <p:sp>
        <p:nvSpPr>
          <p:cNvPr id="4" name="Slide Number Placeholder 3">
            <a:extLst>
              <a:ext uri="{FF2B5EF4-FFF2-40B4-BE49-F238E27FC236}">
                <a16:creationId xmlns:a16="http://schemas.microsoft.com/office/drawing/2014/main" id="{BE269626-E662-5190-00C2-14C739951EB5}"/>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984514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74360-7461-065B-F50C-D625F707B453}"/>
              </a:ext>
            </a:extLst>
          </p:cNvPr>
          <p:cNvSpPr>
            <a:spLocks noGrp="1"/>
          </p:cNvSpPr>
          <p:nvPr>
            <p:ph type="title"/>
          </p:nvPr>
        </p:nvSpPr>
        <p:spPr/>
        <p:txBody>
          <a:bodyPr/>
          <a:lstStyle/>
          <a:p>
            <a:r>
              <a:rPr lang="en-US" dirty="0"/>
              <a:t>Order of Tuples in a Relation</a:t>
            </a:r>
          </a:p>
        </p:txBody>
      </p:sp>
      <p:sp>
        <p:nvSpPr>
          <p:cNvPr id="3" name="Content Placeholder 2">
            <a:extLst>
              <a:ext uri="{FF2B5EF4-FFF2-40B4-BE49-F238E27FC236}">
                <a16:creationId xmlns:a16="http://schemas.microsoft.com/office/drawing/2014/main" id="{BBFD3DC9-2A26-23F3-93BD-8EDFCDE5DAA7}"/>
              </a:ext>
            </a:extLst>
          </p:cNvPr>
          <p:cNvSpPr>
            <a:spLocks noGrp="1"/>
          </p:cNvSpPr>
          <p:nvPr>
            <p:ph idx="1"/>
          </p:nvPr>
        </p:nvSpPr>
        <p:spPr/>
        <p:txBody>
          <a:bodyPr>
            <a:noAutofit/>
          </a:bodyPr>
          <a:lstStyle/>
          <a:p>
            <a:r>
              <a:rPr lang="en-US" dirty="0"/>
              <a:t>relation is defined as a set of tuples; elements of a set have no order among them; hence, tuples in relation do not have any order</a:t>
            </a:r>
          </a:p>
          <a:p>
            <a:r>
              <a:rPr lang="en-US" dirty="0"/>
              <a:t>in a file, records are physically stored on disk so there always is an order among records</a:t>
            </a:r>
          </a:p>
          <a:p>
            <a:r>
              <a:rPr lang="en-US" dirty="0"/>
              <a:t>tuples in STUDENT relation could be ordered by values of Name, </a:t>
            </a:r>
            <a:r>
              <a:rPr lang="en-US" dirty="0" err="1"/>
              <a:t>Ssn</a:t>
            </a:r>
            <a:r>
              <a:rPr lang="en-US" dirty="0"/>
              <a:t>, Age, or some other attribute; definition of relation does not specify any order</a:t>
            </a:r>
          </a:p>
        </p:txBody>
      </p:sp>
      <p:sp>
        <p:nvSpPr>
          <p:cNvPr id="4" name="Slide Number Placeholder 3">
            <a:extLst>
              <a:ext uri="{FF2B5EF4-FFF2-40B4-BE49-F238E27FC236}">
                <a16:creationId xmlns:a16="http://schemas.microsoft.com/office/drawing/2014/main" id="{16AF6E64-FCE9-2633-1D60-E07F5A905CF0}"/>
              </a:ext>
            </a:extLst>
          </p:cNvPr>
          <p:cNvSpPr>
            <a:spLocks noGrp="1"/>
          </p:cNvSpPr>
          <p:nvPr>
            <p:ph type="sldNum" sz="quarter" idx="12"/>
          </p:nvPr>
        </p:nvSpPr>
        <p:spPr/>
        <p:txBody>
          <a:bodyPr/>
          <a:lstStyle/>
          <a:p>
            <a:fld id="{6264BDCF-5269-49AC-A246-ED26C2B980E3}" type="slidenum">
              <a:rPr lang="en-US" smtClean="0"/>
              <a:t>28</a:t>
            </a:fld>
            <a:endParaRPr lang="en-US"/>
          </a:p>
        </p:txBody>
      </p:sp>
    </p:spTree>
    <p:extLst>
      <p:ext uri="{BB962C8B-B14F-4D97-AF65-F5344CB8AC3E}">
        <p14:creationId xmlns:p14="http://schemas.microsoft.com/office/powerpoint/2010/main" val="1412577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C3CD6-97E1-63FB-A27C-A14DEAFEE94F}"/>
              </a:ext>
            </a:extLst>
          </p:cNvPr>
          <p:cNvSpPr>
            <a:spLocks noGrp="1"/>
          </p:cNvSpPr>
          <p:nvPr>
            <p:ph type="title"/>
          </p:nvPr>
        </p:nvSpPr>
        <p:spPr/>
        <p:txBody>
          <a:bodyPr/>
          <a:lstStyle/>
          <a:p>
            <a:r>
              <a:rPr lang="en-US" dirty="0"/>
              <a:t>Ordering of Values within a Tuple</a:t>
            </a:r>
          </a:p>
        </p:txBody>
      </p:sp>
      <p:sp>
        <p:nvSpPr>
          <p:cNvPr id="3" name="Content Placeholder 2">
            <a:extLst>
              <a:ext uri="{FF2B5EF4-FFF2-40B4-BE49-F238E27FC236}">
                <a16:creationId xmlns:a16="http://schemas.microsoft.com/office/drawing/2014/main" id="{8E7A6813-BF44-6FBC-6B0E-B501C98407D9}"/>
              </a:ext>
            </a:extLst>
          </p:cNvPr>
          <p:cNvSpPr>
            <a:spLocks noGrp="1"/>
          </p:cNvSpPr>
          <p:nvPr>
            <p:ph idx="1"/>
          </p:nvPr>
        </p:nvSpPr>
        <p:spPr/>
        <p:txBody>
          <a:bodyPr>
            <a:normAutofit/>
          </a:bodyPr>
          <a:lstStyle/>
          <a:p>
            <a:r>
              <a:rPr lang="en-US" dirty="0"/>
              <a:t>an n-tuple is an ordered list of n values, so ordering of values in a tuple, and hence of attributes in a relation schema, is important</a:t>
            </a:r>
          </a:p>
          <a:p>
            <a:r>
              <a:rPr lang="en-US" dirty="0"/>
              <a:t>however, at a more abstract level, order of attributes and their values is not that important as long as correspondence between attributes and values is maintained</a:t>
            </a:r>
          </a:p>
        </p:txBody>
      </p:sp>
      <p:sp>
        <p:nvSpPr>
          <p:cNvPr id="4" name="Slide Number Placeholder 3">
            <a:extLst>
              <a:ext uri="{FF2B5EF4-FFF2-40B4-BE49-F238E27FC236}">
                <a16:creationId xmlns:a16="http://schemas.microsoft.com/office/drawing/2014/main" id="{D3B50A0F-8A45-0FEB-6E0F-F69A1755C396}"/>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7049071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224E4-ECED-B5FA-5512-DBCA09C2412D}"/>
              </a:ext>
            </a:extLst>
          </p:cNvPr>
          <p:cNvSpPr>
            <a:spLocks noGrp="1"/>
          </p:cNvSpPr>
          <p:nvPr>
            <p:ph type="title"/>
          </p:nvPr>
        </p:nvSpPr>
        <p:spPr/>
        <p:txBody>
          <a:bodyPr/>
          <a:lstStyle/>
          <a:p>
            <a:r>
              <a:rPr lang="en-US" dirty="0"/>
              <a:t>Atomic Values in Tuples</a:t>
            </a:r>
          </a:p>
        </p:txBody>
      </p:sp>
      <p:sp>
        <p:nvSpPr>
          <p:cNvPr id="3" name="Content Placeholder 2">
            <a:extLst>
              <a:ext uri="{FF2B5EF4-FFF2-40B4-BE49-F238E27FC236}">
                <a16:creationId xmlns:a16="http://schemas.microsoft.com/office/drawing/2014/main" id="{BD638A23-6D58-E5FD-062F-CDE20F5C223C}"/>
              </a:ext>
            </a:extLst>
          </p:cNvPr>
          <p:cNvSpPr>
            <a:spLocks noGrp="1"/>
          </p:cNvSpPr>
          <p:nvPr>
            <p:ph idx="1"/>
          </p:nvPr>
        </p:nvSpPr>
        <p:spPr/>
        <p:txBody>
          <a:bodyPr>
            <a:normAutofit/>
          </a:bodyPr>
          <a:lstStyle/>
          <a:p>
            <a:r>
              <a:rPr lang="en-US" dirty="0"/>
              <a:t>each value in a tuple is an </a:t>
            </a:r>
            <a:r>
              <a:rPr lang="en-US" b="1" dirty="0"/>
              <a:t>atomic </a:t>
            </a:r>
            <a:r>
              <a:rPr lang="en-US" dirty="0"/>
              <a:t>value; that is, it is not divisible into components within the framework of the basic relational model</a:t>
            </a:r>
          </a:p>
          <a:p>
            <a:r>
              <a:rPr lang="en-US" dirty="0"/>
              <a:t>theory behind relational model was developed with this assumption in mind, which is called the </a:t>
            </a:r>
            <a:r>
              <a:rPr lang="en-US" b="1" dirty="0"/>
              <a:t>first normal form </a:t>
            </a:r>
            <a:r>
              <a:rPr lang="en-US" dirty="0"/>
              <a:t>assumption</a:t>
            </a:r>
          </a:p>
          <a:p>
            <a:endParaRPr lang="en-US" dirty="0"/>
          </a:p>
          <a:p>
            <a:r>
              <a:rPr lang="en-US" dirty="0"/>
              <a:t>composite and multivalued attributes are not allowed</a:t>
            </a:r>
          </a:p>
          <a:p>
            <a:r>
              <a:rPr lang="en-US" dirty="0"/>
              <a:t>multivalued attributes must be represented by separate relations, and composite attributes are represented only by their simple component attributes in relational model</a:t>
            </a:r>
          </a:p>
        </p:txBody>
      </p:sp>
      <p:sp>
        <p:nvSpPr>
          <p:cNvPr id="4" name="Slide Number Placeholder 3">
            <a:extLst>
              <a:ext uri="{FF2B5EF4-FFF2-40B4-BE49-F238E27FC236}">
                <a16:creationId xmlns:a16="http://schemas.microsoft.com/office/drawing/2014/main" id="{E37BB6CC-3DF6-24F3-12EC-FDC3992D69B1}"/>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1461361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5D2FE-634A-A6A9-6F71-FF972DC47F6F}"/>
              </a:ext>
            </a:extLst>
          </p:cNvPr>
          <p:cNvSpPr>
            <a:spLocks noGrp="1"/>
          </p:cNvSpPr>
          <p:nvPr>
            <p:ph type="title"/>
          </p:nvPr>
        </p:nvSpPr>
        <p:spPr/>
        <p:txBody>
          <a:bodyPr/>
          <a:lstStyle/>
          <a:p>
            <a:r>
              <a:rPr lang="en-US" dirty="0"/>
              <a:t>NULL Values in Tuples</a:t>
            </a:r>
          </a:p>
        </p:txBody>
      </p:sp>
      <p:sp>
        <p:nvSpPr>
          <p:cNvPr id="3" name="Content Placeholder 2">
            <a:extLst>
              <a:ext uri="{FF2B5EF4-FFF2-40B4-BE49-F238E27FC236}">
                <a16:creationId xmlns:a16="http://schemas.microsoft.com/office/drawing/2014/main" id="{48177A4E-07E6-514C-585D-AD34265507AC}"/>
              </a:ext>
            </a:extLst>
          </p:cNvPr>
          <p:cNvSpPr>
            <a:spLocks noGrp="1"/>
          </p:cNvSpPr>
          <p:nvPr>
            <p:ph idx="1"/>
          </p:nvPr>
        </p:nvSpPr>
        <p:spPr/>
        <p:txBody>
          <a:bodyPr>
            <a:normAutofit/>
          </a:bodyPr>
          <a:lstStyle/>
          <a:p>
            <a:r>
              <a:rPr lang="en-US" dirty="0"/>
              <a:t>NULL values used to represent values of attributes that may be unknown or may not apply to a tuple</a:t>
            </a:r>
          </a:p>
          <a:p>
            <a:r>
              <a:rPr lang="en-US" dirty="0"/>
              <a:t>can have several meanings for NULL values, such as</a:t>
            </a:r>
          </a:p>
          <a:p>
            <a:r>
              <a:rPr lang="en-US" b="1" i="1" dirty="0"/>
              <a:t>value unknown</a:t>
            </a:r>
          </a:p>
          <a:p>
            <a:r>
              <a:rPr lang="en-US" b="1" dirty="0"/>
              <a:t>value </a:t>
            </a:r>
            <a:r>
              <a:rPr lang="en-US" dirty="0"/>
              <a:t>exists but is </a:t>
            </a:r>
            <a:r>
              <a:rPr lang="en-US" b="1" i="1" dirty="0"/>
              <a:t>not available</a:t>
            </a:r>
          </a:p>
          <a:p>
            <a:r>
              <a:rPr lang="en-US" b="1" i="1" dirty="0"/>
              <a:t>attribute does not apply </a:t>
            </a:r>
            <a:r>
              <a:rPr lang="en-US" dirty="0"/>
              <a:t>to this tuple </a:t>
            </a:r>
            <a:r>
              <a:rPr lang="en-US" i="1" dirty="0"/>
              <a:t>(</a:t>
            </a:r>
            <a:r>
              <a:rPr lang="en-US" dirty="0"/>
              <a:t>also known as </a:t>
            </a:r>
            <a:r>
              <a:rPr lang="en-US" b="1" i="1" dirty="0"/>
              <a:t>value undefined</a:t>
            </a:r>
            <a:r>
              <a:rPr lang="en-US" i="1" dirty="0"/>
              <a:t>)</a:t>
            </a:r>
          </a:p>
          <a:p>
            <a:r>
              <a:rPr lang="en-US" dirty="0"/>
              <a:t>it is possible to devise different codes for different meanings of NULL values has proven difficult and is outside scope of presentation</a:t>
            </a:r>
          </a:p>
        </p:txBody>
      </p:sp>
      <p:sp>
        <p:nvSpPr>
          <p:cNvPr id="4" name="Slide Number Placeholder 3">
            <a:extLst>
              <a:ext uri="{FF2B5EF4-FFF2-40B4-BE49-F238E27FC236}">
                <a16:creationId xmlns:a16="http://schemas.microsoft.com/office/drawing/2014/main" id="{4DFE0EEC-02AF-8F3B-23A9-DF20DE18E007}"/>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2203953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39B4A-CB0E-56F0-C86B-E48B5599AE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A96223-E071-2213-3268-1635B0C940CE}"/>
              </a:ext>
            </a:extLst>
          </p:cNvPr>
          <p:cNvSpPr>
            <a:spLocks noGrp="1"/>
          </p:cNvSpPr>
          <p:nvPr>
            <p:ph idx="1"/>
          </p:nvPr>
        </p:nvSpPr>
        <p:spPr/>
        <p:txBody>
          <a:bodyPr>
            <a:normAutofit/>
          </a:bodyPr>
          <a:lstStyle/>
          <a:p>
            <a:r>
              <a:rPr lang="en-US" dirty="0"/>
              <a:t>a comparison of two NULL values leads to ambiguities</a:t>
            </a:r>
          </a:p>
          <a:p>
            <a:pPr lvl="1"/>
            <a:r>
              <a:rPr lang="en-US" sz="2800" dirty="0"/>
              <a:t>if both Customer A and B have NULL addresses, it does not mean they have same address</a:t>
            </a:r>
          </a:p>
          <a:p>
            <a:r>
              <a:rPr lang="en-US" dirty="0"/>
              <a:t>during database design, it is best to avoid NULL values as much as possible</a:t>
            </a:r>
          </a:p>
        </p:txBody>
      </p:sp>
      <p:sp>
        <p:nvSpPr>
          <p:cNvPr id="4" name="Slide Number Placeholder 3">
            <a:extLst>
              <a:ext uri="{FF2B5EF4-FFF2-40B4-BE49-F238E27FC236}">
                <a16:creationId xmlns:a16="http://schemas.microsoft.com/office/drawing/2014/main" id="{96461F90-2EB9-F1A3-909E-E39FBA973DA8}"/>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2463090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36B51-8222-F3E5-6D6A-ACF2FE014AD8}"/>
              </a:ext>
            </a:extLst>
          </p:cNvPr>
          <p:cNvSpPr>
            <a:spLocks noGrp="1"/>
          </p:cNvSpPr>
          <p:nvPr>
            <p:ph type="title"/>
          </p:nvPr>
        </p:nvSpPr>
        <p:spPr/>
        <p:txBody>
          <a:bodyPr/>
          <a:lstStyle/>
          <a:p>
            <a:r>
              <a:rPr lang="en-US" dirty="0"/>
              <a:t>Interpretation (Meaning) of a Relation</a:t>
            </a:r>
          </a:p>
        </p:txBody>
      </p:sp>
      <p:sp>
        <p:nvSpPr>
          <p:cNvPr id="3" name="Content Placeholder 2">
            <a:extLst>
              <a:ext uri="{FF2B5EF4-FFF2-40B4-BE49-F238E27FC236}">
                <a16:creationId xmlns:a16="http://schemas.microsoft.com/office/drawing/2014/main" id="{585DBC3E-9147-52EE-B4C7-FD389C6F1DDF}"/>
              </a:ext>
            </a:extLst>
          </p:cNvPr>
          <p:cNvSpPr>
            <a:spLocks noGrp="1"/>
          </p:cNvSpPr>
          <p:nvPr>
            <p:ph idx="1"/>
          </p:nvPr>
        </p:nvSpPr>
        <p:spPr/>
        <p:txBody>
          <a:bodyPr>
            <a:normAutofit/>
          </a:bodyPr>
          <a:lstStyle/>
          <a:p>
            <a:r>
              <a:rPr lang="en-US" sz="3200" dirty="0"/>
              <a:t>relation schema can be interpreted as declaration or type of </a:t>
            </a:r>
            <a:r>
              <a:rPr lang="en-US" sz="3200" b="1" dirty="0"/>
              <a:t>assertion</a:t>
            </a:r>
          </a:p>
          <a:p>
            <a:r>
              <a:rPr lang="en-US" dirty="0"/>
              <a:t>for example, schema of STUDENT relation asserts that student entity has  Name, </a:t>
            </a:r>
            <a:r>
              <a:rPr lang="en-US" dirty="0" err="1"/>
              <a:t>Ssn</a:t>
            </a:r>
            <a:r>
              <a:rPr lang="en-US" dirty="0"/>
              <a:t>, </a:t>
            </a:r>
            <a:r>
              <a:rPr lang="en-US" dirty="0" err="1"/>
              <a:t>Home_phone</a:t>
            </a:r>
            <a:r>
              <a:rPr lang="en-US" dirty="0"/>
              <a:t>, Address, </a:t>
            </a:r>
            <a:r>
              <a:rPr lang="en-US" dirty="0" err="1"/>
              <a:t>Office_phone</a:t>
            </a:r>
            <a:r>
              <a:rPr lang="en-US" dirty="0"/>
              <a:t>, Age, and </a:t>
            </a:r>
            <a:r>
              <a:rPr lang="en-US" dirty="0" err="1"/>
              <a:t>Gpa</a:t>
            </a:r>
            <a:endParaRPr lang="en-US" dirty="0"/>
          </a:p>
          <a:p>
            <a:r>
              <a:rPr lang="en-US" dirty="0"/>
              <a:t>each tuple in relation can then be interpreted as a </a:t>
            </a:r>
            <a:r>
              <a:rPr lang="en-US" b="1" dirty="0"/>
              <a:t>fact </a:t>
            </a:r>
            <a:r>
              <a:rPr lang="en-US" dirty="0"/>
              <a:t>or a particular instance of the assertion</a:t>
            </a:r>
          </a:p>
          <a:p>
            <a:r>
              <a:rPr lang="en-US" dirty="0"/>
              <a:t>for example, first tuple asserts the fact that there is a STUDENT whose Name is Benjamin Bayer, </a:t>
            </a:r>
            <a:r>
              <a:rPr lang="en-US" dirty="0" err="1"/>
              <a:t>Ssn</a:t>
            </a:r>
            <a:r>
              <a:rPr lang="en-US" dirty="0"/>
              <a:t> is 305-61-2435, Age is 19, and so on …</a:t>
            </a:r>
          </a:p>
        </p:txBody>
      </p:sp>
      <p:sp>
        <p:nvSpPr>
          <p:cNvPr id="4" name="Slide Number Placeholder 3">
            <a:extLst>
              <a:ext uri="{FF2B5EF4-FFF2-40B4-BE49-F238E27FC236}">
                <a16:creationId xmlns:a16="http://schemas.microsoft.com/office/drawing/2014/main" id="{DBC18733-CEAE-5DAF-D3C4-6B8A5019516A}"/>
              </a:ext>
            </a:extLst>
          </p:cNvPr>
          <p:cNvSpPr>
            <a:spLocks noGrp="1"/>
          </p:cNvSpPr>
          <p:nvPr>
            <p:ph type="sldNum" sz="quarter" idx="12"/>
          </p:nvPr>
        </p:nvSpPr>
        <p:spPr/>
        <p:txBody>
          <a:bodyPr/>
          <a:lstStyle/>
          <a:p>
            <a:fld id="{6264BDCF-5269-49AC-A246-ED26C2B980E3}" type="slidenum">
              <a:rPr lang="en-US" smtClean="0"/>
              <a:t>33</a:t>
            </a:fld>
            <a:endParaRPr lang="en-US"/>
          </a:p>
        </p:txBody>
      </p:sp>
    </p:spTree>
    <p:extLst>
      <p:ext uri="{BB962C8B-B14F-4D97-AF65-F5344CB8AC3E}">
        <p14:creationId xmlns:p14="http://schemas.microsoft.com/office/powerpoint/2010/main" val="2004130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28D3-3F9D-B182-FF95-600C7C6F90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617AE4-9B90-6F4B-72E1-BDE36F5D0C76}"/>
              </a:ext>
            </a:extLst>
          </p:cNvPr>
          <p:cNvSpPr>
            <a:spLocks noGrp="1"/>
          </p:cNvSpPr>
          <p:nvPr>
            <p:ph idx="1"/>
          </p:nvPr>
        </p:nvSpPr>
        <p:spPr/>
        <p:txBody>
          <a:bodyPr/>
          <a:lstStyle/>
          <a:p>
            <a:r>
              <a:rPr lang="en-US" dirty="0"/>
              <a:t>some relations may represent facts about </a:t>
            </a:r>
            <a:r>
              <a:rPr lang="en-US" i="1" dirty="0"/>
              <a:t>entities, </a:t>
            </a:r>
            <a:r>
              <a:rPr lang="en-US" dirty="0"/>
              <a:t>whereas other relations may represent facts about </a:t>
            </a:r>
            <a:r>
              <a:rPr lang="en-US" i="1" dirty="0"/>
              <a:t>relationships</a:t>
            </a:r>
          </a:p>
          <a:p>
            <a:r>
              <a:rPr lang="en-US" dirty="0"/>
              <a:t>for example, relation schema MAJORS (</a:t>
            </a:r>
            <a:r>
              <a:rPr lang="en-US" dirty="0" err="1"/>
              <a:t>Student_ssn</a:t>
            </a:r>
            <a:r>
              <a:rPr lang="en-US" dirty="0"/>
              <a:t>, </a:t>
            </a:r>
            <a:r>
              <a:rPr lang="en-US" dirty="0" err="1"/>
              <a:t>Department_code</a:t>
            </a:r>
            <a:r>
              <a:rPr lang="en-US" dirty="0"/>
              <a:t>) asserts that students major in academic disciplines</a:t>
            </a:r>
          </a:p>
        </p:txBody>
      </p:sp>
      <p:sp>
        <p:nvSpPr>
          <p:cNvPr id="4" name="Slide Number Placeholder 3">
            <a:extLst>
              <a:ext uri="{FF2B5EF4-FFF2-40B4-BE49-F238E27FC236}">
                <a16:creationId xmlns:a16="http://schemas.microsoft.com/office/drawing/2014/main" id="{9BD567B9-B73C-0000-3D53-C9B8646A0F0D}"/>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2096848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A511-325E-0484-8FF7-909C5E2569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7269F7-E1C4-6705-3C0E-77BDDAE5A2CF}"/>
              </a:ext>
            </a:extLst>
          </p:cNvPr>
          <p:cNvSpPr>
            <a:spLocks noGrp="1"/>
          </p:cNvSpPr>
          <p:nvPr>
            <p:ph idx="1"/>
          </p:nvPr>
        </p:nvSpPr>
        <p:spPr>
          <a:xfrm>
            <a:off x="838199" y="1825625"/>
            <a:ext cx="10515601" cy="4351338"/>
          </a:xfrm>
        </p:spPr>
        <p:txBody>
          <a:bodyPr>
            <a:normAutofit/>
          </a:bodyPr>
          <a:lstStyle/>
          <a:p>
            <a:r>
              <a:rPr lang="en-US" sz="3200" dirty="0"/>
              <a:t>alternative interpretation of a relation schema is as a </a:t>
            </a:r>
            <a:r>
              <a:rPr lang="en-US" sz="3200" b="1" dirty="0"/>
              <a:t>predicate</a:t>
            </a:r>
          </a:p>
          <a:p>
            <a:r>
              <a:rPr lang="en-US" dirty="0"/>
              <a:t>values in each tuple are interpreted as values that </a:t>
            </a:r>
            <a:r>
              <a:rPr lang="en-US" i="1" dirty="0"/>
              <a:t>satisfy </a:t>
            </a:r>
            <a:r>
              <a:rPr lang="en-US" dirty="0"/>
              <a:t>the predicate</a:t>
            </a:r>
          </a:p>
          <a:p>
            <a:r>
              <a:rPr lang="en-US" dirty="0"/>
              <a:t>assumption called </a:t>
            </a:r>
            <a:r>
              <a:rPr lang="en-US" b="1" dirty="0"/>
              <a:t>the closed world assumption </a:t>
            </a:r>
            <a:r>
              <a:rPr lang="en-US" dirty="0"/>
              <a:t>states that only true facts in universe are those present within the extension (state) of relation(s); any other combination of values makes predicate false</a:t>
            </a:r>
          </a:p>
        </p:txBody>
      </p:sp>
      <p:sp>
        <p:nvSpPr>
          <p:cNvPr id="4" name="Slide Number Placeholder 3">
            <a:extLst>
              <a:ext uri="{FF2B5EF4-FFF2-40B4-BE49-F238E27FC236}">
                <a16:creationId xmlns:a16="http://schemas.microsoft.com/office/drawing/2014/main" id="{C56118B4-E1D3-8B07-6C4A-E48B31E41CAA}"/>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42808015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1702F-26D2-D891-069C-36486731C2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104D78D-BADA-732D-6935-BB694D5D2772}"/>
              </a:ext>
            </a:extLst>
          </p:cNvPr>
          <p:cNvSpPr>
            <a:spLocks noGrp="1"/>
          </p:cNvSpPr>
          <p:nvPr>
            <p:ph type="title"/>
          </p:nvPr>
        </p:nvSpPr>
        <p:spPr/>
        <p:txBody>
          <a:bodyPr/>
          <a:lstStyle/>
          <a:p>
            <a:r>
              <a:rPr lang="en-US" b="1" dirty="0"/>
              <a:t>Constraints</a:t>
            </a:r>
            <a:endParaRPr lang="en-US" dirty="0"/>
          </a:p>
        </p:txBody>
      </p:sp>
      <p:sp>
        <p:nvSpPr>
          <p:cNvPr id="6" name="Text Placeholder 5">
            <a:extLst>
              <a:ext uri="{FF2B5EF4-FFF2-40B4-BE49-F238E27FC236}">
                <a16:creationId xmlns:a16="http://schemas.microsoft.com/office/drawing/2014/main" id="{B3A59633-B814-B291-67D9-AD6DB0D7A2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BA5181-EB80-D203-F70F-77E13A5ED13F}"/>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1087067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7072A-EF70-5D07-0DF2-F983457CE849}"/>
              </a:ext>
            </a:extLst>
          </p:cNvPr>
          <p:cNvSpPr>
            <a:spLocks noGrp="1"/>
          </p:cNvSpPr>
          <p:nvPr>
            <p:ph type="title"/>
          </p:nvPr>
        </p:nvSpPr>
        <p:spPr/>
        <p:txBody>
          <a:bodyPr/>
          <a:lstStyle/>
          <a:p>
            <a:r>
              <a:rPr lang="en-US" dirty="0"/>
              <a:t>Relational Model Constraints</a:t>
            </a:r>
          </a:p>
        </p:txBody>
      </p:sp>
      <p:sp>
        <p:nvSpPr>
          <p:cNvPr id="3" name="Content Placeholder 2">
            <a:extLst>
              <a:ext uri="{FF2B5EF4-FFF2-40B4-BE49-F238E27FC236}">
                <a16:creationId xmlns:a16="http://schemas.microsoft.com/office/drawing/2014/main" id="{2D01CE1B-1C28-4505-0930-EE87F863CFBE}"/>
              </a:ext>
            </a:extLst>
          </p:cNvPr>
          <p:cNvSpPr>
            <a:spLocks noGrp="1"/>
          </p:cNvSpPr>
          <p:nvPr>
            <p:ph idx="1"/>
          </p:nvPr>
        </p:nvSpPr>
        <p:spPr/>
        <p:txBody>
          <a:bodyPr>
            <a:normAutofit/>
          </a:bodyPr>
          <a:lstStyle/>
          <a:p>
            <a:r>
              <a:rPr lang="en-US" dirty="0"/>
              <a:t>in a relational database, there will typically be many relations, and the tuples in those relations are usually related in various ways</a:t>
            </a:r>
          </a:p>
          <a:p>
            <a:r>
              <a:rPr lang="en-US" dirty="0"/>
              <a:t>state of whole database will correspond to states of all its relations at particular point in time; there are many restrictions or </a:t>
            </a:r>
            <a:r>
              <a:rPr lang="en-US" b="1" dirty="0"/>
              <a:t>constraints </a:t>
            </a:r>
            <a:r>
              <a:rPr lang="en-US" dirty="0"/>
              <a:t>on actual values in database state; these constraints are derived from business rules in the </a:t>
            </a:r>
            <a:r>
              <a:rPr lang="en-US" dirty="0" err="1"/>
              <a:t>miniworld</a:t>
            </a:r>
            <a:r>
              <a:rPr lang="en-US" dirty="0"/>
              <a:t> that the database represents</a:t>
            </a:r>
          </a:p>
        </p:txBody>
      </p:sp>
      <p:sp>
        <p:nvSpPr>
          <p:cNvPr id="4" name="Slide Number Placeholder 3">
            <a:extLst>
              <a:ext uri="{FF2B5EF4-FFF2-40B4-BE49-F238E27FC236}">
                <a16:creationId xmlns:a16="http://schemas.microsoft.com/office/drawing/2014/main" id="{D6E1F3C3-B795-7E19-7C22-828D9A72C860}"/>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779481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53EB3-C266-600B-DF81-2258C7FA43C9}"/>
              </a:ext>
            </a:extLst>
          </p:cNvPr>
          <p:cNvSpPr>
            <a:spLocks noGrp="1"/>
          </p:cNvSpPr>
          <p:nvPr>
            <p:ph type="title"/>
          </p:nvPr>
        </p:nvSpPr>
        <p:spPr/>
        <p:txBody>
          <a:bodyPr/>
          <a:lstStyle/>
          <a:p>
            <a:r>
              <a:rPr lang="en-US" dirty="0"/>
              <a:t>Constraints</a:t>
            </a:r>
          </a:p>
        </p:txBody>
      </p:sp>
      <p:sp>
        <p:nvSpPr>
          <p:cNvPr id="3" name="Content Placeholder 2">
            <a:extLst>
              <a:ext uri="{FF2B5EF4-FFF2-40B4-BE49-F238E27FC236}">
                <a16:creationId xmlns:a16="http://schemas.microsoft.com/office/drawing/2014/main" id="{22144855-AD23-8BFF-12D1-7C1743527E6B}"/>
              </a:ext>
            </a:extLst>
          </p:cNvPr>
          <p:cNvSpPr>
            <a:spLocks noGrp="1"/>
          </p:cNvSpPr>
          <p:nvPr>
            <p:ph idx="1"/>
          </p:nvPr>
        </p:nvSpPr>
        <p:spPr/>
        <p:txBody>
          <a:bodyPr>
            <a:normAutofit/>
          </a:bodyPr>
          <a:lstStyle/>
          <a:p>
            <a:pPr marL="514350" indent="-514350">
              <a:buFont typeface="+mj-lt"/>
              <a:buAutoNum type="arabicPeriod"/>
            </a:pPr>
            <a:r>
              <a:rPr lang="en-US" dirty="0"/>
              <a:t>constraints that are inherent in data model – </a:t>
            </a:r>
            <a:r>
              <a:rPr lang="en-US" b="1" dirty="0"/>
              <a:t>inherent model-based constraints </a:t>
            </a:r>
            <a:r>
              <a:rPr lang="en-US" dirty="0"/>
              <a:t>or </a:t>
            </a:r>
            <a:r>
              <a:rPr lang="en-US" b="1" dirty="0"/>
              <a:t>implicit constraints</a:t>
            </a:r>
          </a:p>
          <a:p>
            <a:pPr marL="514350" indent="-514350">
              <a:buFont typeface="+mj-lt"/>
              <a:buAutoNum type="arabicPeriod"/>
            </a:pPr>
            <a:r>
              <a:rPr lang="en-US" dirty="0"/>
              <a:t>constraints that can be directly expressed in schemas of data model, typically by specifying them in DDL (Data Definition Language) - </a:t>
            </a:r>
            <a:r>
              <a:rPr lang="en-US" b="1" dirty="0"/>
              <a:t>schema-based constraints </a:t>
            </a:r>
            <a:r>
              <a:rPr lang="en-US" dirty="0"/>
              <a:t>or </a:t>
            </a:r>
            <a:r>
              <a:rPr lang="en-US" b="1" dirty="0"/>
              <a:t>explicit constraints</a:t>
            </a:r>
          </a:p>
          <a:p>
            <a:pPr marL="514350" indent="-514350">
              <a:buFont typeface="+mj-lt"/>
              <a:buAutoNum type="arabicPeriod"/>
            </a:pPr>
            <a:r>
              <a:rPr lang="en-US" dirty="0"/>
              <a:t>constraints that cannot</a:t>
            </a:r>
            <a:r>
              <a:rPr lang="en-US" i="1" dirty="0"/>
              <a:t> </a:t>
            </a:r>
            <a:r>
              <a:rPr lang="en-US" dirty="0"/>
              <a:t>be directly expressed in the schemas of data model, and hence must be expressed and enforced by application programs or in some other way - </a:t>
            </a:r>
            <a:r>
              <a:rPr lang="en-US" b="1" dirty="0"/>
              <a:t>application-based </a:t>
            </a:r>
            <a:r>
              <a:rPr lang="en-US" dirty="0"/>
              <a:t>or </a:t>
            </a:r>
            <a:r>
              <a:rPr lang="en-US" b="1" dirty="0"/>
              <a:t>semantic constraints </a:t>
            </a:r>
            <a:r>
              <a:rPr lang="en-US" dirty="0"/>
              <a:t>or </a:t>
            </a:r>
            <a:r>
              <a:rPr lang="en-US" b="1" dirty="0"/>
              <a:t>business rules</a:t>
            </a:r>
            <a:endParaRPr lang="en-US" dirty="0"/>
          </a:p>
        </p:txBody>
      </p:sp>
      <p:sp>
        <p:nvSpPr>
          <p:cNvPr id="4" name="Slide Number Placeholder 3">
            <a:extLst>
              <a:ext uri="{FF2B5EF4-FFF2-40B4-BE49-F238E27FC236}">
                <a16:creationId xmlns:a16="http://schemas.microsoft.com/office/drawing/2014/main" id="{40E993C7-44EE-5132-5A13-DAEA809E418A}"/>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37075139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A948-AD98-2ECA-DA6B-55D0669D47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55F4AE-8AFC-F739-82F0-3D31A709E62C}"/>
              </a:ext>
            </a:extLst>
          </p:cNvPr>
          <p:cNvSpPr>
            <a:spLocks noGrp="1"/>
          </p:cNvSpPr>
          <p:nvPr>
            <p:ph idx="1"/>
          </p:nvPr>
        </p:nvSpPr>
        <p:spPr/>
        <p:txBody>
          <a:bodyPr>
            <a:normAutofit/>
          </a:bodyPr>
          <a:lstStyle/>
          <a:p>
            <a:pPr marL="514350" indent="-514350">
              <a:buFont typeface="+mj-lt"/>
              <a:buAutoNum type="arabicPeriod"/>
            </a:pPr>
            <a:r>
              <a:rPr lang="en-US" dirty="0"/>
              <a:t>for example, the constraint that a relation cannot have duplicate tuples is an inherent constraint</a:t>
            </a:r>
          </a:p>
          <a:p>
            <a:pPr marL="514350" indent="-514350">
              <a:buFont typeface="+mj-lt"/>
              <a:buAutoNum type="arabicPeriod"/>
            </a:pPr>
            <a:r>
              <a:rPr lang="en-US" dirty="0"/>
              <a:t>include domain constraints, key constraints, constraints on NULLs, entity integrity constraints, and referential integrity constraints</a:t>
            </a:r>
          </a:p>
          <a:p>
            <a:pPr marL="514350" indent="-514350">
              <a:buFont typeface="+mj-lt"/>
              <a:buAutoNum type="arabicPeriod"/>
            </a:pPr>
            <a:r>
              <a:rPr lang="en-US" dirty="0"/>
              <a:t>more general, relate to meaning as well as behavior of attributes, and are difficult to express and enforce within data model, so they are usually checked within application programs that perform database updates; in some cases, these constraints can be specified as </a:t>
            </a:r>
            <a:r>
              <a:rPr lang="en-US" b="1" dirty="0"/>
              <a:t>assertions </a:t>
            </a:r>
            <a:r>
              <a:rPr lang="en-US" dirty="0"/>
              <a:t>in SQL</a:t>
            </a:r>
          </a:p>
        </p:txBody>
      </p:sp>
      <p:sp>
        <p:nvSpPr>
          <p:cNvPr id="4" name="Slide Number Placeholder 3">
            <a:extLst>
              <a:ext uri="{FF2B5EF4-FFF2-40B4-BE49-F238E27FC236}">
                <a16:creationId xmlns:a16="http://schemas.microsoft.com/office/drawing/2014/main" id="{8E6A8AA9-7ACB-3D68-72E4-5A8B6072507A}"/>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396864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6AD57-1695-F7C3-04B6-E45678525D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8482FF-49ED-9F81-D5E6-171413146DB1}"/>
              </a:ext>
            </a:extLst>
          </p:cNvPr>
          <p:cNvSpPr>
            <a:spLocks noGrp="1"/>
          </p:cNvSpPr>
          <p:nvPr>
            <p:ph idx="1"/>
          </p:nvPr>
        </p:nvSpPr>
        <p:spPr/>
        <p:txBody>
          <a:bodyPr/>
          <a:lstStyle/>
          <a:p>
            <a:r>
              <a:rPr lang="en-US" dirty="0"/>
              <a:t>another important category of constraints is data dependencies, which include functional dependencies and multivalued dependencies; used mainly for testing the “goodness” of design of a relational database and are utilized in a process called normalization</a:t>
            </a:r>
          </a:p>
        </p:txBody>
      </p:sp>
      <p:sp>
        <p:nvSpPr>
          <p:cNvPr id="4" name="Slide Number Placeholder 3">
            <a:extLst>
              <a:ext uri="{FF2B5EF4-FFF2-40B4-BE49-F238E27FC236}">
                <a16:creationId xmlns:a16="http://schemas.microsoft.com/office/drawing/2014/main" id="{3558124F-567F-65B0-3480-E00C7EB90790}"/>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3266517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EF4FD-1F5C-1041-626D-AF16BE98CC4C}"/>
              </a:ext>
            </a:extLst>
          </p:cNvPr>
          <p:cNvSpPr>
            <a:spLocks noGrp="1"/>
          </p:cNvSpPr>
          <p:nvPr>
            <p:ph type="title"/>
          </p:nvPr>
        </p:nvSpPr>
        <p:spPr/>
        <p:txBody>
          <a:bodyPr/>
          <a:lstStyle/>
          <a:p>
            <a:r>
              <a:rPr lang="en-US" dirty="0"/>
              <a:t>Domain Constraints</a:t>
            </a:r>
          </a:p>
        </p:txBody>
      </p:sp>
      <p:sp>
        <p:nvSpPr>
          <p:cNvPr id="3" name="Content Placeholder 2">
            <a:extLst>
              <a:ext uri="{FF2B5EF4-FFF2-40B4-BE49-F238E27FC236}">
                <a16:creationId xmlns:a16="http://schemas.microsoft.com/office/drawing/2014/main" id="{2CBBCD86-E4C2-5C82-3272-0EAE4C070D89}"/>
              </a:ext>
            </a:extLst>
          </p:cNvPr>
          <p:cNvSpPr>
            <a:spLocks noGrp="1"/>
          </p:cNvSpPr>
          <p:nvPr>
            <p:ph idx="1"/>
          </p:nvPr>
        </p:nvSpPr>
        <p:spPr/>
        <p:txBody>
          <a:bodyPr>
            <a:normAutofit/>
          </a:bodyPr>
          <a:lstStyle/>
          <a:p>
            <a:r>
              <a:rPr lang="en-US" dirty="0"/>
              <a:t>specify that within each tuple, value of each attribute </a:t>
            </a:r>
            <a:r>
              <a:rPr lang="en-US" i="1" dirty="0"/>
              <a:t>A </a:t>
            </a:r>
            <a:r>
              <a:rPr lang="en-US" dirty="0"/>
              <a:t>must be atomic value from the domain </a:t>
            </a:r>
            <a:r>
              <a:rPr lang="en-US" dirty="0" err="1"/>
              <a:t>dom</a:t>
            </a:r>
            <a:r>
              <a:rPr lang="en-US" dirty="0"/>
              <a:t>(</a:t>
            </a:r>
            <a:r>
              <a:rPr lang="en-US" i="1" dirty="0"/>
              <a:t>A</a:t>
            </a:r>
            <a:r>
              <a:rPr lang="en-US" dirty="0"/>
              <a:t>)</a:t>
            </a:r>
          </a:p>
          <a:p>
            <a:r>
              <a:rPr lang="en-US" dirty="0"/>
              <a:t>data types associated with domains typically include standard numeric data types for integers (such as short, integer, and long) and real numbers (float and double-precision), Characters, Booleans, fixed-length strings, and variable-length strings, date, time, timestamp, and other special data types</a:t>
            </a:r>
          </a:p>
          <a:p>
            <a:r>
              <a:rPr lang="en-US" dirty="0"/>
              <a:t>domains can also be described by a subrange of values from data type or as an enumerated data type in which all possible values are explicitly listed</a:t>
            </a:r>
          </a:p>
        </p:txBody>
      </p:sp>
      <p:sp>
        <p:nvSpPr>
          <p:cNvPr id="4" name="Slide Number Placeholder 3">
            <a:extLst>
              <a:ext uri="{FF2B5EF4-FFF2-40B4-BE49-F238E27FC236}">
                <a16:creationId xmlns:a16="http://schemas.microsoft.com/office/drawing/2014/main" id="{8CD37307-C55C-6A6C-22E4-8DCA12F06857}"/>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2251918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75FEB-1B2E-C767-15BE-DEB8460C38E0}"/>
              </a:ext>
            </a:extLst>
          </p:cNvPr>
          <p:cNvSpPr>
            <a:spLocks noGrp="1"/>
          </p:cNvSpPr>
          <p:nvPr>
            <p:ph type="title"/>
          </p:nvPr>
        </p:nvSpPr>
        <p:spPr/>
        <p:txBody>
          <a:bodyPr/>
          <a:lstStyle/>
          <a:p>
            <a:r>
              <a:rPr lang="en-US" dirty="0"/>
              <a:t>Key Constraints</a:t>
            </a:r>
          </a:p>
        </p:txBody>
      </p:sp>
      <p:sp>
        <p:nvSpPr>
          <p:cNvPr id="3" name="Content Placeholder 2">
            <a:extLst>
              <a:ext uri="{FF2B5EF4-FFF2-40B4-BE49-F238E27FC236}">
                <a16:creationId xmlns:a16="http://schemas.microsoft.com/office/drawing/2014/main" id="{E38106C2-3126-CD96-5357-679521D87676}"/>
              </a:ext>
            </a:extLst>
          </p:cNvPr>
          <p:cNvSpPr>
            <a:spLocks noGrp="1"/>
          </p:cNvSpPr>
          <p:nvPr>
            <p:ph idx="1"/>
          </p:nvPr>
        </p:nvSpPr>
        <p:spPr/>
        <p:txBody>
          <a:bodyPr>
            <a:normAutofit/>
          </a:bodyPr>
          <a:lstStyle/>
          <a:p>
            <a:r>
              <a:rPr lang="en-US" dirty="0"/>
              <a:t>in the formal relational model, </a:t>
            </a:r>
            <a:r>
              <a:rPr lang="en-US" i="1" dirty="0"/>
              <a:t>relation </a:t>
            </a:r>
            <a:r>
              <a:rPr lang="en-US" dirty="0"/>
              <a:t>is defined as a </a:t>
            </a:r>
            <a:r>
              <a:rPr lang="en-US" i="1" dirty="0"/>
              <a:t>set of tuples</a:t>
            </a:r>
          </a:p>
          <a:p>
            <a:r>
              <a:rPr lang="en-US" dirty="0"/>
              <a:t>by definition, all elements of a set are distinct; hence, all tuples in relation must also be distinct</a:t>
            </a:r>
          </a:p>
          <a:p>
            <a:r>
              <a:rPr lang="en-US" dirty="0"/>
              <a:t>no two tuples can have the same combination of values for all their attributes</a:t>
            </a:r>
          </a:p>
          <a:p>
            <a:r>
              <a:rPr lang="en-US" dirty="0"/>
              <a:t>usually, there are other </a:t>
            </a:r>
            <a:r>
              <a:rPr lang="en-US" b="1" dirty="0"/>
              <a:t>subsets of attributes </a:t>
            </a:r>
            <a:r>
              <a:rPr lang="en-US" dirty="0"/>
              <a:t>of relation schema R with the property that no two tuples in any relation state r of R should have same combination of values for these attributes</a:t>
            </a:r>
          </a:p>
        </p:txBody>
      </p:sp>
      <p:sp>
        <p:nvSpPr>
          <p:cNvPr id="4" name="Slide Number Placeholder 3">
            <a:extLst>
              <a:ext uri="{FF2B5EF4-FFF2-40B4-BE49-F238E27FC236}">
                <a16:creationId xmlns:a16="http://schemas.microsoft.com/office/drawing/2014/main" id="{293FDA94-CAD7-E2F2-65D5-3939AA4756B7}"/>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7547481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5392-167C-1521-DF13-7684AA6E98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20BA2C-9B64-4C4C-80D3-224A001BD581}"/>
              </a:ext>
            </a:extLst>
          </p:cNvPr>
          <p:cNvSpPr>
            <a:spLocks noGrp="1"/>
          </p:cNvSpPr>
          <p:nvPr>
            <p:ph idx="1"/>
          </p:nvPr>
        </p:nvSpPr>
        <p:spPr/>
        <p:txBody>
          <a:bodyPr>
            <a:noAutofit/>
          </a:bodyPr>
          <a:lstStyle/>
          <a:p>
            <a:r>
              <a:rPr lang="en-US" dirty="0"/>
              <a:t>any such set of attributes is called a </a:t>
            </a:r>
            <a:r>
              <a:rPr lang="en-US" b="1" dirty="0" err="1"/>
              <a:t>superkey</a:t>
            </a:r>
            <a:r>
              <a:rPr lang="en-US" b="1" dirty="0"/>
              <a:t> </a:t>
            </a:r>
            <a:r>
              <a:rPr lang="en-US" dirty="0"/>
              <a:t>of relation schema </a:t>
            </a:r>
            <a:r>
              <a:rPr lang="en-US" i="1" dirty="0"/>
              <a:t>R; </a:t>
            </a:r>
            <a:r>
              <a:rPr lang="en-US" dirty="0"/>
              <a:t>specifies a </a:t>
            </a:r>
            <a:r>
              <a:rPr lang="en-US" i="1" dirty="0"/>
              <a:t>uniqueness constraint </a:t>
            </a:r>
            <a:r>
              <a:rPr lang="en-US" dirty="0"/>
              <a:t>that no two distinct tuples in any state </a:t>
            </a:r>
            <a:r>
              <a:rPr lang="en-US" i="1" dirty="0"/>
              <a:t>r </a:t>
            </a:r>
            <a:r>
              <a:rPr lang="en-US" dirty="0"/>
              <a:t>of </a:t>
            </a:r>
            <a:r>
              <a:rPr lang="en-US" i="1" dirty="0"/>
              <a:t>R </a:t>
            </a:r>
            <a:r>
              <a:rPr lang="en-US" dirty="0"/>
              <a:t>can have the same value for </a:t>
            </a:r>
            <a:r>
              <a:rPr lang="en-US" dirty="0" err="1"/>
              <a:t>superkey</a:t>
            </a:r>
            <a:r>
              <a:rPr lang="en-US" dirty="0"/>
              <a:t> set of attributes</a:t>
            </a:r>
          </a:p>
          <a:p>
            <a:r>
              <a:rPr lang="en-US" dirty="0"/>
              <a:t>every relation has at least one default </a:t>
            </a:r>
            <a:r>
              <a:rPr lang="en-US" dirty="0" err="1"/>
              <a:t>superkey</a:t>
            </a:r>
            <a:r>
              <a:rPr lang="en-US" dirty="0"/>
              <a:t>: set of all its attributes</a:t>
            </a:r>
          </a:p>
          <a:p>
            <a:r>
              <a:rPr lang="en-US" dirty="0"/>
              <a:t>a </a:t>
            </a:r>
            <a:r>
              <a:rPr lang="en-US" b="1" dirty="0"/>
              <a:t>key </a:t>
            </a:r>
            <a:r>
              <a:rPr lang="en-US" i="1" dirty="0"/>
              <a:t>k </a:t>
            </a:r>
            <a:r>
              <a:rPr lang="en-US" dirty="0"/>
              <a:t>of a relation schema </a:t>
            </a:r>
            <a:r>
              <a:rPr lang="en-US" i="1" dirty="0"/>
              <a:t>R </a:t>
            </a:r>
            <a:r>
              <a:rPr lang="en-US" dirty="0"/>
              <a:t>is a </a:t>
            </a:r>
            <a:r>
              <a:rPr lang="en-US" dirty="0" err="1"/>
              <a:t>superkey</a:t>
            </a:r>
            <a:r>
              <a:rPr lang="en-US" dirty="0"/>
              <a:t> of </a:t>
            </a:r>
            <a:r>
              <a:rPr lang="en-US" i="1" dirty="0"/>
              <a:t>R </a:t>
            </a:r>
            <a:r>
              <a:rPr lang="en-US" dirty="0"/>
              <a:t>with additional property that removing any attribute </a:t>
            </a:r>
            <a:r>
              <a:rPr lang="en-US" i="1" dirty="0"/>
              <a:t>A </a:t>
            </a:r>
            <a:r>
              <a:rPr lang="en-US" dirty="0"/>
              <a:t>from </a:t>
            </a:r>
            <a:r>
              <a:rPr lang="en-US" i="1" dirty="0"/>
              <a:t>K </a:t>
            </a:r>
            <a:r>
              <a:rPr lang="en-US" dirty="0"/>
              <a:t>leaves a set of attributes </a:t>
            </a:r>
            <a:r>
              <a:rPr lang="en-US" i="1" dirty="0"/>
              <a:t>K</a:t>
            </a:r>
            <a:r>
              <a:rPr lang="en-US" dirty="0"/>
              <a:t>′ that is not a </a:t>
            </a:r>
            <a:r>
              <a:rPr lang="en-US" dirty="0" err="1"/>
              <a:t>superkey</a:t>
            </a:r>
            <a:r>
              <a:rPr lang="en-US" dirty="0"/>
              <a:t> of </a:t>
            </a:r>
            <a:r>
              <a:rPr lang="en-US" i="1" dirty="0"/>
              <a:t>R </a:t>
            </a:r>
            <a:r>
              <a:rPr lang="en-US" dirty="0"/>
              <a:t>any more</a:t>
            </a:r>
          </a:p>
        </p:txBody>
      </p:sp>
      <p:sp>
        <p:nvSpPr>
          <p:cNvPr id="4" name="Slide Number Placeholder 3">
            <a:extLst>
              <a:ext uri="{FF2B5EF4-FFF2-40B4-BE49-F238E27FC236}">
                <a16:creationId xmlns:a16="http://schemas.microsoft.com/office/drawing/2014/main" id="{9C865229-A4CB-5613-8E3D-34918D5BD8C9}"/>
              </a:ext>
            </a:extLst>
          </p:cNvPr>
          <p:cNvSpPr>
            <a:spLocks noGrp="1"/>
          </p:cNvSpPr>
          <p:nvPr>
            <p:ph type="sldNum" sz="quarter" idx="12"/>
          </p:nvPr>
        </p:nvSpPr>
        <p:spPr/>
        <p:txBody>
          <a:bodyPr/>
          <a:lstStyle/>
          <a:p>
            <a:fld id="{6264BDCF-5269-49AC-A246-ED26C2B980E3}" type="slidenum">
              <a:rPr lang="en-US" smtClean="0"/>
              <a:t>43</a:t>
            </a:fld>
            <a:endParaRPr lang="en-US"/>
          </a:p>
        </p:txBody>
      </p:sp>
    </p:spTree>
    <p:extLst>
      <p:ext uri="{BB962C8B-B14F-4D97-AF65-F5344CB8AC3E}">
        <p14:creationId xmlns:p14="http://schemas.microsoft.com/office/powerpoint/2010/main" val="656586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B849C-829F-1433-BB7C-16D67978D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33989-D890-5278-995C-A7B138BB82AF}"/>
              </a:ext>
            </a:extLst>
          </p:cNvPr>
          <p:cNvSpPr>
            <a:spLocks noGrp="1"/>
          </p:cNvSpPr>
          <p:nvPr>
            <p:ph type="title"/>
          </p:nvPr>
        </p:nvSpPr>
        <p:spPr/>
        <p:txBody>
          <a:bodyPr/>
          <a:lstStyle/>
          <a:p>
            <a:r>
              <a:rPr lang="en-US" dirty="0"/>
              <a:t>Key</a:t>
            </a:r>
          </a:p>
        </p:txBody>
      </p:sp>
      <p:sp>
        <p:nvSpPr>
          <p:cNvPr id="3" name="Content Placeholder 2">
            <a:extLst>
              <a:ext uri="{FF2B5EF4-FFF2-40B4-BE49-F238E27FC236}">
                <a16:creationId xmlns:a16="http://schemas.microsoft.com/office/drawing/2014/main" id="{9DF8C577-2315-4C83-AFF2-6649AEEE9FAE}"/>
              </a:ext>
            </a:extLst>
          </p:cNvPr>
          <p:cNvSpPr>
            <a:spLocks noGrp="1"/>
          </p:cNvSpPr>
          <p:nvPr>
            <p:ph idx="1"/>
          </p:nvPr>
        </p:nvSpPr>
        <p:spPr/>
        <p:txBody>
          <a:bodyPr>
            <a:noAutofit/>
          </a:bodyPr>
          <a:lstStyle/>
          <a:p>
            <a:pPr marL="514350" indent="-514350">
              <a:buFont typeface="+mj-lt"/>
              <a:buAutoNum type="arabicPeriod"/>
            </a:pPr>
            <a:r>
              <a:rPr lang="en-US" dirty="0"/>
              <a:t>two distinct tuples in any state of relation cannot have identical values for (all) attributes in key; uniqueness</a:t>
            </a:r>
            <a:r>
              <a:rPr lang="en-US" i="1" dirty="0"/>
              <a:t> </a:t>
            </a:r>
            <a:r>
              <a:rPr lang="en-US" dirty="0"/>
              <a:t>property also applies to a </a:t>
            </a:r>
            <a:r>
              <a:rPr lang="en-US" dirty="0" err="1"/>
              <a:t>superkey</a:t>
            </a:r>
            <a:endParaRPr lang="en-US" dirty="0"/>
          </a:p>
          <a:p>
            <a:pPr marL="514350" indent="-514350">
              <a:buFont typeface="+mj-lt"/>
              <a:buAutoNum type="arabicPeriod"/>
            </a:pPr>
            <a:r>
              <a:rPr lang="en-US" dirty="0"/>
              <a:t>it is a </a:t>
            </a:r>
            <a:r>
              <a:rPr lang="en-US" i="1" dirty="0"/>
              <a:t>minimal </a:t>
            </a:r>
            <a:r>
              <a:rPr lang="en-US" i="1" dirty="0" err="1"/>
              <a:t>superkey</a:t>
            </a:r>
            <a:r>
              <a:rPr lang="en-US" i="1" dirty="0"/>
              <a:t>, </a:t>
            </a:r>
            <a:r>
              <a:rPr lang="en-US" dirty="0"/>
              <a:t>that is, a </a:t>
            </a:r>
            <a:r>
              <a:rPr lang="en-US" dirty="0" err="1"/>
              <a:t>superkey</a:t>
            </a:r>
            <a:r>
              <a:rPr lang="en-US" dirty="0"/>
              <a:t> from which we cannot remove any attributes and still have uniqueness constraint hold</a:t>
            </a:r>
          </a:p>
          <a:p>
            <a:r>
              <a:rPr lang="en-US" i="1" dirty="0"/>
              <a:t>minimality </a:t>
            </a:r>
            <a:r>
              <a:rPr lang="en-US" dirty="0"/>
              <a:t>property is required for key but is optional for </a:t>
            </a:r>
            <a:r>
              <a:rPr lang="en-US" dirty="0" err="1"/>
              <a:t>superkey</a:t>
            </a:r>
            <a:endParaRPr lang="en-US" dirty="0"/>
          </a:p>
        </p:txBody>
      </p:sp>
      <p:sp>
        <p:nvSpPr>
          <p:cNvPr id="4" name="Slide Number Placeholder 3">
            <a:extLst>
              <a:ext uri="{FF2B5EF4-FFF2-40B4-BE49-F238E27FC236}">
                <a16:creationId xmlns:a16="http://schemas.microsoft.com/office/drawing/2014/main" id="{BDCD5A6F-A643-699E-10F4-0890903AD3E3}"/>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32759152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ABF8D-11FB-6D4D-F23C-B0D5808C3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3D423-69DB-C39E-06BC-C6ACF5065A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B1D613-CB45-34BD-3AD4-5DBD6EEE5B37}"/>
              </a:ext>
            </a:extLst>
          </p:cNvPr>
          <p:cNvSpPr>
            <a:spLocks noGrp="1"/>
          </p:cNvSpPr>
          <p:nvPr>
            <p:ph idx="1"/>
          </p:nvPr>
        </p:nvSpPr>
        <p:spPr/>
        <p:txBody>
          <a:bodyPr>
            <a:noAutofit/>
          </a:bodyPr>
          <a:lstStyle/>
          <a:p>
            <a:r>
              <a:rPr lang="en-US" dirty="0"/>
              <a:t>the STUDENT relation - attribute set {</a:t>
            </a:r>
            <a:r>
              <a:rPr lang="en-US" dirty="0" err="1"/>
              <a:t>Ssn</a:t>
            </a:r>
            <a:r>
              <a:rPr lang="en-US" dirty="0"/>
              <a:t>} is key of STUDENT because no two student tuples can have same value for </a:t>
            </a:r>
            <a:r>
              <a:rPr lang="en-US" dirty="0" err="1"/>
              <a:t>Ssn</a:t>
            </a:r>
            <a:endParaRPr lang="en-US" dirty="0"/>
          </a:p>
          <a:p>
            <a:r>
              <a:rPr lang="en-US" dirty="0"/>
              <a:t>any set of attributes that includes </a:t>
            </a:r>
            <a:r>
              <a:rPr lang="en-US" dirty="0" err="1"/>
              <a:t>Ssn</a:t>
            </a:r>
            <a:r>
              <a:rPr lang="en-US" dirty="0"/>
              <a:t>, for example, {</a:t>
            </a:r>
            <a:r>
              <a:rPr lang="en-US" dirty="0" err="1"/>
              <a:t>Ssn</a:t>
            </a:r>
            <a:r>
              <a:rPr lang="en-US" dirty="0"/>
              <a:t>, Name, Age}, is a </a:t>
            </a:r>
            <a:r>
              <a:rPr lang="en-US" dirty="0" err="1"/>
              <a:t>superkey</a:t>
            </a:r>
            <a:r>
              <a:rPr lang="en-US" dirty="0"/>
              <a:t>; however, </a:t>
            </a:r>
            <a:r>
              <a:rPr lang="en-US" dirty="0" err="1"/>
              <a:t>superkey</a:t>
            </a:r>
            <a:r>
              <a:rPr lang="en-US" dirty="0"/>
              <a:t> {</a:t>
            </a:r>
            <a:r>
              <a:rPr lang="en-US" dirty="0" err="1"/>
              <a:t>Ssn</a:t>
            </a:r>
            <a:r>
              <a:rPr lang="en-US" dirty="0"/>
              <a:t>, Name, Age} is not a key</a:t>
            </a:r>
          </a:p>
          <a:p>
            <a:r>
              <a:rPr lang="en-US" dirty="0"/>
              <a:t>key with multiple attributes must require all</a:t>
            </a:r>
            <a:r>
              <a:rPr lang="en-US" i="1" dirty="0"/>
              <a:t> </a:t>
            </a:r>
            <a:r>
              <a:rPr lang="en-US" dirty="0"/>
              <a:t>its attributes together to have the uniqueness property</a:t>
            </a:r>
          </a:p>
          <a:p>
            <a:r>
              <a:rPr lang="en-US" dirty="0"/>
              <a:t>value of a key attribute can be used to identify uniquely each tuple in the relation</a:t>
            </a:r>
          </a:p>
        </p:txBody>
      </p:sp>
      <p:sp>
        <p:nvSpPr>
          <p:cNvPr id="4" name="Slide Number Placeholder 3">
            <a:extLst>
              <a:ext uri="{FF2B5EF4-FFF2-40B4-BE49-F238E27FC236}">
                <a16:creationId xmlns:a16="http://schemas.microsoft.com/office/drawing/2014/main" id="{E4AFB95E-13AE-C0D8-874D-0B6059D4EEB8}"/>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671228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C385D-688B-7784-8E61-6B574FEC3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0CF32-246B-3BC1-1F33-4D69C3B900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D74C4D-82E3-2F6A-F472-BC88C96E191F}"/>
              </a:ext>
            </a:extLst>
          </p:cNvPr>
          <p:cNvSpPr>
            <a:spLocks noGrp="1"/>
          </p:cNvSpPr>
          <p:nvPr>
            <p:ph idx="1"/>
          </p:nvPr>
        </p:nvSpPr>
        <p:spPr/>
        <p:txBody>
          <a:bodyPr>
            <a:noAutofit/>
          </a:bodyPr>
          <a:lstStyle/>
          <a:p>
            <a:r>
              <a:rPr lang="en-US" dirty="0"/>
              <a:t>set of attributes constituting a key is a property of the relation schema; it is a constraint that should hold on </a:t>
            </a:r>
            <a:r>
              <a:rPr lang="en-US" i="1" dirty="0"/>
              <a:t>every </a:t>
            </a:r>
            <a:r>
              <a:rPr lang="en-US" dirty="0"/>
              <a:t>valid relation state of schema</a:t>
            </a:r>
          </a:p>
          <a:p>
            <a:r>
              <a:rPr lang="en-US" dirty="0"/>
              <a:t>key is determined from the meaning of the attributes, and property is </a:t>
            </a:r>
            <a:r>
              <a:rPr lang="en-US" i="1" dirty="0"/>
              <a:t>time-invariant: </a:t>
            </a:r>
            <a:r>
              <a:rPr lang="en-US" dirty="0"/>
              <a:t>it must continue to hold when we insert new tuples in relation</a:t>
            </a:r>
          </a:p>
          <a:p>
            <a:r>
              <a:rPr lang="en-US" dirty="0"/>
              <a:t>for example, we cannot and should not designate the Name attribute of the STUDENT relation as a key because it is possible that two students with identical names will exist at some point in a valid state</a:t>
            </a:r>
          </a:p>
        </p:txBody>
      </p:sp>
      <p:sp>
        <p:nvSpPr>
          <p:cNvPr id="4" name="Slide Number Placeholder 3">
            <a:extLst>
              <a:ext uri="{FF2B5EF4-FFF2-40B4-BE49-F238E27FC236}">
                <a16:creationId xmlns:a16="http://schemas.microsoft.com/office/drawing/2014/main" id="{8548FDA6-3AE2-F935-C6C9-D7C227FEE382}"/>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4167068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ED34E-DEB7-B6BA-58C0-041F212EE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9DABF-1A55-2D45-D690-D5E14F70E4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9BBD3E-D892-130A-CA41-9F575A43043A}"/>
              </a:ext>
            </a:extLst>
          </p:cNvPr>
          <p:cNvSpPr>
            <a:spLocks noGrp="1"/>
          </p:cNvSpPr>
          <p:nvPr>
            <p:ph idx="1"/>
          </p:nvPr>
        </p:nvSpPr>
        <p:spPr/>
        <p:txBody>
          <a:bodyPr>
            <a:noAutofit/>
          </a:bodyPr>
          <a:lstStyle/>
          <a:p>
            <a:r>
              <a:rPr lang="en-US" dirty="0"/>
              <a:t>relation schema may have more than one key; each of the keys is called a </a:t>
            </a:r>
            <a:r>
              <a:rPr lang="en-US" b="1" dirty="0"/>
              <a:t>candidate key</a:t>
            </a:r>
          </a:p>
          <a:p>
            <a:r>
              <a:rPr lang="en-US" dirty="0"/>
              <a:t>common to designate one of the candidate keys as the </a:t>
            </a:r>
            <a:r>
              <a:rPr lang="en-US" b="1" dirty="0"/>
              <a:t>primary key </a:t>
            </a:r>
            <a:r>
              <a:rPr lang="en-US" dirty="0"/>
              <a:t>of the relation</a:t>
            </a:r>
          </a:p>
          <a:p>
            <a:r>
              <a:rPr lang="en-US" dirty="0"/>
              <a:t>convention that attributes that form primary key of a relation schema are underlined</a:t>
            </a:r>
          </a:p>
          <a:p>
            <a:r>
              <a:rPr lang="en-US" dirty="0"/>
              <a:t>better to choose primary key with single attribute or small number of attributes</a:t>
            </a:r>
          </a:p>
          <a:p>
            <a:r>
              <a:rPr lang="en-US" dirty="0"/>
              <a:t>better to choose integer primary key – are shorter, less bytes  </a:t>
            </a:r>
          </a:p>
        </p:txBody>
      </p:sp>
      <p:sp>
        <p:nvSpPr>
          <p:cNvPr id="4" name="Slide Number Placeholder 3">
            <a:extLst>
              <a:ext uri="{FF2B5EF4-FFF2-40B4-BE49-F238E27FC236}">
                <a16:creationId xmlns:a16="http://schemas.microsoft.com/office/drawing/2014/main" id="{5BD676CB-B06D-7D89-D479-DAC3BF519B6E}"/>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2178876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82CA9-CC71-F2DA-BB1C-A8B3E3CCC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443DF-984F-E265-D2C0-CD6707A371E9}"/>
              </a:ext>
            </a:extLst>
          </p:cNvPr>
          <p:cNvSpPr>
            <a:spLocks noGrp="1"/>
          </p:cNvSpPr>
          <p:nvPr>
            <p:ph type="title"/>
          </p:nvPr>
        </p:nvSpPr>
        <p:spPr/>
        <p:txBody>
          <a:bodyPr/>
          <a:lstStyle/>
          <a:p>
            <a:r>
              <a:rPr lang="en-US" dirty="0"/>
              <a:t>Constraints on NULL Values</a:t>
            </a:r>
          </a:p>
        </p:txBody>
      </p:sp>
      <p:sp>
        <p:nvSpPr>
          <p:cNvPr id="3" name="Content Placeholder 2">
            <a:extLst>
              <a:ext uri="{FF2B5EF4-FFF2-40B4-BE49-F238E27FC236}">
                <a16:creationId xmlns:a16="http://schemas.microsoft.com/office/drawing/2014/main" id="{C796CAD9-10C5-FE7D-C77A-8EBD58903DAA}"/>
              </a:ext>
            </a:extLst>
          </p:cNvPr>
          <p:cNvSpPr>
            <a:spLocks noGrp="1"/>
          </p:cNvSpPr>
          <p:nvPr>
            <p:ph idx="1"/>
          </p:nvPr>
        </p:nvSpPr>
        <p:spPr>
          <a:xfrm>
            <a:off x="838200" y="1825625"/>
            <a:ext cx="10911348" cy="4351338"/>
          </a:xfrm>
        </p:spPr>
        <p:txBody>
          <a:bodyPr>
            <a:noAutofit/>
          </a:bodyPr>
          <a:lstStyle/>
          <a:p>
            <a:r>
              <a:rPr lang="en-US" dirty="0"/>
              <a:t>another constraint on attributes specifies whether NULL values are or are not permitted</a:t>
            </a:r>
          </a:p>
          <a:p>
            <a:r>
              <a:rPr lang="en-US" dirty="0"/>
              <a:t>for example, if every STUDENT tuple must have valid, non-NULL value for Name attribute, then Name of STUDENT is constrained to be NOT NULL</a:t>
            </a:r>
          </a:p>
        </p:txBody>
      </p:sp>
      <p:sp>
        <p:nvSpPr>
          <p:cNvPr id="4" name="Slide Number Placeholder 3">
            <a:extLst>
              <a:ext uri="{FF2B5EF4-FFF2-40B4-BE49-F238E27FC236}">
                <a16:creationId xmlns:a16="http://schemas.microsoft.com/office/drawing/2014/main" id="{62078560-FCA4-984A-2680-9C596CE30814}"/>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29673362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CB83E-C132-3EB5-CDD5-14612778C077}"/>
              </a:ext>
            </a:extLst>
          </p:cNvPr>
          <p:cNvSpPr>
            <a:spLocks noGrp="1"/>
          </p:cNvSpPr>
          <p:nvPr>
            <p:ph type="title"/>
          </p:nvPr>
        </p:nvSpPr>
        <p:spPr/>
        <p:txBody>
          <a:bodyPr/>
          <a:lstStyle/>
          <a:p>
            <a:r>
              <a:rPr lang="en-US" b="1" dirty="0"/>
              <a:t>Relational Databases</a:t>
            </a:r>
            <a:endParaRPr lang="en-US" dirty="0"/>
          </a:p>
        </p:txBody>
      </p:sp>
      <p:sp>
        <p:nvSpPr>
          <p:cNvPr id="3" name="Content Placeholder 2">
            <a:extLst>
              <a:ext uri="{FF2B5EF4-FFF2-40B4-BE49-F238E27FC236}">
                <a16:creationId xmlns:a16="http://schemas.microsoft.com/office/drawing/2014/main" id="{802118ED-07AE-7F58-CE4D-07E505CFA25B}"/>
              </a:ext>
            </a:extLst>
          </p:cNvPr>
          <p:cNvSpPr>
            <a:spLocks noGrp="1"/>
          </p:cNvSpPr>
          <p:nvPr>
            <p:ph idx="1"/>
          </p:nvPr>
        </p:nvSpPr>
        <p:spPr/>
        <p:txBody>
          <a:bodyPr>
            <a:noAutofit/>
          </a:bodyPr>
          <a:lstStyle/>
          <a:p>
            <a:r>
              <a:rPr lang="en-US" dirty="0"/>
              <a:t>usually contains many relations, with tuples in relations that are related in various ways</a:t>
            </a:r>
          </a:p>
          <a:p>
            <a:r>
              <a:rPr lang="en-US" dirty="0"/>
              <a:t>a </a:t>
            </a:r>
            <a:r>
              <a:rPr lang="en-US" b="1" dirty="0"/>
              <a:t>relational database schema </a:t>
            </a:r>
            <a:r>
              <a:rPr lang="en-US" i="1" dirty="0"/>
              <a:t>S </a:t>
            </a:r>
            <a:r>
              <a:rPr lang="en-US" dirty="0"/>
              <a:t>is a set of relation schemas </a:t>
            </a:r>
            <a:r>
              <a:rPr lang="en-US" i="1" dirty="0"/>
              <a:t>S </a:t>
            </a:r>
            <a:r>
              <a:rPr lang="en-US" dirty="0"/>
              <a:t>= {</a:t>
            </a:r>
            <a:r>
              <a:rPr lang="en-US" i="1" dirty="0"/>
              <a:t>R</a:t>
            </a:r>
            <a:r>
              <a:rPr lang="en-US" baseline="-25000" dirty="0"/>
              <a:t>1</a:t>
            </a:r>
            <a:r>
              <a:rPr lang="en-US" dirty="0"/>
              <a:t>, </a:t>
            </a:r>
            <a:r>
              <a:rPr lang="en-US" i="1" dirty="0"/>
              <a:t>R</a:t>
            </a:r>
            <a:r>
              <a:rPr lang="en-US" baseline="-25000" dirty="0"/>
              <a:t>2</a:t>
            </a:r>
            <a:r>
              <a:rPr lang="en-US" dirty="0"/>
              <a:t>, … , </a:t>
            </a:r>
            <a:r>
              <a:rPr lang="en-US" i="1" dirty="0"/>
              <a:t>R</a:t>
            </a:r>
            <a:r>
              <a:rPr lang="en-US" baseline="-25000" dirty="0"/>
              <a:t>m</a:t>
            </a:r>
            <a:r>
              <a:rPr lang="en-US" dirty="0"/>
              <a:t>} and a set of </a:t>
            </a:r>
            <a:r>
              <a:rPr lang="en-US" b="1" dirty="0"/>
              <a:t>integrity constraints </a:t>
            </a:r>
            <a:r>
              <a:rPr lang="en-US" dirty="0"/>
              <a:t>IC</a:t>
            </a:r>
          </a:p>
          <a:p>
            <a:r>
              <a:rPr lang="en-US" dirty="0"/>
              <a:t>a </a:t>
            </a:r>
            <a:r>
              <a:rPr lang="en-US" b="1" dirty="0"/>
              <a:t>relational database state</a:t>
            </a:r>
            <a:r>
              <a:rPr lang="en-US" dirty="0"/>
              <a:t> of </a:t>
            </a:r>
            <a:r>
              <a:rPr lang="en-US" i="1" dirty="0"/>
              <a:t>S </a:t>
            </a:r>
            <a:r>
              <a:rPr lang="en-US" dirty="0"/>
              <a:t>is a set of relation states DB = {</a:t>
            </a:r>
            <a:r>
              <a:rPr lang="en-US" i="1" dirty="0"/>
              <a:t>r</a:t>
            </a:r>
            <a:r>
              <a:rPr lang="en-US" baseline="-25000" dirty="0"/>
              <a:t>1</a:t>
            </a:r>
            <a:r>
              <a:rPr lang="en-US" dirty="0"/>
              <a:t>, </a:t>
            </a:r>
            <a:r>
              <a:rPr lang="en-US" i="1" dirty="0"/>
              <a:t>r</a:t>
            </a:r>
            <a:r>
              <a:rPr lang="en-US" baseline="-25000" dirty="0"/>
              <a:t>2</a:t>
            </a:r>
            <a:r>
              <a:rPr lang="en-US" dirty="0"/>
              <a:t>, … , </a:t>
            </a:r>
            <a:r>
              <a:rPr lang="en-US" i="1" dirty="0"/>
              <a:t>r</a:t>
            </a:r>
            <a:r>
              <a:rPr lang="en-US" baseline="-25000" dirty="0"/>
              <a:t>m</a:t>
            </a:r>
            <a:r>
              <a:rPr lang="en-US" dirty="0"/>
              <a:t>} such that each </a:t>
            </a:r>
            <a:r>
              <a:rPr lang="en-US" i="1" dirty="0" err="1"/>
              <a:t>r</a:t>
            </a:r>
            <a:r>
              <a:rPr lang="en-US" baseline="-25000" dirty="0" err="1"/>
              <a:t>i</a:t>
            </a:r>
            <a:r>
              <a:rPr lang="en-US" i="1" dirty="0"/>
              <a:t> </a:t>
            </a:r>
            <a:r>
              <a:rPr lang="en-US" dirty="0"/>
              <a:t>is a state of </a:t>
            </a:r>
            <a:r>
              <a:rPr lang="en-US" i="1" dirty="0"/>
              <a:t>R</a:t>
            </a:r>
            <a:r>
              <a:rPr lang="en-US" baseline="-25000" dirty="0"/>
              <a:t>i</a:t>
            </a:r>
            <a:r>
              <a:rPr lang="en-US" i="1" dirty="0"/>
              <a:t> </a:t>
            </a:r>
            <a:r>
              <a:rPr lang="en-US" dirty="0"/>
              <a:t>and such that the </a:t>
            </a:r>
            <a:r>
              <a:rPr lang="en-US" i="1" dirty="0" err="1"/>
              <a:t>r</a:t>
            </a:r>
            <a:r>
              <a:rPr lang="en-US" baseline="-25000" dirty="0" err="1"/>
              <a:t>i</a:t>
            </a:r>
            <a:r>
              <a:rPr lang="en-US" i="1" dirty="0"/>
              <a:t> </a:t>
            </a:r>
            <a:r>
              <a:rPr lang="en-US" dirty="0"/>
              <a:t>relation states satisfy integrity constraints specified in IC</a:t>
            </a:r>
          </a:p>
        </p:txBody>
      </p:sp>
      <p:sp>
        <p:nvSpPr>
          <p:cNvPr id="4" name="Slide Number Placeholder 3">
            <a:extLst>
              <a:ext uri="{FF2B5EF4-FFF2-40B4-BE49-F238E27FC236}">
                <a16:creationId xmlns:a16="http://schemas.microsoft.com/office/drawing/2014/main" id="{49320FD1-29DA-5A9A-BC44-92F69920CB86}"/>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7585450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D9A3A-D0FA-ECB3-E693-2B0209D2AB4C}"/>
              </a:ext>
            </a:extLst>
          </p:cNvPr>
          <p:cNvSpPr>
            <a:spLocks noGrp="1"/>
          </p:cNvSpPr>
          <p:nvPr>
            <p:ph type="title"/>
          </p:nvPr>
        </p:nvSpPr>
        <p:spPr/>
        <p:txBody>
          <a:bodyPr>
            <a:normAutofit/>
          </a:bodyPr>
          <a:lstStyle/>
          <a:p>
            <a:r>
              <a:rPr lang="en-US" dirty="0"/>
              <a:t>Schema diagram for COMPANY relational database schema</a:t>
            </a:r>
          </a:p>
        </p:txBody>
      </p:sp>
      <p:pic>
        <p:nvPicPr>
          <p:cNvPr id="6" name="Content Placeholder 5" descr="A screenshot of a computer&#10;&#10;AI-generated content may be incorrect.">
            <a:extLst>
              <a:ext uri="{FF2B5EF4-FFF2-40B4-BE49-F238E27FC236}">
                <a16:creationId xmlns:a16="http://schemas.microsoft.com/office/drawing/2014/main" id="{27D741BC-D77F-2B42-2C8D-558954C7DB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4480" y="1554480"/>
            <a:ext cx="8656258" cy="5201106"/>
          </a:xfrm>
        </p:spPr>
      </p:pic>
      <p:sp>
        <p:nvSpPr>
          <p:cNvPr id="4" name="Slide Number Placeholder 3">
            <a:extLst>
              <a:ext uri="{FF2B5EF4-FFF2-40B4-BE49-F238E27FC236}">
                <a16:creationId xmlns:a16="http://schemas.microsoft.com/office/drawing/2014/main" id="{1B11CFD5-A166-7D60-7355-3D362AB02E18}"/>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42773578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F05F-AFFE-ECA5-BE66-69F44C44C4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88743B-B945-4EE2-E2D8-2AA70B5E7C17}"/>
              </a:ext>
            </a:extLst>
          </p:cNvPr>
          <p:cNvSpPr>
            <a:spLocks noGrp="1"/>
          </p:cNvSpPr>
          <p:nvPr>
            <p:ph idx="1"/>
          </p:nvPr>
        </p:nvSpPr>
        <p:spPr/>
        <p:txBody>
          <a:bodyPr>
            <a:normAutofit/>
          </a:bodyPr>
          <a:lstStyle/>
          <a:p>
            <a:r>
              <a:rPr lang="en-US" dirty="0"/>
              <a:t>for example, the </a:t>
            </a:r>
            <a:r>
              <a:rPr lang="en-US" dirty="0" err="1"/>
              <a:t>Dnumber</a:t>
            </a:r>
            <a:r>
              <a:rPr lang="en-US" dirty="0"/>
              <a:t> attribute in both DEPARTMENT and DEPT_LOCATIONS stands for same real-world concept: number given to a department; same concept called </a:t>
            </a:r>
            <a:r>
              <a:rPr lang="en-US" dirty="0" err="1"/>
              <a:t>Dno</a:t>
            </a:r>
            <a:r>
              <a:rPr lang="en-US" dirty="0"/>
              <a:t> in EMPLOYEE and </a:t>
            </a:r>
            <a:r>
              <a:rPr lang="en-US" dirty="0" err="1"/>
              <a:t>Dnum</a:t>
            </a:r>
            <a:r>
              <a:rPr lang="en-US" dirty="0"/>
              <a:t> in PROJECT</a:t>
            </a:r>
          </a:p>
          <a:p>
            <a:r>
              <a:rPr lang="en-US" dirty="0"/>
              <a:t>attributes that represent the same real-world concept may or may not have identical names in different relations</a:t>
            </a:r>
          </a:p>
          <a:p>
            <a:r>
              <a:rPr lang="en-US" dirty="0"/>
              <a:t>alternatively, attributes that represent different concepts may have the same name in different relations; for example, could have used the attribute name Name for both </a:t>
            </a:r>
            <a:r>
              <a:rPr lang="en-US" dirty="0" err="1"/>
              <a:t>Pname</a:t>
            </a:r>
            <a:r>
              <a:rPr lang="en-US" dirty="0"/>
              <a:t> of PROJECT and </a:t>
            </a:r>
            <a:r>
              <a:rPr lang="en-US" dirty="0" err="1"/>
              <a:t>Dname</a:t>
            </a:r>
            <a:r>
              <a:rPr lang="en-US" dirty="0"/>
              <a:t> of DEPARTMENT</a:t>
            </a:r>
          </a:p>
        </p:txBody>
      </p:sp>
      <p:sp>
        <p:nvSpPr>
          <p:cNvPr id="4" name="Slide Number Placeholder 3">
            <a:extLst>
              <a:ext uri="{FF2B5EF4-FFF2-40B4-BE49-F238E27FC236}">
                <a16:creationId xmlns:a16="http://schemas.microsoft.com/office/drawing/2014/main" id="{FEB1F20D-BEB9-77C1-C2AF-952B0EA6EB9C}"/>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8860957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2B58-4919-3D6F-0A0C-EEA548603256}"/>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3268275-8F7F-7214-DE59-768CE37B8B42}"/>
              </a:ext>
            </a:extLst>
          </p:cNvPr>
          <p:cNvPicPr>
            <a:picLocks noGrp="1"/>
          </p:cNvPicPr>
          <p:nvPr>
            <p:ph idx="1"/>
          </p:nvPr>
        </p:nvPicPr>
        <p:blipFill>
          <a:blip r:embed="rId2"/>
          <a:stretch>
            <a:fillRect/>
          </a:stretch>
        </p:blipFill>
        <p:spPr>
          <a:xfrm>
            <a:off x="2743191" y="91440"/>
            <a:ext cx="6620449" cy="6651465"/>
          </a:xfrm>
          <a:prstGeom prst="rect">
            <a:avLst/>
          </a:prstGeom>
        </p:spPr>
      </p:pic>
      <p:sp>
        <p:nvSpPr>
          <p:cNvPr id="4" name="Slide Number Placeholder 3">
            <a:extLst>
              <a:ext uri="{FF2B5EF4-FFF2-40B4-BE49-F238E27FC236}">
                <a16:creationId xmlns:a16="http://schemas.microsoft.com/office/drawing/2014/main" id="{804B1412-0F25-A249-AB7B-51281751DA1A}"/>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38050825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48BC-FDA3-8097-8343-384D817C058D}"/>
              </a:ext>
            </a:extLst>
          </p:cNvPr>
          <p:cNvSpPr>
            <a:spLocks noGrp="1"/>
          </p:cNvSpPr>
          <p:nvPr>
            <p:ph type="title"/>
          </p:nvPr>
        </p:nvSpPr>
        <p:spPr/>
        <p:txBody>
          <a:bodyPr/>
          <a:lstStyle/>
          <a:p>
            <a:r>
              <a:rPr lang="en-US" dirty="0"/>
              <a:t>Entity Integrity Constraint</a:t>
            </a:r>
          </a:p>
        </p:txBody>
      </p:sp>
      <p:sp>
        <p:nvSpPr>
          <p:cNvPr id="3" name="Content Placeholder 2">
            <a:extLst>
              <a:ext uri="{FF2B5EF4-FFF2-40B4-BE49-F238E27FC236}">
                <a16:creationId xmlns:a16="http://schemas.microsoft.com/office/drawing/2014/main" id="{24CB43FE-57D3-0579-4C77-4943063CC7EA}"/>
              </a:ext>
            </a:extLst>
          </p:cNvPr>
          <p:cNvSpPr>
            <a:spLocks noGrp="1"/>
          </p:cNvSpPr>
          <p:nvPr>
            <p:ph idx="1"/>
          </p:nvPr>
        </p:nvSpPr>
        <p:spPr/>
        <p:txBody>
          <a:bodyPr>
            <a:normAutofit/>
          </a:bodyPr>
          <a:lstStyle/>
          <a:p>
            <a:r>
              <a:rPr lang="en-US" dirty="0"/>
              <a:t>states that no primary key value can be NULL</a:t>
            </a:r>
          </a:p>
          <a:p>
            <a:r>
              <a:rPr lang="en-US" dirty="0"/>
              <a:t>primary key value is used to identify individual tuples in relation</a:t>
            </a:r>
          </a:p>
        </p:txBody>
      </p:sp>
      <p:sp>
        <p:nvSpPr>
          <p:cNvPr id="4" name="Slide Number Placeholder 3">
            <a:extLst>
              <a:ext uri="{FF2B5EF4-FFF2-40B4-BE49-F238E27FC236}">
                <a16:creationId xmlns:a16="http://schemas.microsoft.com/office/drawing/2014/main" id="{CCBF77F3-0E32-709F-9372-C7BB2BD6B381}"/>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5412031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A7BA-13DC-06A2-2663-53147FD2C6B8}"/>
              </a:ext>
            </a:extLst>
          </p:cNvPr>
          <p:cNvSpPr>
            <a:spLocks noGrp="1"/>
          </p:cNvSpPr>
          <p:nvPr>
            <p:ph type="title"/>
          </p:nvPr>
        </p:nvSpPr>
        <p:spPr/>
        <p:txBody>
          <a:bodyPr/>
          <a:lstStyle/>
          <a:p>
            <a:r>
              <a:rPr lang="en-US" dirty="0"/>
              <a:t>Referential Integrity, and Foreign Keys</a:t>
            </a:r>
          </a:p>
        </p:txBody>
      </p:sp>
      <p:sp>
        <p:nvSpPr>
          <p:cNvPr id="3" name="Content Placeholder 2">
            <a:extLst>
              <a:ext uri="{FF2B5EF4-FFF2-40B4-BE49-F238E27FC236}">
                <a16:creationId xmlns:a16="http://schemas.microsoft.com/office/drawing/2014/main" id="{16AC4118-B39F-88DC-AE55-02C2A29055A5}"/>
              </a:ext>
            </a:extLst>
          </p:cNvPr>
          <p:cNvSpPr>
            <a:spLocks noGrp="1"/>
          </p:cNvSpPr>
          <p:nvPr>
            <p:ph idx="1"/>
          </p:nvPr>
        </p:nvSpPr>
        <p:spPr/>
        <p:txBody>
          <a:bodyPr>
            <a:normAutofit/>
          </a:bodyPr>
          <a:lstStyle/>
          <a:p>
            <a:r>
              <a:rPr lang="en-US" dirty="0"/>
              <a:t>specified between two relations and is used to maintain consistency among tuples in two relations</a:t>
            </a:r>
          </a:p>
          <a:p>
            <a:r>
              <a:rPr lang="en-US" dirty="0"/>
              <a:t>a tuple in one relation that refers to another relation must refer to an </a:t>
            </a:r>
            <a:r>
              <a:rPr lang="en-US" i="1" dirty="0"/>
              <a:t>existing tuple </a:t>
            </a:r>
            <a:r>
              <a:rPr lang="en-US" dirty="0"/>
              <a:t>in that relation</a:t>
            </a:r>
          </a:p>
          <a:p>
            <a:r>
              <a:rPr lang="en-US" dirty="0"/>
              <a:t>for example, the attribute </a:t>
            </a:r>
            <a:r>
              <a:rPr lang="en-US" dirty="0" err="1"/>
              <a:t>Dno</a:t>
            </a:r>
            <a:r>
              <a:rPr lang="en-US" dirty="0"/>
              <a:t> of EMPLOYEE gives the department number for which each employee works; hence, its value in every EMPLOYEE tuple must match </a:t>
            </a:r>
            <a:r>
              <a:rPr lang="en-US" dirty="0" err="1"/>
              <a:t>Dnumber</a:t>
            </a:r>
            <a:r>
              <a:rPr lang="en-US" dirty="0"/>
              <a:t> value of some existing tuple in DEPARTMENT relation</a:t>
            </a:r>
          </a:p>
        </p:txBody>
      </p:sp>
      <p:sp>
        <p:nvSpPr>
          <p:cNvPr id="4" name="Slide Number Placeholder 3">
            <a:extLst>
              <a:ext uri="{FF2B5EF4-FFF2-40B4-BE49-F238E27FC236}">
                <a16:creationId xmlns:a16="http://schemas.microsoft.com/office/drawing/2014/main" id="{FE14DC3E-2B00-3A24-4375-D058B0539398}"/>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42274927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8D76-8757-B225-66BD-6C3554C7E8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133D16-827E-6BDF-25C5-56E6AF20C4C1}"/>
              </a:ext>
            </a:extLst>
          </p:cNvPr>
          <p:cNvSpPr>
            <a:spLocks noGrp="1"/>
          </p:cNvSpPr>
          <p:nvPr>
            <p:ph idx="1"/>
          </p:nvPr>
        </p:nvSpPr>
        <p:spPr/>
        <p:txBody>
          <a:bodyPr>
            <a:noAutofit/>
          </a:bodyPr>
          <a:lstStyle/>
          <a:p>
            <a:r>
              <a:rPr lang="en-US" dirty="0"/>
              <a:t>concept of a </a:t>
            </a:r>
            <a:r>
              <a:rPr lang="en-US" i="1" dirty="0"/>
              <a:t>foreign key </a:t>
            </a:r>
            <a:r>
              <a:rPr lang="en-US" dirty="0"/>
              <a:t>specify a referential integrity constraint between two relation schemas </a:t>
            </a:r>
            <a:r>
              <a:rPr lang="en-US" i="1" dirty="0"/>
              <a:t>R</a:t>
            </a:r>
            <a:r>
              <a:rPr lang="en-US" baseline="-25000" dirty="0"/>
              <a:t>1</a:t>
            </a:r>
            <a:r>
              <a:rPr lang="en-US" dirty="0"/>
              <a:t> and </a:t>
            </a:r>
            <a:r>
              <a:rPr lang="en-US" i="1" dirty="0"/>
              <a:t>R</a:t>
            </a:r>
            <a:r>
              <a:rPr lang="en-US" baseline="-25000" dirty="0"/>
              <a:t>2</a:t>
            </a:r>
          </a:p>
          <a:p>
            <a:r>
              <a:rPr lang="en-US" dirty="0"/>
              <a:t>set of attributes FK (Foreign Key) in relation schema </a:t>
            </a:r>
            <a:r>
              <a:rPr lang="en-US" i="1" dirty="0"/>
              <a:t>R</a:t>
            </a:r>
            <a:r>
              <a:rPr lang="en-US" baseline="-25000" dirty="0"/>
              <a:t>1</a:t>
            </a:r>
            <a:r>
              <a:rPr lang="en-US" dirty="0"/>
              <a:t> is </a:t>
            </a:r>
            <a:r>
              <a:rPr lang="en-US" b="1" dirty="0"/>
              <a:t>foreign key </a:t>
            </a:r>
            <a:r>
              <a:rPr lang="en-US" dirty="0"/>
              <a:t>of </a:t>
            </a:r>
            <a:r>
              <a:rPr lang="en-US" i="1" dirty="0"/>
              <a:t>R</a:t>
            </a:r>
            <a:r>
              <a:rPr lang="en-US" dirty="0"/>
              <a:t>1 that </a:t>
            </a:r>
            <a:r>
              <a:rPr lang="en-US" b="1" dirty="0"/>
              <a:t>references </a:t>
            </a:r>
            <a:r>
              <a:rPr lang="en-US" dirty="0"/>
              <a:t>PK (Primary Key) of relation </a:t>
            </a:r>
            <a:r>
              <a:rPr lang="en-US" i="1" dirty="0"/>
              <a:t>R</a:t>
            </a:r>
            <a:r>
              <a:rPr lang="en-US" baseline="-25000" dirty="0"/>
              <a:t>2</a:t>
            </a:r>
            <a:r>
              <a:rPr lang="en-US" dirty="0"/>
              <a:t> if it satisfies following rules:</a:t>
            </a:r>
          </a:p>
        </p:txBody>
      </p:sp>
      <p:sp>
        <p:nvSpPr>
          <p:cNvPr id="4" name="Slide Number Placeholder 3">
            <a:extLst>
              <a:ext uri="{FF2B5EF4-FFF2-40B4-BE49-F238E27FC236}">
                <a16:creationId xmlns:a16="http://schemas.microsoft.com/office/drawing/2014/main" id="{841D9A2C-D517-C713-A2D7-6B46BCA1056C}"/>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19703490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BA38A-09FD-1B43-9B0F-43677CA4AE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B0DC29-6A0A-6104-AE68-7A66AA41CDAD}"/>
              </a:ext>
            </a:extLst>
          </p:cNvPr>
          <p:cNvSpPr>
            <a:spLocks noGrp="1"/>
          </p:cNvSpPr>
          <p:nvPr>
            <p:ph idx="1"/>
          </p:nvPr>
        </p:nvSpPr>
        <p:spPr/>
        <p:txBody>
          <a:bodyPr>
            <a:normAutofit lnSpcReduction="10000"/>
          </a:bodyPr>
          <a:lstStyle/>
          <a:p>
            <a:pPr marL="514350" indent="-514350">
              <a:buFont typeface="+mj-lt"/>
              <a:buAutoNum type="arabicPeriod"/>
            </a:pPr>
            <a:r>
              <a:rPr lang="en-US" dirty="0"/>
              <a:t>attributes in R</a:t>
            </a:r>
            <a:r>
              <a:rPr lang="en-US" baseline="-25000" dirty="0"/>
              <a:t>1</a:t>
            </a:r>
            <a:r>
              <a:rPr lang="en-US" dirty="0"/>
              <a:t> FK foreign key have the same domain(s) as PK primary key attributes of </a:t>
            </a:r>
            <a:r>
              <a:rPr lang="en-US" i="1" dirty="0"/>
              <a:t>R</a:t>
            </a:r>
            <a:r>
              <a:rPr lang="en-US" baseline="-25000" dirty="0"/>
              <a:t>2</a:t>
            </a:r>
            <a:r>
              <a:rPr lang="en-US" dirty="0"/>
              <a:t>; the attributes FK are said to </a:t>
            </a:r>
            <a:r>
              <a:rPr lang="en-US" b="1" dirty="0"/>
              <a:t>reference </a:t>
            </a:r>
            <a:r>
              <a:rPr lang="en-US" dirty="0"/>
              <a:t>or </a:t>
            </a:r>
            <a:r>
              <a:rPr lang="en-US" b="1" dirty="0"/>
              <a:t>refer to </a:t>
            </a:r>
            <a:r>
              <a:rPr lang="en-US" dirty="0"/>
              <a:t>the relation </a:t>
            </a:r>
            <a:r>
              <a:rPr lang="en-US" i="1" dirty="0"/>
              <a:t>R</a:t>
            </a:r>
            <a:r>
              <a:rPr lang="en-US" baseline="-25000" dirty="0"/>
              <a:t>2</a:t>
            </a:r>
          </a:p>
          <a:p>
            <a:pPr marL="514350" indent="-514350">
              <a:buFont typeface="+mj-lt"/>
              <a:buAutoNum type="arabicPeriod"/>
            </a:pPr>
            <a:r>
              <a:rPr lang="en-US" dirty="0"/>
              <a:t>value of FK in a tuple </a:t>
            </a:r>
            <a:r>
              <a:rPr lang="en-US" i="1" dirty="0"/>
              <a:t>t</a:t>
            </a:r>
            <a:r>
              <a:rPr lang="en-US" baseline="-25000" dirty="0"/>
              <a:t>1</a:t>
            </a:r>
            <a:r>
              <a:rPr lang="en-US" dirty="0"/>
              <a:t> of current state </a:t>
            </a:r>
            <a:r>
              <a:rPr lang="en-US" i="1" dirty="0"/>
              <a:t>r</a:t>
            </a:r>
            <a:r>
              <a:rPr lang="en-US" baseline="-25000" dirty="0"/>
              <a:t>1</a:t>
            </a:r>
            <a:r>
              <a:rPr lang="en-US" dirty="0"/>
              <a:t>(</a:t>
            </a:r>
            <a:r>
              <a:rPr lang="en-US" i="1" dirty="0"/>
              <a:t>R</a:t>
            </a:r>
            <a:r>
              <a:rPr lang="en-US" baseline="-25000" dirty="0"/>
              <a:t>1</a:t>
            </a:r>
            <a:r>
              <a:rPr lang="en-US" dirty="0"/>
              <a:t>) either occurs as a value of PK for some tuple </a:t>
            </a:r>
            <a:r>
              <a:rPr lang="en-US" i="1" dirty="0"/>
              <a:t>t</a:t>
            </a:r>
            <a:r>
              <a:rPr lang="en-US" baseline="-25000" dirty="0"/>
              <a:t>2</a:t>
            </a:r>
            <a:r>
              <a:rPr lang="en-US" dirty="0"/>
              <a:t> in current state </a:t>
            </a:r>
            <a:r>
              <a:rPr lang="en-US" i="1" dirty="0"/>
              <a:t>r</a:t>
            </a:r>
            <a:r>
              <a:rPr lang="en-US" baseline="-25000" dirty="0"/>
              <a:t>2</a:t>
            </a:r>
            <a:r>
              <a:rPr lang="en-US" dirty="0"/>
              <a:t>(</a:t>
            </a:r>
            <a:r>
              <a:rPr lang="en-US" i="1" dirty="0"/>
              <a:t>R</a:t>
            </a:r>
            <a:r>
              <a:rPr lang="en-US" baseline="-25000" dirty="0"/>
              <a:t>2</a:t>
            </a:r>
            <a:r>
              <a:rPr lang="en-US" dirty="0"/>
              <a:t>) </a:t>
            </a:r>
            <a:r>
              <a:rPr lang="en-US" i="1" dirty="0"/>
              <a:t>or is NULL</a:t>
            </a:r>
          </a:p>
          <a:p>
            <a:r>
              <a:rPr lang="en-US" dirty="0"/>
              <a:t>say that the tuple </a:t>
            </a:r>
            <a:r>
              <a:rPr lang="en-US" i="1" dirty="0"/>
              <a:t>t</a:t>
            </a:r>
            <a:r>
              <a:rPr lang="en-US" baseline="-25000" dirty="0"/>
              <a:t>1</a:t>
            </a:r>
            <a:r>
              <a:rPr lang="en-US" dirty="0"/>
              <a:t> </a:t>
            </a:r>
            <a:r>
              <a:rPr lang="en-US" b="1" dirty="0"/>
              <a:t>references </a:t>
            </a:r>
            <a:r>
              <a:rPr lang="en-US" dirty="0"/>
              <a:t>or </a:t>
            </a:r>
            <a:r>
              <a:rPr lang="en-US" b="1" dirty="0"/>
              <a:t>refers to </a:t>
            </a:r>
            <a:r>
              <a:rPr lang="en-US" dirty="0"/>
              <a:t>the tuple </a:t>
            </a:r>
            <a:r>
              <a:rPr lang="en-US" i="1" dirty="0"/>
              <a:t>t</a:t>
            </a:r>
            <a:r>
              <a:rPr lang="en-US" baseline="-25000" dirty="0"/>
              <a:t>2</a:t>
            </a:r>
            <a:endParaRPr lang="en-US" dirty="0"/>
          </a:p>
          <a:p>
            <a:r>
              <a:rPr lang="en-US" i="1" dirty="0"/>
              <a:t>R</a:t>
            </a:r>
            <a:r>
              <a:rPr lang="en-US" baseline="-25000" dirty="0"/>
              <a:t>1</a:t>
            </a:r>
            <a:r>
              <a:rPr lang="en-US" dirty="0"/>
              <a:t> is called the </a:t>
            </a:r>
            <a:r>
              <a:rPr lang="en-US" b="1" dirty="0"/>
              <a:t>referencing relation </a:t>
            </a:r>
          </a:p>
          <a:p>
            <a:r>
              <a:rPr lang="en-US" i="1" dirty="0"/>
              <a:t>R</a:t>
            </a:r>
            <a:r>
              <a:rPr lang="en-US" baseline="-25000" dirty="0"/>
              <a:t>2</a:t>
            </a:r>
            <a:r>
              <a:rPr lang="en-US" dirty="0"/>
              <a:t> is the </a:t>
            </a:r>
            <a:r>
              <a:rPr lang="en-US" b="1" dirty="0"/>
              <a:t>referenced relation</a:t>
            </a:r>
          </a:p>
          <a:p>
            <a:r>
              <a:rPr lang="en-US" dirty="0"/>
              <a:t>if these two conditions hold, a </a:t>
            </a:r>
            <a:r>
              <a:rPr lang="en-US" b="1" dirty="0"/>
              <a:t>referential integrity constraint </a:t>
            </a:r>
            <a:r>
              <a:rPr lang="en-US" dirty="0"/>
              <a:t>from </a:t>
            </a:r>
            <a:r>
              <a:rPr lang="en-US" i="1" dirty="0"/>
              <a:t>R</a:t>
            </a:r>
            <a:r>
              <a:rPr lang="en-US" baseline="-25000" dirty="0"/>
              <a:t>1</a:t>
            </a:r>
            <a:r>
              <a:rPr lang="en-US" dirty="0"/>
              <a:t> to </a:t>
            </a:r>
            <a:r>
              <a:rPr lang="en-US" i="1" dirty="0"/>
              <a:t>R</a:t>
            </a:r>
            <a:r>
              <a:rPr lang="en-US" baseline="-25000" dirty="0"/>
              <a:t>2</a:t>
            </a:r>
            <a:r>
              <a:rPr lang="en-US" dirty="0"/>
              <a:t> is said to hold</a:t>
            </a:r>
          </a:p>
        </p:txBody>
      </p:sp>
      <p:sp>
        <p:nvSpPr>
          <p:cNvPr id="4" name="Slide Number Placeholder 3">
            <a:extLst>
              <a:ext uri="{FF2B5EF4-FFF2-40B4-BE49-F238E27FC236}">
                <a16:creationId xmlns:a16="http://schemas.microsoft.com/office/drawing/2014/main" id="{8044217B-A709-02F5-2864-98B9F45D452C}"/>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2905309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509A7-53DA-5B72-0C24-3B138445EF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6AAC25-DF80-4DB7-1A26-52953C0FB761}"/>
              </a:ext>
            </a:extLst>
          </p:cNvPr>
          <p:cNvSpPr>
            <a:spLocks noGrp="1"/>
          </p:cNvSpPr>
          <p:nvPr>
            <p:ph idx="1"/>
          </p:nvPr>
        </p:nvSpPr>
        <p:spPr/>
        <p:txBody>
          <a:bodyPr/>
          <a:lstStyle/>
          <a:p>
            <a:r>
              <a:rPr lang="en-US" dirty="0"/>
              <a:t>in a database of many relations, there are usually many referential integrity constraints</a:t>
            </a:r>
          </a:p>
          <a:p>
            <a:r>
              <a:rPr lang="en-US" dirty="0"/>
              <a:t>referential integrity constraints typically arise from the relationships among the entities represented by relation schemas</a:t>
            </a:r>
          </a:p>
        </p:txBody>
      </p:sp>
      <p:sp>
        <p:nvSpPr>
          <p:cNvPr id="4" name="Slide Number Placeholder 3">
            <a:extLst>
              <a:ext uri="{FF2B5EF4-FFF2-40B4-BE49-F238E27FC236}">
                <a16:creationId xmlns:a16="http://schemas.microsoft.com/office/drawing/2014/main" id="{35C96821-078A-70CC-4BDA-94B5171A9F7A}"/>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38380737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4FAE-8F1C-FF4A-5BF0-659329C2B3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937A0E-9683-8FF3-720F-0B053E9A28C8}"/>
              </a:ext>
            </a:extLst>
          </p:cNvPr>
          <p:cNvSpPr>
            <a:spLocks noGrp="1"/>
          </p:cNvSpPr>
          <p:nvPr>
            <p:ph idx="1"/>
          </p:nvPr>
        </p:nvSpPr>
        <p:spPr/>
        <p:txBody>
          <a:bodyPr>
            <a:normAutofit lnSpcReduction="10000"/>
          </a:bodyPr>
          <a:lstStyle/>
          <a:p>
            <a:r>
              <a:rPr lang="en-US" dirty="0"/>
              <a:t>foreign key can refer to its own relation</a:t>
            </a:r>
          </a:p>
          <a:p>
            <a:r>
              <a:rPr lang="en-US" dirty="0"/>
              <a:t>for example, attribute </a:t>
            </a:r>
            <a:r>
              <a:rPr lang="en-US" dirty="0" err="1"/>
              <a:t>Super_ssn</a:t>
            </a:r>
            <a:r>
              <a:rPr lang="en-US" dirty="0"/>
              <a:t> in EMPLOYEE refers to supervisor of an employee</a:t>
            </a:r>
          </a:p>
          <a:p>
            <a:r>
              <a:rPr lang="en-US" dirty="0"/>
              <a:t>can diagrammatically display referential integrity constraints by drawing directed arc from each foreign key to relation it references; for clarity, arrowhead may point to primary key of referenced relation</a:t>
            </a:r>
          </a:p>
          <a:p>
            <a:endParaRPr lang="en-US" dirty="0"/>
          </a:p>
          <a:p>
            <a:r>
              <a:rPr lang="en-US" dirty="0"/>
              <a:t>all integrity constraints should be specified on relational database schema (that is, specified as part of its definition) if we want the DBMS to enforce these constraints</a:t>
            </a:r>
          </a:p>
        </p:txBody>
      </p:sp>
      <p:sp>
        <p:nvSpPr>
          <p:cNvPr id="4" name="Slide Number Placeholder 3">
            <a:extLst>
              <a:ext uri="{FF2B5EF4-FFF2-40B4-BE49-F238E27FC236}">
                <a16:creationId xmlns:a16="http://schemas.microsoft.com/office/drawing/2014/main" id="{0169C084-8904-8175-ECE2-267BF9DFA09E}"/>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21592681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ED284-E648-5D87-7D6F-86CBC28D5C00}"/>
              </a:ext>
            </a:extLst>
          </p:cNvPr>
          <p:cNvSpPr>
            <a:spLocks noGrp="1"/>
          </p:cNvSpPr>
          <p:nvPr>
            <p:ph type="title"/>
          </p:nvPr>
        </p:nvSpPr>
        <p:spPr/>
        <p:txBody>
          <a:bodyPr>
            <a:normAutofit fontScale="90000"/>
          </a:bodyPr>
          <a:lstStyle/>
          <a:p>
            <a:r>
              <a:rPr lang="en-US" dirty="0"/>
              <a:t>referential integrity constraints</a:t>
            </a:r>
            <a:br>
              <a:rPr lang="en-US" dirty="0"/>
            </a:br>
            <a:r>
              <a:rPr lang="en-US" dirty="0"/>
              <a:t>displayed on COMPANY </a:t>
            </a:r>
            <a:br>
              <a:rPr lang="en-US" dirty="0"/>
            </a:br>
            <a:r>
              <a:rPr lang="en-US" dirty="0"/>
              <a:t>relational database schema</a:t>
            </a:r>
          </a:p>
        </p:txBody>
      </p:sp>
      <p:sp>
        <p:nvSpPr>
          <p:cNvPr id="3" name="Content Placeholder 2">
            <a:extLst>
              <a:ext uri="{FF2B5EF4-FFF2-40B4-BE49-F238E27FC236}">
                <a16:creationId xmlns:a16="http://schemas.microsoft.com/office/drawing/2014/main" id="{92C74235-51E4-0967-0BE0-966BA57336F2}"/>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71951874-9049-C5B9-91FA-55AA2C41DF7B}"/>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27941671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16F5-A3C9-4D75-EC4A-401A69B80CE7}"/>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889418B3-DA84-B84B-0ABB-CA02EE8D2D38}"/>
              </a:ext>
            </a:extLst>
          </p:cNvPr>
          <p:cNvSpPr>
            <a:spLocks noGrp="1"/>
          </p:cNvSpPr>
          <p:nvPr>
            <p:ph type="sldNum" sz="quarter" idx="12"/>
          </p:nvPr>
        </p:nvSpPr>
        <p:spPr/>
        <p:txBody>
          <a:bodyPr/>
          <a:lstStyle/>
          <a:p>
            <a:fld id="{6264BDCF-5269-49AC-A246-ED26C2B980E3}" type="slidenum">
              <a:rPr lang="en-US" smtClean="0"/>
              <a:t>60</a:t>
            </a:fld>
            <a:endParaRPr lang="en-US"/>
          </a:p>
        </p:txBody>
      </p:sp>
      <p:sp>
        <p:nvSpPr>
          <p:cNvPr id="8" name="Content Placeholder 7">
            <a:extLst>
              <a:ext uri="{FF2B5EF4-FFF2-40B4-BE49-F238E27FC236}">
                <a16:creationId xmlns:a16="http://schemas.microsoft.com/office/drawing/2014/main" id="{6D07298B-E52C-083E-4495-6D8751CD5255}"/>
              </a:ext>
            </a:extLst>
          </p:cNvPr>
          <p:cNvSpPr>
            <a:spLocks noGrp="1"/>
          </p:cNvSpPr>
          <p:nvPr>
            <p:ph idx="1"/>
          </p:nvPr>
        </p:nvSpPr>
        <p:spPr/>
        <p:txBody>
          <a:bodyPr/>
          <a:lstStyle/>
          <a:p>
            <a:endParaRPr lang="en-US"/>
          </a:p>
        </p:txBody>
      </p:sp>
      <p:pic>
        <p:nvPicPr>
          <p:cNvPr id="9" name="Content Placeholder 5">
            <a:extLst>
              <a:ext uri="{FF2B5EF4-FFF2-40B4-BE49-F238E27FC236}">
                <a16:creationId xmlns:a16="http://schemas.microsoft.com/office/drawing/2014/main" id="{9DACF8A1-78B4-4767-ED23-AF2C3C071D11}"/>
              </a:ext>
            </a:extLst>
          </p:cNvPr>
          <p:cNvPicPr>
            <a:picLocks noChangeAspect="1"/>
          </p:cNvPicPr>
          <p:nvPr/>
        </p:nvPicPr>
        <p:blipFill>
          <a:blip r:embed="rId2"/>
          <a:stretch>
            <a:fillRect/>
          </a:stretch>
        </p:blipFill>
        <p:spPr>
          <a:xfrm>
            <a:off x="1920240" y="91440"/>
            <a:ext cx="9460898" cy="6723861"/>
          </a:xfrm>
          <a:prstGeom prst="rect">
            <a:avLst/>
          </a:prstGeom>
        </p:spPr>
      </p:pic>
    </p:spTree>
    <p:extLst>
      <p:ext uri="{BB962C8B-B14F-4D97-AF65-F5344CB8AC3E}">
        <p14:creationId xmlns:p14="http://schemas.microsoft.com/office/powerpoint/2010/main" val="42454923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72F1B-0F6A-0B61-AEC2-37BDB022D5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B19A85-4D76-E627-947F-3AFB83FA38E3}"/>
              </a:ext>
            </a:extLst>
          </p:cNvPr>
          <p:cNvSpPr>
            <a:spLocks noGrp="1"/>
          </p:cNvSpPr>
          <p:nvPr>
            <p:ph idx="1"/>
          </p:nvPr>
        </p:nvSpPr>
        <p:spPr/>
        <p:txBody>
          <a:bodyPr/>
          <a:lstStyle/>
          <a:p>
            <a:r>
              <a:rPr lang="en-US" dirty="0"/>
              <a:t>in SQL, the CREATE TABLE statement of DDL allows definition of primary key, unique key, NOT NULL, entity integrity, and referential integrity constraints, among other constraints</a:t>
            </a:r>
          </a:p>
        </p:txBody>
      </p:sp>
      <p:sp>
        <p:nvSpPr>
          <p:cNvPr id="4" name="Slide Number Placeholder 3">
            <a:extLst>
              <a:ext uri="{FF2B5EF4-FFF2-40B4-BE49-F238E27FC236}">
                <a16:creationId xmlns:a16="http://schemas.microsoft.com/office/drawing/2014/main" id="{0FF45254-0DF2-091F-0F30-A9C44D5E7E71}"/>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656571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FCC9A-48A7-924D-48B5-8BF4F2DA7900}"/>
              </a:ext>
            </a:extLst>
          </p:cNvPr>
          <p:cNvSpPr>
            <a:spLocks noGrp="1"/>
          </p:cNvSpPr>
          <p:nvPr>
            <p:ph type="title"/>
          </p:nvPr>
        </p:nvSpPr>
        <p:spPr/>
        <p:txBody>
          <a:bodyPr/>
          <a:lstStyle/>
          <a:p>
            <a:r>
              <a:rPr lang="en-US" dirty="0"/>
              <a:t>CHECK Constraints</a:t>
            </a:r>
          </a:p>
        </p:txBody>
      </p:sp>
      <p:sp>
        <p:nvSpPr>
          <p:cNvPr id="3" name="Content Placeholder 2">
            <a:extLst>
              <a:ext uri="{FF2B5EF4-FFF2-40B4-BE49-F238E27FC236}">
                <a16:creationId xmlns:a16="http://schemas.microsoft.com/office/drawing/2014/main" id="{53EB9D2F-275F-69FC-99A6-6820224EE009}"/>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0D78543F-437E-2CCC-32A4-4287BB3D9EDB}"/>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14375313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6BA90-C545-2909-DB62-EC27E0D2D795}"/>
              </a:ext>
            </a:extLst>
          </p:cNvPr>
          <p:cNvSpPr>
            <a:spLocks noGrp="1"/>
          </p:cNvSpPr>
          <p:nvPr>
            <p:ph type="title"/>
          </p:nvPr>
        </p:nvSpPr>
        <p:spPr/>
        <p:txBody>
          <a:bodyPr/>
          <a:lstStyle/>
          <a:p>
            <a:r>
              <a:rPr lang="en-US" dirty="0"/>
              <a:t>Other Types of Constraints</a:t>
            </a:r>
          </a:p>
        </p:txBody>
      </p:sp>
      <p:sp>
        <p:nvSpPr>
          <p:cNvPr id="3" name="Content Placeholder 2">
            <a:extLst>
              <a:ext uri="{FF2B5EF4-FFF2-40B4-BE49-F238E27FC236}">
                <a16:creationId xmlns:a16="http://schemas.microsoft.com/office/drawing/2014/main" id="{DA801950-D1A4-A68F-7BDB-0F817C108DD4}"/>
              </a:ext>
            </a:extLst>
          </p:cNvPr>
          <p:cNvSpPr>
            <a:spLocks noGrp="1"/>
          </p:cNvSpPr>
          <p:nvPr>
            <p:ph idx="1"/>
          </p:nvPr>
        </p:nvSpPr>
        <p:spPr/>
        <p:txBody>
          <a:bodyPr>
            <a:noAutofit/>
          </a:bodyPr>
          <a:lstStyle/>
          <a:p>
            <a:r>
              <a:rPr lang="en-US" dirty="0"/>
              <a:t>integrity constraints are included in Data Definition Language</a:t>
            </a:r>
          </a:p>
          <a:p>
            <a:r>
              <a:rPr lang="en-US" dirty="0"/>
              <a:t>class of general constraints, sometimes called semantic integrity constraints, are not part of the DDL and have to be specified and enforced in different way</a:t>
            </a:r>
          </a:p>
          <a:p>
            <a:r>
              <a:rPr lang="en-US" dirty="0"/>
              <a:t>for example, constraints that salary of employee should not exceed salary of employee’s supervisor and maximum number of hours an employee can work on all projects per week is 60</a:t>
            </a:r>
          </a:p>
        </p:txBody>
      </p:sp>
      <p:sp>
        <p:nvSpPr>
          <p:cNvPr id="4" name="Slide Number Placeholder 3">
            <a:extLst>
              <a:ext uri="{FF2B5EF4-FFF2-40B4-BE49-F238E27FC236}">
                <a16:creationId xmlns:a16="http://schemas.microsoft.com/office/drawing/2014/main" id="{E9536549-EA2F-EC3E-6A78-20E900CF82E7}"/>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5453336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D2268-31AF-339E-29A5-F2F0880A36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517885-E69D-A4A2-55F5-9BA75E88EC4B}"/>
              </a:ext>
            </a:extLst>
          </p:cNvPr>
          <p:cNvSpPr>
            <a:spLocks noGrp="1"/>
          </p:cNvSpPr>
          <p:nvPr>
            <p:ph idx="1"/>
          </p:nvPr>
        </p:nvSpPr>
        <p:spPr/>
        <p:txBody>
          <a:bodyPr>
            <a:normAutofit/>
          </a:bodyPr>
          <a:lstStyle/>
          <a:p>
            <a:r>
              <a:rPr lang="en-US" dirty="0"/>
              <a:t>constraints can be specified and enforced within the application programs that update the database</a:t>
            </a:r>
          </a:p>
          <a:p>
            <a:r>
              <a:rPr lang="en-US" dirty="0"/>
              <a:t>mechanisms called </a:t>
            </a:r>
            <a:r>
              <a:rPr lang="en-US" b="1" dirty="0"/>
              <a:t>triggers </a:t>
            </a:r>
            <a:r>
              <a:rPr lang="en-US" dirty="0"/>
              <a:t>and </a:t>
            </a:r>
            <a:r>
              <a:rPr lang="en-US" b="1" dirty="0"/>
              <a:t>assertions </a:t>
            </a:r>
            <a:r>
              <a:rPr lang="en-US" dirty="0"/>
              <a:t>can be used in SQL to specify some of these constraints </a:t>
            </a:r>
          </a:p>
          <a:p>
            <a:pPr lvl="1"/>
            <a:r>
              <a:rPr lang="en-US" sz="2500" dirty="0"/>
              <a:t>more common to check for these types of constraints within the application programs than to use constraint specification</a:t>
            </a:r>
          </a:p>
          <a:p>
            <a:endParaRPr lang="en-US" dirty="0"/>
          </a:p>
        </p:txBody>
      </p:sp>
      <p:sp>
        <p:nvSpPr>
          <p:cNvPr id="4" name="Slide Number Placeholder 3">
            <a:extLst>
              <a:ext uri="{FF2B5EF4-FFF2-40B4-BE49-F238E27FC236}">
                <a16:creationId xmlns:a16="http://schemas.microsoft.com/office/drawing/2014/main" id="{372EBAA5-D3F4-E073-CE89-D6E66E01DA95}"/>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32791034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1639-3C0E-333E-0D63-C5F6BF213E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B0365F-3AFC-F3EC-F7C6-735F899B7250}"/>
              </a:ext>
            </a:extLst>
          </p:cNvPr>
          <p:cNvSpPr>
            <a:spLocks noGrp="1"/>
          </p:cNvSpPr>
          <p:nvPr>
            <p:ph idx="1"/>
          </p:nvPr>
        </p:nvSpPr>
        <p:spPr/>
        <p:txBody>
          <a:bodyPr>
            <a:normAutofit/>
          </a:bodyPr>
          <a:lstStyle/>
          <a:p>
            <a:r>
              <a:rPr lang="en-US" b="1" dirty="0"/>
              <a:t>state constraints </a:t>
            </a:r>
            <a:r>
              <a:rPr lang="en-US" dirty="0"/>
              <a:t>define the constraints that valid state of database must satisfy</a:t>
            </a:r>
          </a:p>
          <a:p>
            <a:r>
              <a:rPr lang="en-US" b="1" dirty="0"/>
              <a:t>transition constraints</a:t>
            </a:r>
            <a:r>
              <a:rPr lang="en-US" dirty="0"/>
              <a:t>, can be defined to deal with state changes in database</a:t>
            </a:r>
          </a:p>
          <a:p>
            <a:r>
              <a:rPr lang="en-US" dirty="0"/>
              <a:t>example of a transition constraint is: “the salary of an employee can only increase” </a:t>
            </a:r>
          </a:p>
          <a:p>
            <a:r>
              <a:rPr lang="en-US" dirty="0"/>
              <a:t>such constraints are typically enforced by the application programs or specified using active rules and triggers</a:t>
            </a:r>
          </a:p>
        </p:txBody>
      </p:sp>
      <p:sp>
        <p:nvSpPr>
          <p:cNvPr id="4" name="Slide Number Placeholder 3">
            <a:extLst>
              <a:ext uri="{FF2B5EF4-FFF2-40B4-BE49-F238E27FC236}">
                <a16:creationId xmlns:a16="http://schemas.microsoft.com/office/drawing/2014/main" id="{C756DBC3-1F13-7B54-A5D8-152E4667A160}"/>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26680427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BEC9D-8561-7E36-6B95-6A08D126A6F4}"/>
              </a:ext>
            </a:extLst>
          </p:cNvPr>
          <p:cNvSpPr>
            <a:spLocks noGrp="1"/>
          </p:cNvSpPr>
          <p:nvPr>
            <p:ph type="title"/>
          </p:nvPr>
        </p:nvSpPr>
        <p:spPr/>
        <p:txBody>
          <a:bodyPr/>
          <a:lstStyle/>
          <a:p>
            <a:r>
              <a:rPr lang="en-US" dirty="0"/>
              <a:t>Insert Operation</a:t>
            </a:r>
          </a:p>
        </p:txBody>
      </p:sp>
      <p:sp>
        <p:nvSpPr>
          <p:cNvPr id="3" name="Content Placeholder 2">
            <a:extLst>
              <a:ext uri="{FF2B5EF4-FFF2-40B4-BE49-F238E27FC236}">
                <a16:creationId xmlns:a16="http://schemas.microsoft.com/office/drawing/2014/main" id="{4482212C-1590-0C90-98E9-88C0C40F36F9}"/>
              </a:ext>
            </a:extLst>
          </p:cNvPr>
          <p:cNvSpPr>
            <a:spLocks noGrp="1"/>
          </p:cNvSpPr>
          <p:nvPr>
            <p:ph idx="1"/>
          </p:nvPr>
        </p:nvSpPr>
        <p:spPr/>
        <p:txBody>
          <a:bodyPr>
            <a:noAutofit/>
          </a:bodyPr>
          <a:lstStyle/>
          <a:p>
            <a:r>
              <a:rPr lang="en-US" dirty="0"/>
              <a:t>the </a:t>
            </a:r>
            <a:r>
              <a:rPr lang="en-US" b="1" dirty="0"/>
              <a:t>Insert </a:t>
            </a:r>
            <a:r>
              <a:rPr lang="en-US" dirty="0"/>
              <a:t>operation provides a list of attribute values for a new tuple </a:t>
            </a:r>
            <a:r>
              <a:rPr lang="en-US" i="1" dirty="0"/>
              <a:t>t </a:t>
            </a:r>
            <a:r>
              <a:rPr lang="en-US" dirty="0"/>
              <a:t>that is to be inserted into a relation </a:t>
            </a:r>
            <a:r>
              <a:rPr lang="en-US" i="1" dirty="0"/>
              <a:t>R</a:t>
            </a:r>
          </a:p>
          <a:p>
            <a:r>
              <a:rPr lang="en-US" dirty="0"/>
              <a:t>domain constraints can be violated if an attribute value is given that does not appear in corresponding domain or is not of appropriate data type; key constraints can be violated if key value in new tuple </a:t>
            </a:r>
            <a:r>
              <a:rPr lang="en-US" i="1" dirty="0"/>
              <a:t>t </a:t>
            </a:r>
            <a:r>
              <a:rPr lang="en-US" dirty="0"/>
              <a:t>already exists in another tuple in the relation </a:t>
            </a:r>
            <a:r>
              <a:rPr lang="en-US" i="1" dirty="0"/>
              <a:t>r</a:t>
            </a:r>
            <a:r>
              <a:rPr lang="en-US" dirty="0"/>
              <a:t>(</a:t>
            </a:r>
            <a:r>
              <a:rPr lang="en-US" i="1" dirty="0"/>
              <a:t>R</a:t>
            </a:r>
            <a:r>
              <a:rPr lang="en-US" dirty="0"/>
              <a:t>); entity integrity can be violated if any part of primary key of new tuple </a:t>
            </a:r>
            <a:r>
              <a:rPr lang="en-US" i="1" dirty="0"/>
              <a:t>t </a:t>
            </a:r>
            <a:r>
              <a:rPr lang="en-US" dirty="0"/>
              <a:t>is NULL</a:t>
            </a:r>
          </a:p>
          <a:p>
            <a:r>
              <a:rPr lang="en-US" dirty="0"/>
              <a:t>referential integrity can be violated if the value of any foreign key in </a:t>
            </a:r>
            <a:r>
              <a:rPr lang="en-US" i="1" dirty="0"/>
              <a:t>t </a:t>
            </a:r>
            <a:r>
              <a:rPr lang="en-US" dirty="0"/>
              <a:t>refers to a tuple that does not exist in referenced relation</a:t>
            </a:r>
          </a:p>
        </p:txBody>
      </p:sp>
      <p:sp>
        <p:nvSpPr>
          <p:cNvPr id="4" name="Slide Number Placeholder 3">
            <a:extLst>
              <a:ext uri="{FF2B5EF4-FFF2-40B4-BE49-F238E27FC236}">
                <a16:creationId xmlns:a16="http://schemas.microsoft.com/office/drawing/2014/main" id="{EACA664D-3088-FB7E-F582-87FDC45359D1}"/>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32419765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3574A-536D-F4DB-EED5-FB63227AFC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967FBC-B728-5926-C7CF-4808B7E32A47}"/>
              </a:ext>
            </a:extLst>
          </p:cNvPr>
          <p:cNvSpPr>
            <a:spLocks noGrp="1"/>
          </p:cNvSpPr>
          <p:nvPr>
            <p:ph idx="1"/>
          </p:nvPr>
        </p:nvSpPr>
        <p:spPr/>
        <p:txBody>
          <a:bodyPr>
            <a:noAutofit/>
          </a:bodyPr>
          <a:lstStyle/>
          <a:p>
            <a:r>
              <a:rPr lang="en-US" dirty="0"/>
              <a:t>Insert &lt;‘Cecilia’, ‘F’, ‘</a:t>
            </a:r>
            <a:r>
              <a:rPr lang="en-US" dirty="0" err="1"/>
              <a:t>Kolonsky</a:t>
            </a:r>
            <a:r>
              <a:rPr lang="en-US" dirty="0"/>
              <a:t>’, NULL, ‘1960-04-05’, ‘6357 Windy Lane, Katy, TX’, F, 28000, NULL, 4&gt; into EMPLOYEE</a:t>
            </a:r>
          </a:p>
          <a:p>
            <a:pPr lvl="1"/>
            <a:r>
              <a:rPr lang="en-US" dirty="0"/>
              <a:t>insertion violates entity integrity constraint (NULL for primary key </a:t>
            </a:r>
            <a:r>
              <a:rPr lang="en-US" dirty="0" err="1"/>
              <a:t>Ssn</a:t>
            </a:r>
            <a:r>
              <a:rPr lang="en-US" dirty="0"/>
              <a:t>)</a:t>
            </a:r>
          </a:p>
          <a:p>
            <a:pPr lvl="1"/>
            <a:r>
              <a:rPr lang="en-US" dirty="0"/>
              <a:t>rejected</a:t>
            </a:r>
          </a:p>
          <a:p>
            <a:r>
              <a:rPr lang="en-US" dirty="0"/>
              <a:t>Insert &lt;‘Alicia’, ‘J’, ‘Zelaya’, ‘999887777’, ‘1960-04-05’, ‘6357 Windy Lane, Katy, TX’, F, 28000, ‘987654321’, 4&gt; into EMPLOYEE</a:t>
            </a:r>
          </a:p>
          <a:p>
            <a:pPr lvl="1"/>
            <a:r>
              <a:rPr lang="en-US" dirty="0"/>
              <a:t>insertion violates key constraint because another tuple with same </a:t>
            </a:r>
            <a:r>
              <a:rPr lang="en-US" dirty="0" err="1"/>
              <a:t>Ssn</a:t>
            </a:r>
            <a:r>
              <a:rPr lang="en-US" dirty="0"/>
              <a:t> value already exists in the EMPLOYEE relation</a:t>
            </a:r>
          </a:p>
          <a:p>
            <a:pPr lvl="1"/>
            <a:r>
              <a:rPr lang="en-US" dirty="0"/>
              <a:t>rejected.</a:t>
            </a:r>
          </a:p>
          <a:p>
            <a:endParaRPr lang="en-US" dirty="0"/>
          </a:p>
        </p:txBody>
      </p:sp>
      <p:sp>
        <p:nvSpPr>
          <p:cNvPr id="4" name="Slide Number Placeholder 3">
            <a:extLst>
              <a:ext uri="{FF2B5EF4-FFF2-40B4-BE49-F238E27FC236}">
                <a16:creationId xmlns:a16="http://schemas.microsoft.com/office/drawing/2014/main" id="{BDB68D05-B87B-CFF8-0B02-B016E151360F}"/>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9765003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3166A-96A1-DB7A-88E7-C38B3C8C6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4F31A-0F95-C92E-4A40-E6840E1C22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82DECC-A126-5A9D-16A5-527C4230BA6D}"/>
              </a:ext>
            </a:extLst>
          </p:cNvPr>
          <p:cNvSpPr>
            <a:spLocks noGrp="1"/>
          </p:cNvSpPr>
          <p:nvPr>
            <p:ph idx="1"/>
          </p:nvPr>
        </p:nvSpPr>
        <p:spPr/>
        <p:txBody>
          <a:bodyPr>
            <a:noAutofit/>
          </a:bodyPr>
          <a:lstStyle/>
          <a:p>
            <a:r>
              <a:rPr lang="en-US" dirty="0"/>
              <a:t>Insert &lt;‘Cecilia’, ‘F’, ‘</a:t>
            </a:r>
            <a:r>
              <a:rPr lang="en-US" dirty="0" err="1"/>
              <a:t>Kolonsky</a:t>
            </a:r>
            <a:r>
              <a:rPr lang="en-US" dirty="0"/>
              <a:t>’, ‘677678989’, ‘1960-04-05’, ‘6357 Windswept, Katy, TX’, F, 28000, ‘987654321’, 7&gt; into EMPLOYEE</a:t>
            </a:r>
          </a:p>
          <a:p>
            <a:pPr lvl="1"/>
            <a:r>
              <a:rPr lang="en-US" dirty="0"/>
              <a:t>insertion violates referential integrity constraint specified on </a:t>
            </a:r>
            <a:r>
              <a:rPr lang="en-US" dirty="0" err="1"/>
              <a:t>Dno</a:t>
            </a:r>
            <a:r>
              <a:rPr lang="en-US" dirty="0"/>
              <a:t> in EMPLOYEE because no corresponding referenced tuple exists in DEPARTMENT with </a:t>
            </a:r>
            <a:r>
              <a:rPr lang="en-US" dirty="0" err="1"/>
              <a:t>Dnumber</a:t>
            </a:r>
            <a:r>
              <a:rPr lang="en-US" dirty="0"/>
              <a:t> = 7</a:t>
            </a:r>
          </a:p>
          <a:p>
            <a:r>
              <a:rPr lang="en-US" dirty="0"/>
              <a:t>Insert &lt;‘Cecilia’, ‘F’, ‘</a:t>
            </a:r>
            <a:r>
              <a:rPr lang="en-US" dirty="0" err="1"/>
              <a:t>Kolonsky</a:t>
            </a:r>
            <a:r>
              <a:rPr lang="en-US" dirty="0"/>
              <a:t>’, ‘677678989’, ‘1960-04-05’, ‘6357 Windy Lane, Katy, TX’, F, 28000, NULL, 4&gt; into EMPLOYEE</a:t>
            </a:r>
          </a:p>
          <a:p>
            <a:pPr lvl="1"/>
            <a:r>
              <a:rPr lang="en-US" dirty="0"/>
              <a:t>insertion satisfies all constraints, so it is acceptable</a:t>
            </a:r>
          </a:p>
        </p:txBody>
      </p:sp>
      <p:sp>
        <p:nvSpPr>
          <p:cNvPr id="4" name="Slide Number Placeholder 3">
            <a:extLst>
              <a:ext uri="{FF2B5EF4-FFF2-40B4-BE49-F238E27FC236}">
                <a16:creationId xmlns:a16="http://schemas.microsoft.com/office/drawing/2014/main" id="{AA38BCB2-4996-A9E8-467E-43B409B230D5}"/>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35674530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E472F-0626-D152-CBC4-CCC7E9E806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6F8C99-2665-99CF-D344-B1C8DF2FC027}"/>
              </a:ext>
            </a:extLst>
          </p:cNvPr>
          <p:cNvSpPr>
            <a:spLocks noGrp="1"/>
          </p:cNvSpPr>
          <p:nvPr>
            <p:ph idx="1"/>
          </p:nvPr>
        </p:nvSpPr>
        <p:spPr/>
        <p:txBody>
          <a:bodyPr>
            <a:noAutofit/>
          </a:bodyPr>
          <a:lstStyle/>
          <a:p>
            <a:r>
              <a:rPr lang="en-US" dirty="0"/>
              <a:t>if insertion violates one or more constraints, default option is to reject; would be useful if the DBMS could provide a reason to user as to why the insertion was rejected</a:t>
            </a:r>
          </a:p>
          <a:p>
            <a:r>
              <a:rPr lang="en-US" dirty="0"/>
              <a:t>another option is to attempt to correct reason for rejecting insertion, but this is typically not used for violations caused by Insert; rather, it is used more often in correcting violations for Delete and Update</a:t>
            </a:r>
          </a:p>
        </p:txBody>
      </p:sp>
      <p:sp>
        <p:nvSpPr>
          <p:cNvPr id="4" name="Slide Number Placeholder 3">
            <a:extLst>
              <a:ext uri="{FF2B5EF4-FFF2-40B4-BE49-F238E27FC236}">
                <a16:creationId xmlns:a16="http://schemas.microsoft.com/office/drawing/2014/main" id="{07737CB0-4EF0-DD1E-ADB3-0BFABFAD209A}"/>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5417224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81D70-C198-B534-A827-BB2E2CF07039}"/>
              </a:ext>
            </a:extLst>
          </p:cNvPr>
          <p:cNvSpPr>
            <a:spLocks noGrp="1"/>
          </p:cNvSpPr>
          <p:nvPr>
            <p:ph type="title"/>
          </p:nvPr>
        </p:nvSpPr>
        <p:spPr/>
        <p:txBody>
          <a:bodyPr/>
          <a:lstStyle/>
          <a:p>
            <a:r>
              <a:rPr lang="en-US" dirty="0"/>
              <a:t>Delete Operation</a:t>
            </a:r>
          </a:p>
        </p:txBody>
      </p:sp>
      <p:sp>
        <p:nvSpPr>
          <p:cNvPr id="3" name="Content Placeholder 2">
            <a:extLst>
              <a:ext uri="{FF2B5EF4-FFF2-40B4-BE49-F238E27FC236}">
                <a16:creationId xmlns:a16="http://schemas.microsoft.com/office/drawing/2014/main" id="{7C03C43B-E4FA-2665-E774-3BBED20B6988}"/>
              </a:ext>
            </a:extLst>
          </p:cNvPr>
          <p:cNvSpPr>
            <a:spLocks noGrp="1"/>
          </p:cNvSpPr>
          <p:nvPr>
            <p:ph idx="1"/>
          </p:nvPr>
        </p:nvSpPr>
        <p:spPr/>
        <p:txBody>
          <a:bodyPr>
            <a:noAutofit/>
          </a:bodyPr>
          <a:lstStyle/>
          <a:p>
            <a:r>
              <a:rPr lang="en-US" dirty="0"/>
              <a:t>can violate only referential integrity; occurs if the tuple being deleted is referenced by foreign keys from other tuples in database</a:t>
            </a:r>
          </a:p>
        </p:txBody>
      </p:sp>
      <p:sp>
        <p:nvSpPr>
          <p:cNvPr id="4" name="Slide Number Placeholder 3">
            <a:extLst>
              <a:ext uri="{FF2B5EF4-FFF2-40B4-BE49-F238E27FC236}">
                <a16:creationId xmlns:a16="http://schemas.microsoft.com/office/drawing/2014/main" id="{A6E922CF-9C97-C278-6195-83771BD9A95C}"/>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40366742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445F7-A2C8-21B0-D7F3-1A7E5767F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396E54-42EB-4A02-3F35-6AAD25CE0BB0}"/>
              </a:ext>
            </a:extLst>
          </p:cNvPr>
          <p:cNvSpPr>
            <a:spLocks noGrp="1"/>
          </p:cNvSpPr>
          <p:nvPr>
            <p:ph type="title"/>
          </p:nvPr>
        </p:nvSpPr>
        <p:spPr/>
        <p:txBody>
          <a:bodyPr/>
          <a:lstStyle/>
          <a:p>
            <a:r>
              <a:rPr lang="en-US" dirty="0"/>
              <a:t>Delete Operation</a:t>
            </a:r>
          </a:p>
        </p:txBody>
      </p:sp>
      <p:sp>
        <p:nvSpPr>
          <p:cNvPr id="3" name="Content Placeholder 2">
            <a:extLst>
              <a:ext uri="{FF2B5EF4-FFF2-40B4-BE49-F238E27FC236}">
                <a16:creationId xmlns:a16="http://schemas.microsoft.com/office/drawing/2014/main" id="{9079FA3E-027F-0DFB-D49B-ACA360FD46FA}"/>
              </a:ext>
            </a:extLst>
          </p:cNvPr>
          <p:cNvSpPr>
            <a:spLocks noGrp="1"/>
          </p:cNvSpPr>
          <p:nvPr>
            <p:ph idx="1"/>
          </p:nvPr>
        </p:nvSpPr>
        <p:spPr/>
        <p:txBody>
          <a:bodyPr>
            <a:noAutofit/>
          </a:bodyPr>
          <a:lstStyle/>
          <a:p>
            <a:r>
              <a:rPr lang="en-US" dirty="0"/>
              <a:t>Delete the WORKS_ON tuple with </a:t>
            </a:r>
            <a:r>
              <a:rPr lang="en-US" dirty="0" err="1"/>
              <a:t>Essn</a:t>
            </a:r>
            <a:r>
              <a:rPr lang="en-US" dirty="0"/>
              <a:t> = ‘999887777’ and </a:t>
            </a:r>
            <a:r>
              <a:rPr lang="en-US" dirty="0" err="1"/>
              <a:t>Pno</a:t>
            </a:r>
            <a:r>
              <a:rPr lang="en-US" dirty="0"/>
              <a:t> = 10.</a:t>
            </a:r>
          </a:p>
          <a:p>
            <a:pPr lvl="1"/>
            <a:r>
              <a:rPr lang="en-US" dirty="0"/>
              <a:t>deletion is acceptable and deletes exactly one tuple</a:t>
            </a:r>
          </a:p>
          <a:p>
            <a:r>
              <a:rPr lang="en-US" dirty="0"/>
              <a:t>Delete the EMPLOYEE tuple with </a:t>
            </a:r>
            <a:r>
              <a:rPr lang="en-US" dirty="0" err="1"/>
              <a:t>Ssn</a:t>
            </a:r>
            <a:r>
              <a:rPr lang="en-US" dirty="0"/>
              <a:t> = ‘999887777’</a:t>
            </a:r>
          </a:p>
          <a:p>
            <a:pPr lvl="1"/>
            <a:r>
              <a:rPr lang="en-US" dirty="0"/>
              <a:t>deletion is not acceptable, because there are tuples in WORKS_ON that refer to this tuple; if the tuple in EMPLOYEE is deleted, referential integrity violations will result</a:t>
            </a:r>
          </a:p>
          <a:p>
            <a:r>
              <a:rPr lang="en-US" dirty="0"/>
              <a:t>Delete the EMPLOYEE tuple with </a:t>
            </a:r>
            <a:r>
              <a:rPr lang="en-US" dirty="0" err="1"/>
              <a:t>Ssn</a:t>
            </a:r>
            <a:r>
              <a:rPr lang="en-US" dirty="0"/>
              <a:t> = ‘333445555’.</a:t>
            </a:r>
          </a:p>
          <a:p>
            <a:pPr lvl="1"/>
            <a:r>
              <a:rPr lang="en-US" dirty="0"/>
              <a:t>deletion will result in even worse referential integrity violations, because the tuple involved is referenced by tuples from the EMPLOYEE, DEPARTMENT, WORKS_ON, and DEPENDENT relations</a:t>
            </a:r>
          </a:p>
          <a:p>
            <a:pPr lvl="1"/>
            <a:endParaRPr lang="en-US" dirty="0"/>
          </a:p>
        </p:txBody>
      </p:sp>
      <p:sp>
        <p:nvSpPr>
          <p:cNvPr id="4" name="Slide Number Placeholder 3">
            <a:extLst>
              <a:ext uri="{FF2B5EF4-FFF2-40B4-BE49-F238E27FC236}">
                <a16:creationId xmlns:a16="http://schemas.microsoft.com/office/drawing/2014/main" id="{55551FAC-02BE-BB08-C21B-2E3C9BBA7D21}"/>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7934212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7E02A-8F11-A051-F6CD-67DA0157FF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253CA4-4808-04BE-894F-35A806D7A2B6}"/>
              </a:ext>
            </a:extLst>
          </p:cNvPr>
          <p:cNvSpPr>
            <a:spLocks noGrp="1"/>
          </p:cNvSpPr>
          <p:nvPr>
            <p:ph idx="1"/>
          </p:nvPr>
        </p:nvSpPr>
        <p:spPr/>
        <p:txBody>
          <a:bodyPr>
            <a:noAutofit/>
          </a:bodyPr>
          <a:lstStyle/>
          <a:p>
            <a:r>
              <a:rPr lang="en-US" dirty="0"/>
              <a:t>several options are available if a deletion operation causes a violation</a:t>
            </a:r>
          </a:p>
          <a:p>
            <a:r>
              <a:rPr lang="en-US" b="1" dirty="0"/>
              <a:t>restrict, </a:t>
            </a:r>
            <a:r>
              <a:rPr lang="en-US" dirty="0"/>
              <a:t>is to </a:t>
            </a:r>
            <a:r>
              <a:rPr lang="en-US" i="1" dirty="0"/>
              <a:t>reject the deletion</a:t>
            </a:r>
          </a:p>
          <a:p>
            <a:r>
              <a:rPr lang="en-US" b="1" dirty="0"/>
              <a:t>cascade, </a:t>
            </a:r>
            <a:r>
              <a:rPr lang="en-US" dirty="0"/>
              <a:t>is to </a:t>
            </a:r>
            <a:r>
              <a:rPr lang="en-US" i="1" dirty="0"/>
              <a:t>attempt to cascade (or propagate) the deletion </a:t>
            </a:r>
            <a:r>
              <a:rPr lang="en-US" dirty="0"/>
              <a:t>by deleting tuples that reference the tuple that is being deleted</a:t>
            </a:r>
          </a:p>
          <a:p>
            <a:r>
              <a:rPr lang="en-US" b="1" dirty="0"/>
              <a:t>set null </a:t>
            </a:r>
            <a:r>
              <a:rPr lang="en-US" dirty="0"/>
              <a:t>or </a:t>
            </a:r>
            <a:r>
              <a:rPr lang="en-US" b="1" dirty="0"/>
              <a:t>set default, </a:t>
            </a:r>
            <a:r>
              <a:rPr lang="en-US" dirty="0"/>
              <a:t>is to </a:t>
            </a:r>
            <a:r>
              <a:rPr lang="en-US" i="1" dirty="0"/>
              <a:t>modify the referencing attribute values </a:t>
            </a:r>
            <a:r>
              <a:rPr lang="en-US" dirty="0"/>
              <a:t>that cause the violation; each such value is either set to NULL or changed to reference another default valid tuple</a:t>
            </a:r>
          </a:p>
        </p:txBody>
      </p:sp>
      <p:sp>
        <p:nvSpPr>
          <p:cNvPr id="4" name="Slide Number Placeholder 3">
            <a:extLst>
              <a:ext uri="{FF2B5EF4-FFF2-40B4-BE49-F238E27FC236}">
                <a16:creationId xmlns:a16="http://schemas.microsoft.com/office/drawing/2014/main" id="{2DB0F135-6833-C0DF-223D-E37F56E46011}"/>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3758767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02E98-43B0-3AF7-2D38-E4970E6A05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4C60DC-7078-AD0D-BD9A-1FD77DBD1BF0}"/>
              </a:ext>
            </a:extLst>
          </p:cNvPr>
          <p:cNvSpPr>
            <a:spLocks noGrp="1"/>
          </p:cNvSpPr>
          <p:nvPr>
            <p:ph idx="1"/>
          </p:nvPr>
        </p:nvSpPr>
        <p:spPr/>
        <p:txBody>
          <a:bodyPr>
            <a:noAutofit/>
          </a:bodyPr>
          <a:lstStyle/>
          <a:p>
            <a:r>
              <a:rPr lang="en-US" dirty="0"/>
              <a:t>when referential integrity constraint is specified in DDL, the DBMS will allow the database designer to </a:t>
            </a:r>
            <a:r>
              <a:rPr lang="en-US" i="1" dirty="0"/>
              <a:t>specify which of the options </a:t>
            </a:r>
            <a:r>
              <a:rPr lang="en-US" dirty="0"/>
              <a:t>applies in case of a violation of the constraint</a:t>
            </a:r>
          </a:p>
        </p:txBody>
      </p:sp>
      <p:sp>
        <p:nvSpPr>
          <p:cNvPr id="4" name="Slide Number Placeholder 3">
            <a:extLst>
              <a:ext uri="{FF2B5EF4-FFF2-40B4-BE49-F238E27FC236}">
                <a16:creationId xmlns:a16="http://schemas.microsoft.com/office/drawing/2014/main" id="{BEF4B378-0CEE-8F79-77FA-0F203F74504C}"/>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15276642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8D56-FFE6-3153-4E5D-269958ADD8C5}"/>
              </a:ext>
            </a:extLst>
          </p:cNvPr>
          <p:cNvSpPr>
            <a:spLocks noGrp="1"/>
          </p:cNvSpPr>
          <p:nvPr>
            <p:ph type="title"/>
          </p:nvPr>
        </p:nvSpPr>
        <p:spPr/>
        <p:txBody>
          <a:bodyPr/>
          <a:lstStyle/>
          <a:p>
            <a:r>
              <a:rPr lang="en-US" dirty="0"/>
              <a:t>Update Operation</a:t>
            </a:r>
          </a:p>
        </p:txBody>
      </p:sp>
      <p:sp>
        <p:nvSpPr>
          <p:cNvPr id="3" name="Content Placeholder 2">
            <a:extLst>
              <a:ext uri="{FF2B5EF4-FFF2-40B4-BE49-F238E27FC236}">
                <a16:creationId xmlns:a16="http://schemas.microsoft.com/office/drawing/2014/main" id="{4AF0C6CC-CEA4-4FDC-C06E-CB89DEAE63B5}"/>
              </a:ext>
            </a:extLst>
          </p:cNvPr>
          <p:cNvSpPr>
            <a:spLocks noGrp="1"/>
          </p:cNvSpPr>
          <p:nvPr>
            <p:ph idx="1"/>
          </p:nvPr>
        </p:nvSpPr>
        <p:spPr/>
        <p:txBody>
          <a:bodyPr>
            <a:noAutofit/>
          </a:bodyPr>
          <a:lstStyle/>
          <a:p>
            <a:r>
              <a:rPr lang="en-US" dirty="0"/>
              <a:t>(or </a:t>
            </a:r>
            <a:r>
              <a:rPr lang="en-US" b="1" dirty="0"/>
              <a:t>Modify</a:t>
            </a:r>
            <a:r>
              <a:rPr lang="en-US" dirty="0"/>
              <a:t>) operation is used to change values of one or more attributes in a tuple (or tuples) of some relation </a:t>
            </a:r>
            <a:r>
              <a:rPr lang="en-US" i="1" dirty="0"/>
              <a:t>R</a:t>
            </a:r>
          </a:p>
          <a:p>
            <a:r>
              <a:rPr lang="en-US" dirty="0"/>
              <a:t>necessary to specify condition on attributes of relation to select tuple (or tuples) to be modified</a:t>
            </a:r>
          </a:p>
        </p:txBody>
      </p:sp>
      <p:sp>
        <p:nvSpPr>
          <p:cNvPr id="4" name="Slide Number Placeholder 3">
            <a:extLst>
              <a:ext uri="{FF2B5EF4-FFF2-40B4-BE49-F238E27FC236}">
                <a16:creationId xmlns:a16="http://schemas.microsoft.com/office/drawing/2014/main" id="{85D0680B-4337-4C65-00C1-8E47EB713585}"/>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32909486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4513A-8059-1FD7-CEE0-95F05BBBADE2}"/>
              </a:ext>
            </a:extLst>
          </p:cNvPr>
          <p:cNvSpPr>
            <a:spLocks noGrp="1"/>
          </p:cNvSpPr>
          <p:nvPr>
            <p:ph type="title"/>
          </p:nvPr>
        </p:nvSpPr>
        <p:spPr>
          <a:xfrm flipV="1">
            <a:off x="838200" y="319406"/>
            <a:ext cx="10515600" cy="4571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C2B74160-2F77-A03A-6F91-0862765F8885}"/>
              </a:ext>
            </a:extLst>
          </p:cNvPr>
          <p:cNvSpPr>
            <a:spLocks noGrp="1"/>
          </p:cNvSpPr>
          <p:nvPr>
            <p:ph idx="1"/>
          </p:nvPr>
        </p:nvSpPr>
        <p:spPr>
          <a:xfrm>
            <a:off x="838200" y="674984"/>
            <a:ext cx="10515600" cy="5501979"/>
          </a:xfrm>
        </p:spPr>
        <p:txBody>
          <a:bodyPr>
            <a:noAutofit/>
          </a:bodyPr>
          <a:lstStyle/>
          <a:p>
            <a:r>
              <a:rPr lang="en-US" dirty="0"/>
              <a:t>Update the salary of the EMPLOYEE tuple with </a:t>
            </a:r>
            <a:r>
              <a:rPr lang="en-US" dirty="0" err="1"/>
              <a:t>Ssn</a:t>
            </a:r>
            <a:r>
              <a:rPr lang="en-US" dirty="0"/>
              <a:t> = ‘999887777’ to 28000.</a:t>
            </a:r>
          </a:p>
          <a:p>
            <a:pPr lvl="1"/>
            <a:r>
              <a:rPr lang="en-US" dirty="0"/>
              <a:t>Acceptable</a:t>
            </a:r>
          </a:p>
          <a:p>
            <a:r>
              <a:rPr lang="en-US" dirty="0"/>
              <a:t>Update the </a:t>
            </a:r>
            <a:r>
              <a:rPr lang="en-US" dirty="0" err="1"/>
              <a:t>Dno</a:t>
            </a:r>
            <a:r>
              <a:rPr lang="en-US" dirty="0"/>
              <a:t> of the EMPLOYEE tuple with </a:t>
            </a:r>
            <a:r>
              <a:rPr lang="en-US" dirty="0" err="1"/>
              <a:t>Ssn</a:t>
            </a:r>
            <a:r>
              <a:rPr lang="en-US" dirty="0"/>
              <a:t> = ‘999887777’ to 1.</a:t>
            </a:r>
          </a:p>
          <a:p>
            <a:pPr lvl="1"/>
            <a:r>
              <a:rPr lang="en-US" dirty="0"/>
              <a:t>Acceptable</a:t>
            </a:r>
          </a:p>
          <a:p>
            <a:r>
              <a:rPr lang="en-US" dirty="0"/>
              <a:t>Update the </a:t>
            </a:r>
            <a:r>
              <a:rPr lang="en-US" dirty="0" err="1"/>
              <a:t>Dno</a:t>
            </a:r>
            <a:r>
              <a:rPr lang="en-US" dirty="0"/>
              <a:t> of the EMPLOYEE tuple with </a:t>
            </a:r>
            <a:r>
              <a:rPr lang="en-US" dirty="0" err="1"/>
              <a:t>Ssn</a:t>
            </a:r>
            <a:r>
              <a:rPr lang="en-US" dirty="0"/>
              <a:t> = ‘999887777’ to 7.</a:t>
            </a:r>
          </a:p>
          <a:p>
            <a:pPr lvl="1"/>
            <a:r>
              <a:rPr lang="en-US" dirty="0"/>
              <a:t>Unacceptable, because it violates referential integrity</a:t>
            </a:r>
          </a:p>
          <a:p>
            <a:r>
              <a:rPr lang="en-US" dirty="0"/>
              <a:t>Update the </a:t>
            </a:r>
            <a:r>
              <a:rPr lang="en-US" dirty="0" err="1"/>
              <a:t>Ssn</a:t>
            </a:r>
            <a:r>
              <a:rPr lang="en-US" dirty="0"/>
              <a:t> of the EMPLOYEE tuple with </a:t>
            </a:r>
            <a:r>
              <a:rPr lang="en-US" dirty="0" err="1"/>
              <a:t>Ssn</a:t>
            </a:r>
            <a:r>
              <a:rPr lang="en-US" dirty="0"/>
              <a:t> = ‘999887777’ to ‘987654321’.</a:t>
            </a:r>
          </a:p>
          <a:p>
            <a:pPr lvl="1"/>
            <a:r>
              <a:rPr lang="en-US" dirty="0"/>
              <a:t>Unacceptable, because it violates primary key constraint by repeating value that already exists as primary key in another tuple; it violates referential integrity constraints because there are other relations that refer to existing value of </a:t>
            </a:r>
            <a:r>
              <a:rPr lang="en-US" dirty="0" err="1"/>
              <a:t>Ssn</a:t>
            </a:r>
            <a:endParaRPr lang="en-US" dirty="0"/>
          </a:p>
        </p:txBody>
      </p:sp>
      <p:sp>
        <p:nvSpPr>
          <p:cNvPr id="4" name="Slide Number Placeholder 3">
            <a:extLst>
              <a:ext uri="{FF2B5EF4-FFF2-40B4-BE49-F238E27FC236}">
                <a16:creationId xmlns:a16="http://schemas.microsoft.com/office/drawing/2014/main" id="{BFDDDE9E-1193-A13B-395A-4CE45F9B6194}"/>
              </a:ext>
            </a:extLst>
          </p:cNvPr>
          <p:cNvSpPr>
            <a:spLocks noGrp="1"/>
          </p:cNvSpPr>
          <p:nvPr>
            <p:ph type="sldNum" sz="quarter" idx="12"/>
          </p:nvPr>
        </p:nvSpPr>
        <p:spPr/>
        <p:txBody>
          <a:bodyPr/>
          <a:lstStyle/>
          <a:p>
            <a:fld id="{6264BDCF-5269-49AC-A246-ED26C2B980E3}" type="slidenum">
              <a:rPr lang="en-US" smtClean="0"/>
              <a:t>75</a:t>
            </a:fld>
            <a:endParaRPr lang="en-US"/>
          </a:p>
        </p:txBody>
      </p:sp>
    </p:spTree>
    <p:extLst>
      <p:ext uri="{BB962C8B-B14F-4D97-AF65-F5344CB8AC3E}">
        <p14:creationId xmlns:p14="http://schemas.microsoft.com/office/powerpoint/2010/main" val="3526326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4660A-3821-F32C-7A19-9BC7D007F3C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FD26416-0CCD-8739-17DB-ECB14F11A0D9}"/>
              </a:ext>
            </a:extLst>
          </p:cNvPr>
          <p:cNvSpPr>
            <a:spLocks noGrp="1"/>
          </p:cNvSpPr>
          <p:nvPr>
            <p:ph idx="1"/>
          </p:nvPr>
        </p:nvSpPr>
        <p:spPr/>
        <p:txBody>
          <a:bodyPr>
            <a:noAutofit/>
          </a:bodyPr>
          <a:lstStyle/>
          <a:p>
            <a:r>
              <a:rPr lang="en-US" dirty="0"/>
              <a:t>updating attribute that is neither part of primary key nor part of foreign key usually causes no problems; the DBMS need only check to confirm that new value is of the correct data type and domain</a:t>
            </a:r>
          </a:p>
          <a:p>
            <a:r>
              <a:rPr lang="en-US" dirty="0"/>
              <a:t>modifying a primary key value is similar to deleting one tuple and inserting another in its place because we use primary key to identify tuples</a:t>
            </a:r>
          </a:p>
          <a:p>
            <a:r>
              <a:rPr lang="en-US" dirty="0"/>
              <a:t>DBMS must make sure that new value refers to existing tuple in referenced relation (or is set to NULL)</a:t>
            </a:r>
          </a:p>
        </p:txBody>
      </p:sp>
      <p:sp>
        <p:nvSpPr>
          <p:cNvPr id="4" name="Slide Number Placeholder 3">
            <a:extLst>
              <a:ext uri="{FF2B5EF4-FFF2-40B4-BE49-F238E27FC236}">
                <a16:creationId xmlns:a16="http://schemas.microsoft.com/office/drawing/2014/main" id="{90BD5A51-50FD-9D4C-9BF4-1D60FE32E2ED}"/>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5534734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FC6F1-A33B-CB8E-3623-99DA344B1AB5}"/>
              </a:ext>
            </a:extLst>
          </p:cNvPr>
          <p:cNvSpPr>
            <a:spLocks noGrp="1"/>
          </p:cNvSpPr>
          <p:nvPr>
            <p:ph type="title"/>
          </p:nvPr>
        </p:nvSpPr>
        <p:spPr/>
        <p:txBody>
          <a:bodyPr/>
          <a:lstStyle/>
          <a:p>
            <a:r>
              <a:rPr lang="en-US" dirty="0"/>
              <a:t>Transaction Concept</a:t>
            </a:r>
          </a:p>
        </p:txBody>
      </p:sp>
      <p:sp>
        <p:nvSpPr>
          <p:cNvPr id="3" name="Content Placeholder 2">
            <a:extLst>
              <a:ext uri="{FF2B5EF4-FFF2-40B4-BE49-F238E27FC236}">
                <a16:creationId xmlns:a16="http://schemas.microsoft.com/office/drawing/2014/main" id="{55C8983E-1DA9-9C39-61A2-54DB7BB06F22}"/>
              </a:ext>
            </a:extLst>
          </p:cNvPr>
          <p:cNvSpPr>
            <a:spLocks noGrp="1"/>
          </p:cNvSpPr>
          <p:nvPr>
            <p:ph idx="1"/>
          </p:nvPr>
        </p:nvSpPr>
        <p:spPr>
          <a:xfrm>
            <a:off x="838200" y="1855122"/>
            <a:ext cx="10515600" cy="4351338"/>
          </a:xfrm>
        </p:spPr>
        <p:txBody>
          <a:bodyPr>
            <a:noAutofit/>
          </a:bodyPr>
          <a:lstStyle/>
          <a:p>
            <a:r>
              <a:rPr lang="en-US" dirty="0"/>
              <a:t>a </a:t>
            </a:r>
            <a:r>
              <a:rPr lang="en-US" b="1" dirty="0"/>
              <a:t>transaction </a:t>
            </a:r>
            <a:r>
              <a:rPr lang="en-US" dirty="0"/>
              <a:t>is an executing program that includes some database operations, such as reading from database, or applying insertions, deletions, or updates to the database</a:t>
            </a:r>
          </a:p>
          <a:p>
            <a:r>
              <a:rPr lang="en-US" dirty="0"/>
              <a:t>at the end of transaction, it must leave database in a valid or consistent state that satisfies all constraints specified on database schema</a:t>
            </a:r>
          </a:p>
          <a:p>
            <a:r>
              <a:rPr lang="en-US" dirty="0"/>
              <a:t>retrievals and updates will together form an atomic unit of work </a:t>
            </a:r>
            <a:r>
              <a:rPr lang="en-US"/>
              <a:t>against database</a:t>
            </a:r>
            <a:endParaRPr lang="en-US" dirty="0"/>
          </a:p>
        </p:txBody>
      </p:sp>
      <p:sp>
        <p:nvSpPr>
          <p:cNvPr id="4" name="Slide Number Placeholder 3">
            <a:extLst>
              <a:ext uri="{FF2B5EF4-FFF2-40B4-BE49-F238E27FC236}">
                <a16:creationId xmlns:a16="http://schemas.microsoft.com/office/drawing/2014/main" id="{CA832FA9-1C42-7818-D038-A6206020119F}"/>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16641978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C510D-9F81-CC68-B731-B3892AED41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88E9DA0-E280-9ACB-8620-1E84F5E32401}"/>
              </a:ext>
            </a:extLst>
          </p:cNvPr>
          <p:cNvSpPr>
            <a:spLocks noGrp="1"/>
          </p:cNvSpPr>
          <p:nvPr>
            <p:ph type="title"/>
          </p:nvPr>
        </p:nvSpPr>
        <p:spPr/>
        <p:txBody>
          <a:bodyPr/>
          <a:lstStyle/>
          <a:p>
            <a:r>
              <a:rPr lang="en-US" b="1" dirty="0"/>
              <a:t>Structured Query Language</a:t>
            </a:r>
            <a:endParaRPr lang="en-US" dirty="0"/>
          </a:p>
        </p:txBody>
      </p:sp>
      <p:sp>
        <p:nvSpPr>
          <p:cNvPr id="6" name="Text Placeholder 5">
            <a:extLst>
              <a:ext uri="{FF2B5EF4-FFF2-40B4-BE49-F238E27FC236}">
                <a16:creationId xmlns:a16="http://schemas.microsoft.com/office/drawing/2014/main" id="{A09EE2CA-04BD-B465-7E4F-299BD2055A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44F6EB-90D5-CB1A-F0C2-4FBB13D1C78D}"/>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28288779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6BFFF0-19AA-ACB1-7D34-1C83E3D77C16}"/>
              </a:ext>
            </a:extLst>
          </p:cNvPr>
          <p:cNvSpPr>
            <a:spLocks noGrp="1"/>
          </p:cNvSpPr>
          <p:nvPr>
            <p:ph type="title"/>
          </p:nvPr>
        </p:nvSpPr>
        <p:spPr/>
        <p:txBody>
          <a:bodyPr/>
          <a:lstStyle/>
          <a:p>
            <a:r>
              <a:rPr lang="en-US" dirty="0"/>
              <a:t>Structured Query Language</a:t>
            </a:r>
          </a:p>
        </p:txBody>
      </p:sp>
      <p:sp>
        <p:nvSpPr>
          <p:cNvPr id="6" name="Content Placeholder 5">
            <a:extLst>
              <a:ext uri="{FF2B5EF4-FFF2-40B4-BE49-F238E27FC236}">
                <a16:creationId xmlns:a16="http://schemas.microsoft.com/office/drawing/2014/main" id="{A5B8B176-2F5D-C060-6F04-3EC4D34969F0}"/>
              </a:ext>
            </a:extLst>
          </p:cNvPr>
          <p:cNvSpPr>
            <a:spLocks noGrp="1"/>
          </p:cNvSpPr>
          <p:nvPr>
            <p:ph idx="1"/>
          </p:nvPr>
        </p:nvSpPr>
        <p:spPr/>
        <p:txBody>
          <a:bodyPr>
            <a:noAutofit/>
          </a:bodyPr>
          <a:lstStyle/>
          <a:p>
            <a:r>
              <a:rPr lang="en-US" dirty="0"/>
              <a:t>major reasons for commercial success of relational databases</a:t>
            </a:r>
          </a:p>
          <a:p>
            <a:r>
              <a:rPr lang="en-US" dirty="0"/>
              <a:t>a standard for relational databases, users were less concerned about migrating their database applications from other types of database systems; converting to another relational DBMS product was not expected to be too expensive and time-consuming because both systems followed the same language standards</a:t>
            </a:r>
          </a:p>
          <a:p>
            <a:r>
              <a:rPr lang="en-US" sz="2700" dirty="0"/>
              <a:t>in practice, of course, there are differences among various commercial relational DBMS </a:t>
            </a:r>
          </a:p>
          <a:p>
            <a:r>
              <a:rPr lang="en-US" sz="2700" dirty="0"/>
              <a:t>if user is diligent in using only those features that are part of standard, and if two relational DBMSs faithfully support standard, then conversion between two systems should be simplified</a:t>
            </a:r>
          </a:p>
        </p:txBody>
      </p:sp>
      <p:sp>
        <p:nvSpPr>
          <p:cNvPr id="4" name="Slide Number Placeholder 3">
            <a:extLst>
              <a:ext uri="{FF2B5EF4-FFF2-40B4-BE49-F238E27FC236}">
                <a16:creationId xmlns:a16="http://schemas.microsoft.com/office/drawing/2014/main" id="{FEE403EA-14DF-0272-B07B-1AAA33BCD79A}"/>
              </a:ext>
            </a:extLst>
          </p:cNvPr>
          <p:cNvSpPr>
            <a:spLocks noGrp="1"/>
          </p:cNvSpPr>
          <p:nvPr>
            <p:ph type="sldNum" sz="quarter" idx="12"/>
          </p:nvPr>
        </p:nvSpPr>
        <p:spPr/>
        <p:txBody>
          <a:bodyPr/>
          <a:lstStyle/>
          <a:p>
            <a:fld id="{6264BDCF-5269-49AC-A246-ED26C2B980E3}" type="slidenum">
              <a:rPr lang="en-US" smtClean="0"/>
              <a:t>79</a:t>
            </a:fld>
            <a:endParaRPr lang="en-US"/>
          </a:p>
        </p:txBody>
      </p:sp>
    </p:spTree>
    <p:extLst>
      <p:ext uri="{BB962C8B-B14F-4D97-AF65-F5344CB8AC3E}">
        <p14:creationId xmlns:p14="http://schemas.microsoft.com/office/powerpoint/2010/main" val="41543076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F443-1E5B-B5C3-A0D1-650177E804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3C99F1-A611-8426-FC10-E546E9D259F8}"/>
              </a:ext>
            </a:extLst>
          </p:cNvPr>
          <p:cNvSpPr>
            <a:spLocks noGrp="1"/>
          </p:cNvSpPr>
          <p:nvPr>
            <p:ph idx="1"/>
          </p:nvPr>
        </p:nvSpPr>
        <p:spPr/>
        <p:txBody>
          <a:bodyPr>
            <a:normAutofit/>
          </a:bodyPr>
          <a:lstStyle/>
          <a:p>
            <a:r>
              <a:rPr lang="en-US" dirty="0"/>
              <a:t>SQL uses the terms </a:t>
            </a:r>
            <a:r>
              <a:rPr lang="en-US" b="1" dirty="0"/>
              <a:t>table</a:t>
            </a:r>
            <a:r>
              <a:rPr lang="en-US" dirty="0"/>
              <a:t>, </a:t>
            </a:r>
            <a:r>
              <a:rPr lang="en-US" b="1" dirty="0"/>
              <a:t>row</a:t>
            </a:r>
            <a:r>
              <a:rPr lang="en-US" dirty="0"/>
              <a:t>, and </a:t>
            </a:r>
            <a:r>
              <a:rPr lang="en-US" b="1" dirty="0"/>
              <a:t>column </a:t>
            </a:r>
            <a:r>
              <a:rPr lang="en-US" dirty="0"/>
              <a:t>for formal relational model terms </a:t>
            </a:r>
            <a:r>
              <a:rPr lang="en-US" i="1" dirty="0"/>
              <a:t>relation</a:t>
            </a:r>
            <a:r>
              <a:rPr lang="en-US" dirty="0"/>
              <a:t>, </a:t>
            </a:r>
            <a:r>
              <a:rPr lang="en-US" i="1" dirty="0"/>
              <a:t>tuple</a:t>
            </a:r>
            <a:r>
              <a:rPr lang="en-US" dirty="0"/>
              <a:t>, and </a:t>
            </a:r>
            <a:r>
              <a:rPr lang="en-US" i="1" dirty="0"/>
              <a:t>attribute</a:t>
            </a:r>
            <a:r>
              <a:rPr lang="en-US" dirty="0"/>
              <a:t>, respectively</a:t>
            </a:r>
          </a:p>
          <a:p>
            <a:r>
              <a:rPr lang="en-US" dirty="0"/>
              <a:t>main SQL command for data definition is the CREATE statement, which can be used to create schemas, tables (relations), types, and domains, as well as other constructs such as views, assertions, and triggers</a:t>
            </a:r>
          </a:p>
        </p:txBody>
      </p:sp>
      <p:sp>
        <p:nvSpPr>
          <p:cNvPr id="4" name="Slide Number Placeholder 3">
            <a:extLst>
              <a:ext uri="{FF2B5EF4-FFF2-40B4-BE49-F238E27FC236}">
                <a16:creationId xmlns:a16="http://schemas.microsoft.com/office/drawing/2014/main" id="{77DFA1DA-4334-BE47-82E8-59068CCBC465}"/>
              </a:ext>
            </a:extLst>
          </p:cNvPr>
          <p:cNvSpPr>
            <a:spLocks noGrp="1"/>
          </p:cNvSpPr>
          <p:nvPr>
            <p:ph type="sldNum" sz="quarter" idx="12"/>
          </p:nvPr>
        </p:nvSpPr>
        <p:spPr/>
        <p:txBody>
          <a:bodyPr/>
          <a:lstStyle/>
          <a:p>
            <a:fld id="{6264BDCF-5269-49AC-A246-ED26C2B980E3}" type="slidenum">
              <a:rPr lang="en-US" smtClean="0"/>
              <a:t>80</a:t>
            </a:fld>
            <a:endParaRPr lang="en-US"/>
          </a:p>
        </p:txBody>
      </p:sp>
    </p:spTree>
    <p:extLst>
      <p:ext uri="{BB962C8B-B14F-4D97-AF65-F5344CB8AC3E}">
        <p14:creationId xmlns:p14="http://schemas.microsoft.com/office/powerpoint/2010/main" val="30102264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8810-C78B-DC5A-AF79-4F3729BE997E}"/>
              </a:ext>
            </a:extLst>
          </p:cNvPr>
          <p:cNvSpPr>
            <a:spLocks noGrp="1"/>
          </p:cNvSpPr>
          <p:nvPr>
            <p:ph type="title"/>
          </p:nvPr>
        </p:nvSpPr>
        <p:spPr/>
        <p:txBody>
          <a:bodyPr/>
          <a:lstStyle/>
          <a:p>
            <a:r>
              <a:rPr lang="en-US" dirty="0"/>
              <a:t>One Database server</a:t>
            </a:r>
            <a:br>
              <a:rPr lang="en-US" dirty="0"/>
            </a:br>
            <a:r>
              <a:rPr lang="en-US" dirty="0"/>
              <a:t>Many Databases</a:t>
            </a:r>
          </a:p>
        </p:txBody>
      </p:sp>
      <p:sp>
        <p:nvSpPr>
          <p:cNvPr id="3" name="Content Placeholder 2">
            <a:extLst>
              <a:ext uri="{FF2B5EF4-FFF2-40B4-BE49-F238E27FC236}">
                <a16:creationId xmlns:a16="http://schemas.microsoft.com/office/drawing/2014/main" id="{F36F79BA-76BF-10A4-9DD3-8D9205088F45}"/>
              </a:ext>
            </a:extLst>
          </p:cNvPr>
          <p:cNvSpPr>
            <a:spLocks noGrp="1"/>
          </p:cNvSpPr>
          <p:nvPr>
            <p:ph idx="1"/>
          </p:nvPr>
        </p:nvSpPr>
        <p:spPr/>
        <p:txBody>
          <a:bodyPr>
            <a:normAutofit/>
          </a:bodyPr>
          <a:lstStyle/>
          <a:p>
            <a:r>
              <a:rPr lang="en-US" dirty="0"/>
              <a:t>Database is a container: unique objects names</a:t>
            </a:r>
          </a:p>
          <a:p>
            <a:endParaRPr lang="en-US" dirty="0"/>
          </a:p>
          <a:p>
            <a:r>
              <a:rPr lang="en-US" dirty="0"/>
              <a:t>One Database</a:t>
            </a:r>
          </a:p>
          <a:p>
            <a:r>
              <a:rPr lang="en-US" dirty="0"/>
              <a:t>Many Schemas</a:t>
            </a:r>
          </a:p>
          <a:p>
            <a:pPr lvl="5"/>
            <a:r>
              <a:rPr lang="en-US" sz="2800" dirty="0"/>
              <a:t>unique objects names</a:t>
            </a:r>
          </a:p>
        </p:txBody>
      </p:sp>
      <p:sp>
        <p:nvSpPr>
          <p:cNvPr id="4" name="Slide Number Placeholder 3">
            <a:extLst>
              <a:ext uri="{FF2B5EF4-FFF2-40B4-BE49-F238E27FC236}">
                <a16:creationId xmlns:a16="http://schemas.microsoft.com/office/drawing/2014/main" id="{D4549E43-3799-43F9-E422-2B9558E3B90E}"/>
              </a:ext>
            </a:extLst>
          </p:cNvPr>
          <p:cNvSpPr>
            <a:spLocks noGrp="1"/>
          </p:cNvSpPr>
          <p:nvPr>
            <p:ph type="sldNum" sz="quarter" idx="12"/>
          </p:nvPr>
        </p:nvSpPr>
        <p:spPr/>
        <p:txBody>
          <a:bodyPr/>
          <a:lstStyle/>
          <a:p>
            <a:fld id="{6264BDCF-5269-49AC-A246-ED26C2B980E3}" type="slidenum">
              <a:rPr lang="en-US" smtClean="0"/>
              <a:t>81</a:t>
            </a:fld>
            <a:endParaRPr lang="en-US"/>
          </a:p>
        </p:txBody>
      </p:sp>
    </p:spTree>
    <p:extLst>
      <p:ext uri="{BB962C8B-B14F-4D97-AF65-F5344CB8AC3E}">
        <p14:creationId xmlns:p14="http://schemas.microsoft.com/office/powerpoint/2010/main" val="2200112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D9E16-73B4-F9D2-43F9-40550DCEC9AC}"/>
              </a:ext>
            </a:extLst>
          </p:cNvPr>
          <p:cNvSpPr>
            <a:spLocks noGrp="1"/>
          </p:cNvSpPr>
          <p:nvPr>
            <p:ph type="title"/>
          </p:nvPr>
        </p:nvSpPr>
        <p:spPr/>
        <p:txBody>
          <a:bodyPr/>
          <a:lstStyle/>
          <a:p>
            <a:r>
              <a:rPr lang="en-US" dirty="0"/>
              <a:t>Schema</a:t>
            </a:r>
          </a:p>
        </p:txBody>
      </p:sp>
      <p:sp>
        <p:nvSpPr>
          <p:cNvPr id="3" name="Content Placeholder 2">
            <a:extLst>
              <a:ext uri="{FF2B5EF4-FFF2-40B4-BE49-F238E27FC236}">
                <a16:creationId xmlns:a16="http://schemas.microsoft.com/office/drawing/2014/main" id="{BB6710EF-5A43-1D15-0247-25927C4C3273}"/>
              </a:ext>
            </a:extLst>
          </p:cNvPr>
          <p:cNvSpPr>
            <a:spLocks noGrp="1"/>
          </p:cNvSpPr>
          <p:nvPr>
            <p:ph idx="1"/>
          </p:nvPr>
        </p:nvSpPr>
        <p:spPr/>
        <p:txBody>
          <a:bodyPr>
            <a:normAutofit/>
          </a:bodyPr>
          <a:lstStyle/>
          <a:p>
            <a:r>
              <a:rPr lang="en-US" dirty="0"/>
              <a:t>early versions of SQL did not include the concept of a relational database schema</a:t>
            </a:r>
          </a:p>
          <a:p>
            <a:r>
              <a:rPr lang="en-US" dirty="0"/>
              <a:t>SQLite no schema</a:t>
            </a:r>
          </a:p>
          <a:p>
            <a:r>
              <a:rPr lang="en-US" dirty="0"/>
              <a:t>PostgreSQL schema</a:t>
            </a:r>
          </a:p>
        </p:txBody>
      </p:sp>
      <p:sp>
        <p:nvSpPr>
          <p:cNvPr id="4" name="Slide Number Placeholder 3">
            <a:extLst>
              <a:ext uri="{FF2B5EF4-FFF2-40B4-BE49-F238E27FC236}">
                <a16:creationId xmlns:a16="http://schemas.microsoft.com/office/drawing/2014/main" id="{8A6202A7-6AFE-6738-EECB-6EEC201B5B48}"/>
              </a:ext>
            </a:extLst>
          </p:cNvPr>
          <p:cNvSpPr>
            <a:spLocks noGrp="1"/>
          </p:cNvSpPr>
          <p:nvPr>
            <p:ph type="sldNum" sz="quarter" idx="12"/>
          </p:nvPr>
        </p:nvSpPr>
        <p:spPr/>
        <p:txBody>
          <a:bodyPr/>
          <a:lstStyle/>
          <a:p>
            <a:fld id="{6264BDCF-5269-49AC-A246-ED26C2B980E3}" type="slidenum">
              <a:rPr lang="en-US" smtClean="0"/>
              <a:t>82</a:t>
            </a:fld>
            <a:endParaRPr lang="en-US"/>
          </a:p>
        </p:txBody>
      </p:sp>
    </p:spTree>
    <p:extLst>
      <p:ext uri="{BB962C8B-B14F-4D97-AF65-F5344CB8AC3E}">
        <p14:creationId xmlns:p14="http://schemas.microsoft.com/office/powerpoint/2010/main" val="25245153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94DDE-D6E5-7EA4-18D3-4AD7807DD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19018-634B-F47E-47AD-0FA7D52797C9}"/>
              </a:ext>
            </a:extLst>
          </p:cNvPr>
          <p:cNvSpPr>
            <a:spLocks noGrp="1"/>
          </p:cNvSpPr>
          <p:nvPr>
            <p:ph type="title"/>
          </p:nvPr>
        </p:nvSpPr>
        <p:spPr/>
        <p:txBody>
          <a:bodyPr/>
          <a:lstStyle/>
          <a:p>
            <a:r>
              <a:rPr lang="en-US" dirty="0"/>
              <a:t>Schema</a:t>
            </a:r>
          </a:p>
        </p:txBody>
      </p:sp>
      <p:sp>
        <p:nvSpPr>
          <p:cNvPr id="3" name="Content Placeholder 2">
            <a:extLst>
              <a:ext uri="{FF2B5EF4-FFF2-40B4-BE49-F238E27FC236}">
                <a16:creationId xmlns:a16="http://schemas.microsoft.com/office/drawing/2014/main" id="{0EDDA1D4-FE34-B646-FC63-B53C9EB55675}"/>
              </a:ext>
            </a:extLst>
          </p:cNvPr>
          <p:cNvSpPr>
            <a:spLocks noGrp="1"/>
          </p:cNvSpPr>
          <p:nvPr>
            <p:ph idx="1"/>
          </p:nvPr>
        </p:nvSpPr>
        <p:spPr/>
        <p:txBody>
          <a:bodyPr>
            <a:noAutofit/>
          </a:bodyPr>
          <a:lstStyle/>
          <a:p>
            <a:r>
              <a:rPr lang="en-US" sz="2700" dirty="0"/>
              <a:t>early versions of SQL did not include the concept of a relational database schema; all tables (relations) were considered part of same schema</a:t>
            </a:r>
          </a:p>
          <a:p>
            <a:r>
              <a:rPr lang="en-US" sz="2700" dirty="0"/>
              <a:t>SQL schema incorporated starting with SQL2 in order to group together tables and other constructs that belong to same database application (in some systems, a </a:t>
            </a:r>
            <a:r>
              <a:rPr lang="en-US" sz="2700" i="1" dirty="0"/>
              <a:t>schema </a:t>
            </a:r>
            <a:r>
              <a:rPr lang="en-US" sz="2700" dirty="0"/>
              <a:t>is called a </a:t>
            </a:r>
            <a:r>
              <a:rPr lang="en-US" sz="2700" i="1" dirty="0"/>
              <a:t>database</a:t>
            </a:r>
            <a:r>
              <a:rPr lang="en-US" sz="2700" dirty="0"/>
              <a:t>)</a:t>
            </a:r>
          </a:p>
          <a:p>
            <a:r>
              <a:rPr lang="en-US" sz="2700" b="1" dirty="0"/>
              <a:t>SQL schema </a:t>
            </a:r>
            <a:r>
              <a:rPr lang="en-US" sz="2700" dirty="0"/>
              <a:t>is identified by </a:t>
            </a:r>
            <a:r>
              <a:rPr lang="en-US" sz="2700" b="1" dirty="0"/>
              <a:t>schema name </a:t>
            </a:r>
            <a:r>
              <a:rPr lang="en-US" sz="2700" dirty="0"/>
              <a:t>and includes an authorization identifier</a:t>
            </a:r>
            <a:r>
              <a:rPr lang="en-US" sz="2700" b="1" dirty="0"/>
              <a:t> </a:t>
            </a:r>
            <a:r>
              <a:rPr lang="en-US" sz="2700" dirty="0"/>
              <a:t>to indicate user or account who owns the schema, as well as descriptors for each element in the schema</a:t>
            </a:r>
          </a:p>
          <a:p>
            <a:r>
              <a:rPr lang="en-US" sz="2700" dirty="0"/>
              <a:t>schema </a:t>
            </a:r>
            <a:r>
              <a:rPr lang="en-US" sz="2700" b="1" dirty="0"/>
              <a:t>elements </a:t>
            </a:r>
            <a:r>
              <a:rPr lang="en-US" sz="2700" dirty="0"/>
              <a:t>include tables, types, constraints, views, domains, and other constructs (such as authorization grants) that describe the schema</a:t>
            </a:r>
          </a:p>
        </p:txBody>
      </p:sp>
      <p:sp>
        <p:nvSpPr>
          <p:cNvPr id="4" name="Slide Number Placeholder 3">
            <a:extLst>
              <a:ext uri="{FF2B5EF4-FFF2-40B4-BE49-F238E27FC236}">
                <a16:creationId xmlns:a16="http://schemas.microsoft.com/office/drawing/2014/main" id="{0B564DBE-061C-03E2-E5A6-9FC22EE9E319}"/>
              </a:ext>
            </a:extLst>
          </p:cNvPr>
          <p:cNvSpPr>
            <a:spLocks noGrp="1"/>
          </p:cNvSpPr>
          <p:nvPr>
            <p:ph type="sldNum" sz="quarter" idx="12"/>
          </p:nvPr>
        </p:nvSpPr>
        <p:spPr/>
        <p:txBody>
          <a:bodyPr/>
          <a:lstStyle/>
          <a:p>
            <a:fld id="{6264BDCF-5269-49AC-A246-ED26C2B980E3}" type="slidenum">
              <a:rPr lang="en-US" smtClean="0"/>
              <a:t>83</a:t>
            </a:fld>
            <a:endParaRPr lang="en-US"/>
          </a:p>
        </p:txBody>
      </p:sp>
    </p:spTree>
    <p:extLst>
      <p:ext uri="{BB962C8B-B14F-4D97-AF65-F5344CB8AC3E}">
        <p14:creationId xmlns:p14="http://schemas.microsoft.com/office/powerpoint/2010/main" val="3955932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3AAF5-22A4-9537-EF1B-B6E4CF87E8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7254EB-8F98-E11B-9D9A-7DE02BCCBF2E}"/>
              </a:ext>
            </a:extLst>
          </p:cNvPr>
          <p:cNvSpPr>
            <a:spLocks noGrp="1"/>
          </p:cNvSpPr>
          <p:nvPr>
            <p:ph idx="1"/>
          </p:nvPr>
        </p:nvSpPr>
        <p:spPr/>
        <p:txBody>
          <a:bodyPr/>
          <a:lstStyle/>
          <a:p>
            <a:r>
              <a:rPr lang="en-US" dirty="0"/>
              <a:t>CREATE SCHEMA statement</a:t>
            </a:r>
          </a:p>
          <a:p>
            <a:r>
              <a:rPr lang="en-US" dirty="0"/>
              <a:t>include all the schema elements’ definitions</a:t>
            </a:r>
          </a:p>
          <a:p>
            <a:r>
              <a:rPr lang="en-US" dirty="0"/>
              <a:t>assigned a name and authorization identifier</a:t>
            </a:r>
          </a:p>
          <a:p>
            <a:pPr lvl="1"/>
            <a:r>
              <a:rPr lang="en-US" sz="2800" dirty="0"/>
              <a:t>elements can be defined later</a:t>
            </a:r>
          </a:p>
          <a:p>
            <a:r>
              <a:rPr lang="en-US" b="1" dirty="0"/>
              <a:t>CREATE SCHEMA </a:t>
            </a:r>
            <a:r>
              <a:rPr lang="en-US" dirty="0"/>
              <a:t>COMPANY </a:t>
            </a:r>
            <a:r>
              <a:rPr lang="en-US" b="1" dirty="0"/>
              <a:t>AUTHORIZATION </a:t>
            </a:r>
            <a:r>
              <a:rPr lang="en-US" dirty="0"/>
              <a:t>‘</a:t>
            </a:r>
            <a:r>
              <a:rPr lang="en-US" dirty="0" err="1"/>
              <a:t>JohnSmith</a:t>
            </a:r>
            <a:r>
              <a:rPr lang="en-US" dirty="0"/>
              <a:t>’;</a:t>
            </a:r>
          </a:p>
          <a:p>
            <a:endParaRPr lang="en-US" dirty="0"/>
          </a:p>
        </p:txBody>
      </p:sp>
      <p:sp>
        <p:nvSpPr>
          <p:cNvPr id="4" name="Slide Number Placeholder 3">
            <a:extLst>
              <a:ext uri="{FF2B5EF4-FFF2-40B4-BE49-F238E27FC236}">
                <a16:creationId xmlns:a16="http://schemas.microsoft.com/office/drawing/2014/main" id="{EC3492EF-3375-3352-BA99-8F9B96C0A332}"/>
              </a:ext>
            </a:extLst>
          </p:cNvPr>
          <p:cNvSpPr>
            <a:spLocks noGrp="1"/>
          </p:cNvSpPr>
          <p:nvPr>
            <p:ph type="sldNum" sz="quarter" idx="12"/>
          </p:nvPr>
        </p:nvSpPr>
        <p:spPr/>
        <p:txBody>
          <a:bodyPr/>
          <a:lstStyle/>
          <a:p>
            <a:fld id="{6264BDCF-5269-49AC-A246-ED26C2B980E3}" type="slidenum">
              <a:rPr lang="en-US" smtClean="0"/>
              <a:t>84</a:t>
            </a:fld>
            <a:endParaRPr lang="en-US"/>
          </a:p>
        </p:txBody>
      </p:sp>
    </p:spTree>
    <p:extLst>
      <p:ext uri="{BB962C8B-B14F-4D97-AF65-F5344CB8AC3E}">
        <p14:creationId xmlns:p14="http://schemas.microsoft.com/office/powerpoint/2010/main" val="31475209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E8CB7-D81E-931C-DA07-C4CF654B45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9F59DC-0719-7197-E729-AFCE693EF7D6}"/>
              </a:ext>
            </a:extLst>
          </p:cNvPr>
          <p:cNvSpPr>
            <a:spLocks noGrp="1"/>
          </p:cNvSpPr>
          <p:nvPr>
            <p:ph idx="1"/>
          </p:nvPr>
        </p:nvSpPr>
        <p:spPr/>
        <p:txBody>
          <a:bodyPr/>
          <a:lstStyle/>
          <a:p>
            <a:r>
              <a:rPr lang="en-US" dirty="0"/>
              <a:t>not all users are authorized to create schemas and schema elements</a:t>
            </a:r>
          </a:p>
          <a:p>
            <a:r>
              <a:rPr lang="en-US" dirty="0"/>
              <a:t>privilege to create schemas, tables, and other constructs must be explicitly granted to relevant user accounts by system administrator</a:t>
            </a:r>
          </a:p>
        </p:txBody>
      </p:sp>
      <p:sp>
        <p:nvSpPr>
          <p:cNvPr id="4" name="Slide Number Placeholder 3">
            <a:extLst>
              <a:ext uri="{FF2B5EF4-FFF2-40B4-BE49-F238E27FC236}">
                <a16:creationId xmlns:a16="http://schemas.microsoft.com/office/drawing/2014/main" id="{21ECA90B-8C36-8B93-EF93-0275B2D11CCA}"/>
              </a:ext>
            </a:extLst>
          </p:cNvPr>
          <p:cNvSpPr>
            <a:spLocks noGrp="1"/>
          </p:cNvSpPr>
          <p:nvPr>
            <p:ph type="sldNum" sz="quarter" idx="12"/>
          </p:nvPr>
        </p:nvSpPr>
        <p:spPr/>
        <p:txBody>
          <a:bodyPr/>
          <a:lstStyle/>
          <a:p>
            <a:fld id="{6264BDCF-5269-49AC-A246-ED26C2B980E3}" type="slidenum">
              <a:rPr lang="en-US" smtClean="0"/>
              <a:t>85</a:t>
            </a:fld>
            <a:endParaRPr lang="en-US"/>
          </a:p>
        </p:txBody>
      </p:sp>
    </p:spTree>
    <p:extLst>
      <p:ext uri="{BB962C8B-B14F-4D97-AF65-F5344CB8AC3E}">
        <p14:creationId xmlns:p14="http://schemas.microsoft.com/office/powerpoint/2010/main" val="39563776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CBA6F-002D-A1F8-8AFA-845A75984DE8}"/>
              </a:ext>
            </a:extLst>
          </p:cNvPr>
          <p:cNvSpPr>
            <a:spLocks noGrp="1"/>
          </p:cNvSpPr>
          <p:nvPr>
            <p:ph type="title"/>
          </p:nvPr>
        </p:nvSpPr>
        <p:spPr/>
        <p:txBody>
          <a:bodyPr/>
          <a:lstStyle/>
          <a:p>
            <a:r>
              <a:rPr lang="en-US" dirty="0"/>
              <a:t>Catalog </a:t>
            </a:r>
            <a:br>
              <a:rPr lang="en-US" dirty="0"/>
            </a:br>
            <a:r>
              <a:rPr lang="en-US" dirty="0"/>
              <a:t>Meta Data Catalog</a:t>
            </a:r>
          </a:p>
        </p:txBody>
      </p:sp>
      <p:sp>
        <p:nvSpPr>
          <p:cNvPr id="3" name="Content Placeholder 2">
            <a:extLst>
              <a:ext uri="{FF2B5EF4-FFF2-40B4-BE49-F238E27FC236}">
                <a16:creationId xmlns:a16="http://schemas.microsoft.com/office/drawing/2014/main" id="{7C6C3BCA-4C30-5EE0-739F-9F472628F643}"/>
              </a:ext>
            </a:extLst>
          </p:cNvPr>
          <p:cNvSpPr>
            <a:spLocks noGrp="1"/>
          </p:cNvSpPr>
          <p:nvPr>
            <p:ph idx="1"/>
          </p:nvPr>
        </p:nvSpPr>
        <p:spPr/>
        <p:txBody>
          <a:bodyPr>
            <a:normAutofit/>
          </a:bodyPr>
          <a:lstStyle/>
          <a:p>
            <a:r>
              <a:rPr lang="en-US" dirty="0"/>
              <a:t>collection of schemas</a:t>
            </a:r>
          </a:p>
          <a:p>
            <a:r>
              <a:rPr lang="en-US" dirty="0"/>
              <a:t>database have a default environment and schema, so when a user connects and logs in to that database refer directly to tables and other constructs within that schema without having to specify a particular schema name</a:t>
            </a:r>
          </a:p>
          <a:p>
            <a:r>
              <a:rPr lang="en-US" dirty="0"/>
              <a:t>catalog always contains special schema called INFORMATION_SCHEMA, which provides information on all schemas in catalog and all element in these schemas</a:t>
            </a:r>
          </a:p>
        </p:txBody>
      </p:sp>
      <p:sp>
        <p:nvSpPr>
          <p:cNvPr id="4" name="Slide Number Placeholder 3">
            <a:extLst>
              <a:ext uri="{FF2B5EF4-FFF2-40B4-BE49-F238E27FC236}">
                <a16:creationId xmlns:a16="http://schemas.microsoft.com/office/drawing/2014/main" id="{DE2487A2-C982-AB1B-482D-BA0AB8B37490}"/>
              </a:ext>
            </a:extLst>
          </p:cNvPr>
          <p:cNvSpPr>
            <a:spLocks noGrp="1"/>
          </p:cNvSpPr>
          <p:nvPr>
            <p:ph type="sldNum" sz="quarter" idx="12"/>
          </p:nvPr>
        </p:nvSpPr>
        <p:spPr/>
        <p:txBody>
          <a:bodyPr/>
          <a:lstStyle/>
          <a:p>
            <a:fld id="{6264BDCF-5269-49AC-A246-ED26C2B980E3}" type="slidenum">
              <a:rPr lang="en-US" smtClean="0"/>
              <a:t>86</a:t>
            </a:fld>
            <a:endParaRPr lang="en-US"/>
          </a:p>
        </p:txBody>
      </p:sp>
    </p:spTree>
    <p:extLst>
      <p:ext uri="{BB962C8B-B14F-4D97-AF65-F5344CB8AC3E}">
        <p14:creationId xmlns:p14="http://schemas.microsoft.com/office/powerpoint/2010/main" val="1987339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B7F9B-9520-3C6E-52FF-ACE49CFB5113}"/>
              </a:ext>
            </a:extLst>
          </p:cNvPr>
          <p:cNvSpPr>
            <a:spLocks noGrp="1"/>
          </p:cNvSpPr>
          <p:nvPr>
            <p:ph type="title"/>
          </p:nvPr>
        </p:nvSpPr>
        <p:spPr/>
        <p:txBody>
          <a:bodyPr/>
          <a:lstStyle/>
          <a:p>
            <a:r>
              <a:rPr lang="en-US" dirty="0"/>
              <a:t>CREATE TABLE</a:t>
            </a:r>
          </a:p>
        </p:txBody>
      </p:sp>
      <p:sp>
        <p:nvSpPr>
          <p:cNvPr id="3" name="Content Placeholder 2">
            <a:extLst>
              <a:ext uri="{FF2B5EF4-FFF2-40B4-BE49-F238E27FC236}">
                <a16:creationId xmlns:a16="http://schemas.microsoft.com/office/drawing/2014/main" id="{B50C848D-0BF7-85EE-B87B-EDFFC602709E}"/>
              </a:ext>
            </a:extLst>
          </p:cNvPr>
          <p:cNvSpPr>
            <a:spLocks noGrp="1"/>
          </p:cNvSpPr>
          <p:nvPr>
            <p:ph idx="1"/>
          </p:nvPr>
        </p:nvSpPr>
        <p:spPr/>
        <p:txBody>
          <a:bodyPr>
            <a:noAutofit/>
          </a:bodyPr>
          <a:lstStyle/>
          <a:p>
            <a:r>
              <a:rPr lang="en-US" dirty="0"/>
              <a:t>used to specify a new relation by giving it a name and specifying its attributes and initial constraints</a:t>
            </a:r>
          </a:p>
          <a:p>
            <a:r>
              <a:rPr lang="en-US" dirty="0"/>
              <a:t>attributes are specified first, is given a name, a data type to specify its domain of values, and possibly attribute constraints, such as NOT NULL</a:t>
            </a:r>
          </a:p>
          <a:p>
            <a:r>
              <a:rPr lang="en-US" dirty="0"/>
              <a:t>key, entity integrity, and referential integrity constraints can be specified within the CREATE TABLE statement after the attributes are declared</a:t>
            </a:r>
          </a:p>
          <a:p>
            <a:r>
              <a:rPr lang="en-US" dirty="0"/>
              <a:t>or they can be added later using ALTER TABLE</a:t>
            </a:r>
          </a:p>
        </p:txBody>
      </p:sp>
      <p:sp>
        <p:nvSpPr>
          <p:cNvPr id="4" name="Slide Number Placeholder 3">
            <a:extLst>
              <a:ext uri="{FF2B5EF4-FFF2-40B4-BE49-F238E27FC236}">
                <a16:creationId xmlns:a16="http://schemas.microsoft.com/office/drawing/2014/main" id="{8A4D04DE-7F08-4FA2-4F94-200311195197}"/>
              </a:ext>
            </a:extLst>
          </p:cNvPr>
          <p:cNvSpPr>
            <a:spLocks noGrp="1"/>
          </p:cNvSpPr>
          <p:nvPr>
            <p:ph type="sldNum" sz="quarter" idx="12"/>
          </p:nvPr>
        </p:nvSpPr>
        <p:spPr/>
        <p:txBody>
          <a:bodyPr/>
          <a:lstStyle/>
          <a:p>
            <a:fld id="{6264BDCF-5269-49AC-A246-ED26C2B980E3}" type="slidenum">
              <a:rPr lang="en-US" smtClean="0"/>
              <a:t>87</a:t>
            </a:fld>
            <a:endParaRPr lang="en-US"/>
          </a:p>
        </p:txBody>
      </p:sp>
    </p:spTree>
    <p:extLst>
      <p:ext uri="{BB962C8B-B14F-4D97-AF65-F5344CB8AC3E}">
        <p14:creationId xmlns:p14="http://schemas.microsoft.com/office/powerpoint/2010/main" val="36531751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B121-F36F-C9A4-8C2A-732FC22C24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F25328-9A36-9787-440D-A9B72A5F06F9}"/>
              </a:ext>
            </a:extLst>
          </p:cNvPr>
          <p:cNvSpPr>
            <a:spLocks noGrp="1"/>
          </p:cNvSpPr>
          <p:nvPr>
            <p:ph idx="1"/>
          </p:nvPr>
        </p:nvSpPr>
        <p:spPr/>
        <p:txBody>
          <a:bodyPr>
            <a:normAutofit/>
          </a:bodyPr>
          <a:lstStyle/>
          <a:p>
            <a:r>
              <a:rPr lang="en-US" dirty="0"/>
              <a:t>typically, the SQL schema in which the relations are declared is implicitly specified in the environment in which CREATE TABLE statements are executed; alternatively, can explicitly attach schema name to relation name, separated by a period. </a:t>
            </a:r>
          </a:p>
          <a:p>
            <a:r>
              <a:rPr lang="en-US" b="1" dirty="0"/>
              <a:t>CREATE TABLE </a:t>
            </a:r>
            <a:r>
              <a:rPr lang="en-US" dirty="0"/>
              <a:t>COMPANY.EMPLOYEE</a:t>
            </a:r>
          </a:p>
          <a:p>
            <a:r>
              <a:rPr lang="en-US" sz="2700" dirty="0"/>
              <a:t>rather than</a:t>
            </a:r>
          </a:p>
          <a:p>
            <a:r>
              <a:rPr lang="en-US" b="1" dirty="0"/>
              <a:t>CREATE TABLE </a:t>
            </a:r>
            <a:r>
              <a:rPr lang="en-US" dirty="0"/>
              <a:t>EMPLOYEE</a:t>
            </a:r>
          </a:p>
          <a:p>
            <a:r>
              <a:rPr lang="en-US" sz="2700" dirty="0"/>
              <a:t>can explicitly (rather than implicitly) make the EMPLOYEE table part of COMPANY schema</a:t>
            </a:r>
          </a:p>
        </p:txBody>
      </p:sp>
      <p:sp>
        <p:nvSpPr>
          <p:cNvPr id="4" name="Slide Number Placeholder 3">
            <a:extLst>
              <a:ext uri="{FF2B5EF4-FFF2-40B4-BE49-F238E27FC236}">
                <a16:creationId xmlns:a16="http://schemas.microsoft.com/office/drawing/2014/main" id="{7295CF56-224A-4ADF-F066-5E687C247341}"/>
              </a:ext>
            </a:extLst>
          </p:cNvPr>
          <p:cNvSpPr>
            <a:spLocks noGrp="1"/>
          </p:cNvSpPr>
          <p:nvPr>
            <p:ph type="sldNum" sz="quarter" idx="12"/>
          </p:nvPr>
        </p:nvSpPr>
        <p:spPr/>
        <p:txBody>
          <a:bodyPr/>
          <a:lstStyle/>
          <a:p>
            <a:fld id="{6264BDCF-5269-49AC-A246-ED26C2B980E3}" type="slidenum">
              <a:rPr lang="en-US" smtClean="0"/>
              <a:t>88</a:t>
            </a:fld>
            <a:endParaRPr lang="en-US"/>
          </a:p>
        </p:txBody>
      </p:sp>
    </p:spTree>
    <p:extLst>
      <p:ext uri="{BB962C8B-B14F-4D97-AF65-F5344CB8AC3E}">
        <p14:creationId xmlns:p14="http://schemas.microsoft.com/office/powerpoint/2010/main" val="27806978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F4781-F6FD-9A6C-86C3-56E9ED793CEB}"/>
              </a:ext>
            </a:extLst>
          </p:cNvPr>
          <p:cNvSpPr>
            <a:spLocks noGrp="1"/>
          </p:cNvSpPr>
          <p:nvPr>
            <p:ph type="title"/>
          </p:nvPr>
        </p:nvSpPr>
        <p:spPr/>
        <p:txBody>
          <a:bodyPr/>
          <a:lstStyle/>
          <a:p>
            <a:r>
              <a:rPr lang="en-US" b="1" dirty="0"/>
              <a:t>CREATE TABLE </a:t>
            </a:r>
            <a:r>
              <a:rPr lang="en-US" dirty="0"/>
              <a:t>EMPLOYEE (</a:t>
            </a:r>
          </a:p>
        </p:txBody>
      </p:sp>
      <p:sp>
        <p:nvSpPr>
          <p:cNvPr id="3" name="Content Placeholder 2">
            <a:extLst>
              <a:ext uri="{FF2B5EF4-FFF2-40B4-BE49-F238E27FC236}">
                <a16:creationId xmlns:a16="http://schemas.microsoft.com/office/drawing/2014/main" id="{62AC78F3-C2C7-480F-8A6C-E234F1811329}"/>
              </a:ext>
            </a:extLst>
          </p:cNvPr>
          <p:cNvSpPr>
            <a:spLocks noGrp="1"/>
          </p:cNvSpPr>
          <p:nvPr>
            <p:ph idx="1"/>
          </p:nvPr>
        </p:nvSpPr>
        <p:spPr>
          <a:xfrm>
            <a:off x="838200" y="1376516"/>
            <a:ext cx="10515600" cy="4800447"/>
          </a:xfrm>
        </p:spPr>
        <p:txBody>
          <a:bodyPr>
            <a:noAutofit/>
          </a:bodyPr>
          <a:lstStyle/>
          <a:p>
            <a:r>
              <a:rPr lang="en-US" sz="2700" dirty="0" err="1"/>
              <a:t>Fname</a:t>
            </a:r>
            <a:r>
              <a:rPr lang="en-US" sz="2700" dirty="0"/>
              <a:t>	VARCHAR(15)	</a:t>
            </a:r>
            <a:r>
              <a:rPr lang="en-US" sz="2700" b="1" dirty="0"/>
              <a:t>NOT NULL</a:t>
            </a:r>
            <a:r>
              <a:rPr lang="en-US" sz="2700" dirty="0"/>
              <a:t>,</a:t>
            </a:r>
          </a:p>
          <a:p>
            <a:r>
              <a:rPr lang="en-US" sz="2700" dirty="0"/>
              <a:t>Minit	CHAR,</a:t>
            </a:r>
          </a:p>
          <a:p>
            <a:r>
              <a:rPr lang="en-US" sz="2700" dirty="0" err="1"/>
              <a:t>Lname</a:t>
            </a:r>
            <a:r>
              <a:rPr lang="en-US" sz="2700" dirty="0"/>
              <a:t>	VARCHAR(15)	</a:t>
            </a:r>
            <a:r>
              <a:rPr lang="en-US" sz="2700" b="1" dirty="0"/>
              <a:t>NOT NULL</a:t>
            </a:r>
            <a:r>
              <a:rPr lang="en-US" sz="2700" dirty="0"/>
              <a:t>,</a:t>
            </a:r>
          </a:p>
          <a:p>
            <a:r>
              <a:rPr lang="en-US" sz="2700" dirty="0" err="1"/>
              <a:t>Ssn</a:t>
            </a:r>
            <a:r>
              <a:rPr lang="en-US" sz="2700" dirty="0"/>
              <a:t>		CHAR(9)		</a:t>
            </a:r>
            <a:r>
              <a:rPr lang="en-US" sz="2700" b="1" dirty="0"/>
              <a:t>NOT NULL</a:t>
            </a:r>
            <a:r>
              <a:rPr lang="en-US" sz="2700" dirty="0"/>
              <a:t>,</a:t>
            </a:r>
          </a:p>
          <a:p>
            <a:r>
              <a:rPr lang="en-US" sz="2700" dirty="0" err="1"/>
              <a:t>Bdate</a:t>
            </a:r>
            <a:r>
              <a:rPr lang="en-US" sz="2700" dirty="0"/>
              <a:t>	DATE,</a:t>
            </a:r>
          </a:p>
          <a:p>
            <a:r>
              <a:rPr lang="en-US" sz="2700" dirty="0"/>
              <a:t>Address	VARCHAR(30),</a:t>
            </a:r>
          </a:p>
          <a:p>
            <a:r>
              <a:rPr lang="en-US" sz="2700" dirty="0"/>
              <a:t>Sex		CHAR,</a:t>
            </a:r>
          </a:p>
          <a:p>
            <a:r>
              <a:rPr lang="en-US" sz="2700" dirty="0"/>
              <a:t>Salary	DECIMAL(10,2),</a:t>
            </a:r>
          </a:p>
          <a:p>
            <a:r>
              <a:rPr lang="en-US" sz="2700" dirty="0" err="1"/>
              <a:t>Super_ssn</a:t>
            </a:r>
            <a:r>
              <a:rPr lang="en-US" sz="2700" dirty="0"/>
              <a:t>	CHAR(9),</a:t>
            </a:r>
          </a:p>
          <a:p>
            <a:r>
              <a:rPr lang="en-US" sz="2700" dirty="0" err="1"/>
              <a:t>Dno</a:t>
            </a:r>
            <a:r>
              <a:rPr lang="en-US" sz="2700" dirty="0"/>
              <a:t>		INT			</a:t>
            </a:r>
            <a:r>
              <a:rPr lang="en-US" sz="2700" b="1" dirty="0"/>
              <a:t>NOT NULL</a:t>
            </a:r>
            <a:r>
              <a:rPr lang="en-US" sz="2700" dirty="0"/>
              <a:t>,</a:t>
            </a:r>
          </a:p>
          <a:p>
            <a:r>
              <a:rPr lang="en-US" sz="2700" b="1" dirty="0"/>
              <a:t>PRIMARY KEY </a:t>
            </a:r>
            <a:r>
              <a:rPr lang="en-US" sz="2700" dirty="0"/>
              <a:t>(</a:t>
            </a:r>
            <a:r>
              <a:rPr lang="en-US" sz="2700" dirty="0" err="1"/>
              <a:t>Ssn</a:t>
            </a:r>
            <a:r>
              <a:rPr lang="en-US" sz="2700" dirty="0"/>
              <a:t>) );</a:t>
            </a:r>
          </a:p>
        </p:txBody>
      </p:sp>
      <p:sp>
        <p:nvSpPr>
          <p:cNvPr id="4" name="Slide Number Placeholder 3">
            <a:extLst>
              <a:ext uri="{FF2B5EF4-FFF2-40B4-BE49-F238E27FC236}">
                <a16:creationId xmlns:a16="http://schemas.microsoft.com/office/drawing/2014/main" id="{48740944-BBC4-2230-1FBB-5AD6768F9853}"/>
              </a:ext>
            </a:extLst>
          </p:cNvPr>
          <p:cNvSpPr>
            <a:spLocks noGrp="1"/>
          </p:cNvSpPr>
          <p:nvPr>
            <p:ph type="sldNum" sz="quarter" idx="12"/>
          </p:nvPr>
        </p:nvSpPr>
        <p:spPr/>
        <p:txBody>
          <a:bodyPr/>
          <a:lstStyle/>
          <a:p>
            <a:fld id="{6264BDCF-5269-49AC-A246-ED26C2B980E3}" type="slidenum">
              <a:rPr lang="en-US" smtClean="0"/>
              <a:t>89</a:t>
            </a:fld>
            <a:endParaRPr lang="en-US"/>
          </a:p>
        </p:txBody>
      </p:sp>
    </p:spTree>
    <p:extLst>
      <p:ext uri="{BB962C8B-B14F-4D97-AF65-F5344CB8AC3E}">
        <p14:creationId xmlns:p14="http://schemas.microsoft.com/office/powerpoint/2010/main" val="40645923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B8124-1FFE-496D-B702-8D95302E27DC}"/>
              </a:ext>
            </a:extLst>
          </p:cNvPr>
          <p:cNvSpPr>
            <a:spLocks noGrp="1"/>
          </p:cNvSpPr>
          <p:nvPr>
            <p:ph type="title"/>
          </p:nvPr>
        </p:nvSpPr>
        <p:spPr/>
        <p:txBody>
          <a:bodyPr>
            <a:normAutofit/>
          </a:bodyPr>
          <a:lstStyle/>
          <a:p>
            <a:r>
              <a:rPr lang="en-US" b="1" dirty="0"/>
              <a:t>CREATE TABLE </a:t>
            </a:r>
            <a:r>
              <a:rPr lang="en-US" dirty="0"/>
              <a:t>DEPARTMENT ( </a:t>
            </a:r>
          </a:p>
        </p:txBody>
      </p:sp>
      <p:sp>
        <p:nvSpPr>
          <p:cNvPr id="3" name="Content Placeholder 2">
            <a:extLst>
              <a:ext uri="{FF2B5EF4-FFF2-40B4-BE49-F238E27FC236}">
                <a16:creationId xmlns:a16="http://schemas.microsoft.com/office/drawing/2014/main" id="{3A6B242E-D32A-E4B0-2DD2-B76E430C6958}"/>
              </a:ext>
            </a:extLst>
          </p:cNvPr>
          <p:cNvSpPr>
            <a:spLocks noGrp="1"/>
          </p:cNvSpPr>
          <p:nvPr>
            <p:ph idx="1"/>
          </p:nvPr>
        </p:nvSpPr>
        <p:spPr/>
        <p:txBody>
          <a:bodyPr>
            <a:noAutofit/>
          </a:bodyPr>
          <a:lstStyle/>
          <a:p>
            <a:r>
              <a:rPr lang="en-US" sz="2700" dirty="0" err="1"/>
              <a:t>Dname</a:t>
            </a:r>
            <a:r>
              <a:rPr lang="en-US" sz="2700" dirty="0"/>
              <a:t>		VARCHAR(15)	</a:t>
            </a:r>
            <a:r>
              <a:rPr lang="en-US" sz="2700" b="1" dirty="0"/>
              <a:t>NOT NULL</a:t>
            </a:r>
            <a:r>
              <a:rPr lang="en-US" sz="2700" dirty="0"/>
              <a:t>,</a:t>
            </a:r>
          </a:p>
          <a:p>
            <a:r>
              <a:rPr lang="en-US" sz="2700" dirty="0" err="1"/>
              <a:t>Dnumber</a:t>
            </a:r>
            <a:r>
              <a:rPr lang="en-US" sz="2700" dirty="0"/>
              <a:t>		INT			</a:t>
            </a:r>
            <a:r>
              <a:rPr lang="en-US" sz="2700" b="1" dirty="0"/>
              <a:t>NOT NULL</a:t>
            </a:r>
            <a:r>
              <a:rPr lang="en-US" sz="2700" dirty="0"/>
              <a:t>,</a:t>
            </a:r>
          </a:p>
          <a:p>
            <a:r>
              <a:rPr lang="en-US" sz="2700" dirty="0" err="1"/>
              <a:t>Mgr_ssn</a:t>
            </a:r>
            <a:r>
              <a:rPr lang="en-US" sz="2700" dirty="0"/>
              <a:t>		CHAR(9)		</a:t>
            </a:r>
            <a:r>
              <a:rPr lang="en-US" sz="2700" b="1" dirty="0"/>
              <a:t>NOT NULL</a:t>
            </a:r>
            <a:r>
              <a:rPr lang="en-US" sz="2700" dirty="0"/>
              <a:t>,</a:t>
            </a:r>
          </a:p>
          <a:p>
            <a:r>
              <a:rPr lang="en-US" sz="2700" dirty="0" err="1"/>
              <a:t>Mgr_start_date</a:t>
            </a:r>
            <a:r>
              <a:rPr lang="en-US" sz="2700" dirty="0"/>
              <a:t>	DATE,</a:t>
            </a:r>
          </a:p>
          <a:p>
            <a:r>
              <a:rPr lang="en-US" sz="2700" b="1" dirty="0"/>
              <a:t>PRIMARY KEY </a:t>
            </a:r>
            <a:r>
              <a:rPr lang="en-US" sz="2700" dirty="0"/>
              <a:t>(</a:t>
            </a:r>
            <a:r>
              <a:rPr lang="en-US" sz="2700" dirty="0" err="1"/>
              <a:t>Dnumber</a:t>
            </a:r>
            <a:r>
              <a:rPr lang="en-US" sz="2700" dirty="0"/>
              <a:t>),</a:t>
            </a:r>
          </a:p>
          <a:p>
            <a:r>
              <a:rPr lang="en-US" sz="2700" b="1" dirty="0"/>
              <a:t>UNIQUE </a:t>
            </a:r>
            <a:r>
              <a:rPr lang="en-US" sz="2700" dirty="0"/>
              <a:t>(</a:t>
            </a:r>
            <a:r>
              <a:rPr lang="en-US" sz="2700" dirty="0" err="1"/>
              <a:t>Dname</a:t>
            </a:r>
            <a:r>
              <a:rPr lang="en-US" sz="2700" dirty="0"/>
              <a:t>),</a:t>
            </a:r>
          </a:p>
          <a:p>
            <a:r>
              <a:rPr lang="en-US" sz="2700" b="1" dirty="0"/>
              <a:t>FOREIGN KEY </a:t>
            </a:r>
            <a:r>
              <a:rPr lang="en-US" sz="2700" dirty="0"/>
              <a:t>(</a:t>
            </a:r>
            <a:r>
              <a:rPr lang="en-US" sz="2700" dirty="0" err="1"/>
              <a:t>Mgr_ssn</a:t>
            </a:r>
            <a:r>
              <a:rPr lang="en-US" sz="2700" dirty="0"/>
              <a:t>) </a:t>
            </a:r>
            <a:r>
              <a:rPr lang="en-US" sz="2700" b="1" dirty="0"/>
              <a:t>REFERENCES </a:t>
            </a:r>
            <a:r>
              <a:rPr lang="en-US" sz="2700" dirty="0"/>
              <a:t>EMPLOYEE(</a:t>
            </a:r>
            <a:r>
              <a:rPr lang="en-US" sz="2700" dirty="0" err="1"/>
              <a:t>Ssn</a:t>
            </a:r>
            <a:r>
              <a:rPr lang="en-US" sz="2700" dirty="0"/>
              <a:t>) );</a:t>
            </a:r>
          </a:p>
          <a:p>
            <a:endParaRPr lang="en-US" sz="2700" dirty="0"/>
          </a:p>
        </p:txBody>
      </p:sp>
      <p:sp>
        <p:nvSpPr>
          <p:cNvPr id="4" name="Slide Number Placeholder 3">
            <a:extLst>
              <a:ext uri="{FF2B5EF4-FFF2-40B4-BE49-F238E27FC236}">
                <a16:creationId xmlns:a16="http://schemas.microsoft.com/office/drawing/2014/main" id="{523C3215-8B61-B5AF-6F04-FC8AED6C20B7}"/>
              </a:ext>
            </a:extLst>
          </p:cNvPr>
          <p:cNvSpPr>
            <a:spLocks noGrp="1"/>
          </p:cNvSpPr>
          <p:nvPr>
            <p:ph type="sldNum" sz="quarter" idx="12"/>
          </p:nvPr>
        </p:nvSpPr>
        <p:spPr/>
        <p:txBody>
          <a:bodyPr/>
          <a:lstStyle/>
          <a:p>
            <a:fld id="{6264BDCF-5269-49AC-A246-ED26C2B980E3}" type="slidenum">
              <a:rPr lang="en-US" smtClean="0"/>
              <a:t>90</a:t>
            </a:fld>
            <a:endParaRPr lang="en-US"/>
          </a:p>
        </p:txBody>
      </p:sp>
    </p:spTree>
    <p:extLst>
      <p:ext uri="{BB962C8B-B14F-4D97-AF65-F5344CB8AC3E}">
        <p14:creationId xmlns:p14="http://schemas.microsoft.com/office/powerpoint/2010/main" val="14928755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DAB2B-3835-68B3-4484-D434E82B33B3}"/>
              </a:ext>
            </a:extLst>
          </p:cNvPr>
          <p:cNvSpPr>
            <a:spLocks noGrp="1"/>
          </p:cNvSpPr>
          <p:nvPr>
            <p:ph type="title"/>
          </p:nvPr>
        </p:nvSpPr>
        <p:spPr/>
        <p:txBody>
          <a:bodyPr>
            <a:normAutofit/>
          </a:bodyPr>
          <a:lstStyle/>
          <a:p>
            <a:r>
              <a:rPr lang="en-US" b="1" dirty="0"/>
              <a:t>CREATE TABLE </a:t>
            </a:r>
            <a:r>
              <a:rPr lang="en-US" dirty="0"/>
              <a:t>DEPT_LOCATIONS (</a:t>
            </a:r>
          </a:p>
        </p:txBody>
      </p:sp>
      <p:sp>
        <p:nvSpPr>
          <p:cNvPr id="3" name="Content Placeholder 2">
            <a:extLst>
              <a:ext uri="{FF2B5EF4-FFF2-40B4-BE49-F238E27FC236}">
                <a16:creationId xmlns:a16="http://schemas.microsoft.com/office/drawing/2014/main" id="{B8E37406-6BD0-2B6E-181A-DB3BDD8D9C8A}"/>
              </a:ext>
            </a:extLst>
          </p:cNvPr>
          <p:cNvSpPr>
            <a:spLocks noGrp="1"/>
          </p:cNvSpPr>
          <p:nvPr>
            <p:ph idx="1"/>
          </p:nvPr>
        </p:nvSpPr>
        <p:spPr/>
        <p:txBody>
          <a:bodyPr>
            <a:normAutofit/>
          </a:bodyPr>
          <a:lstStyle/>
          <a:p>
            <a:r>
              <a:rPr lang="en-US" sz="2700" dirty="0" err="1"/>
              <a:t>Dnumber</a:t>
            </a:r>
            <a:r>
              <a:rPr lang="en-US" sz="2700" dirty="0"/>
              <a:t>		INT			</a:t>
            </a:r>
            <a:r>
              <a:rPr lang="en-US" sz="2700" b="1" dirty="0"/>
              <a:t>NOT NULL</a:t>
            </a:r>
            <a:r>
              <a:rPr lang="en-US" sz="2700" dirty="0"/>
              <a:t>,</a:t>
            </a:r>
          </a:p>
          <a:p>
            <a:r>
              <a:rPr lang="en-US" sz="2700" dirty="0" err="1"/>
              <a:t>Dlocation</a:t>
            </a:r>
            <a:r>
              <a:rPr lang="en-US" sz="2700" dirty="0"/>
              <a:t>		VARCHAR(15)	</a:t>
            </a:r>
            <a:r>
              <a:rPr lang="en-US" sz="2700" b="1" dirty="0"/>
              <a:t>NOT NULL</a:t>
            </a:r>
            <a:r>
              <a:rPr lang="en-US" sz="2700" dirty="0"/>
              <a:t>,</a:t>
            </a:r>
          </a:p>
          <a:p>
            <a:r>
              <a:rPr lang="en-US" sz="2700" b="1" dirty="0"/>
              <a:t>PRIMARY KEY </a:t>
            </a:r>
            <a:r>
              <a:rPr lang="en-US" sz="2700" dirty="0"/>
              <a:t>(</a:t>
            </a:r>
            <a:r>
              <a:rPr lang="en-US" sz="2700" dirty="0" err="1"/>
              <a:t>Dnumber</a:t>
            </a:r>
            <a:r>
              <a:rPr lang="en-US" sz="2700" dirty="0"/>
              <a:t>, </a:t>
            </a:r>
            <a:r>
              <a:rPr lang="en-US" sz="2700" dirty="0" err="1"/>
              <a:t>Dlocation</a:t>
            </a:r>
            <a:r>
              <a:rPr lang="en-US" sz="2700" dirty="0"/>
              <a:t>),</a:t>
            </a:r>
          </a:p>
          <a:p>
            <a:r>
              <a:rPr lang="en-US" sz="2700" b="1" dirty="0"/>
              <a:t>FOREIGN KEY </a:t>
            </a:r>
            <a:r>
              <a:rPr lang="en-US" sz="2700" dirty="0"/>
              <a:t>(</a:t>
            </a:r>
            <a:r>
              <a:rPr lang="en-US" sz="2700" dirty="0" err="1"/>
              <a:t>Dnumber</a:t>
            </a:r>
            <a:r>
              <a:rPr lang="en-US" sz="2700" dirty="0"/>
              <a:t>) </a:t>
            </a:r>
            <a:r>
              <a:rPr lang="en-US" sz="2700" b="1" dirty="0"/>
              <a:t>REFERENCES </a:t>
            </a:r>
            <a:r>
              <a:rPr lang="en-US" sz="2700" dirty="0"/>
              <a:t>DEPARTMENT(</a:t>
            </a:r>
            <a:r>
              <a:rPr lang="en-US" sz="2700" dirty="0" err="1"/>
              <a:t>Dnumber</a:t>
            </a:r>
            <a:r>
              <a:rPr lang="en-US" sz="2700" dirty="0"/>
              <a:t>) );</a:t>
            </a:r>
          </a:p>
          <a:p>
            <a:endParaRPr lang="en-US" dirty="0"/>
          </a:p>
        </p:txBody>
      </p:sp>
      <p:sp>
        <p:nvSpPr>
          <p:cNvPr id="4" name="Slide Number Placeholder 3">
            <a:extLst>
              <a:ext uri="{FF2B5EF4-FFF2-40B4-BE49-F238E27FC236}">
                <a16:creationId xmlns:a16="http://schemas.microsoft.com/office/drawing/2014/main" id="{247FB759-DAEE-BE85-EB49-50E57A2796C8}"/>
              </a:ext>
            </a:extLst>
          </p:cNvPr>
          <p:cNvSpPr>
            <a:spLocks noGrp="1"/>
          </p:cNvSpPr>
          <p:nvPr>
            <p:ph type="sldNum" sz="quarter" idx="12"/>
          </p:nvPr>
        </p:nvSpPr>
        <p:spPr/>
        <p:txBody>
          <a:bodyPr/>
          <a:lstStyle/>
          <a:p>
            <a:fld id="{6264BDCF-5269-49AC-A246-ED26C2B980E3}" type="slidenum">
              <a:rPr lang="en-US" smtClean="0"/>
              <a:t>91</a:t>
            </a:fld>
            <a:endParaRPr lang="en-US"/>
          </a:p>
        </p:txBody>
      </p:sp>
    </p:spTree>
    <p:extLst>
      <p:ext uri="{BB962C8B-B14F-4D97-AF65-F5344CB8AC3E}">
        <p14:creationId xmlns:p14="http://schemas.microsoft.com/office/powerpoint/2010/main" val="2137453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81DE6-4ECE-D5B3-CF03-C56B763A5253}"/>
              </a:ext>
            </a:extLst>
          </p:cNvPr>
          <p:cNvSpPr>
            <a:spLocks noGrp="1"/>
          </p:cNvSpPr>
          <p:nvPr>
            <p:ph type="title"/>
          </p:nvPr>
        </p:nvSpPr>
        <p:spPr/>
        <p:txBody>
          <a:bodyPr>
            <a:normAutofit/>
          </a:bodyPr>
          <a:lstStyle/>
          <a:p>
            <a:r>
              <a:rPr lang="en-US" b="1" dirty="0"/>
              <a:t>CREATE TABLE </a:t>
            </a:r>
            <a:r>
              <a:rPr lang="en-US" dirty="0"/>
              <a:t>PROJECT (</a:t>
            </a:r>
          </a:p>
        </p:txBody>
      </p:sp>
      <p:sp>
        <p:nvSpPr>
          <p:cNvPr id="3" name="Content Placeholder 2">
            <a:extLst>
              <a:ext uri="{FF2B5EF4-FFF2-40B4-BE49-F238E27FC236}">
                <a16:creationId xmlns:a16="http://schemas.microsoft.com/office/drawing/2014/main" id="{994EE0F0-66FF-89CE-4523-9ADDA183E618}"/>
              </a:ext>
            </a:extLst>
          </p:cNvPr>
          <p:cNvSpPr>
            <a:spLocks noGrp="1"/>
          </p:cNvSpPr>
          <p:nvPr>
            <p:ph idx="1"/>
          </p:nvPr>
        </p:nvSpPr>
        <p:spPr/>
        <p:txBody>
          <a:bodyPr>
            <a:noAutofit/>
          </a:bodyPr>
          <a:lstStyle/>
          <a:p>
            <a:r>
              <a:rPr lang="en-US" dirty="0" err="1"/>
              <a:t>Pname</a:t>
            </a:r>
            <a:r>
              <a:rPr lang="en-US" dirty="0"/>
              <a:t>		VARCHAR(15)	</a:t>
            </a:r>
            <a:r>
              <a:rPr lang="en-US" b="1" dirty="0"/>
              <a:t>NOT NULL</a:t>
            </a:r>
            <a:r>
              <a:rPr lang="en-US" dirty="0"/>
              <a:t>,</a:t>
            </a:r>
          </a:p>
          <a:p>
            <a:r>
              <a:rPr lang="en-US" dirty="0" err="1"/>
              <a:t>Pnumber</a:t>
            </a:r>
            <a:r>
              <a:rPr lang="en-US" dirty="0"/>
              <a:t>		INT			</a:t>
            </a:r>
            <a:r>
              <a:rPr lang="en-US" b="1" dirty="0"/>
              <a:t>NOT NULL</a:t>
            </a:r>
            <a:r>
              <a:rPr lang="en-US" dirty="0"/>
              <a:t>,</a:t>
            </a:r>
          </a:p>
          <a:p>
            <a:r>
              <a:rPr lang="en-US" dirty="0" err="1"/>
              <a:t>Plocation</a:t>
            </a:r>
            <a:r>
              <a:rPr lang="en-US" dirty="0"/>
              <a:t>		VARCHAR(15),</a:t>
            </a:r>
          </a:p>
          <a:p>
            <a:r>
              <a:rPr lang="en-US" dirty="0" err="1"/>
              <a:t>Dnum</a:t>
            </a:r>
            <a:r>
              <a:rPr lang="en-US" dirty="0"/>
              <a:t>		INT			</a:t>
            </a:r>
            <a:r>
              <a:rPr lang="en-US" b="1" dirty="0"/>
              <a:t>NOT NULL</a:t>
            </a:r>
            <a:r>
              <a:rPr lang="en-US" dirty="0"/>
              <a:t>,</a:t>
            </a:r>
          </a:p>
          <a:p>
            <a:r>
              <a:rPr lang="en-US" b="1" dirty="0"/>
              <a:t>PRIMARY KEY </a:t>
            </a:r>
            <a:r>
              <a:rPr lang="en-US" dirty="0"/>
              <a:t>(</a:t>
            </a:r>
            <a:r>
              <a:rPr lang="en-US" dirty="0" err="1"/>
              <a:t>Pnumber</a:t>
            </a:r>
            <a:r>
              <a:rPr lang="en-US" dirty="0"/>
              <a:t>),</a:t>
            </a:r>
          </a:p>
          <a:p>
            <a:r>
              <a:rPr lang="en-US" b="1" dirty="0"/>
              <a:t>UNIQUE </a:t>
            </a:r>
            <a:r>
              <a:rPr lang="en-US" dirty="0"/>
              <a:t>(</a:t>
            </a:r>
            <a:r>
              <a:rPr lang="en-US" dirty="0" err="1"/>
              <a:t>Pname</a:t>
            </a:r>
            <a:r>
              <a:rPr lang="en-US" dirty="0"/>
              <a:t>),</a:t>
            </a:r>
          </a:p>
          <a:p>
            <a:r>
              <a:rPr lang="en-US" b="1" dirty="0"/>
              <a:t>FOREIGN KEY </a:t>
            </a:r>
            <a:r>
              <a:rPr lang="en-US" dirty="0"/>
              <a:t>(</a:t>
            </a:r>
            <a:r>
              <a:rPr lang="en-US" dirty="0" err="1"/>
              <a:t>Dnum</a:t>
            </a:r>
            <a:r>
              <a:rPr lang="en-US" dirty="0"/>
              <a:t>) </a:t>
            </a:r>
            <a:r>
              <a:rPr lang="en-US" b="1" dirty="0"/>
              <a:t>REFERENCES </a:t>
            </a:r>
            <a:r>
              <a:rPr lang="en-US" dirty="0"/>
              <a:t>DEPARTMENT(</a:t>
            </a:r>
            <a:r>
              <a:rPr lang="en-US" dirty="0" err="1"/>
              <a:t>Dnumber</a:t>
            </a:r>
            <a:r>
              <a:rPr lang="en-US" dirty="0"/>
              <a:t>) );</a:t>
            </a:r>
          </a:p>
          <a:p>
            <a:endParaRPr lang="en-US" dirty="0"/>
          </a:p>
        </p:txBody>
      </p:sp>
      <p:sp>
        <p:nvSpPr>
          <p:cNvPr id="4" name="Slide Number Placeholder 3">
            <a:extLst>
              <a:ext uri="{FF2B5EF4-FFF2-40B4-BE49-F238E27FC236}">
                <a16:creationId xmlns:a16="http://schemas.microsoft.com/office/drawing/2014/main" id="{BA251E82-CDB7-8F95-4AFB-F2382D4FA579}"/>
              </a:ext>
            </a:extLst>
          </p:cNvPr>
          <p:cNvSpPr>
            <a:spLocks noGrp="1"/>
          </p:cNvSpPr>
          <p:nvPr>
            <p:ph type="sldNum" sz="quarter" idx="12"/>
          </p:nvPr>
        </p:nvSpPr>
        <p:spPr/>
        <p:txBody>
          <a:bodyPr/>
          <a:lstStyle/>
          <a:p>
            <a:fld id="{6264BDCF-5269-49AC-A246-ED26C2B980E3}" type="slidenum">
              <a:rPr lang="en-US" smtClean="0"/>
              <a:t>92</a:t>
            </a:fld>
            <a:endParaRPr lang="en-US"/>
          </a:p>
        </p:txBody>
      </p:sp>
    </p:spTree>
    <p:extLst>
      <p:ext uri="{BB962C8B-B14F-4D97-AF65-F5344CB8AC3E}">
        <p14:creationId xmlns:p14="http://schemas.microsoft.com/office/powerpoint/2010/main" val="9763343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8EF2F-AB5F-A1D0-B554-618CBA6AB3E7}"/>
              </a:ext>
            </a:extLst>
          </p:cNvPr>
          <p:cNvSpPr>
            <a:spLocks noGrp="1"/>
          </p:cNvSpPr>
          <p:nvPr>
            <p:ph type="title"/>
          </p:nvPr>
        </p:nvSpPr>
        <p:spPr/>
        <p:txBody>
          <a:bodyPr/>
          <a:lstStyle/>
          <a:p>
            <a:r>
              <a:rPr lang="en-US" b="1" dirty="0"/>
              <a:t>CREATE TABLE </a:t>
            </a:r>
            <a:r>
              <a:rPr lang="en-US" dirty="0"/>
              <a:t>WORKS_ON (</a:t>
            </a:r>
          </a:p>
        </p:txBody>
      </p:sp>
      <p:sp>
        <p:nvSpPr>
          <p:cNvPr id="3" name="Content Placeholder 2">
            <a:extLst>
              <a:ext uri="{FF2B5EF4-FFF2-40B4-BE49-F238E27FC236}">
                <a16:creationId xmlns:a16="http://schemas.microsoft.com/office/drawing/2014/main" id="{E97C7861-CF5A-18AB-CB74-F52C22E2B18B}"/>
              </a:ext>
            </a:extLst>
          </p:cNvPr>
          <p:cNvSpPr>
            <a:spLocks noGrp="1"/>
          </p:cNvSpPr>
          <p:nvPr>
            <p:ph idx="1"/>
          </p:nvPr>
        </p:nvSpPr>
        <p:spPr/>
        <p:txBody>
          <a:bodyPr>
            <a:noAutofit/>
          </a:bodyPr>
          <a:lstStyle/>
          <a:p>
            <a:r>
              <a:rPr lang="en-US" dirty="0" err="1"/>
              <a:t>Essn</a:t>
            </a:r>
            <a:r>
              <a:rPr lang="en-US" dirty="0"/>
              <a:t>		CHAR(9)		</a:t>
            </a:r>
            <a:r>
              <a:rPr lang="en-US" b="1" dirty="0"/>
              <a:t>NOT NULL</a:t>
            </a:r>
            <a:r>
              <a:rPr lang="en-US" dirty="0"/>
              <a:t>,</a:t>
            </a:r>
          </a:p>
          <a:p>
            <a:r>
              <a:rPr lang="en-US" dirty="0" err="1"/>
              <a:t>Pno</a:t>
            </a:r>
            <a:r>
              <a:rPr lang="en-US" dirty="0"/>
              <a:t>		INT			</a:t>
            </a:r>
            <a:r>
              <a:rPr lang="en-US" b="1" dirty="0"/>
              <a:t>NOT NULL</a:t>
            </a:r>
            <a:r>
              <a:rPr lang="en-US" dirty="0"/>
              <a:t>,</a:t>
            </a:r>
          </a:p>
          <a:p>
            <a:r>
              <a:rPr lang="en-US" dirty="0"/>
              <a:t>Hours	DECIMAL(3,1)	</a:t>
            </a:r>
            <a:r>
              <a:rPr lang="en-US" b="1" dirty="0"/>
              <a:t>NOT NULL</a:t>
            </a:r>
            <a:r>
              <a:rPr lang="en-US" dirty="0"/>
              <a:t>,</a:t>
            </a:r>
          </a:p>
          <a:p>
            <a:r>
              <a:rPr lang="en-US" b="1" dirty="0"/>
              <a:t>PRIMARY KEY </a:t>
            </a:r>
            <a:r>
              <a:rPr lang="en-US" dirty="0"/>
              <a:t>(</a:t>
            </a:r>
            <a:r>
              <a:rPr lang="en-US" dirty="0" err="1"/>
              <a:t>Essn</a:t>
            </a:r>
            <a:r>
              <a:rPr lang="en-US" dirty="0"/>
              <a:t>, </a:t>
            </a:r>
            <a:r>
              <a:rPr lang="en-US" dirty="0" err="1"/>
              <a:t>Pno</a:t>
            </a:r>
            <a:r>
              <a:rPr lang="en-US" dirty="0"/>
              <a:t>),</a:t>
            </a:r>
          </a:p>
          <a:p>
            <a:r>
              <a:rPr lang="en-US" b="1" dirty="0"/>
              <a:t>FOREIGN KEY </a:t>
            </a:r>
            <a:r>
              <a:rPr lang="en-US" dirty="0"/>
              <a:t>(</a:t>
            </a:r>
            <a:r>
              <a:rPr lang="en-US" dirty="0" err="1"/>
              <a:t>Essn</a:t>
            </a:r>
            <a:r>
              <a:rPr lang="en-US" dirty="0"/>
              <a:t>) </a:t>
            </a:r>
            <a:r>
              <a:rPr lang="en-US" b="1" dirty="0"/>
              <a:t>REFERENCES </a:t>
            </a:r>
            <a:r>
              <a:rPr lang="en-US" dirty="0"/>
              <a:t>EMPLOYEE(</a:t>
            </a:r>
            <a:r>
              <a:rPr lang="en-US" dirty="0" err="1"/>
              <a:t>Ssn</a:t>
            </a:r>
            <a:r>
              <a:rPr lang="en-US" dirty="0"/>
              <a:t>),</a:t>
            </a:r>
          </a:p>
          <a:p>
            <a:r>
              <a:rPr lang="en-US" b="1" dirty="0"/>
              <a:t>FOREIGN KEY </a:t>
            </a:r>
            <a:r>
              <a:rPr lang="en-US" dirty="0"/>
              <a:t>(</a:t>
            </a:r>
            <a:r>
              <a:rPr lang="en-US" dirty="0" err="1"/>
              <a:t>Pno</a:t>
            </a:r>
            <a:r>
              <a:rPr lang="en-US" dirty="0"/>
              <a:t>) </a:t>
            </a:r>
            <a:r>
              <a:rPr lang="en-US" b="1" dirty="0"/>
              <a:t>REFERENCES </a:t>
            </a:r>
            <a:r>
              <a:rPr lang="en-US" dirty="0"/>
              <a:t>PROJECT(</a:t>
            </a:r>
            <a:r>
              <a:rPr lang="en-US" dirty="0" err="1"/>
              <a:t>Pnumber</a:t>
            </a:r>
            <a:r>
              <a:rPr lang="en-US" dirty="0"/>
              <a:t>) );</a:t>
            </a:r>
          </a:p>
          <a:p>
            <a:endParaRPr lang="en-US" dirty="0"/>
          </a:p>
        </p:txBody>
      </p:sp>
      <p:sp>
        <p:nvSpPr>
          <p:cNvPr id="4" name="Slide Number Placeholder 3">
            <a:extLst>
              <a:ext uri="{FF2B5EF4-FFF2-40B4-BE49-F238E27FC236}">
                <a16:creationId xmlns:a16="http://schemas.microsoft.com/office/drawing/2014/main" id="{802F1A65-F4E4-C34B-5B4B-C72E6E699FC1}"/>
              </a:ext>
            </a:extLst>
          </p:cNvPr>
          <p:cNvSpPr>
            <a:spLocks noGrp="1"/>
          </p:cNvSpPr>
          <p:nvPr>
            <p:ph type="sldNum" sz="quarter" idx="12"/>
          </p:nvPr>
        </p:nvSpPr>
        <p:spPr/>
        <p:txBody>
          <a:bodyPr/>
          <a:lstStyle/>
          <a:p>
            <a:fld id="{6264BDCF-5269-49AC-A246-ED26C2B980E3}" type="slidenum">
              <a:rPr lang="en-US" smtClean="0"/>
              <a:t>93</a:t>
            </a:fld>
            <a:endParaRPr lang="en-US"/>
          </a:p>
        </p:txBody>
      </p:sp>
    </p:spTree>
    <p:extLst>
      <p:ext uri="{BB962C8B-B14F-4D97-AF65-F5344CB8AC3E}">
        <p14:creationId xmlns:p14="http://schemas.microsoft.com/office/powerpoint/2010/main" val="11302420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315DD-52B7-075D-2260-4A2F4C50743C}"/>
              </a:ext>
            </a:extLst>
          </p:cNvPr>
          <p:cNvSpPr>
            <a:spLocks noGrp="1"/>
          </p:cNvSpPr>
          <p:nvPr>
            <p:ph type="title"/>
          </p:nvPr>
        </p:nvSpPr>
        <p:spPr/>
        <p:txBody>
          <a:bodyPr/>
          <a:lstStyle/>
          <a:p>
            <a:r>
              <a:rPr lang="en-US" b="1" dirty="0"/>
              <a:t>CREATE TABLE </a:t>
            </a:r>
            <a:r>
              <a:rPr lang="en-US" dirty="0"/>
              <a:t>DEPENDENT (</a:t>
            </a:r>
          </a:p>
        </p:txBody>
      </p:sp>
      <p:sp>
        <p:nvSpPr>
          <p:cNvPr id="3" name="Content Placeholder 2">
            <a:extLst>
              <a:ext uri="{FF2B5EF4-FFF2-40B4-BE49-F238E27FC236}">
                <a16:creationId xmlns:a16="http://schemas.microsoft.com/office/drawing/2014/main" id="{AD074883-65D9-F51D-A672-5D13A1E09100}"/>
              </a:ext>
            </a:extLst>
          </p:cNvPr>
          <p:cNvSpPr>
            <a:spLocks noGrp="1"/>
          </p:cNvSpPr>
          <p:nvPr>
            <p:ph idx="1"/>
          </p:nvPr>
        </p:nvSpPr>
        <p:spPr/>
        <p:txBody>
          <a:bodyPr>
            <a:noAutofit/>
          </a:bodyPr>
          <a:lstStyle/>
          <a:p>
            <a:r>
              <a:rPr lang="en-US" dirty="0" err="1"/>
              <a:t>Essn</a:t>
            </a:r>
            <a:r>
              <a:rPr lang="en-US" dirty="0"/>
              <a:t>				CHAR(9)		</a:t>
            </a:r>
            <a:r>
              <a:rPr lang="en-US" b="1" dirty="0"/>
              <a:t>NOT NULL</a:t>
            </a:r>
            <a:r>
              <a:rPr lang="en-US" dirty="0"/>
              <a:t>,</a:t>
            </a:r>
          </a:p>
          <a:p>
            <a:r>
              <a:rPr lang="en-US" dirty="0" err="1"/>
              <a:t>Dependent_name</a:t>
            </a:r>
            <a:r>
              <a:rPr lang="en-US" dirty="0"/>
              <a:t>	VARCHAR(15)	</a:t>
            </a:r>
            <a:r>
              <a:rPr lang="en-US" b="1" dirty="0"/>
              <a:t>NOT NULL</a:t>
            </a:r>
            <a:r>
              <a:rPr lang="en-US" dirty="0"/>
              <a:t>,</a:t>
            </a:r>
          </a:p>
          <a:p>
            <a:r>
              <a:rPr lang="en-US" dirty="0"/>
              <a:t>Sex				CHAR,</a:t>
            </a:r>
          </a:p>
          <a:p>
            <a:r>
              <a:rPr lang="en-US" dirty="0" err="1"/>
              <a:t>Bdate</a:t>
            </a:r>
            <a:r>
              <a:rPr lang="en-US" dirty="0"/>
              <a:t>			DATE,</a:t>
            </a:r>
          </a:p>
          <a:p>
            <a:r>
              <a:rPr lang="en-US" dirty="0"/>
              <a:t>Relationship		VARCHAR(8),</a:t>
            </a:r>
          </a:p>
          <a:p>
            <a:r>
              <a:rPr lang="en-US" b="1" dirty="0"/>
              <a:t>PRIMARY KEY </a:t>
            </a:r>
            <a:r>
              <a:rPr lang="en-US" dirty="0"/>
              <a:t>(</a:t>
            </a:r>
            <a:r>
              <a:rPr lang="en-US" dirty="0" err="1"/>
              <a:t>Essn</a:t>
            </a:r>
            <a:r>
              <a:rPr lang="en-US" dirty="0"/>
              <a:t>, </a:t>
            </a:r>
            <a:r>
              <a:rPr lang="en-US" dirty="0" err="1"/>
              <a:t>Dependent_name</a:t>
            </a:r>
            <a:r>
              <a:rPr lang="en-US" dirty="0"/>
              <a:t>),</a:t>
            </a:r>
          </a:p>
          <a:p>
            <a:r>
              <a:rPr lang="en-US" b="1" dirty="0"/>
              <a:t>FOREIGN KEY </a:t>
            </a:r>
            <a:r>
              <a:rPr lang="en-US" dirty="0"/>
              <a:t>(</a:t>
            </a:r>
            <a:r>
              <a:rPr lang="en-US" dirty="0" err="1"/>
              <a:t>Essn</a:t>
            </a:r>
            <a:r>
              <a:rPr lang="en-US" dirty="0"/>
              <a:t>) </a:t>
            </a:r>
            <a:r>
              <a:rPr lang="en-US" b="1" dirty="0"/>
              <a:t>REFERENCES </a:t>
            </a:r>
            <a:r>
              <a:rPr lang="en-US" dirty="0"/>
              <a:t>EMPLOYEE(</a:t>
            </a:r>
            <a:r>
              <a:rPr lang="en-US" dirty="0" err="1"/>
              <a:t>Ssn</a:t>
            </a:r>
            <a:r>
              <a:rPr lang="en-US" dirty="0"/>
              <a:t>) );</a:t>
            </a:r>
          </a:p>
          <a:p>
            <a:endParaRPr lang="en-US" dirty="0"/>
          </a:p>
        </p:txBody>
      </p:sp>
      <p:sp>
        <p:nvSpPr>
          <p:cNvPr id="4" name="Slide Number Placeholder 3">
            <a:extLst>
              <a:ext uri="{FF2B5EF4-FFF2-40B4-BE49-F238E27FC236}">
                <a16:creationId xmlns:a16="http://schemas.microsoft.com/office/drawing/2014/main" id="{63E1DA28-A01F-836A-D4D1-A0B405701BDB}"/>
              </a:ext>
            </a:extLst>
          </p:cNvPr>
          <p:cNvSpPr>
            <a:spLocks noGrp="1"/>
          </p:cNvSpPr>
          <p:nvPr>
            <p:ph type="sldNum" sz="quarter" idx="12"/>
          </p:nvPr>
        </p:nvSpPr>
        <p:spPr/>
        <p:txBody>
          <a:bodyPr/>
          <a:lstStyle/>
          <a:p>
            <a:fld id="{6264BDCF-5269-49AC-A246-ED26C2B980E3}" type="slidenum">
              <a:rPr lang="en-US" smtClean="0"/>
              <a:t>94</a:t>
            </a:fld>
            <a:endParaRPr lang="en-US"/>
          </a:p>
        </p:txBody>
      </p:sp>
    </p:spTree>
    <p:extLst>
      <p:ext uri="{BB962C8B-B14F-4D97-AF65-F5344CB8AC3E}">
        <p14:creationId xmlns:p14="http://schemas.microsoft.com/office/powerpoint/2010/main" val="37061765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E5595-773E-EC8A-C866-EDCCD4193F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3E30D5-1399-5E6C-19E2-91106C37FC94}"/>
              </a:ext>
            </a:extLst>
          </p:cNvPr>
          <p:cNvSpPr>
            <a:spLocks noGrp="1"/>
          </p:cNvSpPr>
          <p:nvPr>
            <p:ph idx="1"/>
          </p:nvPr>
        </p:nvSpPr>
        <p:spPr/>
        <p:txBody>
          <a:bodyPr>
            <a:normAutofit/>
          </a:bodyPr>
          <a:lstStyle/>
          <a:p>
            <a:r>
              <a:rPr lang="en-US" dirty="0"/>
              <a:t>relations declared through CREATE TABLE statements are called </a:t>
            </a:r>
            <a:r>
              <a:rPr lang="en-US" b="1" dirty="0"/>
              <a:t>base tables </a:t>
            </a:r>
            <a:r>
              <a:rPr lang="en-US" dirty="0"/>
              <a:t>(or base relations); its rows are actually stored in DBMS</a:t>
            </a:r>
          </a:p>
          <a:p>
            <a:r>
              <a:rPr lang="en-US" dirty="0"/>
              <a:t>base relations are distinguished from </a:t>
            </a:r>
            <a:r>
              <a:rPr lang="en-US" b="1" dirty="0"/>
              <a:t>virtual relations</a:t>
            </a:r>
            <a:r>
              <a:rPr lang="en-US" dirty="0"/>
              <a:t>, created through CREATE VIEW statement </a:t>
            </a:r>
          </a:p>
          <a:p>
            <a:endParaRPr lang="en-US" dirty="0"/>
          </a:p>
          <a:p>
            <a:r>
              <a:rPr lang="en-US" dirty="0"/>
              <a:t>in SQL, attributes in base table are considered to be </a:t>
            </a:r>
            <a:r>
              <a:rPr lang="en-US" i="1" dirty="0"/>
              <a:t>ordered in the sequence in which they are specified </a:t>
            </a:r>
            <a:r>
              <a:rPr lang="en-US" dirty="0"/>
              <a:t>in CREATE TABLE statement</a:t>
            </a:r>
          </a:p>
          <a:p>
            <a:r>
              <a:rPr lang="en-US" dirty="0"/>
              <a:t>rows (tuples) are not considered to be ordered within a table (relation)</a:t>
            </a:r>
          </a:p>
        </p:txBody>
      </p:sp>
      <p:sp>
        <p:nvSpPr>
          <p:cNvPr id="4" name="Slide Number Placeholder 3">
            <a:extLst>
              <a:ext uri="{FF2B5EF4-FFF2-40B4-BE49-F238E27FC236}">
                <a16:creationId xmlns:a16="http://schemas.microsoft.com/office/drawing/2014/main" id="{3BB824F1-009D-A40D-8420-9453514707C7}"/>
              </a:ext>
            </a:extLst>
          </p:cNvPr>
          <p:cNvSpPr>
            <a:spLocks noGrp="1"/>
          </p:cNvSpPr>
          <p:nvPr>
            <p:ph type="sldNum" sz="quarter" idx="12"/>
          </p:nvPr>
        </p:nvSpPr>
        <p:spPr/>
        <p:txBody>
          <a:bodyPr/>
          <a:lstStyle/>
          <a:p>
            <a:fld id="{6264BDCF-5269-49AC-A246-ED26C2B980E3}" type="slidenum">
              <a:rPr lang="en-US" smtClean="0"/>
              <a:t>95</a:t>
            </a:fld>
            <a:endParaRPr lang="en-US"/>
          </a:p>
        </p:txBody>
      </p:sp>
    </p:spTree>
    <p:extLst>
      <p:ext uri="{BB962C8B-B14F-4D97-AF65-F5344CB8AC3E}">
        <p14:creationId xmlns:p14="http://schemas.microsoft.com/office/powerpoint/2010/main" val="41855003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A993-2567-BC9A-DA67-D6481ED68F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472F81-4421-E892-929B-99A76CD20D1E}"/>
              </a:ext>
            </a:extLst>
          </p:cNvPr>
          <p:cNvSpPr>
            <a:spLocks noGrp="1"/>
          </p:cNvSpPr>
          <p:nvPr>
            <p:ph idx="1"/>
          </p:nvPr>
        </p:nvSpPr>
        <p:spPr/>
        <p:txBody>
          <a:bodyPr>
            <a:normAutofit/>
          </a:bodyPr>
          <a:lstStyle/>
          <a:p>
            <a:r>
              <a:rPr lang="en-US" dirty="0"/>
              <a:t>there are some foreign keys that may cause errors because they are specified either via circular references or because they refer to table that has not yet been created</a:t>
            </a:r>
          </a:p>
          <a:p>
            <a:r>
              <a:rPr lang="en-US" dirty="0"/>
              <a:t>for example, foreign key </a:t>
            </a:r>
            <a:r>
              <a:rPr lang="en-US" dirty="0" err="1"/>
              <a:t>Super_ssn</a:t>
            </a:r>
            <a:r>
              <a:rPr lang="en-US" dirty="0"/>
              <a:t> in EMPLOYEE table is a circular reference because it refers to EMPLOYEE table itself</a:t>
            </a:r>
          </a:p>
          <a:p>
            <a:r>
              <a:rPr lang="en-US" dirty="0"/>
              <a:t>foreign key </a:t>
            </a:r>
            <a:r>
              <a:rPr lang="en-US" dirty="0" err="1"/>
              <a:t>Dno</a:t>
            </a:r>
            <a:r>
              <a:rPr lang="en-US" dirty="0"/>
              <a:t> in EMPLOYEE table refers to DEPARTMENT table, which has not been created yet</a:t>
            </a:r>
          </a:p>
          <a:p>
            <a:r>
              <a:rPr lang="en-US" dirty="0"/>
              <a:t>these constraints can be left out of initial CREATE TABLE statement, and then added later using the ALTER TABLE statement</a:t>
            </a:r>
          </a:p>
        </p:txBody>
      </p:sp>
      <p:sp>
        <p:nvSpPr>
          <p:cNvPr id="4" name="Slide Number Placeholder 3">
            <a:extLst>
              <a:ext uri="{FF2B5EF4-FFF2-40B4-BE49-F238E27FC236}">
                <a16:creationId xmlns:a16="http://schemas.microsoft.com/office/drawing/2014/main" id="{4BDF461B-C6B8-6749-C17C-96E3CFDE9F81}"/>
              </a:ext>
            </a:extLst>
          </p:cNvPr>
          <p:cNvSpPr>
            <a:spLocks noGrp="1"/>
          </p:cNvSpPr>
          <p:nvPr>
            <p:ph type="sldNum" sz="quarter" idx="12"/>
          </p:nvPr>
        </p:nvSpPr>
        <p:spPr/>
        <p:txBody>
          <a:bodyPr/>
          <a:lstStyle/>
          <a:p>
            <a:fld id="{6264BDCF-5269-49AC-A246-ED26C2B980E3}" type="slidenum">
              <a:rPr lang="en-US" smtClean="0"/>
              <a:t>96</a:t>
            </a:fld>
            <a:endParaRPr lang="en-US"/>
          </a:p>
        </p:txBody>
      </p:sp>
    </p:spTree>
    <p:extLst>
      <p:ext uri="{BB962C8B-B14F-4D97-AF65-F5344CB8AC3E}">
        <p14:creationId xmlns:p14="http://schemas.microsoft.com/office/powerpoint/2010/main" val="26108783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66891-C978-8872-7D44-F05B44D1C1B6}"/>
              </a:ext>
            </a:extLst>
          </p:cNvPr>
          <p:cNvSpPr>
            <a:spLocks noGrp="1"/>
          </p:cNvSpPr>
          <p:nvPr>
            <p:ph type="title"/>
          </p:nvPr>
        </p:nvSpPr>
        <p:spPr/>
        <p:txBody>
          <a:bodyPr/>
          <a:lstStyle/>
          <a:p>
            <a:r>
              <a:rPr lang="en-US" dirty="0"/>
              <a:t>Attribute Data Types and Domains in SQL</a:t>
            </a:r>
          </a:p>
        </p:txBody>
      </p:sp>
      <p:sp>
        <p:nvSpPr>
          <p:cNvPr id="3" name="Content Placeholder 2">
            <a:extLst>
              <a:ext uri="{FF2B5EF4-FFF2-40B4-BE49-F238E27FC236}">
                <a16:creationId xmlns:a16="http://schemas.microsoft.com/office/drawing/2014/main" id="{338AB927-6048-B17C-3DF6-0778A84F0F67}"/>
              </a:ext>
            </a:extLst>
          </p:cNvPr>
          <p:cNvSpPr>
            <a:spLocks noGrp="1"/>
          </p:cNvSpPr>
          <p:nvPr>
            <p:ph idx="1"/>
          </p:nvPr>
        </p:nvSpPr>
        <p:spPr/>
        <p:txBody>
          <a:bodyPr>
            <a:noAutofit/>
          </a:bodyPr>
          <a:lstStyle/>
          <a:p>
            <a:r>
              <a:rPr lang="en-US" dirty="0"/>
              <a:t>Numeric </a:t>
            </a:r>
          </a:p>
          <a:p>
            <a:r>
              <a:rPr lang="en-US" dirty="0"/>
              <a:t>Character-string </a:t>
            </a:r>
          </a:p>
          <a:p>
            <a:r>
              <a:rPr lang="en-US" dirty="0"/>
              <a:t>Bit-string</a:t>
            </a:r>
          </a:p>
          <a:p>
            <a:r>
              <a:rPr lang="en-US" dirty="0"/>
              <a:t>DATE</a:t>
            </a:r>
          </a:p>
        </p:txBody>
      </p:sp>
      <p:sp>
        <p:nvSpPr>
          <p:cNvPr id="4" name="Slide Number Placeholder 3">
            <a:extLst>
              <a:ext uri="{FF2B5EF4-FFF2-40B4-BE49-F238E27FC236}">
                <a16:creationId xmlns:a16="http://schemas.microsoft.com/office/drawing/2014/main" id="{C349DB29-7ECC-368F-15BD-7A3DDAE66CA0}"/>
              </a:ext>
            </a:extLst>
          </p:cNvPr>
          <p:cNvSpPr>
            <a:spLocks noGrp="1"/>
          </p:cNvSpPr>
          <p:nvPr>
            <p:ph type="sldNum" sz="quarter" idx="12"/>
          </p:nvPr>
        </p:nvSpPr>
        <p:spPr/>
        <p:txBody>
          <a:bodyPr/>
          <a:lstStyle/>
          <a:p>
            <a:fld id="{6264BDCF-5269-49AC-A246-ED26C2B980E3}" type="slidenum">
              <a:rPr lang="en-US" smtClean="0"/>
              <a:t>97</a:t>
            </a:fld>
            <a:endParaRPr lang="en-US"/>
          </a:p>
        </p:txBody>
      </p:sp>
    </p:spTree>
    <p:extLst>
      <p:ext uri="{BB962C8B-B14F-4D97-AF65-F5344CB8AC3E}">
        <p14:creationId xmlns:p14="http://schemas.microsoft.com/office/powerpoint/2010/main" val="173006975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8346B-257E-204A-15D1-D24F7CF732AB}"/>
              </a:ext>
            </a:extLst>
          </p:cNvPr>
          <p:cNvSpPr>
            <a:spLocks noGrp="1"/>
          </p:cNvSpPr>
          <p:nvPr>
            <p:ph type="title"/>
          </p:nvPr>
        </p:nvSpPr>
        <p:spPr/>
        <p:txBody>
          <a:bodyPr/>
          <a:lstStyle/>
          <a:p>
            <a:r>
              <a:rPr lang="en-US" b="1" dirty="0"/>
              <a:t>Numeric </a:t>
            </a:r>
            <a:r>
              <a:rPr lang="en-US" dirty="0"/>
              <a:t>data types</a:t>
            </a:r>
          </a:p>
        </p:txBody>
      </p:sp>
      <p:sp>
        <p:nvSpPr>
          <p:cNvPr id="3" name="Content Placeholder 2">
            <a:extLst>
              <a:ext uri="{FF2B5EF4-FFF2-40B4-BE49-F238E27FC236}">
                <a16:creationId xmlns:a16="http://schemas.microsoft.com/office/drawing/2014/main" id="{A7AD55A2-22F9-394D-CD7C-1B3EDE4B7C98}"/>
              </a:ext>
            </a:extLst>
          </p:cNvPr>
          <p:cNvSpPr>
            <a:spLocks noGrp="1"/>
          </p:cNvSpPr>
          <p:nvPr>
            <p:ph idx="1"/>
          </p:nvPr>
        </p:nvSpPr>
        <p:spPr/>
        <p:txBody>
          <a:bodyPr>
            <a:normAutofit/>
          </a:bodyPr>
          <a:lstStyle/>
          <a:p>
            <a:r>
              <a:rPr lang="en-US" dirty="0"/>
              <a:t>include integer numbers of various sizes (INTEGER or INT, and SMALLINT) and floating-point (real) numbers of various precision (FLOAT or REAL, and DOUBLE PRECISION)</a:t>
            </a:r>
          </a:p>
          <a:p>
            <a:r>
              <a:rPr lang="en-US" dirty="0"/>
              <a:t>formatted numbers can be declared by using DECIMAL(</a:t>
            </a:r>
            <a:r>
              <a:rPr lang="en-US" i="1" dirty="0" err="1"/>
              <a:t>i</a:t>
            </a:r>
            <a:r>
              <a:rPr lang="en-US" dirty="0"/>
              <a:t>, </a:t>
            </a:r>
            <a:r>
              <a:rPr lang="en-US" i="1" dirty="0"/>
              <a:t>j</a:t>
            </a:r>
            <a:r>
              <a:rPr lang="en-US" dirty="0"/>
              <a:t>) - or DEC(</a:t>
            </a:r>
            <a:r>
              <a:rPr lang="en-US" i="1" dirty="0" err="1"/>
              <a:t>i</a:t>
            </a:r>
            <a:r>
              <a:rPr lang="en-US" dirty="0"/>
              <a:t>, </a:t>
            </a:r>
            <a:r>
              <a:rPr lang="en-US" i="1" dirty="0"/>
              <a:t>j</a:t>
            </a:r>
            <a:r>
              <a:rPr lang="en-US" dirty="0"/>
              <a:t>) or NUMERIC(</a:t>
            </a:r>
            <a:r>
              <a:rPr lang="en-US" i="1" dirty="0" err="1"/>
              <a:t>i</a:t>
            </a:r>
            <a:r>
              <a:rPr lang="en-US" dirty="0"/>
              <a:t>, </a:t>
            </a:r>
            <a:r>
              <a:rPr lang="en-US" i="1" dirty="0"/>
              <a:t>j</a:t>
            </a:r>
            <a:r>
              <a:rPr lang="en-US" dirty="0"/>
              <a:t>) - where </a:t>
            </a:r>
            <a:r>
              <a:rPr lang="en-US" i="1" dirty="0" err="1"/>
              <a:t>i</a:t>
            </a:r>
            <a:r>
              <a:rPr lang="en-US" dirty="0"/>
              <a:t>, the </a:t>
            </a:r>
            <a:r>
              <a:rPr lang="en-US" i="1" dirty="0"/>
              <a:t>precision</a:t>
            </a:r>
            <a:r>
              <a:rPr lang="en-US" dirty="0"/>
              <a:t>, is total number of decimal digits and </a:t>
            </a:r>
            <a:r>
              <a:rPr lang="en-US" i="1" dirty="0"/>
              <a:t>j</a:t>
            </a:r>
            <a:r>
              <a:rPr lang="en-US" dirty="0"/>
              <a:t>, the </a:t>
            </a:r>
            <a:r>
              <a:rPr lang="en-US" i="1" dirty="0"/>
              <a:t>scale</a:t>
            </a:r>
            <a:r>
              <a:rPr lang="en-US" dirty="0"/>
              <a:t>, is number of digits after decimal point; default for scale is zero, and default for precision is implementation-defined</a:t>
            </a:r>
          </a:p>
          <a:p>
            <a:endParaRPr lang="en-US" dirty="0"/>
          </a:p>
        </p:txBody>
      </p:sp>
      <p:sp>
        <p:nvSpPr>
          <p:cNvPr id="4" name="Slide Number Placeholder 3">
            <a:extLst>
              <a:ext uri="{FF2B5EF4-FFF2-40B4-BE49-F238E27FC236}">
                <a16:creationId xmlns:a16="http://schemas.microsoft.com/office/drawing/2014/main" id="{5F128C3E-1596-7348-6D25-940650556C7B}"/>
              </a:ext>
            </a:extLst>
          </p:cNvPr>
          <p:cNvSpPr>
            <a:spLocks noGrp="1"/>
          </p:cNvSpPr>
          <p:nvPr>
            <p:ph type="sldNum" sz="quarter" idx="12"/>
          </p:nvPr>
        </p:nvSpPr>
        <p:spPr/>
        <p:txBody>
          <a:bodyPr/>
          <a:lstStyle/>
          <a:p>
            <a:fld id="{6264BDCF-5269-49AC-A246-ED26C2B980E3}" type="slidenum">
              <a:rPr lang="en-US" smtClean="0"/>
              <a:t>98</a:t>
            </a:fld>
            <a:endParaRPr lang="en-US"/>
          </a:p>
        </p:txBody>
      </p:sp>
    </p:spTree>
    <p:extLst>
      <p:ext uri="{BB962C8B-B14F-4D97-AF65-F5344CB8AC3E}">
        <p14:creationId xmlns:p14="http://schemas.microsoft.com/office/powerpoint/2010/main" val="2835253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F901D-EB0E-F800-FA27-584D09BEDEC4}"/>
              </a:ext>
            </a:extLst>
          </p:cNvPr>
          <p:cNvSpPr>
            <a:spLocks noGrp="1"/>
          </p:cNvSpPr>
          <p:nvPr>
            <p:ph type="title"/>
          </p:nvPr>
        </p:nvSpPr>
        <p:spPr/>
        <p:txBody>
          <a:bodyPr/>
          <a:lstStyle/>
          <a:p>
            <a:r>
              <a:rPr lang="en-US" b="1" dirty="0"/>
              <a:t>Character-string </a:t>
            </a:r>
            <a:r>
              <a:rPr lang="en-US" dirty="0"/>
              <a:t>data types</a:t>
            </a:r>
          </a:p>
        </p:txBody>
      </p:sp>
      <p:sp>
        <p:nvSpPr>
          <p:cNvPr id="3" name="Content Placeholder 2">
            <a:extLst>
              <a:ext uri="{FF2B5EF4-FFF2-40B4-BE49-F238E27FC236}">
                <a16:creationId xmlns:a16="http://schemas.microsoft.com/office/drawing/2014/main" id="{5718464C-BFF0-707C-B274-9328679176D9}"/>
              </a:ext>
            </a:extLst>
          </p:cNvPr>
          <p:cNvSpPr>
            <a:spLocks noGrp="1"/>
          </p:cNvSpPr>
          <p:nvPr>
            <p:ph idx="1"/>
          </p:nvPr>
        </p:nvSpPr>
        <p:spPr/>
        <p:txBody>
          <a:bodyPr>
            <a:noAutofit/>
          </a:bodyPr>
          <a:lstStyle/>
          <a:p>
            <a:r>
              <a:rPr lang="en-US" dirty="0"/>
              <a:t>either fixed length - CHAR(</a:t>
            </a:r>
            <a:r>
              <a:rPr lang="en-US" i="1" dirty="0"/>
              <a:t>n</a:t>
            </a:r>
            <a:r>
              <a:rPr lang="en-US" dirty="0"/>
              <a:t>) or CHARACTER(</a:t>
            </a:r>
            <a:r>
              <a:rPr lang="en-US" i="1" dirty="0"/>
              <a:t>n</a:t>
            </a:r>
            <a:r>
              <a:rPr lang="en-US" dirty="0"/>
              <a:t>), where </a:t>
            </a:r>
            <a:r>
              <a:rPr lang="en-US" i="1" dirty="0"/>
              <a:t>n </a:t>
            </a:r>
            <a:r>
              <a:rPr lang="en-US" dirty="0"/>
              <a:t>is the number of characters</a:t>
            </a:r>
          </a:p>
          <a:p>
            <a:r>
              <a:rPr lang="en-US" dirty="0"/>
              <a:t>or varying length - VARCHAR(</a:t>
            </a:r>
            <a:r>
              <a:rPr lang="en-US" i="1" dirty="0"/>
              <a:t>n</a:t>
            </a:r>
            <a:r>
              <a:rPr lang="en-US" dirty="0"/>
              <a:t>) or CHAR VARYING(</a:t>
            </a:r>
            <a:r>
              <a:rPr lang="en-US" i="1" dirty="0"/>
              <a:t>n</a:t>
            </a:r>
            <a:r>
              <a:rPr lang="en-US" dirty="0"/>
              <a:t>) or CHARACTER VARYING(</a:t>
            </a:r>
            <a:r>
              <a:rPr lang="en-US" i="1" dirty="0"/>
              <a:t>n</a:t>
            </a:r>
            <a:r>
              <a:rPr lang="en-US" dirty="0"/>
              <a:t>), where </a:t>
            </a:r>
            <a:r>
              <a:rPr lang="en-US" i="1" dirty="0"/>
              <a:t>n </a:t>
            </a:r>
            <a:r>
              <a:rPr lang="en-US" dirty="0"/>
              <a:t>is the maximum number of characters</a:t>
            </a:r>
          </a:p>
          <a:p>
            <a:r>
              <a:rPr lang="en-US" dirty="0"/>
              <a:t>for fixed length strings, shorter string is padded with blank characters to the right</a:t>
            </a:r>
          </a:p>
          <a:p>
            <a:r>
              <a:rPr lang="en-US" dirty="0"/>
              <a:t>when specifying literal string value, it is placed between single quotation marks (apostrophes), and it is </a:t>
            </a:r>
            <a:r>
              <a:rPr lang="en-US" i="1" dirty="0"/>
              <a:t>case sensitive</a:t>
            </a:r>
          </a:p>
          <a:p>
            <a:r>
              <a:rPr lang="en-US" dirty="0"/>
              <a:t>for comparison purposes, strings are considered ordered in alphabetic order</a:t>
            </a:r>
          </a:p>
        </p:txBody>
      </p:sp>
      <p:sp>
        <p:nvSpPr>
          <p:cNvPr id="4" name="Slide Number Placeholder 3">
            <a:extLst>
              <a:ext uri="{FF2B5EF4-FFF2-40B4-BE49-F238E27FC236}">
                <a16:creationId xmlns:a16="http://schemas.microsoft.com/office/drawing/2014/main" id="{1DD78941-7BE3-889D-89BD-A823B59E0A2F}"/>
              </a:ext>
            </a:extLst>
          </p:cNvPr>
          <p:cNvSpPr>
            <a:spLocks noGrp="1"/>
          </p:cNvSpPr>
          <p:nvPr>
            <p:ph type="sldNum" sz="quarter" idx="12"/>
          </p:nvPr>
        </p:nvSpPr>
        <p:spPr/>
        <p:txBody>
          <a:bodyPr/>
          <a:lstStyle/>
          <a:p>
            <a:fld id="{6264BDCF-5269-49AC-A246-ED26C2B980E3}" type="slidenum">
              <a:rPr lang="en-US" smtClean="0"/>
              <a:t>99</a:t>
            </a:fld>
            <a:endParaRPr lang="en-US"/>
          </a:p>
        </p:txBody>
      </p:sp>
    </p:spTree>
    <p:extLst>
      <p:ext uri="{BB962C8B-B14F-4D97-AF65-F5344CB8AC3E}">
        <p14:creationId xmlns:p14="http://schemas.microsoft.com/office/powerpoint/2010/main" val="20979831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2877-4602-28D3-EECF-2EE0E74354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5E501D-14E2-47FA-3344-D23A907AE069}"/>
              </a:ext>
            </a:extLst>
          </p:cNvPr>
          <p:cNvSpPr>
            <a:spLocks noGrp="1"/>
          </p:cNvSpPr>
          <p:nvPr>
            <p:ph idx="1"/>
          </p:nvPr>
        </p:nvSpPr>
        <p:spPr/>
        <p:txBody>
          <a:bodyPr>
            <a:normAutofit/>
          </a:bodyPr>
          <a:lstStyle/>
          <a:p>
            <a:r>
              <a:rPr lang="en-US" dirty="0"/>
              <a:t>another variable-length string data type called CHARACTER LARGE OBJECT or CLOB is also available to specify columns that have large text values, such as documents</a:t>
            </a:r>
          </a:p>
          <a:p>
            <a:r>
              <a:rPr lang="en-US" dirty="0"/>
              <a:t>CLOB maximum length can be specified in kilobytes (K), megabytes (M), or gigabytes (G)</a:t>
            </a:r>
          </a:p>
          <a:p>
            <a:r>
              <a:rPr lang="en-US" dirty="0"/>
              <a:t>for example, CLOB(20M) specifies a maximum length of 20 megabytes</a:t>
            </a:r>
          </a:p>
          <a:p>
            <a:endParaRPr lang="en-US" dirty="0"/>
          </a:p>
          <a:p>
            <a:endParaRPr lang="en-US" dirty="0"/>
          </a:p>
        </p:txBody>
      </p:sp>
      <p:sp>
        <p:nvSpPr>
          <p:cNvPr id="4" name="Slide Number Placeholder 3">
            <a:extLst>
              <a:ext uri="{FF2B5EF4-FFF2-40B4-BE49-F238E27FC236}">
                <a16:creationId xmlns:a16="http://schemas.microsoft.com/office/drawing/2014/main" id="{5B9AB460-10BA-151A-1394-A239B1A5DC60}"/>
              </a:ext>
            </a:extLst>
          </p:cNvPr>
          <p:cNvSpPr>
            <a:spLocks noGrp="1"/>
          </p:cNvSpPr>
          <p:nvPr>
            <p:ph type="sldNum" sz="quarter" idx="12"/>
          </p:nvPr>
        </p:nvSpPr>
        <p:spPr/>
        <p:txBody>
          <a:bodyPr/>
          <a:lstStyle/>
          <a:p>
            <a:fld id="{6264BDCF-5269-49AC-A246-ED26C2B980E3}" type="slidenum">
              <a:rPr lang="en-US" smtClean="0"/>
              <a:t>100</a:t>
            </a:fld>
            <a:endParaRPr lang="en-US"/>
          </a:p>
        </p:txBody>
      </p:sp>
    </p:spTree>
    <p:extLst>
      <p:ext uri="{BB962C8B-B14F-4D97-AF65-F5344CB8AC3E}">
        <p14:creationId xmlns:p14="http://schemas.microsoft.com/office/powerpoint/2010/main" val="34414853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6E891-E35C-1D55-5B21-4025CB01858C}"/>
              </a:ext>
            </a:extLst>
          </p:cNvPr>
          <p:cNvSpPr>
            <a:spLocks noGrp="1"/>
          </p:cNvSpPr>
          <p:nvPr>
            <p:ph type="title"/>
          </p:nvPr>
        </p:nvSpPr>
        <p:spPr/>
        <p:txBody>
          <a:bodyPr/>
          <a:lstStyle/>
          <a:p>
            <a:r>
              <a:rPr lang="en-US" b="1" dirty="0"/>
              <a:t>Bit-string </a:t>
            </a:r>
            <a:r>
              <a:rPr lang="en-US" dirty="0"/>
              <a:t>data types</a:t>
            </a:r>
          </a:p>
        </p:txBody>
      </p:sp>
      <p:sp>
        <p:nvSpPr>
          <p:cNvPr id="3" name="Content Placeholder 2">
            <a:extLst>
              <a:ext uri="{FF2B5EF4-FFF2-40B4-BE49-F238E27FC236}">
                <a16:creationId xmlns:a16="http://schemas.microsoft.com/office/drawing/2014/main" id="{9F22D42D-7BFF-3757-35F2-08ED7AF0FD08}"/>
              </a:ext>
            </a:extLst>
          </p:cNvPr>
          <p:cNvSpPr>
            <a:spLocks noGrp="1"/>
          </p:cNvSpPr>
          <p:nvPr>
            <p:ph idx="1"/>
          </p:nvPr>
        </p:nvSpPr>
        <p:spPr>
          <a:xfrm>
            <a:off x="838199" y="1825625"/>
            <a:ext cx="11029335" cy="4351338"/>
          </a:xfrm>
        </p:spPr>
        <p:txBody>
          <a:bodyPr>
            <a:normAutofit lnSpcReduction="10000"/>
          </a:bodyPr>
          <a:lstStyle/>
          <a:p>
            <a:r>
              <a:rPr lang="en-US" dirty="0"/>
              <a:t>either of fixed length </a:t>
            </a:r>
            <a:r>
              <a:rPr lang="en-US" i="1" dirty="0"/>
              <a:t>n - </a:t>
            </a:r>
            <a:r>
              <a:rPr lang="en-US" dirty="0"/>
              <a:t>BIT(</a:t>
            </a:r>
            <a:r>
              <a:rPr lang="en-US" i="1" dirty="0"/>
              <a:t>n</a:t>
            </a:r>
            <a:r>
              <a:rPr lang="en-US" dirty="0"/>
              <a:t>) - or varying length BIT-VARYING(</a:t>
            </a:r>
            <a:r>
              <a:rPr lang="en-US" i="1" dirty="0"/>
              <a:t>n</a:t>
            </a:r>
            <a:r>
              <a:rPr lang="en-US" dirty="0"/>
              <a:t>), where </a:t>
            </a:r>
            <a:r>
              <a:rPr lang="en-US" i="1" dirty="0"/>
              <a:t>n </a:t>
            </a:r>
            <a:r>
              <a:rPr lang="en-US" dirty="0"/>
              <a:t>is the maximum number of bits; default for </a:t>
            </a:r>
            <a:r>
              <a:rPr lang="en-US" i="1" dirty="0"/>
              <a:t>n</a:t>
            </a:r>
            <a:r>
              <a:rPr lang="en-US" dirty="0"/>
              <a:t>, the length of a character string or bit string, is 1</a:t>
            </a:r>
          </a:p>
          <a:p>
            <a:r>
              <a:rPr lang="en-US" dirty="0"/>
              <a:t>literal bit strings are placed between single quotes but preceded by a B to distinguish them from character strings; for example, B‘10101’</a:t>
            </a:r>
          </a:p>
          <a:p>
            <a:r>
              <a:rPr lang="en-US" dirty="0"/>
              <a:t>another variable-length bitstring data type called BINARY LARGE OBJECT or BLOB is also available to specify columns that have large binary values, such as images or audio or video files</a:t>
            </a:r>
          </a:p>
          <a:p>
            <a:r>
              <a:rPr lang="en-US" dirty="0"/>
              <a:t>maximum length of BLOB can be specified in kilobits (K), megabits (M), or gigabits (G); for example, BLOB(30G) specifies a maximum length of 30 gigabits</a:t>
            </a:r>
          </a:p>
          <a:p>
            <a:endParaRPr lang="en-US" dirty="0"/>
          </a:p>
        </p:txBody>
      </p:sp>
      <p:sp>
        <p:nvSpPr>
          <p:cNvPr id="4" name="Slide Number Placeholder 3">
            <a:extLst>
              <a:ext uri="{FF2B5EF4-FFF2-40B4-BE49-F238E27FC236}">
                <a16:creationId xmlns:a16="http://schemas.microsoft.com/office/drawing/2014/main" id="{B1EB1A85-49C1-E391-BEE5-EFCD1F84AAE2}"/>
              </a:ext>
            </a:extLst>
          </p:cNvPr>
          <p:cNvSpPr>
            <a:spLocks noGrp="1"/>
          </p:cNvSpPr>
          <p:nvPr>
            <p:ph type="sldNum" sz="quarter" idx="12"/>
          </p:nvPr>
        </p:nvSpPr>
        <p:spPr/>
        <p:txBody>
          <a:bodyPr/>
          <a:lstStyle/>
          <a:p>
            <a:fld id="{6264BDCF-5269-49AC-A246-ED26C2B980E3}" type="slidenum">
              <a:rPr lang="en-US" smtClean="0"/>
              <a:t>101</a:t>
            </a:fld>
            <a:endParaRPr lang="en-US"/>
          </a:p>
        </p:txBody>
      </p:sp>
    </p:spTree>
    <p:extLst>
      <p:ext uri="{BB962C8B-B14F-4D97-AF65-F5344CB8AC3E}">
        <p14:creationId xmlns:p14="http://schemas.microsoft.com/office/powerpoint/2010/main" val="23925346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D8025-B8E3-AF80-B00F-7846CDBA5C8F}"/>
              </a:ext>
            </a:extLst>
          </p:cNvPr>
          <p:cNvSpPr>
            <a:spLocks noGrp="1"/>
          </p:cNvSpPr>
          <p:nvPr>
            <p:ph type="title"/>
          </p:nvPr>
        </p:nvSpPr>
        <p:spPr/>
        <p:txBody>
          <a:bodyPr/>
          <a:lstStyle/>
          <a:p>
            <a:r>
              <a:rPr lang="en-US" b="1" dirty="0"/>
              <a:t>DATE </a:t>
            </a:r>
            <a:r>
              <a:rPr lang="en-US" dirty="0"/>
              <a:t>data type</a:t>
            </a:r>
            <a:br>
              <a:rPr lang="en-US" dirty="0"/>
            </a:br>
            <a:r>
              <a:rPr lang="en-US" b="1" dirty="0"/>
              <a:t>TIME</a:t>
            </a:r>
            <a:r>
              <a:rPr lang="en-US" dirty="0"/>
              <a:t> data type</a:t>
            </a:r>
          </a:p>
        </p:txBody>
      </p:sp>
      <p:sp>
        <p:nvSpPr>
          <p:cNvPr id="3" name="Content Placeholder 2">
            <a:extLst>
              <a:ext uri="{FF2B5EF4-FFF2-40B4-BE49-F238E27FC236}">
                <a16:creationId xmlns:a16="http://schemas.microsoft.com/office/drawing/2014/main" id="{4D827864-D6ED-4F6D-5455-BF8DCB39CD5C}"/>
              </a:ext>
            </a:extLst>
          </p:cNvPr>
          <p:cNvSpPr>
            <a:spLocks noGrp="1"/>
          </p:cNvSpPr>
          <p:nvPr>
            <p:ph idx="1"/>
          </p:nvPr>
        </p:nvSpPr>
        <p:spPr/>
        <p:txBody>
          <a:bodyPr>
            <a:noAutofit/>
          </a:bodyPr>
          <a:lstStyle/>
          <a:p>
            <a:r>
              <a:rPr lang="en-US" dirty="0"/>
              <a:t>DATE data type has ten positions, and its components are YEAR, MONTH, and DAY in the form YYYY-MM-DD</a:t>
            </a:r>
          </a:p>
          <a:p>
            <a:r>
              <a:rPr lang="en-US" dirty="0"/>
              <a:t>TIME data type has at least eight positions, with components HOUR, MINUTE, and SECOND in the form HH:MM:SS</a:t>
            </a:r>
          </a:p>
          <a:p>
            <a:r>
              <a:rPr lang="en-US" dirty="0"/>
              <a:t>only valid dates and times should be allowed</a:t>
            </a:r>
          </a:p>
          <a:p>
            <a:r>
              <a:rPr lang="en-US" dirty="0"/>
              <a:t>the &lt; (less than) comparison can be used with dates or times</a:t>
            </a:r>
          </a:p>
          <a:p>
            <a:r>
              <a:rPr lang="en-US" dirty="0"/>
              <a:t>literal values are represented by single-quoted strings preceded by the keyword DATE or TIME; for example, DATE ‘2014-09-27’ or TIME ‘09:12:47’</a:t>
            </a:r>
          </a:p>
        </p:txBody>
      </p:sp>
      <p:sp>
        <p:nvSpPr>
          <p:cNvPr id="4" name="Slide Number Placeholder 3">
            <a:extLst>
              <a:ext uri="{FF2B5EF4-FFF2-40B4-BE49-F238E27FC236}">
                <a16:creationId xmlns:a16="http://schemas.microsoft.com/office/drawing/2014/main" id="{9D407741-FA73-396B-047E-CAB81285AC33}"/>
              </a:ext>
            </a:extLst>
          </p:cNvPr>
          <p:cNvSpPr>
            <a:spLocks noGrp="1"/>
          </p:cNvSpPr>
          <p:nvPr>
            <p:ph type="sldNum" sz="quarter" idx="12"/>
          </p:nvPr>
        </p:nvSpPr>
        <p:spPr/>
        <p:txBody>
          <a:bodyPr/>
          <a:lstStyle/>
          <a:p>
            <a:fld id="{6264BDCF-5269-49AC-A246-ED26C2B980E3}" type="slidenum">
              <a:rPr lang="en-US" smtClean="0"/>
              <a:t>102</a:t>
            </a:fld>
            <a:endParaRPr lang="en-US"/>
          </a:p>
        </p:txBody>
      </p:sp>
    </p:spTree>
    <p:extLst>
      <p:ext uri="{BB962C8B-B14F-4D97-AF65-F5344CB8AC3E}">
        <p14:creationId xmlns:p14="http://schemas.microsoft.com/office/powerpoint/2010/main" val="26271536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B0417-A82C-F6DE-A56B-63A2892D27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7B6B6F-6376-8562-DC2C-7DC95F4D7175}"/>
              </a:ext>
            </a:extLst>
          </p:cNvPr>
          <p:cNvSpPr>
            <a:spLocks noGrp="1"/>
          </p:cNvSpPr>
          <p:nvPr>
            <p:ph idx="1"/>
          </p:nvPr>
        </p:nvSpPr>
        <p:spPr/>
        <p:txBody>
          <a:bodyPr>
            <a:normAutofit/>
          </a:bodyPr>
          <a:lstStyle/>
          <a:p>
            <a:r>
              <a:rPr lang="en-US" dirty="0"/>
              <a:t>TIME WITH TIME ZONE data type includes an additional six positions for specifying the </a:t>
            </a:r>
            <a:r>
              <a:rPr lang="en-US" i="1" dirty="0"/>
              <a:t>displacement </a:t>
            </a:r>
            <a:r>
              <a:rPr lang="en-US" dirty="0"/>
              <a:t>from the standard universal time zone, which is in the range +13:00 to –12:59 in units of HOURS:MINUTES</a:t>
            </a:r>
          </a:p>
          <a:p>
            <a:r>
              <a:rPr lang="en-US" dirty="0"/>
              <a:t>if WITH TIME ZONE is not included, default is local time zone for the SQL session</a:t>
            </a:r>
          </a:p>
          <a:p>
            <a:endParaRPr lang="en-US" dirty="0"/>
          </a:p>
          <a:p>
            <a:endParaRPr lang="en-US" dirty="0"/>
          </a:p>
        </p:txBody>
      </p:sp>
      <p:sp>
        <p:nvSpPr>
          <p:cNvPr id="4" name="Slide Number Placeholder 3">
            <a:extLst>
              <a:ext uri="{FF2B5EF4-FFF2-40B4-BE49-F238E27FC236}">
                <a16:creationId xmlns:a16="http://schemas.microsoft.com/office/drawing/2014/main" id="{2F3F12D9-9180-F0FB-B17B-C9756E9B2516}"/>
              </a:ext>
            </a:extLst>
          </p:cNvPr>
          <p:cNvSpPr>
            <a:spLocks noGrp="1"/>
          </p:cNvSpPr>
          <p:nvPr>
            <p:ph type="sldNum" sz="quarter" idx="12"/>
          </p:nvPr>
        </p:nvSpPr>
        <p:spPr/>
        <p:txBody>
          <a:bodyPr/>
          <a:lstStyle/>
          <a:p>
            <a:fld id="{6264BDCF-5269-49AC-A246-ED26C2B980E3}" type="slidenum">
              <a:rPr lang="en-US" smtClean="0"/>
              <a:t>103</a:t>
            </a:fld>
            <a:endParaRPr lang="en-US"/>
          </a:p>
        </p:txBody>
      </p:sp>
    </p:spTree>
    <p:extLst>
      <p:ext uri="{BB962C8B-B14F-4D97-AF65-F5344CB8AC3E}">
        <p14:creationId xmlns:p14="http://schemas.microsoft.com/office/powerpoint/2010/main" val="4748513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5B87-D0BD-9BA4-CF40-AB4B010968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1235CD-9B25-B21C-F805-F1163C218F0B}"/>
              </a:ext>
            </a:extLst>
          </p:cNvPr>
          <p:cNvSpPr>
            <a:spLocks noGrp="1"/>
          </p:cNvSpPr>
          <p:nvPr>
            <p:ph idx="1"/>
          </p:nvPr>
        </p:nvSpPr>
        <p:spPr/>
        <p:txBody>
          <a:bodyPr>
            <a:normAutofit lnSpcReduction="10000"/>
          </a:bodyPr>
          <a:lstStyle/>
          <a:p>
            <a:r>
              <a:rPr lang="en-US" b="1" dirty="0"/>
              <a:t>timestamp </a:t>
            </a:r>
            <a:r>
              <a:rPr lang="en-US" dirty="0"/>
              <a:t>data type (TIMESTAMP) includes the DATE and TIME fields, plus a minimum of six positions for decimal fractions of seconds and optional WITH TIME ZONE qualifier</a:t>
            </a:r>
          </a:p>
          <a:p>
            <a:r>
              <a:rPr lang="en-US" dirty="0"/>
              <a:t>literal values are represented by single-quoted strings preceded by  keyword TIMESTAMP, with blank space between data and time; for example, TIMESTAMP ‘2014-09-27 09:12:47.648302’</a:t>
            </a:r>
          </a:p>
          <a:p>
            <a:r>
              <a:rPr lang="en-US" dirty="0"/>
              <a:t>INTERVAL data type specifies an </a:t>
            </a:r>
            <a:r>
              <a:rPr lang="en-US" b="1" dirty="0"/>
              <a:t>interval, </a:t>
            </a:r>
            <a:r>
              <a:rPr lang="en-US" dirty="0"/>
              <a:t>a </a:t>
            </a:r>
            <a:r>
              <a:rPr lang="en-US" i="1" dirty="0"/>
              <a:t>relative value </a:t>
            </a:r>
            <a:r>
              <a:rPr lang="en-US" dirty="0"/>
              <a:t>that can be used to increment or decrement an absolute value of a date, time, or timestamp</a:t>
            </a:r>
          </a:p>
          <a:p>
            <a:r>
              <a:rPr lang="en-US" dirty="0"/>
              <a:t>intervals are qualified to be either YEAR/MONTH intervals or DAY/TIME intervals</a:t>
            </a:r>
          </a:p>
        </p:txBody>
      </p:sp>
      <p:sp>
        <p:nvSpPr>
          <p:cNvPr id="4" name="Slide Number Placeholder 3">
            <a:extLst>
              <a:ext uri="{FF2B5EF4-FFF2-40B4-BE49-F238E27FC236}">
                <a16:creationId xmlns:a16="http://schemas.microsoft.com/office/drawing/2014/main" id="{A6C70949-15FD-2292-FB58-4365495EFA97}"/>
              </a:ext>
            </a:extLst>
          </p:cNvPr>
          <p:cNvSpPr>
            <a:spLocks noGrp="1"/>
          </p:cNvSpPr>
          <p:nvPr>
            <p:ph type="sldNum" sz="quarter" idx="12"/>
          </p:nvPr>
        </p:nvSpPr>
        <p:spPr/>
        <p:txBody>
          <a:bodyPr/>
          <a:lstStyle/>
          <a:p>
            <a:fld id="{6264BDCF-5269-49AC-A246-ED26C2B980E3}" type="slidenum">
              <a:rPr lang="en-US" smtClean="0"/>
              <a:t>104</a:t>
            </a:fld>
            <a:endParaRPr lang="en-US"/>
          </a:p>
        </p:txBody>
      </p:sp>
    </p:spTree>
    <p:extLst>
      <p:ext uri="{BB962C8B-B14F-4D97-AF65-F5344CB8AC3E}">
        <p14:creationId xmlns:p14="http://schemas.microsoft.com/office/powerpoint/2010/main" val="148711406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744F-A907-756F-8D2D-90ECCE4787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C685CD-34FF-7E76-69D8-77CD5F3C0994}"/>
              </a:ext>
            </a:extLst>
          </p:cNvPr>
          <p:cNvSpPr>
            <a:spLocks noGrp="1"/>
          </p:cNvSpPr>
          <p:nvPr>
            <p:ph idx="1"/>
          </p:nvPr>
        </p:nvSpPr>
        <p:spPr/>
        <p:txBody>
          <a:bodyPr>
            <a:noAutofit/>
          </a:bodyPr>
          <a:lstStyle/>
          <a:p>
            <a:r>
              <a:rPr lang="en-US" dirty="0"/>
              <a:t>possible to specify data type of each attribute directly; alternatively, domain can be declared, and domain name can be used with attribute specification; makes it easier to change data type for domain that is used by numerous attributes in schema, and improves schema readability</a:t>
            </a:r>
          </a:p>
          <a:p>
            <a:r>
              <a:rPr lang="en-US" b="1" dirty="0"/>
              <a:t>CREATE DOMAIN </a:t>
            </a:r>
            <a:r>
              <a:rPr lang="en-US" dirty="0"/>
              <a:t>SSN_TYPE </a:t>
            </a:r>
            <a:r>
              <a:rPr lang="en-US" b="1" dirty="0"/>
              <a:t>AS </a:t>
            </a:r>
            <a:r>
              <a:rPr lang="en-US" dirty="0"/>
              <a:t>CHAR(9);</a:t>
            </a:r>
          </a:p>
          <a:p>
            <a:r>
              <a:rPr lang="en-US" dirty="0"/>
              <a:t>can use SSN_TYPE in place of CHAR(9) for attributes </a:t>
            </a:r>
            <a:r>
              <a:rPr lang="en-US" dirty="0" err="1"/>
              <a:t>Ssn</a:t>
            </a:r>
            <a:r>
              <a:rPr lang="en-US" dirty="0"/>
              <a:t> and </a:t>
            </a:r>
            <a:r>
              <a:rPr lang="en-US" dirty="0" err="1"/>
              <a:t>Super_ssn</a:t>
            </a:r>
            <a:r>
              <a:rPr lang="en-US" dirty="0"/>
              <a:t> of EMPLOYEE, </a:t>
            </a:r>
            <a:r>
              <a:rPr lang="en-US" dirty="0" err="1"/>
              <a:t>Mgr_ssn</a:t>
            </a:r>
            <a:r>
              <a:rPr lang="en-US" dirty="0"/>
              <a:t> of DEPARTMENT, </a:t>
            </a:r>
            <a:r>
              <a:rPr lang="en-US" dirty="0" err="1"/>
              <a:t>Essn</a:t>
            </a:r>
            <a:r>
              <a:rPr lang="en-US" dirty="0"/>
              <a:t> of WORKS_ON, and </a:t>
            </a:r>
            <a:r>
              <a:rPr lang="en-US" dirty="0" err="1"/>
              <a:t>Essn</a:t>
            </a:r>
            <a:r>
              <a:rPr lang="en-US" dirty="0"/>
              <a:t> of DEPENDENT</a:t>
            </a:r>
          </a:p>
          <a:p>
            <a:r>
              <a:rPr lang="en-US" dirty="0"/>
              <a:t>domains may not be available in some implementations of SQL</a:t>
            </a:r>
          </a:p>
        </p:txBody>
      </p:sp>
      <p:sp>
        <p:nvSpPr>
          <p:cNvPr id="4" name="Slide Number Placeholder 3">
            <a:extLst>
              <a:ext uri="{FF2B5EF4-FFF2-40B4-BE49-F238E27FC236}">
                <a16:creationId xmlns:a16="http://schemas.microsoft.com/office/drawing/2014/main" id="{411561F1-4785-85DF-B834-A8174775C030}"/>
              </a:ext>
            </a:extLst>
          </p:cNvPr>
          <p:cNvSpPr>
            <a:spLocks noGrp="1"/>
          </p:cNvSpPr>
          <p:nvPr>
            <p:ph type="sldNum" sz="quarter" idx="12"/>
          </p:nvPr>
        </p:nvSpPr>
        <p:spPr/>
        <p:txBody>
          <a:bodyPr/>
          <a:lstStyle/>
          <a:p>
            <a:fld id="{6264BDCF-5269-49AC-A246-ED26C2B980E3}" type="slidenum">
              <a:rPr lang="en-US" smtClean="0"/>
              <a:t>105</a:t>
            </a:fld>
            <a:endParaRPr lang="en-US"/>
          </a:p>
        </p:txBody>
      </p:sp>
    </p:spTree>
    <p:extLst>
      <p:ext uri="{BB962C8B-B14F-4D97-AF65-F5344CB8AC3E}">
        <p14:creationId xmlns:p14="http://schemas.microsoft.com/office/powerpoint/2010/main" val="391981952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EB0D3-0DFD-CD5F-A2B0-77939A0731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F70D14-CEF5-53E0-6B94-4E1270F23AA9}"/>
              </a:ext>
            </a:extLst>
          </p:cNvPr>
          <p:cNvSpPr>
            <a:spLocks noGrp="1"/>
          </p:cNvSpPr>
          <p:nvPr>
            <p:ph idx="1"/>
          </p:nvPr>
        </p:nvSpPr>
        <p:spPr/>
        <p:txBody>
          <a:bodyPr>
            <a:normAutofit/>
          </a:bodyPr>
          <a:lstStyle/>
          <a:p>
            <a:r>
              <a:rPr lang="en-US" dirty="0"/>
              <a:t>in SQL, there is also </a:t>
            </a:r>
            <a:r>
              <a:rPr lang="en-US" b="1" dirty="0"/>
              <a:t>CREATE TYPE </a:t>
            </a:r>
            <a:r>
              <a:rPr lang="en-US" dirty="0"/>
              <a:t>command, which can be used to create User Defined Types or UDTs</a:t>
            </a:r>
          </a:p>
          <a:p>
            <a:r>
              <a:rPr lang="en-US" dirty="0"/>
              <a:t>often used in conjunction with specifying object database features that have been incorporated into more recent versions of SQL</a:t>
            </a:r>
          </a:p>
        </p:txBody>
      </p:sp>
      <p:sp>
        <p:nvSpPr>
          <p:cNvPr id="4" name="Slide Number Placeholder 3">
            <a:extLst>
              <a:ext uri="{FF2B5EF4-FFF2-40B4-BE49-F238E27FC236}">
                <a16:creationId xmlns:a16="http://schemas.microsoft.com/office/drawing/2014/main" id="{0452D3A2-DB13-73F8-1DF5-3825885CD3AB}"/>
              </a:ext>
            </a:extLst>
          </p:cNvPr>
          <p:cNvSpPr>
            <a:spLocks noGrp="1"/>
          </p:cNvSpPr>
          <p:nvPr>
            <p:ph type="sldNum" sz="quarter" idx="12"/>
          </p:nvPr>
        </p:nvSpPr>
        <p:spPr/>
        <p:txBody>
          <a:bodyPr/>
          <a:lstStyle/>
          <a:p>
            <a:fld id="{6264BDCF-5269-49AC-A246-ED26C2B980E3}" type="slidenum">
              <a:rPr lang="en-US" smtClean="0"/>
              <a:t>106</a:t>
            </a:fld>
            <a:endParaRPr lang="en-US"/>
          </a:p>
        </p:txBody>
      </p:sp>
    </p:spTree>
    <p:extLst>
      <p:ext uri="{BB962C8B-B14F-4D97-AF65-F5344CB8AC3E}">
        <p14:creationId xmlns:p14="http://schemas.microsoft.com/office/powerpoint/2010/main" val="23510469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4CB45-7128-B81E-CC35-BF1C3294C2E9}"/>
              </a:ext>
            </a:extLst>
          </p:cNvPr>
          <p:cNvSpPr>
            <a:spLocks noGrp="1"/>
          </p:cNvSpPr>
          <p:nvPr>
            <p:ph type="title"/>
          </p:nvPr>
        </p:nvSpPr>
        <p:spPr/>
        <p:txBody>
          <a:bodyPr/>
          <a:lstStyle/>
          <a:p>
            <a:r>
              <a:rPr lang="en-US" b="1" dirty="0"/>
              <a:t>Specifying Constraints in SQL</a:t>
            </a:r>
            <a:endParaRPr lang="en-US" dirty="0"/>
          </a:p>
        </p:txBody>
      </p:sp>
      <p:sp>
        <p:nvSpPr>
          <p:cNvPr id="3" name="Content Placeholder 2">
            <a:extLst>
              <a:ext uri="{FF2B5EF4-FFF2-40B4-BE49-F238E27FC236}">
                <a16:creationId xmlns:a16="http://schemas.microsoft.com/office/drawing/2014/main" id="{0348DEC5-1218-5F9B-BF27-4C5500DF4646}"/>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EA35078D-ABC5-B27A-2F6B-08D3AC9F53C9}"/>
              </a:ext>
            </a:extLst>
          </p:cNvPr>
          <p:cNvSpPr>
            <a:spLocks noGrp="1"/>
          </p:cNvSpPr>
          <p:nvPr>
            <p:ph type="sldNum" sz="quarter" idx="12"/>
          </p:nvPr>
        </p:nvSpPr>
        <p:spPr/>
        <p:txBody>
          <a:bodyPr/>
          <a:lstStyle/>
          <a:p>
            <a:fld id="{6264BDCF-5269-49AC-A246-ED26C2B980E3}" type="slidenum">
              <a:rPr lang="en-US" smtClean="0"/>
              <a:t>107</a:t>
            </a:fld>
            <a:endParaRPr lang="en-US"/>
          </a:p>
        </p:txBody>
      </p:sp>
    </p:spTree>
    <p:extLst>
      <p:ext uri="{BB962C8B-B14F-4D97-AF65-F5344CB8AC3E}">
        <p14:creationId xmlns:p14="http://schemas.microsoft.com/office/powerpoint/2010/main" val="262953457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88CE1-456C-7096-BB98-220C08A6E6E6}"/>
              </a:ext>
            </a:extLst>
          </p:cNvPr>
          <p:cNvSpPr>
            <a:spLocks noGrp="1"/>
          </p:cNvSpPr>
          <p:nvPr>
            <p:ph type="title"/>
          </p:nvPr>
        </p:nvSpPr>
        <p:spPr/>
        <p:txBody>
          <a:bodyPr>
            <a:normAutofit/>
          </a:bodyPr>
          <a:lstStyle/>
          <a:p>
            <a:r>
              <a:rPr lang="en-US" dirty="0"/>
              <a:t>Specifying Attribute Constraints</a:t>
            </a:r>
          </a:p>
        </p:txBody>
      </p:sp>
      <p:sp>
        <p:nvSpPr>
          <p:cNvPr id="3" name="Content Placeholder 2">
            <a:extLst>
              <a:ext uri="{FF2B5EF4-FFF2-40B4-BE49-F238E27FC236}">
                <a16:creationId xmlns:a16="http://schemas.microsoft.com/office/drawing/2014/main" id="{98C8D322-A0F8-EE94-15F8-1A5D4345AB47}"/>
              </a:ext>
            </a:extLst>
          </p:cNvPr>
          <p:cNvSpPr>
            <a:spLocks noGrp="1"/>
          </p:cNvSpPr>
          <p:nvPr>
            <p:ph idx="1"/>
          </p:nvPr>
        </p:nvSpPr>
        <p:spPr/>
        <p:txBody>
          <a:bodyPr>
            <a:normAutofit/>
          </a:bodyPr>
          <a:lstStyle/>
          <a:p>
            <a:r>
              <a:rPr lang="en-US" dirty="0"/>
              <a:t>a constraint</a:t>
            </a:r>
            <a:r>
              <a:rPr lang="en-US" i="1" dirty="0"/>
              <a:t> </a:t>
            </a:r>
            <a:r>
              <a:rPr lang="en-US" dirty="0"/>
              <a:t>NOT NULL may be specified if NULL is not permitted for a particular attribute (always implicitly specified for attributes that are part of primary key of each relation), but it can be specified for any other attributes whose values are required not to be NULL</a:t>
            </a:r>
          </a:p>
        </p:txBody>
      </p:sp>
      <p:sp>
        <p:nvSpPr>
          <p:cNvPr id="4" name="Slide Number Placeholder 3">
            <a:extLst>
              <a:ext uri="{FF2B5EF4-FFF2-40B4-BE49-F238E27FC236}">
                <a16:creationId xmlns:a16="http://schemas.microsoft.com/office/drawing/2014/main" id="{F242E816-600D-81CA-0E54-6EAC813A3D3B}"/>
              </a:ext>
            </a:extLst>
          </p:cNvPr>
          <p:cNvSpPr>
            <a:spLocks noGrp="1"/>
          </p:cNvSpPr>
          <p:nvPr>
            <p:ph type="sldNum" sz="quarter" idx="12"/>
          </p:nvPr>
        </p:nvSpPr>
        <p:spPr/>
        <p:txBody>
          <a:bodyPr/>
          <a:lstStyle/>
          <a:p>
            <a:fld id="{6264BDCF-5269-49AC-A246-ED26C2B980E3}" type="slidenum">
              <a:rPr lang="en-US" smtClean="0"/>
              <a:t>108</a:t>
            </a:fld>
            <a:endParaRPr lang="en-US"/>
          </a:p>
        </p:txBody>
      </p:sp>
    </p:spTree>
    <p:extLst>
      <p:ext uri="{BB962C8B-B14F-4D97-AF65-F5344CB8AC3E}">
        <p14:creationId xmlns:p14="http://schemas.microsoft.com/office/powerpoint/2010/main" val="7271286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04F8-B5BF-0B47-03B0-007BFB347265}"/>
              </a:ext>
            </a:extLst>
          </p:cNvPr>
          <p:cNvSpPr>
            <a:spLocks noGrp="1"/>
          </p:cNvSpPr>
          <p:nvPr>
            <p:ph type="title"/>
          </p:nvPr>
        </p:nvSpPr>
        <p:spPr/>
        <p:txBody>
          <a:bodyPr>
            <a:normAutofit/>
          </a:bodyPr>
          <a:lstStyle/>
          <a:p>
            <a:r>
              <a:rPr lang="en-US" dirty="0"/>
              <a:t>Specifying Attribute Defaults</a:t>
            </a:r>
          </a:p>
        </p:txBody>
      </p:sp>
      <p:sp>
        <p:nvSpPr>
          <p:cNvPr id="3" name="Content Placeholder 2">
            <a:extLst>
              <a:ext uri="{FF2B5EF4-FFF2-40B4-BE49-F238E27FC236}">
                <a16:creationId xmlns:a16="http://schemas.microsoft.com/office/drawing/2014/main" id="{90135463-CC57-F619-7BEA-6528948A3706}"/>
              </a:ext>
            </a:extLst>
          </p:cNvPr>
          <p:cNvSpPr>
            <a:spLocks noGrp="1"/>
          </p:cNvSpPr>
          <p:nvPr>
            <p:ph idx="1"/>
          </p:nvPr>
        </p:nvSpPr>
        <p:spPr/>
        <p:txBody>
          <a:bodyPr>
            <a:normAutofit/>
          </a:bodyPr>
          <a:lstStyle/>
          <a:p>
            <a:r>
              <a:rPr lang="en-US" dirty="0"/>
              <a:t>also possible to define a </a:t>
            </a:r>
            <a:r>
              <a:rPr lang="en-US" i="1" dirty="0"/>
              <a:t>default value </a:t>
            </a:r>
            <a:r>
              <a:rPr lang="en-US" dirty="0"/>
              <a:t>for an attribute by appending the clause </a:t>
            </a:r>
            <a:r>
              <a:rPr lang="en-US" b="1" dirty="0"/>
              <a:t>DEFAULT </a:t>
            </a:r>
            <a:r>
              <a:rPr lang="en-US" dirty="0"/>
              <a:t>&lt;value&gt; to attribute definition</a:t>
            </a:r>
          </a:p>
          <a:p>
            <a:r>
              <a:rPr lang="en-US" dirty="0"/>
              <a:t>default value is included in any new tuple if an explicit value is not provided for that attribute</a:t>
            </a:r>
          </a:p>
          <a:p>
            <a:r>
              <a:rPr lang="en-US" dirty="0"/>
              <a:t>if no default clause is specified, the default </a:t>
            </a:r>
            <a:r>
              <a:rPr lang="en-US" i="1" dirty="0" err="1"/>
              <a:t>default</a:t>
            </a:r>
            <a:r>
              <a:rPr lang="en-US" i="1" dirty="0"/>
              <a:t> value </a:t>
            </a:r>
            <a:r>
              <a:rPr lang="en-US" dirty="0"/>
              <a:t>is NULL for attributes </a:t>
            </a:r>
            <a:r>
              <a:rPr lang="en-US" i="1" dirty="0"/>
              <a:t>that do not have </a:t>
            </a:r>
            <a:r>
              <a:rPr lang="en-US" dirty="0"/>
              <a:t>the NOT NULL constraint</a:t>
            </a:r>
          </a:p>
          <a:p>
            <a:endParaRPr lang="en-US" dirty="0"/>
          </a:p>
          <a:p>
            <a:endParaRPr lang="en-US" dirty="0"/>
          </a:p>
        </p:txBody>
      </p:sp>
      <p:sp>
        <p:nvSpPr>
          <p:cNvPr id="4" name="Slide Number Placeholder 3">
            <a:extLst>
              <a:ext uri="{FF2B5EF4-FFF2-40B4-BE49-F238E27FC236}">
                <a16:creationId xmlns:a16="http://schemas.microsoft.com/office/drawing/2014/main" id="{F3988DC9-722A-365D-BDE7-1055DC04A606}"/>
              </a:ext>
            </a:extLst>
          </p:cNvPr>
          <p:cNvSpPr>
            <a:spLocks noGrp="1"/>
          </p:cNvSpPr>
          <p:nvPr>
            <p:ph type="sldNum" sz="quarter" idx="12"/>
          </p:nvPr>
        </p:nvSpPr>
        <p:spPr/>
        <p:txBody>
          <a:bodyPr/>
          <a:lstStyle/>
          <a:p>
            <a:fld id="{6264BDCF-5269-49AC-A246-ED26C2B980E3}" type="slidenum">
              <a:rPr lang="en-US" smtClean="0"/>
              <a:t>109</a:t>
            </a:fld>
            <a:endParaRPr lang="en-US"/>
          </a:p>
        </p:txBody>
      </p:sp>
    </p:spTree>
    <p:extLst>
      <p:ext uri="{BB962C8B-B14F-4D97-AF65-F5344CB8AC3E}">
        <p14:creationId xmlns:p14="http://schemas.microsoft.com/office/powerpoint/2010/main" val="81864491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90E28-9A9E-7C86-BC94-630084159D55}"/>
              </a:ext>
            </a:extLst>
          </p:cNvPr>
          <p:cNvSpPr>
            <a:spLocks noGrp="1"/>
          </p:cNvSpPr>
          <p:nvPr>
            <p:ph type="title"/>
          </p:nvPr>
        </p:nvSpPr>
        <p:spPr/>
        <p:txBody>
          <a:bodyPr/>
          <a:lstStyle/>
          <a:p>
            <a:r>
              <a:rPr lang="en-US" dirty="0"/>
              <a:t>CHECK Constraint</a:t>
            </a:r>
          </a:p>
        </p:txBody>
      </p:sp>
      <p:sp>
        <p:nvSpPr>
          <p:cNvPr id="3" name="Content Placeholder 2">
            <a:extLst>
              <a:ext uri="{FF2B5EF4-FFF2-40B4-BE49-F238E27FC236}">
                <a16:creationId xmlns:a16="http://schemas.microsoft.com/office/drawing/2014/main" id="{FF065537-C657-3758-57B5-20944561D16D}"/>
              </a:ext>
            </a:extLst>
          </p:cNvPr>
          <p:cNvSpPr>
            <a:spLocks noGrp="1"/>
          </p:cNvSpPr>
          <p:nvPr>
            <p:ph idx="1"/>
          </p:nvPr>
        </p:nvSpPr>
        <p:spPr/>
        <p:txBody>
          <a:bodyPr>
            <a:normAutofit/>
          </a:bodyPr>
          <a:lstStyle/>
          <a:p>
            <a:r>
              <a:rPr lang="en-US" dirty="0"/>
              <a:t>constraint that can restrict attribute or domain values using </a:t>
            </a:r>
            <a:r>
              <a:rPr lang="en-US" b="1" dirty="0"/>
              <a:t>CHECK </a:t>
            </a:r>
            <a:r>
              <a:rPr lang="en-US" dirty="0"/>
              <a:t>clause following attribute or domain definition</a:t>
            </a:r>
          </a:p>
          <a:p>
            <a:r>
              <a:rPr lang="en-US" dirty="0"/>
              <a:t>for example, department numbers are restricted to integer numbers between 1 and 20; can change attribute declaration</a:t>
            </a:r>
          </a:p>
          <a:p>
            <a:endParaRPr lang="en-US" dirty="0"/>
          </a:p>
          <a:p>
            <a:r>
              <a:rPr lang="en-US" dirty="0"/>
              <a:t>CHECK clause can also be used in conjunction with the CREATE DOMAIN statement</a:t>
            </a:r>
          </a:p>
          <a:p>
            <a:r>
              <a:rPr lang="en-US" b="1" dirty="0"/>
              <a:t>CREATE DOMAIN </a:t>
            </a:r>
            <a:r>
              <a:rPr lang="en-US" dirty="0"/>
              <a:t>D_NUM </a:t>
            </a:r>
            <a:r>
              <a:rPr lang="en-US" b="1" dirty="0"/>
              <a:t>AS </a:t>
            </a:r>
            <a:r>
              <a:rPr lang="en-US" dirty="0"/>
              <a:t>INTEGER</a:t>
            </a:r>
          </a:p>
          <a:p>
            <a:r>
              <a:rPr lang="en-US" b="1" dirty="0"/>
              <a:t>CHECK </a:t>
            </a:r>
            <a:r>
              <a:rPr lang="en-US" dirty="0"/>
              <a:t>(D_NUM &gt; 0 </a:t>
            </a:r>
            <a:r>
              <a:rPr lang="en-US" b="1" dirty="0"/>
              <a:t>AND </a:t>
            </a:r>
            <a:r>
              <a:rPr lang="en-US" dirty="0"/>
              <a:t>D_NUM &lt; 21);</a:t>
            </a:r>
          </a:p>
        </p:txBody>
      </p:sp>
      <p:sp>
        <p:nvSpPr>
          <p:cNvPr id="4" name="Slide Number Placeholder 3">
            <a:extLst>
              <a:ext uri="{FF2B5EF4-FFF2-40B4-BE49-F238E27FC236}">
                <a16:creationId xmlns:a16="http://schemas.microsoft.com/office/drawing/2014/main" id="{53868B61-7719-442B-142C-A249738B2EDF}"/>
              </a:ext>
            </a:extLst>
          </p:cNvPr>
          <p:cNvSpPr>
            <a:spLocks noGrp="1"/>
          </p:cNvSpPr>
          <p:nvPr>
            <p:ph type="sldNum" sz="quarter" idx="12"/>
          </p:nvPr>
        </p:nvSpPr>
        <p:spPr/>
        <p:txBody>
          <a:bodyPr/>
          <a:lstStyle/>
          <a:p>
            <a:fld id="{6264BDCF-5269-49AC-A246-ED26C2B980E3}" type="slidenum">
              <a:rPr lang="en-US" smtClean="0"/>
              <a:t>110</a:t>
            </a:fld>
            <a:endParaRPr lang="en-US"/>
          </a:p>
        </p:txBody>
      </p:sp>
    </p:spTree>
    <p:extLst>
      <p:ext uri="{BB962C8B-B14F-4D97-AF65-F5344CB8AC3E}">
        <p14:creationId xmlns:p14="http://schemas.microsoft.com/office/powerpoint/2010/main" val="368088522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6D31A-C53B-42F5-D39A-B34B2CB7D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44EBB-23F3-4580-4C14-9C4FFD726792}"/>
              </a:ext>
            </a:extLst>
          </p:cNvPr>
          <p:cNvSpPr>
            <a:spLocks noGrp="1"/>
          </p:cNvSpPr>
          <p:nvPr>
            <p:ph type="title"/>
          </p:nvPr>
        </p:nvSpPr>
        <p:spPr/>
        <p:txBody>
          <a:bodyPr>
            <a:normAutofit/>
          </a:bodyPr>
          <a:lstStyle/>
          <a:p>
            <a:r>
              <a:rPr lang="en-US" b="1" dirty="0"/>
              <a:t>CREATE TABLE </a:t>
            </a:r>
            <a:r>
              <a:rPr lang="en-US" dirty="0"/>
              <a:t>DEPARTMENT ( </a:t>
            </a:r>
          </a:p>
        </p:txBody>
      </p:sp>
      <p:sp>
        <p:nvSpPr>
          <p:cNvPr id="3" name="Content Placeholder 2">
            <a:extLst>
              <a:ext uri="{FF2B5EF4-FFF2-40B4-BE49-F238E27FC236}">
                <a16:creationId xmlns:a16="http://schemas.microsoft.com/office/drawing/2014/main" id="{7363D21E-1C07-A19B-53D7-08D93351CE18}"/>
              </a:ext>
            </a:extLst>
          </p:cNvPr>
          <p:cNvSpPr>
            <a:spLocks noGrp="1"/>
          </p:cNvSpPr>
          <p:nvPr>
            <p:ph idx="1"/>
          </p:nvPr>
        </p:nvSpPr>
        <p:spPr/>
        <p:txBody>
          <a:bodyPr>
            <a:noAutofit/>
          </a:bodyPr>
          <a:lstStyle/>
          <a:p>
            <a:r>
              <a:rPr lang="en-US" sz="2300" dirty="0" err="1"/>
              <a:t>Dname</a:t>
            </a:r>
            <a:r>
              <a:rPr lang="en-US" sz="2300" dirty="0"/>
              <a:t>		VARCHAR(15)	</a:t>
            </a:r>
            <a:r>
              <a:rPr lang="en-US" sz="2300" b="1" dirty="0"/>
              <a:t>NOT NULL</a:t>
            </a:r>
            <a:r>
              <a:rPr lang="en-US" sz="2300" dirty="0"/>
              <a:t>,</a:t>
            </a:r>
          </a:p>
          <a:p>
            <a:r>
              <a:rPr lang="en-US" dirty="0" err="1"/>
              <a:t>Dnumber</a:t>
            </a:r>
            <a:r>
              <a:rPr lang="en-US" dirty="0"/>
              <a:t>		INT			</a:t>
            </a:r>
            <a:r>
              <a:rPr lang="en-US" b="1" dirty="0"/>
              <a:t>NOT NULL </a:t>
            </a:r>
          </a:p>
          <a:p>
            <a:pPr lvl="1"/>
            <a:r>
              <a:rPr lang="en-US" sz="2800" b="1" dirty="0"/>
              <a:t>CHECK </a:t>
            </a:r>
            <a:r>
              <a:rPr lang="en-US" sz="2800" dirty="0"/>
              <a:t>(</a:t>
            </a:r>
            <a:r>
              <a:rPr lang="en-US" sz="2800" dirty="0" err="1"/>
              <a:t>Dnumber</a:t>
            </a:r>
            <a:r>
              <a:rPr lang="en-US" sz="2800" dirty="0"/>
              <a:t> &gt; 0 </a:t>
            </a:r>
            <a:r>
              <a:rPr lang="en-US" sz="2800" b="1" dirty="0"/>
              <a:t>AND </a:t>
            </a:r>
            <a:r>
              <a:rPr lang="en-US" sz="2800" dirty="0" err="1"/>
              <a:t>Dnumber</a:t>
            </a:r>
            <a:r>
              <a:rPr lang="en-US" sz="2800" dirty="0"/>
              <a:t> &lt; 21),</a:t>
            </a:r>
          </a:p>
          <a:p>
            <a:r>
              <a:rPr lang="en-US" sz="2300" dirty="0" err="1"/>
              <a:t>Mgr_ssn</a:t>
            </a:r>
            <a:r>
              <a:rPr lang="en-US" sz="2300" dirty="0"/>
              <a:t>		CHAR(9)		</a:t>
            </a:r>
            <a:r>
              <a:rPr lang="en-US" sz="2300" b="1" dirty="0"/>
              <a:t>NOT NULL</a:t>
            </a:r>
            <a:r>
              <a:rPr lang="en-US" sz="2300" dirty="0"/>
              <a:t>,</a:t>
            </a:r>
          </a:p>
          <a:p>
            <a:r>
              <a:rPr lang="en-US" sz="2300" dirty="0" err="1"/>
              <a:t>Mgr_start_date</a:t>
            </a:r>
            <a:r>
              <a:rPr lang="en-US" sz="2300" dirty="0"/>
              <a:t>	DATE,</a:t>
            </a:r>
          </a:p>
          <a:p>
            <a:r>
              <a:rPr lang="en-US" sz="2300" b="1" dirty="0"/>
              <a:t>PRIMARY KEY </a:t>
            </a:r>
            <a:r>
              <a:rPr lang="en-US" sz="2300" dirty="0"/>
              <a:t>(</a:t>
            </a:r>
            <a:r>
              <a:rPr lang="en-US" sz="2300" dirty="0" err="1"/>
              <a:t>Dnumber</a:t>
            </a:r>
            <a:r>
              <a:rPr lang="en-US" sz="2300" dirty="0"/>
              <a:t>),</a:t>
            </a:r>
          </a:p>
          <a:p>
            <a:r>
              <a:rPr lang="en-US" sz="2300" b="1" dirty="0"/>
              <a:t>UNIQUE </a:t>
            </a:r>
            <a:r>
              <a:rPr lang="en-US" sz="2300" dirty="0"/>
              <a:t>(</a:t>
            </a:r>
            <a:r>
              <a:rPr lang="en-US" sz="2300" dirty="0" err="1"/>
              <a:t>Dname</a:t>
            </a:r>
            <a:r>
              <a:rPr lang="en-US" sz="2300" dirty="0"/>
              <a:t>),</a:t>
            </a:r>
          </a:p>
          <a:p>
            <a:r>
              <a:rPr lang="en-US" sz="2300" b="1" dirty="0"/>
              <a:t>FOREIGN KEY </a:t>
            </a:r>
            <a:r>
              <a:rPr lang="en-US" sz="2300" dirty="0"/>
              <a:t>(</a:t>
            </a:r>
            <a:r>
              <a:rPr lang="en-US" sz="2300" dirty="0" err="1"/>
              <a:t>Mgr_ssn</a:t>
            </a:r>
            <a:r>
              <a:rPr lang="en-US" sz="2300" dirty="0"/>
              <a:t>) </a:t>
            </a:r>
            <a:r>
              <a:rPr lang="en-US" sz="2300" b="1" dirty="0"/>
              <a:t>REFERENCES </a:t>
            </a:r>
            <a:r>
              <a:rPr lang="en-US" sz="2300" dirty="0"/>
              <a:t>EMPLOYEE(</a:t>
            </a:r>
            <a:r>
              <a:rPr lang="en-US" sz="2300" dirty="0" err="1"/>
              <a:t>Ssn</a:t>
            </a:r>
            <a:r>
              <a:rPr lang="en-US" sz="2300" dirty="0"/>
              <a:t>) );</a:t>
            </a:r>
          </a:p>
          <a:p>
            <a:endParaRPr lang="en-US" sz="2700" dirty="0"/>
          </a:p>
        </p:txBody>
      </p:sp>
      <p:sp>
        <p:nvSpPr>
          <p:cNvPr id="4" name="Slide Number Placeholder 3">
            <a:extLst>
              <a:ext uri="{FF2B5EF4-FFF2-40B4-BE49-F238E27FC236}">
                <a16:creationId xmlns:a16="http://schemas.microsoft.com/office/drawing/2014/main" id="{60A0612E-AADA-9160-C0A3-A8E7C9B8A4C9}"/>
              </a:ext>
            </a:extLst>
          </p:cNvPr>
          <p:cNvSpPr>
            <a:spLocks noGrp="1"/>
          </p:cNvSpPr>
          <p:nvPr>
            <p:ph type="sldNum" sz="quarter" idx="12"/>
          </p:nvPr>
        </p:nvSpPr>
        <p:spPr/>
        <p:txBody>
          <a:bodyPr/>
          <a:lstStyle/>
          <a:p>
            <a:fld id="{6264BDCF-5269-49AC-A246-ED26C2B980E3}" type="slidenum">
              <a:rPr lang="en-US" smtClean="0"/>
              <a:t>111</a:t>
            </a:fld>
            <a:endParaRPr lang="en-US"/>
          </a:p>
        </p:txBody>
      </p:sp>
    </p:spTree>
    <p:extLst>
      <p:ext uri="{BB962C8B-B14F-4D97-AF65-F5344CB8AC3E}">
        <p14:creationId xmlns:p14="http://schemas.microsoft.com/office/powerpoint/2010/main" val="35112344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A793B-C6DE-1BE5-5412-16AD7BB89655}"/>
              </a:ext>
            </a:extLst>
          </p:cNvPr>
          <p:cNvSpPr>
            <a:spLocks noGrp="1"/>
          </p:cNvSpPr>
          <p:nvPr>
            <p:ph type="title"/>
          </p:nvPr>
        </p:nvSpPr>
        <p:spPr/>
        <p:txBody>
          <a:bodyPr/>
          <a:lstStyle/>
          <a:p>
            <a:r>
              <a:rPr lang="en-US" dirty="0"/>
              <a:t>Specifying Key Constraints</a:t>
            </a:r>
          </a:p>
        </p:txBody>
      </p:sp>
      <p:sp>
        <p:nvSpPr>
          <p:cNvPr id="3" name="Content Placeholder 2">
            <a:extLst>
              <a:ext uri="{FF2B5EF4-FFF2-40B4-BE49-F238E27FC236}">
                <a16:creationId xmlns:a16="http://schemas.microsoft.com/office/drawing/2014/main" id="{E547B8BD-08E0-D00F-035A-B61754BC74F5}"/>
              </a:ext>
            </a:extLst>
          </p:cNvPr>
          <p:cNvSpPr>
            <a:spLocks noGrp="1"/>
          </p:cNvSpPr>
          <p:nvPr>
            <p:ph idx="1"/>
          </p:nvPr>
        </p:nvSpPr>
        <p:spPr/>
        <p:txBody>
          <a:bodyPr>
            <a:normAutofit/>
          </a:bodyPr>
          <a:lstStyle/>
          <a:p>
            <a:r>
              <a:rPr lang="en-US" dirty="0"/>
              <a:t>the PRIMARY KEY clause specifies one or more attributes that make up primary</a:t>
            </a:r>
          </a:p>
          <a:p>
            <a:r>
              <a:rPr lang="en-US" dirty="0"/>
              <a:t>key of a relation</a:t>
            </a:r>
          </a:p>
          <a:p>
            <a:r>
              <a:rPr lang="en-US" dirty="0"/>
              <a:t>if primary key has a single attribute, clause can follow attribute directly</a:t>
            </a:r>
          </a:p>
          <a:p>
            <a:r>
              <a:rPr lang="en-US" dirty="0"/>
              <a:t>for example, primary key of DEPARTMENT can be specified as</a:t>
            </a:r>
          </a:p>
          <a:p>
            <a:r>
              <a:rPr lang="en-US" dirty="0" err="1"/>
              <a:t>Dnumber</a:t>
            </a:r>
            <a:r>
              <a:rPr lang="en-US" dirty="0"/>
              <a:t> INT PRIMARY KEY,</a:t>
            </a:r>
          </a:p>
        </p:txBody>
      </p:sp>
      <p:sp>
        <p:nvSpPr>
          <p:cNvPr id="4" name="Slide Number Placeholder 3">
            <a:extLst>
              <a:ext uri="{FF2B5EF4-FFF2-40B4-BE49-F238E27FC236}">
                <a16:creationId xmlns:a16="http://schemas.microsoft.com/office/drawing/2014/main" id="{2182BAA6-7C66-EF5C-1874-256FC247C52D}"/>
              </a:ext>
            </a:extLst>
          </p:cNvPr>
          <p:cNvSpPr>
            <a:spLocks noGrp="1"/>
          </p:cNvSpPr>
          <p:nvPr>
            <p:ph type="sldNum" sz="quarter" idx="12"/>
          </p:nvPr>
        </p:nvSpPr>
        <p:spPr/>
        <p:txBody>
          <a:bodyPr/>
          <a:lstStyle/>
          <a:p>
            <a:fld id="{6264BDCF-5269-49AC-A246-ED26C2B980E3}" type="slidenum">
              <a:rPr lang="en-US" smtClean="0"/>
              <a:t>112</a:t>
            </a:fld>
            <a:endParaRPr lang="en-US"/>
          </a:p>
        </p:txBody>
      </p:sp>
    </p:spTree>
    <p:extLst>
      <p:ext uri="{BB962C8B-B14F-4D97-AF65-F5344CB8AC3E}">
        <p14:creationId xmlns:p14="http://schemas.microsoft.com/office/powerpoint/2010/main" val="200829688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7C9A6-75D9-358F-9FDA-865D1A35E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EE7544-A4E8-D8E7-3832-BDEE2E4530BC}"/>
              </a:ext>
            </a:extLst>
          </p:cNvPr>
          <p:cNvSpPr>
            <a:spLocks noGrp="1"/>
          </p:cNvSpPr>
          <p:nvPr>
            <p:ph type="title"/>
          </p:nvPr>
        </p:nvSpPr>
        <p:spPr/>
        <p:txBody>
          <a:bodyPr/>
          <a:lstStyle/>
          <a:p>
            <a:r>
              <a:rPr lang="en-US" dirty="0"/>
              <a:t>Specifying Key Constraints</a:t>
            </a:r>
          </a:p>
        </p:txBody>
      </p:sp>
      <p:sp>
        <p:nvSpPr>
          <p:cNvPr id="3" name="Content Placeholder 2">
            <a:extLst>
              <a:ext uri="{FF2B5EF4-FFF2-40B4-BE49-F238E27FC236}">
                <a16:creationId xmlns:a16="http://schemas.microsoft.com/office/drawing/2014/main" id="{9024ECFF-BD34-A5D0-DC34-133919AB3E1D}"/>
              </a:ext>
            </a:extLst>
          </p:cNvPr>
          <p:cNvSpPr>
            <a:spLocks noGrp="1"/>
          </p:cNvSpPr>
          <p:nvPr>
            <p:ph idx="1"/>
          </p:nvPr>
        </p:nvSpPr>
        <p:spPr/>
        <p:txBody>
          <a:bodyPr>
            <a:normAutofit/>
          </a:bodyPr>
          <a:lstStyle/>
          <a:p>
            <a:r>
              <a:rPr lang="en-US" dirty="0"/>
              <a:t>the UNIQUE clause specifies alternate (unique) keys, also known as candidate keys</a:t>
            </a:r>
          </a:p>
          <a:p>
            <a:r>
              <a:rPr lang="en-US" dirty="0"/>
              <a:t>can also be specified directly if it is a single attribute</a:t>
            </a:r>
          </a:p>
          <a:p>
            <a:r>
              <a:rPr lang="en-US" dirty="0"/>
              <a:t>for example:</a:t>
            </a:r>
          </a:p>
          <a:p>
            <a:r>
              <a:rPr lang="en-US" dirty="0" err="1"/>
              <a:t>Dname</a:t>
            </a:r>
            <a:r>
              <a:rPr lang="en-US" dirty="0"/>
              <a:t> VARCHAR(15) UNIQUE,</a:t>
            </a:r>
          </a:p>
        </p:txBody>
      </p:sp>
      <p:sp>
        <p:nvSpPr>
          <p:cNvPr id="4" name="Slide Number Placeholder 3">
            <a:extLst>
              <a:ext uri="{FF2B5EF4-FFF2-40B4-BE49-F238E27FC236}">
                <a16:creationId xmlns:a16="http://schemas.microsoft.com/office/drawing/2014/main" id="{B8E5DF95-7A7D-8682-8D5F-9BEF799FE211}"/>
              </a:ext>
            </a:extLst>
          </p:cNvPr>
          <p:cNvSpPr>
            <a:spLocks noGrp="1"/>
          </p:cNvSpPr>
          <p:nvPr>
            <p:ph type="sldNum" sz="quarter" idx="12"/>
          </p:nvPr>
        </p:nvSpPr>
        <p:spPr/>
        <p:txBody>
          <a:bodyPr/>
          <a:lstStyle/>
          <a:p>
            <a:fld id="{6264BDCF-5269-49AC-A246-ED26C2B980E3}" type="slidenum">
              <a:rPr lang="en-US" smtClean="0"/>
              <a:t>113</a:t>
            </a:fld>
            <a:endParaRPr lang="en-US"/>
          </a:p>
        </p:txBody>
      </p:sp>
    </p:spTree>
    <p:extLst>
      <p:ext uri="{BB962C8B-B14F-4D97-AF65-F5344CB8AC3E}">
        <p14:creationId xmlns:p14="http://schemas.microsoft.com/office/powerpoint/2010/main" val="118267030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D0BEF-8800-7979-7DFE-431B487F6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D65A8-2B44-5E00-DD14-3D72D744D1C9}"/>
              </a:ext>
            </a:extLst>
          </p:cNvPr>
          <p:cNvSpPr>
            <a:spLocks noGrp="1"/>
          </p:cNvSpPr>
          <p:nvPr>
            <p:ph type="title"/>
          </p:nvPr>
        </p:nvSpPr>
        <p:spPr/>
        <p:txBody>
          <a:bodyPr/>
          <a:lstStyle/>
          <a:p>
            <a:r>
              <a:rPr lang="en-US" dirty="0"/>
              <a:t>Specifying Referential Integrity Constraints</a:t>
            </a:r>
          </a:p>
        </p:txBody>
      </p:sp>
      <p:sp>
        <p:nvSpPr>
          <p:cNvPr id="3" name="Content Placeholder 2">
            <a:extLst>
              <a:ext uri="{FF2B5EF4-FFF2-40B4-BE49-F238E27FC236}">
                <a16:creationId xmlns:a16="http://schemas.microsoft.com/office/drawing/2014/main" id="{18A30F49-1857-EF52-9709-7D5FB9ADFE69}"/>
              </a:ext>
            </a:extLst>
          </p:cNvPr>
          <p:cNvSpPr>
            <a:spLocks noGrp="1"/>
          </p:cNvSpPr>
          <p:nvPr>
            <p:ph idx="1"/>
          </p:nvPr>
        </p:nvSpPr>
        <p:spPr/>
        <p:txBody>
          <a:bodyPr>
            <a:noAutofit/>
          </a:bodyPr>
          <a:lstStyle/>
          <a:p>
            <a:r>
              <a:rPr lang="en-US" dirty="0"/>
              <a:t>referential integrity is specified via the </a:t>
            </a:r>
            <a:r>
              <a:rPr lang="en-US" b="1" dirty="0"/>
              <a:t>FOREIGN KEY </a:t>
            </a:r>
            <a:r>
              <a:rPr lang="en-US" dirty="0"/>
              <a:t>clause</a:t>
            </a:r>
          </a:p>
          <a:p>
            <a:r>
              <a:rPr lang="en-US" dirty="0"/>
              <a:t>referential integrity constraint can be violated when tuples are inserted or deleted, or when foreign key or primary key attribute value is updated</a:t>
            </a:r>
          </a:p>
          <a:p>
            <a:r>
              <a:rPr lang="en-US" dirty="0"/>
              <a:t>default action that SQL takes for an integrity violation is to </a:t>
            </a:r>
            <a:r>
              <a:rPr lang="en-US" b="1" dirty="0"/>
              <a:t>reject </a:t>
            </a:r>
            <a:r>
              <a:rPr lang="en-US" dirty="0"/>
              <a:t>the update operation that will cause a violation, which is known as the RESTRICT option</a:t>
            </a:r>
          </a:p>
        </p:txBody>
      </p:sp>
      <p:sp>
        <p:nvSpPr>
          <p:cNvPr id="4" name="Slide Number Placeholder 3">
            <a:extLst>
              <a:ext uri="{FF2B5EF4-FFF2-40B4-BE49-F238E27FC236}">
                <a16:creationId xmlns:a16="http://schemas.microsoft.com/office/drawing/2014/main" id="{05D7390C-E4BA-75F2-CDA5-951ACEF2DB22}"/>
              </a:ext>
            </a:extLst>
          </p:cNvPr>
          <p:cNvSpPr>
            <a:spLocks noGrp="1"/>
          </p:cNvSpPr>
          <p:nvPr>
            <p:ph type="sldNum" sz="quarter" idx="12"/>
          </p:nvPr>
        </p:nvSpPr>
        <p:spPr/>
        <p:txBody>
          <a:bodyPr/>
          <a:lstStyle/>
          <a:p>
            <a:fld id="{6264BDCF-5269-49AC-A246-ED26C2B980E3}" type="slidenum">
              <a:rPr lang="en-US" smtClean="0"/>
              <a:t>114</a:t>
            </a:fld>
            <a:endParaRPr lang="en-US"/>
          </a:p>
        </p:txBody>
      </p:sp>
    </p:spTree>
    <p:extLst>
      <p:ext uri="{BB962C8B-B14F-4D97-AF65-F5344CB8AC3E}">
        <p14:creationId xmlns:p14="http://schemas.microsoft.com/office/powerpoint/2010/main" val="307953579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6AE8D-8E53-6F9F-717B-8BA730E78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47107-97F9-4835-6F47-37718ECF570B}"/>
              </a:ext>
            </a:extLst>
          </p:cNvPr>
          <p:cNvSpPr>
            <a:spLocks noGrp="1"/>
          </p:cNvSpPr>
          <p:nvPr>
            <p:ph type="title"/>
          </p:nvPr>
        </p:nvSpPr>
        <p:spPr/>
        <p:txBody>
          <a:bodyPr/>
          <a:lstStyle/>
          <a:p>
            <a:r>
              <a:rPr lang="en-US" dirty="0"/>
              <a:t>Specifying Referential Integrity Constraints</a:t>
            </a:r>
          </a:p>
        </p:txBody>
      </p:sp>
      <p:sp>
        <p:nvSpPr>
          <p:cNvPr id="3" name="Content Placeholder 2">
            <a:extLst>
              <a:ext uri="{FF2B5EF4-FFF2-40B4-BE49-F238E27FC236}">
                <a16:creationId xmlns:a16="http://schemas.microsoft.com/office/drawing/2014/main" id="{24AF76FC-574B-DFFA-F0A2-739314B24678}"/>
              </a:ext>
            </a:extLst>
          </p:cNvPr>
          <p:cNvSpPr>
            <a:spLocks noGrp="1"/>
          </p:cNvSpPr>
          <p:nvPr>
            <p:ph idx="1"/>
          </p:nvPr>
        </p:nvSpPr>
        <p:spPr/>
        <p:txBody>
          <a:bodyPr>
            <a:noAutofit/>
          </a:bodyPr>
          <a:lstStyle/>
          <a:p>
            <a:r>
              <a:rPr lang="en-US" dirty="0"/>
              <a:t>designer can specify alternative action to be taken by attaching a referential triggered action</a:t>
            </a:r>
            <a:r>
              <a:rPr lang="en-US" b="1" dirty="0"/>
              <a:t> </a:t>
            </a:r>
            <a:r>
              <a:rPr lang="en-US" dirty="0"/>
              <a:t>clause to constraint: SET NULL, CASCADE, and SET DEFAULT; option must be qualified with either ON DELETE or ON UPDATE</a:t>
            </a:r>
          </a:p>
          <a:p>
            <a:r>
              <a:rPr lang="en-US" dirty="0"/>
              <a:t>responsibility of database designer to choose appropriate action and to specify it in database schema</a:t>
            </a:r>
          </a:p>
          <a:p>
            <a:r>
              <a:rPr lang="en-US" dirty="0"/>
              <a:t>a general rule, the CASCADE option is suitable </a:t>
            </a:r>
          </a:p>
          <a:p>
            <a:pPr lvl="1"/>
            <a:r>
              <a:rPr lang="en-US" sz="2700" dirty="0"/>
              <a:t>for “relationship” relations such as WORKS_ON</a:t>
            </a:r>
          </a:p>
          <a:p>
            <a:pPr lvl="1"/>
            <a:r>
              <a:rPr lang="en-US" sz="2700" dirty="0"/>
              <a:t>for relations that represent multivalued attributes, such as DEPT_LOCATIONS</a:t>
            </a:r>
          </a:p>
          <a:p>
            <a:pPr lvl="1"/>
            <a:r>
              <a:rPr lang="en-US" sz="2700" dirty="0"/>
              <a:t>for relations that represent weak entity types, such as DEPENDENT</a:t>
            </a:r>
          </a:p>
        </p:txBody>
      </p:sp>
      <p:sp>
        <p:nvSpPr>
          <p:cNvPr id="4" name="Slide Number Placeholder 3">
            <a:extLst>
              <a:ext uri="{FF2B5EF4-FFF2-40B4-BE49-F238E27FC236}">
                <a16:creationId xmlns:a16="http://schemas.microsoft.com/office/drawing/2014/main" id="{BEC90617-25D4-0142-C498-FC1535F171CB}"/>
              </a:ext>
            </a:extLst>
          </p:cNvPr>
          <p:cNvSpPr>
            <a:spLocks noGrp="1"/>
          </p:cNvSpPr>
          <p:nvPr>
            <p:ph type="sldNum" sz="quarter" idx="12"/>
          </p:nvPr>
        </p:nvSpPr>
        <p:spPr/>
        <p:txBody>
          <a:bodyPr/>
          <a:lstStyle/>
          <a:p>
            <a:fld id="{6264BDCF-5269-49AC-A246-ED26C2B980E3}" type="slidenum">
              <a:rPr lang="en-US" smtClean="0"/>
              <a:t>115</a:t>
            </a:fld>
            <a:endParaRPr lang="en-US"/>
          </a:p>
        </p:txBody>
      </p:sp>
    </p:spTree>
    <p:extLst>
      <p:ext uri="{BB962C8B-B14F-4D97-AF65-F5344CB8AC3E}">
        <p14:creationId xmlns:p14="http://schemas.microsoft.com/office/powerpoint/2010/main" val="354957317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7F022-7677-5326-5113-E4CFD2656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1351D-4D39-96B3-6345-EDEAAA005EA3}"/>
              </a:ext>
            </a:extLst>
          </p:cNvPr>
          <p:cNvSpPr>
            <a:spLocks noGrp="1"/>
          </p:cNvSpPr>
          <p:nvPr>
            <p:ph type="title"/>
          </p:nvPr>
        </p:nvSpPr>
        <p:spPr/>
        <p:txBody>
          <a:bodyPr>
            <a:normAutofit/>
          </a:bodyPr>
          <a:lstStyle/>
          <a:p>
            <a:r>
              <a:rPr lang="en-US" b="1" dirty="0"/>
              <a:t>CREATE TABLE </a:t>
            </a:r>
            <a:r>
              <a:rPr lang="en-US" dirty="0"/>
              <a:t>DEPARTMENT ( </a:t>
            </a:r>
          </a:p>
        </p:txBody>
      </p:sp>
      <p:sp>
        <p:nvSpPr>
          <p:cNvPr id="3" name="Content Placeholder 2">
            <a:extLst>
              <a:ext uri="{FF2B5EF4-FFF2-40B4-BE49-F238E27FC236}">
                <a16:creationId xmlns:a16="http://schemas.microsoft.com/office/drawing/2014/main" id="{538ECE1A-060F-116F-DF28-B74DAEFCA3BA}"/>
              </a:ext>
            </a:extLst>
          </p:cNvPr>
          <p:cNvSpPr>
            <a:spLocks noGrp="1"/>
          </p:cNvSpPr>
          <p:nvPr>
            <p:ph idx="1"/>
          </p:nvPr>
        </p:nvSpPr>
        <p:spPr/>
        <p:txBody>
          <a:bodyPr>
            <a:noAutofit/>
          </a:bodyPr>
          <a:lstStyle/>
          <a:p>
            <a:r>
              <a:rPr lang="en-US" sz="2300" dirty="0" err="1"/>
              <a:t>Dname</a:t>
            </a:r>
            <a:r>
              <a:rPr lang="en-US" sz="2300" dirty="0"/>
              <a:t>		VARCHAR(15)	</a:t>
            </a:r>
            <a:r>
              <a:rPr lang="en-US" sz="2300" b="1" dirty="0"/>
              <a:t>NOT NULL</a:t>
            </a:r>
            <a:r>
              <a:rPr lang="en-US" sz="2300" dirty="0"/>
              <a:t>,</a:t>
            </a:r>
          </a:p>
          <a:p>
            <a:r>
              <a:rPr lang="en-US" sz="2300" dirty="0" err="1"/>
              <a:t>Dnumber</a:t>
            </a:r>
            <a:r>
              <a:rPr lang="en-US" sz="2300" dirty="0"/>
              <a:t>		INT			</a:t>
            </a:r>
            <a:r>
              <a:rPr lang="en-US" sz="2300" b="1" dirty="0"/>
              <a:t>NOT NULL,</a:t>
            </a:r>
          </a:p>
          <a:p>
            <a:r>
              <a:rPr lang="en-US" sz="2300" dirty="0" err="1"/>
              <a:t>Mgr_ssn</a:t>
            </a:r>
            <a:r>
              <a:rPr lang="en-US" sz="2300" dirty="0"/>
              <a:t>		CHAR(9)		</a:t>
            </a:r>
            <a:r>
              <a:rPr lang="en-US" sz="2300" b="1" dirty="0"/>
              <a:t>NOT NULL</a:t>
            </a:r>
            <a:r>
              <a:rPr lang="en-US" sz="2300" dirty="0"/>
              <a:t>,</a:t>
            </a:r>
          </a:p>
          <a:p>
            <a:r>
              <a:rPr lang="en-US" sz="2300" dirty="0" err="1"/>
              <a:t>Mgr_start_date</a:t>
            </a:r>
            <a:r>
              <a:rPr lang="en-US" sz="2300" dirty="0"/>
              <a:t>	DATE,</a:t>
            </a:r>
          </a:p>
          <a:p>
            <a:r>
              <a:rPr lang="en-US" b="1" dirty="0"/>
              <a:t>PRIMARY KEY </a:t>
            </a:r>
            <a:r>
              <a:rPr lang="en-US" dirty="0"/>
              <a:t>(</a:t>
            </a:r>
            <a:r>
              <a:rPr lang="en-US" dirty="0" err="1"/>
              <a:t>Dnumber</a:t>
            </a:r>
            <a:r>
              <a:rPr lang="en-US" dirty="0"/>
              <a:t>),</a:t>
            </a:r>
          </a:p>
          <a:p>
            <a:r>
              <a:rPr lang="en-US" sz="2500" b="1" dirty="0"/>
              <a:t>UNIQUE </a:t>
            </a:r>
            <a:r>
              <a:rPr lang="en-US" sz="2500" dirty="0"/>
              <a:t>(</a:t>
            </a:r>
            <a:r>
              <a:rPr lang="en-US" sz="2500" dirty="0" err="1"/>
              <a:t>Dname</a:t>
            </a:r>
            <a:r>
              <a:rPr lang="en-US" sz="2500" dirty="0"/>
              <a:t>),</a:t>
            </a:r>
          </a:p>
          <a:p>
            <a:r>
              <a:rPr lang="en-US" b="1" dirty="0"/>
              <a:t>FOREIGN KEY </a:t>
            </a:r>
            <a:r>
              <a:rPr lang="en-US" dirty="0"/>
              <a:t>(</a:t>
            </a:r>
            <a:r>
              <a:rPr lang="en-US" dirty="0" err="1"/>
              <a:t>Mgr_ssn</a:t>
            </a:r>
            <a:r>
              <a:rPr lang="en-US" dirty="0"/>
              <a:t>) </a:t>
            </a:r>
            <a:r>
              <a:rPr lang="en-US" b="1" dirty="0"/>
              <a:t>REFERENCES </a:t>
            </a:r>
            <a:r>
              <a:rPr lang="en-US" dirty="0"/>
              <a:t>EMPLOYEE(</a:t>
            </a:r>
            <a:r>
              <a:rPr lang="en-US" dirty="0" err="1"/>
              <a:t>Ssn</a:t>
            </a:r>
            <a:r>
              <a:rPr lang="en-US" dirty="0"/>
              <a:t>) );</a:t>
            </a:r>
          </a:p>
          <a:p>
            <a:endParaRPr lang="en-US" sz="3200" dirty="0"/>
          </a:p>
        </p:txBody>
      </p:sp>
      <p:sp>
        <p:nvSpPr>
          <p:cNvPr id="4" name="Slide Number Placeholder 3">
            <a:extLst>
              <a:ext uri="{FF2B5EF4-FFF2-40B4-BE49-F238E27FC236}">
                <a16:creationId xmlns:a16="http://schemas.microsoft.com/office/drawing/2014/main" id="{9188FC4F-C16B-4697-2155-FDEFABA0C498}"/>
              </a:ext>
            </a:extLst>
          </p:cNvPr>
          <p:cNvSpPr>
            <a:spLocks noGrp="1"/>
          </p:cNvSpPr>
          <p:nvPr>
            <p:ph type="sldNum" sz="quarter" idx="12"/>
          </p:nvPr>
        </p:nvSpPr>
        <p:spPr/>
        <p:txBody>
          <a:bodyPr/>
          <a:lstStyle/>
          <a:p>
            <a:fld id="{6264BDCF-5269-49AC-A246-ED26C2B980E3}" type="slidenum">
              <a:rPr lang="en-US" smtClean="0"/>
              <a:t>116</a:t>
            </a:fld>
            <a:endParaRPr lang="en-US"/>
          </a:p>
        </p:txBody>
      </p:sp>
    </p:spTree>
    <p:extLst>
      <p:ext uri="{BB962C8B-B14F-4D97-AF65-F5344CB8AC3E}">
        <p14:creationId xmlns:p14="http://schemas.microsoft.com/office/powerpoint/2010/main" val="281662817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0D2A9-731D-29AD-2DF0-6718E9A20A26}"/>
              </a:ext>
            </a:extLst>
          </p:cNvPr>
          <p:cNvSpPr>
            <a:spLocks noGrp="1"/>
          </p:cNvSpPr>
          <p:nvPr>
            <p:ph type="title"/>
          </p:nvPr>
        </p:nvSpPr>
        <p:spPr/>
        <p:txBody>
          <a:bodyPr/>
          <a:lstStyle/>
          <a:p>
            <a:r>
              <a:rPr lang="en-US" dirty="0"/>
              <a:t>Names to Constraints</a:t>
            </a:r>
          </a:p>
        </p:txBody>
      </p:sp>
      <p:sp>
        <p:nvSpPr>
          <p:cNvPr id="3" name="Content Placeholder 2">
            <a:extLst>
              <a:ext uri="{FF2B5EF4-FFF2-40B4-BE49-F238E27FC236}">
                <a16:creationId xmlns:a16="http://schemas.microsoft.com/office/drawing/2014/main" id="{3DFC8751-4F01-9FE0-BDD5-918E6435B5D9}"/>
              </a:ext>
            </a:extLst>
          </p:cNvPr>
          <p:cNvSpPr>
            <a:spLocks noGrp="1"/>
          </p:cNvSpPr>
          <p:nvPr>
            <p:ph idx="1"/>
          </p:nvPr>
        </p:nvSpPr>
        <p:spPr/>
        <p:txBody>
          <a:bodyPr>
            <a:normAutofit/>
          </a:bodyPr>
          <a:lstStyle/>
          <a:p>
            <a:r>
              <a:rPr lang="en-US" dirty="0"/>
              <a:t>a constraint may be given a name, following the keyword CONSTRAINT</a:t>
            </a:r>
          </a:p>
          <a:p>
            <a:r>
              <a:rPr lang="en-US" dirty="0"/>
              <a:t>names of all constraints within a particular schema must be unique</a:t>
            </a:r>
          </a:p>
          <a:p>
            <a:r>
              <a:rPr lang="en-US" dirty="0"/>
              <a:t>constraint name is used to identify particular constraint in case the constraint must be dropped later and replaced, or the constraints could be easily identified in rejected complex transactions  </a:t>
            </a:r>
          </a:p>
          <a:p>
            <a:r>
              <a:rPr lang="en-US" dirty="0"/>
              <a:t>giving names to constraints is optional</a:t>
            </a:r>
          </a:p>
        </p:txBody>
      </p:sp>
      <p:sp>
        <p:nvSpPr>
          <p:cNvPr id="4" name="Slide Number Placeholder 3">
            <a:extLst>
              <a:ext uri="{FF2B5EF4-FFF2-40B4-BE49-F238E27FC236}">
                <a16:creationId xmlns:a16="http://schemas.microsoft.com/office/drawing/2014/main" id="{03FCE4F4-95A4-FBE0-C43F-D0906807818E}"/>
              </a:ext>
            </a:extLst>
          </p:cNvPr>
          <p:cNvSpPr>
            <a:spLocks noGrp="1"/>
          </p:cNvSpPr>
          <p:nvPr>
            <p:ph type="sldNum" sz="quarter" idx="12"/>
          </p:nvPr>
        </p:nvSpPr>
        <p:spPr/>
        <p:txBody>
          <a:bodyPr/>
          <a:lstStyle/>
          <a:p>
            <a:fld id="{6264BDCF-5269-49AC-A246-ED26C2B980E3}" type="slidenum">
              <a:rPr lang="en-US" smtClean="0"/>
              <a:t>117</a:t>
            </a:fld>
            <a:endParaRPr lang="en-US"/>
          </a:p>
        </p:txBody>
      </p:sp>
    </p:spTree>
    <p:extLst>
      <p:ext uri="{BB962C8B-B14F-4D97-AF65-F5344CB8AC3E}">
        <p14:creationId xmlns:p14="http://schemas.microsoft.com/office/powerpoint/2010/main" val="155569362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E1004-8A6B-2A09-3174-11D65E690AA7}"/>
              </a:ext>
            </a:extLst>
          </p:cNvPr>
          <p:cNvSpPr>
            <a:spLocks noGrp="1"/>
          </p:cNvSpPr>
          <p:nvPr>
            <p:ph type="title"/>
          </p:nvPr>
        </p:nvSpPr>
        <p:spPr/>
        <p:txBody>
          <a:bodyPr/>
          <a:lstStyle/>
          <a:p>
            <a:r>
              <a:rPr lang="en-US" dirty="0"/>
              <a:t>CHECK Constraints on Tuples</a:t>
            </a:r>
          </a:p>
        </p:txBody>
      </p:sp>
      <p:sp>
        <p:nvSpPr>
          <p:cNvPr id="3" name="Content Placeholder 2">
            <a:extLst>
              <a:ext uri="{FF2B5EF4-FFF2-40B4-BE49-F238E27FC236}">
                <a16:creationId xmlns:a16="http://schemas.microsoft.com/office/drawing/2014/main" id="{58BA7F3D-0A29-DFA7-B035-485462F2BBE0}"/>
              </a:ext>
            </a:extLst>
          </p:cNvPr>
          <p:cNvSpPr>
            <a:spLocks noGrp="1"/>
          </p:cNvSpPr>
          <p:nvPr>
            <p:ph idx="1"/>
          </p:nvPr>
        </p:nvSpPr>
        <p:spPr/>
        <p:txBody>
          <a:bodyPr>
            <a:noAutofit/>
          </a:bodyPr>
          <a:lstStyle/>
          <a:p>
            <a:r>
              <a:rPr lang="en-US" dirty="0"/>
              <a:t>other </a:t>
            </a:r>
            <a:r>
              <a:rPr lang="en-US" i="1" dirty="0"/>
              <a:t>table constraints </a:t>
            </a:r>
            <a:r>
              <a:rPr lang="en-US" dirty="0"/>
              <a:t>can be specified through additional CHECK clauses at the end of CREATE TABLE statement</a:t>
            </a:r>
          </a:p>
          <a:p>
            <a:r>
              <a:rPr lang="en-US" dirty="0"/>
              <a:t>row-based constraints because they apply to each row individually</a:t>
            </a:r>
            <a:r>
              <a:rPr lang="en-US" i="1" dirty="0"/>
              <a:t> </a:t>
            </a:r>
            <a:r>
              <a:rPr lang="en-US" dirty="0"/>
              <a:t>and are checked whenever a row is inserted or modified</a:t>
            </a:r>
          </a:p>
          <a:p>
            <a:r>
              <a:rPr lang="en-US" b="1" dirty="0"/>
              <a:t>CHECK MSDADOFC </a:t>
            </a:r>
            <a:r>
              <a:rPr lang="en-US" dirty="0"/>
              <a:t>(</a:t>
            </a:r>
            <a:r>
              <a:rPr lang="en-US" dirty="0" err="1"/>
              <a:t>Dept_create_date</a:t>
            </a:r>
            <a:r>
              <a:rPr lang="en-US" dirty="0"/>
              <a:t> &lt;= </a:t>
            </a:r>
            <a:r>
              <a:rPr lang="en-US" dirty="0" err="1"/>
              <a:t>Mgr_start_date</a:t>
            </a:r>
            <a:r>
              <a:rPr lang="en-US" dirty="0"/>
              <a:t>);</a:t>
            </a:r>
          </a:p>
          <a:p>
            <a:pPr lvl="1"/>
            <a:r>
              <a:rPr lang="en-US" sz="2700" dirty="0"/>
              <a:t>MSDADOFC stand for Manger Start Date After Date of Creation</a:t>
            </a:r>
          </a:p>
          <a:p>
            <a:endParaRPr lang="en-US" dirty="0"/>
          </a:p>
        </p:txBody>
      </p:sp>
      <p:sp>
        <p:nvSpPr>
          <p:cNvPr id="4" name="Slide Number Placeholder 3">
            <a:extLst>
              <a:ext uri="{FF2B5EF4-FFF2-40B4-BE49-F238E27FC236}">
                <a16:creationId xmlns:a16="http://schemas.microsoft.com/office/drawing/2014/main" id="{4F5AF96F-D4E8-3A9A-E1A4-BBC1E9F1EEE8}"/>
              </a:ext>
            </a:extLst>
          </p:cNvPr>
          <p:cNvSpPr>
            <a:spLocks noGrp="1"/>
          </p:cNvSpPr>
          <p:nvPr>
            <p:ph type="sldNum" sz="quarter" idx="12"/>
          </p:nvPr>
        </p:nvSpPr>
        <p:spPr/>
        <p:txBody>
          <a:bodyPr/>
          <a:lstStyle/>
          <a:p>
            <a:fld id="{6264BDCF-5269-49AC-A246-ED26C2B980E3}" type="slidenum">
              <a:rPr lang="en-US" smtClean="0"/>
              <a:t>118</a:t>
            </a:fld>
            <a:endParaRPr lang="en-US"/>
          </a:p>
        </p:txBody>
      </p:sp>
    </p:spTree>
    <p:extLst>
      <p:ext uri="{BB962C8B-B14F-4D97-AF65-F5344CB8AC3E}">
        <p14:creationId xmlns:p14="http://schemas.microsoft.com/office/powerpoint/2010/main" val="412504706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5514-6815-CF95-F1F7-B7BFAFE29691}"/>
              </a:ext>
            </a:extLst>
          </p:cNvPr>
          <p:cNvSpPr>
            <a:spLocks noGrp="1"/>
          </p:cNvSpPr>
          <p:nvPr>
            <p:ph type="title"/>
          </p:nvPr>
        </p:nvSpPr>
        <p:spPr/>
        <p:txBody>
          <a:bodyPr/>
          <a:lstStyle/>
          <a:p>
            <a:r>
              <a:rPr lang="en-US" b="1" dirty="0"/>
              <a:t>Retrieval Queries in SQL</a:t>
            </a:r>
            <a:endParaRPr lang="en-US" dirty="0"/>
          </a:p>
        </p:txBody>
      </p:sp>
      <p:sp>
        <p:nvSpPr>
          <p:cNvPr id="6" name="Text Placeholder 5">
            <a:extLst>
              <a:ext uri="{FF2B5EF4-FFF2-40B4-BE49-F238E27FC236}">
                <a16:creationId xmlns:a16="http://schemas.microsoft.com/office/drawing/2014/main" id="{7120F9A3-4392-F3F8-A0A2-A3267EE8AABC}"/>
              </a:ext>
            </a:extLst>
          </p:cNvPr>
          <p:cNvSpPr>
            <a:spLocks noGrp="1"/>
          </p:cNvSpPr>
          <p:nvPr>
            <p:ph type="body" idx="1"/>
          </p:nvPr>
        </p:nvSpPr>
        <p:spPr/>
        <p:txBody>
          <a:bodyPr/>
          <a:lstStyle/>
          <a:p>
            <a:r>
              <a:rPr lang="en-US" dirty="0"/>
              <a:t>SELECT</a:t>
            </a:r>
          </a:p>
        </p:txBody>
      </p:sp>
      <p:sp>
        <p:nvSpPr>
          <p:cNvPr id="4" name="Slide Number Placeholder 3">
            <a:extLst>
              <a:ext uri="{FF2B5EF4-FFF2-40B4-BE49-F238E27FC236}">
                <a16:creationId xmlns:a16="http://schemas.microsoft.com/office/drawing/2014/main" id="{CF329D12-00DE-3B77-2AD3-40635C371779}"/>
              </a:ext>
            </a:extLst>
          </p:cNvPr>
          <p:cNvSpPr>
            <a:spLocks noGrp="1"/>
          </p:cNvSpPr>
          <p:nvPr>
            <p:ph type="sldNum" sz="quarter" idx="12"/>
          </p:nvPr>
        </p:nvSpPr>
        <p:spPr/>
        <p:txBody>
          <a:bodyPr/>
          <a:lstStyle/>
          <a:p>
            <a:fld id="{6264BDCF-5269-49AC-A246-ED26C2B980E3}" type="slidenum">
              <a:rPr lang="en-US" smtClean="0"/>
              <a:t>119</a:t>
            </a:fld>
            <a:endParaRPr lang="en-US"/>
          </a:p>
        </p:txBody>
      </p:sp>
    </p:spTree>
    <p:extLst>
      <p:ext uri="{BB962C8B-B14F-4D97-AF65-F5344CB8AC3E}">
        <p14:creationId xmlns:p14="http://schemas.microsoft.com/office/powerpoint/2010/main" val="176194101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CC45D7-DC1D-B5F6-5552-1AC4CB30FF4D}"/>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A89F5F93-C63B-18EF-CD14-6DF05C463A0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6E49DD7-D971-5F87-91BD-DAB1E0323FFE}"/>
              </a:ext>
            </a:extLst>
          </p:cNvPr>
          <p:cNvSpPr>
            <a:spLocks noGrp="1"/>
          </p:cNvSpPr>
          <p:nvPr>
            <p:ph type="sldNum" sz="quarter" idx="12"/>
          </p:nvPr>
        </p:nvSpPr>
        <p:spPr/>
        <p:txBody>
          <a:bodyPr/>
          <a:lstStyle/>
          <a:p>
            <a:fld id="{6264BDCF-5269-49AC-A246-ED26C2B980E3}" type="slidenum">
              <a:rPr lang="en-US" smtClean="0"/>
              <a:t>120</a:t>
            </a:fld>
            <a:endParaRPr lang="en-US"/>
          </a:p>
        </p:txBody>
      </p:sp>
    </p:spTree>
    <p:extLst>
      <p:ext uri="{BB962C8B-B14F-4D97-AF65-F5344CB8AC3E}">
        <p14:creationId xmlns:p14="http://schemas.microsoft.com/office/powerpoint/2010/main" val="194278886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33D87-030B-592A-13B6-8A1E65A7FF2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E9B7BF4-FF18-B3E4-2A1F-7088CE7CEBC6}"/>
              </a:ext>
            </a:extLst>
          </p:cNvPr>
          <p:cNvSpPr>
            <a:spLocks noGrp="1"/>
          </p:cNvSpPr>
          <p:nvPr>
            <p:ph type="title"/>
          </p:nvPr>
        </p:nvSpPr>
        <p:spPr/>
        <p:txBody>
          <a:bodyPr/>
          <a:lstStyle/>
          <a:p>
            <a:r>
              <a:rPr lang="en-US" b="1" dirty="0"/>
              <a:t>INSERT, DELETE, and UPDATE Statements in SQL</a:t>
            </a:r>
            <a:endParaRPr lang="en-US" dirty="0"/>
          </a:p>
        </p:txBody>
      </p:sp>
      <p:sp>
        <p:nvSpPr>
          <p:cNvPr id="6" name="Text Placeholder 5">
            <a:extLst>
              <a:ext uri="{FF2B5EF4-FFF2-40B4-BE49-F238E27FC236}">
                <a16:creationId xmlns:a16="http://schemas.microsoft.com/office/drawing/2014/main" id="{82496219-FD0F-6026-B4D1-39013B95CFB6}"/>
              </a:ext>
            </a:extLst>
          </p:cNvPr>
          <p:cNvSpPr>
            <a:spLocks noGrp="1"/>
          </p:cNvSpPr>
          <p:nvPr>
            <p:ph type="body" idx="1"/>
          </p:nvPr>
        </p:nvSpPr>
        <p:spPr/>
        <p:txBody>
          <a:bodyPr/>
          <a:lstStyle/>
          <a:p>
            <a:r>
              <a:rPr lang="en-US" dirty="0"/>
              <a:t>CRUD Operations</a:t>
            </a:r>
          </a:p>
        </p:txBody>
      </p:sp>
      <p:sp>
        <p:nvSpPr>
          <p:cNvPr id="4" name="Slide Number Placeholder 3">
            <a:extLst>
              <a:ext uri="{FF2B5EF4-FFF2-40B4-BE49-F238E27FC236}">
                <a16:creationId xmlns:a16="http://schemas.microsoft.com/office/drawing/2014/main" id="{A7B9AF77-D086-EC64-CABF-9E7396FAD426}"/>
              </a:ext>
            </a:extLst>
          </p:cNvPr>
          <p:cNvSpPr>
            <a:spLocks noGrp="1"/>
          </p:cNvSpPr>
          <p:nvPr>
            <p:ph type="sldNum" sz="quarter" idx="12"/>
          </p:nvPr>
        </p:nvSpPr>
        <p:spPr/>
        <p:txBody>
          <a:bodyPr/>
          <a:lstStyle/>
          <a:p>
            <a:fld id="{6264BDCF-5269-49AC-A246-ED26C2B980E3}" type="slidenum">
              <a:rPr lang="en-US" smtClean="0"/>
              <a:t>121</a:t>
            </a:fld>
            <a:endParaRPr lang="en-US"/>
          </a:p>
        </p:txBody>
      </p:sp>
    </p:spTree>
    <p:extLst>
      <p:ext uri="{BB962C8B-B14F-4D97-AF65-F5344CB8AC3E}">
        <p14:creationId xmlns:p14="http://schemas.microsoft.com/office/powerpoint/2010/main" val="26639238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802BE-DE25-E8D3-C6B5-51F16CE7A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FCD9E-0AB2-B984-A58C-8A29975339A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C6A0884-8131-2AA5-A762-9180F001B5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26D613-AAD4-BBED-BDB0-2345682AC191}"/>
              </a:ext>
            </a:extLst>
          </p:cNvPr>
          <p:cNvSpPr>
            <a:spLocks noGrp="1"/>
          </p:cNvSpPr>
          <p:nvPr>
            <p:ph type="sldNum" sz="quarter" idx="12"/>
          </p:nvPr>
        </p:nvSpPr>
        <p:spPr/>
        <p:txBody>
          <a:bodyPr/>
          <a:lstStyle/>
          <a:p>
            <a:fld id="{6264BDCF-5269-49AC-A246-ED26C2B980E3}" type="slidenum">
              <a:rPr lang="en-US" smtClean="0"/>
              <a:t>122</a:t>
            </a:fld>
            <a:endParaRPr lang="en-US"/>
          </a:p>
        </p:txBody>
      </p:sp>
    </p:spTree>
    <p:extLst>
      <p:ext uri="{BB962C8B-B14F-4D97-AF65-F5344CB8AC3E}">
        <p14:creationId xmlns:p14="http://schemas.microsoft.com/office/powerpoint/2010/main" val="34422229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12E2C-5AF7-4F4C-DB30-CF540F4E5E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B17C2FA-19B7-CD2F-CA45-E48EFAD270C7}"/>
              </a:ext>
            </a:extLst>
          </p:cNvPr>
          <p:cNvSpPr>
            <a:spLocks noGrp="1"/>
          </p:cNvSpPr>
          <p:nvPr>
            <p:ph type="title"/>
          </p:nvPr>
        </p:nvSpPr>
        <p:spPr/>
        <p:txBody>
          <a:bodyPr>
            <a:normAutofit/>
          </a:bodyPr>
          <a:lstStyle/>
          <a:p>
            <a:r>
              <a:rPr lang="en-US" b="1" dirty="0"/>
              <a:t>Specifying </a:t>
            </a:r>
            <a:br>
              <a:rPr lang="en-US" b="1" dirty="0"/>
            </a:br>
            <a:r>
              <a:rPr lang="en-US" b="1" dirty="0"/>
              <a:t>Constraints as Assertions</a:t>
            </a:r>
            <a:br>
              <a:rPr lang="en-US" b="1" dirty="0"/>
            </a:br>
            <a:r>
              <a:rPr lang="en-US" b="1" dirty="0"/>
              <a:t>Actions as Triggers</a:t>
            </a:r>
            <a:endParaRPr lang="en-US" dirty="0"/>
          </a:p>
        </p:txBody>
      </p:sp>
      <p:sp>
        <p:nvSpPr>
          <p:cNvPr id="6" name="Text Placeholder 5">
            <a:extLst>
              <a:ext uri="{FF2B5EF4-FFF2-40B4-BE49-F238E27FC236}">
                <a16:creationId xmlns:a16="http://schemas.microsoft.com/office/drawing/2014/main" id="{95252E34-A272-CE80-99C6-5635F2FD17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2540B2-A274-1C9C-C8AC-F3B620FD5C61}"/>
              </a:ext>
            </a:extLst>
          </p:cNvPr>
          <p:cNvSpPr>
            <a:spLocks noGrp="1"/>
          </p:cNvSpPr>
          <p:nvPr>
            <p:ph type="sldNum" sz="quarter" idx="12"/>
          </p:nvPr>
        </p:nvSpPr>
        <p:spPr/>
        <p:txBody>
          <a:bodyPr/>
          <a:lstStyle/>
          <a:p>
            <a:fld id="{6264BDCF-5269-49AC-A246-ED26C2B980E3}" type="slidenum">
              <a:rPr lang="en-US" smtClean="0"/>
              <a:t>123</a:t>
            </a:fld>
            <a:endParaRPr lang="en-US"/>
          </a:p>
        </p:txBody>
      </p:sp>
    </p:spTree>
    <p:extLst>
      <p:ext uri="{BB962C8B-B14F-4D97-AF65-F5344CB8AC3E}">
        <p14:creationId xmlns:p14="http://schemas.microsoft.com/office/powerpoint/2010/main" val="35676882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A9DB09-7E2B-29C8-0100-A4804B0D52EF}"/>
              </a:ext>
            </a:extLst>
          </p:cNvPr>
          <p:cNvSpPr>
            <a:spLocks noGrp="1"/>
          </p:cNvSpPr>
          <p:nvPr>
            <p:ph type="title"/>
          </p:nvPr>
        </p:nvSpPr>
        <p:spPr/>
        <p:txBody>
          <a:bodyPr>
            <a:normAutofit/>
          </a:bodyPr>
          <a:lstStyle/>
          <a:p>
            <a:r>
              <a:rPr lang="en-US" dirty="0"/>
              <a:t>Specifying General Constraints as Assertions</a:t>
            </a:r>
          </a:p>
        </p:txBody>
      </p:sp>
      <p:sp>
        <p:nvSpPr>
          <p:cNvPr id="6" name="Content Placeholder 5">
            <a:extLst>
              <a:ext uri="{FF2B5EF4-FFF2-40B4-BE49-F238E27FC236}">
                <a16:creationId xmlns:a16="http://schemas.microsoft.com/office/drawing/2014/main" id="{32B13864-909F-CE93-1607-B62FE49DA933}"/>
              </a:ext>
            </a:extLst>
          </p:cNvPr>
          <p:cNvSpPr>
            <a:spLocks noGrp="1"/>
          </p:cNvSpPr>
          <p:nvPr>
            <p:ph idx="1"/>
          </p:nvPr>
        </p:nvSpPr>
        <p:spPr/>
        <p:txBody>
          <a:bodyPr>
            <a:normAutofit/>
          </a:bodyPr>
          <a:lstStyle/>
          <a:p>
            <a:r>
              <a:rPr lang="en-US" b="1" dirty="0"/>
              <a:t>declarative assertions</a:t>
            </a:r>
            <a:r>
              <a:rPr lang="en-US" dirty="0"/>
              <a:t>, using </a:t>
            </a:r>
            <a:r>
              <a:rPr lang="en-US" b="1" dirty="0"/>
              <a:t>CREATE ASSERTION </a:t>
            </a:r>
            <a:r>
              <a:rPr lang="en-US" dirty="0"/>
              <a:t>statement</a:t>
            </a:r>
          </a:p>
          <a:p>
            <a:r>
              <a:rPr lang="en-US" dirty="0"/>
              <a:t>each assertion is given a constraint name and is specified via a condition similar to WHERE clause of SQL query</a:t>
            </a:r>
          </a:p>
          <a:p>
            <a:r>
              <a:rPr lang="en-US" dirty="0"/>
              <a:t>for example, to specify constraint that salary of an employee must not be greater than the salary of the manager of the department that employee works for </a:t>
            </a:r>
          </a:p>
        </p:txBody>
      </p:sp>
      <p:sp>
        <p:nvSpPr>
          <p:cNvPr id="4" name="Slide Number Placeholder 3">
            <a:extLst>
              <a:ext uri="{FF2B5EF4-FFF2-40B4-BE49-F238E27FC236}">
                <a16:creationId xmlns:a16="http://schemas.microsoft.com/office/drawing/2014/main" id="{B32D51E6-8AFF-3ACD-87FC-B757A8C7F172}"/>
              </a:ext>
            </a:extLst>
          </p:cNvPr>
          <p:cNvSpPr>
            <a:spLocks noGrp="1"/>
          </p:cNvSpPr>
          <p:nvPr>
            <p:ph type="sldNum" sz="quarter" idx="12"/>
          </p:nvPr>
        </p:nvSpPr>
        <p:spPr/>
        <p:txBody>
          <a:bodyPr/>
          <a:lstStyle/>
          <a:p>
            <a:fld id="{6264BDCF-5269-49AC-A246-ED26C2B980E3}" type="slidenum">
              <a:rPr lang="en-US" smtClean="0"/>
              <a:t>124</a:t>
            </a:fld>
            <a:endParaRPr lang="en-US"/>
          </a:p>
        </p:txBody>
      </p:sp>
    </p:spTree>
    <p:extLst>
      <p:ext uri="{BB962C8B-B14F-4D97-AF65-F5344CB8AC3E}">
        <p14:creationId xmlns:p14="http://schemas.microsoft.com/office/powerpoint/2010/main" val="235463905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4AC56-0B45-1412-13A7-6A16A9E6AA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7AD46D-CE29-463E-2D76-6C46DAB0C1FA}"/>
              </a:ext>
            </a:extLst>
          </p:cNvPr>
          <p:cNvSpPr>
            <a:spLocks noGrp="1"/>
          </p:cNvSpPr>
          <p:nvPr>
            <p:ph idx="1"/>
          </p:nvPr>
        </p:nvSpPr>
        <p:spPr/>
        <p:txBody>
          <a:bodyPr/>
          <a:lstStyle/>
          <a:p>
            <a:r>
              <a:rPr lang="en-US" b="1" dirty="0"/>
              <a:t>CREATE ASSERTION </a:t>
            </a:r>
            <a:r>
              <a:rPr lang="en-US" dirty="0"/>
              <a:t>SALARY_CONSTRAINT</a:t>
            </a:r>
          </a:p>
          <a:p>
            <a:r>
              <a:rPr lang="en-US" b="1" dirty="0"/>
              <a:t> 	CHECK </a:t>
            </a:r>
            <a:r>
              <a:rPr lang="en-US" dirty="0"/>
              <a:t>( </a:t>
            </a:r>
            <a:r>
              <a:rPr lang="en-US" b="1" dirty="0"/>
              <a:t>NOT EXISTS </a:t>
            </a:r>
            <a:r>
              <a:rPr lang="en-US" dirty="0"/>
              <a:t>( </a:t>
            </a:r>
            <a:r>
              <a:rPr lang="en-US" b="1" dirty="0"/>
              <a:t>SELECT </a:t>
            </a:r>
            <a:r>
              <a:rPr lang="en-US" dirty="0"/>
              <a:t>*</a:t>
            </a:r>
          </a:p>
          <a:p>
            <a:r>
              <a:rPr lang="en-US" b="1" dirty="0"/>
              <a:t> 	FROM </a:t>
            </a:r>
            <a:r>
              <a:rPr lang="en-US" dirty="0"/>
              <a:t>EMPLOYEE E, EMPLOYEE M, DEPARTMENT D</a:t>
            </a:r>
          </a:p>
          <a:p>
            <a:r>
              <a:rPr lang="en-US" b="1" dirty="0"/>
              <a:t> 	WHERE </a:t>
            </a:r>
            <a:r>
              <a:rPr lang="en-US" dirty="0" err="1"/>
              <a:t>E.Salary</a:t>
            </a:r>
            <a:r>
              <a:rPr lang="en-US" dirty="0"/>
              <a:t>&gt;</a:t>
            </a:r>
            <a:r>
              <a:rPr lang="en-US" dirty="0" err="1"/>
              <a:t>M.Salary</a:t>
            </a:r>
            <a:endParaRPr lang="en-US" dirty="0"/>
          </a:p>
          <a:p>
            <a:r>
              <a:rPr lang="en-US" b="1" dirty="0"/>
              <a:t> 		AND </a:t>
            </a:r>
            <a:r>
              <a:rPr lang="en-US" dirty="0" err="1"/>
              <a:t>E.Dno</a:t>
            </a:r>
            <a:r>
              <a:rPr lang="en-US" dirty="0"/>
              <a:t> = </a:t>
            </a:r>
            <a:r>
              <a:rPr lang="en-US" dirty="0" err="1"/>
              <a:t>D.Dnumber</a:t>
            </a:r>
            <a:endParaRPr lang="en-US" dirty="0"/>
          </a:p>
          <a:p>
            <a:r>
              <a:rPr lang="en-US" b="1" dirty="0"/>
              <a:t> 		AND </a:t>
            </a:r>
            <a:r>
              <a:rPr lang="en-US" dirty="0" err="1"/>
              <a:t>D.Mgr_ssn</a:t>
            </a:r>
            <a:r>
              <a:rPr lang="en-US" dirty="0"/>
              <a:t> = </a:t>
            </a:r>
            <a:r>
              <a:rPr lang="en-US" dirty="0" err="1"/>
              <a:t>M.Ssn</a:t>
            </a:r>
            <a:r>
              <a:rPr lang="en-US" dirty="0"/>
              <a:t> ) );</a:t>
            </a:r>
          </a:p>
          <a:p>
            <a:endParaRPr lang="en-US" dirty="0"/>
          </a:p>
        </p:txBody>
      </p:sp>
      <p:sp>
        <p:nvSpPr>
          <p:cNvPr id="4" name="Slide Number Placeholder 3">
            <a:extLst>
              <a:ext uri="{FF2B5EF4-FFF2-40B4-BE49-F238E27FC236}">
                <a16:creationId xmlns:a16="http://schemas.microsoft.com/office/drawing/2014/main" id="{1B078646-DBEF-E8DF-6508-7BB566CDDD02}"/>
              </a:ext>
            </a:extLst>
          </p:cNvPr>
          <p:cNvSpPr>
            <a:spLocks noGrp="1"/>
          </p:cNvSpPr>
          <p:nvPr>
            <p:ph type="sldNum" sz="quarter" idx="12"/>
          </p:nvPr>
        </p:nvSpPr>
        <p:spPr/>
        <p:txBody>
          <a:bodyPr/>
          <a:lstStyle/>
          <a:p>
            <a:fld id="{6264BDCF-5269-49AC-A246-ED26C2B980E3}" type="slidenum">
              <a:rPr lang="en-US" smtClean="0"/>
              <a:t>125</a:t>
            </a:fld>
            <a:endParaRPr lang="en-US"/>
          </a:p>
        </p:txBody>
      </p:sp>
    </p:spTree>
    <p:extLst>
      <p:ext uri="{BB962C8B-B14F-4D97-AF65-F5344CB8AC3E}">
        <p14:creationId xmlns:p14="http://schemas.microsoft.com/office/powerpoint/2010/main" val="172864014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62F53-B558-96A7-CA2B-A112058245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F3A3D6-2486-8896-2C05-987B8C011B9A}"/>
              </a:ext>
            </a:extLst>
          </p:cNvPr>
          <p:cNvSpPr>
            <a:spLocks noGrp="1"/>
          </p:cNvSpPr>
          <p:nvPr>
            <p:ph idx="1"/>
          </p:nvPr>
        </p:nvSpPr>
        <p:spPr/>
        <p:txBody>
          <a:bodyPr>
            <a:normAutofit/>
          </a:bodyPr>
          <a:lstStyle/>
          <a:p>
            <a:r>
              <a:rPr lang="en-US" dirty="0"/>
              <a:t>constraint name SALARY_CONSTRAINT is followed by keyword CHECK, followed by condition in parentheses that must hold true on every database state for the assertion to be satisfied</a:t>
            </a:r>
          </a:p>
          <a:p>
            <a:r>
              <a:rPr lang="en-US" dirty="0"/>
              <a:t>constraint name can be used later to disable or to modify or drop it</a:t>
            </a:r>
          </a:p>
          <a:p>
            <a:r>
              <a:rPr lang="en-US" dirty="0"/>
              <a:t>DBMS is responsible for ensuring that the condition is not violated: whenever some tuples in database cause condition of an ASSERTION statement to evaluate to FALSE, constraint is violated</a:t>
            </a:r>
          </a:p>
          <a:p>
            <a:r>
              <a:rPr lang="en-US" dirty="0"/>
              <a:t>constraint is satisfied by database state if no combination of tuples in that database state violates constraint</a:t>
            </a:r>
          </a:p>
        </p:txBody>
      </p:sp>
      <p:sp>
        <p:nvSpPr>
          <p:cNvPr id="4" name="Slide Number Placeholder 3">
            <a:extLst>
              <a:ext uri="{FF2B5EF4-FFF2-40B4-BE49-F238E27FC236}">
                <a16:creationId xmlns:a16="http://schemas.microsoft.com/office/drawing/2014/main" id="{012BD717-710D-4D22-83D9-30F257A092FA}"/>
              </a:ext>
            </a:extLst>
          </p:cNvPr>
          <p:cNvSpPr>
            <a:spLocks noGrp="1"/>
          </p:cNvSpPr>
          <p:nvPr>
            <p:ph type="sldNum" sz="quarter" idx="12"/>
          </p:nvPr>
        </p:nvSpPr>
        <p:spPr/>
        <p:txBody>
          <a:bodyPr/>
          <a:lstStyle/>
          <a:p>
            <a:fld id="{6264BDCF-5269-49AC-A246-ED26C2B980E3}" type="slidenum">
              <a:rPr lang="en-US" smtClean="0"/>
              <a:t>126</a:t>
            </a:fld>
            <a:endParaRPr lang="en-US"/>
          </a:p>
        </p:txBody>
      </p:sp>
    </p:spTree>
    <p:extLst>
      <p:ext uri="{BB962C8B-B14F-4D97-AF65-F5344CB8AC3E}">
        <p14:creationId xmlns:p14="http://schemas.microsoft.com/office/powerpoint/2010/main" val="219376765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7EC8-11A4-8D6D-690D-1E27A0B04D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D36431-E3A1-DB0D-7D94-29222D048286}"/>
              </a:ext>
            </a:extLst>
          </p:cNvPr>
          <p:cNvSpPr>
            <a:spLocks noGrp="1"/>
          </p:cNvSpPr>
          <p:nvPr>
            <p:ph idx="1"/>
          </p:nvPr>
        </p:nvSpPr>
        <p:spPr/>
        <p:txBody>
          <a:bodyPr>
            <a:normAutofit/>
          </a:bodyPr>
          <a:lstStyle/>
          <a:p>
            <a:r>
              <a:rPr lang="en-US" dirty="0"/>
              <a:t>basic technique is to specify query that selects any tuples that violate desired condition; including this query inside a NOT EXISTS clause, the assertion will specify that result of this query must be empty so that condition will always be TRUE</a:t>
            </a:r>
          </a:p>
          <a:p>
            <a:r>
              <a:rPr lang="en-US" dirty="0"/>
              <a:t>in preceding example, query selects all employees whose salaries are greater than salary of manager of their department </a:t>
            </a:r>
          </a:p>
        </p:txBody>
      </p:sp>
      <p:sp>
        <p:nvSpPr>
          <p:cNvPr id="4" name="Slide Number Placeholder 3">
            <a:extLst>
              <a:ext uri="{FF2B5EF4-FFF2-40B4-BE49-F238E27FC236}">
                <a16:creationId xmlns:a16="http://schemas.microsoft.com/office/drawing/2014/main" id="{AE537C38-F6AF-CF0A-2196-354F7C465D98}"/>
              </a:ext>
            </a:extLst>
          </p:cNvPr>
          <p:cNvSpPr>
            <a:spLocks noGrp="1"/>
          </p:cNvSpPr>
          <p:nvPr>
            <p:ph type="sldNum" sz="quarter" idx="12"/>
          </p:nvPr>
        </p:nvSpPr>
        <p:spPr/>
        <p:txBody>
          <a:bodyPr/>
          <a:lstStyle/>
          <a:p>
            <a:fld id="{6264BDCF-5269-49AC-A246-ED26C2B980E3}" type="slidenum">
              <a:rPr lang="en-US" smtClean="0"/>
              <a:t>127</a:t>
            </a:fld>
            <a:endParaRPr lang="en-US"/>
          </a:p>
        </p:txBody>
      </p:sp>
    </p:spTree>
    <p:extLst>
      <p:ext uri="{BB962C8B-B14F-4D97-AF65-F5344CB8AC3E}">
        <p14:creationId xmlns:p14="http://schemas.microsoft.com/office/powerpoint/2010/main" val="159084827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1CAF-FC18-2CF9-C120-4B7E654836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7B3BB5-0EB6-F5A3-6008-7FAE584DEB03}"/>
              </a:ext>
            </a:extLst>
          </p:cNvPr>
          <p:cNvSpPr>
            <a:spLocks noGrp="1"/>
          </p:cNvSpPr>
          <p:nvPr>
            <p:ph idx="1"/>
          </p:nvPr>
        </p:nvSpPr>
        <p:spPr/>
        <p:txBody>
          <a:bodyPr>
            <a:normAutofit/>
          </a:bodyPr>
          <a:lstStyle/>
          <a:p>
            <a:r>
              <a:rPr lang="en-US" dirty="0"/>
              <a:t>major difference between CREATE ASSERTION and individual domain constraints and tuple constraints is that CHECK clauses are checked in only when tuples are inserted or updated in specific table – relation constraints</a:t>
            </a:r>
          </a:p>
          <a:p>
            <a:r>
              <a:rPr lang="en-US" dirty="0"/>
              <a:t>constraint checking can be implemented more efficiently by DBMS</a:t>
            </a:r>
          </a:p>
          <a:p>
            <a:r>
              <a:rPr lang="en-US" dirty="0"/>
              <a:t>designer should use CREATE ASSERTION only in cases where it is not possible to use CHECK on attributes, domains, or tuples of a relation</a:t>
            </a:r>
          </a:p>
          <a:p>
            <a:pPr lvl="1"/>
            <a:r>
              <a:rPr lang="en-US" sz="2800" dirty="0"/>
              <a:t>simple checks are implemented more efficiently by DBMS</a:t>
            </a:r>
          </a:p>
        </p:txBody>
      </p:sp>
      <p:sp>
        <p:nvSpPr>
          <p:cNvPr id="4" name="Slide Number Placeholder 3">
            <a:extLst>
              <a:ext uri="{FF2B5EF4-FFF2-40B4-BE49-F238E27FC236}">
                <a16:creationId xmlns:a16="http://schemas.microsoft.com/office/drawing/2014/main" id="{A6562FF0-6934-156D-7A0B-F24A022B1872}"/>
              </a:ext>
            </a:extLst>
          </p:cNvPr>
          <p:cNvSpPr>
            <a:spLocks noGrp="1"/>
          </p:cNvSpPr>
          <p:nvPr>
            <p:ph type="sldNum" sz="quarter" idx="12"/>
          </p:nvPr>
        </p:nvSpPr>
        <p:spPr/>
        <p:txBody>
          <a:bodyPr/>
          <a:lstStyle/>
          <a:p>
            <a:fld id="{6264BDCF-5269-49AC-A246-ED26C2B980E3}" type="slidenum">
              <a:rPr lang="en-US" smtClean="0"/>
              <a:t>128</a:t>
            </a:fld>
            <a:endParaRPr lang="en-US"/>
          </a:p>
        </p:txBody>
      </p:sp>
    </p:spTree>
    <p:extLst>
      <p:ext uri="{BB962C8B-B14F-4D97-AF65-F5344CB8AC3E}">
        <p14:creationId xmlns:p14="http://schemas.microsoft.com/office/powerpoint/2010/main" val="23539806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06DD-4D0B-E314-009E-7CE32305E257}"/>
              </a:ext>
            </a:extLst>
          </p:cNvPr>
          <p:cNvSpPr>
            <a:spLocks noGrp="1"/>
          </p:cNvSpPr>
          <p:nvPr>
            <p:ph type="title"/>
          </p:nvPr>
        </p:nvSpPr>
        <p:spPr/>
        <p:txBody>
          <a:bodyPr/>
          <a:lstStyle/>
          <a:p>
            <a:r>
              <a:rPr lang="en-US" dirty="0"/>
              <a:t>Triggers in SQL</a:t>
            </a:r>
          </a:p>
        </p:txBody>
      </p:sp>
      <p:sp>
        <p:nvSpPr>
          <p:cNvPr id="3" name="Content Placeholder 2">
            <a:extLst>
              <a:ext uri="{FF2B5EF4-FFF2-40B4-BE49-F238E27FC236}">
                <a16:creationId xmlns:a16="http://schemas.microsoft.com/office/drawing/2014/main" id="{017183DC-5742-593B-4D27-E10CD6B0D18D}"/>
              </a:ext>
            </a:extLst>
          </p:cNvPr>
          <p:cNvSpPr>
            <a:spLocks noGrp="1"/>
          </p:cNvSpPr>
          <p:nvPr>
            <p:ph idx="1"/>
          </p:nvPr>
        </p:nvSpPr>
        <p:spPr/>
        <p:txBody>
          <a:bodyPr>
            <a:normAutofit/>
          </a:bodyPr>
          <a:lstStyle/>
          <a:p>
            <a:r>
              <a:rPr lang="en-US" dirty="0"/>
              <a:t>CREATE TRIGGER statement to specify the type of action to be taken when certain events occur and when certain conditions are satisfied</a:t>
            </a:r>
          </a:p>
          <a:p>
            <a:r>
              <a:rPr lang="en-US" sz="2700" dirty="0"/>
              <a:t>for example, it may be useful to specify a condition that, if violated, causes some user to be informed of the violation – manager to be informed if employee’s travel expenses exceed a certain limit by receiving a message whenever this occurs - used to </a:t>
            </a:r>
            <a:r>
              <a:rPr lang="en-US" sz="2700" b="1" dirty="0"/>
              <a:t>monitor </a:t>
            </a:r>
            <a:r>
              <a:rPr lang="en-US" sz="2700" dirty="0"/>
              <a:t>database</a:t>
            </a:r>
          </a:p>
          <a:p>
            <a:r>
              <a:rPr lang="en-US" dirty="0"/>
              <a:t>CREATE TRIGGER statement used to implement such actions in SQL</a:t>
            </a:r>
          </a:p>
        </p:txBody>
      </p:sp>
      <p:sp>
        <p:nvSpPr>
          <p:cNvPr id="4" name="Slide Number Placeholder 3">
            <a:extLst>
              <a:ext uri="{FF2B5EF4-FFF2-40B4-BE49-F238E27FC236}">
                <a16:creationId xmlns:a16="http://schemas.microsoft.com/office/drawing/2014/main" id="{355FC97D-0FD3-F6CE-7E67-9D50C9232EDC}"/>
              </a:ext>
            </a:extLst>
          </p:cNvPr>
          <p:cNvSpPr>
            <a:spLocks noGrp="1"/>
          </p:cNvSpPr>
          <p:nvPr>
            <p:ph type="sldNum" sz="quarter" idx="12"/>
          </p:nvPr>
        </p:nvSpPr>
        <p:spPr/>
        <p:txBody>
          <a:bodyPr/>
          <a:lstStyle/>
          <a:p>
            <a:fld id="{6264BDCF-5269-49AC-A246-ED26C2B980E3}" type="slidenum">
              <a:rPr lang="en-US" smtClean="0"/>
              <a:t>129</a:t>
            </a:fld>
            <a:endParaRPr lang="en-US"/>
          </a:p>
        </p:txBody>
      </p:sp>
    </p:spTree>
    <p:extLst>
      <p:ext uri="{BB962C8B-B14F-4D97-AF65-F5344CB8AC3E}">
        <p14:creationId xmlns:p14="http://schemas.microsoft.com/office/powerpoint/2010/main" val="13395750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9465-3133-67AD-D34A-D74F9ED724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612224-E373-D2DB-B353-E1D699A2C832}"/>
              </a:ext>
            </a:extLst>
          </p:cNvPr>
          <p:cNvSpPr>
            <a:spLocks noGrp="1"/>
          </p:cNvSpPr>
          <p:nvPr>
            <p:ph idx="1"/>
          </p:nvPr>
        </p:nvSpPr>
        <p:spPr/>
        <p:txBody>
          <a:bodyPr>
            <a:normAutofit/>
          </a:bodyPr>
          <a:lstStyle/>
          <a:p>
            <a:r>
              <a:rPr lang="en-US" dirty="0"/>
              <a:t>for example, to check whenever employee’s salary is greater than salary of his/her direct supervisor </a:t>
            </a:r>
          </a:p>
          <a:p>
            <a:r>
              <a:rPr lang="en-US" dirty="0"/>
              <a:t>several events can trigger this rule: inserting new employee record, changing employee’s salary, or changing employee’s supervisor</a:t>
            </a:r>
          </a:p>
          <a:p>
            <a:r>
              <a:rPr lang="en-US" dirty="0"/>
              <a:t>action to take would be to call stored procedure SALARY_VIOLATION, which will notify the supervisor</a:t>
            </a:r>
          </a:p>
        </p:txBody>
      </p:sp>
      <p:sp>
        <p:nvSpPr>
          <p:cNvPr id="4" name="Slide Number Placeholder 3">
            <a:extLst>
              <a:ext uri="{FF2B5EF4-FFF2-40B4-BE49-F238E27FC236}">
                <a16:creationId xmlns:a16="http://schemas.microsoft.com/office/drawing/2014/main" id="{C017CDAB-94E0-0444-432F-C0F9DDD688D1}"/>
              </a:ext>
            </a:extLst>
          </p:cNvPr>
          <p:cNvSpPr>
            <a:spLocks noGrp="1"/>
          </p:cNvSpPr>
          <p:nvPr>
            <p:ph type="sldNum" sz="quarter" idx="12"/>
          </p:nvPr>
        </p:nvSpPr>
        <p:spPr/>
        <p:txBody>
          <a:bodyPr/>
          <a:lstStyle/>
          <a:p>
            <a:fld id="{6264BDCF-5269-49AC-A246-ED26C2B980E3}" type="slidenum">
              <a:rPr lang="en-US" smtClean="0"/>
              <a:t>130</a:t>
            </a:fld>
            <a:endParaRPr lang="en-US"/>
          </a:p>
        </p:txBody>
      </p:sp>
    </p:spTree>
    <p:extLst>
      <p:ext uri="{BB962C8B-B14F-4D97-AF65-F5344CB8AC3E}">
        <p14:creationId xmlns:p14="http://schemas.microsoft.com/office/powerpoint/2010/main" val="271671020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E6CEF-7B35-143B-5A9F-6858C41B4D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C9E65F-06D0-725B-C92D-A823D632FCC5}"/>
              </a:ext>
            </a:extLst>
          </p:cNvPr>
          <p:cNvSpPr>
            <a:spLocks noGrp="1"/>
          </p:cNvSpPr>
          <p:nvPr>
            <p:ph idx="1"/>
          </p:nvPr>
        </p:nvSpPr>
        <p:spPr/>
        <p:txBody>
          <a:bodyPr/>
          <a:lstStyle/>
          <a:p>
            <a:r>
              <a:rPr lang="en-US" b="1" dirty="0"/>
              <a:t>CREATE TRIGGER </a:t>
            </a:r>
            <a:r>
              <a:rPr lang="en-US" dirty="0"/>
              <a:t>SALARY_VIOLATION</a:t>
            </a:r>
          </a:p>
          <a:p>
            <a:r>
              <a:rPr lang="en-US" b="1" dirty="0"/>
              <a:t> 	BEFORE INSERT OR UPDATE OF </a:t>
            </a:r>
            <a:r>
              <a:rPr lang="en-US" dirty="0"/>
              <a:t>SALARY, SUPERVISOR_SSN</a:t>
            </a:r>
          </a:p>
          <a:p>
            <a:r>
              <a:rPr lang="en-US" b="1" dirty="0"/>
              <a:t> 		ON </a:t>
            </a:r>
            <a:r>
              <a:rPr lang="en-US" dirty="0"/>
              <a:t>EMPLOYEE</a:t>
            </a:r>
          </a:p>
          <a:p>
            <a:r>
              <a:rPr lang="en-US" b="1" dirty="0"/>
              <a:t> 	FOR EACH ROW</a:t>
            </a:r>
          </a:p>
          <a:p>
            <a:r>
              <a:rPr lang="en-US" b="1" dirty="0"/>
              <a:t> 		WHEN </a:t>
            </a:r>
            <a:r>
              <a:rPr lang="en-US" dirty="0"/>
              <a:t>( </a:t>
            </a:r>
            <a:r>
              <a:rPr lang="en-US" b="1" dirty="0"/>
              <a:t>NEW</a:t>
            </a:r>
            <a:r>
              <a:rPr lang="en-US" dirty="0"/>
              <a:t>.SALARY &gt; ( </a:t>
            </a:r>
            <a:r>
              <a:rPr lang="en-US" b="1" dirty="0"/>
              <a:t>SELECT </a:t>
            </a:r>
            <a:r>
              <a:rPr lang="en-US" dirty="0"/>
              <a:t>SALARY </a:t>
            </a:r>
            <a:r>
              <a:rPr lang="en-US" b="1" dirty="0"/>
              <a:t>FROM </a:t>
            </a:r>
            <a:r>
              <a:rPr lang="en-US" dirty="0"/>
              <a:t>EMPLOYEE</a:t>
            </a:r>
          </a:p>
          <a:p>
            <a:r>
              <a:rPr lang="en-US" b="1" dirty="0"/>
              <a:t> 			WHERE </a:t>
            </a:r>
            <a:r>
              <a:rPr lang="en-US" dirty="0"/>
              <a:t>SSN = </a:t>
            </a:r>
            <a:r>
              <a:rPr lang="en-US" b="1" dirty="0"/>
              <a:t>NEW</a:t>
            </a:r>
            <a:r>
              <a:rPr lang="en-US" dirty="0"/>
              <a:t>.SUPERVISOR_SSN ) )</a:t>
            </a:r>
          </a:p>
          <a:p>
            <a:r>
              <a:rPr lang="en-US" dirty="0"/>
              <a:t> 				INFORM_SUPERVISOR(</a:t>
            </a:r>
            <a:r>
              <a:rPr lang="en-US" b="1" dirty="0" err="1"/>
              <a:t>NEW</a:t>
            </a:r>
            <a:r>
              <a:rPr lang="en-US" dirty="0" err="1"/>
              <a:t>.Supervisor_ssn</a:t>
            </a:r>
            <a:r>
              <a:rPr lang="en-US" dirty="0"/>
              <a:t>, </a:t>
            </a:r>
            <a:r>
              <a:rPr lang="en-US" b="1" dirty="0" err="1"/>
              <a:t>NEW</a:t>
            </a:r>
            <a:r>
              <a:rPr lang="en-US" dirty="0" err="1"/>
              <a:t>.Ssn</a:t>
            </a:r>
            <a:r>
              <a:rPr lang="en-US" dirty="0"/>
              <a:t> );</a:t>
            </a:r>
          </a:p>
        </p:txBody>
      </p:sp>
      <p:sp>
        <p:nvSpPr>
          <p:cNvPr id="4" name="Slide Number Placeholder 3">
            <a:extLst>
              <a:ext uri="{FF2B5EF4-FFF2-40B4-BE49-F238E27FC236}">
                <a16:creationId xmlns:a16="http://schemas.microsoft.com/office/drawing/2014/main" id="{03833EEE-1F79-83C1-F266-90F56B198140}"/>
              </a:ext>
            </a:extLst>
          </p:cNvPr>
          <p:cNvSpPr>
            <a:spLocks noGrp="1"/>
          </p:cNvSpPr>
          <p:nvPr>
            <p:ph type="sldNum" sz="quarter" idx="12"/>
          </p:nvPr>
        </p:nvSpPr>
        <p:spPr/>
        <p:txBody>
          <a:bodyPr/>
          <a:lstStyle/>
          <a:p>
            <a:fld id="{6264BDCF-5269-49AC-A246-ED26C2B980E3}" type="slidenum">
              <a:rPr lang="en-US" smtClean="0"/>
              <a:t>131</a:t>
            </a:fld>
            <a:endParaRPr lang="en-US"/>
          </a:p>
        </p:txBody>
      </p:sp>
    </p:spTree>
    <p:extLst>
      <p:ext uri="{BB962C8B-B14F-4D97-AF65-F5344CB8AC3E}">
        <p14:creationId xmlns:p14="http://schemas.microsoft.com/office/powerpoint/2010/main" val="271148204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1440-4353-3C67-9E37-A2888C7B6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95D4D-7A8A-E44A-1F3F-265D5F5DFC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966D4D-FD46-5C06-04D4-F3F340D6794D}"/>
              </a:ext>
            </a:extLst>
          </p:cNvPr>
          <p:cNvSpPr>
            <a:spLocks noGrp="1"/>
          </p:cNvSpPr>
          <p:nvPr>
            <p:ph idx="1"/>
          </p:nvPr>
        </p:nvSpPr>
        <p:spPr/>
        <p:txBody>
          <a:bodyPr>
            <a:noAutofit/>
          </a:bodyPr>
          <a:lstStyle/>
          <a:p>
            <a:r>
              <a:rPr lang="en-US" dirty="0"/>
              <a:t>trigger is regarded as an ECA (Event, Condition, Action) rule</a:t>
            </a:r>
          </a:p>
        </p:txBody>
      </p:sp>
      <p:sp>
        <p:nvSpPr>
          <p:cNvPr id="4" name="Slide Number Placeholder 3">
            <a:extLst>
              <a:ext uri="{FF2B5EF4-FFF2-40B4-BE49-F238E27FC236}">
                <a16:creationId xmlns:a16="http://schemas.microsoft.com/office/drawing/2014/main" id="{AC9B7659-9D40-A6AC-F17C-FCB82AF1932E}"/>
              </a:ext>
            </a:extLst>
          </p:cNvPr>
          <p:cNvSpPr>
            <a:spLocks noGrp="1"/>
          </p:cNvSpPr>
          <p:nvPr>
            <p:ph type="sldNum" sz="quarter" idx="12"/>
          </p:nvPr>
        </p:nvSpPr>
        <p:spPr/>
        <p:txBody>
          <a:bodyPr/>
          <a:lstStyle/>
          <a:p>
            <a:fld id="{6264BDCF-5269-49AC-A246-ED26C2B980E3}" type="slidenum">
              <a:rPr lang="en-US" smtClean="0"/>
              <a:t>132</a:t>
            </a:fld>
            <a:endParaRPr lang="en-US"/>
          </a:p>
        </p:txBody>
      </p:sp>
    </p:spTree>
    <p:extLst>
      <p:ext uri="{BB962C8B-B14F-4D97-AF65-F5344CB8AC3E}">
        <p14:creationId xmlns:p14="http://schemas.microsoft.com/office/powerpoint/2010/main" val="154588074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1861B-159B-E76C-5894-88BBE7D49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E7D8B-E2FF-4995-4222-08132EB80929}"/>
              </a:ext>
            </a:extLst>
          </p:cNvPr>
          <p:cNvSpPr>
            <a:spLocks noGrp="1"/>
          </p:cNvSpPr>
          <p:nvPr>
            <p:ph type="title"/>
          </p:nvPr>
        </p:nvSpPr>
        <p:spPr/>
        <p:txBody>
          <a:bodyPr/>
          <a:lstStyle/>
          <a:p>
            <a:r>
              <a:rPr lang="en-US" dirty="0"/>
              <a:t>event(s):</a:t>
            </a:r>
          </a:p>
        </p:txBody>
      </p:sp>
      <p:sp>
        <p:nvSpPr>
          <p:cNvPr id="3" name="Content Placeholder 2">
            <a:extLst>
              <a:ext uri="{FF2B5EF4-FFF2-40B4-BE49-F238E27FC236}">
                <a16:creationId xmlns:a16="http://schemas.microsoft.com/office/drawing/2014/main" id="{3FE6B53C-C105-7DA1-FC3A-202D3EF632F6}"/>
              </a:ext>
            </a:extLst>
          </p:cNvPr>
          <p:cNvSpPr>
            <a:spLocks noGrp="1"/>
          </p:cNvSpPr>
          <p:nvPr>
            <p:ph idx="1"/>
          </p:nvPr>
        </p:nvSpPr>
        <p:spPr/>
        <p:txBody>
          <a:bodyPr>
            <a:noAutofit/>
          </a:bodyPr>
          <a:lstStyle/>
          <a:p>
            <a:r>
              <a:rPr lang="en-US" dirty="0"/>
              <a:t>usually, database update operations that are explicitly applied to  database; in this example: insert new employee record, changing employee’s salary, or changing employee’s supervisor</a:t>
            </a:r>
          </a:p>
          <a:p>
            <a:r>
              <a:rPr lang="en-US" dirty="0"/>
              <a:t>events are specified after keyword </a:t>
            </a:r>
            <a:r>
              <a:rPr lang="en-US" b="1" dirty="0"/>
              <a:t>BEFORE </a:t>
            </a:r>
            <a:r>
              <a:rPr lang="en-US" dirty="0"/>
              <a:t>in example, which means that trigger should be executed before triggering operation is executed; alternative is to use keyword </a:t>
            </a:r>
            <a:r>
              <a:rPr lang="en-US" b="1" dirty="0"/>
              <a:t>AFTER</a:t>
            </a:r>
            <a:r>
              <a:rPr lang="en-US" dirty="0"/>
              <a:t>, or </a:t>
            </a:r>
            <a:r>
              <a:rPr lang="en-US" b="1" dirty="0"/>
              <a:t>INSTEAD OF</a:t>
            </a:r>
          </a:p>
        </p:txBody>
      </p:sp>
      <p:sp>
        <p:nvSpPr>
          <p:cNvPr id="4" name="Slide Number Placeholder 3">
            <a:extLst>
              <a:ext uri="{FF2B5EF4-FFF2-40B4-BE49-F238E27FC236}">
                <a16:creationId xmlns:a16="http://schemas.microsoft.com/office/drawing/2014/main" id="{02FA7A33-05E9-01C4-E337-8802C03C9F19}"/>
              </a:ext>
            </a:extLst>
          </p:cNvPr>
          <p:cNvSpPr>
            <a:spLocks noGrp="1"/>
          </p:cNvSpPr>
          <p:nvPr>
            <p:ph type="sldNum" sz="quarter" idx="12"/>
          </p:nvPr>
        </p:nvSpPr>
        <p:spPr/>
        <p:txBody>
          <a:bodyPr/>
          <a:lstStyle/>
          <a:p>
            <a:fld id="{6264BDCF-5269-49AC-A246-ED26C2B980E3}" type="slidenum">
              <a:rPr lang="en-US" smtClean="0"/>
              <a:t>133</a:t>
            </a:fld>
            <a:endParaRPr lang="en-US"/>
          </a:p>
        </p:txBody>
      </p:sp>
    </p:spTree>
    <p:extLst>
      <p:ext uri="{BB962C8B-B14F-4D97-AF65-F5344CB8AC3E}">
        <p14:creationId xmlns:p14="http://schemas.microsoft.com/office/powerpoint/2010/main" val="149181340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0255-2654-9C5B-56ED-F2B15ED51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A0AEA-FD76-72E8-7680-D877087397F6}"/>
              </a:ext>
            </a:extLst>
          </p:cNvPr>
          <p:cNvSpPr>
            <a:spLocks noGrp="1"/>
          </p:cNvSpPr>
          <p:nvPr>
            <p:ph type="title"/>
          </p:nvPr>
        </p:nvSpPr>
        <p:spPr/>
        <p:txBody>
          <a:bodyPr/>
          <a:lstStyle/>
          <a:p>
            <a:r>
              <a:rPr lang="en-US" dirty="0"/>
              <a:t>condition</a:t>
            </a:r>
          </a:p>
        </p:txBody>
      </p:sp>
      <p:sp>
        <p:nvSpPr>
          <p:cNvPr id="3" name="Content Placeholder 2">
            <a:extLst>
              <a:ext uri="{FF2B5EF4-FFF2-40B4-BE49-F238E27FC236}">
                <a16:creationId xmlns:a16="http://schemas.microsoft.com/office/drawing/2014/main" id="{9FBE03DB-46E3-8F57-8CFA-641547EBE9C3}"/>
              </a:ext>
            </a:extLst>
          </p:cNvPr>
          <p:cNvSpPr>
            <a:spLocks noGrp="1"/>
          </p:cNvSpPr>
          <p:nvPr>
            <p:ph idx="1"/>
          </p:nvPr>
        </p:nvSpPr>
        <p:spPr/>
        <p:txBody>
          <a:bodyPr>
            <a:noAutofit/>
          </a:bodyPr>
          <a:lstStyle/>
          <a:p>
            <a:r>
              <a:rPr lang="en-US" dirty="0"/>
              <a:t>that determines whether the rule action should be executed: once the triggering event has occurred, an </a:t>
            </a:r>
            <a:r>
              <a:rPr lang="en-US" i="1" dirty="0"/>
              <a:t>optional </a:t>
            </a:r>
            <a:r>
              <a:rPr lang="en-US" dirty="0"/>
              <a:t>condition may be evaluated</a:t>
            </a:r>
          </a:p>
          <a:p>
            <a:r>
              <a:rPr lang="en-US" dirty="0"/>
              <a:t>if </a:t>
            </a:r>
            <a:r>
              <a:rPr lang="en-US" i="1" dirty="0"/>
              <a:t>no condition </a:t>
            </a:r>
            <a:r>
              <a:rPr lang="en-US" dirty="0"/>
              <a:t>is specified, action will be executed once the event occurs; if condition is specified, it is first evaluated, and only if it evaluates to true will the rule action be executed</a:t>
            </a:r>
          </a:p>
          <a:p>
            <a:r>
              <a:rPr lang="en-US" dirty="0"/>
              <a:t>condition is specified in the WHEN clause of the trigger</a:t>
            </a:r>
          </a:p>
        </p:txBody>
      </p:sp>
      <p:sp>
        <p:nvSpPr>
          <p:cNvPr id="4" name="Slide Number Placeholder 3">
            <a:extLst>
              <a:ext uri="{FF2B5EF4-FFF2-40B4-BE49-F238E27FC236}">
                <a16:creationId xmlns:a16="http://schemas.microsoft.com/office/drawing/2014/main" id="{0F3ED200-6A21-BF4C-21A3-48B2629944E1}"/>
              </a:ext>
            </a:extLst>
          </p:cNvPr>
          <p:cNvSpPr>
            <a:spLocks noGrp="1"/>
          </p:cNvSpPr>
          <p:nvPr>
            <p:ph type="sldNum" sz="quarter" idx="12"/>
          </p:nvPr>
        </p:nvSpPr>
        <p:spPr/>
        <p:txBody>
          <a:bodyPr/>
          <a:lstStyle/>
          <a:p>
            <a:fld id="{6264BDCF-5269-49AC-A246-ED26C2B980E3}" type="slidenum">
              <a:rPr lang="en-US" smtClean="0"/>
              <a:t>134</a:t>
            </a:fld>
            <a:endParaRPr lang="en-US"/>
          </a:p>
        </p:txBody>
      </p:sp>
    </p:spTree>
    <p:extLst>
      <p:ext uri="{BB962C8B-B14F-4D97-AF65-F5344CB8AC3E}">
        <p14:creationId xmlns:p14="http://schemas.microsoft.com/office/powerpoint/2010/main" val="350542977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7BA58-1308-C2ED-4585-D658E41CE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2AD48-B131-2DEA-B828-8644134E09D4}"/>
              </a:ext>
            </a:extLst>
          </p:cNvPr>
          <p:cNvSpPr>
            <a:spLocks noGrp="1"/>
          </p:cNvSpPr>
          <p:nvPr>
            <p:ph type="title"/>
          </p:nvPr>
        </p:nvSpPr>
        <p:spPr/>
        <p:txBody>
          <a:bodyPr/>
          <a:lstStyle/>
          <a:p>
            <a:r>
              <a:rPr lang="en-US" dirty="0"/>
              <a:t>action</a:t>
            </a:r>
          </a:p>
        </p:txBody>
      </p:sp>
      <p:sp>
        <p:nvSpPr>
          <p:cNvPr id="3" name="Content Placeholder 2">
            <a:extLst>
              <a:ext uri="{FF2B5EF4-FFF2-40B4-BE49-F238E27FC236}">
                <a16:creationId xmlns:a16="http://schemas.microsoft.com/office/drawing/2014/main" id="{E566092D-5E09-28F4-80AB-ADCE717F5C19}"/>
              </a:ext>
            </a:extLst>
          </p:cNvPr>
          <p:cNvSpPr>
            <a:spLocks noGrp="1"/>
          </p:cNvSpPr>
          <p:nvPr>
            <p:ph idx="1"/>
          </p:nvPr>
        </p:nvSpPr>
        <p:spPr>
          <a:xfrm>
            <a:off x="838199" y="1825625"/>
            <a:ext cx="10872019" cy="4351338"/>
          </a:xfrm>
        </p:spPr>
        <p:txBody>
          <a:bodyPr>
            <a:noAutofit/>
          </a:bodyPr>
          <a:lstStyle/>
          <a:p>
            <a:r>
              <a:rPr lang="en-US" dirty="0"/>
              <a:t>to be taken: usually a sequence of SQL statements, but it could also be a database transaction or an external program that will be automatically executed</a:t>
            </a:r>
          </a:p>
          <a:p>
            <a:r>
              <a:rPr lang="en-US" dirty="0"/>
              <a:t>in example, action is to execute stored procedure INFORM_SUPERVISOR</a:t>
            </a:r>
          </a:p>
        </p:txBody>
      </p:sp>
      <p:sp>
        <p:nvSpPr>
          <p:cNvPr id="4" name="Slide Number Placeholder 3">
            <a:extLst>
              <a:ext uri="{FF2B5EF4-FFF2-40B4-BE49-F238E27FC236}">
                <a16:creationId xmlns:a16="http://schemas.microsoft.com/office/drawing/2014/main" id="{5554FEFB-BDFF-B93F-3339-329F798DD670}"/>
              </a:ext>
            </a:extLst>
          </p:cNvPr>
          <p:cNvSpPr>
            <a:spLocks noGrp="1"/>
          </p:cNvSpPr>
          <p:nvPr>
            <p:ph type="sldNum" sz="quarter" idx="12"/>
          </p:nvPr>
        </p:nvSpPr>
        <p:spPr/>
        <p:txBody>
          <a:bodyPr/>
          <a:lstStyle/>
          <a:p>
            <a:fld id="{6264BDCF-5269-49AC-A246-ED26C2B980E3}" type="slidenum">
              <a:rPr lang="en-US" smtClean="0"/>
              <a:t>135</a:t>
            </a:fld>
            <a:endParaRPr lang="en-US"/>
          </a:p>
        </p:txBody>
      </p:sp>
    </p:spTree>
    <p:extLst>
      <p:ext uri="{BB962C8B-B14F-4D97-AF65-F5344CB8AC3E}">
        <p14:creationId xmlns:p14="http://schemas.microsoft.com/office/powerpoint/2010/main" val="308160294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601D2-9196-6856-B848-A80912E556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470526-8349-53E3-3C65-035B2C3B5D16}"/>
              </a:ext>
            </a:extLst>
          </p:cNvPr>
          <p:cNvSpPr>
            <a:spLocks noGrp="1"/>
          </p:cNvSpPr>
          <p:nvPr>
            <p:ph idx="1"/>
          </p:nvPr>
        </p:nvSpPr>
        <p:spPr/>
        <p:txBody>
          <a:bodyPr/>
          <a:lstStyle/>
          <a:p>
            <a:r>
              <a:rPr lang="en-US" dirty="0"/>
              <a:t>Triggers can be used in various applications, such as maintaining database consistency, monitoring database updates, and updating derived data automatically</a:t>
            </a:r>
          </a:p>
          <a:p>
            <a:r>
              <a:rPr lang="en-US" dirty="0"/>
              <a:t>Audit database</a:t>
            </a:r>
          </a:p>
        </p:txBody>
      </p:sp>
      <p:sp>
        <p:nvSpPr>
          <p:cNvPr id="4" name="Slide Number Placeholder 3">
            <a:extLst>
              <a:ext uri="{FF2B5EF4-FFF2-40B4-BE49-F238E27FC236}">
                <a16:creationId xmlns:a16="http://schemas.microsoft.com/office/drawing/2014/main" id="{196BD038-7A83-3CBF-8139-3A93A2A5C5EA}"/>
              </a:ext>
            </a:extLst>
          </p:cNvPr>
          <p:cNvSpPr>
            <a:spLocks noGrp="1"/>
          </p:cNvSpPr>
          <p:nvPr>
            <p:ph type="sldNum" sz="quarter" idx="12"/>
          </p:nvPr>
        </p:nvSpPr>
        <p:spPr/>
        <p:txBody>
          <a:bodyPr/>
          <a:lstStyle/>
          <a:p>
            <a:fld id="{6264BDCF-5269-49AC-A246-ED26C2B980E3}" type="slidenum">
              <a:rPr lang="en-US" smtClean="0"/>
              <a:t>136</a:t>
            </a:fld>
            <a:endParaRPr lang="en-US"/>
          </a:p>
        </p:txBody>
      </p:sp>
    </p:spTree>
    <p:extLst>
      <p:ext uri="{BB962C8B-B14F-4D97-AF65-F5344CB8AC3E}">
        <p14:creationId xmlns:p14="http://schemas.microsoft.com/office/powerpoint/2010/main" val="289139126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1B53B-1D64-32AF-B647-2DD793FB4C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5336D2C-4988-7725-1978-A8D118F278A1}"/>
              </a:ext>
            </a:extLst>
          </p:cNvPr>
          <p:cNvSpPr>
            <a:spLocks noGrp="1"/>
          </p:cNvSpPr>
          <p:nvPr>
            <p:ph type="title"/>
          </p:nvPr>
        </p:nvSpPr>
        <p:spPr/>
        <p:txBody>
          <a:bodyPr>
            <a:normAutofit/>
          </a:bodyPr>
          <a:lstStyle/>
          <a:p>
            <a:r>
              <a:rPr lang="en-US" b="1" dirty="0"/>
              <a:t>VIEWS</a:t>
            </a:r>
            <a:endParaRPr lang="en-US" dirty="0"/>
          </a:p>
        </p:txBody>
      </p:sp>
      <p:sp>
        <p:nvSpPr>
          <p:cNvPr id="6" name="Text Placeholder 5">
            <a:extLst>
              <a:ext uri="{FF2B5EF4-FFF2-40B4-BE49-F238E27FC236}">
                <a16:creationId xmlns:a16="http://schemas.microsoft.com/office/drawing/2014/main" id="{E39ACBF8-2C70-D0BF-509E-0E9B072990EC}"/>
              </a:ext>
            </a:extLst>
          </p:cNvPr>
          <p:cNvSpPr>
            <a:spLocks noGrp="1"/>
          </p:cNvSpPr>
          <p:nvPr>
            <p:ph type="body" idx="1"/>
          </p:nvPr>
        </p:nvSpPr>
        <p:spPr/>
        <p:txBody>
          <a:bodyPr/>
          <a:lstStyle/>
          <a:p>
            <a:r>
              <a:rPr lang="en-US" dirty="0"/>
              <a:t>Virtual Tables</a:t>
            </a:r>
          </a:p>
        </p:txBody>
      </p:sp>
      <p:sp>
        <p:nvSpPr>
          <p:cNvPr id="4" name="Slide Number Placeholder 3">
            <a:extLst>
              <a:ext uri="{FF2B5EF4-FFF2-40B4-BE49-F238E27FC236}">
                <a16:creationId xmlns:a16="http://schemas.microsoft.com/office/drawing/2014/main" id="{CB8E21F1-F18F-49A0-1DAA-41EBBBD9498C}"/>
              </a:ext>
            </a:extLst>
          </p:cNvPr>
          <p:cNvSpPr>
            <a:spLocks noGrp="1"/>
          </p:cNvSpPr>
          <p:nvPr>
            <p:ph type="sldNum" sz="quarter" idx="12"/>
          </p:nvPr>
        </p:nvSpPr>
        <p:spPr/>
        <p:txBody>
          <a:bodyPr/>
          <a:lstStyle/>
          <a:p>
            <a:fld id="{6264BDCF-5269-49AC-A246-ED26C2B980E3}" type="slidenum">
              <a:rPr lang="en-US" smtClean="0"/>
              <a:t>137</a:t>
            </a:fld>
            <a:endParaRPr lang="en-US"/>
          </a:p>
        </p:txBody>
      </p:sp>
    </p:spTree>
    <p:extLst>
      <p:ext uri="{BB962C8B-B14F-4D97-AF65-F5344CB8AC3E}">
        <p14:creationId xmlns:p14="http://schemas.microsoft.com/office/powerpoint/2010/main" val="321363144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88EED0-F779-1C93-EEDC-978657B8E2F1}"/>
              </a:ext>
            </a:extLst>
          </p:cNvPr>
          <p:cNvSpPr>
            <a:spLocks noGrp="1"/>
          </p:cNvSpPr>
          <p:nvPr>
            <p:ph type="title"/>
          </p:nvPr>
        </p:nvSpPr>
        <p:spPr/>
        <p:txBody>
          <a:bodyPr/>
          <a:lstStyle/>
          <a:p>
            <a:r>
              <a:rPr lang="en-US" dirty="0"/>
              <a:t>Concept of View</a:t>
            </a:r>
          </a:p>
        </p:txBody>
      </p:sp>
      <p:sp>
        <p:nvSpPr>
          <p:cNvPr id="6" name="Content Placeholder 5">
            <a:extLst>
              <a:ext uri="{FF2B5EF4-FFF2-40B4-BE49-F238E27FC236}">
                <a16:creationId xmlns:a16="http://schemas.microsoft.com/office/drawing/2014/main" id="{0AD63464-4A64-4061-3698-9BC3E2860C0D}"/>
              </a:ext>
            </a:extLst>
          </p:cNvPr>
          <p:cNvSpPr>
            <a:spLocks noGrp="1"/>
          </p:cNvSpPr>
          <p:nvPr>
            <p:ph idx="1"/>
          </p:nvPr>
        </p:nvSpPr>
        <p:spPr/>
        <p:txBody>
          <a:bodyPr>
            <a:noAutofit/>
          </a:bodyPr>
          <a:lstStyle/>
          <a:p>
            <a:r>
              <a:rPr lang="en-US" dirty="0"/>
              <a:t>a </a:t>
            </a:r>
            <a:r>
              <a:rPr lang="en-US" b="1" dirty="0"/>
              <a:t>view </a:t>
            </a:r>
            <a:r>
              <a:rPr lang="en-US" dirty="0"/>
              <a:t>in SQL terminology is a single table that is derived from other tables</a:t>
            </a:r>
          </a:p>
          <a:p>
            <a:r>
              <a:rPr lang="en-US" dirty="0"/>
              <a:t>these other tables can be </a:t>
            </a:r>
            <a:r>
              <a:rPr lang="en-US" i="1" dirty="0"/>
              <a:t>base tables </a:t>
            </a:r>
            <a:r>
              <a:rPr lang="en-US" dirty="0"/>
              <a:t>or </a:t>
            </a:r>
            <a:r>
              <a:rPr lang="en-US" i="1" dirty="0"/>
              <a:t>virtual tables</a:t>
            </a:r>
            <a:r>
              <a:rPr lang="en-US" dirty="0"/>
              <a:t> previously defined views</a:t>
            </a:r>
          </a:p>
          <a:p>
            <a:r>
              <a:rPr lang="en-US" dirty="0"/>
              <a:t>view does not exist in physical form; </a:t>
            </a:r>
          </a:p>
          <a:p>
            <a:pPr lvl="1"/>
            <a:r>
              <a:rPr lang="en-US" sz="2700" dirty="0"/>
              <a:t>definition is stored in database</a:t>
            </a:r>
          </a:p>
          <a:p>
            <a:pPr lvl="1"/>
            <a:r>
              <a:rPr lang="en-US" sz="2700" dirty="0"/>
              <a:t>data are not stored in database </a:t>
            </a:r>
          </a:p>
          <a:p>
            <a:r>
              <a:rPr lang="en-US" dirty="0"/>
              <a:t>limits the possible update operations that can be applied to views, but it does not provide any limitations on querying a view</a:t>
            </a:r>
          </a:p>
        </p:txBody>
      </p:sp>
      <p:sp>
        <p:nvSpPr>
          <p:cNvPr id="4" name="Slide Number Placeholder 3">
            <a:extLst>
              <a:ext uri="{FF2B5EF4-FFF2-40B4-BE49-F238E27FC236}">
                <a16:creationId xmlns:a16="http://schemas.microsoft.com/office/drawing/2014/main" id="{A19D5DBC-AD6D-964C-CDF5-28CE5E1248E8}"/>
              </a:ext>
            </a:extLst>
          </p:cNvPr>
          <p:cNvSpPr>
            <a:spLocks noGrp="1"/>
          </p:cNvSpPr>
          <p:nvPr>
            <p:ph type="sldNum" sz="quarter" idx="12"/>
          </p:nvPr>
        </p:nvSpPr>
        <p:spPr/>
        <p:txBody>
          <a:bodyPr/>
          <a:lstStyle/>
          <a:p>
            <a:fld id="{6264BDCF-5269-49AC-A246-ED26C2B980E3}" type="slidenum">
              <a:rPr lang="en-US" smtClean="0"/>
              <a:t>138</a:t>
            </a:fld>
            <a:endParaRPr lang="en-US"/>
          </a:p>
        </p:txBody>
      </p:sp>
    </p:spTree>
    <p:extLst>
      <p:ext uri="{BB962C8B-B14F-4D97-AF65-F5344CB8AC3E}">
        <p14:creationId xmlns:p14="http://schemas.microsoft.com/office/powerpoint/2010/main" val="417485742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406C0-B5AA-658E-280D-63027F98E2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17E49B-8738-9A74-B587-A7EBB290B9BF}"/>
              </a:ext>
            </a:extLst>
          </p:cNvPr>
          <p:cNvSpPr>
            <a:spLocks noGrp="1"/>
          </p:cNvSpPr>
          <p:nvPr>
            <p:ph idx="1"/>
          </p:nvPr>
        </p:nvSpPr>
        <p:spPr/>
        <p:txBody>
          <a:bodyPr>
            <a:normAutofit/>
          </a:bodyPr>
          <a:lstStyle/>
          <a:p>
            <a:r>
              <a:rPr lang="en-US" dirty="0"/>
              <a:t>for example, we may frequently issue queries that retrieve employee name and project names that the employee works on</a:t>
            </a:r>
          </a:p>
          <a:p>
            <a:r>
              <a:rPr lang="en-US" dirty="0"/>
              <a:t>rather than having to specify join of three tables EMPLOYEE, WORKS_ON, and PROJECT every time we issue this query, we can define a view that is specified as result of these joins; then we can issue queries on view, which are specified as single table</a:t>
            </a:r>
          </a:p>
        </p:txBody>
      </p:sp>
      <p:sp>
        <p:nvSpPr>
          <p:cNvPr id="4" name="Slide Number Placeholder 3">
            <a:extLst>
              <a:ext uri="{FF2B5EF4-FFF2-40B4-BE49-F238E27FC236}">
                <a16:creationId xmlns:a16="http://schemas.microsoft.com/office/drawing/2014/main" id="{18E599AD-9D8B-E1ED-2F49-A86A91BB14BF}"/>
              </a:ext>
            </a:extLst>
          </p:cNvPr>
          <p:cNvSpPr>
            <a:spLocks noGrp="1"/>
          </p:cNvSpPr>
          <p:nvPr>
            <p:ph type="sldNum" sz="quarter" idx="12"/>
          </p:nvPr>
        </p:nvSpPr>
        <p:spPr/>
        <p:txBody>
          <a:bodyPr/>
          <a:lstStyle/>
          <a:p>
            <a:fld id="{6264BDCF-5269-49AC-A246-ED26C2B980E3}" type="slidenum">
              <a:rPr lang="en-US" smtClean="0"/>
              <a:t>139</a:t>
            </a:fld>
            <a:endParaRPr lang="en-US"/>
          </a:p>
        </p:txBody>
      </p:sp>
    </p:spTree>
    <p:extLst>
      <p:ext uri="{BB962C8B-B14F-4D97-AF65-F5344CB8AC3E}">
        <p14:creationId xmlns:p14="http://schemas.microsoft.com/office/powerpoint/2010/main" val="392881129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B1B49-E64F-C6B4-D224-B7FF2E899157}"/>
              </a:ext>
            </a:extLst>
          </p:cNvPr>
          <p:cNvSpPr>
            <a:spLocks noGrp="1"/>
          </p:cNvSpPr>
          <p:nvPr>
            <p:ph type="title"/>
          </p:nvPr>
        </p:nvSpPr>
        <p:spPr/>
        <p:txBody>
          <a:bodyPr/>
          <a:lstStyle/>
          <a:p>
            <a:r>
              <a:rPr lang="en-US" dirty="0"/>
              <a:t>Specification of Views</a:t>
            </a:r>
          </a:p>
        </p:txBody>
      </p:sp>
      <p:sp>
        <p:nvSpPr>
          <p:cNvPr id="3" name="Content Placeholder 2">
            <a:extLst>
              <a:ext uri="{FF2B5EF4-FFF2-40B4-BE49-F238E27FC236}">
                <a16:creationId xmlns:a16="http://schemas.microsoft.com/office/drawing/2014/main" id="{2999B143-FDDB-FD2E-2F3B-1FEB4AAC5157}"/>
              </a:ext>
            </a:extLst>
          </p:cNvPr>
          <p:cNvSpPr>
            <a:spLocks noGrp="1"/>
          </p:cNvSpPr>
          <p:nvPr>
            <p:ph idx="1"/>
          </p:nvPr>
        </p:nvSpPr>
        <p:spPr/>
        <p:txBody>
          <a:bodyPr>
            <a:normAutofit/>
          </a:bodyPr>
          <a:lstStyle/>
          <a:p>
            <a:r>
              <a:rPr lang="en-US" dirty="0"/>
              <a:t>statement to specify a view is </a:t>
            </a:r>
            <a:r>
              <a:rPr lang="en-US" b="1" dirty="0"/>
              <a:t>CREATE VIEW</a:t>
            </a:r>
          </a:p>
          <a:p>
            <a:r>
              <a:rPr lang="en-US" dirty="0"/>
              <a:t>view is given a (virtual) table name (or view name), a list of attribute names, and a query to specify the contents of the view</a:t>
            </a:r>
          </a:p>
          <a:p>
            <a:r>
              <a:rPr lang="en-US" dirty="0"/>
              <a:t>if view attributes results from applying functions or arithmetic operations, we do not have to specify new attribute names for the view, since they would be the same as names of attributes of defining tables in default case</a:t>
            </a:r>
          </a:p>
        </p:txBody>
      </p:sp>
      <p:sp>
        <p:nvSpPr>
          <p:cNvPr id="4" name="Slide Number Placeholder 3">
            <a:extLst>
              <a:ext uri="{FF2B5EF4-FFF2-40B4-BE49-F238E27FC236}">
                <a16:creationId xmlns:a16="http://schemas.microsoft.com/office/drawing/2014/main" id="{4CB4DBCA-0242-4A30-C187-CA98AC1287B3}"/>
              </a:ext>
            </a:extLst>
          </p:cNvPr>
          <p:cNvSpPr>
            <a:spLocks noGrp="1"/>
          </p:cNvSpPr>
          <p:nvPr>
            <p:ph type="sldNum" sz="quarter" idx="12"/>
          </p:nvPr>
        </p:nvSpPr>
        <p:spPr/>
        <p:txBody>
          <a:bodyPr/>
          <a:lstStyle/>
          <a:p>
            <a:fld id="{6264BDCF-5269-49AC-A246-ED26C2B980E3}" type="slidenum">
              <a:rPr lang="en-US" smtClean="0"/>
              <a:t>140</a:t>
            </a:fld>
            <a:endParaRPr lang="en-US"/>
          </a:p>
        </p:txBody>
      </p:sp>
    </p:spTree>
    <p:extLst>
      <p:ext uri="{BB962C8B-B14F-4D97-AF65-F5344CB8AC3E}">
        <p14:creationId xmlns:p14="http://schemas.microsoft.com/office/powerpoint/2010/main" val="13257303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88500-7FD2-47DE-6EEF-CBC1B73CB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9943C-6CA8-1496-D6D5-F8568C603C4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27A8857-8CEC-C142-3456-24678A551374}"/>
              </a:ext>
            </a:extLst>
          </p:cNvPr>
          <p:cNvSpPr>
            <a:spLocks noGrp="1"/>
          </p:cNvSpPr>
          <p:nvPr>
            <p:ph idx="1"/>
          </p:nvPr>
        </p:nvSpPr>
        <p:spPr/>
        <p:txBody>
          <a:bodyPr>
            <a:normAutofit lnSpcReduction="10000"/>
          </a:bodyPr>
          <a:lstStyle/>
          <a:p>
            <a:r>
              <a:rPr lang="en-US" b="1" dirty="0"/>
              <a:t>CREATE VIEW </a:t>
            </a:r>
            <a:r>
              <a:rPr lang="en-US" dirty="0"/>
              <a:t>WORKS_ON</a:t>
            </a:r>
          </a:p>
          <a:p>
            <a:r>
              <a:rPr lang="en-US" b="1" dirty="0"/>
              <a:t> 	AS SELECT </a:t>
            </a:r>
            <a:r>
              <a:rPr lang="en-US" dirty="0" err="1"/>
              <a:t>Fname</a:t>
            </a:r>
            <a:r>
              <a:rPr lang="en-US" dirty="0"/>
              <a:t>, </a:t>
            </a:r>
            <a:r>
              <a:rPr lang="en-US" dirty="0" err="1"/>
              <a:t>Lname</a:t>
            </a:r>
            <a:r>
              <a:rPr lang="en-US" dirty="0"/>
              <a:t>, </a:t>
            </a:r>
            <a:r>
              <a:rPr lang="en-US" dirty="0" err="1"/>
              <a:t>Pname</a:t>
            </a:r>
            <a:r>
              <a:rPr lang="en-US" dirty="0"/>
              <a:t>, Hours</a:t>
            </a:r>
          </a:p>
          <a:p>
            <a:r>
              <a:rPr lang="en-US" b="1" dirty="0"/>
              <a:t> 		FROM </a:t>
            </a:r>
            <a:r>
              <a:rPr lang="en-US" dirty="0"/>
              <a:t>EMPLOYEE, PROJECT, WORKS_ON</a:t>
            </a:r>
          </a:p>
          <a:p>
            <a:r>
              <a:rPr lang="en-US" b="1" dirty="0"/>
              <a:t> 		WHERE </a:t>
            </a:r>
            <a:r>
              <a:rPr lang="en-US" dirty="0" err="1"/>
              <a:t>Ssn</a:t>
            </a:r>
            <a:r>
              <a:rPr lang="en-US" dirty="0"/>
              <a:t> = </a:t>
            </a:r>
            <a:r>
              <a:rPr lang="en-US" dirty="0" err="1"/>
              <a:t>Essn</a:t>
            </a:r>
            <a:r>
              <a:rPr lang="en-US" dirty="0"/>
              <a:t> </a:t>
            </a:r>
            <a:r>
              <a:rPr lang="en-US" b="1" dirty="0"/>
              <a:t>AND </a:t>
            </a:r>
            <a:r>
              <a:rPr lang="en-US" dirty="0" err="1"/>
              <a:t>Pno</a:t>
            </a:r>
            <a:r>
              <a:rPr lang="en-US" dirty="0"/>
              <a:t> = </a:t>
            </a:r>
            <a:r>
              <a:rPr lang="en-US" dirty="0" err="1"/>
              <a:t>Pnumber</a:t>
            </a:r>
            <a:r>
              <a:rPr lang="en-US" dirty="0"/>
              <a:t>;</a:t>
            </a:r>
          </a:p>
          <a:p>
            <a:r>
              <a:rPr lang="en-US" b="1" dirty="0"/>
              <a:t>CREATE VIEW </a:t>
            </a:r>
            <a:r>
              <a:rPr lang="en-US" dirty="0"/>
              <a:t>DEPT_INFO(</a:t>
            </a:r>
            <a:r>
              <a:rPr lang="en-US" dirty="0" err="1"/>
              <a:t>Dept_name</a:t>
            </a:r>
            <a:r>
              <a:rPr lang="en-US" dirty="0"/>
              <a:t>, </a:t>
            </a:r>
            <a:r>
              <a:rPr lang="en-US" dirty="0" err="1"/>
              <a:t>No_of_emps</a:t>
            </a:r>
            <a:r>
              <a:rPr lang="en-US" dirty="0"/>
              <a:t>, </a:t>
            </a:r>
            <a:r>
              <a:rPr lang="en-US" dirty="0" err="1"/>
              <a:t>Total_sal</a:t>
            </a:r>
            <a:r>
              <a:rPr lang="en-US" dirty="0"/>
              <a:t>)</a:t>
            </a:r>
          </a:p>
          <a:p>
            <a:r>
              <a:rPr lang="en-US" b="1" dirty="0"/>
              <a:t> 	AS SELECT </a:t>
            </a:r>
            <a:r>
              <a:rPr lang="en-US" dirty="0" err="1"/>
              <a:t>Dname</a:t>
            </a:r>
            <a:r>
              <a:rPr lang="en-US" dirty="0"/>
              <a:t>, </a:t>
            </a:r>
            <a:r>
              <a:rPr lang="en-US" b="1" dirty="0"/>
              <a:t>COUNT </a:t>
            </a:r>
            <a:r>
              <a:rPr lang="en-US" dirty="0"/>
              <a:t>(*), </a:t>
            </a:r>
            <a:r>
              <a:rPr lang="en-US" b="1" dirty="0"/>
              <a:t>SUM </a:t>
            </a:r>
            <a:r>
              <a:rPr lang="en-US" dirty="0"/>
              <a:t>(Salary)</a:t>
            </a:r>
          </a:p>
          <a:p>
            <a:r>
              <a:rPr lang="en-US" b="1" dirty="0"/>
              <a:t> 		FROM </a:t>
            </a:r>
            <a:r>
              <a:rPr lang="en-US" dirty="0"/>
              <a:t>DEPARTMENT, EMPLOYEE</a:t>
            </a:r>
          </a:p>
          <a:p>
            <a:r>
              <a:rPr lang="en-US" b="1" dirty="0"/>
              <a:t> 		WHERE </a:t>
            </a:r>
            <a:r>
              <a:rPr lang="en-US" dirty="0" err="1"/>
              <a:t>Dnumber</a:t>
            </a:r>
            <a:r>
              <a:rPr lang="en-US" dirty="0"/>
              <a:t> = </a:t>
            </a:r>
            <a:r>
              <a:rPr lang="en-US" dirty="0" err="1"/>
              <a:t>Dno</a:t>
            </a:r>
            <a:endParaRPr lang="en-US" dirty="0"/>
          </a:p>
          <a:p>
            <a:r>
              <a:rPr lang="en-US" b="1" dirty="0"/>
              <a:t> 		GROUP BY </a:t>
            </a:r>
            <a:r>
              <a:rPr lang="en-US" dirty="0" err="1"/>
              <a:t>Dname</a:t>
            </a:r>
            <a:r>
              <a:rPr lang="en-US" dirty="0"/>
              <a:t>;</a:t>
            </a:r>
          </a:p>
        </p:txBody>
      </p:sp>
      <p:sp>
        <p:nvSpPr>
          <p:cNvPr id="4" name="Slide Number Placeholder 3">
            <a:extLst>
              <a:ext uri="{FF2B5EF4-FFF2-40B4-BE49-F238E27FC236}">
                <a16:creationId xmlns:a16="http://schemas.microsoft.com/office/drawing/2014/main" id="{B15444F8-22F7-CC77-B531-D10A89358993}"/>
              </a:ext>
            </a:extLst>
          </p:cNvPr>
          <p:cNvSpPr>
            <a:spLocks noGrp="1"/>
          </p:cNvSpPr>
          <p:nvPr>
            <p:ph type="sldNum" sz="quarter" idx="12"/>
          </p:nvPr>
        </p:nvSpPr>
        <p:spPr/>
        <p:txBody>
          <a:bodyPr/>
          <a:lstStyle/>
          <a:p>
            <a:fld id="{6264BDCF-5269-49AC-A246-ED26C2B980E3}" type="slidenum">
              <a:rPr lang="en-US" smtClean="0"/>
              <a:t>141</a:t>
            </a:fld>
            <a:endParaRPr lang="en-US"/>
          </a:p>
        </p:txBody>
      </p:sp>
    </p:spTree>
    <p:extLst>
      <p:ext uri="{BB962C8B-B14F-4D97-AF65-F5344CB8AC3E}">
        <p14:creationId xmlns:p14="http://schemas.microsoft.com/office/powerpoint/2010/main" val="422608364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45BAD-221A-B2D9-9733-3780181A43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EB6BEB-645C-8582-BF8D-AC468C6DB45B}"/>
              </a:ext>
            </a:extLst>
          </p:cNvPr>
          <p:cNvSpPr>
            <a:spLocks noGrp="1"/>
          </p:cNvSpPr>
          <p:nvPr>
            <p:ph idx="1"/>
          </p:nvPr>
        </p:nvSpPr>
        <p:spPr/>
        <p:txBody>
          <a:bodyPr>
            <a:normAutofit/>
          </a:bodyPr>
          <a:lstStyle/>
          <a:p>
            <a:r>
              <a:rPr lang="en-US" dirty="0"/>
              <a:t>advantages of a view is to simplify specification of certain queries</a:t>
            </a:r>
          </a:p>
          <a:p>
            <a:r>
              <a:rPr lang="en-US" dirty="0"/>
              <a:t>are also used as security and authorization mechanism</a:t>
            </a:r>
          </a:p>
          <a:p>
            <a:pPr lvl="1"/>
            <a:r>
              <a:rPr lang="en-US" sz="2800" dirty="0"/>
              <a:t>views can be used to hide certain attributes or tuples from unauthorized users</a:t>
            </a:r>
            <a:endParaRPr lang="en-US" dirty="0"/>
          </a:p>
          <a:p>
            <a:endParaRPr lang="en-US" dirty="0"/>
          </a:p>
          <a:p>
            <a:r>
              <a:rPr lang="en-US" dirty="0"/>
              <a:t>view is supposed to be </a:t>
            </a:r>
            <a:r>
              <a:rPr lang="en-US" i="1" dirty="0"/>
              <a:t>always up-to-date</a:t>
            </a:r>
            <a:r>
              <a:rPr lang="en-US" dirty="0"/>
              <a:t> by DBMS; if modify tuples in base tables on which view is defined, the view must automatically reflect these changes</a:t>
            </a:r>
          </a:p>
          <a:p>
            <a:r>
              <a:rPr lang="en-US" dirty="0"/>
              <a:t>view does not have to be realized or materialized </a:t>
            </a:r>
          </a:p>
        </p:txBody>
      </p:sp>
      <p:sp>
        <p:nvSpPr>
          <p:cNvPr id="4" name="Slide Number Placeholder 3">
            <a:extLst>
              <a:ext uri="{FF2B5EF4-FFF2-40B4-BE49-F238E27FC236}">
                <a16:creationId xmlns:a16="http://schemas.microsoft.com/office/drawing/2014/main" id="{E2291174-F843-3A92-6945-8A0712609D0B}"/>
              </a:ext>
            </a:extLst>
          </p:cNvPr>
          <p:cNvSpPr>
            <a:spLocks noGrp="1"/>
          </p:cNvSpPr>
          <p:nvPr>
            <p:ph type="sldNum" sz="quarter" idx="12"/>
          </p:nvPr>
        </p:nvSpPr>
        <p:spPr/>
        <p:txBody>
          <a:bodyPr/>
          <a:lstStyle/>
          <a:p>
            <a:fld id="{6264BDCF-5269-49AC-A246-ED26C2B980E3}" type="slidenum">
              <a:rPr lang="en-US" smtClean="0"/>
              <a:t>142</a:t>
            </a:fld>
            <a:endParaRPr lang="en-US"/>
          </a:p>
        </p:txBody>
      </p:sp>
    </p:spTree>
    <p:extLst>
      <p:ext uri="{BB962C8B-B14F-4D97-AF65-F5344CB8AC3E}">
        <p14:creationId xmlns:p14="http://schemas.microsoft.com/office/powerpoint/2010/main" val="284267859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9F3A4-0521-D56A-750E-EB7E51F50E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21DE34-A90B-B9E9-E2D4-5F852FE309B4}"/>
              </a:ext>
            </a:extLst>
          </p:cNvPr>
          <p:cNvSpPr>
            <a:spLocks noGrp="1"/>
          </p:cNvSpPr>
          <p:nvPr>
            <p:ph idx="1"/>
          </p:nvPr>
        </p:nvSpPr>
        <p:spPr/>
        <p:txBody>
          <a:bodyPr/>
          <a:lstStyle/>
          <a:p>
            <a:r>
              <a:rPr lang="en-US" dirty="0"/>
              <a:t>if we do not need view anymore, we can use the </a:t>
            </a:r>
            <a:r>
              <a:rPr lang="en-US" b="1" dirty="0"/>
              <a:t>DROP VIEW </a:t>
            </a:r>
            <a:r>
              <a:rPr lang="en-US" dirty="0"/>
              <a:t>command to dispose of it</a:t>
            </a:r>
          </a:p>
          <a:p>
            <a:r>
              <a:rPr lang="en-US" dirty="0"/>
              <a:t>for example, to get rid of the view can use</a:t>
            </a:r>
          </a:p>
          <a:p>
            <a:r>
              <a:rPr lang="en-US" b="1" dirty="0"/>
              <a:t>DROP VIEW </a:t>
            </a:r>
            <a:r>
              <a:rPr lang="en-US" dirty="0"/>
              <a:t>WORKS_ON;</a:t>
            </a:r>
          </a:p>
        </p:txBody>
      </p:sp>
      <p:sp>
        <p:nvSpPr>
          <p:cNvPr id="4" name="Slide Number Placeholder 3">
            <a:extLst>
              <a:ext uri="{FF2B5EF4-FFF2-40B4-BE49-F238E27FC236}">
                <a16:creationId xmlns:a16="http://schemas.microsoft.com/office/drawing/2014/main" id="{12E15413-BF0D-04F8-272F-797E2B67FFA2}"/>
              </a:ext>
            </a:extLst>
          </p:cNvPr>
          <p:cNvSpPr>
            <a:spLocks noGrp="1"/>
          </p:cNvSpPr>
          <p:nvPr>
            <p:ph type="sldNum" sz="quarter" idx="12"/>
          </p:nvPr>
        </p:nvSpPr>
        <p:spPr/>
        <p:txBody>
          <a:bodyPr/>
          <a:lstStyle/>
          <a:p>
            <a:fld id="{6264BDCF-5269-49AC-A246-ED26C2B980E3}" type="slidenum">
              <a:rPr lang="en-US" smtClean="0"/>
              <a:t>143</a:t>
            </a:fld>
            <a:endParaRPr lang="en-US"/>
          </a:p>
        </p:txBody>
      </p:sp>
    </p:spTree>
    <p:extLst>
      <p:ext uri="{BB962C8B-B14F-4D97-AF65-F5344CB8AC3E}">
        <p14:creationId xmlns:p14="http://schemas.microsoft.com/office/powerpoint/2010/main" val="138800035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F775-D6D5-101B-E526-7446758E54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566A0B-BE62-6E6F-F0FE-7C6F647BDE87}"/>
              </a:ext>
            </a:extLst>
          </p:cNvPr>
          <p:cNvSpPr>
            <a:spLocks noGrp="1"/>
          </p:cNvSpPr>
          <p:nvPr>
            <p:ph idx="1"/>
          </p:nvPr>
        </p:nvSpPr>
        <p:spPr/>
        <p:txBody>
          <a:bodyPr>
            <a:normAutofit/>
          </a:bodyPr>
          <a:lstStyle/>
          <a:p>
            <a:r>
              <a:rPr lang="en-US" dirty="0"/>
              <a:t>user can always issue retrieval query against any view</a:t>
            </a:r>
          </a:p>
          <a:p>
            <a:r>
              <a:rPr lang="en-US" dirty="0"/>
              <a:t>issuing an INSERT, DELETE, or UPDATE command on view table is in many cases not possible</a:t>
            </a:r>
          </a:p>
          <a:p>
            <a:r>
              <a:rPr lang="en-US" dirty="0"/>
              <a:t>update on a view defined on a </a:t>
            </a:r>
            <a:r>
              <a:rPr lang="en-US" i="1" dirty="0"/>
              <a:t>single table </a:t>
            </a:r>
            <a:r>
              <a:rPr lang="en-US" dirty="0"/>
              <a:t>without any aggregate functions</a:t>
            </a:r>
            <a:r>
              <a:rPr lang="en-US" i="1" dirty="0"/>
              <a:t> </a:t>
            </a:r>
            <a:r>
              <a:rPr lang="en-US" dirty="0"/>
              <a:t>can be mapped to an update on the underlying base table under certain conditions</a:t>
            </a:r>
          </a:p>
          <a:p>
            <a:r>
              <a:rPr lang="en-US" dirty="0"/>
              <a:t>for a view involving joins, update operation may be mapped to update operations on  underlying base relations in </a:t>
            </a:r>
            <a:r>
              <a:rPr lang="en-US" i="1" dirty="0"/>
              <a:t>multiple ways; </a:t>
            </a:r>
            <a:r>
              <a:rPr lang="en-US" dirty="0"/>
              <a:t>hence, it is often not possible for DBMS to determine which of the updates is intended</a:t>
            </a:r>
          </a:p>
        </p:txBody>
      </p:sp>
      <p:sp>
        <p:nvSpPr>
          <p:cNvPr id="4" name="Slide Number Placeholder 3">
            <a:extLst>
              <a:ext uri="{FF2B5EF4-FFF2-40B4-BE49-F238E27FC236}">
                <a16:creationId xmlns:a16="http://schemas.microsoft.com/office/drawing/2014/main" id="{B9435F18-0AB3-5555-AA5D-292EA37819B4}"/>
              </a:ext>
            </a:extLst>
          </p:cNvPr>
          <p:cNvSpPr>
            <a:spLocks noGrp="1"/>
          </p:cNvSpPr>
          <p:nvPr>
            <p:ph type="sldNum" sz="quarter" idx="12"/>
          </p:nvPr>
        </p:nvSpPr>
        <p:spPr/>
        <p:txBody>
          <a:bodyPr/>
          <a:lstStyle/>
          <a:p>
            <a:fld id="{6264BDCF-5269-49AC-A246-ED26C2B980E3}" type="slidenum">
              <a:rPr lang="en-US" smtClean="0"/>
              <a:t>144</a:t>
            </a:fld>
            <a:endParaRPr lang="en-US"/>
          </a:p>
        </p:txBody>
      </p:sp>
    </p:spTree>
    <p:extLst>
      <p:ext uri="{BB962C8B-B14F-4D97-AF65-F5344CB8AC3E}">
        <p14:creationId xmlns:p14="http://schemas.microsoft.com/office/powerpoint/2010/main" val="75713899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25223-2A2E-D44B-AAE2-419DF4E1F0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47604B-E024-C4A6-A715-9DF5AAD04E09}"/>
              </a:ext>
            </a:extLst>
          </p:cNvPr>
          <p:cNvSpPr>
            <a:spLocks noGrp="1"/>
          </p:cNvSpPr>
          <p:nvPr>
            <p:ph idx="1"/>
          </p:nvPr>
        </p:nvSpPr>
        <p:spPr>
          <a:xfrm>
            <a:off x="838199" y="1825625"/>
            <a:ext cx="10862187" cy="4351338"/>
          </a:xfrm>
        </p:spPr>
        <p:txBody>
          <a:bodyPr>
            <a:normAutofit/>
          </a:bodyPr>
          <a:lstStyle/>
          <a:p>
            <a:r>
              <a:rPr lang="en-US" dirty="0"/>
              <a:t>view with single defining table is updatable if view attributes contain the primary key of the base relation, as well as all attributes with NOT NULL constraint that do not have</a:t>
            </a:r>
            <a:r>
              <a:rPr lang="en-US" i="1" dirty="0"/>
              <a:t> </a:t>
            </a:r>
            <a:r>
              <a:rPr lang="en-US" dirty="0"/>
              <a:t>default values specified</a:t>
            </a:r>
          </a:p>
          <a:p>
            <a:r>
              <a:rPr lang="en-US" dirty="0"/>
              <a:t>views defined on multiple tables using joins are generally not updatable</a:t>
            </a:r>
          </a:p>
          <a:p>
            <a:r>
              <a:rPr lang="en-US" dirty="0"/>
              <a:t>views defined using grouping and aggregate functions are not updatable</a:t>
            </a:r>
          </a:p>
        </p:txBody>
      </p:sp>
      <p:sp>
        <p:nvSpPr>
          <p:cNvPr id="4" name="Slide Number Placeholder 3">
            <a:extLst>
              <a:ext uri="{FF2B5EF4-FFF2-40B4-BE49-F238E27FC236}">
                <a16:creationId xmlns:a16="http://schemas.microsoft.com/office/drawing/2014/main" id="{7485ABF1-208A-9B3E-29A8-7818087294B6}"/>
              </a:ext>
            </a:extLst>
          </p:cNvPr>
          <p:cNvSpPr>
            <a:spLocks noGrp="1"/>
          </p:cNvSpPr>
          <p:nvPr>
            <p:ph type="sldNum" sz="quarter" idx="12"/>
          </p:nvPr>
        </p:nvSpPr>
        <p:spPr/>
        <p:txBody>
          <a:bodyPr/>
          <a:lstStyle/>
          <a:p>
            <a:fld id="{6264BDCF-5269-49AC-A246-ED26C2B980E3}" type="slidenum">
              <a:rPr lang="en-US" smtClean="0"/>
              <a:t>145</a:t>
            </a:fld>
            <a:endParaRPr lang="en-US"/>
          </a:p>
        </p:txBody>
      </p:sp>
    </p:spTree>
    <p:extLst>
      <p:ext uri="{BB962C8B-B14F-4D97-AF65-F5344CB8AC3E}">
        <p14:creationId xmlns:p14="http://schemas.microsoft.com/office/powerpoint/2010/main" val="335669273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AD61C-4353-9091-15DC-1AF28CB72C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D18BAB2-A427-B913-989C-6DDCB19C5F90}"/>
              </a:ext>
            </a:extLst>
          </p:cNvPr>
          <p:cNvSpPr>
            <a:spLocks noGrp="1"/>
          </p:cNvSpPr>
          <p:nvPr>
            <p:ph type="title"/>
          </p:nvPr>
        </p:nvSpPr>
        <p:spPr/>
        <p:txBody>
          <a:bodyPr>
            <a:normAutofit/>
          </a:bodyPr>
          <a:lstStyle/>
          <a:p>
            <a:r>
              <a:rPr lang="en-US" b="1" dirty="0"/>
              <a:t>Schema Change Statements</a:t>
            </a:r>
            <a:endParaRPr lang="en-US" dirty="0"/>
          </a:p>
        </p:txBody>
      </p:sp>
      <p:sp>
        <p:nvSpPr>
          <p:cNvPr id="6" name="Text Placeholder 5">
            <a:extLst>
              <a:ext uri="{FF2B5EF4-FFF2-40B4-BE49-F238E27FC236}">
                <a16:creationId xmlns:a16="http://schemas.microsoft.com/office/drawing/2014/main" id="{EF789634-8575-556E-88A2-799EFA2B9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E0B1C4-3DBD-94DC-9A45-8C75E43F5257}"/>
              </a:ext>
            </a:extLst>
          </p:cNvPr>
          <p:cNvSpPr>
            <a:spLocks noGrp="1"/>
          </p:cNvSpPr>
          <p:nvPr>
            <p:ph type="sldNum" sz="quarter" idx="12"/>
          </p:nvPr>
        </p:nvSpPr>
        <p:spPr/>
        <p:txBody>
          <a:bodyPr/>
          <a:lstStyle/>
          <a:p>
            <a:fld id="{6264BDCF-5269-49AC-A246-ED26C2B980E3}" type="slidenum">
              <a:rPr lang="en-US" smtClean="0"/>
              <a:t>146</a:t>
            </a:fld>
            <a:endParaRPr lang="en-US"/>
          </a:p>
        </p:txBody>
      </p:sp>
    </p:spTree>
    <p:extLst>
      <p:ext uri="{BB962C8B-B14F-4D97-AF65-F5344CB8AC3E}">
        <p14:creationId xmlns:p14="http://schemas.microsoft.com/office/powerpoint/2010/main" val="338967213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08094-F962-5716-2B8C-C447F491BAD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0A7DB7D-00F0-1147-9312-CED3652386BA}"/>
              </a:ext>
            </a:extLst>
          </p:cNvPr>
          <p:cNvSpPr>
            <a:spLocks noGrp="1"/>
          </p:cNvSpPr>
          <p:nvPr>
            <p:ph type="title"/>
          </p:nvPr>
        </p:nvSpPr>
        <p:spPr/>
        <p:txBody>
          <a:bodyPr/>
          <a:lstStyle/>
          <a:p>
            <a:r>
              <a:rPr lang="en-US" dirty="0"/>
              <a:t>DROP Command</a:t>
            </a:r>
          </a:p>
        </p:txBody>
      </p:sp>
      <p:sp>
        <p:nvSpPr>
          <p:cNvPr id="6" name="Content Placeholder 5">
            <a:extLst>
              <a:ext uri="{FF2B5EF4-FFF2-40B4-BE49-F238E27FC236}">
                <a16:creationId xmlns:a16="http://schemas.microsoft.com/office/drawing/2014/main" id="{8127EBA5-C2D6-E46E-BF43-901CBA703D05}"/>
              </a:ext>
            </a:extLst>
          </p:cNvPr>
          <p:cNvSpPr>
            <a:spLocks noGrp="1"/>
          </p:cNvSpPr>
          <p:nvPr>
            <p:ph idx="1"/>
          </p:nvPr>
        </p:nvSpPr>
        <p:spPr/>
        <p:txBody>
          <a:bodyPr>
            <a:noAutofit/>
          </a:bodyPr>
          <a:lstStyle/>
          <a:p>
            <a:r>
              <a:rPr lang="en-US" dirty="0"/>
              <a:t>used to drop named schema elements, such as tables, domains, types, or constraints; can also drop a whole schema if it is no longer needed by using the DROP SCHEMA command</a:t>
            </a:r>
          </a:p>
          <a:p>
            <a:r>
              <a:rPr lang="en-US" dirty="0"/>
              <a:t>there are two </a:t>
            </a:r>
            <a:r>
              <a:rPr lang="en-US" i="1" dirty="0"/>
              <a:t>drop behavior </a:t>
            </a:r>
            <a:r>
              <a:rPr lang="en-US" dirty="0"/>
              <a:t>options: CASCADE and RESTRICT</a:t>
            </a:r>
          </a:p>
          <a:p>
            <a:r>
              <a:rPr lang="en-US" dirty="0"/>
              <a:t>for example, to remove COMPANY database schema and all its tables, domains, and other elements, the CASCADE option is used:</a:t>
            </a:r>
          </a:p>
          <a:p>
            <a:r>
              <a:rPr lang="en-US" b="1" dirty="0"/>
              <a:t>DROP SCHEMA </a:t>
            </a:r>
            <a:r>
              <a:rPr lang="en-US" dirty="0"/>
              <a:t>COMPANY </a:t>
            </a:r>
            <a:r>
              <a:rPr lang="en-US" b="1" dirty="0"/>
              <a:t>CASCADE</a:t>
            </a:r>
            <a:r>
              <a:rPr lang="en-US" dirty="0"/>
              <a:t>;</a:t>
            </a:r>
          </a:p>
          <a:p>
            <a:r>
              <a:rPr lang="en-US" dirty="0"/>
              <a:t>if RESTRICT option is chosen in place of CASCADE, schema is dropped only if it has no elements</a:t>
            </a:r>
            <a:r>
              <a:rPr lang="en-US" i="1" dirty="0"/>
              <a:t> </a:t>
            </a:r>
            <a:r>
              <a:rPr lang="en-US" dirty="0"/>
              <a:t>in it</a:t>
            </a:r>
          </a:p>
        </p:txBody>
      </p:sp>
      <p:sp>
        <p:nvSpPr>
          <p:cNvPr id="4" name="Slide Number Placeholder 3">
            <a:extLst>
              <a:ext uri="{FF2B5EF4-FFF2-40B4-BE49-F238E27FC236}">
                <a16:creationId xmlns:a16="http://schemas.microsoft.com/office/drawing/2014/main" id="{A434060E-2B05-CD25-84D3-FB0A2B6D8FAD}"/>
              </a:ext>
            </a:extLst>
          </p:cNvPr>
          <p:cNvSpPr>
            <a:spLocks noGrp="1"/>
          </p:cNvSpPr>
          <p:nvPr>
            <p:ph type="sldNum" sz="quarter" idx="12"/>
          </p:nvPr>
        </p:nvSpPr>
        <p:spPr/>
        <p:txBody>
          <a:bodyPr/>
          <a:lstStyle/>
          <a:p>
            <a:fld id="{6264BDCF-5269-49AC-A246-ED26C2B980E3}" type="slidenum">
              <a:rPr lang="en-US" smtClean="0"/>
              <a:t>147</a:t>
            </a:fld>
            <a:endParaRPr lang="en-US"/>
          </a:p>
        </p:txBody>
      </p:sp>
    </p:spTree>
    <p:extLst>
      <p:ext uri="{BB962C8B-B14F-4D97-AF65-F5344CB8AC3E}">
        <p14:creationId xmlns:p14="http://schemas.microsoft.com/office/powerpoint/2010/main" val="42344103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61FA0-BA8B-638C-CF89-448C12C20231}"/>
              </a:ext>
            </a:extLst>
          </p:cNvPr>
          <p:cNvSpPr>
            <a:spLocks noGrp="1"/>
          </p:cNvSpPr>
          <p:nvPr>
            <p:ph type="title"/>
          </p:nvPr>
        </p:nvSpPr>
        <p:spPr/>
        <p:txBody>
          <a:bodyPr/>
          <a:lstStyle/>
          <a:p>
            <a:r>
              <a:rPr lang="en-US" dirty="0"/>
              <a:t>DROP TABLE</a:t>
            </a:r>
          </a:p>
        </p:txBody>
      </p:sp>
      <p:sp>
        <p:nvSpPr>
          <p:cNvPr id="3" name="Content Placeholder 2">
            <a:extLst>
              <a:ext uri="{FF2B5EF4-FFF2-40B4-BE49-F238E27FC236}">
                <a16:creationId xmlns:a16="http://schemas.microsoft.com/office/drawing/2014/main" id="{DBD8D7CE-8F73-D9F0-2135-D02CC7770266}"/>
              </a:ext>
            </a:extLst>
          </p:cNvPr>
          <p:cNvSpPr>
            <a:spLocks noGrp="1"/>
          </p:cNvSpPr>
          <p:nvPr>
            <p:ph idx="1"/>
          </p:nvPr>
        </p:nvSpPr>
        <p:spPr/>
        <p:txBody>
          <a:bodyPr/>
          <a:lstStyle/>
          <a:p>
            <a:r>
              <a:rPr lang="en-US" dirty="0"/>
              <a:t>if base relation within a schema is no longer needed, relation and its definition can be deleted by using DROP TABLE command</a:t>
            </a:r>
          </a:p>
          <a:p>
            <a:r>
              <a:rPr lang="en-US" dirty="0"/>
              <a:t>for example, if we no longer wish to keep track of dependents of employees in COMPANY database can get rid of DEPENDENT relation:</a:t>
            </a:r>
          </a:p>
          <a:p>
            <a:r>
              <a:rPr lang="en-US" b="1" dirty="0"/>
              <a:t>DROP TABLE </a:t>
            </a:r>
            <a:r>
              <a:rPr lang="en-US" dirty="0"/>
              <a:t>DEPENDENT </a:t>
            </a:r>
            <a:r>
              <a:rPr lang="en-US" b="1" dirty="0"/>
              <a:t>CASCADE</a:t>
            </a:r>
            <a:r>
              <a:rPr lang="en-US" dirty="0"/>
              <a:t>;</a:t>
            </a:r>
          </a:p>
          <a:p>
            <a:endParaRPr lang="en-US" dirty="0"/>
          </a:p>
        </p:txBody>
      </p:sp>
      <p:sp>
        <p:nvSpPr>
          <p:cNvPr id="4" name="Slide Number Placeholder 3">
            <a:extLst>
              <a:ext uri="{FF2B5EF4-FFF2-40B4-BE49-F238E27FC236}">
                <a16:creationId xmlns:a16="http://schemas.microsoft.com/office/drawing/2014/main" id="{1E32FC41-961B-18AF-33EF-5A674049C9EA}"/>
              </a:ext>
            </a:extLst>
          </p:cNvPr>
          <p:cNvSpPr>
            <a:spLocks noGrp="1"/>
          </p:cNvSpPr>
          <p:nvPr>
            <p:ph type="sldNum" sz="quarter" idx="12"/>
          </p:nvPr>
        </p:nvSpPr>
        <p:spPr/>
        <p:txBody>
          <a:bodyPr/>
          <a:lstStyle/>
          <a:p>
            <a:fld id="{6264BDCF-5269-49AC-A246-ED26C2B980E3}" type="slidenum">
              <a:rPr lang="en-US" smtClean="0"/>
              <a:t>148</a:t>
            </a:fld>
            <a:endParaRPr lang="en-US"/>
          </a:p>
        </p:txBody>
      </p:sp>
    </p:spTree>
    <p:extLst>
      <p:ext uri="{BB962C8B-B14F-4D97-AF65-F5344CB8AC3E}">
        <p14:creationId xmlns:p14="http://schemas.microsoft.com/office/powerpoint/2010/main" val="223601428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12D4B-8BFA-E70B-4520-ADE33DB616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CBE501-51A0-87AB-F324-9812CBF3DDEC}"/>
              </a:ext>
            </a:extLst>
          </p:cNvPr>
          <p:cNvSpPr>
            <a:spLocks noGrp="1"/>
          </p:cNvSpPr>
          <p:nvPr>
            <p:ph idx="1"/>
          </p:nvPr>
        </p:nvSpPr>
        <p:spPr/>
        <p:txBody>
          <a:bodyPr>
            <a:normAutofit/>
          </a:bodyPr>
          <a:lstStyle/>
          <a:p>
            <a:r>
              <a:rPr lang="en-US" dirty="0"/>
              <a:t>if the RESTRICT option is chosen instead of CASCADE, table is dropped only if it is </a:t>
            </a:r>
            <a:r>
              <a:rPr lang="en-US" i="1" dirty="0"/>
              <a:t>not referenced </a:t>
            </a:r>
            <a:r>
              <a:rPr lang="en-US" dirty="0"/>
              <a:t>in any constraints or views or by any other elements; with the CASCADE option, all such constraints, views, and other elements that reference the table being dropped are also dropped automatically from schema, along with table itself</a:t>
            </a:r>
          </a:p>
          <a:p>
            <a:r>
              <a:rPr lang="en-US" dirty="0"/>
              <a:t>DROP TABLE command deletes all records in table and also removes </a:t>
            </a:r>
            <a:r>
              <a:rPr lang="en-US" i="1" dirty="0"/>
              <a:t>table definition </a:t>
            </a:r>
            <a:r>
              <a:rPr lang="en-US" dirty="0"/>
              <a:t>from catalog</a:t>
            </a:r>
          </a:p>
          <a:p>
            <a:r>
              <a:rPr lang="en-US" dirty="0"/>
              <a:t>if it is desired to delete only records use, then the DELETE command instead of DROP TABLE</a:t>
            </a:r>
          </a:p>
        </p:txBody>
      </p:sp>
      <p:sp>
        <p:nvSpPr>
          <p:cNvPr id="4" name="Slide Number Placeholder 3">
            <a:extLst>
              <a:ext uri="{FF2B5EF4-FFF2-40B4-BE49-F238E27FC236}">
                <a16:creationId xmlns:a16="http://schemas.microsoft.com/office/drawing/2014/main" id="{5CECF20B-1C17-936C-82BB-56320CB9CEDB}"/>
              </a:ext>
            </a:extLst>
          </p:cNvPr>
          <p:cNvSpPr>
            <a:spLocks noGrp="1"/>
          </p:cNvSpPr>
          <p:nvPr>
            <p:ph type="sldNum" sz="quarter" idx="12"/>
          </p:nvPr>
        </p:nvSpPr>
        <p:spPr/>
        <p:txBody>
          <a:bodyPr/>
          <a:lstStyle/>
          <a:p>
            <a:fld id="{6264BDCF-5269-49AC-A246-ED26C2B980E3}" type="slidenum">
              <a:rPr lang="en-US" smtClean="0"/>
              <a:t>149</a:t>
            </a:fld>
            <a:endParaRPr lang="en-US"/>
          </a:p>
        </p:txBody>
      </p:sp>
    </p:spTree>
    <p:extLst>
      <p:ext uri="{BB962C8B-B14F-4D97-AF65-F5344CB8AC3E}">
        <p14:creationId xmlns:p14="http://schemas.microsoft.com/office/powerpoint/2010/main" val="322201723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E3893-732B-4321-8A71-FD8A2A4D22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DC7B18-944D-97AB-97A6-20F41739DE01}"/>
              </a:ext>
            </a:extLst>
          </p:cNvPr>
          <p:cNvSpPr>
            <a:spLocks noGrp="1"/>
          </p:cNvSpPr>
          <p:nvPr>
            <p:ph idx="1"/>
          </p:nvPr>
        </p:nvSpPr>
        <p:spPr/>
        <p:txBody>
          <a:bodyPr/>
          <a:lstStyle/>
          <a:p>
            <a:r>
              <a:rPr lang="en-US" dirty="0"/>
              <a:t>DROP command can also be used to drop other types of named schema elements, such as constraints or domains or views</a:t>
            </a:r>
          </a:p>
        </p:txBody>
      </p:sp>
      <p:sp>
        <p:nvSpPr>
          <p:cNvPr id="4" name="Slide Number Placeholder 3">
            <a:extLst>
              <a:ext uri="{FF2B5EF4-FFF2-40B4-BE49-F238E27FC236}">
                <a16:creationId xmlns:a16="http://schemas.microsoft.com/office/drawing/2014/main" id="{97ECF74D-35ED-1967-B0FA-186D1081B037}"/>
              </a:ext>
            </a:extLst>
          </p:cNvPr>
          <p:cNvSpPr>
            <a:spLocks noGrp="1"/>
          </p:cNvSpPr>
          <p:nvPr>
            <p:ph type="sldNum" sz="quarter" idx="12"/>
          </p:nvPr>
        </p:nvSpPr>
        <p:spPr/>
        <p:txBody>
          <a:bodyPr/>
          <a:lstStyle/>
          <a:p>
            <a:fld id="{6264BDCF-5269-49AC-A246-ED26C2B980E3}" type="slidenum">
              <a:rPr lang="en-US" smtClean="0"/>
              <a:t>150</a:t>
            </a:fld>
            <a:endParaRPr lang="en-US"/>
          </a:p>
        </p:txBody>
      </p:sp>
    </p:spTree>
    <p:extLst>
      <p:ext uri="{BB962C8B-B14F-4D97-AF65-F5344CB8AC3E}">
        <p14:creationId xmlns:p14="http://schemas.microsoft.com/office/powerpoint/2010/main" val="37237880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4E3E-07EE-205D-892A-24762E17A353}"/>
              </a:ext>
            </a:extLst>
          </p:cNvPr>
          <p:cNvSpPr>
            <a:spLocks noGrp="1"/>
          </p:cNvSpPr>
          <p:nvPr>
            <p:ph type="title"/>
          </p:nvPr>
        </p:nvSpPr>
        <p:spPr/>
        <p:txBody>
          <a:bodyPr/>
          <a:lstStyle/>
          <a:p>
            <a:r>
              <a:rPr lang="en-US" dirty="0"/>
              <a:t>ALTER Command</a:t>
            </a:r>
          </a:p>
        </p:txBody>
      </p:sp>
      <p:sp>
        <p:nvSpPr>
          <p:cNvPr id="3" name="Content Placeholder 2">
            <a:extLst>
              <a:ext uri="{FF2B5EF4-FFF2-40B4-BE49-F238E27FC236}">
                <a16:creationId xmlns:a16="http://schemas.microsoft.com/office/drawing/2014/main" id="{B2F38372-F98C-4B82-B58B-9B4C3D714113}"/>
              </a:ext>
            </a:extLst>
          </p:cNvPr>
          <p:cNvSpPr>
            <a:spLocks noGrp="1"/>
          </p:cNvSpPr>
          <p:nvPr>
            <p:ph idx="1"/>
          </p:nvPr>
        </p:nvSpPr>
        <p:spPr/>
        <p:txBody>
          <a:bodyPr>
            <a:normAutofit lnSpcReduction="10000"/>
          </a:bodyPr>
          <a:lstStyle/>
          <a:p>
            <a:r>
              <a:rPr lang="en-US" dirty="0"/>
              <a:t>definition of a base table or of other named schema elements can be changed by using the ALTER command</a:t>
            </a:r>
          </a:p>
          <a:p>
            <a:r>
              <a:rPr lang="en-US" dirty="0"/>
              <a:t>for base tables, possible alter table actions include adding or dropping a column (attribute), changing a column definition, and adding or dropping table constraints</a:t>
            </a:r>
          </a:p>
          <a:p>
            <a:r>
              <a:rPr lang="en-US" dirty="0"/>
              <a:t>for example, to add attribute for keeping track of jobs of employees to the EMPLOYEE base relation in COMPANY schema:</a:t>
            </a:r>
          </a:p>
          <a:p>
            <a:r>
              <a:rPr lang="en-US" b="1" dirty="0"/>
              <a:t>ALTER TABLE </a:t>
            </a:r>
            <a:r>
              <a:rPr lang="en-US" dirty="0"/>
              <a:t>COMPANY.EMPLOYEE </a:t>
            </a:r>
            <a:r>
              <a:rPr lang="en-US" b="1" dirty="0"/>
              <a:t>ADD COLUMN </a:t>
            </a:r>
            <a:r>
              <a:rPr lang="en-US" dirty="0"/>
              <a:t>Job VARCHAR(12);</a:t>
            </a:r>
          </a:p>
          <a:p>
            <a:r>
              <a:rPr lang="en-US" dirty="0"/>
              <a:t>must still enter value for new attribute Job for each individual existing EMPLOYEE tuple either by specifying default clause (or allow NULL) </a:t>
            </a:r>
          </a:p>
          <a:p>
            <a:endParaRPr lang="en-US" dirty="0"/>
          </a:p>
        </p:txBody>
      </p:sp>
      <p:sp>
        <p:nvSpPr>
          <p:cNvPr id="4" name="Slide Number Placeholder 3">
            <a:extLst>
              <a:ext uri="{FF2B5EF4-FFF2-40B4-BE49-F238E27FC236}">
                <a16:creationId xmlns:a16="http://schemas.microsoft.com/office/drawing/2014/main" id="{3156A05D-0A18-6581-7632-027ED06FD27B}"/>
              </a:ext>
            </a:extLst>
          </p:cNvPr>
          <p:cNvSpPr>
            <a:spLocks noGrp="1"/>
          </p:cNvSpPr>
          <p:nvPr>
            <p:ph type="sldNum" sz="quarter" idx="12"/>
          </p:nvPr>
        </p:nvSpPr>
        <p:spPr/>
        <p:txBody>
          <a:bodyPr/>
          <a:lstStyle/>
          <a:p>
            <a:fld id="{6264BDCF-5269-49AC-A246-ED26C2B980E3}" type="slidenum">
              <a:rPr lang="en-US" smtClean="0"/>
              <a:t>151</a:t>
            </a:fld>
            <a:endParaRPr lang="en-US"/>
          </a:p>
        </p:txBody>
      </p:sp>
    </p:spTree>
    <p:extLst>
      <p:ext uri="{BB962C8B-B14F-4D97-AF65-F5344CB8AC3E}">
        <p14:creationId xmlns:p14="http://schemas.microsoft.com/office/powerpoint/2010/main" val="373929364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89D91-87EB-B023-8EF6-753FB85775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F3C7C7-5051-B4CC-C16D-048D17B63BBD}"/>
              </a:ext>
            </a:extLst>
          </p:cNvPr>
          <p:cNvSpPr>
            <a:spLocks noGrp="1"/>
          </p:cNvSpPr>
          <p:nvPr>
            <p:ph idx="1"/>
          </p:nvPr>
        </p:nvSpPr>
        <p:spPr/>
        <p:txBody>
          <a:bodyPr>
            <a:normAutofit/>
          </a:bodyPr>
          <a:lstStyle/>
          <a:p>
            <a:r>
              <a:rPr lang="en-US" dirty="0"/>
              <a:t>to drop column, we must choose either CASCADE or RESTRICT for drop behavior.</a:t>
            </a:r>
          </a:p>
          <a:p>
            <a:r>
              <a:rPr lang="en-US" dirty="0"/>
              <a:t>if CASCADE is chosen, all constraints and views that reference column are dropped automatically from schema, along with column</a:t>
            </a:r>
          </a:p>
          <a:p>
            <a:r>
              <a:rPr lang="en-US" dirty="0"/>
              <a:t>if RESTRICT is chosen, command is successful only if no views or constraints (or other schema elements) reference the column</a:t>
            </a:r>
          </a:p>
          <a:p>
            <a:r>
              <a:rPr lang="en-US" dirty="0"/>
              <a:t>for example, following command removes attribute Address from  EMPLOYEE base table:</a:t>
            </a:r>
          </a:p>
          <a:p>
            <a:r>
              <a:rPr lang="en-US" b="1" dirty="0"/>
              <a:t>ALTER TABLE </a:t>
            </a:r>
            <a:r>
              <a:rPr lang="en-US" dirty="0"/>
              <a:t>COMPANY.EMPLOYEE </a:t>
            </a:r>
            <a:r>
              <a:rPr lang="en-US" b="1" dirty="0"/>
              <a:t>DROP COLUMN </a:t>
            </a:r>
            <a:r>
              <a:rPr lang="en-US" dirty="0"/>
              <a:t>Address </a:t>
            </a:r>
            <a:r>
              <a:rPr lang="en-US" b="1" dirty="0"/>
              <a:t>CASCADE</a:t>
            </a:r>
            <a:endParaRPr lang="en-US" dirty="0"/>
          </a:p>
        </p:txBody>
      </p:sp>
      <p:sp>
        <p:nvSpPr>
          <p:cNvPr id="4" name="Slide Number Placeholder 3">
            <a:extLst>
              <a:ext uri="{FF2B5EF4-FFF2-40B4-BE49-F238E27FC236}">
                <a16:creationId xmlns:a16="http://schemas.microsoft.com/office/drawing/2014/main" id="{58AD9621-44D2-AF87-99C0-A60DB4288599}"/>
              </a:ext>
            </a:extLst>
          </p:cNvPr>
          <p:cNvSpPr>
            <a:spLocks noGrp="1"/>
          </p:cNvSpPr>
          <p:nvPr>
            <p:ph type="sldNum" sz="quarter" idx="12"/>
          </p:nvPr>
        </p:nvSpPr>
        <p:spPr/>
        <p:txBody>
          <a:bodyPr/>
          <a:lstStyle/>
          <a:p>
            <a:fld id="{6264BDCF-5269-49AC-A246-ED26C2B980E3}" type="slidenum">
              <a:rPr lang="en-US" smtClean="0"/>
              <a:t>152</a:t>
            </a:fld>
            <a:endParaRPr lang="en-US"/>
          </a:p>
        </p:txBody>
      </p:sp>
    </p:spTree>
    <p:extLst>
      <p:ext uri="{BB962C8B-B14F-4D97-AF65-F5344CB8AC3E}">
        <p14:creationId xmlns:p14="http://schemas.microsoft.com/office/powerpoint/2010/main" val="32658622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81FE-CB99-6F76-28CC-67B407F7FE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E26B96-0F75-9704-76AF-8ECE7DCAE8F4}"/>
              </a:ext>
            </a:extLst>
          </p:cNvPr>
          <p:cNvSpPr>
            <a:spLocks noGrp="1"/>
          </p:cNvSpPr>
          <p:nvPr>
            <p:ph idx="1"/>
          </p:nvPr>
        </p:nvSpPr>
        <p:spPr/>
        <p:txBody>
          <a:bodyPr>
            <a:noAutofit/>
          </a:bodyPr>
          <a:lstStyle/>
          <a:p>
            <a:r>
              <a:rPr lang="en-US" dirty="0"/>
              <a:t>possible to alter column definition by dropping existing default clause or by defining new default clause</a:t>
            </a:r>
          </a:p>
          <a:p>
            <a:r>
              <a:rPr lang="en-US" b="1" dirty="0"/>
              <a:t>ALTER TABLE </a:t>
            </a:r>
            <a:r>
              <a:rPr lang="en-US" dirty="0"/>
              <a:t>COMPANY.DEPARTMENT </a:t>
            </a:r>
            <a:r>
              <a:rPr lang="en-US" b="1" dirty="0"/>
              <a:t>ALTER COLUMN </a:t>
            </a:r>
            <a:r>
              <a:rPr lang="en-US" dirty="0" err="1"/>
              <a:t>Mgr_ssn</a:t>
            </a:r>
            <a:endParaRPr lang="en-US" dirty="0"/>
          </a:p>
          <a:p>
            <a:r>
              <a:rPr lang="en-US" b="1" dirty="0"/>
              <a:t> 	DROP DEFAULT</a:t>
            </a:r>
            <a:r>
              <a:rPr lang="en-US" dirty="0"/>
              <a:t>;</a:t>
            </a:r>
          </a:p>
          <a:p>
            <a:r>
              <a:rPr lang="en-US" b="1" dirty="0"/>
              <a:t>ALTER TABLE </a:t>
            </a:r>
            <a:r>
              <a:rPr lang="en-US" dirty="0"/>
              <a:t>COMPANY.DEPARTMENT </a:t>
            </a:r>
            <a:r>
              <a:rPr lang="en-US" b="1" dirty="0"/>
              <a:t>ALTER COLUMN </a:t>
            </a:r>
            <a:r>
              <a:rPr lang="en-US" dirty="0" err="1"/>
              <a:t>Mgr_ssn</a:t>
            </a:r>
            <a:endParaRPr lang="en-US" dirty="0"/>
          </a:p>
          <a:p>
            <a:r>
              <a:rPr lang="en-US" b="1" dirty="0"/>
              <a:t> 	SET DEFAULT </a:t>
            </a:r>
            <a:r>
              <a:rPr lang="en-US" dirty="0"/>
              <a:t>‘333445555’;</a:t>
            </a:r>
          </a:p>
        </p:txBody>
      </p:sp>
      <p:sp>
        <p:nvSpPr>
          <p:cNvPr id="4" name="Slide Number Placeholder 3">
            <a:extLst>
              <a:ext uri="{FF2B5EF4-FFF2-40B4-BE49-F238E27FC236}">
                <a16:creationId xmlns:a16="http://schemas.microsoft.com/office/drawing/2014/main" id="{39F7683A-4E81-D64A-034F-4159ADBA1B2A}"/>
              </a:ext>
            </a:extLst>
          </p:cNvPr>
          <p:cNvSpPr>
            <a:spLocks noGrp="1"/>
          </p:cNvSpPr>
          <p:nvPr>
            <p:ph type="sldNum" sz="quarter" idx="12"/>
          </p:nvPr>
        </p:nvSpPr>
        <p:spPr/>
        <p:txBody>
          <a:bodyPr/>
          <a:lstStyle/>
          <a:p>
            <a:fld id="{6264BDCF-5269-49AC-A246-ED26C2B980E3}" type="slidenum">
              <a:rPr lang="en-US" smtClean="0"/>
              <a:t>153</a:t>
            </a:fld>
            <a:endParaRPr lang="en-US"/>
          </a:p>
        </p:txBody>
      </p:sp>
    </p:spTree>
    <p:extLst>
      <p:ext uri="{BB962C8B-B14F-4D97-AF65-F5344CB8AC3E}">
        <p14:creationId xmlns:p14="http://schemas.microsoft.com/office/powerpoint/2010/main" val="135869643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D553E-294F-3292-5B19-8844BDC41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DF8A2-D84B-9E1B-F902-A07E5868091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D5486F-2B65-E356-50C8-A2E6DC65078F}"/>
              </a:ext>
            </a:extLst>
          </p:cNvPr>
          <p:cNvSpPr>
            <a:spLocks noGrp="1"/>
          </p:cNvSpPr>
          <p:nvPr>
            <p:ph idx="1"/>
          </p:nvPr>
        </p:nvSpPr>
        <p:spPr/>
        <p:txBody>
          <a:bodyPr>
            <a:noAutofit/>
          </a:bodyPr>
          <a:lstStyle/>
          <a:p>
            <a:r>
              <a:rPr lang="en-US" dirty="0"/>
              <a:t>can also change constraints specified on a table by adding or dropping a named constraint</a:t>
            </a:r>
          </a:p>
          <a:p>
            <a:r>
              <a:rPr lang="en-US" b="1" dirty="0"/>
              <a:t>ALTER TABLE </a:t>
            </a:r>
            <a:r>
              <a:rPr lang="en-US" dirty="0"/>
              <a:t>COMPANY.EMPLOYEE</a:t>
            </a:r>
          </a:p>
          <a:p>
            <a:r>
              <a:rPr lang="en-US" b="1" dirty="0"/>
              <a:t> 	DROP CONSTRAINT </a:t>
            </a:r>
            <a:r>
              <a:rPr lang="en-US" dirty="0"/>
              <a:t>EMPSUPERFK </a:t>
            </a:r>
            <a:r>
              <a:rPr lang="en-US" b="1" dirty="0"/>
              <a:t>CASCADE</a:t>
            </a:r>
            <a:r>
              <a:rPr lang="en-US" dirty="0"/>
              <a:t>;</a:t>
            </a:r>
          </a:p>
          <a:p>
            <a:r>
              <a:rPr lang="en-US" dirty="0"/>
              <a:t>once this is done, we can redefine a replacement constraint by adding new constraint to the relation specified by using </a:t>
            </a:r>
            <a:r>
              <a:rPr lang="en-US" b="1" dirty="0"/>
              <a:t>ADD CONSTRAINT</a:t>
            </a:r>
          </a:p>
        </p:txBody>
      </p:sp>
      <p:sp>
        <p:nvSpPr>
          <p:cNvPr id="4" name="Slide Number Placeholder 3">
            <a:extLst>
              <a:ext uri="{FF2B5EF4-FFF2-40B4-BE49-F238E27FC236}">
                <a16:creationId xmlns:a16="http://schemas.microsoft.com/office/drawing/2014/main" id="{F86D6623-6311-6529-2A9F-2077DD1DDECE}"/>
              </a:ext>
            </a:extLst>
          </p:cNvPr>
          <p:cNvSpPr>
            <a:spLocks noGrp="1"/>
          </p:cNvSpPr>
          <p:nvPr>
            <p:ph type="sldNum" sz="quarter" idx="12"/>
          </p:nvPr>
        </p:nvSpPr>
        <p:spPr/>
        <p:txBody>
          <a:bodyPr/>
          <a:lstStyle/>
          <a:p>
            <a:fld id="{6264BDCF-5269-49AC-A246-ED26C2B980E3}" type="slidenum">
              <a:rPr lang="en-US" smtClean="0"/>
              <a:t>154</a:t>
            </a:fld>
            <a:endParaRPr lang="en-US"/>
          </a:p>
        </p:txBody>
      </p:sp>
    </p:spTree>
    <p:extLst>
      <p:ext uri="{BB962C8B-B14F-4D97-AF65-F5344CB8AC3E}">
        <p14:creationId xmlns:p14="http://schemas.microsoft.com/office/powerpoint/2010/main" val="39135282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D9F1D-73F9-FF27-4A8A-212B51AE3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83EDA-94DC-9608-9285-3F63AC2C5D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C10345-9EF1-174D-54EE-59BEE85C6857}"/>
              </a:ext>
            </a:extLst>
          </p:cNvPr>
          <p:cNvSpPr>
            <a:spLocks noGrp="1"/>
          </p:cNvSpPr>
          <p:nvPr>
            <p:ph idx="1"/>
          </p:nvPr>
        </p:nvSpPr>
        <p:spPr/>
        <p:txBody>
          <a:bodyPr>
            <a:noAutofit/>
          </a:bodyPr>
          <a:lstStyle/>
          <a:p>
            <a:r>
              <a:rPr lang="en-US" dirty="0"/>
              <a:t>there are many other details and </a:t>
            </a:r>
            <a:r>
              <a:rPr lang="en-US"/>
              <a:t>options …</a:t>
            </a:r>
            <a:endParaRPr lang="en-US" dirty="0"/>
          </a:p>
        </p:txBody>
      </p:sp>
      <p:sp>
        <p:nvSpPr>
          <p:cNvPr id="4" name="Slide Number Placeholder 3">
            <a:extLst>
              <a:ext uri="{FF2B5EF4-FFF2-40B4-BE49-F238E27FC236}">
                <a16:creationId xmlns:a16="http://schemas.microsoft.com/office/drawing/2014/main" id="{E40FA435-07F6-CE09-5C50-42F4E1ACADE4}"/>
              </a:ext>
            </a:extLst>
          </p:cNvPr>
          <p:cNvSpPr>
            <a:spLocks noGrp="1"/>
          </p:cNvSpPr>
          <p:nvPr>
            <p:ph type="sldNum" sz="quarter" idx="12"/>
          </p:nvPr>
        </p:nvSpPr>
        <p:spPr/>
        <p:txBody>
          <a:bodyPr/>
          <a:lstStyle/>
          <a:p>
            <a:fld id="{6264BDCF-5269-49AC-A246-ED26C2B980E3}" type="slidenum">
              <a:rPr lang="en-US" smtClean="0"/>
              <a:t>155</a:t>
            </a:fld>
            <a:endParaRPr lang="en-US"/>
          </a:p>
        </p:txBody>
      </p:sp>
    </p:spTree>
    <p:extLst>
      <p:ext uri="{BB962C8B-B14F-4D97-AF65-F5344CB8AC3E}">
        <p14:creationId xmlns:p14="http://schemas.microsoft.com/office/powerpoint/2010/main" val="2470620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C0C8C0-96F8-402B-9461-E91BBACD037D}"/>
</file>

<file path=customXml/itemProps2.xml><?xml version="1.0" encoding="utf-8"?>
<ds:datastoreItem xmlns:ds="http://schemas.openxmlformats.org/officeDocument/2006/customXml" ds:itemID="{0E272852-5B10-4639-975A-E981F3CB9612}"/>
</file>

<file path=customXml/itemProps3.xml><?xml version="1.0" encoding="utf-8"?>
<ds:datastoreItem xmlns:ds="http://schemas.openxmlformats.org/officeDocument/2006/customXml" ds:itemID="{87A17BF0-3C7A-4917-870E-07C75F5B9EE6}"/>
</file>

<file path=docProps/app.xml><?xml version="1.0" encoding="utf-8"?>
<Properties xmlns="http://schemas.openxmlformats.org/officeDocument/2006/extended-properties" xmlns:vt="http://schemas.openxmlformats.org/officeDocument/2006/docPropsVTypes">
  <TotalTime>3086</TotalTime>
  <Words>9402</Words>
  <Application>Microsoft Office PowerPoint</Application>
  <PresentationFormat>Widescreen</PresentationFormat>
  <Paragraphs>748</Paragraphs>
  <Slides>155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155</vt:i4>
      </vt:variant>
    </vt:vector>
  </HeadingPairs>
  <TitlesOfParts>
    <vt:vector size="159" baseType="lpstr">
      <vt:lpstr>Arial</vt:lpstr>
      <vt:lpstr>Calibri</vt:lpstr>
      <vt:lpstr>Calibri Light</vt:lpstr>
      <vt:lpstr>Office Theme</vt:lpstr>
      <vt:lpstr>DataBase</vt:lpstr>
      <vt:lpstr>Relational Data Model</vt:lpstr>
      <vt:lpstr>Relational Model</vt:lpstr>
      <vt:lpstr>Relational Model Concepts</vt:lpstr>
      <vt:lpstr>PowerPoint Presentation</vt:lpstr>
      <vt:lpstr>Example University database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Domain</vt:lpstr>
      <vt:lpstr>examples of domains</vt:lpstr>
      <vt:lpstr>The Artist Formerly Known As Prince</vt:lpstr>
      <vt:lpstr>examples of domains</vt:lpstr>
      <vt:lpstr>Logical Definitions of Domains</vt:lpstr>
      <vt:lpstr>Logical Definitions of Domains</vt:lpstr>
      <vt:lpstr>Relation Schema</vt:lpstr>
      <vt:lpstr>Relation Schema STUDENT</vt:lpstr>
      <vt:lpstr>Relation State</vt:lpstr>
      <vt:lpstr>Attributes and tuples of a Relation STUDENT</vt:lpstr>
      <vt:lpstr>Relational Formalism Relation = subset of Cartesian product</vt:lpstr>
      <vt:lpstr>PowerPoint Presentation</vt:lpstr>
      <vt:lpstr>PowerPoint Presentation</vt:lpstr>
      <vt:lpstr>Characteristics of Relations</vt:lpstr>
      <vt:lpstr>Order of Tuples in a Relation</vt:lpstr>
      <vt:lpstr>Ordering of Values within a Tuple</vt:lpstr>
      <vt:lpstr>Atomic Values in Tuples</vt:lpstr>
      <vt:lpstr>NULL Values in Tuples</vt:lpstr>
      <vt:lpstr>PowerPoint Presentation</vt:lpstr>
      <vt:lpstr>Interpretation (Meaning) of a Relation</vt:lpstr>
      <vt:lpstr>PowerPoint Presentation</vt:lpstr>
      <vt:lpstr>PowerPoint Presentation</vt:lpstr>
      <vt:lpstr>Constraints</vt:lpstr>
      <vt:lpstr>Relational Model Constraints</vt:lpstr>
      <vt:lpstr>Constraints</vt:lpstr>
      <vt:lpstr>PowerPoint Presentation</vt:lpstr>
      <vt:lpstr>PowerPoint Presentation</vt:lpstr>
      <vt:lpstr>Domain Constraints</vt:lpstr>
      <vt:lpstr>Key Constraints</vt:lpstr>
      <vt:lpstr>PowerPoint Presentation</vt:lpstr>
      <vt:lpstr>Key</vt:lpstr>
      <vt:lpstr>PowerPoint Presentation</vt:lpstr>
      <vt:lpstr>PowerPoint Presentation</vt:lpstr>
      <vt:lpstr>PowerPoint Presentation</vt:lpstr>
      <vt:lpstr>Constraints on NULL Values</vt:lpstr>
      <vt:lpstr>Relational Databases</vt:lpstr>
      <vt:lpstr>Schema diagram for COMPANY relational database schema</vt:lpstr>
      <vt:lpstr>PowerPoint Presentation</vt:lpstr>
      <vt:lpstr>PowerPoint Presentation</vt:lpstr>
      <vt:lpstr>Entity Integrity Constraint</vt:lpstr>
      <vt:lpstr>Referential Integrity, and Foreign Keys</vt:lpstr>
      <vt:lpstr>PowerPoint Presentation</vt:lpstr>
      <vt:lpstr>PowerPoint Presentation</vt:lpstr>
      <vt:lpstr>PowerPoint Presentation</vt:lpstr>
      <vt:lpstr>PowerPoint Presentation</vt:lpstr>
      <vt:lpstr>referential integrity constraints displayed on COMPANY  relational database schema</vt:lpstr>
      <vt:lpstr>PowerPoint Presentation</vt:lpstr>
      <vt:lpstr>PowerPoint Presentation</vt:lpstr>
      <vt:lpstr>CHECK Constraints</vt:lpstr>
      <vt:lpstr>Other Types of Constraints</vt:lpstr>
      <vt:lpstr>PowerPoint Presentation</vt:lpstr>
      <vt:lpstr>PowerPoint Presentation</vt:lpstr>
      <vt:lpstr>Insert Operation</vt:lpstr>
      <vt:lpstr>PowerPoint Presentation</vt:lpstr>
      <vt:lpstr>PowerPoint Presentation</vt:lpstr>
      <vt:lpstr>PowerPoint Presentation</vt:lpstr>
      <vt:lpstr>Delete Operation</vt:lpstr>
      <vt:lpstr>Delete Operation</vt:lpstr>
      <vt:lpstr>PowerPoint Presentation</vt:lpstr>
      <vt:lpstr>PowerPoint Presentation</vt:lpstr>
      <vt:lpstr>Update Operation</vt:lpstr>
      <vt:lpstr>PowerPoint Presentation</vt:lpstr>
      <vt:lpstr>PowerPoint Presentation</vt:lpstr>
      <vt:lpstr>Transaction Concept</vt:lpstr>
      <vt:lpstr>Structured Query Language</vt:lpstr>
      <vt:lpstr>Structured Query Language</vt:lpstr>
      <vt:lpstr>PowerPoint Presentation</vt:lpstr>
      <vt:lpstr>One Database server Many Databases</vt:lpstr>
      <vt:lpstr>Schema</vt:lpstr>
      <vt:lpstr>Schema</vt:lpstr>
      <vt:lpstr>PowerPoint Presentation</vt:lpstr>
      <vt:lpstr>PowerPoint Presentation</vt:lpstr>
      <vt:lpstr>Catalog  Meta Data Catalog</vt:lpstr>
      <vt:lpstr>CREATE TABLE</vt:lpstr>
      <vt:lpstr>PowerPoint Presentation</vt:lpstr>
      <vt:lpstr>CREATE TABLE EMPLOYEE (</vt:lpstr>
      <vt:lpstr>CREATE TABLE DEPARTMENT ( </vt:lpstr>
      <vt:lpstr>CREATE TABLE DEPT_LOCATIONS (</vt:lpstr>
      <vt:lpstr>CREATE TABLE PROJECT (</vt:lpstr>
      <vt:lpstr>CREATE TABLE WORKS_ON (</vt:lpstr>
      <vt:lpstr>CREATE TABLE DEPENDENT (</vt:lpstr>
      <vt:lpstr>PowerPoint Presentation</vt:lpstr>
      <vt:lpstr>PowerPoint Presentation</vt:lpstr>
      <vt:lpstr>Attribute Data Types and Domains in SQL</vt:lpstr>
      <vt:lpstr>Numeric data types</vt:lpstr>
      <vt:lpstr>Character-string data types</vt:lpstr>
      <vt:lpstr>PowerPoint Presentation</vt:lpstr>
      <vt:lpstr>Bit-string data types</vt:lpstr>
      <vt:lpstr>DATE data type TIME data type</vt:lpstr>
      <vt:lpstr>PowerPoint Presentation</vt:lpstr>
      <vt:lpstr>PowerPoint Presentation</vt:lpstr>
      <vt:lpstr>PowerPoint Presentation</vt:lpstr>
      <vt:lpstr>PowerPoint Presentation</vt:lpstr>
      <vt:lpstr>Specifying Constraints in SQL</vt:lpstr>
      <vt:lpstr>Specifying Attribute Constraints</vt:lpstr>
      <vt:lpstr>Specifying Attribute Defaults</vt:lpstr>
      <vt:lpstr>CHECK Constraint</vt:lpstr>
      <vt:lpstr>CREATE TABLE DEPARTMENT ( </vt:lpstr>
      <vt:lpstr>Specifying Key Constraints</vt:lpstr>
      <vt:lpstr>Specifying Key Constraints</vt:lpstr>
      <vt:lpstr>Specifying Referential Integrity Constraints</vt:lpstr>
      <vt:lpstr>Specifying Referential Integrity Constraints</vt:lpstr>
      <vt:lpstr>CREATE TABLE DEPARTMENT ( </vt:lpstr>
      <vt:lpstr>Names to Constraints</vt:lpstr>
      <vt:lpstr>CHECK Constraints on Tuples</vt:lpstr>
      <vt:lpstr>Retrieval Queries in SQL</vt:lpstr>
      <vt:lpstr>PowerPoint Presentation</vt:lpstr>
      <vt:lpstr>INSERT, DELETE, and UPDATE Statements in SQL</vt:lpstr>
      <vt:lpstr>PowerPoint Presentation</vt:lpstr>
      <vt:lpstr>Specifying  Constraints as Assertions Actions as Triggers</vt:lpstr>
      <vt:lpstr>Specifying General Constraints as Assertions</vt:lpstr>
      <vt:lpstr>PowerPoint Presentation</vt:lpstr>
      <vt:lpstr>PowerPoint Presentation</vt:lpstr>
      <vt:lpstr>PowerPoint Presentation</vt:lpstr>
      <vt:lpstr>PowerPoint Presentation</vt:lpstr>
      <vt:lpstr>Triggers in SQL</vt:lpstr>
      <vt:lpstr>PowerPoint Presentation</vt:lpstr>
      <vt:lpstr>PowerPoint Presentation</vt:lpstr>
      <vt:lpstr>PowerPoint Presentation</vt:lpstr>
      <vt:lpstr>event(s):</vt:lpstr>
      <vt:lpstr>condition</vt:lpstr>
      <vt:lpstr>action</vt:lpstr>
      <vt:lpstr>PowerPoint Presentation</vt:lpstr>
      <vt:lpstr>VIEWS</vt:lpstr>
      <vt:lpstr>Concept of View</vt:lpstr>
      <vt:lpstr>PowerPoint Presentation</vt:lpstr>
      <vt:lpstr>Specification of Views</vt:lpstr>
      <vt:lpstr>PowerPoint Presentation</vt:lpstr>
      <vt:lpstr>PowerPoint Presentation</vt:lpstr>
      <vt:lpstr>PowerPoint Presentation</vt:lpstr>
      <vt:lpstr>PowerPoint Presentation</vt:lpstr>
      <vt:lpstr>PowerPoint Presentation</vt:lpstr>
      <vt:lpstr>Schema Change Statements</vt:lpstr>
      <vt:lpstr>DROP Command</vt:lpstr>
      <vt:lpstr>DROP TABLE</vt:lpstr>
      <vt:lpstr>PowerPoint Presentation</vt:lpstr>
      <vt:lpstr>PowerPoint Presentation</vt:lpstr>
      <vt:lpstr>ALTER Command</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107</cp:revision>
  <dcterms:created xsi:type="dcterms:W3CDTF">2023-08-06T12:55:35Z</dcterms:created>
  <dcterms:modified xsi:type="dcterms:W3CDTF">2025-11-10T12:03:49Z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