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92" r:id="rId3"/>
    <p:sldId id="394" r:id="rId4"/>
    <p:sldId id="396" r:id="rId5"/>
    <p:sldId id="397" r:id="rId6"/>
    <p:sldId id="395" r:id="rId7"/>
    <p:sldId id="398" r:id="rId8"/>
    <p:sldId id="399" r:id="rId9"/>
    <p:sldId id="400" r:id="rId10"/>
    <p:sldId id="401" r:id="rId11"/>
    <p:sldId id="402" r:id="rId12"/>
    <p:sldId id="403" r:id="rId13"/>
    <p:sldId id="404" r:id="rId14"/>
    <p:sldId id="405" r:id="rId15"/>
    <p:sldId id="406" r:id="rId16"/>
    <p:sldId id="407" r:id="rId17"/>
    <p:sldId id="408" r:id="rId18"/>
    <p:sldId id="409" r:id="rId19"/>
    <p:sldId id="41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9/5/2025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9/5/2025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9/5/2025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9/5/2025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9/5/2025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9/5/2025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9/5/2025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9/5/2025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9/5/2025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9/5/2025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9/5/2025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9/5/2025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9/5/2025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Codd%27s_12_rules"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ISBN_(identifier)" TargetMode="External"/><Relationship Id="rId2" Type="http://schemas.openxmlformats.org/officeDocument/2006/relationships/hyperlink" Target="https://en.wikipedia.org/wiki/Edgar_F._Codd" TargetMode="External"/><Relationship Id="rId1" Type="http://schemas.openxmlformats.org/officeDocument/2006/relationships/slideLayout" Target="../slideLayouts/slideLayout2.xml"/><Relationship Id="rId4" Type="http://schemas.openxmlformats.org/officeDocument/2006/relationships/hyperlink" Target="https://en.wikipedia.org/wiki/Special:BookSources/978020114192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1F2E-32A0-B6B3-9B1F-7D7428AAF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105B7-F492-C952-5F33-D0C3DBB0EB3C}"/>
              </a:ext>
            </a:extLst>
          </p:cNvPr>
          <p:cNvSpPr>
            <a:spLocks noGrp="1"/>
          </p:cNvSpPr>
          <p:nvPr>
            <p:ph type="ctrTitle"/>
          </p:nvPr>
        </p:nvSpPr>
        <p:spPr/>
        <p:txBody>
          <a:bodyPr/>
          <a:lstStyle/>
          <a:p>
            <a:r>
              <a:rPr lang="en-US" dirty="0">
                <a:hlinkClick r:id="rId2"/>
              </a:rPr>
              <a:t>Codd's 12 rules</a:t>
            </a:r>
            <a:endParaRPr lang="en-US" dirty="0"/>
          </a:p>
        </p:txBody>
      </p:sp>
      <p:sp>
        <p:nvSpPr>
          <p:cNvPr id="3" name="Subtitle 2">
            <a:extLst>
              <a:ext uri="{FF2B5EF4-FFF2-40B4-BE49-F238E27FC236}">
                <a16:creationId xmlns:a16="http://schemas.microsoft.com/office/drawing/2014/main" id="{270A6F0E-1E91-1D9A-68D5-8CFDD763647A}"/>
              </a:ext>
            </a:extLst>
          </p:cNvPr>
          <p:cNvSpPr>
            <a:spLocks noGrp="1"/>
          </p:cNvSpPr>
          <p:nvPr>
            <p:ph type="subTitle" idx="1"/>
          </p:nvPr>
        </p:nvSpPr>
        <p:spPr/>
        <p:txBody>
          <a:bodyPr>
            <a:normAutofit/>
          </a:bodyPr>
          <a:lstStyle/>
          <a:p>
            <a:r>
              <a:rPr lang="en-US" sz="3600" dirty="0">
                <a:hlinkClick r:id="rId2"/>
              </a:rPr>
              <a:t>en.wikipedia.org/wiki/Codd%27s_12_rules</a:t>
            </a:r>
            <a:endParaRPr lang="en-US" sz="3600" dirty="0"/>
          </a:p>
          <a:p>
            <a:endParaRPr lang="en-US" sz="3600" dirty="0"/>
          </a:p>
          <a:p>
            <a:endParaRPr lang="en-US" sz="3600" dirty="0"/>
          </a:p>
        </p:txBody>
      </p:sp>
      <p:sp>
        <p:nvSpPr>
          <p:cNvPr id="4" name="Slide Number Placeholder 3">
            <a:extLst>
              <a:ext uri="{FF2B5EF4-FFF2-40B4-BE49-F238E27FC236}">
                <a16:creationId xmlns:a16="http://schemas.microsoft.com/office/drawing/2014/main" id="{59B51E25-78A6-7D0A-9A7A-CF3C5D570008}"/>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3978351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40EEA-1BBB-F957-A7AE-8082410B61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3D73BD-B861-270F-CA3A-5E4077CA7B61}"/>
              </a:ext>
            </a:extLst>
          </p:cNvPr>
          <p:cNvSpPr>
            <a:spLocks noGrp="1"/>
          </p:cNvSpPr>
          <p:nvPr>
            <p:ph idx="1"/>
          </p:nvPr>
        </p:nvSpPr>
        <p:spPr/>
        <p:txBody>
          <a:bodyPr>
            <a:noAutofit/>
          </a:bodyPr>
          <a:lstStyle/>
          <a:p>
            <a:r>
              <a:rPr lang="en-US" dirty="0"/>
              <a:t>Codd's twelve rules is a set of thirteen rules (numbered zero to twelve) proposed by Edgar F. Codd, a pioneer of the relational model for databases, designed to define what is required from a database management system in order for it to be considered relational, Relational </a:t>
            </a:r>
            <a:r>
              <a:rPr lang="en-US" dirty="0" err="1"/>
              <a:t>DataBase</a:t>
            </a:r>
            <a:r>
              <a:rPr lang="en-US" dirty="0"/>
              <a:t> Management System (RDBMS)</a:t>
            </a:r>
          </a:p>
          <a:p>
            <a:endParaRPr lang="en-US" dirty="0"/>
          </a:p>
          <a:p>
            <a:r>
              <a:rPr lang="en-US" dirty="0"/>
              <a:t>Codd originally set out the rules in 1970, and developed them further in a 1974 conference paper</a:t>
            </a:r>
          </a:p>
          <a:p>
            <a:r>
              <a:rPr lang="en-US" i="1" dirty="0">
                <a:hlinkClick r:id="rId2"/>
              </a:rPr>
              <a:t>Codd, Edgar F.</a:t>
            </a:r>
            <a:r>
              <a:rPr lang="en-US" i="1" dirty="0"/>
              <a:t> (1990). The relational model for database management: Version 2. Addison-Wesley. </a:t>
            </a:r>
            <a:r>
              <a:rPr lang="en-US" i="1" dirty="0">
                <a:hlinkClick r:id="rId3" tooltip="ISBN (identifier)"/>
              </a:rPr>
              <a:t>ISBN</a:t>
            </a:r>
            <a:r>
              <a:rPr lang="en-US" i="1" dirty="0"/>
              <a:t> </a:t>
            </a:r>
            <a:r>
              <a:rPr lang="en-US" i="1" dirty="0">
                <a:hlinkClick r:id="rId4" tooltip="Special:BookSources/9780201141924"/>
              </a:rPr>
              <a:t>9780201141924</a:t>
            </a:r>
            <a:r>
              <a:rPr lang="en-US" dirty="0"/>
              <a:t> </a:t>
            </a:r>
          </a:p>
        </p:txBody>
      </p:sp>
      <p:sp>
        <p:nvSpPr>
          <p:cNvPr id="4" name="Slide Number Placeholder 3">
            <a:extLst>
              <a:ext uri="{FF2B5EF4-FFF2-40B4-BE49-F238E27FC236}">
                <a16:creationId xmlns:a16="http://schemas.microsoft.com/office/drawing/2014/main" id="{F4DC4872-2C30-0AA1-8F8A-3808109176EB}"/>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761358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3F3C4-C4F0-F47D-D99F-D7352DBE8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2D1F0-6E64-F83D-5F94-B951FAD932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7CDF0A-A13B-3C2B-EF95-E7E60CDE5B9A}"/>
              </a:ext>
            </a:extLst>
          </p:cNvPr>
          <p:cNvSpPr>
            <a:spLocks noGrp="1"/>
          </p:cNvSpPr>
          <p:nvPr>
            <p:ph idx="1"/>
          </p:nvPr>
        </p:nvSpPr>
        <p:spPr/>
        <p:txBody>
          <a:bodyPr>
            <a:noAutofit/>
          </a:bodyPr>
          <a:lstStyle/>
          <a:p>
            <a:r>
              <a:rPr lang="en-US" dirty="0"/>
              <a:t>aim was to prevent the vision of the original relational database from being diluted, as database vendors scrambled in the early 1980s to repackage existing products with a relational name; rules were particularly designed to counter such a positioning</a:t>
            </a:r>
          </a:p>
          <a:p>
            <a:endParaRPr lang="en-US" dirty="0"/>
          </a:p>
          <a:p>
            <a:r>
              <a:rPr lang="en-US" dirty="0"/>
              <a:t>in 1999, a textbook stated "Nowadays, most RDBMSs ... pass the test“</a:t>
            </a:r>
          </a:p>
          <a:p>
            <a:r>
              <a:rPr lang="en-US" dirty="0"/>
              <a:t>another in 2007 suggested "no database system complies with all twelve rules.“</a:t>
            </a:r>
          </a:p>
        </p:txBody>
      </p:sp>
      <p:sp>
        <p:nvSpPr>
          <p:cNvPr id="4" name="Slide Number Placeholder 3">
            <a:extLst>
              <a:ext uri="{FF2B5EF4-FFF2-40B4-BE49-F238E27FC236}">
                <a16:creationId xmlns:a16="http://schemas.microsoft.com/office/drawing/2014/main" id="{24AEB022-35FC-B730-80EC-377C16AC8621}"/>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93931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2C27-67F2-B051-1E02-04735006AC3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C8A208-0D18-4E6F-4C2A-224362C1105A}"/>
              </a:ext>
            </a:extLst>
          </p:cNvPr>
          <p:cNvSpPr>
            <a:spLocks noGrp="1"/>
          </p:cNvSpPr>
          <p:nvPr>
            <p:ph idx="1"/>
          </p:nvPr>
        </p:nvSpPr>
        <p:spPr/>
        <p:txBody>
          <a:bodyPr/>
          <a:lstStyle/>
          <a:p>
            <a:r>
              <a:rPr lang="en-US" dirty="0"/>
              <a:t>set of rules basically signifies the characteristics and requirements of a Relational </a:t>
            </a:r>
            <a:r>
              <a:rPr lang="en-US" dirty="0" err="1"/>
              <a:t>DataBase</a:t>
            </a:r>
            <a:r>
              <a:rPr lang="en-US" dirty="0"/>
              <a:t> Management System</a:t>
            </a:r>
          </a:p>
        </p:txBody>
      </p:sp>
      <p:sp>
        <p:nvSpPr>
          <p:cNvPr id="4" name="Slide Number Placeholder 3">
            <a:extLst>
              <a:ext uri="{FF2B5EF4-FFF2-40B4-BE49-F238E27FC236}">
                <a16:creationId xmlns:a16="http://schemas.microsoft.com/office/drawing/2014/main" id="{EB096424-DF24-790E-A3B8-21D3039DD169}"/>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1590669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3CFB9-9503-F1DC-EA68-53C0C32C8004}"/>
              </a:ext>
            </a:extLst>
          </p:cNvPr>
          <p:cNvSpPr>
            <a:spLocks noGrp="1"/>
          </p:cNvSpPr>
          <p:nvPr>
            <p:ph type="title"/>
          </p:nvPr>
        </p:nvSpPr>
        <p:spPr/>
        <p:txBody>
          <a:bodyPr/>
          <a:lstStyle/>
          <a:p>
            <a:r>
              <a:rPr lang="en-US" dirty="0"/>
              <a:t>Rule 0: The foundation rule:</a:t>
            </a:r>
          </a:p>
        </p:txBody>
      </p:sp>
      <p:sp>
        <p:nvSpPr>
          <p:cNvPr id="3" name="Content Placeholder 2">
            <a:extLst>
              <a:ext uri="{FF2B5EF4-FFF2-40B4-BE49-F238E27FC236}">
                <a16:creationId xmlns:a16="http://schemas.microsoft.com/office/drawing/2014/main" id="{D884F959-86D4-7CC8-E489-358353D9E478}"/>
              </a:ext>
            </a:extLst>
          </p:cNvPr>
          <p:cNvSpPr>
            <a:spLocks noGrp="1"/>
          </p:cNvSpPr>
          <p:nvPr>
            <p:ph idx="1"/>
          </p:nvPr>
        </p:nvSpPr>
        <p:spPr/>
        <p:txBody>
          <a:bodyPr/>
          <a:lstStyle/>
          <a:p>
            <a:r>
              <a:rPr lang="en-US" dirty="0"/>
              <a:t>for any system that is advertised as, or claimed to be, a relational data base management system, that system must be able to manage data bases entirely through its relational capabilities.</a:t>
            </a:r>
          </a:p>
          <a:p>
            <a:r>
              <a:rPr lang="en-US" dirty="0"/>
              <a:t>system must use its relational facilities (exclusively) to manage the database; other 12 rules derive from this rule</a:t>
            </a:r>
          </a:p>
          <a:p>
            <a:endParaRPr lang="en-US" dirty="0"/>
          </a:p>
          <a:p>
            <a:endParaRPr lang="en-US" dirty="0"/>
          </a:p>
        </p:txBody>
      </p:sp>
      <p:sp>
        <p:nvSpPr>
          <p:cNvPr id="4" name="Slide Number Placeholder 3">
            <a:extLst>
              <a:ext uri="{FF2B5EF4-FFF2-40B4-BE49-F238E27FC236}">
                <a16:creationId xmlns:a16="http://schemas.microsoft.com/office/drawing/2014/main" id="{CC10A60D-5F56-4C26-DA80-71788872BB9E}"/>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418439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C566E-0350-B5B9-D316-04052FBA2D3A}"/>
              </a:ext>
            </a:extLst>
          </p:cNvPr>
          <p:cNvSpPr>
            <a:spLocks noGrp="1"/>
          </p:cNvSpPr>
          <p:nvPr>
            <p:ph type="title"/>
          </p:nvPr>
        </p:nvSpPr>
        <p:spPr/>
        <p:txBody>
          <a:bodyPr/>
          <a:lstStyle/>
          <a:p>
            <a:r>
              <a:rPr lang="en-US" dirty="0"/>
              <a:t>Rule 1: The information rule:</a:t>
            </a:r>
          </a:p>
        </p:txBody>
      </p:sp>
      <p:sp>
        <p:nvSpPr>
          <p:cNvPr id="3" name="Content Placeholder 2">
            <a:extLst>
              <a:ext uri="{FF2B5EF4-FFF2-40B4-BE49-F238E27FC236}">
                <a16:creationId xmlns:a16="http://schemas.microsoft.com/office/drawing/2014/main" id="{9D636AA8-97C6-51C9-BEC8-D3FB8694318A}"/>
              </a:ext>
            </a:extLst>
          </p:cNvPr>
          <p:cNvSpPr>
            <a:spLocks noGrp="1"/>
          </p:cNvSpPr>
          <p:nvPr>
            <p:ph idx="1"/>
          </p:nvPr>
        </p:nvSpPr>
        <p:spPr/>
        <p:txBody>
          <a:bodyPr/>
          <a:lstStyle/>
          <a:p>
            <a:r>
              <a:rPr lang="en-US" dirty="0"/>
              <a:t>all information in a relational data base is represented explicitly at the logical level and in exactly one way – by values in tables.</a:t>
            </a:r>
          </a:p>
          <a:p>
            <a:r>
              <a:rPr lang="en-US" dirty="0"/>
              <a:t>all information, whether it is user information or metadata, that is stored in a database must be entered as a value in a cell of a table</a:t>
            </a:r>
          </a:p>
          <a:p>
            <a:r>
              <a:rPr lang="en-US" dirty="0"/>
              <a:t>everything within the database is organized in a table layout</a:t>
            </a:r>
          </a:p>
        </p:txBody>
      </p:sp>
      <p:sp>
        <p:nvSpPr>
          <p:cNvPr id="4" name="Slide Number Placeholder 3">
            <a:extLst>
              <a:ext uri="{FF2B5EF4-FFF2-40B4-BE49-F238E27FC236}">
                <a16:creationId xmlns:a16="http://schemas.microsoft.com/office/drawing/2014/main" id="{E384BBC2-6CBB-1BD5-3EC3-F677A1B43237}"/>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3903948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6803A-2DA7-DD9E-7950-CB165C76CF82}"/>
              </a:ext>
            </a:extLst>
          </p:cNvPr>
          <p:cNvSpPr>
            <a:spLocks noGrp="1"/>
          </p:cNvSpPr>
          <p:nvPr>
            <p:ph type="title"/>
          </p:nvPr>
        </p:nvSpPr>
        <p:spPr/>
        <p:txBody>
          <a:bodyPr/>
          <a:lstStyle/>
          <a:p>
            <a:r>
              <a:rPr lang="en-US" dirty="0"/>
              <a:t>Rule 2: The guaranteed access rule:</a:t>
            </a:r>
          </a:p>
        </p:txBody>
      </p:sp>
      <p:sp>
        <p:nvSpPr>
          <p:cNvPr id="3" name="Content Placeholder 2">
            <a:extLst>
              <a:ext uri="{FF2B5EF4-FFF2-40B4-BE49-F238E27FC236}">
                <a16:creationId xmlns:a16="http://schemas.microsoft.com/office/drawing/2014/main" id="{F2F6E239-5EC5-EC0C-DCA6-39C750246317}"/>
              </a:ext>
            </a:extLst>
          </p:cNvPr>
          <p:cNvSpPr>
            <a:spLocks noGrp="1"/>
          </p:cNvSpPr>
          <p:nvPr>
            <p:ph idx="1"/>
          </p:nvPr>
        </p:nvSpPr>
        <p:spPr/>
        <p:txBody>
          <a:bodyPr>
            <a:normAutofit/>
          </a:bodyPr>
          <a:lstStyle/>
          <a:p>
            <a:r>
              <a:rPr lang="en-US" dirty="0"/>
              <a:t>each and every datum (atomic value) in a relational data base is guaranteed to be logically accessible by resorting to a combination of table name, primary key value and column name.</a:t>
            </a:r>
          </a:p>
          <a:p>
            <a:r>
              <a:rPr lang="en-US" dirty="0"/>
              <a:t>each data element is guaranteed to be accessible logically with a combination of the table name, primary key (row value), and attribute name (column value)</a:t>
            </a:r>
          </a:p>
          <a:p>
            <a:r>
              <a:rPr lang="en-US" dirty="0"/>
              <a:t>a restatement of the fundamental requirement for primary keys</a:t>
            </a:r>
          </a:p>
          <a:p>
            <a:r>
              <a:rPr lang="en-US" dirty="0"/>
              <a:t>value in database must be logically addressable by specifying the name of the containing table, the name of the containing column and the primary key value of the containing row without any ambiguity</a:t>
            </a:r>
          </a:p>
        </p:txBody>
      </p:sp>
      <p:sp>
        <p:nvSpPr>
          <p:cNvPr id="4" name="Slide Number Placeholder 3">
            <a:extLst>
              <a:ext uri="{FF2B5EF4-FFF2-40B4-BE49-F238E27FC236}">
                <a16:creationId xmlns:a16="http://schemas.microsoft.com/office/drawing/2014/main" id="{C3C3C0CB-8A2E-FEC5-4D01-660B8E432188}"/>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1825032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6FD08-5D50-C630-4BE5-2E0E2454633F}"/>
              </a:ext>
            </a:extLst>
          </p:cNvPr>
          <p:cNvSpPr>
            <a:spLocks noGrp="1"/>
          </p:cNvSpPr>
          <p:nvPr>
            <p:ph type="title"/>
          </p:nvPr>
        </p:nvSpPr>
        <p:spPr/>
        <p:txBody>
          <a:bodyPr/>
          <a:lstStyle/>
          <a:p>
            <a:r>
              <a:rPr lang="en-US" dirty="0"/>
              <a:t>Rule 3: Systematic treatment of null values:</a:t>
            </a:r>
          </a:p>
        </p:txBody>
      </p:sp>
      <p:sp>
        <p:nvSpPr>
          <p:cNvPr id="3" name="Content Placeholder 2">
            <a:extLst>
              <a:ext uri="{FF2B5EF4-FFF2-40B4-BE49-F238E27FC236}">
                <a16:creationId xmlns:a16="http://schemas.microsoft.com/office/drawing/2014/main" id="{88857530-BE4C-EC1F-735D-9080B831AD4D}"/>
              </a:ext>
            </a:extLst>
          </p:cNvPr>
          <p:cNvSpPr>
            <a:spLocks noGrp="1"/>
          </p:cNvSpPr>
          <p:nvPr>
            <p:ph idx="1"/>
          </p:nvPr>
        </p:nvSpPr>
        <p:spPr>
          <a:xfrm>
            <a:off x="828368" y="1805961"/>
            <a:ext cx="10515600" cy="4351338"/>
          </a:xfrm>
        </p:spPr>
        <p:txBody>
          <a:bodyPr>
            <a:normAutofit/>
          </a:bodyPr>
          <a:lstStyle/>
          <a:p>
            <a:r>
              <a:rPr lang="en-US" dirty="0"/>
              <a:t>Null values (distinct from the empty character string or a string of blank characters and distinct from zero or any other number) are supported in fully relational DBMS for representing missing information and inapplicable information in a systematic and uniform way, independent of data type.</a:t>
            </a:r>
          </a:p>
          <a:p>
            <a:r>
              <a:rPr lang="en-US" dirty="0"/>
              <a:t>DBMS must allow each field to remain null (or empty); it must support a representation of "missing information and inapplicable information" that is systematic, distinct from all regular values </a:t>
            </a:r>
            <a:r>
              <a:rPr lang="en-US" sz="2700" dirty="0"/>
              <a:t>(for example, "distinct from zero or any other number", in the case of numeric values)</a:t>
            </a:r>
            <a:r>
              <a:rPr lang="en-US" dirty="0"/>
              <a:t>, and independent of data type</a:t>
            </a:r>
          </a:p>
        </p:txBody>
      </p:sp>
      <p:sp>
        <p:nvSpPr>
          <p:cNvPr id="4" name="Slide Number Placeholder 3">
            <a:extLst>
              <a:ext uri="{FF2B5EF4-FFF2-40B4-BE49-F238E27FC236}">
                <a16:creationId xmlns:a16="http://schemas.microsoft.com/office/drawing/2014/main" id="{F9B1607B-37C1-88E5-DD0D-A54438745BDE}"/>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2975670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0B77-E274-B285-6F38-D7CCB60490D6}"/>
              </a:ext>
            </a:extLst>
          </p:cNvPr>
          <p:cNvSpPr>
            <a:spLocks noGrp="1"/>
          </p:cNvSpPr>
          <p:nvPr>
            <p:ph type="title"/>
          </p:nvPr>
        </p:nvSpPr>
        <p:spPr/>
        <p:txBody>
          <a:bodyPr>
            <a:normAutofit/>
          </a:bodyPr>
          <a:lstStyle/>
          <a:p>
            <a:r>
              <a:rPr lang="en-US" dirty="0"/>
              <a:t>Rule 4: Dynamic online catalog based on the relational model:</a:t>
            </a:r>
          </a:p>
        </p:txBody>
      </p:sp>
      <p:sp>
        <p:nvSpPr>
          <p:cNvPr id="3" name="Content Placeholder 2">
            <a:extLst>
              <a:ext uri="{FF2B5EF4-FFF2-40B4-BE49-F238E27FC236}">
                <a16:creationId xmlns:a16="http://schemas.microsoft.com/office/drawing/2014/main" id="{2217AFF2-2B48-5E07-4FB0-D2ADDBA45D06}"/>
              </a:ext>
            </a:extLst>
          </p:cNvPr>
          <p:cNvSpPr>
            <a:spLocks noGrp="1"/>
          </p:cNvSpPr>
          <p:nvPr>
            <p:ph idx="1"/>
          </p:nvPr>
        </p:nvSpPr>
        <p:spPr/>
        <p:txBody>
          <a:bodyPr>
            <a:normAutofit/>
          </a:bodyPr>
          <a:lstStyle/>
          <a:p>
            <a:r>
              <a:rPr lang="en-US" dirty="0"/>
              <a:t>data base description is represented at the logical level in the same way as ordinary data, so that authorized users can apply the same relational language to its interrogation as they apply to the regular data.</a:t>
            </a:r>
          </a:p>
          <a:p>
            <a:r>
              <a:rPr lang="en-US" dirty="0"/>
              <a:t>database online catalog, which contains metadata (data about the database), based on the relational model, must be stored and accessed using same relational database management system by means of their regular query language - that they use to access the database's data</a:t>
            </a:r>
          </a:p>
        </p:txBody>
      </p:sp>
      <p:sp>
        <p:nvSpPr>
          <p:cNvPr id="4" name="Slide Number Placeholder 3">
            <a:extLst>
              <a:ext uri="{FF2B5EF4-FFF2-40B4-BE49-F238E27FC236}">
                <a16:creationId xmlns:a16="http://schemas.microsoft.com/office/drawing/2014/main" id="{EA223627-2BBD-E776-E38E-86B4DECCDB87}"/>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956711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6E97-DD45-DBA8-9E5E-56673E7A2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BA7B6-9391-57B5-32D6-445C5D5DAF53}"/>
              </a:ext>
            </a:extLst>
          </p:cNvPr>
          <p:cNvSpPr>
            <a:spLocks noGrp="1"/>
          </p:cNvSpPr>
          <p:nvPr>
            <p:ph type="title"/>
          </p:nvPr>
        </p:nvSpPr>
        <p:spPr/>
        <p:txBody>
          <a:bodyPr>
            <a:normAutofit/>
          </a:bodyPr>
          <a:lstStyle/>
          <a:p>
            <a:r>
              <a:rPr lang="en-US" dirty="0"/>
              <a:t>Rule 5: comprehensive data sublanguage rule:</a:t>
            </a:r>
          </a:p>
        </p:txBody>
      </p:sp>
      <p:sp>
        <p:nvSpPr>
          <p:cNvPr id="3" name="Content Placeholder 2">
            <a:extLst>
              <a:ext uri="{FF2B5EF4-FFF2-40B4-BE49-F238E27FC236}">
                <a16:creationId xmlns:a16="http://schemas.microsoft.com/office/drawing/2014/main" id="{F8F31BF4-BF74-33E0-62BA-07C5E5DCE31F}"/>
              </a:ext>
            </a:extLst>
          </p:cNvPr>
          <p:cNvSpPr>
            <a:spLocks noGrp="1"/>
          </p:cNvSpPr>
          <p:nvPr>
            <p:ph idx="1"/>
          </p:nvPr>
        </p:nvSpPr>
        <p:spPr/>
        <p:txBody>
          <a:bodyPr>
            <a:normAutofit lnSpcReduction="10000"/>
          </a:bodyPr>
          <a:lstStyle/>
          <a:p>
            <a:r>
              <a:rPr lang="en-US" dirty="0"/>
              <a:t>relational system may support several languages and various modes of terminal use (for example, the fill-in-the-blanks mode). However, there must be at least one language whose statements are expressible, per some well-defined syntax, as character strings and that is comprehensive in supporting all of the following items:</a:t>
            </a:r>
          </a:p>
          <a:p>
            <a:pPr lvl="1"/>
            <a:r>
              <a:rPr lang="en-US" sz="2800" dirty="0"/>
              <a:t>Data definition.</a:t>
            </a:r>
          </a:p>
          <a:p>
            <a:pPr lvl="1"/>
            <a:r>
              <a:rPr lang="en-US" sz="2800" dirty="0"/>
              <a:t>View definition.</a:t>
            </a:r>
          </a:p>
          <a:p>
            <a:pPr lvl="1"/>
            <a:r>
              <a:rPr lang="en-US" sz="2800" dirty="0"/>
              <a:t>Data manipulation (interactive and by program).</a:t>
            </a:r>
          </a:p>
          <a:p>
            <a:pPr lvl="1"/>
            <a:r>
              <a:rPr lang="en-US" sz="2800" dirty="0"/>
              <a:t>Integrity constraints.</a:t>
            </a:r>
          </a:p>
          <a:p>
            <a:pPr lvl="1"/>
            <a:r>
              <a:rPr lang="en-US" sz="2800" dirty="0"/>
              <a:t>Authorization.</a:t>
            </a:r>
          </a:p>
          <a:p>
            <a:pPr lvl="1"/>
            <a:r>
              <a:rPr lang="en-US" sz="2800" dirty="0"/>
              <a:t>Transaction boundaries (begin, commit and rollback)</a:t>
            </a:r>
          </a:p>
          <a:p>
            <a:pPr lvl="1"/>
            <a:endParaRPr lang="en-US" dirty="0"/>
          </a:p>
        </p:txBody>
      </p:sp>
      <p:sp>
        <p:nvSpPr>
          <p:cNvPr id="4" name="Slide Number Placeholder 3">
            <a:extLst>
              <a:ext uri="{FF2B5EF4-FFF2-40B4-BE49-F238E27FC236}">
                <a16:creationId xmlns:a16="http://schemas.microsoft.com/office/drawing/2014/main" id="{D45484F6-EFF1-4660-50F5-FCF5CA5CA701}"/>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3851934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C7CFA-E5C5-1012-0FEF-AFA2571B1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217C8-CCBB-FB7B-3FB5-40F9F2BA0D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D53BB2-7C6F-337F-6E24-82305C98A3F5}"/>
              </a:ext>
            </a:extLst>
          </p:cNvPr>
          <p:cNvSpPr>
            <a:spLocks noGrp="1"/>
          </p:cNvSpPr>
          <p:nvPr>
            <p:ph idx="1"/>
          </p:nvPr>
        </p:nvSpPr>
        <p:spPr/>
        <p:txBody>
          <a:bodyPr>
            <a:normAutofit/>
          </a:bodyPr>
          <a:lstStyle/>
          <a:p>
            <a:r>
              <a:rPr lang="en-US" dirty="0"/>
              <a:t>database system must be able to offer an easily understandable data manipulation language (DML) that facilitates defining, querying, and modifying information within the database</a:t>
            </a:r>
          </a:p>
          <a:p>
            <a:r>
              <a:rPr lang="en-US" dirty="0"/>
              <a:t>system must support at least one relational language that</a:t>
            </a:r>
          </a:p>
          <a:p>
            <a:pPr lvl="1"/>
            <a:r>
              <a:rPr lang="en-US" sz="2800" dirty="0"/>
              <a:t>has a linear syntax</a:t>
            </a:r>
          </a:p>
          <a:p>
            <a:pPr lvl="1"/>
            <a:r>
              <a:rPr lang="en-US" sz="2800" dirty="0"/>
              <a:t>can be used both interactively and within application programs,</a:t>
            </a:r>
          </a:p>
          <a:p>
            <a:pPr lvl="1"/>
            <a:r>
              <a:rPr lang="en-US" sz="2800" dirty="0"/>
              <a:t>supports data definition operations (including view definitions), data manipulation operations (update as well as retrieval), security and integrity constraints, and transaction management operations (begin, commit, and rollback)</a:t>
            </a:r>
          </a:p>
        </p:txBody>
      </p:sp>
      <p:sp>
        <p:nvSpPr>
          <p:cNvPr id="4" name="Slide Number Placeholder 3">
            <a:extLst>
              <a:ext uri="{FF2B5EF4-FFF2-40B4-BE49-F238E27FC236}">
                <a16:creationId xmlns:a16="http://schemas.microsoft.com/office/drawing/2014/main" id="{D59878A6-ABC9-84C4-18C9-8D8A32BBCFFE}"/>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3103583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DC2D3-C930-A7D6-0541-B7B2C5802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F355E-70E7-0578-DBF9-1EFD4881EBD5}"/>
              </a:ext>
            </a:extLst>
          </p:cNvPr>
          <p:cNvSpPr>
            <a:spLocks noGrp="1"/>
          </p:cNvSpPr>
          <p:nvPr>
            <p:ph type="title"/>
          </p:nvPr>
        </p:nvSpPr>
        <p:spPr/>
        <p:txBody>
          <a:bodyPr/>
          <a:lstStyle/>
          <a:p>
            <a:r>
              <a:rPr lang="en-US" dirty="0"/>
              <a:t>Rule 6: The view updating rule:</a:t>
            </a:r>
          </a:p>
        </p:txBody>
      </p:sp>
      <p:sp>
        <p:nvSpPr>
          <p:cNvPr id="3" name="Content Placeholder 2">
            <a:extLst>
              <a:ext uri="{FF2B5EF4-FFF2-40B4-BE49-F238E27FC236}">
                <a16:creationId xmlns:a16="http://schemas.microsoft.com/office/drawing/2014/main" id="{E11DAD96-8EF4-2483-4A14-229409766201}"/>
              </a:ext>
            </a:extLst>
          </p:cNvPr>
          <p:cNvSpPr>
            <a:spLocks noGrp="1"/>
          </p:cNvSpPr>
          <p:nvPr>
            <p:ph idx="1"/>
          </p:nvPr>
        </p:nvSpPr>
        <p:spPr/>
        <p:txBody>
          <a:bodyPr/>
          <a:lstStyle/>
          <a:p>
            <a:r>
              <a:rPr lang="en-US" dirty="0"/>
              <a:t>all views that are theoretically updatable are also updatable by the system.</a:t>
            </a:r>
          </a:p>
          <a:p>
            <a:endParaRPr lang="en-US" dirty="0"/>
          </a:p>
        </p:txBody>
      </p:sp>
      <p:sp>
        <p:nvSpPr>
          <p:cNvPr id="4" name="Slide Number Placeholder 3">
            <a:extLst>
              <a:ext uri="{FF2B5EF4-FFF2-40B4-BE49-F238E27FC236}">
                <a16:creationId xmlns:a16="http://schemas.microsoft.com/office/drawing/2014/main" id="{7B7FC6C9-62B5-9089-6120-276F3E6A25D2}"/>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1712177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FC6F-9174-C721-535C-6707FAC90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8D547-CFF1-27F6-7375-A7FAC3037FF8}"/>
              </a:ext>
            </a:extLst>
          </p:cNvPr>
          <p:cNvSpPr>
            <a:spLocks noGrp="1"/>
          </p:cNvSpPr>
          <p:nvPr>
            <p:ph type="title"/>
          </p:nvPr>
        </p:nvSpPr>
        <p:spPr/>
        <p:txBody>
          <a:bodyPr>
            <a:normAutofit/>
          </a:bodyPr>
          <a:lstStyle/>
          <a:p>
            <a:r>
              <a:rPr lang="en-US" dirty="0"/>
              <a:t>Rule 7: Relational operations rule / Possible for high-level insert, update, and delete:</a:t>
            </a:r>
          </a:p>
        </p:txBody>
      </p:sp>
      <p:sp>
        <p:nvSpPr>
          <p:cNvPr id="3" name="Content Placeholder 2">
            <a:extLst>
              <a:ext uri="{FF2B5EF4-FFF2-40B4-BE49-F238E27FC236}">
                <a16:creationId xmlns:a16="http://schemas.microsoft.com/office/drawing/2014/main" id="{E4636700-46AF-68B3-157C-D5E845199461}"/>
              </a:ext>
            </a:extLst>
          </p:cNvPr>
          <p:cNvSpPr>
            <a:spLocks noGrp="1"/>
          </p:cNvSpPr>
          <p:nvPr>
            <p:ph idx="1"/>
          </p:nvPr>
        </p:nvSpPr>
        <p:spPr/>
        <p:txBody>
          <a:bodyPr>
            <a:normAutofit lnSpcReduction="10000"/>
          </a:bodyPr>
          <a:lstStyle/>
          <a:p>
            <a:r>
              <a:rPr lang="en-US" dirty="0"/>
              <a:t>capability of handling a base relation or a derived relation as a single operand applies not only to the retrieval of data but also to the insertion, update and deletion of data.</a:t>
            </a:r>
          </a:p>
          <a:p>
            <a:r>
              <a:rPr lang="en-US" dirty="0"/>
              <a:t>database system must possess the feature of facilitating high-level set-at-a-time insertions, updates, and deletions that can grant users the ability to conduct these operations with ease through a single query</a:t>
            </a:r>
          </a:p>
          <a:p>
            <a:r>
              <a:rPr lang="en-US" dirty="0"/>
              <a:t>data can be retrieved from a relational database in sets constructed of data from multiple rows and/or multiple tables; insert, update, and delete operations should be supported for any retrievable set rather than just for a single row in a single table</a:t>
            </a:r>
          </a:p>
        </p:txBody>
      </p:sp>
      <p:sp>
        <p:nvSpPr>
          <p:cNvPr id="4" name="Slide Number Placeholder 3">
            <a:extLst>
              <a:ext uri="{FF2B5EF4-FFF2-40B4-BE49-F238E27FC236}">
                <a16:creationId xmlns:a16="http://schemas.microsoft.com/office/drawing/2014/main" id="{E29CF74A-A785-BEE2-7EA1-8AED31E6AB5D}"/>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2413496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FE9D3-A0AA-CBE3-4EC1-80ADF396C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8A34E-76A2-95C6-A074-002A7BE27BA2}"/>
              </a:ext>
            </a:extLst>
          </p:cNvPr>
          <p:cNvSpPr>
            <a:spLocks noGrp="1"/>
          </p:cNvSpPr>
          <p:nvPr>
            <p:ph type="title"/>
          </p:nvPr>
        </p:nvSpPr>
        <p:spPr/>
        <p:txBody>
          <a:bodyPr/>
          <a:lstStyle/>
          <a:p>
            <a:r>
              <a:rPr lang="en-US" dirty="0"/>
              <a:t>Rule 8: Physical data independence:</a:t>
            </a:r>
          </a:p>
        </p:txBody>
      </p:sp>
      <p:sp>
        <p:nvSpPr>
          <p:cNvPr id="3" name="Content Placeholder 2">
            <a:extLst>
              <a:ext uri="{FF2B5EF4-FFF2-40B4-BE49-F238E27FC236}">
                <a16:creationId xmlns:a16="http://schemas.microsoft.com/office/drawing/2014/main" id="{42F7A8BC-95D2-ED09-93DB-CD4B88E5E74A}"/>
              </a:ext>
            </a:extLst>
          </p:cNvPr>
          <p:cNvSpPr>
            <a:spLocks noGrp="1"/>
          </p:cNvSpPr>
          <p:nvPr>
            <p:ph idx="1"/>
          </p:nvPr>
        </p:nvSpPr>
        <p:spPr/>
        <p:txBody>
          <a:bodyPr/>
          <a:lstStyle/>
          <a:p>
            <a:r>
              <a:rPr lang="en-US" dirty="0"/>
              <a:t>application programs and terminal activities remain logically unimpaired whenever any changes are made in either storage representations or access methods.</a:t>
            </a:r>
          </a:p>
          <a:p>
            <a:r>
              <a:rPr lang="en-US" dirty="0"/>
              <a:t>application programs and activities should remain unaffected when changes are made to the physical storage structures or methods</a:t>
            </a:r>
          </a:p>
          <a:p>
            <a:r>
              <a:rPr lang="en-US" dirty="0"/>
              <a:t>physical data independence: changes to the physical level (how the data is stored, whether in arrays or linked lists etc.) must not require a change to an application based on the structure</a:t>
            </a:r>
          </a:p>
        </p:txBody>
      </p:sp>
      <p:sp>
        <p:nvSpPr>
          <p:cNvPr id="4" name="Slide Number Placeholder 3">
            <a:extLst>
              <a:ext uri="{FF2B5EF4-FFF2-40B4-BE49-F238E27FC236}">
                <a16:creationId xmlns:a16="http://schemas.microsoft.com/office/drawing/2014/main" id="{7B5BBD1E-D7F6-8C40-B737-CFB9E09B7119}"/>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373913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AEF96-2FA9-9854-0655-0DCEDF4649E7}"/>
              </a:ext>
            </a:extLst>
          </p:cNvPr>
          <p:cNvSpPr>
            <a:spLocks noGrp="1"/>
          </p:cNvSpPr>
          <p:nvPr>
            <p:ph type="title"/>
          </p:nvPr>
        </p:nvSpPr>
        <p:spPr/>
        <p:txBody>
          <a:bodyPr>
            <a:normAutofit/>
          </a:bodyPr>
          <a:lstStyle/>
          <a:p>
            <a:r>
              <a:rPr lang="en-US" dirty="0"/>
              <a:t>Rule 9: Logical data independence:</a:t>
            </a:r>
          </a:p>
        </p:txBody>
      </p:sp>
      <p:sp>
        <p:nvSpPr>
          <p:cNvPr id="3" name="Content Placeholder 2">
            <a:extLst>
              <a:ext uri="{FF2B5EF4-FFF2-40B4-BE49-F238E27FC236}">
                <a16:creationId xmlns:a16="http://schemas.microsoft.com/office/drawing/2014/main" id="{043C1BC6-BC32-BF19-F000-B881EB750546}"/>
              </a:ext>
            </a:extLst>
          </p:cNvPr>
          <p:cNvSpPr>
            <a:spLocks noGrp="1"/>
          </p:cNvSpPr>
          <p:nvPr>
            <p:ph idx="1"/>
          </p:nvPr>
        </p:nvSpPr>
        <p:spPr/>
        <p:txBody>
          <a:bodyPr>
            <a:normAutofit fontScale="92500" lnSpcReduction="10000"/>
          </a:bodyPr>
          <a:lstStyle/>
          <a:p>
            <a:r>
              <a:rPr lang="en-US" dirty="0"/>
              <a:t>application programs and terminal activities remain logically unimpaired when information-preserving changes of any kind that theoretically permit </a:t>
            </a:r>
            <a:r>
              <a:rPr lang="en-US" dirty="0" err="1"/>
              <a:t>unimpairment</a:t>
            </a:r>
            <a:r>
              <a:rPr lang="en-US" dirty="0"/>
              <a:t> are made to the base tables.</a:t>
            </a:r>
          </a:p>
          <a:p>
            <a:r>
              <a:rPr lang="en-US" dirty="0"/>
              <a:t>application programs and activities should remain unaffected when changes are made to the logical structure of the data, such as adding or modifying tables</a:t>
            </a:r>
          </a:p>
          <a:p>
            <a:r>
              <a:rPr lang="en-US" dirty="0"/>
              <a:t>logical data independence: changes to the logical level (tables, columns, rows, and so on) must not require a change to an application based on the structure</a:t>
            </a:r>
          </a:p>
          <a:p>
            <a:r>
              <a:rPr lang="en-US" dirty="0"/>
              <a:t>logical data independence is more difficult to achieve than physical data independence</a:t>
            </a:r>
          </a:p>
        </p:txBody>
      </p:sp>
      <p:sp>
        <p:nvSpPr>
          <p:cNvPr id="4" name="Slide Number Placeholder 3">
            <a:extLst>
              <a:ext uri="{FF2B5EF4-FFF2-40B4-BE49-F238E27FC236}">
                <a16:creationId xmlns:a16="http://schemas.microsoft.com/office/drawing/2014/main" id="{E3494927-475E-ACBE-94FB-8117058DF086}"/>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650504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4822D-29E2-85D2-D6AC-2556872B5176}"/>
              </a:ext>
            </a:extLst>
          </p:cNvPr>
          <p:cNvSpPr>
            <a:spLocks noGrp="1"/>
          </p:cNvSpPr>
          <p:nvPr>
            <p:ph type="title"/>
          </p:nvPr>
        </p:nvSpPr>
        <p:spPr/>
        <p:txBody>
          <a:bodyPr>
            <a:normAutofit/>
          </a:bodyPr>
          <a:lstStyle/>
          <a:p>
            <a:r>
              <a:rPr lang="en-US" dirty="0"/>
              <a:t>Rule 10: Integrity independence:</a:t>
            </a:r>
          </a:p>
        </p:txBody>
      </p:sp>
      <p:sp>
        <p:nvSpPr>
          <p:cNvPr id="3" name="Content Placeholder 2">
            <a:extLst>
              <a:ext uri="{FF2B5EF4-FFF2-40B4-BE49-F238E27FC236}">
                <a16:creationId xmlns:a16="http://schemas.microsoft.com/office/drawing/2014/main" id="{9A053377-08E6-FFCA-DFD4-9F81E0A3C725}"/>
              </a:ext>
            </a:extLst>
          </p:cNvPr>
          <p:cNvSpPr>
            <a:spLocks noGrp="1"/>
          </p:cNvSpPr>
          <p:nvPr>
            <p:ph idx="1"/>
          </p:nvPr>
        </p:nvSpPr>
        <p:spPr/>
        <p:txBody>
          <a:bodyPr/>
          <a:lstStyle/>
          <a:p>
            <a:r>
              <a:rPr lang="en-US" dirty="0"/>
              <a:t>integrity constraints specific to a particular relational data base must be definable in the relational data sublanguage and storable in the catalog, not in the application programs.</a:t>
            </a:r>
          </a:p>
          <a:p>
            <a:r>
              <a:rPr lang="en-US" dirty="0"/>
              <a:t>integrity constraints should be specified separately from application programs and stored in the catalog; should be automatically enforced by the database system; must be possible to change such constraints as and when appropriate without unnecessarily affecting existing applications</a:t>
            </a:r>
          </a:p>
          <a:p>
            <a:endParaRPr lang="en-US" dirty="0"/>
          </a:p>
        </p:txBody>
      </p:sp>
      <p:sp>
        <p:nvSpPr>
          <p:cNvPr id="4" name="Slide Number Placeholder 3">
            <a:extLst>
              <a:ext uri="{FF2B5EF4-FFF2-40B4-BE49-F238E27FC236}">
                <a16:creationId xmlns:a16="http://schemas.microsoft.com/office/drawing/2014/main" id="{C277DC16-3C53-2896-B2A8-C9DA3477D0E9}"/>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3157332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F0318-1E82-2147-3569-E66C72ADC412}"/>
              </a:ext>
            </a:extLst>
          </p:cNvPr>
          <p:cNvSpPr>
            <a:spLocks noGrp="1"/>
          </p:cNvSpPr>
          <p:nvPr>
            <p:ph type="title"/>
          </p:nvPr>
        </p:nvSpPr>
        <p:spPr/>
        <p:txBody>
          <a:bodyPr/>
          <a:lstStyle/>
          <a:p>
            <a:r>
              <a:rPr lang="en-US" dirty="0"/>
              <a:t>Rule 11: Distribution independence:</a:t>
            </a:r>
          </a:p>
        </p:txBody>
      </p:sp>
      <p:sp>
        <p:nvSpPr>
          <p:cNvPr id="3" name="Content Placeholder 2">
            <a:extLst>
              <a:ext uri="{FF2B5EF4-FFF2-40B4-BE49-F238E27FC236}">
                <a16:creationId xmlns:a16="http://schemas.microsoft.com/office/drawing/2014/main" id="{24A201C0-A0EB-2C1B-A2D4-CF441440B322}"/>
              </a:ext>
            </a:extLst>
          </p:cNvPr>
          <p:cNvSpPr>
            <a:spLocks noGrp="1"/>
          </p:cNvSpPr>
          <p:nvPr>
            <p:ph idx="1"/>
          </p:nvPr>
        </p:nvSpPr>
        <p:spPr/>
        <p:txBody>
          <a:bodyPr>
            <a:normAutofit lnSpcReduction="10000"/>
          </a:bodyPr>
          <a:lstStyle/>
          <a:p>
            <a:r>
              <a:rPr lang="en-US" dirty="0"/>
              <a:t>end-user must not be able to see that the data is distributed over various locations. Users should always get the impression that the data is located at one site only.</a:t>
            </a:r>
          </a:p>
          <a:p>
            <a:r>
              <a:rPr lang="en-US" dirty="0"/>
              <a:t>distribution of data across multiple locations should be invisible to users, and the database system should handle the distribution transparently</a:t>
            </a:r>
          </a:p>
          <a:p>
            <a:r>
              <a:rPr lang="en-US" dirty="0"/>
              <a:t>distribution independence: the distribution of portions of database to various locations should be invisible to users of the database; existing applications should continue to operate successfully :</a:t>
            </a:r>
          </a:p>
          <a:p>
            <a:pPr lvl="1"/>
            <a:r>
              <a:rPr lang="en-US" sz="2700" dirty="0"/>
              <a:t>1. when a distributed version of the DBMS is first introduced; and</a:t>
            </a:r>
          </a:p>
          <a:p>
            <a:pPr lvl="1"/>
            <a:r>
              <a:rPr lang="en-US" sz="2700" dirty="0"/>
              <a:t>2. when existing distributed data are redistributed around the system</a:t>
            </a:r>
          </a:p>
        </p:txBody>
      </p:sp>
      <p:sp>
        <p:nvSpPr>
          <p:cNvPr id="4" name="Slide Number Placeholder 3">
            <a:extLst>
              <a:ext uri="{FF2B5EF4-FFF2-40B4-BE49-F238E27FC236}">
                <a16:creationId xmlns:a16="http://schemas.microsoft.com/office/drawing/2014/main" id="{12E30941-71F2-F67A-7698-E91591DE93AE}"/>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1635081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41EB-580B-C12D-6D9F-ABE2FF328A38}"/>
              </a:ext>
            </a:extLst>
          </p:cNvPr>
          <p:cNvSpPr>
            <a:spLocks noGrp="1"/>
          </p:cNvSpPr>
          <p:nvPr>
            <p:ph type="title"/>
          </p:nvPr>
        </p:nvSpPr>
        <p:spPr/>
        <p:txBody>
          <a:bodyPr>
            <a:normAutofit/>
          </a:bodyPr>
          <a:lstStyle/>
          <a:p>
            <a:r>
              <a:rPr lang="en-US" dirty="0"/>
              <a:t>Rule 12: The </a:t>
            </a:r>
            <a:r>
              <a:rPr lang="en-US" dirty="0" err="1"/>
              <a:t>nonsubversion</a:t>
            </a:r>
            <a:r>
              <a:rPr lang="en-US" dirty="0"/>
              <a:t> rule:</a:t>
            </a:r>
          </a:p>
        </p:txBody>
      </p:sp>
      <p:sp>
        <p:nvSpPr>
          <p:cNvPr id="3" name="Content Placeholder 2">
            <a:extLst>
              <a:ext uri="{FF2B5EF4-FFF2-40B4-BE49-F238E27FC236}">
                <a16:creationId xmlns:a16="http://schemas.microsoft.com/office/drawing/2014/main" id="{B832EA68-E047-E577-DFD7-479CFB6AC2F3}"/>
              </a:ext>
            </a:extLst>
          </p:cNvPr>
          <p:cNvSpPr>
            <a:spLocks noGrp="1"/>
          </p:cNvSpPr>
          <p:nvPr>
            <p:ph idx="1"/>
          </p:nvPr>
        </p:nvSpPr>
        <p:spPr/>
        <p:txBody>
          <a:bodyPr/>
          <a:lstStyle/>
          <a:p>
            <a:r>
              <a:rPr lang="en-US" dirty="0"/>
              <a:t>if a relational system has a low-level (single-record-at-a-time) language, that low level cannot be used to subvert or bypass the integrity rules and constraints expressed in the higher level relational language (multiple-records-at-a-time).</a:t>
            </a:r>
          </a:p>
          <a:p>
            <a:r>
              <a:rPr lang="en-US" dirty="0"/>
              <a:t>if the interface of the system is providing access to low-level records, then the interface must not be able to damage the system and bypass security and integrity </a:t>
            </a:r>
            <a:r>
              <a:rPr lang="en-US"/>
              <a:t>constraints; that </a:t>
            </a:r>
            <a:r>
              <a:rPr lang="en-US" dirty="0"/>
              <a:t>interface cannot be used to subvert the system, for example, bypassing a relational security or </a:t>
            </a:r>
            <a:r>
              <a:rPr lang="en-US"/>
              <a:t>integrity constraint</a:t>
            </a:r>
            <a:endParaRPr lang="en-US" dirty="0"/>
          </a:p>
          <a:p>
            <a:endParaRPr lang="en-US" dirty="0"/>
          </a:p>
        </p:txBody>
      </p:sp>
      <p:sp>
        <p:nvSpPr>
          <p:cNvPr id="4" name="Slide Number Placeholder 3">
            <a:extLst>
              <a:ext uri="{FF2B5EF4-FFF2-40B4-BE49-F238E27FC236}">
                <a16:creationId xmlns:a16="http://schemas.microsoft.com/office/drawing/2014/main" id="{E5336177-8040-C03B-E722-CA35EA06C52C}"/>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2184382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8471EC-4A95-4D33-B8D6-0BFE26E6B599}"/>
</file>

<file path=customXml/itemProps2.xml><?xml version="1.0" encoding="utf-8"?>
<ds:datastoreItem xmlns:ds="http://schemas.openxmlformats.org/officeDocument/2006/customXml" ds:itemID="{89C0D13E-7F3A-4362-9743-726FC621BB69}"/>
</file>

<file path=customXml/itemProps3.xml><?xml version="1.0" encoding="utf-8"?>
<ds:datastoreItem xmlns:ds="http://schemas.openxmlformats.org/officeDocument/2006/customXml" ds:itemID="{5271D149-1EF0-4ACC-8EF5-C93FD75645C9}"/>
</file>

<file path=docProps/app.xml><?xml version="1.0" encoding="utf-8"?>
<Properties xmlns="http://schemas.openxmlformats.org/officeDocument/2006/extended-properties" xmlns:vt="http://schemas.openxmlformats.org/officeDocument/2006/docPropsVTypes">
  <TotalTime>3871</TotalTime>
  <Words>1479</Words>
  <Application>Microsoft Office PowerPoint</Application>
  <PresentationFormat>Widescreen</PresentationFormat>
  <Paragraphs>89</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DataBase</vt:lpstr>
      <vt:lpstr>Codd's 12 rules</vt:lpstr>
      <vt:lpstr>PowerPoint Presentation</vt:lpstr>
      <vt:lpstr>PowerPoint Presentation</vt:lpstr>
      <vt:lpstr>PowerPoint Presentation</vt:lpstr>
      <vt:lpstr>Rule 0: The foundation rule:</vt:lpstr>
      <vt:lpstr>Rule 1: The information rule:</vt:lpstr>
      <vt:lpstr>Rule 2: The guaranteed access rule:</vt:lpstr>
      <vt:lpstr>Rule 3: Systematic treatment of null values:</vt:lpstr>
      <vt:lpstr>Rule 4: Dynamic online catalog based on the relational model:</vt:lpstr>
      <vt:lpstr>Rule 5: comprehensive data sublanguage rule:</vt:lpstr>
      <vt:lpstr>PowerPoint Presentation</vt:lpstr>
      <vt:lpstr>Rule 6: The view updating rule:</vt:lpstr>
      <vt:lpstr>Rule 7: Relational operations rule / Possible for high-level insert, update, and delete:</vt:lpstr>
      <vt:lpstr>Rule 8: Physical data independence:</vt:lpstr>
      <vt:lpstr>Rule 9: Logical data independence:</vt:lpstr>
      <vt:lpstr>Rule 10: Integrity independence:</vt:lpstr>
      <vt:lpstr>Rule 11: Distribution independence:</vt:lpstr>
      <vt:lpstr>Rule 12: The nonsubversion rule: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150</cp:revision>
  <dcterms:created xsi:type="dcterms:W3CDTF">2023-08-06T12:55:35Z</dcterms:created>
  <dcterms:modified xsi:type="dcterms:W3CDTF">2025-09-05T06:43:25Z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