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66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6" r:id="rId28"/>
    <p:sldId id="287" r:id="rId29"/>
    <p:sldId id="288" r:id="rId30"/>
    <p:sldId id="289" r:id="rId31"/>
    <p:sldId id="290" r:id="rId32"/>
    <p:sldId id="283" r:id="rId33"/>
    <p:sldId id="291" r:id="rId34"/>
    <p:sldId id="293" r:id="rId35"/>
    <p:sldId id="292" r:id="rId36"/>
    <p:sldId id="294" r:id="rId37"/>
    <p:sldId id="295" r:id="rId38"/>
    <p:sldId id="284" r:id="rId39"/>
    <p:sldId id="285" r:id="rId40"/>
    <p:sldId id="296" r:id="rId41"/>
    <p:sldId id="298" r:id="rId42"/>
    <p:sldId id="297" r:id="rId43"/>
    <p:sldId id="300" r:id="rId44"/>
    <p:sldId id="301" r:id="rId45"/>
    <p:sldId id="299" r:id="rId46"/>
    <p:sldId id="303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1C7DB-B2B3-4AD0-AE64-713130CDAC6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8672F-AE23-438B-8E30-83F52253B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4539-7D8A-EAFB-9F12-ABFDABA32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0AE93-9743-BFBA-6FE1-613D5D148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3ED44-F8FC-3B83-9129-AEC69CFC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DFC83-8E1B-404F-B24D-3C50062C89C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9A680-8D07-37EE-0BCA-0EC26C6A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DB6ED-3B3B-11D6-48C7-43AE164B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EC74-9F22-03C5-F00D-26994A4F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F81A4-341E-336F-56E5-7F13BEFDE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A1398-D72C-1140-0A9C-0BC26762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83CC-8002-4267-954C-36DF26C7FF06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3FA51-B460-03F8-E200-666716E0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B226C-A2CD-FF0A-3FDE-FB47CC33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1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6F80-174D-491F-95D5-836E94E1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ED903-1A5E-19E3-045F-7594507CB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D83F3-8220-C3B0-6949-59AFFF41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243B-0D03-42F6-AB73-7E7595926E1E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7918E-88C8-3B38-1AEB-CB7005EC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8414D-729C-5B5F-74C0-82960705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1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595E-8A50-4346-7F19-7B4C64D5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C38F7-F127-2944-72D1-5A39DA765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7491C-F756-4388-5DB3-37A367191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C7BDB-7AD7-3B93-CA71-3CDB06A2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2E8A-36E4-4920-8DEE-85A49B4B537C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5A2B-5298-613D-E6C1-B50D5035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0EB0E-0085-F151-0D68-90848973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8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607C-BC04-8AAA-7008-CBA1E242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F6D5F-3465-03C3-025F-D3E47FBDE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ABEC2-660D-F030-38C4-8ABFE9EC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F13ED-BAF2-AF55-80B8-F39D271E9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49E21-1E75-F8F3-C1E5-B246D80AC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0F288-F592-DF5B-6D10-3094FA98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43F9-26BB-48EC-BCAB-05F77BB3B644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1A078-A1B2-9932-2FE0-9E60225C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AEFD4A-A5F7-C0BD-F078-3145C637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1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4B91-58A1-1FAB-7606-1222A084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83F0A-9970-4B08-EBE6-FCCC0AC4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8C05-B05F-4DB1-ACCA-48EBF44CAC10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1AB62-2E36-0460-414E-2E325EDB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07E9B-7E82-BC7A-555C-6B94FB40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3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960D5-02D2-4953-7501-A2CB7587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5FD1-BA48-448D-8B7C-EA5EF331041C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09642-DF49-9C65-49D8-F87006D8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22390-E5F6-03AD-7720-1ACF3520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7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D2C2-1C0B-5303-A969-40844FD8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085C-E769-6B00-EA55-D58717D16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D339C-45D6-14BA-5778-F9ABF8875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3BADD-605A-3E6B-5018-C853D251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D3A8-71F4-4188-999C-56C459EAC5E1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28288-26B4-114F-7C2E-A06D1E50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90F8E-11E5-9F3A-A5CC-F03AE058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BC63-26FA-1F69-A487-C92C339F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31045-5220-E065-007A-2B1601689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52572-BD37-A57A-B8D0-27C12199E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0C661-8B3B-3AD5-BD0F-4BACD3CA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B556-17EA-4484-8F41-A3B659A73B48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4C510-A07E-9C76-D00D-619A6EF4A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43D0F-D9B6-A364-E1D6-52E557C6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7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F6F1-7476-3183-0B31-FBD49830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64D3D-B8D1-11DD-60E2-392498F41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4853F-0572-CA58-DA2F-459F02F1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B0A85-EF8D-4EAE-A2E7-6A858F3BE08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5E4A-0F60-F5E3-B8F4-9CCC3604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B82A-5448-277D-E1DD-379D10CE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1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A7C314-4F5C-5B2D-707E-29FC68197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93271-274A-7BA8-E129-EA0BBB8D0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0D6B-1912-E9E4-894A-4D293313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6F1F-00D2-4F49-9429-AD6E1A046242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99CBC-8C1A-4848-B7A6-5D4F8D88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EA2A9-307C-5D30-25B7-93CAE9C0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7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0E793-D1DE-4831-3096-A2F58028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ECD5-9229-7326-4DB1-2DE84D2A7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3061-B9F4-25A0-2943-044214DC9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30990-D980-42FF-B32F-53AB8A8A6C3D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7F29C-7899-D857-B80D-8510BCDC9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EDEE9-02AD-698B-0DFE-E9F649815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57366-504E-45F7-8B1A-89758386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0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361D-1CFF-659D-FBBF-261E447051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6368E-194A-AFC0-35CA-21CD635B6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PostGreSQL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A733-3D23-E3DB-E440-C643910A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1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077A-C63A-155D-2507-5C35A77F4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psycopg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F90D-0709-0DF9-FDE2-B680FE30F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01497"/>
          </a:xfrm>
        </p:spPr>
        <p:txBody>
          <a:bodyPr>
            <a:noAutofit/>
          </a:bodyPr>
          <a:lstStyle/>
          <a:p>
            <a:r>
              <a:rPr lang="en-US" sz="2700" dirty="0"/>
              <a:t>&gt;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python PyPGAppl.py</a:t>
            </a:r>
          </a:p>
          <a:p>
            <a:r>
              <a:rPr lang="en-US" sz="2700" dirty="0"/>
              <a:t>Nancy Davolio</a:t>
            </a:r>
          </a:p>
          <a:p>
            <a:r>
              <a:rPr lang="en-US" sz="2700" dirty="0"/>
              <a:t>Andrew Fuller</a:t>
            </a:r>
          </a:p>
          <a:p>
            <a:r>
              <a:rPr lang="en-US" sz="2700" dirty="0"/>
              <a:t>Janet </a:t>
            </a:r>
            <a:r>
              <a:rPr lang="en-US" sz="2700" dirty="0" err="1"/>
              <a:t>Leverling</a:t>
            </a:r>
            <a:endParaRPr lang="en-US" sz="2700" dirty="0"/>
          </a:p>
          <a:p>
            <a:r>
              <a:rPr lang="en-US" sz="2700" dirty="0"/>
              <a:t>Margaret Peacock</a:t>
            </a:r>
          </a:p>
          <a:p>
            <a:r>
              <a:rPr lang="en-US" sz="2700" dirty="0"/>
              <a:t>Steven Buchanan</a:t>
            </a:r>
          </a:p>
          <a:p>
            <a:r>
              <a:rPr lang="en-US" sz="2700" dirty="0"/>
              <a:t>Michael Suyama</a:t>
            </a:r>
          </a:p>
          <a:p>
            <a:r>
              <a:rPr lang="en-US" sz="2700" dirty="0"/>
              <a:t>Robert King</a:t>
            </a:r>
          </a:p>
          <a:p>
            <a:r>
              <a:rPr lang="en-US" sz="2700" dirty="0"/>
              <a:t>Laura Callahan</a:t>
            </a:r>
          </a:p>
          <a:p>
            <a:r>
              <a:rPr lang="en-US" sz="2700" dirty="0"/>
              <a:t>Anne Dodsworth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4D51A-5F24-D0BE-61B1-CF5A8709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6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FCFE-3FCA-3EB5-2B11-36A5CDDF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6C03-2409-FE29-AD86-77FAB1890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D690B-BCFB-CA09-4F3A-37975713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83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465C-5ED7-B143-7701-5831E26C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PyPGAppl.py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0993-D79A-8DCA-D1BE-0AFCE9FE4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import</a:t>
            </a:r>
            <a:r>
              <a:rPr lang="en-US" dirty="0"/>
              <a:t> </a:t>
            </a:r>
            <a:r>
              <a:rPr lang="en-US" dirty="0" err="1"/>
              <a:t>psycopg</a:t>
            </a:r>
            <a:endParaRPr lang="en-US" dirty="0"/>
          </a:p>
          <a:p>
            <a:r>
              <a:rPr lang="en-US" i="1" dirty="0"/>
              <a:t># Connection details (replace with your own)</a:t>
            </a:r>
            <a:endParaRPr lang="en-US" dirty="0"/>
          </a:p>
          <a:p>
            <a:r>
              <a:rPr lang="en-US" dirty="0"/>
              <a:t>DATABASE_URL </a:t>
            </a:r>
            <a:r>
              <a:rPr lang="en-US" i="1" dirty="0"/>
              <a:t>=</a:t>
            </a:r>
            <a:r>
              <a:rPr lang="en-US" dirty="0"/>
              <a:t> "</a:t>
            </a:r>
            <a:r>
              <a:rPr lang="en-US" dirty="0" err="1"/>
              <a:t>postgresql</a:t>
            </a:r>
            <a:r>
              <a:rPr lang="en-US" dirty="0"/>
              <a:t>://postgres:password@localhost:5432/</a:t>
            </a:r>
            <a:r>
              <a:rPr lang="en-US" dirty="0" err="1"/>
              <a:t>northwind</a:t>
            </a:r>
            <a:r>
              <a:rPr lang="en-US" dirty="0"/>
              <a:t>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C2D67-FB55-44D0-670D-25A6AF9F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0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41B9-728A-7506-4D76-89DEDE0F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B198-1B2F-14D1-9E91-EBFCAA9B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PyPGAppl.py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9EF99-0011-B374-B810-31B3B30F9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def</a:t>
            </a:r>
            <a:r>
              <a:rPr lang="en-US" dirty="0"/>
              <a:t> </a:t>
            </a:r>
            <a:r>
              <a:rPr lang="en-US" dirty="0" err="1"/>
              <a:t>read_items</a:t>
            </a:r>
            <a:r>
              <a:rPr lang="en-US" dirty="0"/>
              <a:t>():</a:t>
            </a:r>
          </a:p>
          <a:p>
            <a:r>
              <a:rPr lang="en-US" dirty="0"/>
              <a:t>  </a:t>
            </a:r>
            <a:r>
              <a:rPr lang="en-US" i="1" dirty="0"/>
              <a:t>with</a:t>
            </a:r>
            <a:r>
              <a:rPr lang="en-US" dirty="0"/>
              <a:t> </a:t>
            </a:r>
            <a:r>
              <a:rPr lang="en-US" dirty="0" err="1"/>
              <a:t>psycopg.connect</a:t>
            </a:r>
            <a:r>
              <a:rPr lang="en-US" dirty="0"/>
              <a:t>(DATABASE_URL) </a:t>
            </a:r>
            <a:r>
              <a:rPr lang="en-US" i="1" dirty="0"/>
              <a:t>as</a:t>
            </a:r>
            <a:r>
              <a:rPr lang="en-US" dirty="0"/>
              <a:t> conn:</a:t>
            </a:r>
          </a:p>
          <a:p>
            <a:r>
              <a:rPr lang="en-US" dirty="0"/>
              <a:t>   </a:t>
            </a:r>
            <a:r>
              <a:rPr lang="en-US" i="1" dirty="0"/>
              <a:t>with</a:t>
            </a:r>
            <a:r>
              <a:rPr lang="en-US" dirty="0"/>
              <a:t> </a:t>
            </a:r>
            <a:r>
              <a:rPr lang="en-US" dirty="0" err="1"/>
              <a:t>conn.cursor</a:t>
            </a:r>
            <a:r>
              <a:rPr lang="en-US" dirty="0"/>
              <a:t>() </a:t>
            </a:r>
            <a:r>
              <a:rPr lang="en-US" i="1" dirty="0"/>
              <a:t>as</a:t>
            </a:r>
            <a:r>
              <a:rPr lang="en-US" dirty="0"/>
              <a:t> cur:</a:t>
            </a:r>
          </a:p>
          <a:p>
            <a:r>
              <a:rPr lang="en-US" dirty="0"/>
              <a:t>      </a:t>
            </a:r>
            <a:r>
              <a:rPr lang="en-US" dirty="0" err="1"/>
              <a:t>cur.execute</a:t>
            </a:r>
            <a:r>
              <a:rPr lang="en-US" dirty="0"/>
              <a:t>("SELECT * FROM employees")</a:t>
            </a:r>
          </a:p>
          <a:p>
            <a:r>
              <a:rPr lang="en-US" dirty="0"/>
              <a:t>      </a:t>
            </a:r>
            <a:r>
              <a:rPr lang="en-US" i="1" dirty="0"/>
              <a:t>return</a:t>
            </a:r>
            <a:r>
              <a:rPr lang="en-US" dirty="0"/>
              <a:t> </a:t>
            </a:r>
            <a:r>
              <a:rPr lang="en-US" dirty="0" err="1"/>
              <a:t>cur.fetchall</a:t>
            </a:r>
            <a:r>
              <a:rPr lang="en-US" dirty="0"/>
              <a:t>() </a:t>
            </a:r>
            <a:r>
              <a:rPr lang="en-US" i="1" dirty="0"/>
              <a:t># Fetch all results as a list of tuples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B65AF-BF69-8B08-A1EF-D7CB08A0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16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6B67-EA1E-FBB2-C3E7-2C6F8193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E430-A089-AFBF-D614-6BAE398B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PyPGAppl.py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647F-9CA2-E496-AF41-E57BDAD15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items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read_items</a:t>
            </a:r>
            <a:r>
              <a:rPr lang="en-US" dirty="0"/>
              <a:t>()</a:t>
            </a:r>
          </a:p>
          <a:p>
            <a:r>
              <a:rPr lang="en-US" i="1" dirty="0"/>
              <a:t>for</a:t>
            </a:r>
            <a:r>
              <a:rPr lang="en-US" dirty="0"/>
              <a:t> row </a:t>
            </a:r>
            <a:r>
              <a:rPr lang="en-US" i="1" dirty="0"/>
              <a:t>in</a:t>
            </a:r>
            <a:r>
              <a:rPr lang="en-US" dirty="0"/>
              <a:t> items:</a:t>
            </a:r>
          </a:p>
          <a:p>
            <a:r>
              <a:rPr lang="en-US" dirty="0"/>
              <a:t>    print(</a:t>
            </a:r>
            <a:r>
              <a:rPr lang="en-US" i="1" dirty="0"/>
              <a:t>f</a:t>
            </a:r>
            <a:r>
              <a:rPr lang="en-US" dirty="0"/>
              <a:t>"{row[2]} {row[1]}")</a:t>
            </a:r>
          </a:p>
          <a:p>
            <a:r>
              <a:rPr lang="en-US" dirty="0"/>
              <a:t>   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99EA7-50ED-14FB-9C4F-FD0B46FC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3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7F8D-5DB8-4111-ECB5-580B3A64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BCF0B-703E-A6AB-4628-50FA5F224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CA532-3DF7-5903-F776-781540A9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4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2066-54EC-58BB-B0F8-252441DB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PyPGAppl.py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49140-731C-4C97-D244-A8C900E8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import</a:t>
            </a:r>
            <a:r>
              <a:rPr lang="en-US" dirty="0"/>
              <a:t> </a:t>
            </a:r>
            <a:r>
              <a:rPr lang="en-US" dirty="0" err="1"/>
              <a:t>psycopg</a:t>
            </a:r>
            <a:endParaRPr lang="en-US" dirty="0"/>
          </a:p>
          <a:p>
            <a:r>
              <a:rPr lang="en-US" i="1" dirty="0"/>
              <a:t># Connection details (replace with your own)</a:t>
            </a:r>
            <a:endParaRPr lang="en-US" dirty="0"/>
          </a:p>
          <a:p>
            <a:r>
              <a:rPr lang="en-US" sz="2200" dirty="0"/>
              <a:t>DATABASE_URL </a:t>
            </a:r>
            <a:r>
              <a:rPr lang="en-US" sz="2200" i="1" dirty="0"/>
              <a:t>=</a:t>
            </a:r>
            <a:r>
              <a:rPr lang="en-US" sz="2200" dirty="0"/>
              <a:t> "</a:t>
            </a:r>
            <a:r>
              <a:rPr lang="en-US" sz="2200" dirty="0" err="1"/>
              <a:t>postgresql</a:t>
            </a:r>
            <a:r>
              <a:rPr lang="en-US" sz="2200" dirty="0"/>
              <a:t>://postgres:password@localhost:5432/</a:t>
            </a:r>
            <a:r>
              <a:rPr lang="en-US" sz="2200" dirty="0" err="1"/>
              <a:t>northwind</a:t>
            </a:r>
            <a:r>
              <a:rPr lang="en-US" sz="2200" dirty="0"/>
              <a:t>"</a:t>
            </a:r>
          </a:p>
          <a:p>
            <a:endParaRPr lang="en-US" sz="2200" i="1" dirty="0"/>
          </a:p>
          <a:p>
            <a:r>
              <a:rPr lang="en-US" sz="2900" i="1" dirty="0"/>
              <a:t>with</a:t>
            </a:r>
            <a:r>
              <a:rPr lang="en-US" sz="2900" dirty="0"/>
              <a:t> </a:t>
            </a:r>
            <a:r>
              <a:rPr lang="en-US" sz="2900" dirty="0" err="1"/>
              <a:t>psycopg.connect</a:t>
            </a:r>
            <a:r>
              <a:rPr lang="en-US" sz="2900" dirty="0"/>
              <a:t>(DATABASE_URL) </a:t>
            </a:r>
            <a:r>
              <a:rPr lang="en-US" sz="2900" i="1" dirty="0"/>
              <a:t>as</a:t>
            </a:r>
            <a:r>
              <a:rPr lang="en-US" sz="2900" dirty="0"/>
              <a:t> conn:</a:t>
            </a:r>
          </a:p>
          <a:p>
            <a:r>
              <a:rPr lang="en-US" sz="2900" dirty="0"/>
              <a:t>  </a:t>
            </a:r>
            <a:r>
              <a:rPr lang="en-US" sz="2900" i="1" dirty="0"/>
              <a:t>with</a:t>
            </a:r>
            <a:r>
              <a:rPr lang="en-US" sz="2900" dirty="0"/>
              <a:t> </a:t>
            </a:r>
            <a:r>
              <a:rPr lang="en-US" sz="2900" dirty="0" err="1"/>
              <a:t>conn.cursor</a:t>
            </a:r>
            <a:r>
              <a:rPr lang="en-US" sz="2900" dirty="0"/>
              <a:t>() </a:t>
            </a:r>
            <a:r>
              <a:rPr lang="en-US" sz="2900" i="1" dirty="0"/>
              <a:t>as</a:t>
            </a:r>
            <a:r>
              <a:rPr lang="en-US" sz="2900" dirty="0"/>
              <a:t> cur:</a:t>
            </a:r>
          </a:p>
          <a:p>
            <a:r>
              <a:rPr lang="en-US" sz="2900" dirty="0"/>
              <a:t>    </a:t>
            </a:r>
            <a:r>
              <a:rPr lang="en-US" sz="2900" dirty="0" err="1"/>
              <a:t>cur.execute</a:t>
            </a:r>
            <a:r>
              <a:rPr lang="en-US" sz="2900" dirty="0"/>
              <a:t>("SELECT * FROM employees")</a:t>
            </a:r>
          </a:p>
          <a:p>
            <a:r>
              <a:rPr lang="en-US" sz="2900" dirty="0"/>
              <a:t>    items </a:t>
            </a:r>
            <a:r>
              <a:rPr lang="en-US" sz="2900" i="1" dirty="0"/>
              <a:t>=</a:t>
            </a:r>
            <a:r>
              <a:rPr lang="en-US" sz="2900" dirty="0"/>
              <a:t> </a:t>
            </a:r>
            <a:r>
              <a:rPr lang="en-US" sz="2900" dirty="0" err="1"/>
              <a:t>cur.fetchall</a:t>
            </a:r>
            <a:r>
              <a:rPr lang="en-US" sz="2900" dirty="0"/>
              <a:t>() </a:t>
            </a:r>
            <a:r>
              <a:rPr lang="en-US" sz="2900" i="1" dirty="0"/>
              <a:t># Fetch all results as a list of tuples</a:t>
            </a:r>
            <a:endParaRPr lang="en-US" sz="2900" dirty="0"/>
          </a:p>
          <a:p>
            <a:r>
              <a:rPr lang="en-US" sz="2900" dirty="0"/>
              <a:t>    </a:t>
            </a:r>
            <a:r>
              <a:rPr lang="en-US" sz="2900" i="1" dirty="0"/>
              <a:t>for</a:t>
            </a:r>
            <a:r>
              <a:rPr lang="en-US" sz="2900" dirty="0"/>
              <a:t> row </a:t>
            </a:r>
            <a:r>
              <a:rPr lang="en-US" sz="2900" i="1" dirty="0"/>
              <a:t>in</a:t>
            </a:r>
            <a:r>
              <a:rPr lang="en-US" sz="2900" dirty="0"/>
              <a:t> items:</a:t>
            </a:r>
          </a:p>
          <a:p>
            <a:r>
              <a:rPr lang="en-US" sz="2900" dirty="0"/>
              <a:t>      print(</a:t>
            </a:r>
            <a:r>
              <a:rPr lang="en-US" sz="2900" i="1" dirty="0"/>
              <a:t>f</a:t>
            </a:r>
            <a:r>
              <a:rPr lang="en-US" sz="2900" dirty="0"/>
              <a:t>"{row[2]} {row[1]}")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CB54C-6BB3-8BBD-DCEA-675A1CAB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9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A248D-8436-D254-C60B-22BD3B4D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513E-1547-5A9C-914D-A172EC0E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5F9E5-432A-7FB4-A391-4333848D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EF0E4-4FE0-82B5-8880-949EEEDB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3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D923-2C20-40A3-214A-5838A7CF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46EC-0D61-70D0-AD67-73999FAA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PyPGAppl.py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8C0B8-7D93-934B-3CC2-A0EA32F92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import</a:t>
            </a:r>
            <a:r>
              <a:rPr lang="en-US" dirty="0"/>
              <a:t> </a:t>
            </a:r>
            <a:r>
              <a:rPr lang="en-US" dirty="0" err="1"/>
              <a:t>psycopg</a:t>
            </a:r>
            <a:endParaRPr lang="en-US" dirty="0"/>
          </a:p>
          <a:p>
            <a:r>
              <a:rPr lang="en-US" i="1" dirty="0"/>
              <a:t># Connection details (replace with your own)</a:t>
            </a:r>
            <a:endParaRPr lang="en-US" dirty="0"/>
          </a:p>
          <a:p>
            <a:r>
              <a:rPr lang="en-US" sz="2400" dirty="0"/>
              <a:t>DATABASE_URL </a:t>
            </a:r>
            <a:r>
              <a:rPr lang="en-US" sz="2400" i="1" dirty="0"/>
              <a:t>=</a:t>
            </a:r>
            <a:r>
              <a:rPr lang="en-US" sz="2400" dirty="0"/>
              <a:t> "</a:t>
            </a:r>
            <a:r>
              <a:rPr lang="en-US" sz="2400" dirty="0" err="1"/>
              <a:t>postgresql</a:t>
            </a:r>
            <a:r>
              <a:rPr lang="en-US" sz="2400" dirty="0"/>
              <a:t>://postgres:password@localhost:5432/</a:t>
            </a:r>
            <a:r>
              <a:rPr lang="en-US" sz="2400" dirty="0" err="1"/>
              <a:t>northwind</a:t>
            </a:r>
            <a:r>
              <a:rPr lang="en-US" sz="2400" dirty="0"/>
              <a:t>"</a:t>
            </a:r>
          </a:p>
          <a:p>
            <a:endParaRPr lang="en-US" sz="2200" dirty="0"/>
          </a:p>
          <a:p>
            <a:r>
              <a:rPr lang="en-US" sz="2900" dirty="0"/>
              <a:t>conn </a:t>
            </a:r>
            <a:r>
              <a:rPr lang="en-US" sz="2900" i="1" dirty="0"/>
              <a:t>=</a:t>
            </a:r>
            <a:r>
              <a:rPr lang="en-US" sz="2900" dirty="0"/>
              <a:t> </a:t>
            </a:r>
            <a:r>
              <a:rPr lang="en-US" sz="2900" dirty="0" err="1"/>
              <a:t>psycopg.connect</a:t>
            </a:r>
            <a:r>
              <a:rPr lang="en-US" sz="2900" dirty="0"/>
              <a:t>(DATABASE_URL) </a:t>
            </a:r>
          </a:p>
          <a:p>
            <a:r>
              <a:rPr lang="en-US" sz="2900" dirty="0"/>
              <a:t>cur </a:t>
            </a:r>
            <a:r>
              <a:rPr lang="en-US" sz="2900" i="1" dirty="0"/>
              <a:t>=</a:t>
            </a:r>
            <a:r>
              <a:rPr lang="en-US" sz="2900" dirty="0"/>
              <a:t> </a:t>
            </a:r>
            <a:r>
              <a:rPr lang="en-US" sz="2900" dirty="0" err="1"/>
              <a:t>conn.cursor</a:t>
            </a:r>
            <a:r>
              <a:rPr lang="en-US" sz="2900" dirty="0"/>
              <a:t>()</a:t>
            </a:r>
          </a:p>
          <a:p>
            <a:r>
              <a:rPr lang="en-US" sz="2900" dirty="0" err="1"/>
              <a:t>cur.execute</a:t>
            </a:r>
            <a:r>
              <a:rPr lang="en-US" sz="2900" dirty="0"/>
              <a:t>("SELECT * FROM employees")</a:t>
            </a:r>
          </a:p>
          <a:p>
            <a:r>
              <a:rPr lang="en-US" sz="2900" dirty="0"/>
              <a:t>items </a:t>
            </a:r>
            <a:r>
              <a:rPr lang="en-US" sz="2900" i="1" dirty="0"/>
              <a:t>=</a:t>
            </a:r>
            <a:r>
              <a:rPr lang="en-US" sz="2900" dirty="0"/>
              <a:t> </a:t>
            </a:r>
            <a:r>
              <a:rPr lang="en-US" sz="2900" dirty="0" err="1"/>
              <a:t>cur.fetchall</a:t>
            </a:r>
            <a:r>
              <a:rPr lang="en-US" sz="2900" dirty="0"/>
              <a:t>() </a:t>
            </a:r>
            <a:r>
              <a:rPr lang="en-US" sz="2900" i="1" dirty="0"/>
              <a:t># Fetch all results as a list of tuples</a:t>
            </a:r>
            <a:endParaRPr lang="en-US" sz="2900" dirty="0"/>
          </a:p>
          <a:p>
            <a:r>
              <a:rPr lang="en-US" sz="2900" i="1" dirty="0"/>
              <a:t>for</a:t>
            </a:r>
            <a:r>
              <a:rPr lang="en-US" sz="2900" dirty="0"/>
              <a:t> row </a:t>
            </a:r>
            <a:r>
              <a:rPr lang="en-US" sz="2900" i="1" dirty="0"/>
              <a:t>in</a:t>
            </a:r>
            <a:r>
              <a:rPr lang="en-US" sz="2900" dirty="0"/>
              <a:t> items:</a:t>
            </a:r>
          </a:p>
          <a:p>
            <a:r>
              <a:rPr lang="en-US" sz="2900" dirty="0"/>
              <a:t>    print(</a:t>
            </a:r>
            <a:r>
              <a:rPr lang="en-US" sz="2900" i="1" dirty="0"/>
              <a:t>f</a:t>
            </a:r>
            <a:r>
              <a:rPr lang="en-US" sz="2900" dirty="0"/>
              <a:t>"{row[2]} {row[1]}"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E64BF-13F4-29FF-3815-8D5919B5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95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CB90-8346-6E04-1823-CA7F9A70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A26D-8E95-773C-2CFC-154D2723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D995-6583-CD92-C381-0A76F3DB7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sure python and PIP is installed:</a:t>
            </a:r>
          </a:p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-V</a:t>
            </a:r>
          </a:p>
          <a:p>
            <a:r>
              <a:rPr lang="en-US" dirty="0"/>
              <a:t>Python 3.14.0</a:t>
            </a:r>
          </a:p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-V</a:t>
            </a:r>
          </a:p>
          <a:p>
            <a:r>
              <a:rPr lang="en-US" dirty="0"/>
              <a:t>pip 25.3 from C:\Python\Python314\Lib\site-packages\pip (python 3.14)</a:t>
            </a:r>
          </a:p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psycopg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0E221-835F-5CD2-C1A6-BC38515C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6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8195-FF08-13FA-77A1-3D1E28BD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BDA-6572-D95E-CAEE-8D9BD1F7D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connection using python </a:t>
            </a:r>
          </a:p>
          <a:p>
            <a:r>
              <a:rPr lang="en-US" dirty="0"/>
              <a:t>connection class of </a:t>
            </a:r>
            <a:r>
              <a:rPr lang="en-US" dirty="0" err="1"/>
              <a:t>psycopg</a:t>
            </a:r>
            <a:r>
              <a:rPr lang="en-US" dirty="0"/>
              <a:t> represents / handles an instance of a connection</a:t>
            </a:r>
          </a:p>
          <a:p>
            <a:r>
              <a:rPr lang="en-US" dirty="0"/>
              <a:t>can create new connections using connect() function; accepts basic connection parameters such as </a:t>
            </a:r>
            <a:r>
              <a:rPr lang="en-US" dirty="0" err="1"/>
              <a:t>dbname</a:t>
            </a:r>
            <a:r>
              <a:rPr lang="en-US" dirty="0"/>
              <a:t>, user, password, host, port and returns a connection object</a:t>
            </a:r>
          </a:p>
          <a:p>
            <a:r>
              <a:rPr lang="en-US" dirty="0"/>
              <a:t>if database does not exist, then it will be created and finally database object will be returned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18007-2181-118E-00EA-7F66BFD9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94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F0EC-DD7E-7551-274D-E7FFEDFD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C3A86F-7402-E7B6-ED68-EFBF47A67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91440"/>
            <a:ext cx="10715867" cy="62468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85193-6695-3728-3E34-D4269AB3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87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674E-C5B7-370D-AAD2-B2F7D3C7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E5B3-2AEE-037B-5763-87EE27B2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63D33-68B0-54CE-69B2-F6C879E11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import</a:t>
            </a:r>
            <a:r>
              <a:rPr lang="en-US" dirty="0"/>
              <a:t> </a:t>
            </a:r>
            <a:r>
              <a:rPr lang="en-US" dirty="0" err="1"/>
              <a:t>psycopg</a:t>
            </a:r>
            <a:r>
              <a:rPr lang="en-US" dirty="0"/>
              <a:t> </a:t>
            </a:r>
          </a:p>
          <a:p>
            <a:endParaRPr lang="en-US" sz="1600" i="1" dirty="0"/>
          </a:p>
          <a:p>
            <a:r>
              <a:rPr lang="en-US" i="1" dirty="0"/>
              <a:t>#establishing the connection </a:t>
            </a:r>
            <a:endParaRPr lang="en-US" dirty="0"/>
          </a:p>
          <a:p>
            <a:r>
              <a:rPr lang="en-US" dirty="0"/>
              <a:t>conn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psycopg.connect</a:t>
            </a:r>
            <a:r>
              <a:rPr lang="en-US" dirty="0"/>
              <a:t>(</a:t>
            </a:r>
            <a:r>
              <a:rPr lang="en-US" i="1" dirty="0" err="1"/>
              <a:t>dbname</a:t>
            </a:r>
            <a:r>
              <a:rPr lang="en-US" i="1" dirty="0"/>
              <a:t>=</a:t>
            </a:r>
            <a:r>
              <a:rPr lang="en-US" dirty="0"/>
              <a:t>'</a:t>
            </a:r>
            <a:r>
              <a:rPr lang="en-US" dirty="0" err="1"/>
              <a:t>postgres</a:t>
            </a:r>
            <a:r>
              <a:rPr lang="en-US" dirty="0"/>
              <a:t>', </a:t>
            </a:r>
            <a:r>
              <a:rPr lang="en-US" i="1" dirty="0"/>
              <a:t>user=</a:t>
            </a:r>
            <a:r>
              <a:rPr lang="en-US" dirty="0"/>
              <a:t>'</a:t>
            </a:r>
            <a:r>
              <a:rPr lang="en-US" dirty="0" err="1"/>
              <a:t>postgres</a:t>
            </a:r>
            <a:r>
              <a:rPr lang="en-US" dirty="0"/>
              <a:t>', </a:t>
            </a:r>
          </a:p>
          <a:p>
            <a:r>
              <a:rPr lang="en-US" i="1" dirty="0"/>
              <a:t>password=</a:t>
            </a:r>
            <a:r>
              <a:rPr lang="en-US" dirty="0"/>
              <a:t>'password', </a:t>
            </a:r>
            <a:r>
              <a:rPr lang="en-US" i="1" dirty="0"/>
              <a:t>host=</a:t>
            </a:r>
            <a:r>
              <a:rPr lang="en-US" dirty="0"/>
              <a:t>'127.0.0.1', </a:t>
            </a:r>
            <a:r>
              <a:rPr lang="en-US" i="1" dirty="0"/>
              <a:t>port=</a:t>
            </a:r>
            <a:r>
              <a:rPr lang="en-US" dirty="0"/>
              <a:t> '5432')</a:t>
            </a:r>
          </a:p>
          <a:p>
            <a:endParaRPr lang="en-US" sz="1600" dirty="0"/>
          </a:p>
          <a:p>
            <a:r>
              <a:rPr lang="en-US" i="1" dirty="0"/>
              <a:t>#Creating a cursor object using the cursor() method </a:t>
            </a:r>
            <a:endParaRPr lang="en-US" dirty="0"/>
          </a:p>
          <a:p>
            <a:r>
              <a:rPr lang="en-US" dirty="0"/>
              <a:t>cursor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conn.cursor</a:t>
            </a:r>
            <a:r>
              <a:rPr lang="en-US" dirty="0"/>
              <a:t>() </a:t>
            </a:r>
          </a:p>
          <a:p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855A3-EFC9-A42F-06A8-7B8422F8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2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D12-840F-13EC-32B8-152ADD70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5BA7-2478-5F88-BFD4-F496904F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A4EBC-11A4-A1C0-9B11-2CF75417F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#Executing an function using the execute() method </a:t>
            </a:r>
            <a:endParaRPr lang="en-US" dirty="0"/>
          </a:p>
          <a:p>
            <a:r>
              <a:rPr lang="en-US" dirty="0" err="1"/>
              <a:t>cursor.execute</a:t>
            </a:r>
            <a:r>
              <a:rPr lang="en-US" dirty="0"/>
              <a:t>("select version()") </a:t>
            </a:r>
          </a:p>
          <a:p>
            <a:endParaRPr lang="en-US" sz="1600" i="1" dirty="0"/>
          </a:p>
          <a:p>
            <a:r>
              <a:rPr lang="en-US" i="1" dirty="0"/>
              <a:t># Fetch a single row using </a:t>
            </a:r>
            <a:r>
              <a:rPr lang="en-US" i="1" dirty="0" err="1"/>
              <a:t>fetchone</a:t>
            </a:r>
            <a:r>
              <a:rPr lang="en-US" i="1" dirty="0"/>
              <a:t>() method. </a:t>
            </a:r>
            <a:endParaRPr lang="en-US" dirty="0"/>
          </a:p>
          <a:p>
            <a:r>
              <a:rPr lang="en-US" dirty="0"/>
              <a:t>data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cursor.fetchone</a:t>
            </a:r>
            <a:r>
              <a:rPr lang="en-US" dirty="0"/>
              <a:t>() </a:t>
            </a:r>
          </a:p>
          <a:p>
            <a:r>
              <a:rPr lang="en-US" dirty="0"/>
              <a:t>print("Connection established to: ",data) </a:t>
            </a:r>
          </a:p>
          <a:p>
            <a:endParaRPr lang="en-US" sz="1600" i="1" dirty="0"/>
          </a:p>
          <a:p>
            <a:r>
              <a:rPr lang="en-US" i="1" dirty="0"/>
              <a:t>#Closing the connection </a:t>
            </a:r>
            <a:endParaRPr lang="en-US" dirty="0"/>
          </a:p>
          <a:p>
            <a:r>
              <a:rPr lang="en-US" dirty="0" err="1"/>
              <a:t>conn.close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30832-3BCC-615E-D8B2-BEF91307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20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1EFD-5F87-F23C-627D-51BAD077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09EB4-BD9F-BC60-0B05-14F50620B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Connect.py</a:t>
            </a:r>
          </a:p>
          <a:p>
            <a:r>
              <a:rPr lang="en-US" dirty="0"/>
              <a:t>Connection established to:  ('PostgreSQL 18.0 on x86_64-windows, compiled by msvc-19.44.35217, 64-bit',)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7322-D790-6EB0-2BA1-564EBB42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53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1407-2A24-D2A7-8F7B-9308074C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CreateDB.py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64B2C-1ABD-0AB3-0EF9-3C9AE61F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database using python </a:t>
            </a:r>
          </a:p>
          <a:p>
            <a:r>
              <a:rPr lang="en-US" dirty="0"/>
              <a:t>cursor class of </a:t>
            </a:r>
            <a:r>
              <a:rPr lang="en-US" dirty="0" err="1"/>
              <a:t>psycopg</a:t>
            </a:r>
            <a:r>
              <a:rPr lang="en-US" dirty="0"/>
              <a:t> provides various methods execute; the execute() method accepts a PostgreSQL query as a parameter and  executes 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CreateDB.py</a:t>
            </a:r>
          </a:p>
          <a:p>
            <a:r>
              <a:rPr lang="en-US" dirty="0"/>
              <a:t>Database created successfully........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FA7DC-BC91-B9CF-1BDD-A4CA2580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67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AFE6-D36D-C2BA-9371-2A6AC455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CreateDB.py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6A5A0-7EAD-683D-57E8-A62AC44E4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i="1" dirty="0"/>
              <a:t>import</a:t>
            </a:r>
            <a:r>
              <a:rPr lang="en-US" dirty="0"/>
              <a:t> </a:t>
            </a:r>
            <a:r>
              <a:rPr lang="en-US" dirty="0" err="1"/>
              <a:t>psycopg</a:t>
            </a:r>
            <a:endParaRPr lang="en-US" dirty="0"/>
          </a:p>
          <a:p>
            <a:r>
              <a:rPr lang="en-US" sz="2000" dirty="0"/>
              <a:t> </a:t>
            </a:r>
          </a:p>
          <a:p>
            <a:r>
              <a:rPr lang="en-US" i="1" dirty="0"/>
              <a:t>#establishing the connection </a:t>
            </a:r>
            <a:endParaRPr lang="en-US" dirty="0"/>
          </a:p>
          <a:p>
            <a:r>
              <a:rPr lang="en-US" dirty="0"/>
              <a:t>conn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psycopg.connect</a:t>
            </a:r>
            <a:r>
              <a:rPr lang="en-US" dirty="0"/>
              <a:t>(</a:t>
            </a:r>
            <a:r>
              <a:rPr lang="en-US" i="1" dirty="0" err="1"/>
              <a:t>dbname</a:t>
            </a:r>
            <a:r>
              <a:rPr lang="en-US" i="1" dirty="0"/>
              <a:t>=</a:t>
            </a:r>
            <a:r>
              <a:rPr lang="en-US" dirty="0"/>
              <a:t>'</a:t>
            </a:r>
            <a:r>
              <a:rPr lang="en-US" dirty="0" err="1"/>
              <a:t>postgres</a:t>
            </a:r>
            <a:r>
              <a:rPr lang="en-US" dirty="0"/>
              <a:t>', </a:t>
            </a:r>
            <a:r>
              <a:rPr lang="en-US" i="1" dirty="0"/>
              <a:t>user=</a:t>
            </a:r>
            <a:r>
              <a:rPr lang="en-US" dirty="0"/>
              <a:t>'</a:t>
            </a:r>
            <a:r>
              <a:rPr lang="en-US" dirty="0" err="1"/>
              <a:t>postgres</a:t>
            </a:r>
            <a:r>
              <a:rPr lang="en-US" dirty="0"/>
              <a:t>', </a:t>
            </a:r>
          </a:p>
          <a:p>
            <a:r>
              <a:rPr lang="en-US" i="1" dirty="0"/>
              <a:t>password=</a:t>
            </a:r>
            <a:r>
              <a:rPr lang="en-US" dirty="0"/>
              <a:t>'password', </a:t>
            </a:r>
            <a:r>
              <a:rPr lang="en-US" i="1" dirty="0"/>
              <a:t>host=</a:t>
            </a:r>
            <a:r>
              <a:rPr lang="en-US" dirty="0"/>
              <a:t>'localhost', </a:t>
            </a:r>
            <a:r>
              <a:rPr lang="en-US" i="1" dirty="0"/>
              <a:t>port=</a:t>
            </a:r>
            <a:r>
              <a:rPr lang="en-US" dirty="0"/>
              <a:t> '5432') </a:t>
            </a:r>
          </a:p>
          <a:p>
            <a:r>
              <a:rPr lang="en-US" dirty="0" err="1"/>
              <a:t>conn.autocommit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True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90D42-77A6-0E2D-2A97-B3704B1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49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4206-58D8-A709-8E75-906B3FB2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3668-233E-350D-02E3-72EFF90D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CreateDB.py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EC0AB-245F-F5D1-1978-830DF990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i="1" dirty="0"/>
              <a:t>#Preparing query to create a database </a:t>
            </a:r>
            <a:endParaRPr lang="en-US" dirty="0"/>
          </a:p>
          <a:p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'''CREATE database </a:t>
            </a:r>
            <a:r>
              <a:rPr lang="en-US" dirty="0" err="1"/>
              <a:t>mydb</a:t>
            </a:r>
            <a:r>
              <a:rPr lang="en-US" dirty="0"/>
              <a:t>'''; </a:t>
            </a:r>
          </a:p>
          <a:p>
            <a:r>
              <a:rPr lang="en-US" sz="2000" dirty="0"/>
              <a:t> </a:t>
            </a:r>
          </a:p>
          <a:p>
            <a:r>
              <a:rPr lang="en-US" i="1" dirty="0"/>
              <a:t>#Creating a database </a:t>
            </a:r>
            <a:endParaRPr lang="en-US" dirty="0"/>
          </a:p>
          <a:p>
            <a:r>
              <a:rPr lang="en-US" dirty="0" err="1"/>
              <a:t>cursor.execute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 </a:t>
            </a:r>
          </a:p>
          <a:p>
            <a:r>
              <a:rPr lang="en-US" dirty="0"/>
              <a:t>print("Database created successfully........") </a:t>
            </a:r>
          </a:p>
          <a:p>
            <a:r>
              <a:rPr lang="en-US" sz="2000" dirty="0"/>
              <a:t> </a:t>
            </a:r>
          </a:p>
          <a:p>
            <a:r>
              <a:rPr lang="en-US" i="1" dirty="0"/>
              <a:t>#Closing the connection </a:t>
            </a:r>
            <a:endParaRPr lang="en-US" dirty="0"/>
          </a:p>
          <a:p>
            <a:r>
              <a:rPr lang="en-US" dirty="0" err="1"/>
              <a:t>conn.close</a:t>
            </a:r>
            <a:r>
              <a:rPr lang="en-US" dirty="0"/>
              <a:t>()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0DAFE-1802-A37C-A589-E5593F0B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37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452D-C26A-86CA-4A28-EC605E4A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</a:t>
            </a:r>
            <a:r>
              <a:rPr lang="en-US" dirty="0"/>
              <a:t> * </a:t>
            </a: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pg_database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B5B523-48B8-14F7-28E1-940D2AEBF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371600"/>
            <a:ext cx="9288366" cy="52555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58813-E62C-2482-103C-C81FDB4A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4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CBD4-6E17-B8D4-51FA-BF2C453F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01A13-E66A-DDD5-0910-813EDB6C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using python - execute the CREATE TABLE statement using the execute() method of the Cursor of </a:t>
            </a:r>
            <a:r>
              <a:rPr lang="en-US" dirty="0" err="1"/>
              <a:t>pyscopg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CreateTab.py</a:t>
            </a:r>
          </a:p>
          <a:p>
            <a:r>
              <a:rPr lang="en-US" dirty="0"/>
              <a:t>Table created successfully........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42D08-5010-C442-F918-8BFF3629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27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6245-BB3F-D19E-8CE8-2697286B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A30C3-5FE1-8E03-5AF4-3EF9B1D37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</a:t>
            </a:r>
            <a:r>
              <a:rPr lang="en-US" sz="2700" dirty="0" err="1"/>
              <a:t>psycopg</a:t>
            </a:r>
            <a:endParaRPr lang="en-US" sz="2700" dirty="0"/>
          </a:p>
          <a:p>
            <a:r>
              <a:rPr lang="en-US" sz="1600" dirty="0"/>
              <a:t> </a:t>
            </a:r>
          </a:p>
          <a:p>
            <a:r>
              <a:rPr lang="en-US" sz="2700" i="1" dirty="0"/>
              <a:t>#Establishing the connection </a:t>
            </a:r>
            <a:endParaRPr lang="en-US" sz="2700" dirty="0"/>
          </a:p>
          <a:p>
            <a:r>
              <a:rPr lang="en-US" sz="2700" dirty="0"/>
              <a:t>conn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psycopg.connect</a:t>
            </a:r>
            <a:r>
              <a:rPr lang="en-US" sz="2700" dirty="0"/>
              <a:t>(</a:t>
            </a:r>
            <a:r>
              <a:rPr lang="en-US" sz="2700" i="1" dirty="0" err="1"/>
              <a:t>dbname</a:t>
            </a:r>
            <a:r>
              <a:rPr lang="en-US" sz="2700" i="1" dirty="0"/>
              <a:t>=</a:t>
            </a:r>
            <a:r>
              <a:rPr lang="en-US" sz="2400" dirty="0"/>
              <a:t>'</a:t>
            </a:r>
            <a:r>
              <a:rPr lang="en-US" sz="2700" dirty="0" err="1"/>
              <a:t>mydb</a:t>
            </a:r>
            <a:r>
              <a:rPr lang="en-US" sz="2400" dirty="0"/>
              <a:t>'</a:t>
            </a:r>
            <a:r>
              <a:rPr lang="en-US" sz="2700" dirty="0"/>
              <a:t>, </a:t>
            </a:r>
            <a:r>
              <a:rPr lang="en-US" sz="2700" i="1" dirty="0"/>
              <a:t>user=</a:t>
            </a:r>
            <a:r>
              <a:rPr lang="en-US" sz="2700" dirty="0"/>
              <a:t>'</a:t>
            </a:r>
            <a:r>
              <a:rPr lang="en-US" sz="2700" dirty="0" err="1"/>
              <a:t>postgres</a:t>
            </a:r>
            <a:r>
              <a:rPr lang="en-US" sz="2700" dirty="0"/>
              <a:t>', </a:t>
            </a:r>
          </a:p>
          <a:p>
            <a:r>
              <a:rPr lang="en-US" sz="2700" i="1" dirty="0"/>
              <a:t>password=</a:t>
            </a:r>
            <a:r>
              <a:rPr lang="en-US" sz="2700" dirty="0"/>
              <a:t>'password', </a:t>
            </a:r>
            <a:r>
              <a:rPr lang="en-US" sz="2700" i="1" dirty="0"/>
              <a:t>host=</a:t>
            </a:r>
            <a:r>
              <a:rPr lang="en-US" sz="2700" dirty="0"/>
              <a:t>'localhost', </a:t>
            </a:r>
            <a:r>
              <a:rPr lang="en-US" sz="2700" i="1" dirty="0"/>
              <a:t>port=</a:t>
            </a:r>
            <a:r>
              <a:rPr lang="en-US" sz="2700" dirty="0"/>
              <a:t> '5432’) </a:t>
            </a:r>
          </a:p>
          <a:p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</a:t>
            </a:r>
          </a:p>
          <a:p>
            <a:r>
              <a:rPr lang="en-US" sz="1600" dirty="0"/>
              <a:t> </a:t>
            </a:r>
          </a:p>
          <a:p>
            <a:r>
              <a:rPr lang="en-US" sz="2700" i="1" dirty="0"/>
              <a:t>#Creating a cursor object using the cursor() method </a:t>
            </a:r>
            <a:endParaRPr lang="en-US" sz="2700" dirty="0"/>
          </a:p>
          <a:p>
            <a:r>
              <a:rPr lang="en-US" sz="2700" dirty="0"/>
              <a:t>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1600" dirty="0"/>
              <a:t> </a:t>
            </a:r>
          </a:p>
          <a:p>
            <a:r>
              <a:rPr lang="en-US" sz="2600" i="1" dirty="0"/>
              <a:t>#Droping EMPLOYEE table if already exists. </a:t>
            </a:r>
            <a:endParaRPr lang="en-US" sz="2600" dirty="0"/>
          </a:p>
          <a:p>
            <a:r>
              <a:rPr lang="en-US" sz="2600" dirty="0" err="1"/>
              <a:t>cursor.execute</a:t>
            </a:r>
            <a:r>
              <a:rPr lang="en-US" sz="2600" dirty="0"/>
              <a:t>("DROP TABLE IF EXISTS EMPLOYEE")</a:t>
            </a:r>
            <a:r>
              <a:rPr lang="en-US" sz="27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5C62F-CEBC-51C5-86E2-FF26FBCD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62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FC81-0F8B-C3E7-CE9E-7F2465FDC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EAD1-E5F4-A4EC-323B-62960FFF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1DAE-6532-BC2A-EA1A-D69B38D1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#Creating table as per requirement </a:t>
            </a:r>
            <a:endParaRPr lang="en-US" sz="2700" dirty="0"/>
          </a:p>
          <a:p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'''CREATE TABLE EMPLOYEE( </a:t>
            </a:r>
          </a:p>
          <a:p>
            <a:r>
              <a:rPr lang="en-US" sz="2700" dirty="0"/>
              <a:t>        ID INTEGER PRIMARY KEY GENERATED ALWAYS AS IDENTITY,</a:t>
            </a:r>
          </a:p>
          <a:p>
            <a:r>
              <a:rPr lang="en-US" sz="2700" dirty="0"/>
              <a:t>        FIRST_NAME  VARCHAR(50) NOT NULL, </a:t>
            </a:r>
          </a:p>
          <a:p>
            <a:r>
              <a:rPr lang="en-US" sz="2700" dirty="0"/>
              <a:t>        LAST_NAME  VARCHAR(50) NOT NULL, </a:t>
            </a:r>
          </a:p>
          <a:p>
            <a:r>
              <a:rPr lang="en-US" sz="2700" dirty="0"/>
              <a:t>        AGE INT, </a:t>
            </a:r>
          </a:p>
          <a:p>
            <a:r>
              <a:rPr lang="en-US" sz="2700" dirty="0"/>
              <a:t>        GENDER CHAR(1), </a:t>
            </a:r>
          </a:p>
          <a:p>
            <a:r>
              <a:rPr lang="en-US" sz="2700" dirty="0"/>
              <a:t>        INCOME FLOAT,</a:t>
            </a:r>
          </a:p>
          <a:p>
            <a:r>
              <a:rPr lang="en-US" sz="2700" dirty="0"/>
              <a:t>        UNIQUE ( FIRST_NAME, LAST_NAME ))'''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84EE6-E92F-0114-4DDE-F4A8FB8C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79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8221F-5CD9-C5E2-7369-6F535A43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1E78-004B-766E-93D4-7327AB7C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B1E5-2EA6-D1C2-8431-DCFAAB858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i="1" dirty="0"/>
              <a:t>#Closing the connection 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C723B-714E-2E2C-A72F-666F987A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69BB80-67A0-9738-6080-EEEFA1917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11245123" cy="35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70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98F9-2DA0-6F48-4506-181CB126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1D0B-9BC7-827E-29DE-AAC63B75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25</a:t>
            </a:fld>
            <a:endParaRPr lang="en-US"/>
          </a:p>
        </p:txBody>
      </p:sp>
      <p:pic>
        <p:nvPicPr>
          <p:cNvPr id="1026" name="Picture 2" descr="Playboy: Daniela Crudu, cea mai tare din parcare!">
            <a:extLst>
              <a:ext uri="{FF2B5EF4-FFF2-40B4-BE49-F238E27FC236}">
                <a16:creationId xmlns:a16="http://schemas.microsoft.com/office/drawing/2014/main" id="{BF0FA140-979A-2DFF-4B84-2E5188DE44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365760"/>
            <a:ext cx="845820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639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B836-2957-28C8-5A74-0ED0DAB6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A31D7-85B5-814A-A3DD-785F9485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 class of </a:t>
            </a:r>
            <a:r>
              <a:rPr lang="en-US" dirty="0" err="1"/>
              <a:t>psycopg</a:t>
            </a:r>
            <a:r>
              <a:rPr lang="en-US" dirty="0"/>
              <a:t> provides a method with name execute()</a:t>
            </a:r>
          </a:p>
          <a:p>
            <a:r>
              <a:rPr lang="en-US" dirty="0"/>
              <a:t>method accepts query as parameter and executes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import </a:t>
            </a:r>
            <a:r>
              <a:rPr lang="en-US" dirty="0" err="1"/>
              <a:t>psycopg</a:t>
            </a:r>
            <a:r>
              <a:rPr lang="en-US" dirty="0"/>
              <a:t>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connection object using connect()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turn off auto-commit mode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cursor() method of Connection class of psycopg2 library returns cursor object; create cursor object using this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execute INSERT statement(s) by passing it as parameter to execute()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2BC9E-7586-9B7A-175F-C59AED78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30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7263-E44A-78E7-8C82-3E4C83F1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D5DA-9A39-D308-01BB-DB679510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A324-A34F-1346-6471-BB0562A1F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 class of </a:t>
            </a:r>
            <a:r>
              <a:rPr lang="en-US" dirty="0" err="1"/>
              <a:t>psycopg</a:t>
            </a:r>
            <a:r>
              <a:rPr lang="en-US" dirty="0"/>
              <a:t> provides a method with name execute()</a:t>
            </a:r>
          </a:p>
          <a:p>
            <a:r>
              <a:rPr lang="en-US" dirty="0"/>
              <a:t>method accepts query as parameter and executes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import </a:t>
            </a:r>
            <a:r>
              <a:rPr lang="en-US" dirty="0" err="1"/>
              <a:t>psycopg</a:t>
            </a:r>
            <a:r>
              <a:rPr lang="en-US" dirty="0"/>
              <a:t>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connection object using connect()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turn off auto-commit mode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cursor() method of Connection class of psycopg2 library returns cursor object; create cursor object using this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execute INSERT statement(s) by passing it as parameter to execute()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F2B0F-D75B-DFF7-F6AA-DC7B1F9A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05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DD718-1D62-6AA3-04A6-36948ED9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AB136-47DB-9057-F552-D2E00DCF1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</a:t>
            </a:r>
            <a:r>
              <a:rPr lang="en-US" sz="2700" dirty="0" err="1"/>
              <a:t>psycopg</a:t>
            </a:r>
            <a:endParaRPr lang="en-US" sz="2700" dirty="0"/>
          </a:p>
          <a:p>
            <a:r>
              <a:rPr lang="en-US" sz="2000" dirty="0"/>
              <a:t> </a:t>
            </a:r>
          </a:p>
          <a:p>
            <a:r>
              <a:rPr lang="en-US" sz="2700" i="1" dirty="0"/>
              <a:t>#Establishing the connection </a:t>
            </a:r>
            <a:endParaRPr lang="en-US" sz="2700" dirty="0"/>
          </a:p>
          <a:p>
            <a:r>
              <a:rPr lang="en-US" sz="2700" dirty="0"/>
              <a:t>conn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psycopg.connect</a:t>
            </a:r>
            <a:r>
              <a:rPr lang="en-US" sz="2700" dirty="0"/>
              <a:t>(</a:t>
            </a:r>
            <a:r>
              <a:rPr lang="en-US" sz="2700" i="1" dirty="0" err="1"/>
              <a:t>dbname</a:t>
            </a:r>
            <a:r>
              <a:rPr lang="en-US" sz="2700" i="1" dirty="0"/>
              <a:t>=</a:t>
            </a:r>
            <a:r>
              <a:rPr lang="en-US" sz="2700" dirty="0"/>
              <a:t>'</a:t>
            </a:r>
            <a:r>
              <a:rPr lang="en-US" sz="2700" dirty="0" err="1"/>
              <a:t>mydb</a:t>
            </a:r>
            <a:r>
              <a:rPr lang="en-US" sz="2700" dirty="0"/>
              <a:t>', </a:t>
            </a:r>
            <a:r>
              <a:rPr lang="en-US" sz="2700" i="1" dirty="0"/>
              <a:t>user=</a:t>
            </a:r>
            <a:r>
              <a:rPr lang="en-US" sz="2700" dirty="0"/>
              <a:t>'</a:t>
            </a:r>
            <a:r>
              <a:rPr lang="en-US" sz="2700" dirty="0" err="1"/>
              <a:t>postgres</a:t>
            </a:r>
            <a:r>
              <a:rPr lang="en-US" sz="2700" dirty="0"/>
              <a:t>', </a:t>
            </a:r>
          </a:p>
          <a:p>
            <a:r>
              <a:rPr lang="en-US" sz="2700" i="1" dirty="0"/>
              <a:t>password=</a:t>
            </a:r>
            <a:r>
              <a:rPr lang="en-US" sz="2700" dirty="0"/>
              <a:t>'</a:t>
            </a:r>
            <a:r>
              <a:rPr lang="en-US" sz="2700" dirty="0" err="1"/>
              <a:t>pasword</a:t>
            </a:r>
            <a:r>
              <a:rPr lang="en-US" sz="2700" dirty="0"/>
              <a:t>', </a:t>
            </a:r>
            <a:r>
              <a:rPr lang="en-US" sz="2700" i="1" dirty="0"/>
              <a:t>host=</a:t>
            </a:r>
            <a:r>
              <a:rPr lang="en-US" sz="2700" dirty="0"/>
              <a:t>'localhost', </a:t>
            </a:r>
            <a:r>
              <a:rPr lang="en-US" sz="2700" i="1" dirty="0"/>
              <a:t>port=</a:t>
            </a:r>
            <a:r>
              <a:rPr lang="en-US" sz="2700" dirty="0"/>
              <a:t> '5432') </a:t>
            </a:r>
          </a:p>
          <a:p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endParaRPr lang="en-US" sz="2000" dirty="0"/>
          </a:p>
          <a:p>
            <a:r>
              <a:rPr lang="en-US" sz="2700" i="1" dirty="0"/>
              <a:t>#Creating a cursor object using the cursor() method </a:t>
            </a:r>
            <a:endParaRPr lang="en-US" sz="2700" dirty="0"/>
          </a:p>
          <a:p>
            <a:r>
              <a:rPr lang="en-US" sz="2700" dirty="0"/>
              <a:t>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15781-7ABA-1D45-8009-AAB67B1D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78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3A851-B2E2-4ECC-1207-806735EF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1B26-5B2C-BA5F-F84A-FA57F65B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7B9D4-EB06-B8E6-0681-FCDBC2EE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4"/>
            <a:ext cx="11275142" cy="4859440"/>
          </a:xfrm>
        </p:spPr>
        <p:txBody>
          <a:bodyPr>
            <a:noAutofit/>
          </a:bodyPr>
          <a:lstStyle/>
          <a:p>
            <a:r>
              <a:rPr lang="en-US" sz="2000" i="1" dirty="0"/>
              <a:t># Preparing SQL queries to INSERT a record into the database. </a:t>
            </a:r>
            <a:endParaRPr lang="en-US" sz="2000" dirty="0"/>
          </a:p>
          <a:p>
            <a:r>
              <a:rPr lang="en-US" sz="2000" dirty="0" err="1"/>
              <a:t>cursor.execute</a:t>
            </a:r>
            <a:r>
              <a:rPr lang="en-US" sz="2000" dirty="0"/>
              <a:t>('''INSERT INTO EMPLOYEE(FIRST_NAME, LAST_NAME, AGE, GENDER, INCOME) </a:t>
            </a:r>
          </a:p>
          <a:p>
            <a:r>
              <a:rPr lang="en-US" sz="2000" dirty="0"/>
              <a:t>               VALUES ('Daniela', 'CRUDU', 27, 'F', 9000)''') </a:t>
            </a:r>
          </a:p>
          <a:p>
            <a:r>
              <a:rPr lang="en-US" sz="2000" dirty="0" err="1"/>
              <a:t>cursor.execute</a:t>
            </a:r>
            <a:r>
              <a:rPr lang="en-US" sz="2000" dirty="0"/>
              <a:t>('''INSERT INTO EMPLOYEE(FIRST_NAME, LAST_NAME, AGE, GENDER, INCOME) </a:t>
            </a:r>
          </a:p>
          <a:p>
            <a:r>
              <a:rPr lang="en-US" sz="2000" dirty="0"/>
              <a:t>               VALUES ('Nina', 'ILIESCU', 99, 'F', 5000)''') </a:t>
            </a:r>
          </a:p>
          <a:p>
            <a:r>
              <a:rPr lang="en-US" sz="2000" dirty="0" err="1"/>
              <a:t>cursor.execute</a:t>
            </a:r>
            <a:r>
              <a:rPr lang="en-US" sz="2000" dirty="0"/>
              <a:t>('''INSERT INTO EMPLOYEE(FIRST_NAME, LAST_NAME, AGE, GENDER, INCOME) </a:t>
            </a:r>
          </a:p>
          <a:p>
            <a:r>
              <a:rPr lang="en-US" sz="2000" dirty="0"/>
              <a:t>               VALUES ('Emil', 'CONSTANTINESCU', 88, 'M', 6000)''') </a:t>
            </a:r>
          </a:p>
          <a:p>
            <a:r>
              <a:rPr lang="en-US" sz="2000" dirty="0" err="1"/>
              <a:t>cursor.execute</a:t>
            </a:r>
            <a:r>
              <a:rPr lang="en-US" sz="2000" dirty="0"/>
              <a:t>('''INSERT INTO EMPLOYEE(FIRST_NAME, LAST_NAME, AGE, GENDER, INCOME) </a:t>
            </a:r>
          </a:p>
          <a:p>
            <a:r>
              <a:rPr lang="en-US" sz="2000" dirty="0"/>
              <a:t>               VALUES ('Traian', 'BASESCU', 77, 'M', 7000)''') </a:t>
            </a:r>
          </a:p>
          <a:p>
            <a:r>
              <a:rPr lang="en-US" sz="2000" dirty="0" err="1"/>
              <a:t>cursor.execute</a:t>
            </a:r>
            <a:r>
              <a:rPr lang="en-US" sz="2000" dirty="0"/>
              <a:t>('''INSERT INTO EMPLOYEE(FIRST_NAME, LAST_NAME, AGE, GENDER, INCOME) </a:t>
            </a:r>
          </a:p>
          <a:p>
            <a:r>
              <a:rPr lang="en-US" sz="2000" dirty="0"/>
              <a:t>               VALUES ('Klaus Werner', 'JOHANNIS', 66, 'M', 8000)''') </a:t>
            </a:r>
          </a:p>
          <a:p>
            <a:r>
              <a:rPr lang="en-US" sz="2000" dirty="0" err="1"/>
              <a:t>cursor.execute</a:t>
            </a:r>
            <a:r>
              <a:rPr lang="en-US" sz="2000" dirty="0"/>
              <a:t>('''INSERT INTO EMPLOYEE(FIRST_NAME, LAST_NAME, AGE, GENDER, INCOME) </a:t>
            </a:r>
          </a:p>
          <a:p>
            <a:r>
              <a:rPr lang="en-US" sz="2000" dirty="0"/>
              <a:t>               VALUES ('Nicusor', 'DAN', 55, 'M', 9000)''')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229E3-39A6-0F9A-C307-78469E80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33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55DC-DFE0-1ACD-A5DE-5F28FB17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4D16-352D-9F46-12CB-9AD73019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1D7BF-D428-A472-CCBD-66AA0155D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i="1" dirty="0"/>
              <a:t># Commit your changes in the database </a:t>
            </a:r>
            <a:endParaRPr lang="en-US" sz="2700" dirty="0"/>
          </a:p>
          <a:p>
            <a:r>
              <a:rPr lang="en-US" sz="2700" dirty="0" err="1"/>
              <a:t>conn.commit</a:t>
            </a:r>
            <a:r>
              <a:rPr lang="en-US" sz="2700" dirty="0"/>
              <a:t>() </a:t>
            </a:r>
          </a:p>
          <a:p>
            <a:r>
              <a:rPr lang="en-US" sz="2000" dirty="0"/>
              <a:t> </a:t>
            </a:r>
          </a:p>
          <a:p>
            <a:r>
              <a:rPr lang="en-US" sz="2700" dirty="0"/>
              <a:t>print("Records inserted........") 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5AEB0-2B6B-D3DD-A893-30008281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64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81D1-9312-56E6-D9EA-1ACA6F0F4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23A0-FAB1-0542-7D96-06DA9EEB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EF2E9E-BF09-DA9C-FFBB-0CC45D247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1371600"/>
            <a:ext cx="10624419" cy="4982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33881-6A3D-3D63-AABB-0746334F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00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9F62B-E356-A5A3-2C45-FF071380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ADB7-6399-6B1D-BE90-8CB2997D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</a:t>
            </a:r>
            <a:br>
              <a:rPr lang="en-US" dirty="0"/>
            </a:br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438B-1631-C014-3240-DC14A84D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retrieving data means to fetch some useful information from database</a:t>
            </a:r>
          </a:p>
          <a:p>
            <a:r>
              <a:rPr lang="en-US" dirty="0"/>
              <a:t>can fetch data using fetch() method provided by </a:t>
            </a:r>
            <a:r>
              <a:rPr lang="en-US" dirty="0" err="1"/>
              <a:t>psycopg</a:t>
            </a:r>
            <a:endParaRPr lang="en-US" dirty="0"/>
          </a:p>
          <a:p>
            <a:r>
              <a:rPr lang="en-US" dirty="0"/>
              <a:t>cursor class provides methods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fetchall</a:t>
            </a:r>
            <a:r>
              <a:rPr lang="en-US" sz="2700" dirty="0"/>
              <a:t>() method retrieves all rows in result set of query and returns them as list of tuples; if execute this after retrieving some rows, it returns remaining ones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fetchone</a:t>
            </a:r>
            <a:r>
              <a:rPr lang="en-US" sz="2700" dirty="0"/>
              <a:t>() method fetches next row in result of query and returns it as tuple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fetchmany</a:t>
            </a:r>
            <a:r>
              <a:rPr lang="en-US" sz="2700" dirty="0"/>
              <a:t>() method is similar to </a:t>
            </a:r>
            <a:r>
              <a:rPr lang="en-US" sz="2700" dirty="0" err="1"/>
              <a:t>fetchone</a:t>
            </a:r>
            <a:r>
              <a:rPr lang="en-US" sz="2700" dirty="0"/>
              <a:t>() but, it retrieves next set of rows in result set of query, instead of a single 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0655-8CE8-899F-2F37-7596D38A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66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9803-1E1B-B237-C232-AF087065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D900-4570-85D9-0D65-38AE918F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</a:t>
            </a:r>
            <a:br>
              <a:rPr lang="en-US" dirty="0"/>
            </a:br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6212A-3EEB-B064-BB56-905088D1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retrieving data means to fetch some useful information from database</a:t>
            </a:r>
          </a:p>
          <a:p>
            <a:r>
              <a:rPr lang="en-US" dirty="0"/>
              <a:t>can fetch data using fetch() method provided by </a:t>
            </a:r>
            <a:r>
              <a:rPr lang="en-US" dirty="0" err="1"/>
              <a:t>psycopg</a:t>
            </a:r>
            <a:endParaRPr lang="en-US" dirty="0"/>
          </a:p>
          <a:p>
            <a:r>
              <a:rPr lang="en-US" dirty="0"/>
              <a:t>cursor class provides methods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fetchall</a:t>
            </a:r>
            <a:r>
              <a:rPr lang="en-US" sz="2700" dirty="0"/>
              <a:t>() method retrieves all rows in result set of query and returns them as list of tuples; if execute this after retrieving some rows, it returns remaining ones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fetchone</a:t>
            </a:r>
            <a:r>
              <a:rPr lang="en-US" sz="2700" dirty="0"/>
              <a:t>() method fetches next row in result of query and returns it as tuple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fetchmany</a:t>
            </a:r>
            <a:r>
              <a:rPr lang="en-US" sz="2700" dirty="0"/>
              <a:t>() method is similar to </a:t>
            </a:r>
            <a:r>
              <a:rPr lang="en-US" sz="2700" dirty="0" err="1"/>
              <a:t>fetchone</a:t>
            </a:r>
            <a:r>
              <a:rPr lang="en-US" sz="2700" dirty="0"/>
              <a:t>() but, it retrieves next set of rows in result set of query, instead of a single 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7BE09-16E3-96C2-F875-48F9EB6D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62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94681-E501-7F98-FA9E-A99BD23A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90F5-03EE-6591-2C2D-36A55640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</a:t>
            </a:r>
            <a:br>
              <a:rPr lang="en-US" dirty="0"/>
            </a:br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CC8C9-3F4B-DB5C-D537-DB6B3F80C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Autofit/>
          </a:bodyPr>
          <a:lstStyle/>
          <a:p>
            <a:r>
              <a:rPr lang="en-US" sz="2700" i="1" dirty="0"/>
              <a:t>#Retrieving data </a:t>
            </a:r>
            <a:endParaRPr lang="en-US" sz="2700" dirty="0"/>
          </a:p>
          <a:p>
            <a:r>
              <a:rPr lang="en-US" sz="2700" dirty="0" err="1"/>
              <a:t>cursor.execute</a:t>
            </a:r>
            <a:r>
              <a:rPr lang="en-US" sz="2700" dirty="0"/>
              <a:t>('''SELECT * from EMPLOYEE''') </a:t>
            </a:r>
          </a:p>
          <a:p>
            <a:r>
              <a:rPr lang="en-US" sz="2000" dirty="0"/>
              <a:t> </a:t>
            </a:r>
          </a:p>
          <a:p>
            <a:r>
              <a:rPr lang="en-US" sz="2700" i="1" dirty="0"/>
              <a:t>#Fetching 1st row from the table </a:t>
            </a:r>
            <a:endParaRPr lang="en-US" sz="2700" dirty="0"/>
          </a:p>
          <a:p>
            <a:r>
              <a:rPr lang="en-US" sz="2700" dirty="0"/>
              <a:t>result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cursor.fetchone</a:t>
            </a:r>
            <a:r>
              <a:rPr lang="en-US" sz="2700" dirty="0"/>
              <a:t>(); </a:t>
            </a:r>
          </a:p>
          <a:p>
            <a:r>
              <a:rPr lang="en-US" sz="2700" dirty="0"/>
              <a:t>print(result) </a:t>
            </a:r>
          </a:p>
          <a:p>
            <a:r>
              <a:rPr lang="en-US" sz="2000" dirty="0"/>
              <a:t> </a:t>
            </a:r>
          </a:p>
          <a:p>
            <a:r>
              <a:rPr lang="en-US" sz="2700" i="1" dirty="0"/>
              <a:t>#Fetching rows from the table </a:t>
            </a:r>
            <a:endParaRPr lang="en-US" sz="2700" dirty="0"/>
          </a:p>
          <a:p>
            <a:r>
              <a:rPr lang="en-US" sz="2700" dirty="0"/>
              <a:t>result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cursor.fetchall</a:t>
            </a:r>
            <a:r>
              <a:rPr lang="en-US" sz="2700" dirty="0"/>
              <a:t>(); </a:t>
            </a:r>
          </a:p>
          <a:p>
            <a:r>
              <a:rPr lang="en-US" sz="2700" dirty="0"/>
              <a:t>print(result)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303F5-3BEC-9CD9-AC16-FA6CE082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19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B631-6288-A1F0-C5DE-DEBC27B1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C2D19-69E7-8D67-1486-B9E0D027A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SelectData.py</a:t>
            </a:r>
          </a:p>
          <a:p>
            <a:r>
              <a:rPr lang="en-US" dirty="0"/>
              <a:t>(1, 'Daniela', 'CRUDU', 27, 'F', 9000.0)</a:t>
            </a:r>
          </a:p>
          <a:p>
            <a:r>
              <a:rPr lang="en-US" dirty="0"/>
              <a:t>[(2, 'Nina', 'ILIESCU', 99, 'F', 5000.0), (3, 'Emil', 'CONSTANTINESCU', 88, 'M', 6000.0), (4, 'Traian', 'BASESCU', 77, 'M', 7000.0), (5, 'Klaus Werner', 'JOHANNIS', 66, 'M', 8000.0), (6, 'Nicusor', 'DAN', 55, 'M', 9000.0)]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18871-C88E-8F58-97D3-80674350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7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42B1-F338-C980-3914-CACE1837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BE7A-9DDC-4C9D-E59C-AEDE0FC6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D256-F2F2-56E1-4D52-6435529A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rmAutofit/>
          </a:bodyPr>
          <a:lstStyle/>
          <a:p>
            <a:r>
              <a:rPr lang="en-US" sz="2700" i="1" dirty="0"/>
              <a:t>#Fetching all the rows before the update </a:t>
            </a:r>
            <a:endParaRPr lang="en-US" sz="2700" dirty="0"/>
          </a:p>
          <a:p>
            <a:r>
              <a:rPr lang="en-US" sz="2700" dirty="0"/>
              <a:t>print("Contents of the Employee table: ") </a:t>
            </a:r>
          </a:p>
          <a:p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'''SELECT * from EMPLOYEE''' </a:t>
            </a:r>
          </a:p>
          <a:p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) </a:t>
            </a:r>
          </a:p>
          <a:p>
            <a:r>
              <a:rPr lang="en-US" sz="2700" dirty="0"/>
              <a:t>print(</a:t>
            </a:r>
            <a:r>
              <a:rPr lang="en-US" sz="2700" dirty="0" err="1"/>
              <a:t>cursor.fetchall</a:t>
            </a:r>
            <a:r>
              <a:rPr lang="en-US" sz="2700" dirty="0"/>
              <a:t>()) </a:t>
            </a:r>
          </a:p>
          <a:p>
            <a:r>
              <a:rPr lang="en-US" sz="2000" dirty="0"/>
              <a:t> </a:t>
            </a:r>
          </a:p>
          <a:p>
            <a:r>
              <a:rPr lang="en-US" sz="2700" i="1" dirty="0"/>
              <a:t>#Updating the records </a:t>
            </a: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C4A44-DE13-6D87-331E-D28B13D9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57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6312-404F-C471-EBB2-9D1C969B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EAFB-8642-E9AB-2A40-2DB10DE2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DC82-91D2-6369-D2C2-5F2F0B5F7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Autofit/>
          </a:bodyPr>
          <a:lstStyle/>
          <a:p>
            <a:r>
              <a:rPr lang="en-US" sz="2700" i="1" dirty="0"/>
              <a:t>#Updating the records </a:t>
            </a:r>
            <a:endParaRPr lang="en-US" sz="2700" dirty="0"/>
          </a:p>
          <a:p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"UPDATE EMPLOYEE SET AGE = AGE + 1 WHERE GENDER = 'M'" </a:t>
            </a:r>
          </a:p>
          <a:p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) </a:t>
            </a:r>
          </a:p>
          <a:p>
            <a:r>
              <a:rPr lang="en-US" sz="2700" dirty="0"/>
              <a:t>print("Table updated...... ") </a:t>
            </a:r>
          </a:p>
          <a:p>
            <a:r>
              <a:rPr lang="en-US" sz="2000" dirty="0"/>
              <a:t>   </a:t>
            </a:r>
          </a:p>
          <a:p>
            <a:r>
              <a:rPr lang="en-US" sz="2700" i="1" dirty="0"/>
              <a:t>#Fetching all the rows after the update </a:t>
            </a:r>
            <a:endParaRPr lang="en-US" sz="2700" dirty="0"/>
          </a:p>
          <a:p>
            <a:r>
              <a:rPr lang="en-US" sz="2700" dirty="0"/>
              <a:t>print("Contents of the Employee table after the update operation: ") </a:t>
            </a:r>
          </a:p>
          <a:p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'''SELECT * from EMPLOYEE''' </a:t>
            </a:r>
          </a:p>
          <a:p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) </a:t>
            </a:r>
          </a:p>
          <a:p>
            <a:r>
              <a:rPr lang="en-US" sz="2700" dirty="0"/>
              <a:t>print(</a:t>
            </a:r>
            <a:r>
              <a:rPr lang="en-US" sz="2700" dirty="0" err="1"/>
              <a:t>cursor.fetchall</a:t>
            </a:r>
            <a:r>
              <a:rPr lang="en-US" sz="2700" dirty="0"/>
              <a:t>())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EE08F-47BD-84AF-16E5-1ACE64E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77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0576-B96E-7BA8-74B4-9C2AE0FC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6C73-74A0-11B6-7604-BA9BE365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  <a:br>
              <a:rPr lang="en-US" dirty="0"/>
            </a:br>
            <a:r>
              <a:rPr lang="en-US" dirty="0"/>
              <a:t>UpdateData.py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659F-B0A5-3848-1874-47FBB913E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&gt; 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python UpdateData.py</a:t>
            </a:r>
          </a:p>
          <a:p>
            <a:r>
              <a:rPr lang="en-US" sz="2700" dirty="0"/>
              <a:t>Contents of the Employee table:</a:t>
            </a:r>
          </a:p>
          <a:p>
            <a:r>
              <a:rPr lang="en-US" sz="2600" dirty="0"/>
              <a:t>[(1, 'Daniela', 'CRUDU', 27, 'F', 9000.0), (2, 'Nina', 'ILIESCU', 99, 'F', 5000.0), (3, 'Emil', 'CONSTANTINESCU', 88, 'M', 6000.0), (4, 'Traian', 'BASESCU', 77, 'M', 7000.0), (5, 'Klaus Werner', 'JOHANNIS', 66, 'M', 8000.0), (6, 'Nicusor', 'DAN', 55, 'M', 9000.0)]</a:t>
            </a:r>
          </a:p>
          <a:p>
            <a:r>
              <a:rPr lang="en-US" sz="2700" dirty="0"/>
              <a:t>Table updated......</a:t>
            </a:r>
          </a:p>
          <a:p>
            <a:r>
              <a:rPr lang="en-US" sz="2700" dirty="0"/>
              <a:t>Contents of the Employee table after the update operation:</a:t>
            </a:r>
          </a:p>
          <a:p>
            <a:r>
              <a:rPr lang="en-US" sz="2700" dirty="0"/>
              <a:t>[(1, 'Daniela', 'CRUDU', 27, 'F', 9000.0), (2, 'Nina', 'ILIESCU', 99, 'F', 5000.0), (3, 'Emil', 'CONSTANTINESCU', 89, 'M', 6000.0), (4, 'Traian', 'BASESCU', 78, 'M', 7000.0), (5, 'Klaus Werner', 'JOHANNIS', 67, 'M', 8000.0), (6, 'Nicusor', 'DAN', 56, 'M', 9000.0)]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3C705-CBBD-495A-F9F4-BB87C384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41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938E7-4FC6-7B1C-018A-9E684770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EA7A-1E15-DE29-F398-878A5E07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180A-ABA4-99C1-7E19-9F941964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/>
              <a:t>#Retrieving contents of the table </a:t>
            </a:r>
            <a:endParaRPr lang="en-US" dirty="0"/>
          </a:p>
          <a:p>
            <a:r>
              <a:rPr lang="en-US" dirty="0"/>
              <a:t>print("Contents of the table: ") </a:t>
            </a:r>
          </a:p>
          <a:p>
            <a:r>
              <a:rPr lang="en-US" dirty="0" err="1"/>
              <a:t>cursor.execute</a:t>
            </a:r>
            <a:r>
              <a:rPr lang="en-US" dirty="0"/>
              <a:t>('''SELECT * from EMPLOYEE''') </a:t>
            </a:r>
          </a:p>
          <a:p>
            <a:r>
              <a:rPr lang="en-US" dirty="0"/>
              <a:t>print(</a:t>
            </a:r>
            <a:r>
              <a:rPr lang="en-US" dirty="0" err="1"/>
              <a:t>cursor.fetchall</a:t>
            </a:r>
            <a:r>
              <a:rPr lang="en-US" dirty="0"/>
              <a:t>()) </a:t>
            </a:r>
          </a:p>
          <a:p>
            <a:r>
              <a:rPr lang="en-US" sz="2400" dirty="0"/>
              <a:t> </a:t>
            </a:r>
          </a:p>
          <a:p>
            <a:r>
              <a:rPr lang="en-US" sz="3200" i="1" dirty="0"/>
              <a:t>#Deleting records </a:t>
            </a:r>
            <a:endParaRPr lang="en-US" sz="3200" dirty="0"/>
          </a:p>
          <a:p>
            <a:r>
              <a:rPr lang="en-US" sz="3200" dirty="0" err="1"/>
              <a:t>cursor.execute</a:t>
            </a:r>
            <a:r>
              <a:rPr lang="en-US" sz="3200" dirty="0"/>
              <a:t>('''DELETE FROM EMPLOYEE WHERE AGE &gt; 90''') </a:t>
            </a:r>
          </a:p>
          <a:p>
            <a:r>
              <a:rPr lang="en-US" sz="2400" dirty="0"/>
              <a:t> </a:t>
            </a:r>
            <a:endParaRPr lang="en-US" sz="3200" dirty="0"/>
          </a:p>
          <a:p>
            <a:r>
              <a:rPr lang="en-US" i="1" dirty="0"/>
              <a:t>#Retrieving data after delete </a:t>
            </a:r>
            <a:endParaRPr lang="en-US" dirty="0"/>
          </a:p>
          <a:p>
            <a:r>
              <a:rPr lang="en-US" dirty="0"/>
              <a:t>print("Contents of the table after delete operation ") </a:t>
            </a:r>
          </a:p>
          <a:p>
            <a:r>
              <a:rPr lang="en-US" dirty="0" err="1"/>
              <a:t>cursor.execute</a:t>
            </a:r>
            <a:r>
              <a:rPr lang="en-US" dirty="0"/>
              <a:t>("SELECT * from EMPLOYEE") </a:t>
            </a:r>
          </a:p>
          <a:p>
            <a:r>
              <a:rPr lang="en-US" dirty="0"/>
              <a:t>print(</a:t>
            </a:r>
            <a:r>
              <a:rPr lang="en-US" dirty="0" err="1"/>
              <a:t>cursor.fetchall</a:t>
            </a:r>
            <a:r>
              <a:rPr lang="en-US" dirty="0"/>
              <a:t>())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CEDC-3C5E-84A6-F64C-690AC180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32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8639-F181-7924-FD7E-0D1BAA16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1428-9DCD-1A2C-9D56-4CF053782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900" dirty="0"/>
              <a:t>&gt;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python DeleteData.py</a:t>
            </a:r>
          </a:p>
          <a:p>
            <a:r>
              <a:rPr lang="en-US" sz="2900" dirty="0"/>
              <a:t>Contents of the table:</a:t>
            </a:r>
          </a:p>
          <a:p>
            <a:r>
              <a:rPr lang="en-US" dirty="0"/>
              <a:t>[(1, 'Daniela', 'CRUDU', 27, 'F', 9000.0), (2, 'Nina', 'ILIESCU', 99, 'F', 5000.0), (3, 'Emil', 'CONSTANTINESCU', 90, 'M', 6000.0), (4, 'Traian', 'BASESCU', 78, 'M', 7000.0), (5, 'Klaus Werner', 'JOHANNIS', 67, 'M', 8000.0), (6, 'Nicusor', 'DAN', 56, 'M', 9000.0)]</a:t>
            </a:r>
          </a:p>
          <a:p>
            <a:r>
              <a:rPr lang="en-US" sz="2900" dirty="0"/>
              <a:t>Contents of the table after delete operation</a:t>
            </a:r>
          </a:p>
          <a:p>
            <a:r>
              <a:rPr lang="en-US" dirty="0"/>
              <a:t>[(1, 'Daniela', 'CRUDU', 27, 'F', 9000.0), (3, 'Emil', 'CONSTANTINESCU', 90, 'M', 6000.0), (4, 'Traian', 'BASESCU', 78, 'M', 7000.0), (5, 'Klaus Werner', 'JOHANNIS', 67, 'M', 8000.0), (6, 'Nicusor', 'DAN', 56, 'M', 9000.0)]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B6A3F-B3CA-FCDA-F3BD-FB5602FF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83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D372-B834-65FE-6FED-CE0C6C9A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14060-09DF-210F-2BDE-2BC0AC9A1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EB0BD-553A-341B-0EF5-C070C9BC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96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A506-6930-030C-FAC8-2518082E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nwCustomers.py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95B6-3895-FF1B-252B-27EFBC743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</a:t>
            </a:r>
            <a:r>
              <a:rPr lang="en-US" sz="2700" dirty="0" err="1"/>
              <a:t>psycopg</a:t>
            </a:r>
            <a:endParaRPr lang="en-US" sz="2700" dirty="0"/>
          </a:p>
          <a:p>
            <a:r>
              <a:rPr lang="en-US" sz="2700" dirty="0"/>
              <a:t> </a:t>
            </a:r>
          </a:p>
          <a:p>
            <a:r>
              <a:rPr lang="en-US" sz="2700" i="1" dirty="0"/>
              <a:t>#Establishing the connection </a:t>
            </a:r>
            <a:endParaRPr lang="en-US" sz="2700" dirty="0"/>
          </a:p>
          <a:p>
            <a:r>
              <a:rPr lang="en-US" sz="2700" dirty="0"/>
              <a:t>conn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psycopg.connect</a:t>
            </a:r>
            <a:r>
              <a:rPr lang="en-US" sz="2700" dirty="0"/>
              <a:t>(</a:t>
            </a:r>
            <a:r>
              <a:rPr lang="en-US" sz="2700" i="1" dirty="0" err="1"/>
              <a:t>dbname</a:t>
            </a:r>
            <a:r>
              <a:rPr lang="en-US" sz="2700" i="1" dirty="0"/>
              <a:t>=</a:t>
            </a:r>
            <a:r>
              <a:rPr lang="en-US" sz="2700" dirty="0"/>
              <a:t>'</a:t>
            </a:r>
            <a:r>
              <a:rPr lang="en-US" sz="2700" dirty="0" err="1"/>
              <a:t>northwind</a:t>
            </a:r>
            <a:r>
              <a:rPr lang="en-US" sz="2700" dirty="0"/>
              <a:t>', </a:t>
            </a:r>
            <a:r>
              <a:rPr lang="en-US" sz="2700" i="1" dirty="0"/>
              <a:t>user=</a:t>
            </a:r>
            <a:r>
              <a:rPr lang="en-US" sz="2700" dirty="0"/>
              <a:t>'</a:t>
            </a:r>
            <a:r>
              <a:rPr lang="en-US" sz="2700" dirty="0" err="1"/>
              <a:t>postgres</a:t>
            </a:r>
            <a:r>
              <a:rPr lang="en-US" sz="2700" dirty="0"/>
              <a:t>', </a:t>
            </a:r>
          </a:p>
          <a:p>
            <a:r>
              <a:rPr lang="en-US" sz="2700" i="1" dirty="0"/>
              <a:t>password=</a:t>
            </a:r>
            <a:r>
              <a:rPr lang="en-US" sz="2700" dirty="0"/>
              <a:t>'password', </a:t>
            </a:r>
            <a:r>
              <a:rPr lang="en-US" sz="2700" i="1" dirty="0"/>
              <a:t>host=</a:t>
            </a:r>
            <a:r>
              <a:rPr lang="en-US" sz="2700" dirty="0"/>
              <a:t>'localhost', </a:t>
            </a:r>
            <a:r>
              <a:rPr lang="en-US" sz="2700" i="1" dirty="0"/>
              <a:t>port=</a:t>
            </a:r>
            <a:r>
              <a:rPr lang="en-US" sz="2700" dirty="0"/>
              <a:t> '5432') </a:t>
            </a:r>
          </a:p>
          <a:p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endParaRPr lang="en-US" sz="2700" dirty="0"/>
          </a:p>
          <a:p>
            <a:r>
              <a:rPr lang="en-US" sz="2700" i="1" dirty="0"/>
              <a:t>#Creating a cursor object using the cursor() method </a:t>
            </a:r>
            <a:endParaRPr lang="en-US" sz="2700" dirty="0"/>
          </a:p>
          <a:p>
            <a:r>
              <a:rPr lang="en-US" sz="2700" dirty="0"/>
              <a:t>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E981F-D5AF-0C37-8B25-7E0311C4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64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25A7-12B2-30E8-FC65-E28AF3D1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3BBFD-505E-B101-B054-BD9AF056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nwCustomers.py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EDC5-BD23-9069-F942-AD94F428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7858"/>
            <a:ext cx="10852355" cy="4879105"/>
          </a:xfrm>
        </p:spPr>
        <p:txBody>
          <a:bodyPr>
            <a:noAutofit/>
          </a:bodyPr>
          <a:lstStyle/>
          <a:p>
            <a:r>
              <a:rPr lang="en-US" sz="2700" i="1" dirty="0"/>
              <a:t># input</a:t>
            </a:r>
            <a:endParaRPr lang="en-US" sz="2700" dirty="0"/>
          </a:p>
          <a:p>
            <a:r>
              <a:rPr lang="en-US" sz="2700" dirty="0"/>
              <a:t>print(</a:t>
            </a:r>
            <a:r>
              <a:rPr lang="en-US" sz="2700" i="1" dirty="0" err="1"/>
              <a:t>f</a:t>
            </a:r>
            <a:r>
              <a:rPr lang="en-US" sz="2700" dirty="0" err="1"/>
              <a:t>"Enter</a:t>
            </a:r>
            <a:r>
              <a:rPr lang="en-US" sz="2700" dirty="0"/>
              <a:t> Page No.:")</a:t>
            </a:r>
          </a:p>
          <a:p>
            <a:r>
              <a:rPr lang="en-US" sz="2700" dirty="0" err="1"/>
              <a:t>inputPage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input()</a:t>
            </a:r>
          </a:p>
          <a:p>
            <a:endParaRPr lang="en-US" sz="2700" dirty="0"/>
          </a:p>
          <a:p>
            <a:r>
              <a:rPr lang="en-US" sz="2700" i="1" dirty="0"/>
              <a:t>#Retrieving contents of the table </a:t>
            </a:r>
            <a:endParaRPr lang="en-US" sz="2700" dirty="0"/>
          </a:p>
          <a:p>
            <a:r>
              <a:rPr lang="en-US" sz="2700" dirty="0"/>
              <a:t>print(</a:t>
            </a:r>
            <a:r>
              <a:rPr lang="en-US" sz="2700" i="1" dirty="0" err="1"/>
              <a:t>f</a:t>
            </a:r>
            <a:r>
              <a:rPr lang="en-US" sz="2700" dirty="0" err="1"/>
              <a:t>"Contents</a:t>
            </a:r>
            <a:r>
              <a:rPr lang="en-US" sz="2700" dirty="0"/>
              <a:t> of the table Customers page {</a:t>
            </a:r>
            <a:r>
              <a:rPr lang="en-US" sz="2700" dirty="0" err="1"/>
              <a:t>inputPage</a:t>
            </a:r>
            <a:r>
              <a:rPr lang="en-US" sz="2700" dirty="0"/>
              <a:t>}") </a:t>
            </a:r>
          </a:p>
          <a:p>
            <a:r>
              <a:rPr lang="en-US" sz="2700" dirty="0" err="1"/>
              <a:t>cursor.execute</a:t>
            </a:r>
            <a:r>
              <a:rPr lang="en-US" sz="2700" dirty="0"/>
              <a:t>('''SELECT * from CUSTOMERS ORDER BY COMPANY_NAME 	LIMIT 5 OFFSET (%(p)s - 1) * 5''', {'p': </a:t>
            </a:r>
            <a:r>
              <a:rPr lang="en-US" sz="2700" dirty="0" err="1"/>
              <a:t>inputPage</a:t>
            </a:r>
            <a:r>
              <a:rPr lang="en-US" sz="2700" dirty="0"/>
              <a:t>}) </a:t>
            </a:r>
          </a:p>
          <a:p>
            <a:r>
              <a:rPr lang="en-US" sz="2700" dirty="0"/>
              <a:t>print(</a:t>
            </a:r>
            <a:r>
              <a:rPr lang="en-US" sz="2700" dirty="0" err="1"/>
              <a:t>cursor.fetchall</a:t>
            </a:r>
            <a:r>
              <a:rPr lang="en-US" sz="2700" dirty="0"/>
              <a:t>())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19EC0-5457-AF77-CDED-EEB0D2F4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37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3B7A-D67A-0B18-7CB4-FA8ADE99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0ED4-49A3-0EB6-C63F-AD19E4A3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nwCustomers.py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7764-113F-6885-06AD-7241D7B2E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7858"/>
            <a:ext cx="10852355" cy="4879105"/>
          </a:xfrm>
        </p:spPr>
        <p:txBody>
          <a:bodyPr>
            <a:noAutofit/>
          </a:bodyPr>
          <a:lstStyle/>
          <a:p>
            <a:r>
              <a:rPr lang="en-US" sz="2700" i="1" dirty="0"/>
              <a:t>#Commit your changes in the database </a:t>
            </a:r>
            <a:endParaRPr lang="en-US" sz="2700" dirty="0"/>
          </a:p>
          <a:p>
            <a:r>
              <a:rPr lang="en-US" sz="2700" dirty="0" err="1"/>
              <a:t>conn.commit</a:t>
            </a:r>
            <a:r>
              <a:rPr lang="en-US" sz="2700" dirty="0"/>
              <a:t>() </a:t>
            </a:r>
          </a:p>
          <a:p>
            <a:r>
              <a:rPr lang="en-US" sz="2700" i="1" dirty="0"/>
              <a:t>#Closing the connection 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 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991C1-E220-145C-6860-41BA8518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20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1245-CAA9-B1A5-642B-4C6A71E7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BC7C-4060-63A6-1E69-90076303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26080-3C8C-01E9-2706-793EA3319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4"/>
            <a:ext cx="10515600" cy="4977429"/>
          </a:xfrm>
        </p:spPr>
        <p:txBody>
          <a:bodyPr>
            <a:noAutofit/>
          </a:bodyPr>
          <a:lstStyle/>
          <a:p>
            <a:r>
              <a:rPr lang="en-US" sz="1800" dirty="0"/>
              <a:t>&gt;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python nwCustomers.py</a:t>
            </a:r>
          </a:p>
          <a:p>
            <a:r>
              <a:rPr lang="en-US" sz="1800" dirty="0"/>
              <a:t>Enter Page No.: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Contents of the table Customers page 1</a:t>
            </a:r>
          </a:p>
          <a:p>
            <a:r>
              <a:rPr lang="en-US" sz="1200" dirty="0"/>
              <a:t>[('ALFKI', 'Alfreds </a:t>
            </a:r>
            <a:r>
              <a:rPr lang="en-US" sz="1200" dirty="0" err="1"/>
              <a:t>Futterkiste</a:t>
            </a:r>
            <a:r>
              <a:rPr lang="en-US" sz="1200" dirty="0"/>
              <a:t>', 'Maria Anders', 'Sales Representative', '</a:t>
            </a:r>
            <a:r>
              <a:rPr lang="en-US" sz="1200" dirty="0" err="1"/>
              <a:t>Obere</a:t>
            </a:r>
            <a:r>
              <a:rPr lang="en-US" sz="1200" dirty="0"/>
              <a:t> Str. 57', 'Berlin', None, '12209', 'Germany', '030-0074321', '030-0076545'), ('ANATR', 'Ana Trujillo </a:t>
            </a:r>
            <a:r>
              <a:rPr lang="en-US" sz="1200" dirty="0" err="1"/>
              <a:t>Emparedados</a:t>
            </a:r>
            <a:r>
              <a:rPr lang="en-US" sz="1200" dirty="0"/>
              <a:t> y </a:t>
            </a:r>
            <a:r>
              <a:rPr lang="en-US" sz="1200" dirty="0" err="1"/>
              <a:t>helados</a:t>
            </a:r>
            <a:r>
              <a:rPr lang="en-US" sz="1200" dirty="0"/>
              <a:t>', 'Ana Trujillo', 'Owner', 'Avda. de la Constitución 2222', 'México D.F.', None, '05021', 'Mexico', '(5) 555-4729', '(5) 555-3745'), ('ANTON', 'Antonio Moreno </a:t>
            </a:r>
            <a:r>
              <a:rPr lang="en-US" sz="1200" dirty="0" err="1"/>
              <a:t>Taquería</a:t>
            </a:r>
            <a:r>
              <a:rPr lang="en-US" sz="1200" dirty="0"/>
              <a:t>', 'Antonio Moreno', 'Owner', '</a:t>
            </a:r>
            <a:r>
              <a:rPr lang="en-US" sz="1200" dirty="0" err="1"/>
              <a:t>Mataderos</a:t>
            </a:r>
            <a:r>
              <a:rPr lang="en-US" sz="1200" dirty="0"/>
              <a:t>  2312', 'México D.F.', None, '05023', 'Mexico', '(5) 555-3932', None), ('AROUT', 'Around the Horn', 'Thomas Hardy', 'Sales Representative', '120 Hanover Sq.', 'London', None, 'WA1 1DP', 'UK', '(171) 555-7788', '(171) 555-6750'), ('BSBEV', "B's Beverages", 'Victoria Ashworth', 'Sales Representative', 'Fauntleroy Circus', 'London', None, 'EC2 5NT', 'UK', '(171) 555-1212', None)]</a:t>
            </a:r>
          </a:p>
          <a:p>
            <a:r>
              <a:rPr lang="en-US" sz="1800" dirty="0"/>
              <a:t>&gt;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python nwCustomers.py</a:t>
            </a:r>
          </a:p>
          <a:p>
            <a:r>
              <a:rPr lang="en-US" sz="1800" dirty="0"/>
              <a:t>Enter Page No.: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Contents of the table Customers page 2</a:t>
            </a:r>
          </a:p>
          <a:p>
            <a:r>
              <a:rPr lang="en-US" sz="1200" dirty="0"/>
              <a:t>[('BERGS', 'Berglunds </a:t>
            </a:r>
            <a:r>
              <a:rPr lang="en-US" sz="1200" dirty="0" err="1"/>
              <a:t>snabbköp</a:t>
            </a:r>
            <a:r>
              <a:rPr lang="en-US" sz="1200" dirty="0"/>
              <a:t>', 'Christina Berglund', 'Order Administrator', '</a:t>
            </a:r>
            <a:r>
              <a:rPr lang="en-US" sz="1200" dirty="0" err="1"/>
              <a:t>Berguvsvägen</a:t>
            </a:r>
            <a:r>
              <a:rPr lang="en-US" sz="1200" dirty="0"/>
              <a:t>  8', '</a:t>
            </a:r>
            <a:r>
              <a:rPr lang="en-US" sz="1200" dirty="0" err="1"/>
              <a:t>Luleå</a:t>
            </a:r>
            <a:r>
              <a:rPr lang="en-US" sz="1200" dirty="0"/>
              <a:t>', None, 'S-958 22', 'Sweden', '0921-12 34 65', '0921-12 34 67'), ('BLAUS', 'Blauer See </a:t>
            </a:r>
            <a:r>
              <a:rPr lang="en-US" sz="1200" dirty="0" err="1"/>
              <a:t>Delikatessen</a:t>
            </a:r>
            <a:r>
              <a:rPr lang="en-US" sz="1200" dirty="0"/>
              <a:t>', 'Hanna Moos', 'Sales Representative', '</a:t>
            </a:r>
            <a:r>
              <a:rPr lang="en-US" sz="1200" dirty="0" err="1"/>
              <a:t>Forsterstr</a:t>
            </a:r>
            <a:r>
              <a:rPr lang="en-US" sz="1200" dirty="0"/>
              <a:t>. 57', 'Mannheim', None, '68306', 'Germany', '0621-08460', '0621-08924'), ('BLONP', '</a:t>
            </a:r>
            <a:r>
              <a:rPr lang="en-US" sz="1200" dirty="0" err="1"/>
              <a:t>Blondesddsl</a:t>
            </a:r>
            <a:r>
              <a:rPr lang="en-US" sz="1200" dirty="0"/>
              <a:t> père et </a:t>
            </a:r>
            <a:r>
              <a:rPr lang="en-US" sz="1200" dirty="0" err="1"/>
              <a:t>fils</a:t>
            </a:r>
            <a:r>
              <a:rPr lang="en-US" sz="1200" dirty="0"/>
              <a:t>', 'Frédérique Citeaux', 'Marketing Manager', '24, place Kléber', 'Strasbourg', None, '67000', 'France', '88.60.15.31', '88.60.15.32'), ('BOLID', '</a:t>
            </a:r>
            <a:r>
              <a:rPr lang="en-US" sz="1200" dirty="0" err="1"/>
              <a:t>Bólido</a:t>
            </a:r>
            <a:r>
              <a:rPr lang="en-US" sz="1200" dirty="0"/>
              <a:t> </a:t>
            </a:r>
            <a:r>
              <a:rPr lang="en-US" sz="1200" dirty="0" err="1"/>
              <a:t>Comidas</a:t>
            </a:r>
            <a:r>
              <a:rPr lang="en-US" sz="1200" dirty="0"/>
              <a:t> </a:t>
            </a:r>
            <a:r>
              <a:rPr lang="en-US" sz="1200" dirty="0" err="1"/>
              <a:t>preparadas</a:t>
            </a:r>
            <a:r>
              <a:rPr lang="en-US" sz="1200" dirty="0"/>
              <a:t>', 'Martín Sommer', 'Owner', 'C/ </a:t>
            </a:r>
            <a:r>
              <a:rPr lang="en-US" sz="1200" dirty="0" err="1"/>
              <a:t>Araquil</a:t>
            </a:r>
            <a:r>
              <a:rPr lang="en-US" sz="1200" dirty="0"/>
              <a:t>, 67', 'Madrid', None, '28023', 'Spain', '(91) 555 22 82', '(91) 555 91 99'), ('BONAP', "Bon app'", 'Laurence </a:t>
            </a:r>
            <a:r>
              <a:rPr lang="en-US" sz="1200" dirty="0" err="1"/>
              <a:t>Lebihan</a:t>
            </a:r>
            <a:r>
              <a:rPr lang="en-US" sz="1200" dirty="0"/>
              <a:t>', 'Owner', '12, rue des Bouchers', 'Marseille', None, '13008', 'France', '91.24.45.40', '91.24.45.41')]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2B32-FACF-C0A8-F3D9-FF179468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37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5E7A-0094-2AD3-8AFD-D9F892F7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B727D-C241-F370-864F-4A08A2D1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i="1" dirty="0"/>
              <a:t>#Retrieving contents of the table </a:t>
            </a:r>
            <a:endParaRPr lang="en-US" sz="2700" dirty="0"/>
          </a:p>
          <a:p>
            <a:r>
              <a:rPr lang="en-US" sz="2700" dirty="0"/>
              <a:t>print(</a:t>
            </a:r>
            <a:r>
              <a:rPr lang="en-US" sz="2700" i="1" dirty="0" err="1"/>
              <a:t>f</a:t>
            </a:r>
            <a:r>
              <a:rPr lang="en-US" sz="2700" dirty="0" err="1"/>
              <a:t>"Contents</a:t>
            </a:r>
            <a:r>
              <a:rPr lang="en-US" sz="2700" dirty="0"/>
              <a:t> of the table Customers page {</a:t>
            </a:r>
            <a:r>
              <a:rPr lang="en-US" sz="2700" dirty="0" err="1"/>
              <a:t>inputPage</a:t>
            </a:r>
            <a:r>
              <a:rPr lang="en-US" sz="2700" dirty="0"/>
              <a:t>}") </a:t>
            </a:r>
          </a:p>
          <a:p>
            <a:endParaRPr lang="en-US" sz="2000" dirty="0"/>
          </a:p>
          <a:p>
            <a:r>
              <a:rPr lang="en-US" sz="2700" dirty="0" err="1"/>
              <a:t>cursor.execute</a:t>
            </a:r>
            <a:r>
              <a:rPr lang="en-US" sz="2700" dirty="0"/>
              <a:t>('''SELECT * from CUSTOMERS ORDER BY COMPANY_NAME       LIMIT 5 OFFSET (%(p)s - 1) * 5''', {'p': </a:t>
            </a:r>
            <a:r>
              <a:rPr lang="en-US" sz="2700" dirty="0" err="1"/>
              <a:t>inputPage</a:t>
            </a:r>
            <a:r>
              <a:rPr lang="en-US" sz="2700" dirty="0"/>
              <a:t>}) </a:t>
            </a:r>
          </a:p>
          <a:p>
            <a:r>
              <a:rPr lang="en-US" sz="2700" dirty="0"/>
              <a:t>result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cursor.fetchall</a:t>
            </a:r>
            <a:r>
              <a:rPr lang="en-US" sz="2700" dirty="0"/>
              <a:t>()</a:t>
            </a:r>
          </a:p>
          <a:p>
            <a:r>
              <a:rPr lang="en-US" sz="2700" i="1" dirty="0"/>
              <a:t>for</a:t>
            </a:r>
            <a:r>
              <a:rPr lang="en-US" sz="2700" dirty="0"/>
              <a:t> row </a:t>
            </a:r>
            <a:r>
              <a:rPr lang="en-US" sz="2700" i="1" dirty="0"/>
              <a:t>in</a:t>
            </a:r>
            <a:r>
              <a:rPr lang="en-US" sz="2700" dirty="0"/>
              <a:t> result:</a:t>
            </a:r>
          </a:p>
          <a:p>
            <a:r>
              <a:rPr lang="en-US" sz="2700" dirty="0"/>
              <a:t>    print(</a:t>
            </a:r>
            <a:r>
              <a:rPr lang="en-US" sz="2700" i="1" dirty="0"/>
              <a:t>f</a:t>
            </a:r>
            <a:r>
              <a:rPr lang="en-US" sz="2700" dirty="0"/>
              <a:t>"{row[1]} has {row[2]} as contact person from {row[5]} {row[8]}")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EE4BD-14EE-6188-9E46-7A86F9DA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10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D9CD0-BC43-3869-A112-D17CAF5C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7EF3-81DE-2D9F-6302-117F52AFF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825625"/>
            <a:ext cx="11572567" cy="4351338"/>
          </a:xfrm>
        </p:spPr>
        <p:txBody>
          <a:bodyPr>
            <a:normAutofit fontScale="92500"/>
          </a:bodyPr>
          <a:lstStyle/>
          <a:p>
            <a:r>
              <a:rPr lang="en-US" sz="2900" dirty="0"/>
              <a:t>&gt;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python nwCustomers.py</a:t>
            </a:r>
          </a:p>
          <a:p>
            <a:r>
              <a:rPr lang="en-US" sz="2900" dirty="0"/>
              <a:t>Enter Page No.:</a:t>
            </a:r>
          </a:p>
          <a:p>
            <a:r>
              <a:rPr lang="en-US" sz="2900" dirty="0"/>
              <a:t>3</a:t>
            </a:r>
          </a:p>
          <a:p>
            <a:r>
              <a:rPr lang="en-US" sz="2900" dirty="0"/>
              <a:t>Contents of the table Customers page 3</a:t>
            </a:r>
          </a:p>
          <a:p>
            <a:r>
              <a:rPr lang="en-US" sz="2300" dirty="0"/>
              <a:t>Bottom-Dollar Markets has Elizabeth Lincoln as contact person from </a:t>
            </a:r>
            <a:r>
              <a:rPr lang="en-US" sz="2300" dirty="0" err="1"/>
              <a:t>Tsawassen</a:t>
            </a:r>
            <a:r>
              <a:rPr lang="en-US" sz="2300" dirty="0"/>
              <a:t> Canada</a:t>
            </a:r>
          </a:p>
          <a:p>
            <a:r>
              <a:rPr lang="en-US" sz="2300" dirty="0"/>
              <a:t>Cactus </a:t>
            </a:r>
            <a:r>
              <a:rPr lang="en-US" sz="2300" dirty="0" err="1"/>
              <a:t>Comidas</a:t>
            </a:r>
            <a:r>
              <a:rPr lang="en-US" sz="2300" dirty="0"/>
              <a:t> para </a:t>
            </a:r>
            <a:r>
              <a:rPr lang="en-US" sz="2300" dirty="0" err="1"/>
              <a:t>llevar</a:t>
            </a:r>
            <a:r>
              <a:rPr lang="en-US" sz="2300" dirty="0"/>
              <a:t> has Patricio Simpson as contact person from Buenos Aires Argentina</a:t>
            </a:r>
          </a:p>
          <a:p>
            <a:r>
              <a:rPr lang="en-US" sz="2300" dirty="0"/>
              <a:t>Centro </a:t>
            </a:r>
            <a:r>
              <a:rPr lang="en-US" sz="2300" dirty="0" err="1"/>
              <a:t>comercial</a:t>
            </a:r>
            <a:r>
              <a:rPr lang="en-US" sz="2300" dirty="0"/>
              <a:t> Moctezuma has Francisco Chang as contact person from México D.F. Mexico</a:t>
            </a:r>
          </a:p>
          <a:p>
            <a:r>
              <a:rPr lang="en-US" sz="2300" dirty="0"/>
              <a:t>Chop-suey Chinese has Yang Wang as contact person from Bern Switzerland</a:t>
            </a:r>
          </a:p>
          <a:p>
            <a:r>
              <a:rPr lang="en-US" sz="2300" dirty="0"/>
              <a:t>Comércio Mineiro has Pedro Afonso as contact person from Sao Paulo Brazil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260E1-266A-E51E-CF26-83F5B668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24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e3be701f0a6c8f6221ff53300429adee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74ac979782e2ad477dd4a10e8419547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62C21C-24FD-46FC-AFC9-C92E13C3BBDC}"/>
</file>

<file path=customXml/itemProps2.xml><?xml version="1.0" encoding="utf-8"?>
<ds:datastoreItem xmlns:ds="http://schemas.openxmlformats.org/officeDocument/2006/customXml" ds:itemID="{FA5F1E0C-628F-450F-A823-0E64B61BA214}"/>
</file>

<file path=customXml/itemProps3.xml><?xml version="1.0" encoding="utf-8"?>
<ds:datastoreItem xmlns:ds="http://schemas.openxmlformats.org/officeDocument/2006/customXml" ds:itemID="{1637D68E-30AA-4BDC-AC1F-B10AC9305C83}"/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2970</Words>
  <Application>Microsoft Office PowerPoint</Application>
  <PresentationFormat>Widescreen</PresentationFormat>
  <Paragraphs>355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Courier New</vt:lpstr>
      <vt:lpstr>Office Theme</vt:lpstr>
      <vt:lpstr>Python</vt:lpstr>
      <vt:lpstr>pip install psycopg</vt:lpstr>
      <vt:lpstr>PowerPoint Presentation</vt:lpstr>
      <vt:lpstr>PyPGAppl.py</vt:lpstr>
      <vt:lpstr>PyPGAppl.py</vt:lpstr>
      <vt:lpstr>PyPGAppl.py</vt:lpstr>
      <vt:lpstr>PowerPoint Presentation</vt:lpstr>
      <vt:lpstr>PyPGAppl.py</vt:lpstr>
      <vt:lpstr>PowerPoint Presentation</vt:lpstr>
      <vt:lpstr>PyPGAppl.py</vt:lpstr>
      <vt:lpstr>PowerPoint Presentation</vt:lpstr>
      <vt:lpstr>Connect.py</vt:lpstr>
      <vt:lpstr>PowerPoint Presentation</vt:lpstr>
      <vt:lpstr>Connect.py</vt:lpstr>
      <vt:lpstr>Connect.py</vt:lpstr>
      <vt:lpstr>Connect.py</vt:lpstr>
      <vt:lpstr>CreateDB.py</vt:lpstr>
      <vt:lpstr>CreateDB.py</vt:lpstr>
      <vt:lpstr>CreateDB.py</vt:lpstr>
      <vt:lpstr>select * from pg_database</vt:lpstr>
      <vt:lpstr>CreateTab.py</vt:lpstr>
      <vt:lpstr>CreateTab.py</vt:lpstr>
      <vt:lpstr>CreateTab.py</vt:lpstr>
      <vt:lpstr>CreateTab.py</vt:lpstr>
      <vt:lpstr>PowerPoint Presentation</vt:lpstr>
      <vt:lpstr>Create InsertData.py</vt:lpstr>
      <vt:lpstr>Create InsertData.py</vt:lpstr>
      <vt:lpstr>Create InsertData.py</vt:lpstr>
      <vt:lpstr>InsertData.py</vt:lpstr>
      <vt:lpstr>Create InsertData.py</vt:lpstr>
      <vt:lpstr>PowerPoint Presentation</vt:lpstr>
      <vt:lpstr>Read SelectData.py</vt:lpstr>
      <vt:lpstr>Read SelectData.py</vt:lpstr>
      <vt:lpstr>Read SelectData.py</vt:lpstr>
      <vt:lpstr>PowerPoint Presentation</vt:lpstr>
      <vt:lpstr>UpdateData.py</vt:lpstr>
      <vt:lpstr>UpdateData.py</vt:lpstr>
      <vt:lpstr>Update UpdateData.py</vt:lpstr>
      <vt:lpstr>DeleteData.py</vt:lpstr>
      <vt:lpstr>DeleteData.py</vt:lpstr>
      <vt:lpstr>PowerPoint Presentation</vt:lpstr>
      <vt:lpstr>nwCustomers.py</vt:lpstr>
      <vt:lpstr>nwCustomers.py</vt:lpstr>
      <vt:lpstr>nwCustomers.py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14</cp:revision>
  <dcterms:created xsi:type="dcterms:W3CDTF">2025-11-17T21:06:32Z</dcterms:created>
  <dcterms:modified xsi:type="dcterms:W3CDTF">2025-11-19T07:50:58Z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2025-11-17T21:06:48Z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4c27f314-ee9f-4c9e-9c59-5bce4a845060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