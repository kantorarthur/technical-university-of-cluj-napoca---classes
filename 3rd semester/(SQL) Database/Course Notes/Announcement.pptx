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0A62-879D-8D36-3392-84DB15A8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C55F4-3853-0877-A4C1-04E205970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CB574-EEC1-8E0E-E859-A5021A28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C1FE4-762B-F6AE-9BCF-E59C86C6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0D4A6-47BF-0086-2C51-0F52F265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54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77F3-0F62-99AD-B805-5ED4DFD1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FE3AA-8C2F-6EC1-CDB7-FDB23D664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58BEA-9B70-C2DB-5BB1-CDF546C4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7B248-9820-0A6B-14CB-01C2A35E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5D31-79DB-0FC2-FF4D-CC597C7D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3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C963A-50C8-802F-36D2-B99D93CE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F2FC9-0B36-C160-37E4-7ADC7C129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10AB0-4BF5-2E9B-9652-E4FDC8C6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B12F-F61D-4354-C7E5-1410353E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F5564-A219-8037-B97E-443B41F02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9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CFC3-6BC5-76D1-9F0E-3B57BA1F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BC1AD-37A1-0435-F39A-3979831D1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B3216-E8D1-4592-D093-596FD2F28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2419B-D447-4216-6701-ABEC2C88A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538CB-FA58-BFB3-104F-8FFAEF5C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3BF04-4F4B-D138-96EB-C4D8CDB5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4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81AC-DE7F-7FB8-D847-8BCDF74EB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F21B2-E1AC-F63C-CEE4-681A6C572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C4E4B-C252-71A9-23C7-4CBE35B5E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CE17D-04FA-7FE2-CA4F-CD3B895A6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1E334-4424-9F71-0EED-53AA01A20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ED978-7DE3-C3E7-F9C3-9319A8EA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17427-14CA-4622-9CD0-F33FDB71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877A81-4A43-AB45-7B8F-337E0148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76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17F8-F91C-26C0-27EC-3C559FE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93326-F478-FCB4-685A-9DBFC7AE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0D492-37C1-51B1-915B-FB23F97B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79E86-257B-4F47-21B5-377FD6D6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2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5F12F-E4C9-8D2F-3AAA-9311C8FE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12298-2B77-9192-D506-F958AB48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A171B-CCDA-629F-6508-70BA3A60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7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9294-6673-0343-B523-B640A37FD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8989B-D4A9-3CE8-2E23-10E8B5DBF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742E3-B756-2637-9047-D8A595C1F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97BA6-FED4-DD1D-33DD-EE5FE9D8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E9CCF-9547-7BD5-DF0C-EACA6EE5B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AFE09-1914-AFC6-1469-BEC61037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2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0AAA-7D2D-FE23-05C4-9BE92A13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F98FC-80DB-7FA1-8651-132023E35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B2720-2C48-C289-0753-540FCEB03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5E8D9-F981-2B72-3367-08CF2AD2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9FBC2-6B3E-AC04-A223-9A9EA667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B456C-6003-1F9C-1608-75C96295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0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1E89-D8FF-CB06-D281-3087CD69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706CB-CB0C-1057-30F0-E61F734A9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DB9D4-84E7-F78D-0A72-84A1E7CF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7434E-B569-EDD1-06AE-E1825AF1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70F4-7E1E-2D58-A0E4-A0A4DC4C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1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2DEEC-EAE5-C8CC-9B07-684A62DC2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848A0-F664-EB2A-4D1D-ED170D8D1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B0F8C-CC04-130B-12F0-4080C0A9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9B69E-0B5F-E660-2CBA-7DBD6364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55790-01B5-68EA-2512-DD826F8A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9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61136-32D8-0DE3-BE51-B90B6FF5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2F12B-0BF5-1A73-C51E-1157DA578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A5A8-1A1C-B50C-3818-EE4A129E7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297F0-7736-4FEA-954F-0F196B5F212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35A4E-446E-3A7D-FCED-EB635D4FE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15778-6E83-B43B-E2F3-C7440DA5B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890E7-9985-483C-BC7E-A13D35B33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7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ex.oracle.com/e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racle.zoom.us/webinar/register/WN_1KAdmmfuQSGgO1P1L0iJXw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2ED1-FC20-C7D1-8B69-2CD4DB7323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Announcement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B2D75-3CBD-055E-1F23-4962FA118D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121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3AFE-CC03-7F9B-73CA-1339B32E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APEX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15BDD-B300-B674-3B1F-4898FDBD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 data de 18 NOIEMBRIE 2025, INTERVALUL 16:30 – 18:00 </a:t>
            </a:r>
            <a:r>
              <a:rPr lang="en-US" dirty="0" err="1"/>
              <a:t>va</a:t>
            </a:r>
            <a:r>
              <a:rPr lang="en-US" dirty="0"/>
              <a:t> </a:t>
            </a:r>
            <a:r>
              <a:rPr lang="en-US" dirty="0" err="1"/>
              <a:t>invitam</a:t>
            </a:r>
            <a:r>
              <a:rPr lang="en-US" dirty="0"/>
              <a:t> la</a:t>
            </a:r>
            <a:br>
              <a:rPr lang="en-US" dirty="0"/>
            </a:br>
            <a:r>
              <a:rPr lang="en-US" dirty="0"/>
              <a:t>Webinar-ul online (ZOOM) </a:t>
            </a:r>
            <a:r>
              <a:rPr lang="en-US" dirty="0" err="1"/>
              <a:t>pentru</a:t>
            </a:r>
            <a:r>
              <a:rPr lang="en-US" dirty="0"/>
              <a:t> </a:t>
            </a:r>
            <a:r>
              <a:rPr lang="en-US" dirty="0" err="1"/>
              <a:t>studentii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sz="3000" dirty="0"/>
              <a:t>ORACLE APEX 24.2 NEW FEATURES &amp; REAL LIFE EXAMPLES</a:t>
            </a:r>
          </a:p>
          <a:p>
            <a:r>
              <a:rPr lang="en-US" sz="3200" dirty="0">
                <a:hlinkClick r:id="rId2"/>
              </a:rPr>
              <a:t>Oracle APEX</a:t>
            </a:r>
            <a:r>
              <a:rPr lang="en-US" sz="3200" dirty="0"/>
              <a:t> </a:t>
            </a:r>
            <a:r>
              <a:rPr lang="en-US" sz="3200" dirty="0">
                <a:hlinkClick r:id="rId2"/>
              </a:rPr>
              <a:t>https://apex.oracle.com/en/</a:t>
            </a:r>
            <a:endParaRPr lang="en-US" sz="32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9745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3DFC-C21F-E34F-1E5E-31377BAC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D1CA-109C-E93B-E937-E1318BD8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APEX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71DFB-D8E2-3AFF-EC6E-3E3A8F82A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link-ul pe care </a:t>
            </a:r>
            <a:r>
              <a:rPr lang="en-US" dirty="0" err="1"/>
              <a:t>trebuie</a:t>
            </a:r>
            <a:r>
              <a:rPr lang="en-US" dirty="0"/>
              <a:t> </a:t>
            </a:r>
            <a:r>
              <a:rPr lang="en-US" dirty="0" err="1"/>
              <a:t>sa</a:t>
            </a:r>
            <a:r>
              <a:rPr lang="en-US" dirty="0"/>
              <a:t> se </a:t>
            </a:r>
            <a:r>
              <a:rPr lang="en-US" dirty="0" err="1"/>
              <a:t>inregistreze</a:t>
            </a:r>
            <a:r>
              <a:rPr lang="en-US" dirty="0"/>
              <a:t> </a:t>
            </a:r>
            <a:r>
              <a:rPr lang="en-US" dirty="0" err="1"/>
              <a:t>toti</a:t>
            </a:r>
            <a:r>
              <a:rPr lang="en-US" dirty="0"/>
              <a:t> </a:t>
            </a:r>
            <a:r>
              <a:rPr lang="en-US" dirty="0" err="1"/>
              <a:t>cei</a:t>
            </a:r>
            <a:r>
              <a:rPr lang="en-US" dirty="0"/>
              <a:t> care </a:t>
            </a:r>
            <a:r>
              <a:rPr lang="en-US" dirty="0" err="1"/>
              <a:t>doresc</a:t>
            </a:r>
            <a:r>
              <a:rPr lang="en-US" dirty="0"/>
              <a:t> </a:t>
            </a:r>
            <a:r>
              <a:rPr lang="en-US" dirty="0" err="1"/>
              <a:t>sa</a:t>
            </a:r>
            <a:r>
              <a:rPr lang="en-US" dirty="0"/>
              <a:t> </a:t>
            </a:r>
            <a:r>
              <a:rPr lang="en-US" dirty="0" err="1"/>
              <a:t>participe</a:t>
            </a:r>
            <a:r>
              <a:rPr lang="en-US" dirty="0"/>
              <a:t> la </a:t>
            </a:r>
            <a:r>
              <a:rPr lang="en-US" dirty="0" err="1"/>
              <a:t>evenimentul</a:t>
            </a:r>
            <a:r>
              <a:rPr lang="en-US" dirty="0"/>
              <a:t> online, </a:t>
            </a:r>
            <a:r>
              <a:rPr lang="en-US" dirty="0" err="1"/>
              <a:t>deoarece</a:t>
            </a:r>
            <a:r>
              <a:rPr lang="en-US" dirty="0"/>
              <a:t> </a:t>
            </a:r>
            <a:r>
              <a:rPr lang="en-US" dirty="0" err="1"/>
              <a:t>altfel</a:t>
            </a:r>
            <a:r>
              <a:rPr lang="en-US" dirty="0"/>
              <a:t> nu pot </a:t>
            </a:r>
            <a:r>
              <a:rPr lang="en-US" dirty="0" err="1"/>
              <a:t>accesa</a:t>
            </a:r>
            <a:r>
              <a:rPr lang="en-US" dirty="0"/>
              <a:t> link-ul de webinar</a:t>
            </a:r>
          </a:p>
          <a:p>
            <a:endParaRPr lang="en-US" dirty="0"/>
          </a:p>
          <a:p>
            <a:r>
              <a:rPr lang="en-US" dirty="0"/>
              <a:t>REGISTRATION LINK</a:t>
            </a:r>
          </a:p>
          <a:p>
            <a:r>
              <a:rPr lang="en-US" dirty="0">
                <a:hlinkClick r:id="rId2"/>
              </a:rPr>
              <a:t>https://oracle.zoom.us/webinar/register/WN_1KAdmmfuQSGgO1P1L0iJXw</a:t>
            </a:r>
            <a:r>
              <a:rPr lang="en-US" dirty="0"/>
              <a:t>  [</a:t>
            </a:r>
            <a:r>
              <a:rPr lang="en-US" dirty="0">
                <a:hlinkClick r:id="rId2"/>
              </a:rPr>
              <a:t>1</a:t>
            </a:r>
            <a:r>
              <a:rPr lang="en-US" dirty="0"/>
              <a:t>]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4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03A8-F3B8-2AD9-4B78-3C69FB3D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6DC5-CAE6-FCFD-0194-A6C039EA1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Oracle APEX (Oracle Application Express) is a low-code application development platform; used for developing and deploying cloud, mobile and desktop applications; has a web-based integrated development environment (IDE) </a:t>
            </a:r>
          </a:p>
          <a:p>
            <a:r>
              <a:rPr lang="en-US" dirty="0"/>
              <a:t>is a feature of the Oracle </a:t>
            </a:r>
            <a:r>
              <a:rPr lang="en-US" sz="3200" dirty="0"/>
              <a:t>Database</a:t>
            </a:r>
            <a:endParaRPr lang="en-US" dirty="0"/>
          </a:p>
          <a:p>
            <a:r>
              <a:rPr lang="en-US" dirty="0"/>
              <a:t>is a part of the Oracle Cloud within the Autonomous Database Cloud Services and the stand-alone APEX Application Development service</a:t>
            </a:r>
          </a:p>
        </p:txBody>
      </p:sp>
    </p:spTree>
    <p:extLst>
      <p:ext uri="{BB962C8B-B14F-4D97-AF65-F5344CB8AC3E}">
        <p14:creationId xmlns:p14="http://schemas.microsoft.com/office/powerpoint/2010/main" val="2959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AF6A-353E-2821-E026-B8AC3C13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Evaluarea</a:t>
            </a:r>
            <a:r>
              <a:rPr lang="en-US" dirty="0"/>
              <a:t>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D7E0D-F690-9570-B7FA-C60DABC67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"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săptămâna</a:t>
            </a:r>
            <a:r>
              <a:rPr lang="en-US" dirty="0"/>
              <a:t> 10.11-16.11.2025 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loc prima </a:t>
            </a:r>
            <a:r>
              <a:rPr lang="en-US" dirty="0" err="1"/>
              <a:t>etapă</a:t>
            </a:r>
            <a:r>
              <a:rPr lang="en-US" dirty="0"/>
              <a:t> a </a:t>
            </a:r>
            <a:r>
              <a:rPr lang="en-US" dirty="0" err="1"/>
              <a:t>evaluării</a:t>
            </a:r>
            <a:r>
              <a:rPr lang="en-US" dirty="0"/>
              <a:t> </a:t>
            </a:r>
            <a:r>
              <a:rPr lang="en-US" dirty="0" err="1"/>
              <a:t>activității</a:t>
            </a:r>
            <a:r>
              <a:rPr lang="en-US" dirty="0"/>
              <a:t> </a:t>
            </a:r>
            <a:r>
              <a:rPr lang="en-US" dirty="0" err="1"/>
              <a:t>cadrelor</a:t>
            </a:r>
            <a:r>
              <a:rPr lang="en-US" dirty="0"/>
              <a:t> </a:t>
            </a:r>
            <a:r>
              <a:rPr lang="en-US" dirty="0" err="1"/>
              <a:t>didactice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studenți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conformitate</a:t>
            </a:r>
            <a:r>
              <a:rPr lang="en-US" dirty="0"/>
              <a:t> cu </a:t>
            </a:r>
            <a:r>
              <a:rPr lang="en-US" dirty="0" err="1"/>
              <a:t>Metodologia</a:t>
            </a:r>
            <a:r>
              <a:rPr lang="en-US" dirty="0"/>
              <a:t> de </a:t>
            </a:r>
            <a:r>
              <a:rPr lang="en-US" dirty="0" err="1"/>
              <a:t>evaluare</a:t>
            </a:r>
            <a:r>
              <a:rPr lang="en-US" dirty="0"/>
              <a:t> (https://www.utcluj.ro/media/decisions/2025/07/18/H.Senat_nr._2046_Metodologia_de_evaluare_a_activitatii_didactice_de_o1p3P2v.pdf), Art. 4.7: ”</a:t>
            </a:r>
            <a:r>
              <a:rPr lang="en-US" dirty="0" err="1"/>
              <a:t>cadrele</a:t>
            </a:r>
            <a:r>
              <a:rPr lang="en-US" dirty="0"/>
              <a:t> </a:t>
            </a:r>
            <a:r>
              <a:rPr lang="en-US" dirty="0" err="1"/>
              <a:t>didactice</a:t>
            </a:r>
            <a:r>
              <a:rPr lang="en-US" dirty="0"/>
              <a:t> au </a:t>
            </a:r>
            <a:r>
              <a:rPr lang="en-US" dirty="0" err="1"/>
              <a:t>obligația</a:t>
            </a:r>
            <a:r>
              <a:rPr lang="en-US" dirty="0"/>
              <a:t> de a </a:t>
            </a:r>
            <a:r>
              <a:rPr lang="en-US" dirty="0" err="1"/>
              <a:t>aloca</a:t>
            </a:r>
            <a:r>
              <a:rPr lang="en-US" dirty="0"/>
              <a:t> 10 minute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activităților</a:t>
            </a:r>
            <a:r>
              <a:rPr lang="en-US" dirty="0"/>
              <a:t> </a:t>
            </a:r>
            <a:r>
              <a:rPr lang="en-US" dirty="0" err="1"/>
              <a:t>didactice</a:t>
            </a:r>
            <a:r>
              <a:rPr lang="en-US" dirty="0"/>
              <a:t> pe care le </a:t>
            </a:r>
            <a:r>
              <a:rPr lang="en-US" dirty="0" err="1"/>
              <a:t>desfășoară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săptămâna</a:t>
            </a:r>
            <a:r>
              <a:rPr lang="en-US" dirty="0"/>
              <a:t> 7 a </a:t>
            </a:r>
            <a:r>
              <a:rPr lang="en-US" dirty="0" err="1"/>
              <a:t>fiecărui</a:t>
            </a:r>
            <a:r>
              <a:rPr lang="en-US" dirty="0"/>
              <a:t> </a:t>
            </a:r>
            <a:r>
              <a:rPr lang="en-US" dirty="0" err="1"/>
              <a:t>semestru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completarea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studenți</a:t>
            </a:r>
            <a:r>
              <a:rPr lang="en-US" dirty="0"/>
              <a:t> a </a:t>
            </a:r>
            <a:r>
              <a:rPr lang="en-US" dirty="0" err="1"/>
              <a:t>chestionarelor</a:t>
            </a:r>
            <a:r>
              <a:rPr lang="en-US" dirty="0"/>
              <a:t> online de </a:t>
            </a:r>
            <a:r>
              <a:rPr lang="en-US" dirty="0" err="1"/>
              <a:t>evaluare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 err="1"/>
              <a:t>Vă</a:t>
            </a:r>
            <a:r>
              <a:rPr lang="en-US" dirty="0"/>
              <a:t> </a:t>
            </a:r>
            <a:r>
              <a:rPr lang="en-US" dirty="0" err="1"/>
              <a:t>rugăm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asigurați</a:t>
            </a:r>
            <a:r>
              <a:rPr lang="en-US" dirty="0"/>
              <a:t> buna </a:t>
            </a:r>
            <a:r>
              <a:rPr lang="en-US" dirty="0" err="1"/>
              <a:t>desfășurare</a:t>
            </a:r>
            <a:r>
              <a:rPr lang="en-US" dirty="0"/>
              <a:t> a </a:t>
            </a:r>
            <a:r>
              <a:rPr lang="en-US" dirty="0" err="1"/>
              <a:t>evaluărilor</a:t>
            </a:r>
            <a:r>
              <a:rPr lang="en-US" dirty="0"/>
              <a:t>."</a:t>
            </a:r>
          </a:p>
          <a:p>
            <a:r>
              <a:rPr lang="en-US" dirty="0" err="1"/>
              <a:t>Sunteti</a:t>
            </a:r>
            <a:r>
              <a:rPr lang="en-US" dirty="0"/>
              <a:t> </a:t>
            </a:r>
            <a:r>
              <a:rPr lang="en-US" dirty="0" err="1"/>
              <a:t>rugati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transmiteti</a:t>
            </a:r>
            <a:r>
              <a:rPr lang="en-US" dirty="0"/>
              <a:t> </a:t>
            </a:r>
            <a:r>
              <a:rPr lang="en-US" dirty="0" err="1"/>
              <a:t>studentilor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ii </a:t>
            </a:r>
            <a:r>
              <a:rPr lang="en-US" dirty="0" err="1"/>
              <a:t>incurajati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dirty="0" err="1"/>
              <a:t>evaluarea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7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57BF-744E-FAEC-EA46-CA634CFB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A95D1-B08B-26C1-AABE-C2D02C758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Codurile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alocate</a:t>
            </a:r>
            <a:r>
              <a:rPr lang="en-US" dirty="0"/>
              <a:t> </a:t>
            </a:r>
            <a:r>
              <a:rPr lang="en-US" dirty="0" err="1"/>
              <a:t>aleatoriu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SINU,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studenții</a:t>
            </a:r>
            <a:r>
              <a:rPr lang="en-US" dirty="0"/>
              <a:t> le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accesa</a:t>
            </a:r>
            <a:r>
              <a:rPr lang="en-US" dirty="0"/>
              <a:t> din </a:t>
            </a:r>
            <a:r>
              <a:rPr lang="en-US" dirty="0" err="1"/>
              <a:t>contul</a:t>
            </a:r>
            <a:r>
              <a:rPr lang="en-US" dirty="0"/>
              <a:t> personal (https://websinu.utcluj.ro/).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8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6B5114-4D54-4055-9ED3-82EA50AF2CAF}"/>
</file>

<file path=customXml/itemProps2.xml><?xml version="1.0" encoding="utf-8"?>
<ds:datastoreItem xmlns:ds="http://schemas.openxmlformats.org/officeDocument/2006/customXml" ds:itemID="{13717FFD-F4B4-4CF7-9855-3FF2DB85DC1A}"/>
</file>

<file path=customXml/itemProps3.xml><?xml version="1.0" encoding="utf-8"?>
<ds:datastoreItem xmlns:ds="http://schemas.openxmlformats.org/officeDocument/2006/customXml" ds:itemID="{50F0BA81-0474-4FD6-81C8-3B81F1B6D285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317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Announcement</vt:lpstr>
      <vt:lpstr>Oracle APEX</vt:lpstr>
      <vt:lpstr>Oracle APEX</vt:lpstr>
      <vt:lpstr>PowerPoint Presentation</vt:lpstr>
      <vt:lpstr>Evaluarea 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Calin Cenan</dc:creator>
  <cp:lastModifiedBy>Calin Cenan</cp:lastModifiedBy>
  <cp:revision>2</cp:revision>
  <dcterms:created xsi:type="dcterms:W3CDTF">2025-11-10T13:54:03Z</dcterms:created>
  <dcterms:modified xsi:type="dcterms:W3CDTF">2025-11-10T14:07:29Z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2025-11-10T14:03:09Z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14723b5a-e558-4fd2-bd18-b849c30eb6f8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ContentTypeId">
    <vt:lpwstr>0x01010042D1F13D339BA04089B6530E3063BBB0</vt:lpwstr>
  </property>
</Properties>
</file>