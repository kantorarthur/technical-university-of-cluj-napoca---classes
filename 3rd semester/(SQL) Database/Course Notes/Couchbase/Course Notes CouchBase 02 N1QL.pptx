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6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4" r:id="rId9"/>
    <p:sldId id="263" r:id="rId10"/>
    <p:sldId id="265" r:id="rId11"/>
    <p:sldId id="349" r:id="rId12"/>
    <p:sldId id="267" r:id="rId13"/>
    <p:sldId id="268" r:id="rId14"/>
    <p:sldId id="285" r:id="rId15"/>
    <p:sldId id="286" r:id="rId16"/>
    <p:sldId id="288" r:id="rId17"/>
    <p:sldId id="287" r:id="rId18"/>
    <p:sldId id="289" r:id="rId19"/>
    <p:sldId id="290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91" r:id="rId37"/>
    <p:sldId id="299" r:id="rId38"/>
    <p:sldId id="292" r:id="rId39"/>
    <p:sldId id="300" r:id="rId40"/>
    <p:sldId id="293" r:id="rId41"/>
    <p:sldId id="294" r:id="rId42"/>
    <p:sldId id="295" r:id="rId43"/>
    <p:sldId id="297" r:id="rId44"/>
    <p:sldId id="296" r:id="rId45"/>
    <p:sldId id="298" r:id="rId46"/>
    <p:sldId id="301" r:id="rId47"/>
    <p:sldId id="302" r:id="rId48"/>
    <p:sldId id="303" r:id="rId49"/>
    <p:sldId id="304" r:id="rId50"/>
    <p:sldId id="305" r:id="rId51"/>
    <p:sldId id="311" r:id="rId52"/>
    <p:sldId id="307" r:id="rId53"/>
    <p:sldId id="308" r:id="rId54"/>
    <p:sldId id="313" r:id="rId55"/>
    <p:sldId id="312" r:id="rId56"/>
    <p:sldId id="306" r:id="rId57"/>
    <p:sldId id="309" r:id="rId58"/>
    <p:sldId id="310" r:id="rId59"/>
    <p:sldId id="315" r:id="rId60"/>
    <p:sldId id="314" r:id="rId61"/>
    <p:sldId id="316" r:id="rId62"/>
    <p:sldId id="317" r:id="rId63"/>
    <p:sldId id="318" r:id="rId64"/>
    <p:sldId id="319" r:id="rId65"/>
    <p:sldId id="320" r:id="rId66"/>
    <p:sldId id="321" r:id="rId67"/>
    <p:sldId id="333" r:id="rId68"/>
    <p:sldId id="325" r:id="rId69"/>
    <p:sldId id="327" r:id="rId70"/>
    <p:sldId id="332" r:id="rId71"/>
    <p:sldId id="329" r:id="rId72"/>
    <p:sldId id="331" r:id="rId73"/>
    <p:sldId id="334" r:id="rId74"/>
    <p:sldId id="335" r:id="rId75"/>
    <p:sldId id="336" r:id="rId76"/>
    <p:sldId id="330" r:id="rId77"/>
    <p:sldId id="339" r:id="rId78"/>
    <p:sldId id="337" r:id="rId79"/>
    <p:sldId id="341" r:id="rId80"/>
    <p:sldId id="352" r:id="rId81"/>
    <p:sldId id="343" r:id="rId82"/>
    <p:sldId id="344" r:id="rId83"/>
    <p:sldId id="345" r:id="rId84"/>
    <p:sldId id="346" r:id="rId85"/>
    <p:sldId id="347" r:id="rId86"/>
    <p:sldId id="348" r:id="rId87"/>
    <p:sldId id="358" r:id="rId88"/>
    <p:sldId id="356" r:id="rId89"/>
    <p:sldId id="353" r:id="rId90"/>
    <p:sldId id="357" r:id="rId91"/>
    <p:sldId id="354" r:id="rId92"/>
    <p:sldId id="359" r:id="rId93"/>
    <p:sldId id="360" r:id="rId94"/>
    <p:sldId id="355" r:id="rId95"/>
    <p:sldId id="361" r:id="rId96"/>
    <p:sldId id="362" r:id="rId97"/>
    <p:sldId id="363" r:id="rId98"/>
    <p:sldId id="351" r:id="rId99"/>
    <p:sldId id="350" r:id="rId100"/>
    <p:sldId id="374" r:id="rId101"/>
    <p:sldId id="364" r:id="rId102"/>
    <p:sldId id="365" r:id="rId103"/>
    <p:sldId id="366" r:id="rId104"/>
    <p:sldId id="367" r:id="rId105"/>
    <p:sldId id="368" r:id="rId106"/>
    <p:sldId id="369" r:id="rId107"/>
    <p:sldId id="371" r:id="rId108"/>
    <p:sldId id="372" r:id="rId109"/>
    <p:sldId id="370" r:id="rId110"/>
    <p:sldId id="373" r:id="rId111"/>
    <p:sldId id="376" r:id="rId112"/>
    <p:sldId id="375" r:id="rId113"/>
    <p:sldId id="377" r:id="rId114"/>
    <p:sldId id="378" r:id="rId1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customXml" Target="../customXml/item3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customXml" Target="../customXml/item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073220-3883-4EFA-9E8B-3A447BD1024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BEDB7-1A7D-4D85-8660-BA9A7935A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2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5516-2DD7-E7D8-4993-FB7F80C4C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23BB3-0E57-A820-31A6-CF9A7C2CA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6879A-71D6-E8EF-F9DD-AF2C93B4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05F2A-DD61-400C-AD9C-81EA6757D067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90E69-3F82-A743-096F-DA8F561C1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E328D-A681-3B48-49E2-1CA93B6B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6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6376-C034-6FC9-E994-0F372A02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5000B-7B99-6B19-1252-1AF5895C1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D0C74-FD79-DC99-51CB-8E124165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CE3B-174B-4608-9BD7-F098BF482872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B22FE-CE0D-00F2-9F93-6CF64BED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B7D66-CE9B-A286-6663-A397534BC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3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65CA-3620-8E79-2C9C-527F6A275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DC832-EE49-5CB1-11AD-C7D6AC9D4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7EA37-E90B-EBD6-0528-1CC97CF0A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2C94-2FA4-4A87-AFFE-C23757257A10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EA21B-FC7B-2889-7F3B-2DA8E418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224B8-0417-212F-9301-D4B1A9FA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25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7151-92FF-ADB3-4A12-0BAEB06CF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D53AF-44B5-1922-6665-C959153E3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958FB-FFD6-60B2-9F14-C9182E8D2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34E5F-8D79-1A4B-9717-CFD950AF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ED2F-6BAE-4797-9267-93E99F4A381C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C3B73-AF83-3F0F-A565-8D4DC0F3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8A370-72F9-4EEC-1932-B3C9C4262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4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776E5-0CFE-B7B0-594B-144D48894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07F58-4294-CC9B-5DD2-B0ADD59DF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4713A-666A-45A1-F7E3-D04CEBF84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4046BA-BF5F-4FA8-C957-CECFA0537C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E5E13-B6A9-2F3A-9670-157A50E5AE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3D5EDD-D671-681B-C0C9-8F7A6AC19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0218-34A7-41D7-9BB4-B72ACCB18F61}" type="datetime1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3AE06-EAB1-6F75-ED6E-F97A989E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BD3212-495B-CFC6-5EB5-3D7E4740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6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453C2-FD77-50FB-1F6B-8A999E6C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B9AD7-2213-1474-F0EE-1A633A84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AE845-71F5-4005-BFC0-2891675453FF}" type="datetime1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27480-5D21-B802-9AF9-5AE11D13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CC7EA-E346-1E95-F48A-2A631DB7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7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02ADB-3651-6F40-D6E4-61F00C7A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576C-657E-4D25-9EF1-4B216F92C717}" type="datetime1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42D84-4D9C-1E15-CB0E-FB35C482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EA0B7-7A20-9BEE-1CC0-D116CF614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94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DA4A-4DD9-B315-D14E-EE35AE0E4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01E99-EC72-D926-A2E2-9B3CE1234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60337-7297-F829-3B91-CDA3FF9FF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55C87-14AA-F1E1-747F-F0D1364A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44A64-AD55-4510-B00E-9157AA266EE7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2842D-89F7-6A6B-BF9D-24120D2E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69113-6F6B-9397-4A62-8A02EEE23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58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BF35-0F41-DFFE-4FB1-65723B7E1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82F7F0-BD8C-C4F4-58E8-8CAD23CEA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E5350-3244-1D34-F566-2969D7B75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B9AD5-B8F2-A7B2-C5CA-3063509B8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D1C6-00DE-41E1-8B71-5D7D1336D391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24EEF-5E2F-5406-1CB0-3BC015F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02FD2-CED1-47AF-7410-B15027DC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8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2A678-73D7-DFD6-D22C-137D80E5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91493-C11D-BAA0-962F-C4A29ABA0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9692C-8AD3-6FFC-5412-836F3A1B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D88A-8377-4213-845A-D1FEDFF270B2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F1E1A-9D53-43D7-6A64-D09C7015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05D1B-B54E-F26F-00CC-30F0841F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32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1FA90-97A8-4E94-6BF4-FE230DC6D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CDB52-1ABA-36EF-4B43-ADE495082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CA3BB-12C9-E70A-E247-E98BD199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7B9B0-D1DF-4C32-AE6B-43B84C164DA3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9BEC2-8E4D-177C-EB75-BA0D9230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7D5F4-7D20-9377-0925-3114223BC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65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717A396-9E77-4408-A7C7-E52016FE5C9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9848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FEFC1F-8BD8-E984-F392-67CC4F211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EADF7-1C96-55AF-3AF9-120531D3B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A708D-51CA-D3B9-A605-ACDD4B866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232151-778A-42D5-9A8D-ACE813945EBC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E57C8-4D1E-1D48-C0B5-C1BF5EE48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49EA1-9E78-F259-2031-8F4EEB9FB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DD11-8C12-4A89-A1F6-F472C841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85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ouchbase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query-tutorial.couchbase.com/tutorial/#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couchbase.com/server/current/n1ql/n1ql-language-reference/build-index.html" TargetMode="External"/><Relationship Id="rId13" Type="http://schemas.openxmlformats.org/officeDocument/2006/relationships/hyperlink" Target="https://docs.couchbase.com/server/current/n1ql/n1ql-language-reference/createindex.html" TargetMode="External"/><Relationship Id="rId18" Type="http://schemas.openxmlformats.org/officeDocument/2006/relationships/hyperlink" Target="https://docs.couchbase.com/server/current/n1ql/n1ql-language-reference/createvectorindex.html" TargetMode="External"/><Relationship Id="rId26" Type="http://schemas.openxmlformats.org/officeDocument/2006/relationships/hyperlink" Target="https://docs.couchbase.com/server/current/n1ql/n1ql-language-reference/dropscope.html" TargetMode="External"/><Relationship Id="rId3" Type="http://schemas.openxmlformats.org/officeDocument/2006/relationships/hyperlink" Target="https://docs.couchbase.com/server/current/n1ql/n1ql-language-reference/altergroup.html" TargetMode="External"/><Relationship Id="rId21" Type="http://schemas.openxmlformats.org/officeDocument/2006/relationships/hyperlink" Target="https://docs.couchbase.com/server/current/n1ql/n1ql-language-reference/dropfunction.html" TargetMode="External"/><Relationship Id="rId7" Type="http://schemas.openxmlformats.org/officeDocument/2006/relationships/hyperlink" Target="https://docs.couchbase.com/server/current/n1ql/n1ql-language-reference/altervectorindex.html" TargetMode="External"/><Relationship Id="rId12" Type="http://schemas.openxmlformats.org/officeDocument/2006/relationships/hyperlink" Target="https://docs.couchbase.com/server/current/n1ql/n1ql-language-reference/creategroup.html" TargetMode="External"/><Relationship Id="rId17" Type="http://schemas.openxmlformats.org/officeDocument/2006/relationships/hyperlink" Target="https://docs.couchbase.com/server/current/n1ql/n1ql-language-reference/createuser.html" TargetMode="External"/><Relationship Id="rId25" Type="http://schemas.openxmlformats.org/officeDocument/2006/relationships/hyperlink" Target="https://docs.couchbase.com/server/current/n1ql/n1ql-language-reference/dropsequence.html" TargetMode="External"/><Relationship Id="rId2" Type="http://schemas.openxmlformats.org/officeDocument/2006/relationships/hyperlink" Target="https://docs.couchbase.com/server/current/n1ql/n1ql-language-reference/alterbucket.html" TargetMode="External"/><Relationship Id="rId16" Type="http://schemas.openxmlformats.org/officeDocument/2006/relationships/hyperlink" Target="https://docs.couchbase.com/server/current/n1ql/n1ql-language-reference/createscope.html" TargetMode="External"/><Relationship Id="rId20" Type="http://schemas.openxmlformats.org/officeDocument/2006/relationships/hyperlink" Target="https://docs.couchbase.com/server/current/n1ql/n1ql-language-reference/dropcollection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cs.couchbase.com/server/current/n1ql/n1ql-language-reference/alteruser.html" TargetMode="External"/><Relationship Id="rId11" Type="http://schemas.openxmlformats.org/officeDocument/2006/relationships/hyperlink" Target="https://docs.couchbase.com/server/current/n1ql/n1ql-language-reference/createfunction.html" TargetMode="External"/><Relationship Id="rId24" Type="http://schemas.openxmlformats.org/officeDocument/2006/relationships/hyperlink" Target="https://docs.couchbase.com/server/current/n1ql/n1ql-language-reference/dropprimaryindex.html" TargetMode="External"/><Relationship Id="rId5" Type="http://schemas.openxmlformats.org/officeDocument/2006/relationships/hyperlink" Target="https://docs.couchbase.com/server/current/n1ql/n1ql-language-reference/altersequence.html" TargetMode="External"/><Relationship Id="rId15" Type="http://schemas.openxmlformats.org/officeDocument/2006/relationships/hyperlink" Target="https://docs.couchbase.com/server/current/n1ql/n1ql-language-reference/createsequence.html" TargetMode="External"/><Relationship Id="rId23" Type="http://schemas.openxmlformats.org/officeDocument/2006/relationships/hyperlink" Target="https://docs.couchbase.com/server/current/n1ql/n1ql-language-reference/dropindex.html" TargetMode="External"/><Relationship Id="rId28" Type="http://schemas.openxmlformats.org/officeDocument/2006/relationships/hyperlink" Target="https://docs.couchbase.com/server/current/n1ql/n1ql-language-reference/dropvectorindex.html" TargetMode="External"/><Relationship Id="rId10" Type="http://schemas.openxmlformats.org/officeDocument/2006/relationships/hyperlink" Target="https://docs.couchbase.com/server/current/n1ql/n1ql-language-reference/createcollection.html" TargetMode="External"/><Relationship Id="rId19" Type="http://schemas.openxmlformats.org/officeDocument/2006/relationships/hyperlink" Target="https://docs.couchbase.com/server/current/n1ql/n1ql-language-reference/dropbucket.html" TargetMode="External"/><Relationship Id="rId4" Type="http://schemas.openxmlformats.org/officeDocument/2006/relationships/hyperlink" Target="https://docs.couchbase.com/server/current/n1ql/n1ql-language-reference/alterindex.html" TargetMode="External"/><Relationship Id="rId9" Type="http://schemas.openxmlformats.org/officeDocument/2006/relationships/hyperlink" Target="https://docs.couchbase.com/server/current/n1ql/n1ql-language-reference/createbucket.html" TargetMode="External"/><Relationship Id="rId14" Type="http://schemas.openxmlformats.org/officeDocument/2006/relationships/hyperlink" Target="https://docs.couchbase.com/server/current/n1ql/n1ql-language-reference/createprimaryindex.html" TargetMode="External"/><Relationship Id="rId22" Type="http://schemas.openxmlformats.org/officeDocument/2006/relationships/hyperlink" Target="https://docs.couchbase.com/server/current/n1ql/n1ql-language-reference/dropgroup.html" TargetMode="External"/><Relationship Id="rId27" Type="http://schemas.openxmlformats.org/officeDocument/2006/relationships/hyperlink" Target="https://docs.couchbase.com/server/current/n1ql/n1ql-language-reference/dropuser.html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ouchbase.com/server/current/n1ql/n1ql-language-reference/insert.html" TargetMode="External"/><Relationship Id="rId2" Type="http://schemas.openxmlformats.org/officeDocument/2006/relationships/hyperlink" Target="https://docs.couchbase.com/server/current/n1ql/n1ql-language-reference/delet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couchbase.com/server/current/n1ql/n1ql-language-reference/upsert.html" TargetMode="External"/><Relationship Id="rId5" Type="http://schemas.openxmlformats.org/officeDocument/2006/relationships/hyperlink" Target="https://docs.couchbase.com/server/current/n1ql/n1ql-language-reference/update.html" TargetMode="External"/><Relationship Id="rId4" Type="http://schemas.openxmlformats.org/officeDocument/2006/relationships/hyperlink" Target="https://docs.couchbase.com/server/current/n1ql/n1ql-language-reference/merge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ouchbase.com/server/current/n1ql/n1ql-language-reference/begin-transaction.html" TargetMode="External"/><Relationship Id="rId7" Type="http://schemas.openxmlformats.org/officeDocument/2006/relationships/hyperlink" Target="https://docs.couchbase.com/server/current/n1ql/n1ql-language-reference/set-transaction.html" TargetMode="External"/><Relationship Id="rId2" Type="http://schemas.openxmlformats.org/officeDocument/2006/relationships/hyperlink" Target="https://docs.couchbase.com/server/current/n1ql/n1ql-language-reference/selectintro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couchbase.com/server/current/n1ql/n1ql-language-reference/savepoint.html" TargetMode="External"/><Relationship Id="rId5" Type="http://schemas.openxmlformats.org/officeDocument/2006/relationships/hyperlink" Target="https://docs.couchbase.com/server/current/n1ql/n1ql-language-reference/rollback-transaction.html" TargetMode="External"/><Relationship Id="rId4" Type="http://schemas.openxmlformats.org/officeDocument/2006/relationships/hyperlink" Target="https://docs.couchbase.com/server/current/n1ql/n1ql-language-reference/commit-transaction.html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couchbase.com/server/current/n1ql/n1ql-language-reference/prepare.html" TargetMode="External"/><Relationship Id="rId3" Type="http://schemas.openxmlformats.org/officeDocument/2006/relationships/hyperlink" Target="https://docs.couchbase.com/server/current/n1ql/n1ql-language-reference/execute.html" TargetMode="External"/><Relationship Id="rId7" Type="http://schemas.openxmlformats.org/officeDocument/2006/relationships/hyperlink" Target="https://docs.couchbase.com/server/current/n1ql/n1ql-language-reference/infer.html" TargetMode="External"/><Relationship Id="rId2" Type="http://schemas.openxmlformats.org/officeDocument/2006/relationships/hyperlink" Target="https://docs.couchbase.com/server/current/n1ql/n1ql-language-reference/advis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couchbase.com/server/current/n1ql/n1ql-language-reference/explainfunction.html" TargetMode="External"/><Relationship Id="rId5" Type="http://schemas.openxmlformats.org/officeDocument/2006/relationships/hyperlink" Target="https://docs.couchbase.com/server/current/n1ql/n1ql-language-reference/explain.html" TargetMode="External"/><Relationship Id="rId10" Type="http://schemas.openxmlformats.org/officeDocument/2006/relationships/hyperlink" Target="https://docs.couchbase.com/server/current/n1ql/n1ql-language-reference/using-ai.html" TargetMode="External"/><Relationship Id="rId4" Type="http://schemas.openxmlformats.org/officeDocument/2006/relationships/hyperlink" Target="https://docs.couchbase.com/server/current/n1ql/n1ql-language-reference/execfunction.html" TargetMode="External"/><Relationship Id="rId9" Type="http://schemas.openxmlformats.org/officeDocument/2006/relationships/hyperlink" Target="https://docs.couchbase.com/server/current/n1ql/n1ql-language-reference/updatestatistics.html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215D-9767-98B2-716C-77727F2D3B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Couchbase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506B2-7B13-43D2-8E4E-3B5B5A961E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229C4-2396-65BE-C4F0-72BCC943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28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6F58-24CA-4304-6918-620CAAEC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0DFC1-4CC2-8D3E-962A-0FBB2EDFF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Couchbase: Best Free NoSQL Cloud Database Platform</a:t>
            </a:r>
            <a:endParaRPr lang="en-US" dirty="0"/>
          </a:p>
          <a:p>
            <a:r>
              <a:rPr lang="en-US" dirty="0">
                <a:hlinkClick r:id="rId2"/>
              </a:rPr>
              <a:t>https://www.couchbase.com/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20D75-6CE6-8CB5-2F13-BC22C207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2</a:t>
            </a:fld>
            <a:endParaRPr lang="en-US" dirty="0"/>
          </a:p>
        </p:txBody>
      </p:sp>
      <p:pic>
        <p:nvPicPr>
          <p:cNvPr id="1026" name="Picture 2" descr="Couchbase logo in transparent PNG and vectorized SVG formats">
            <a:extLst>
              <a:ext uri="{FF2B5EF4-FFF2-40B4-BE49-F238E27FC236}">
                <a16:creationId xmlns:a16="http://schemas.microsoft.com/office/drawing/2014/main" id="{FBB7BC81-11D2-6A0D-4545-A216EB7D7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60" y="2468880"/>
            <a:ext cx="4112000" cy="4114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646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01B19-BC7F-15F9-F52E-CBB5BEB4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N1QL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D65B7-0943-DB4B-D52F-1215CA6B2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N1QL Query Language Tutorial, Learn N1QL | Couchbase</a:t>
            </a:r>
            <a:endParaRPr lang="en-US" dirty="0"/>
          </a:p>
          <a:p>
            <a:r>
              <a:rPr lang="en-US" dirty="0">
                <a:hlinkClick r:id="rId2"/>
              </a:rPr>
              <a:t>https://query-tutorial.couchbase.com/tutorial/#1</a:t>
            </a:r>
            <a:endParaRPr lang="en-US" dirty="0"/>
          </a:p>
          <a:p>
            <a:endParaRPr lang="en-US" dirty="0"/>
          </a:p>
          <a:p>
            <a:r>
              <a:rPr lang="en-US" dirty="0"/>
              <a:t>N1QL (pronounced “nickel”) is Couchbase’s next-generation query language - aims to meet the query needs of distributed document-oriented databases</a:t>
            </a:r>
          </a:p>
          <a:p>
            <a:r>
              <a:rPr lang="en-US" dirty="0"/>
              <a:t>syntax and semantics of SELECT statement in N1QL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4B07F-75D4-785A-96DC-4FED7AA8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83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25BED-DD32-B51C-5308-A7DEF97C2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N1QL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19D70-4932-D498-9834-308050C39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Couchbase has developed an efficient way of retrieving documents using a SQL-like syntax, called N1QL</a:t>
            </a:r>
          </a:p>
          <a:p>
            <a:r>
              <a:rPr lang="en-US" dirty="0"/>
              <a:t>syntax is more or less like that of SQL</a:t>
            </a:r>
          </a:p>
          <a:p>
            <a:r>
              <a:rPr lang="en-US" dirty="0"/>
              <a:t>provides a way to query the JSON based document-oriented database</a:t>
            </a:r>
          </a:p>
          <a:p>
            <a:r>
              <a:rPr lang="en-US" dirty="0"/>
              <a:t>N1QL offers a </a:t>
            </a:r>
            <a:r>
              <a:rPr lang="en-US" b="1" dirty="0"/>
              <a:t>data definition language </a:t>
            </a:r>
            <a:r>
              <a:rPr lang="en-US" dirty="0"/>
              <a:t>(</a:t>
            </a:r>
            <a:r>
              <a:rPr lang="en-US" b="1" dirty="0"/>
              <a:t>DDL</a:t>
            </a:r>
            <a:r>
              <a:rPr lang="en-US" dirty="0"/>
              <a:t>), a </a:t>
            </a:r>
            <a:r>
              <a:rPr lang="en-US" b="1" dirty="0"/>
              <a:t>data manipulation language </a:t>
            </a:r>
            <a:r>
              <a:rPr lang="en-US" dirty="0"/>
              <a:t>(</a:t>
            </a:r>
            <a:r>
              <a:rPr lang="en-US" b="1" dirty="0"/>
              <a:t>DML</a:t>
            </a:r>
            <a:r>
              <a:rPr lang="en-US" dirty="0"/>
              <a:t>), and queries to extract information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F999B-89B6-6DDA-7288-DA675D0C0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132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28B5-34C2-90E9-3D88-7DE26E94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1,2, CSimple.py</a:t>
            </a:r>
            <a:br>
              <a:rPr lang="en-US" dirty="0"/>
            </a:br>
            <a:r>
              <a:rPr lang="en-US" dirty="0"/>
              <a:t>Python Couchbase with N1QL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7A53A-06E6-0E34-033A-414040E1B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import </a:t>
            </a:r>
            <a:r>
              <a:rPr lang="en-US" sz="2700" dirty="0" err="1"/>
              <a:t>dataauth</a:t>
            </a:r>
            <a:r>
              <a:rPr lang="en-US" sz="2700" dirty="0"/>
              <a:t> as da</a:t>
            </a:r>
          </a:p>
          <a:p>
            <a:r>
              <a:rPr lang="en-US" sz="2700" dirty="0"/>
              <a:t># needed for any cluster connection</a:t>
            </a:r>
          </a:p>
          <a:p>
            <a:r>
              <a:rPr lang="en-US" sz="2700" dirty="0"/>
              <a:t>from </a:t>
            </a:r>
            <a:r>
              <a:rPr lang="en-US" sz="2700" dirty="0" err="1"/>
              <a:t>couchbase.cluster</a:t>
            </a:r>
            <a:r>
              <a:rPr lang="en-US" sz="2700" dirty="0"/>
              <a:t> import Cluster</a:t>
            </a:r>
          </a:p>
          <a:p>
            <a:r>
              <a:rPr lang="en-US" sz="2700" dirty="0"/>
              <a:t>from </a:t>
            </a:r>
            <a:r>
              <a:rPr lang="en-US" sz="2700" dirty="0" err="1"/>
              <a:t>couchbase.auth</a:t>
            </a:r>
            <a:r>
              <a:rPr lang="en-US" sz="2700" dirty="0"/>
              <a:t> import </a:t>
            </a:r>
            <a:r>
              <a:rPr lang="en-US" sz="2700" dirty="0" err="1"/>
              <a:t>PasswordAuthenticator</a:t>
            </a:r>
            <a:endParaRPr lang="en-US" sz="2700" dirty="0"/>
          </a:p>
          <a:p>
            <a:endParaRPr lang="en-US" sz="2700" dirty="0"/>
          </a:p>
          <a:p>
            <a:r>
              <a:rPr lang="en-US" sz="2700" dirty="0"/>
              <a:t># options for a cluster and SQL++ (N1QL) queries</a:t>
            </a:r>
          </a:p>
          <a:p>
            <a:r>
              <a:rPr lang="en-US" sz="2700" dirty="0"/>
              <a:t>from </a:t>
            </a:r>
            <a:r>
              <a:rPr lang="en-US" sz="2700" dirty="0" err="1"/>
              <a:t>couchbase.options</a:t>
            </a:r>
            <a:r>
              <a:rPr lang="en-US" sz="2700" dirty="0"/>
              <a:t> import </a:t>
            </a:r>
            <a:r>
              <a:rPr lang="en-US" sz="2700" dirty="0" err="1"/>
              <a:t>ClusterOptions</a:t>
            </a:r>
            <a:r>
              <a:rPr lang="en-US" sz="2700" dirty="0"/>
              <a:t>, </a:t>
            </a:r>
            <a:r>
              <a:rPr lang="en-US" sz="2700" dirty="0" err="1"/>
              <a:t>QueryOptions</a:t>
            </a:r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F6D8C-7A6A-3A5D-7E21-18867A76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96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C7D58-E460-7767-EABA-870E5A0C5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FADAB-619F-FD47-FC9E-9CD384C12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 get a reference to our </a:t>
            </a:r>
            <a:r>
              <a:rPr lang="en-US" dirty="0" err="1"/>
              <a:t>cluste</a:t>
            </a:r>
            <a:endParaRPr lang="en-US" dirty="0"/>
          </a:p>
          <a:p>
            <a:r>
              <a:rPr lang="en-US" dirty="0"/>
              <a:t>cluster = </a:t>
            </a:r>
            <a:r>
              <a:rPr lang="en-US" dirty="0" err="1"/>
              <a:t>Cluster.connect</a:t>
            </a:r>
            <a:r>
              <a:rPr lang="en-US" dirty="0"/>
              <a:t>(</a:t>
            </a:r>
            <a:r>
              <a:rPr lang="en-US" dirty="0" err="1"/>
              <a:t>da.servername</a:t>
            </a:r>
            <a:r>
              <a:rPr lang="en-US" dirty="0"/>
              <a:t>, </a:t>
            </a:r>
            <a:r>
              <a:rPr lang="en-US" dirty="0" err="1"/>
              <a:t>ClusterOptions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  </a:t>
            </a:r>
            <a:r>
              <a:rPr lang="en-US" dirty="0" err="1"/>
              <a:t>PasswordAuthenticator</a:t>
            </a:r>
            <a:r>
              <a:rPr lang="en-US" dirty="0"/>
              <a:t>(</a:t>
            </a:r>
            <a:r>
              <a:rPr lang="en-US" dirty="0" err="1"/>
              <a:t>da.username</a:t>
            </a:r>
            <a:r>
              <a:rPr lang="en-US" dirty="0"/>
              <a:t>, </a:t>
            </a:r>
            <a:r>
              <a:rPr lang="en-US" dirty="0" err="1"/>
              <a:t>da.password</a:t>
            </a:r>
            <a:r>
              <a:rPr lang="en-US" dirty="0"/>
              <a:t>)))</a:t>
            </a:r>
          </a:p>
          <a:p>
            <a:endParaRPr lang="en-US" dirty="0"/>
          </a:p>
          <a:p>
            <a:r>
              <a:rPr lang="en-US" dirty="0" err="1"/>
              <a:t>bucket_name</a:t>
            </a:r>
            <a:r>
              <a:rPr lang="en-US" dirty="0"/>
              <a:t> = "travel-sample“</a:t>
            </a:r>
          </a:p>
          <a:p>
            <a:r>
              <a:rPr lang="en-US" dirty="0"/>
              <a:t># get a reference to our bucket</a:t>
            </a:r>
          </a:p>
          <a:p>
            <a:r>
              <a:rPr lang="en-US" dirty="0" err="1"/>
              <a:t>cb</a:t>
            </a:r>
            <a:r>
              <a:rPr lang="en-US" dirty="0"/>
              <a:t> = </a:t>
            </a:r>
            <a:r>
              <a:rPr lang="en-US" dirty="0" err="1"/>
              <a:t>cluster.bucket</a:t>
            </a:r>
            <a:r>
              <a:rPr lang="en-US" dirty="0"/>
              <a:t>('travel-sample')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9866-A867-7E27-D970-777DB5C1D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07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E335-5707-01AC-F4C9-971FD937D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5E82A-E360-F487-D4AB-FC8EEECB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1,2, CSimple.py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938D4-2F2A-E2D4-628B-946E52526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# using SQL++ (</a:t>
            </a:r>
            <a:r>
              <a:rPr lang="en-US" sz="2700" dirty="0" err="1"/>
              <a:t>a.k.a</a:t>
            </a:r>
            <a:r>
              <a:rPr lang="en-US" sz="2700" dirty="0"/>
              <a:t> N1QL)</a:t>
            </a:r>
          </a:p>
          <a:p>
            <a:r>
              <a:rPr lang="en-US" sz="2700" dirty="0" err="1"/>
              <a:t>call_sign</a:t>
            </a:r>
            <a:r>
              <a:rPr lang="en-US" sz="2700" dirty="0"/>
              <a:t> = '%RO%’</a:t>
            </a:r>
          </a:p>
          <a:p>
            <a:r>
              <a:rPr lang="en-US" sz="2700" dirty="0" err="1"/>
              <a:t>sql_query</a:t>
            </a:r>
            <a:r>
              <a:rPr lang="en-US" sz="2700" dirty="0"/>
              <a:t> = 'SELECT * FROM `travel-sample` WHERE type = "airline" AND callsign LIKE $1’</a:t>
            </a:r>
          </a:p>
          <a:p>
            <a:r>
              <a:rPr lang="en-US" sz="2700" dirty="0" err="1"/>
              <a:t>query_res</a:t>
            </a:r>
            <a:r>
              <a:rPr lang="en-US" sz="2700" dirty="0"/>
              <a:t> = </a:t>
            </a:r>
            <a:r>
              <a:rPr lang="en-US" sz="2700" dirty="0" err="1"/>
              <a:t>cluster.query</a:t>
            </a:r>
            <a:r>
              <a:rPr lang="en-US" sz="2700" dirty="0"/>
              <a:t>(</a:t>
            </a:r>
            <a:r>
              <a:rPr lang="en-US" sz="2700" dirty="0" err="1"/>
              <a:t>sql_query</a:t>
            </a:r>
            <a:r>
              <a:rPr lang="en-US" sz="2700" dirty="0"/>
              <a:t>, </a:t>
            </a:r>
            <a:r>
              <a:rPr lang="en-US" sz="2700" dirty="0" err="1"/>
              <a:t>QueryOptions</a:t>
            </a:r>
            <a:r>
              <a:rPr lang="en-US" sz="2700" dirty="0"/>
              <a:t>(</a:t>
            </a:r>
            <a:r>
              <a:rPr lang="en-US" sz="2700" dirty="0" err="1"/>
              <a:t>positional_parameters</a:t>
            </a:r>
            <a:r>
              <a:rPr lang="en-US" sz="2700" dirty="0"/>
              <a:t>=[</a:t>
            </a:r>
            <a:r>
              <a:rPr lang="en-US" sz="2700" dirty="0" err="1"/>
              <a:t>call_sign</a:t>
            </a:r>
            <a:r>
              <a:rPr lang="en-US" sz="2700" dirty="0"/>
              <a:t>]))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39201-293F-C0E6-19AF-45C6B3C7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35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614E-3167-C215-7C9B-E40AF4586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4F23-2CDD-6ACF-BF61-62F624B2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1,2, CSimple.py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E04B6-C5BD-04CA-C7F5-54E1EC3CA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for row in </a:t>
            </a:r>
            <a:r>
              <a:rPr lang="en-US" sz="2700" dirty="0" err="1"/>
              <a:t>query_res</a:t>
            </a:r>
            <a:r>
              <a:rPr lang="en-US" sz="2700" dirty="0"/>
              <a:t>:</a:t>
            </a:r>
          </a:p>
          <a:p>
            <a:r>
              <a:rPr lang="en-US" sz="2700" dirty="0"/>
              <a:t> 	print(row)</a:t>
            </a:r>
          </a:p>
          <a:p>
            <a:r>
              <a:rPr lang="en-US" sz="2700" dirty="0"/>
              <a:t> 	#    print(f'''{row["travel-sample"]["name"]} {row["travel-sample"]["callsign"]} from {row["travel-sample"]["country"]}'‘’)</a:t>
            </a:r>
          </a:p>
          <a:p>
            <a:r>
              <a:rPr lang="en-US" sz="2400" dirty="0"/>
              <a:t> python3 CSimple.py</a:t>
            </a:r>
            <a:br>
              <a:rPr lang="en-US" sz="2400" dirty="0"/>
            </a:br>
            <a:r>
              <a:rPr lang="en-US" sz="2000" dirty="0"/>
              <a:t>{'travel-sample': {'callsign': 'CROWN AIRWAYS', 'country': 'United States', '</a:t>
            </a:r>
            <a:r>
              <a:rPr lang="en-US" sz="2000" dirty="0" err="1"/>
              <a:t>iata</a:t>
            </a:r>
            <a:r>
              <a:rPr lang="en-US" sz="2000" dirty="0"/>
              <a:t>': None, '</a:t>
            </a:r>
            <a:r>
              <a:rPr lang="en-US" sz="2000" dirty="0" err="1"/>
              <a:t>icao</a:t>
            </a:r>
            <a:r>
              <a:rPr lang="en-US" sz="2000" dirty="0"/>
              <a:t>': 'CRO', 'id': 1931, 'name': 'Crown Airways', 'type': 'airline'}}</a:t>
            </a:r>
            <a:br>
              <a:rPr lang="en-US" sz="2000" dirty="0"/>
            </a:br>
            <a:r>
              <a:rPr lang="en-US" sz="2000" dirty="0"/>
              <a:t>{'travel-sample': {'callsign': 'FRONTIER FLIGHT', 'country': 'United States', '</a:t>
            </a:r>
            <a:r>
              <a:rPr lang="en-US" sz="2000" dirty="0" err="1"/>
              <a:t>iata</a:t>
            </a:r>
            <a:r>
              <a:rPr lang="en-US" sz="2000" dirty="0"/>
              <a:t>': 'F9', '</a:t>
            </a:r>
            <a:r>
              <a:rPr lang="en-US" sz="2000" dirty="0" err="1"/>
              <a:t>icao</a:t>
            </a:r>
            <a:r>
              <a:rPr lang="en-US" sz="2000" dirty="0"/>
              <a:t>': 'FFT', 'id': 2468, 'name': 'Frontier Airlines', 'type': 'airline'}}</a:t>
            </a:r>
            <a:br>
              <a:rPr lang="en-US" sz="2000" dirty="0"/>
            </a:br>
            <a:r>
              <a:rPr lang="en-US" sz="2000" dirty="0"/>
              <a:t>{'travel-sample': {'callsign': 'FRONTIER-AIR', 'country': 'United States', '</a:t>
            </a:r>
            <a:r>
              <a:rPr lang="en-US" sz="2000" dirty="0" err="1"/>
              <a:t>iata</a:t>
            </a:r>
            <a:r>
              <a:rPr lang="en-US" sz="2000" dirty="0"/>
              <a:t>': '2F', '</a:t>
            </a:r>
            <a:r>
              <a:rPr lang="en-US" sz="2000" dirty="0" err="1"/>
              <a:t>icao</a:t>
            </a:r>
            <a:r>
              <a:rPr lang="en-US" sz="2000" dirty="0"/>
              <a:t>': 'FTA', 'id': 2470, 'name': 'Frontier Flying Service', 'type': 'airline'}}</a:t>
            </a:r>
            <a:br>
              <a:rPr lang="en-US" sz="2000" dirty="0"/>
            </a:br>
            <a:r>
              <a:rPr lang="en-US" sz="2000" dirty="0"/>
              <a:t>{'travel-sample': {'callsign': 'REGIONAL EUROPE', 'country': 'France', '</a:t>
            </a:r>
            <a:r>
              <a:rPr lang="en-US" sz="2000" dirty="0" err="1"/>
              <a:t>iata</a:t>
            </a:r>
            <a:r>
              <a:rPr lang="en-US" sz="2000" dirty="0"/>
              <a:t>': 'YS', '</a:t>
            </a:r>
            <a:r>
              <a:rPr lang="en-US" sz="2000" dirty="0" err="1"/>
              <a:t>icao</a:t>
            </a:r>
            <a:r>
              <a:rPr lang="en-US" sz="2000" dirty="0"/>
              <a:t>': 'RAE', 'id': 4299, 'name': '</a:t>
            </a:r>
            <a:r>
              <a:rPr lang="en-US" sz="2000" dirty="0" err="1"/>
              <a:t>RÃ©gional</a:t>
            </a:r>
            <a:r>
              <a:rPr lang="en-US" sz="2000" dirty="0"/>
              <a:t>', 'type': 'airline'}}</a:t>
            </a:r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3B87-1260-E7B9-2D92-9326921A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13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BB87-7896-40EC-DA76-97BC82AA6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2BD8D-E3D6-90CB-8DEE-8BDD25C10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1,2, CSimple.py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B5626-9E41-1EA8-1D06-03FA61F4C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for row in </a:t>
            </a:r>
            <a:r>
              <a:rPr lang="en-US" sz="2700" dirty="0" err="1"/>
              <a:t>query_res</a:t>
            </a:r>
            <a:r>
              <a:rPr lang="en-US" sz="2700" dirty="0"/>
              <a:t>:</a:t>
            </a:r>
          </a:p>
          <a:p>
            <a:r>
              <a:rPr lang="en-US" sz="2700" dirty="0"/>
              <a:t> 	#    print(row)</a:t>
            </a:r>
          </a:p>
          <a:p>
            <a:r>
              <a:rPr lang="en-US" sz="2700" dirty="0"/>
              <a:t> 	print(f'''{row["travel-sample"]["name"]} {row["travel-sample"]["callsign"]} from {row["travel-sample"]["country"]}'‘’)</a:t>
            </a:r>
          </a:p>
          <a:p>
            <a:r>
              <a:rPr lang="en-US" sz="2400" dirty="0"/>
              <a:t> python3 CSimple.py</a:t>
            </a:r>
            <a:br>
              <a:rPr lang="en-US" sz="2400" dirty="0"/>
            </a:br>
            <a:r>
              <a:rPr lang="en-US" sz="2400" dirty="0"/>
              <a:t>Crown Airways CROWN AIRWAYS from United States</a:t>
            </a:r>
            <a:br>
              <a:rPr lang="en-US" sz="2400" dirty="0"/>
            </a:br>
            <a:r>
              <a:rPr lang="en-US" sz="2400" dirty="0"/>
              <a:t>Frontier Airlines FRONTIER FLIGHT from United States</a:t>
            </a:r>
            <a:br>
              <a:rPr lang="en-US" sz="2400" dirty="0"/>
            </a:br>
            <a:r>
              <a:rPr lang="en-US" sz="2400" dirty="0"/>
              <a:t>Frontier Flying Service FRONTIER-AIR from United States</a:t>
            </a:r>
            <a:br>
              <a:rPr lang="en-US" sz="2400" dirty="0"/>
            </a:br>
            <a:r>
              <a:rPr lang="en-US" sz="2400" dirty="0" err="1"/>
              <a:t>RÃ©gional</a:t>
            </a:r>
            <a:r>
              <a:rPr lang="en-US" sz="2400" dirty="0"/>
              <a:t> REGIONAL EUROPE from France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E56D1-D207-D107-C4C2-BE4F7F02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58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B53F-E5B1-5DE6-7E35-EB5551C0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N1QL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2D8E7-C91E-0502-CD6E-2003E34DE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is SQL for JSON, a declarative query language for Couchbase's NoSQL database</a:t>
            </a:r>
          </a:p>
          <a:p>
            <a:r>
              <a:rPr lang="en-US" dirty="0"/>
              <a:t>query JSON documents like relational tables with familiar SQL syntax (SELECT, FROM, WHERE) but for flexible JSON data structures</a:t>
            </a:r>
          </a:p>
          <a:p>
            <a:r>
              <a:rPr lang="en-US" dirty="0"/>
              <a:t>powerful tool for data management and application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885C5-FABC-2787-09DA-C83D72B5F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028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FE870-8C2F-544D-F5C5-11F205BCF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SQL++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AB363-825F-EE1E-A0FA-AFED97B2D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was formerly known as N1QL</a:t>
            </a:r>
          </a:p>
          <a:p>
            <a:r>
              <a:rPr lang="en-US" sz="3200" dirty="0"/>
              <a:t>SQL++ is Couchbase's powerful database language that combines Structured Query Language (SQL) with flexibility of JavaScript Object Notation (JSON), meeting the American National Standards Institute (ANSI) syntax guidelines </a:t>
            </a:r>
          </a:p>
          <a:p>
            <a:r>
              <a:rPr lang="en-US" sz="3200" dirty="0"/>
              <a:t>designed for developers, allows you to leverage existing skills to build modern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5003F-DCD6-9805-B51A-B5E929807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30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9567-DD12-AD3D-25F9-2EF87D2D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90ED8-B6A0-FA26-F1AC-D2C17CC29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N1QL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28D37-C625-F3CD-158B-508C3161F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SQL for JSON: brings SQL's power and familiarity to the world of document databases</a:t>
            </a:r>
          </a:p>
          <a:p>
            <a:r>
              <a:rPr lang="en-US" dirty="0"/>
              <a:t>Declarative: describe what data you want, not how to get it</a:t>
            </a:r>
          </a:p>
          <a:p>
            <a:r>
              <a:rPr lang="en-US" dirty="0"/>
              <a:t>JSON-Centric: works directly with JSON documents, allowing flexible schemas</a:t>
            </a:r>
          </a:p>
          <a:p>
            <a:r>
              <a:rPr lang="en-US" dirty="0"/>
              <a:t>Supports Joins, Aggregations, Full-text search, and Geospatial queries</a:t>
            </a:r>
          </a:p>
          <a:p>
            <a:endParaRPr lang="en-US" sz="1200" dirty="0"/>
          </a:p>
          <a:p>
            <a:r>
              <a:rPr lang="en-US" dirty="0"/>
              <a:t>bridges the gap between traditional SQL databases and modern NoSQL document stores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96F74-996E-A80E-6AD6-A240E3372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66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04424-87F3-901F-29A7-D0BE40FC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N1QL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84C8F-80F8-54B9-8052-203033A75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N1QL aims to meet the query needs of distributed document-oriented databases</a:t>
            </a:r>
          </a:p>
          <a:p>
            <a:r>
              <a:rPr lang="en-US" dirty="0"/>
              <a:t>N1QL data model derives its name from the non-first normal form, which is a superset and generalization of the relational first normal form (1NF)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2E721-F1EC-BE47-3A64-03F43D15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43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8DD8E-A8C1-ACCA-6ED3-647D4062C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N1QL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4B7AB-A668-5F7B-E38A-C769203CC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data definition language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control language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manipulation language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9BA65-A20B-8EA8-B662-FBE48B07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708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A802-4166-6C47-8B83-D9B6C9F3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4EB224-B37D-1519-C419-99BE27E82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29032"/>
            <a:ext cx="5181600" cy="4947931"/>
          </a:xfrm>
        </p:spPr>
        <p:txBody>
          <a:bodyPr>
            <a:noAutofit/>
          </a:bodyPr>
          <a:lstStyle/>
          <a:p>
            <a:r>
              <a:rPr lang="en-US" sz="1900" dirty="0">
                <a:hlinkClick r:id="rId2"/>
              </a:rPr>
              <a:t>ALTER BUCKET</a:t>
            </a:r>
            <a:endParaRPr lang="en-US" sz="1900" dirty="0"/>
          </a:p>
          <a:p>
            <a:r>
              <a:rPr lang="en-US" sz="1900" dirty="0">
                <a:hlinkClick r:id="rId3"/>
              </a:rPr>
              <a:t>ALTER GROUP</a:t>
            </a:r>
            <a:endParaRPr lang="en-US" sz="1900" dirty="0"/>
          </a:p>
          <a:p>
            <a:r>
              <a:rPr lang="en-US" sz="1900" dirty="0">
                <a:hlinkClick r:id="rId4"/>
              </a:rPr>
              <a:t>ALTER INDEX</a:t>
            </a:r>
            <a:endParaRPr lang="en-US" sz="1900" dirty="0"/>
          </a:p>
          <a:p>
            <a:r>
              <a:rPr lang="en-US" sz="1900" dirty="0">
                <a:hlinkClick r:id="rId5"/>
              </a:rPr>
              <a:t>ALTER SEQUENCE</a:t>
            </a:r>
            <a:endParaRPr lang="en-US" sz="1900" dirty="0"/>
          </a:p>
          <a:p>
            <a:r>
              <a:rPr lang="en-US" sz="1900" dirty="0">
                <a:hlinkClick r:id="rId6"/>
              </a:rPr>
              <a:t>ALTER USER</a:t>
            </a:r>
            <a:endParaRPr lang="en-US" sz="1900" dirty="0"/>
          </a:p>
          <a:p>
            <a:r>
              <a:rPr lang="en-US" sz="1900" dirty="0">
                <a:hlinkClick r:id="rId7"/>
              </a:rPr>
              <a:t>ALTER VECTOR INDEX</a:t>
            </a:r>
            <a:endParaRPr lang="en-US" sz="1900" dirty="0"/>
          </a:p>
          <a:p>
            <a:r>
              <a:rPr lang="en-US" sz="1900" dirty="0">
                <a:hlinkClick r:id="rId8"/>
              </a:rPr>
              <a:t>BUILD INDEX</a:t>
            </a:r>
            <a:endParaRPr lang="en-US" sz="1900" dirty="0"/>
          </a:p>
          <a:p>
            <a:r>
              <a:rPr lang="en-US" sz="1900" dirty="0">
                <a:hlinkClick r:id="rId9"/>
              </a:rPr>
              <a:t>CREATE BUCKET</a:t>
            </a:r>
            <a:endParaRPr lang="en-US" sz="1900" dirty="0"/>
          </a:p>
          <a:p>
            <a:r>
              <a:rPr lang="en-US" sz="1900" dirty="0">
                <a:hlinkClick r:id="rId10"/>
              </a:rPr>
              <a:t>CREATE COLLECTION</a:t>
            </a:r>
            <a:endParaRPr lang="en-US" sz="1900" dirty="0"/>
          </a:p>
          <a:p>
            <a:r>
              <a:rPr lang="en-US" sz="1900" dirty="0">
                <a:hlinkClick r:id="rId11"/>
              </a:rPr>
              <a:t>CREATE FUNCTION</a:t>
            </a:r>
            <a:endParaRPr lang="en-US" sz="1900" dirty="0"/>
          </a:p>
          <a:p>
            <a:r>
              <a:rPr lang="en-US" sz="1900" dirty="0">
                <a:hlinkClick r:id="rId12"/>
              </a:rPr>
              <a:t>CREATE GROUP</a:t>
            </a:r>
            <a:endParaRPr lang="en-US" sz="1900" dirty="0"/>
          </a:p>
          <a:p>
            <a:r>
              <a:rPr lang="en-US" sz="1900" dirty="0">
                <a:hlinkClick r:id="rId13"/>
              </a:rPr>
              <a:t>CREATE INDEX</a:t>
            </a:r>
            <a:endParaRPr lang="en-US" sz="1900" dirty="0"/>
          </a:p>
          <a:p>
            <a:r>
              <a:rPr lang="en-US" sz="1900" dirty="0">
                <a:hlinkClick r:id="rId14"/>
              </a:rPr>
              <a:t>CREATE PRIMARY INDEX</a:t>
            </a:r>
            <a:endParaRPr lang="en-US" sz="1900" dirty="0"/>
          </a:p>
          <a:p>
            <a:r>
              <a:rPr lang="en-US" sz="1900" dirty="0">
                <a:hlinkClick r:id="rId15"/>
              </a:rPr>
              <a:t>CREATE SEQUENCE</a:t>
            </a:r>
            <a:endParaRPr lang="en-US" sz="19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2D5408-7162-8F0D-4C16-E7FD328A3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29032"/>
            <a:ext cx="5181600" cy="4947931"/>
          </a:xfrm>
        </p:spPr>
        <p:txBody>
          <a:bodyPr>
            <a:noAutofit/>
          </a:bodyPr>
          <a:lstStyle/>
          <a:p>
            <a:r>
              <a:rPr lang="en-US" sz="1900" dirty="0">
                <a:hlinkClick r:id="rId15"/>
              </a:rPr>
              <a:t>CREATE SEQUENCE</a:t>
            </a:r>
            <a:endParaRPr lang="en-US" sz="1900" dirty="0"/>
          </a:p>
          <a:p>
            <a:r>
              <a:rPr lang="en-US" sz="1900" dirty="0">
                <a:hlinkClick r:id="rId16"/>
              </a:rPr>
              <a:t>CREATE SCOPE</a:t>
            </a:r>
            <a:endParaRPr lang="en-US" sz="1900" dirty="0"/>
          </a:p>
          <a:p>
            <a:r>
              <a:rPr lang="en-US" sz="1900" dirty="0">
                <a:hlinkClick r:id="rId17"/>
              </a:rPr>
              <a:t>CREATE USER</a:t>
            </a:r>
            <a:endParaRPr lang="en-US" sz="1900" dirty="0"/>
          </a:p>
          <a:p>
            <a:r>
              <a:rPr lang="en-US" sz="1900" dirty="0">
                <a:hlinkClick r:id="rId18"/>
              </a:rPr>
              <a:t>CREATE VECTOR INDEX</a:t>
            </a:r>
            <a:endParaRPr lang="en-US" sz="1900" dirty="0"/>
          </a:p>
          <a:p>
            <a:r>
              <a:rPr lang="en-US" sz="1900" dirty="0">
                <a:hlinkClick r:id="rId19"/>
              </a:rPr>
              <a:t>DROP BUCKET</a:t>
            </a:r>
            <a:endParaRPr lang="en-US" sz="1900" dirty="0"/>
          </a:p>
          <a:p>
            <a:r>
              <a:rPr lang="en-US" sz="1900" dirty="0">
                <a:hlinkClick r:id="rId20"/>
              </a:rPr>
              <a:t>DROP COLLECTION</a:t>
            </a:r>
            <a:endParaRPr lang="en-US" sz="1900" dirty="0"/>
          </a:p>
          <a:p>
            <a:r>
              <a:rPr lang="en-US" sz="1900" dirty="0">
                <a:hlinkClick r:id="rId21"/>
              </a:rPr>
              <a:t>DROP FUNCTION</a:t>
            </a:r>
            <a:endParaRPr lang="en-US" sz="1900" dirty="0"/>
          </a:p>
          <a:p>
            <a:r>
              <a:rPr lang="en-US" sz="1900" dirty="0">
                <a:hlinkClick r:id="rId22"/>
              </a:rPr>
              <a:t>DROP GROUP</a:t>
            </a:r>
            <a:endParaRPr lang="en-US" sz="1900" dirty="0"/>
          </a:p>
          <a:p>
            <a:r>
              <a:rPr lang="en-US" sz="1900" dirty="0">
                <a:hlinkClick r:id="rId23"/>
              </a:rPr>
              <a:t>DROP INDEX</a:t>
            </a:r>
            <a:endParaRPr lang="en-US" sz="1900" dirty="0"/>
          </a:p>
          <a:p>
            <a:r>
              <a:rPr lang="en-US" sz="1900" dirty="0">
                <a:hlinkClick r:id="rId24"/>
              </a:rPr>
              <a:t>DROP PRIMARY INDEX</a:t>
            </a:r>
            <a:endParaRPr lang="en-US" sz="1900" dirty="0"/>
          </a:p>
          <a:p>
            <a:r>
              <a:rPr lang="en-US" sz="1900" dirty="0">
                <a:hlinkClick r:id="rId25"/>
              </a:rPr>
              <a:t>DROP SEQUENCE</a:t>
            </a:r>
            <a:endParaRPr lang="en-US" sz="1900" dirty="0"/>
          </a:p>
          <a:p>
            <a:r>
              <a:rPr lang="en-US" sz="1900" dirty="0">
                <a:hlinkClick r:id="rId26"/>
              </a:rPr>
              <a:t>DROP SCOPE</a:t>
            </a:r>
            <a:endParaRPr lang="en-US" sz="1900" dirty="0"/>
          </a:p>
          <a:p>
            <a:r>
              <a:rPr lang="en-US" sz="1900" dirty="0">
                <a:hlinkClick r:id="rId27"/>
              </a:rPr>
              <a:t>DROP USER</a:t>
            </a:r>
            <a:endParaRPr lang="en-US" sz="1900" dirty="0"/>
          </a:p>
          <a:p>
            <a:r>
              <a:rPr lang="en-US" sz="1900" dirty="0">
                <a:hlinkClick r:id="rId28"/>
              </a:rPr>
              <a:t>DROP VECTOR INDEX</a:t>
            </a:r>
            <a:endParaRPr lang="en-US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917CC-4D4C-8BCA-732B-2591E63D0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10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082DB1-ECD8-1AF8-ABB9-3EF0455EF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Control Language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1E9389-2B91-D44B-168F-5CEFFC85B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statements enable to control which users or groups have access to data</a:t>
            </a:r>
          </a:p>
          <a:p>
            <a:r>
              <a:rPr lang="en-US" dirty="0"/>
              <a:t>GRANT</a:t>
            </a:r>
          </a:p>
          <a:p>
            <a:r>
              <a:rPr lang="en-US" dirty="0"/>
              <a:t>REVOKE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A928B-F3EB-3B5A-EA4A-8543807D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35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858E-EE4A-AF86-6E31-9268D33C4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Manipulation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C3A7D-82BC-CC19-CFC7-32B9AFE63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further categorized as data query language, transaction control language, or utility statements</a:t>
            </a:r>
          </a:p>
          <a:p>
            <a:r>
              <a:rPr lang="en-US" dirty="0">
                <a:hlinkClick r:id="rId2"/>
              </a:rPr>
              <a:t>DELETE</a:t>
            </a:r>
            <a:endParaRPr lang="en-US" dirty="0"/>
          </a:p>
          <a:p>
            <a:r>
              <a:rPr lang="en-US" dirty="0">
                <a:hlinkClick r:id="rId3"/>
              </a:rPr>
              <a:t>INSERT</a:t>
            </a:r>
            <a:endParaRPr lang="en-US" dirty="0"/>
          </a:p>
          <a:p>
            <a:r>
              <a:rPr lang="en-US" dirty="0">
                <a:hlinkClick r:id="rId4"/>
              </a:rPr>
              <a:t>MERGE</a:t>
            </a:r>
            <a:endParaRPr lang="en-US" dirty="0"/>
          </a:p>
          <a:p>
            <a:r>
              <a:rPr lang="en-US" dirty="0">
                <a:hlinkClick r:id="rId5"/>
              </a:rPr>
              <a:t>UPDATE</a:t>
            </a:r>
            <a:endParaRPr lang="en-US" dirty="0"/>
          </a:p>
          <a:p>
            <a:r>
              <a:rPr lang="en-US" dirty="0">
                <a:hlinkClick r:id="rId6"/>
              </a:rPr>
              <a:t>UPSERT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D0089-96A0-E7C7-2821-B5FE6DE0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99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AD9B-DBBF-A9F2-95B7-77BEE81DF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1B899-9EBB-CA24-C6F0-4195F445E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Query Language</a:t>
            </a:r>
          </a:p>
          <a:p>
            <a:pPr lvl="1"/>
            <a:r>
              <a:rPr lang="en-US" sz="2800" dirty="0">
                <a:hlinkClick r:id="rId2"/>
              </a:rPr>
              <a:t>SELECT</a:t>
            </a:r>
            <a:endParaRPr lang="en-US" sz="2800" dirty="0"/>
          </a:p>
          <a:p>
            <a:r>
              <a:rPr lang="en-US" dirty="0"/>
              <a:t>Transaction Control Language</a:t>
            </a:r>
          </a:p>
          <a:p>
            <a:pPr lvl="1"/>
            <a:r>
              <a:rPr lang="en-US" sz="2800" dirty="0">
                <a:hlinkClick r:id="rId3"/>
              </a:rPr>
              <a:t>BEGIN TRANSACTION</a:t>
            </a:r>
            <a:endParaRPr lang="en-US" sz="2800" dirty="0"/>
          </a:p>
          <a:p>
            <a:pPr lvl="1"/>
            <a:r>
              <a:rPr lang="en-US" sz="2800" dirty="0">
                <a:hlinkClick r:id="rId4"/>
              </a:rPr>
              <a:t>COMMIT TRANSACTION</a:t>
            </a:r>
            <a:endParaRPr lang="en-US" sz="2800" dirty="0"/>
          </a:p>
          <a:p>
            <a:pPr lvl="1"/>
            <a:r>
              <a:rPr lang="en-US" sz="2800" dirty="0">
                <a:hlinkClick r:id="rId5"/>
              </a:rPr>
              <a:t>ROLLBACK TRANSACTION</a:t>
            </a:r>
            <a:endParaRPr lang="en-US" sz="2800" dirty="0"/>
          </a:p>
          <a:p>
            <a:pPr lvl="1"/>
            <a:r>
              <a:rPr lang="en-US" sz="2800" dirty="0">
                <a:hlinkClick r:id="rId6"/>
              </a:rPr>
              <a:t>SAVEPOINT</a:t>
            </a:r>
            <a:endParaRPr lang="en-US" sz="2800" dirty="0"/>
          </a:p>
          <a:p>
            <a:pPr lvl="1"/>
            <a:r>
              <a:rPr lang="en-US" sz="2800" dirty="0">
                <a:hlinkClick r:id="rId7"/>
              </a:rPr>
              <a:t>SET TRANSACTION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130DE-8394-606E-17AE-C48A419F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8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C7B4-D7A2-AB3C-3680-A761E473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A4ED8-7CC0-140F-7117-A9A778550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368"/>
            <a:ext cx="10515600" cy="496759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Utility Statements</a:t>
            </a:r>
          </a:p>
          <a:p>
            <a:r>
              <a:rPr lang="en-US" dirty="0"/>
              <a:t>do not manipulate data directly, but support other operations</a:t>
            </a:r>
          </a:p>
          <a:p>
            <a:r>
              <a:rPr lang="en-US" dirty="0">
                <a:hlinkClick r:id="rId2"/>
              </a:rPr>
              <a:t>ADVISE</a:t>
            </a:r>
            <a:endParaRPr lang="en-US" dirty="0"/>
          </a:p>
          <a:p>
            <a:r>
              <a:rPr lang="en-US" dirty="0">
                <a:hlinkClick r:id="rId3"/>
              </a:rPr>
              <a:t>EXECUTE</a:t>
            </a:r>
            <a:endParaRPr lang="en-US" dirty="0"/>
          </a:p>
          <a:p>
            <a:r>
              <a:rPr lang="en-US" dirty="0">
                <a:hlinkClick r:id="rId4"/>
              </a:rPr>
              <a:t>EXECUTE FUNCTION</a:t>
            </a:r>
            <a:endParaRPr lang="en-US" dirty="0"/>
          </a:p>
          <a:p>
            <a:r>
              <a:rPr lang="en-US" dirty="0">
                <a:hlinkClick r:id="rId5"/>
              </a:rPr>
              <a:t>EXPLAIN</a:t>
            </a:r>
            <a:endParaRPr lang="en-US" dirty="0"/>
          </a:p>
          <a:p>
            <a:r>
              <a:rPr lang="en-US" dirty="0">
                <a:hlinkClick r:id="rId6"/>
              </a:rPr>
              <a:t>EXPLAIN FUNCTION</a:t>
            </a:r>
            <a:endParaRPr lang="en-US" dirty="0"/>
          </a:p>
          <a:p>
            <a:r>
              <a:rPr lang="en-US" dirty="0">
                <a:hlinkClick r:id="rId7"/>
              </a:rPr>
              <a:t>INFER</a:t>
            </a:r>
            <a:endParaRPr lang="en-US" dirty="0"/>
          </a:p>
          <a:p>
            <a:r>
              <a:rPr lang="en-US" dirty="0">
                <a:hlinkClick r:id="rId8"/>
              </a:rPr>
              <a:t>PREPARE</a:t>
            </a:r>
            <a:endParaRPr lang="en-US" dirty="0"/>
          </a:p>
          <a:p>
            <a:r>
              <a:rPr lang="en-US" dirty="0">
                <a:hlinkClick r:id="rId9"/>
              </a:rPr>
              <a:t>UPDATE STATISTICS</a:t>
            </a:r>
            <a:endParaRPr lang="en-US" dirty="0"/>
          </a:p>
          <a:p>
            <a:r>
              <a:rPr lang="en-US" dirty="0">
                <a:hlinkClick r:id="rId10"/>
              </a:rPr>
              <a:t>USING AI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D0E01-255D-0D36-1050-5FD125444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1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7B04-975B-0AE6-9525-D244B0D1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N1QL Query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545AA0-0750-0461-84E7-06062EBA7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6480"/>
            <a:ext cx="10515600" cy="43296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AC045-10BC-B77D-3154-ABC9956E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396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2EAD9-C9C0-5996-622A-FDDFBCAC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3EA41-DE98-6E8A-FD31-34164C1F4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user-friendly language, especially if you are familiar with SQL</a:t>
            </a:r>
          </a:p>
          <a:p>
            <a:r>
              <a:rPr lang="en-US" dirty="0"/>
              <a:t>SELECT — parts of document to return</a:t>
            </a:r>
          </a:p>
          <a:p>
            <a:r>
              <a:rPr lang="en-US" dirty="0"/>
              <a:t>FROM — data bucket, or data store to work with</a:t>
            </a:r>
          </a:p>
          <a:p>
            <a:r>
              <a:rPr lang="en-US" dirty="0"/>
              <a:t>WHERE — conditions the document must satisfy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F8D05-D907-2754-58BB-D2B742D2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117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2125-1697-1EE9-0F79-86879A848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E4AFD-A62E-FB4E-E677-E0BEBEA26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wildcard * selects all top-level fields of document</a:t>
            </a:r>
          </a:p>
          <a:p>
            <a:r>
              <a:rPr lang="en-US" dirty="0"/>
              <a:t>queries can return a collection of different document structures or fragments, however they will all match the conditions in WHERE clause - there is no schema in Couchbase, N1QL return all results that match condition query, even if they vary in structure</a:t>
            </a:r>
          </a:p>
          <a:p>
            <a:r>
              <a:rPr lang="en-US" dirty="0"/>
              <a:t>change the * to document field such you will see query return a collection of appropriate fragments of each document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5008F-7553-DE1E-F890-8FD8D53DE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18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44F1-26CE-CF68-DEF6-546C5A9E1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30C554-4351-41AF-F5EB-6D5175588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457199"/>
            <a:ext cx="11160762" cy="586790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C8125-7526-9FE9-8ADC-33F09144C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402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F0BE1-0247-51E1-E86D-82BBD1B94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* FROM `beer-sample`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08CC6-364F-7FE1-2E0D-DDDB8A079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not ‘	;	it is not ‘	;	it must be `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A17F2-1C7C-90B4-634D-EF623BDDD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318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4D4B3-3953-FEA0-3DAC-8A9BB3CA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* FROM `travel-sample`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17097-8508-022E-4CE0-3A1FF4B2A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dataset, 95436932 bytes, is too large to display quickly.</a:t>
            </a:r>
            <a:br>
              <a:rPr lang="en-US" dirty="0"/>
            </a:br>
            <a:r>
              <a:rPr lang="en-US" dirty="0"/>
              <a:t>Using a lower limit or a more specific where clause in your query can reduce result size. Rendering might freeze your browser for 23 to 92 seconds or more.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8CA7B-3421-3934-68B4-2DD5B2430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044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C709-10A5-70F8-9391-685FCD8E9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4377"/>
            <a:ext cx="10515600" cy="1486312"/>
          </a:xfrm>
        </p:spPr>
        <p:txBody>
          <a:bodyPr/>
          <a:lstStyle/>
          <a:p>
            <a:r>
              <a:rPr lang="en-US" dirty="0"/>
              <a:t>SELECT name, city, country, type </a:t>
            </a:r>
            <a:br>
              <a:rPr lang="en-US" dirty="0"/>
            </a:br>
            <a:r>
              <a:rPr lang="en-US" dirty="0"/>
              <a:t>FROM `beer-sample`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681035-9C31-8AB9-6D4B-513E13FE1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463040"/>
            <a:ext cx="8677799" cy="51905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21D76-4D34-6E8C-8162-9ADA48C8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877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91D1B-5DB8-17F3-DC30-4D3FD1F35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FC0C-0697-7518-EE85-74B428C3B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311"/>
            <a:ext cx="10515600" cy="1474378"/>
          </a:xfrm>
        </p:spPr>
        <p:txBody>
          <a:bodyPr/>
          <a:lstStyle/>
          <a:p>
            <a:r>
              <a:rPr lang="en-US" dirty="0"/>
              <a:t>SELECT name, city, country, type </a:t>
            </a:r>
            <a:br>
              <a:rPr lang="en-US" dirty="0"/>
            </a:br>
            <a:r>
              <a:rPr lang="en-US" dirty="0"/>
              <a:t>FROM `beer-sample` WHERE type = "beer"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BB0E-0A35-2AA5-952C-63B63DF55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64659B-19D3-51C2-22DE-937A83C77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448DE6-191F-8EFD-947F-FB98E0955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7" y="1463040"/>
            <a:ext cx="8731448" cy="529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09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0F975-70C9-0580-3799-3FEBC13F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DBFDB-4CA0-44C3-E9DD-058F14E6D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F5198-8EC3-947B-18B2-38C1E32F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9397E4-212F-A689-D04C-BB76907BD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5623"/>
            <a:ext cx="9878129" cy="45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91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97131-612B-3C10-33DB-927C06CB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* FROM `book`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DE3AD9-539D-86F8-9C49-7C845C012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00" y="1463040"/>
            <a:ext cx="5633421" cy="514600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2A1F9-DE15-CF2E-8731-2EBF8D06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8644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E152-53D2-F85B-343D-979B3A23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title, author FROM `book`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71EE88-EDB7-8C95-780E-624F168E2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588" y="1463034"/>
            <a:ext cx="5756875" cy="435307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4BED1-73C7-6C68-4C9A-B696BB76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919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4AC77-DA2C-D1F7-5550-C6A5433F2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from child documents must be explicitly aliased using </a:t>
            </a:r>
            <a:r>
              <a:rPr lang="en-US" i="1" dirty="0"/>
              <a:t>AS</a:t>
            </a:r>
            <a:r>
              <a:rPr lang="en-US" dirty="0"/>
              <a:t> clause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EB794B-C44F-4D84-CCB6-B27CF023E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258" y="1681163"/>
            <a:ext cx="5309317" cy="823912"/>
          </a:xfrm>
        </p:spPr>
        <p:txBody>
          <a:bodyPr/>
          <a:lstStyle/>
          <a:p>
            <a:r>
              <a:rPr lang="en-US" dirty="0"/>
              <a:t>SELECT title, author[0] FROM `book`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8B7DCF4-8173-946F-637A-DF4611A3DE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7280" y="2926079"/>
            <a:ext cx="4551973" cy="251611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F10362-E753-ABFD-03B5-4ACC07D2A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331542" cy="823912"/>
          </a:xfrm>
        </p:spPr>
        <p:txBody>
          <a:bodyPr/>
          <a:lstStyle/>
          <a:p>
            <a:r>
              <a:rPr lang="en-US" dirty="0"/>
              <a:t>SELECT title, author[1] FROM `book`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83FC770-F1DC-05B3-1979-48BBCA02BB2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83680" y="2926077"/>
            <a:ext cx="4458010" cy="25474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9C44B-994A-EEB5-F1C0-01621728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0488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76C66-1EEB-D410-D432-85F39E83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N1QL is for JSON documents, </a:t>
            </a:r>
            <a:br>
              <a:rPr lang="en-US" dirty="0"/>
            </a:br>
            <a:r>
              <a:rPr lang="en-US" sz="4100" dirty="0"/>
              <a:t>not relational table, rows or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98398-41E7-8BC9-96A7-6C684EAC4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JSON documents can have nested elements and embedded arrays, additional operators are needed</a:t>
            </a:r>
          </a:p>
          <a:p>
            <a:r>
              <a:rPr lang="en-US" dirty="0"/>
              <a:t>the ‘.’ operator is used to refer to children</a:t>
            </a:r>
          </a:p>
          <a:p>
            <a:r>
              <a:rPr lang="en-US" dirty="0"/>
              <a:t>the ‘[]’ is used to refer to element in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96F5B-783E-D048-82B0-44944A10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85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25B3C-D0BF-4057-0A27-597E9947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461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762E9-BD50-5D0C-A59D-5A1BC2A08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`book`</a:t>
            </a:r>
          </a:p>
          <a:p>
            <a:r>
              <a:rPr lang="en-US" dirty="0"/>
              <a:t>WHERE title </a:t>
            </a:r>
          </a:p>
          <a:p>
            <a:r>
              <a:rPr lang="en-US" dirty="0"/>
              <a:t>LIKE "%</a:t>
            </a:r>
            <a:r>
              <a:rPr lang="en-US" dirty="0" err="1"/>
              <a:t>DataBase</a:t>
            </a:r>
            <a:r>
              <a:rPr lang="en-US" dirty="0"/>
              <a:t>%"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DC73F-EA7C-DED2-A85B-2CEA7924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C915DC-F561-64BF-E522-3122F843D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6" y="91440"/>
            <a:ext cx="7156258" cy="632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632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9721E-670E-D76E-FC29-42D8950E1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SELECT title, </a:t>
            </a:r>
            <a:r>
              <a:rPr lang="en-US" i="1" dirty="0"/>
              <a:t>author[1].</a:t>
            </a:r>
            <a:r>
              <a:rPr lang="en-US" i="1" dirty="0" err="1"/>
              <a:t>last_name</a:t>
            </a:r>
            <a:r>
              <a:rPr lang="en-US" i="1" dirty="0"/>
              <a:t> </a:t>
            </a:r>
            <a:br>
              <a:rPr lang="en-US" dirty="0"/>
            </a:br>
            <a:r>
              <a:rPr lang="en-US" dirty="0" err="1"/>
              <a:t>FROM`book</a:t>
            </a:r>
            <a:r>
              <a:rPr lang="en-US" dirty="0"/>
              <a:t>` WHERE title LIKE "%</a:t>
            </a:r>
            <a:r>
              <a:rPr lang="en-US" dirty="0" err="1"/>
              <a:t>DataBase</a:t>
            </a:r>
            <a:r>
              <a:rPr lang="en-US" dirty="0"/>
              <a:t>%"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9441F1-0B14-83BD-7DFC-647FB53D1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1828800"/>
            <a:ext cx="6039679" cy="39756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BE8C3-A131-1D50-7F15-98448BBCC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397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5D2C8-01C1-16D2-224D-1E1460158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9DA8F-81C6-BF6E-398C-E9D442F3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 matching can be accomplished using LIKE operator </a:t>
            </a:r>
          </a:p>
          <a:p>
            <a:r>
              <a:rPr lang="en-US" dirty="0"/>
              <a:t>in patterns % is a wildcard that matches zero or more characters, and _ is a wildcard that matches exactly one character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C96C2-1331-711E-1B82-BB5264F6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35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B690-BBCF-DFA9-8C9A-81533964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CE0A9-3C92-8528-7E1A-784F163A6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sometimes you want to filter based on arrays nested inside  document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BB766-5537-535A-A11E-439A4CA36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78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D1224-A51B-BDA6-5874-EECFA181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B6D59-4C82-DC01-8531-8923A953A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61C5D-FD09-B8C9-FA26-063A08CD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C9F01D-963F-E8F2-8578-213B5A759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7675"/>
            <a:ext cx="12192000" cy="310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34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B83A2-0F89-35A6-E154-13B8A302E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* from `tutorial`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FE5EE6-658D-47CF-9B37-625EBE54D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329" y="1947526"/>
            <a:ext cx="9937341" cy="410753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E742E-315C-F64C-8A5A-FDBDA9C7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216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725B-5981-A298-68B6-B3CCEC98E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81A9E-D61D-8200-2399-C928235D6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E8BA2-B976-C2BE-1EB6-0333BCB23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54F3CC-3595-BA87-25DD-69AF3AAF3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66384" cy="44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248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5EA0-79D5-736C-2646-C874DDA2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98F02-C695-1367-DFB0-C7CCB42F4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tutorial dataset, some documents contain an array of children, and each child has a name and an age</a:t>
            </a:r>
          </a:p>
          <a:p>
            <a:r>
              <a:rPr lang="en-US" dirty="0"/>
              <a:t>to find any person that has a child over the age of 10:</a:t>
            </a:r>
          </a:p>
          <a:p>
            <a:r>
              <a:rPr lang="en-US" dirty="0"/>
              <a:t>can be achieved using the ANY/EVERY - SATISFIES construct</a:t>
            </a:r>
          </a:p>
          <a:p>
            <a:r>
              <a:rPr lang="en-US" dirty="0"/>
              <a:t>expression after the ANY clause allows us to assign name to element in array that we are searching through</a:t>
            </a:r>
          </a:p>
          <a:p>
            <a:r>
              <a:rPr lang="en-US" dirty="0"/>
              <a:t>the SATISFIES keyword is used to specify the filter condition</a:t>
            </a:r>
          </a:p>
          <a:p>
            <a:endParaRPr lang="en-US" dirty="0"/>
          </a:p>
          <a:p>
            <a:r>
              <a:rPr lang="en-US" dirty="0"/>
              <a:t>can try change ANY to EVERY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0802A-1EE6-E661-4F33-5C72846AF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079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01AA7-92F9-D12A-A2D5-B64FA3C2D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473AA-0C1A-925F-096B-0AEA3D50F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0342" cy="4351338"/>
          </a:xfrm>
        </p:spPr>
        <p:txBody>
          <a:bodyPr>
            <a:normAutofit/>
          </a:bodyPr>
          <a:lstStyle/>
          <a:p>
            <a:r>
              <a:rPr lang="en-US" sz="2700" dirty="0"/>
              <a:t>SELECT </a:t>
            </a:r>
            <a:r>
              <a:rPr lang="en-US" sz="2700" dirty="0" err="1"/>
              <a:t>fname</a:t>
            </a:r>
            <a:r>
              <a:rPr lang="en-US" sz="2700" dirty="0"/>
              <a:t>, children</a:t>
            </a:r>
          </a:p>
          <a:p>
            <a:r>
              <a:rPr lang="en-US" sz="2700" dirty="0"/>
              <a:t>    FROM tutorial </a:t>
            </a:r>
          </a:p>
          <a:p>
            <a:r>
              <a:rPr lang="en-US" sz="2700" dirty="0"/>
              <a:t>        WHERE ANY child IN </a:t>
            </a:r>
            <a:r>
              <a:rPr lang="en-US" sz="2700" dirty="0" err="1"/>
              <a:t>tutorial.children</a:t>
            </a:r>
            <a:r>
              <a:rPr lang="en-US" sz="2700" dirty="0"/>
              <a:t> SATISFIES </a:t>
            </a:r>
            <a:r>
              <a:rPr lang="en-US" sz="2700" dirty="0" err="1"/>
              <a:t>child.age</a:t>
            </a:r>
            <a:r>
              <a:rPr lang="en-US" sz="2700" dirty="0"/>
              <a:t> &gt; 10 END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344DD-07E1-710E-805D-45480F79D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620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55C8-D534-2847-5123-264A11E6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CB5F0-31D0-D660-9CC3-D8ACEFF99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Autofit/>
          </a:bodyPr>
          <a:lstStyle/>
          <a:p>
            <a:r>
              <a:rPr lang="en-US" sz="2700" dirty="0"/>
              <a:t>[  {    "</a:t>
            </a:r>
            <a:r>
              <a:rPr lang="en-US" sz="2700" dirty="0" err="1"/>
              <a:t>fname</a:t>
            </a:r>
            <a:r>
              <a:rPr lang="en-US" sz="2700" dirty="0"/>
              <a:t>": "Dave",    </a:t>
            </a:r>
          </a:p>
          <a:p>
            <a:r>
              <a:rPr lang="en-US" sz="2700" dirty="0"/>
              <a:t> 	"children": [      {        "age": 17,        "</a:t>
            </a:r>
            <a:r>
              <a:rPr lang="en-US" sz="2700" dirty="0" err="1"/>
              <a:t>fname</a:t>
            </a:r>
            <a:r>
              <a:rPr lang="en-US" sz="2700" dirty="0"/>
              <a:t>": "Aiden",        "gender": "m"      },      {        "age": 2,        "</a:t>
            </a:r>
            <a:r>
              <a:rPr lang="en-US" sz="2700" dirty="0" err="1"/>
              <a:t>fname</a:t>
            </a:r>
            <a:r>
              <a:rPr lang="en-US" sz="2700" dirty="0"/>
              <a:t>": "Bill",        "gender": "f"      }    ]  },  </a:t>
            </a:r>
          </a:p>
          <a:p>
            <a:r>
              <a:rPr lang="en-US" sz="2700" dirty="0"/>
              <a:t>{    "</a:t>
            </a:r>
            <a:r>
              <a:rPr lang="en-US" sz="2700" dirty="0" err="1"/>
              <a:t>fname</a:t>
            </a:r>
            <a:r>
              <a:rPr lang="en-US" sz="2700" dirty="0"/>
              <a:t>": "Earl",    </a:t>
            </a:r>
          </a:p>
          <a:p>
            <a:r>
              <a:rPr lang="en-US" sz="2700" dirty="0"/>
              <a:t> 	"children": [      {        "age": 17,        "</a:t>
            </a:r>
            <a:r>
              <a:rPr lang="en-US" sz="2700" dirty="0" err="1"/>
              <a:t>fname</a:t>
            </a:r>
            <a:r>
              <a:rPr lang="en-US" sz="2700" dirty="0"/>
              <a:t>": "Xena",        "gender": "f"      },      {        "age": 2,        "</a:t>
            </a:r>
            <a:r>
              <a:rPr lang="en-US" sz="2700" dirty="0" err="1"/>
              <a:t>fname</a:t>
            </a:r>
            <a:r>
              <a:rPr lang="en-US" sz="2700" dirty="0"/>
              <a:t>": "Yuri",        "gender": "m"      }    ]  },</a:t>
            </a:r>
          </a:p>
          <a:p>
            <a:r>
              <a:rPr lang="en-US" sz="2700" dirty="0"/>
              <a:t>{    "</a:t>
            </a:r>
            <a:r>
              <a:rPr lang="en-US" sz="2700" dirty="0" err="1"/>
              <a:t>fname</a:t>
            </a:r>
            <a:r>
              <a:rPr lang="en-US" sz="2700" dirty="0"/>
              <a:t>": "Ian",    </a:t>
            </a:r>
          </a:p>
          <a:p>
            <a:r>
              <a:rPr lang="en-US" sz="2700" dirty="0"/>
              <a:t> 	"children": [      {        "age": 17,        "</a:t>
            </a:r>
            <a:r>
              <a:rPr lang="en-US" sz="2700" dirty="0" err="1"/>
              <a:t>fname</a:t>
            </a:r>
            <a:r>
              <a:rPr lang="en-US" sz="2700" dirty="0"/>
              <a:t>": "Abama",        "gender": "m"      },      {        "age": 21,        "</a:t>
            </a:r>
            <a:r>
              <a:rPr lang="en-US" sz="2700" dirty="0" err="1"/>
              <a:t>fname</a:t>
            </a:r>
            <a:r>
              <a:rPr lang="en-US" sz="2700" dirty="0"/>
              <a:t>": "</a:t>
            </a:r>
            <a:r>
              <a:rPr lang="en-US" sz="2700" dirty="0" err="1"/>
              <a:t>Bebama</a:t>
            </a:r>
            <a:r>
              <a:rPr lang="en-US" sz="2700" dirty="0"/>
              <a:t>",        "gender": "m"      }    ]  }]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574A5-AF61-16CA-2142-A0898B4A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019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7788-E6C0-EB4C-0C5C-BE028553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57BE5-AA90-CE0C-B87B-7DCBCE73A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56965"/>
          </a:xfrm>
        </p:spPr>
        <p:txBody>
          <a:bodyPr>
            <a:normAutofit fontScale="90000"/>
          </a:bodyPr>
          <a:lstStyle/>
          <a:p>
            <a:r>
              <a:rPr lang="en-US" dirty="0"/>
              <a:t>SELECT </a:t>
            </a:r>
            <a:r>
              <a:rPr lang="en-US" dirty="0" err="1"/>
              <a:t>fname</a:t>
            </a:r>
            <a:r>
              <a:rPr lang="en-US" dirty="0"/>
              <a:t>, children FROM tutorial</a:t>
            </a:r>
            <a:br>
              <a:rPr lang="en-US" dirty="0"/>
            </a:br>
            <a:r>
              <a:rPr lang="en-US" dirty="0"/>
              <a:t>WHERE ANY child IN </a:t>
            </a:r>
            <a:r>
              <a:rPr lang="en-US" dirty="0" err="1"/>
              <a:t>tutorial.children</a:t>
            </a:r>
            <a:r>
              <a:rPr lang="en-US" dirty="0"/>
              <a:t> SATISFIES </a:t>
            </a:r>
            <a:r>
              <a:rPr lang="en-US" dirty="0" err="1"/>
              <a:t>child.age</a:t>
            </a:r>
            <a:r>
              <a:rPr lang="en-US" dirty="0"/>
              <a:t> &gt; 10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62B20-6B3D-B4F0-B573-B332ECEBB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0581"/>
            <a:ext cx="11353800" cy="3866382"/>
          </a:xfrm>
        </p:spPr>
        <p:txBody>
          <a:bodyPr>
            <a:noAutofit/>
          </a:bodyPr>
          <a:lstStyle/>
          <a:p>
            <a:r>
              <a:rPr lang="en-US" sz="2700" dirty="0"/>
              <a:t>[  {    "</a:t>
            </a:r>
            <a:r>
              <a:rPr lang="en-US" sz="2700" dirty="0" err="1"/>
              <a:t>fname</a:t>
            </a:r>
            <a:r>
              <a:rPr lang="en-US" sz="2700" dirty="0"/>
              <a:t>": "Ian",    </a:t>
            </a:r>
          </a:p>
          <a:p>
            <a:r>
              <a:rPr lang="en-US" sz="2700" dirty="0"/>
              <a:t> 	"children": [      {        "age": 17,        "</a:t>
            </a:r>
            <a:r>
              <a:rPr lang="en-US" sz="2700" dirty="0" err="1"/>
              <a:t>fname</a:t>
            </a:r>
            <a:r>
              <a:rPr lang="en-US" sz="2700" dirty="0"/>
              <a:t>": "Abama",        "gender": "m"      },      {        "age": 21,        "</a:t>
            </a:r>
            <a:r>
              <a:rPr lang="en-US" sz="2700" dirty="0" err="1"/>
              <a:t>fname</a:t>
            </a:r>
            <a:r>
              <a:rPr lang="en-US" sz="2700" dirty="0"/>
              <a:t>": "</a:t>
            </a:r>
            <a:r>
              <a:rPr lang="en-US" sz="2700" dirty="0" err="1"/>
              <a:t>Bebama</a:t>
            </a:r>
            <a:r>
              <a:rPr lang="en-US" sz="2700" dirty="0"/>
              <a:t>",        "gender": "m"      }    ]  }]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7208D-7795-EA34-23DB-ABD050B10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30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83299-7178-2861-6849-5B86F1542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Combining multiple conditions with </a:t>
            </a:r>
            <a:br>
              <a:rPr lang="en-US" dirty="0"/>
            </a:br>
            <a:r>
              <a:rPr lang="en-US" dirty="0"/>
              <a:t>AND OR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5290D-0C55-EA23-A55D-2CE8E5367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operators AND OR allows to match documents satisfying two or more conditions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C0977-F7D9-9CD1-8F4E-87B510CA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784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37463-1C32-9EC3-ADF9-B703ECBF2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primary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428C9-43CD-6B3F-0EF8-4D4FD48AA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72019" cy="4351338"/>
          </a:xfrm>
        </p:spPr>
        <p:txBody>
          <a:bodyPr/>
          <a:lstStyle/>
          <a:p>
            <a:r>
              <a:rPr lang="en-US" dirty="0"/>
              <a:t>specific primary keys within a bucket can be queried using USE KEYS clause</a:t>
            </a:r>
          </a:p>
          <a:p>
            <a:r>
              <a:rPr lang="en-US" dirty="0"/>
              <a:t>SELECT </a:t>
            </a:r>
            <a:r>
              <a:rPr lang="en-US" dirty="0" err="1"/>
              <a:t>fname</a:t>
            </a:r>
            <a:r>
              <a:rPr lang="en-US" dirty="0"/>
              <a:t>, email</a:t>
            </a:r>
          </a:p>
          <a:p>
            <a:r>
              <a:rPr lang="en-US" dirty="0"/>
              <a:t>    FROM tutorial </a:t>
            </a:r>
          </a:p>
          <a:p>
            <a:r>
              <a:rPr lang="en-US" dirty="0"/>
              <a:t>        USE KEYS ["person02", "person04"]</a:t>
            </a:r>
          </a:p>
          <a:p>
            <a:r>
              <a:rPr lang="en-US" dirty="0"/>
              <a:t>[  {    "</a:t>
            </a:r>
            <a:r>
              <a:rPr lang="en-US" dirty="0" err="1"/>
              <a:t>fname</a:t>
            </a:r>
            <a:r>
              <a:rPr lang="en-US" dirty="0"/>
              <a:t>": "Earl",    "email": "earl@gmail.com"  },  </a:t>
            </a:r>
          </a:p>
          <a:p>
            <a:r>
              <a:rPr lang="en-US" dirty="0"/>
              <a:t>{    "</a:t>
            </a:r>
            <a:r>
              <a:rPr lang="en-US" dirty="0" err="1"/>
              <a:t>fname</a:t>
            </a:r>
            <a:r>
              <a:rPr lang="en-US" dirty="0"/>
              <a:t>": "Harry",    "email": "harry@yahoo.com"  }]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4161-89B3-00B7-4099-2369503B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496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7C1E5-BCCE-1819-AC9B-492FED0C0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86DA5-2DA8-D798-2B14-CCEA750BA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4032" cy="4351338"/>
          </a:xfrm>
        </p:spPr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fname</a:t>
            </a:r>
            <a:r>
              <a:rPr lang="en-US" dirty="0"/>
              <a:t> || " " || </a:t>
            </a:r>
            <a:r>
              <a:rPr lang="en-US" dirty="0" err="1"/>
              <a:t>lname</a:t>
            </a:r>
            <a:r>
              <a:rPr lang="en-US" dirty="0"/>
              <a:t> AS </a:t>
            </a:r>
            <a:r>
              <a:rPr lang="en-US" dirty="0" err="1"/>
              <a:t>full_name</a:t>
            </a:r>
            <a:r>
              <a:rPr lang="en-US" dirty="0"/>
              <a:t>, email, 		children[0:2] AS offspring</a:t>
            </a:r>
          </a:p>
          <a:p>
            <a:r>
              <a:rPr lang="en-US" dirty="0"/>
              <a:t>    FROM tutorial </a:t>
            </a:r>
          </a:p>
          <a:p>
            <a:r>
              <a:rPr lang="en-US" dirty="0"/>
              <a:t>        WHERE email LIKE '%@yahoo.com' </a:t>
            </a:r>
          </a:p>
          <a:p>
            <a:r>
              <a:rPr lang="en-US" dirty="0"/>
              <a:t>        OR ANY child IN </a:t>
            </a:r>
            <a:r>
              <a:rPr lang="en-US" dirty="0" err="1"/>
              <a:t>tutorial.children</a:t>
            </a:r>
            <a:r>
              <a:rPr lang="en-US" dirty="0"/>
              <a:t> SATISFIES </a:t>
            </a:r>
            <a:r>
              <a:rPr lang="en-US" dirty="0" err="1"/>
              <a:t>child.age</a:t>
            </a:r>
            <a:r>
              <a:rPr lang="en-US" dirty="0"/>
              <a:t> &gt; 10 END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4FA3C-DCA9-C30F-E1F5-15B777BD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3609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CD68-3C32-AB8A-C281-CCCF29EDD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Pagination with LIMIT and OFFSET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CFA5A-EAF3-99E8-7DFE-B36DB6110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sometimes queries return large number of results, and you want to process them in smaller batches; after processing smaller batch, want to skip over a batch to process next one</a:t>
            </a:r>
          </a:p>
          <a:p>
            <a:endParaRPr lang="en-US" dirty="0"/>
          </a:p>
          <a:p>
            <a:r>
              <a:rPr lang="en-US" dirty="0"/>
              <a:t>adding OFFSET n and LIMIT m</a:t>
            </a:r>
          </a:p>
          <a:p>
            <a:endParaRPr lang="en-US" dirty="0"/>
          </a:p>
          <a:p>
            <a:r>
              <a:rPr lang="en-US" dirty="0"/>
              <a:t>SELECT * FROM `travel-sample` LIMIT 20 OFFSET (5 - 1) * 20</a:t>
            </a:r>
          </a:p>
          <a:p>
            <a:endParaRPr lang="en-US" dirty="0"/>
          </a:p>
          <a:p>
            <a:r>
              <a:rPr lang="en-US" dirty="0"/>
              <a:t>page 5, 50 items / records on page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D5A04-DC33-75F6-3F46-F9E09B6A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18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9E60-066C-4543-9B7D-5969407D9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765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SELECT COUNT(*) as Count FROM `travel-sample`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AAC342-7B51-EE97-E94B-740F21A64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4480" y="1554480"/>
            <a:ext cx="9228924" cy="45760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072D2-E726-7148-56F0-A3DED71B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023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53D7A-2202-5BCA-F541-4E176819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type, COUNT(*) as Count FROM `travel-sample` GROUP BY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3AA62-F372-2B33-89CF-DF4BA3E7C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 </a:t>
            </a:r>
          </a:p>
          <a:p>
            <a:r>
              <a:rPr lang="en-US" dirty="0"/>
              <a:t>{    "type": "airline",    "Count": 187  },  </a:t>
            </a:r>
          </a:p>
          <a:p>
            <a:r>
              <a:rPr lang="en-US" dirty="0"/>
              <a:t>{    "type": "airport",    "Count": 1968  },  </a:t>
            </a:r>
          </a:p>
          <a:p>
            <a:r>
              <a:rPr lang="en-US" dirty="0"/>
              <a:t>{    "type": "hotel",    "Count": 917  },  </a:t>
            </a:r>
          </a:p>
          <a:p>
            <a:r>
              <a:rPr lang="en-US" dirty="0"/>
              <a:t>{    "type": "landmark",    "Count": 4495  },  </a:t>
            </a:r>
          </a:p>
          <a:p>
            <a:r>
              <a:rPr lang="en-US" dirty="0"/>
              <a:t>{    "type": "route",    "Count": 24024  }</a:t>
            </a:r>
          </a:p>
          <a:p>
            <a:r>
              <a:rPr lang="en-US" dirty="0"/>
              <a:t>]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63535-C83B-EDC7-9000-8FEAABB5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043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4B40A-FCC9-933A-B81C-FFFD2902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grouped data with HAVING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461E0-BB21-AE57-9A54-5265325B6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you want to filter which groups are returned</a:t>
            </a:r>
          </a:p>
          <a:p>
            <a:r>
              <a:rPr lang="en-US" dirty="0"/>
              <a:t>similar to filtering documents with the WHERE clause, can filter groups with HAVING clause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EA4B4-6DE9-03E3-7741-8AD2086F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671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0F9E-2B52-F372-4F74-12ABF321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UNNEST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D9A5-EE89-ED49-0079-FADF8AEA0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creates input object by flattening array in parent document</a:t>
            </a:r>
          </a:p>
          <a:p>
            <a:r>
              <a:rPr lang="en-US" dirty="0"/>
              <a:t>used within the FROM clause</a:t>
            </a:r>
          </a:p>
          <a:p>
            <a:r>
              <a:rPr lang="en-US" dirty="0"/>
              <a:t>if document or object contains a nested array, UNNEST conceptually performs a join of the nested array with its parent object; each resulting joined object becomes output of query</a:t>
            </a:r>
          </a:p>
          <a:p>
            <a:endParaRPr lang="en-US" dirty="0"/>
          </a:p>
          <a:p>
            <a:r>
              <a:rPr lang="en-US" dirty="0" err="1"/>
              <a:t>UnNests</a:t>
            </a:r>
            <a:r>
              <a:rPr lang="en-US" dirty="0"/>
              <a:t> can be chained</a:t>
            </a:r>
          </a:p>
          <a:p>
            <a:r>
              <a:rPr lang="en-US" dirty="0"/>
              <a:t>to return position of elements in unnested array after you use UNNEST, use UNNEST_POS function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F5C54-4E8E-C892-3171-F5229F3C4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2835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348C-1BD4-1120-950B-9C24576A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* FROM tutorial person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43573-7296-8FC0-BDC7-1FE373978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Autofit/>
          </a:bodyPr>
          <a:lstStyle/>
          <a:p>
            <a:r>
              <a:rPr lang="en-US" sz="1700" dirty="0"/>
              <a:t>[  {    "person": {      "type": "contact",      "title": "Mr.",      "</a:t>
            </a:r>
            <a:r>
              <a:rPr lang="en-US" sz="1700" dirty="0" err="1"/>
              <a:t>fname</a:t>
            </a:r>
            <a:r>
              <a:rPr lang="en-US" sz="1700" dirty="0"/>
              <a:t>": "Fred",      "</a:t>
            </a:r>
            <a:r>
              <a:rPr lang="en-US" sz="1700" dirty="0" err="1"/>
              <a:t>lname</a:t>
            </a:r>
            <a:r>
              <a:rPr lang="en-US" sz="1700" dirty="0"/>
              <a:t>": "Jackson",      "age": 18,      "email": "fred@gmail.com",      "hobbies": [        "golf",        "surfing"      ],      "children": null,      "relation": "coworker"    }  },  </a:t>
            </a:r>
          </a:p>
          <a:p>
            <a:r>
              <a:rPr lang="en-US" sz="1700" dirty="0"/>
              <a:t>{    "person": {      "type": "contact",      "title": "Mr.",      "</a:t>
            </a:r>
            <a:r>
              <a:rPr lang="en-US" sz="1700" dirty="0" err="1"/>
              <a:t>fname</a:t>
            </a:r>
            <a:r>
              <a:rPr lang="en-US" sz="1700" dirty="0"/>
              <a:t>": "Earl",      "</a:t>
            </a:r>
            <a:r>
              <a:rPr lang="en-US" sz="1700" dirty="0" err="1"/>
              <a:t>lname</a:t>
            </a:r>
            <a:r>
              <a:rPr lang="en-US" sz="1700" dirty="0"/>
              <a:t>": "Johnson",      "age": 46,      "email": "earl@gmail.com",      "children": [        {          "</a:t>
            </a:r>
            <a:r>
              <a:rPr lang="en-US" sz="1700" dirty="0" err="1"/>
              <a:t>fname</a:t>
            </a:r>
            <a:r>
              <a:rPr lang="en-US" sz="1700" dirty="0"/>
              <a:t>": "Xena",          "age": 17,          "gender": "f"        },        {          "</a:t>
            </a:r>
            <a:r>
              <a:rPr lang="en-US" sz="1700" dirty="0" err="1"/>
              <a:t>fname</a:t>
            </a:r>
            <a:r>
              <a:rPr lang="en-US" sz="1700" dirty="0"/>
              <a:t>": "Yuri",          "age": 2,          "gender": "m"        }      ],      "hobbies": [        "surfing"      ],      "relation": "friend"    }  }, </a:t>
            </a:r>
          </a:p>
          <a:p>
            <a:r>
              <a:rPr lang="en-US" sz="1700" dirty="0"/>
              <a:t> {    "person": {      "type": "contact",      "title": "Mr.",      "</a:t>
            </a:r>
            <a:r>
              <a:rPr lang="en-US" sz="1700" dirty="0" err="1"/>
              <a:t>fname</a:t>
            </a:r>
            <a:r>
              <a:rPr lang="en-US" sz="1700" dirty="0"/>
              <a:t>": "Dave",      "</a:t>
            </a:r>
            <a:r>
              <a:rPr lang="en-US" sz="1700" dirty="0" err="1"/>
              <a:t>lname</a:t>
            </a:r>
            <a:r>
              <a:rPr lang="en-US" sz="1700" dirty="0"/>
              <a:t>": "Smith",      "age": 46,      "email": "dave@gmail.com",      "children": [        {          "</a:t>
            </a:r>
            <a:r>
              <a:rPr lang="en-US" sz="1700" dirty="0" err="1"/>
              <a:t>fname</a:t>
            </a:r>
            <a:r>
              <a:rPr lang="en-US" sz="1700" dirty="0"/>
              <a:t>": "Aiden",          "age": 17,          "gender": "m"        },        {          "</a:t>
            </a:r>
            <a:r>
              <a:rPr lang="en-US" sz="1700" dirty="0" err="1"/>
              <a:t>fname</a:t>
            </a:r>
            <a:r>
              <a:rPr lang="en-US" sz="1700" dirty="0"/>
              <a:t>": "Bill",          "age": 2,          "gender": "f"        }      ],      "hobbies": [        "golf",        "surfing"      ],      "relation": "friend"    }  },  </a:t>
            </a:r>
          </a:p>
          <a:p>
            <a:r>
              <a:rPr lang="en-US" sz="1700" dirty="0"/>
              <a:t>{    "person": {      "type": "contact",      "title": "Mr.",      "</a:t>
            </a:r>
            <a:r>
              <a:rPr lang="en-US" sz="1700" dirty="0" err="1"/>
              <a:t>fname</a:t>
            </a:r>
            <a:r>
              <a:rPr lang="en-US" sz="1700" dirty="0"/>
              <a:t>": "Ian",      "</a:t>
            </a:r>
            <a:r>
              <a:rPr lang="en-US" sz="1700" dirty="0" err="1"/>
              <a:t>lname</a:t>
            </a:r>
            <a:r>
              <a:rPr lang="en-US" sz="1700" dirty="0"/>
              <a:t>": "Taylor",      "age": 56,      "email": "ian@gmail.com",      "children": [        {          "</a:t>
            </a:r>
            <a:r>
              <a:rPr lang="en-US" sz="1700" dirty="0" err="1"/>
              <a:t>fname</a:t>
            </a:r>
            <a:r>
              <a:rPr lang="en-US" sz="1700" dirty="0"/>
              <a:t>": "Abama",          "age": 17,          "gender": "m"        },        {          "</a:t>
            </a:r>
            <a:r>
              <a:rPr lang="en-US" sz="1700" dirty="0" err="1"/>
              <a:t>fname</a:t>
            </a:r>
            <a:r>
              <a:rPr lang="en-US" sz="1700" dirty="0"/>
              <a:t>": "</a:t>
            </a:r>
            <a:r>
              <a:rPr lang="en-US" sz="1700" dirty="0" err="1"/>
              <a:t>Bebama</a:t>
            </a:r>
            <a:r>
              <a:rPr lang="en-US" sz="1700" dirty="0"/>
              <a:t>",          "age": 21,          "gender": "m"        }      ],      "hobbies": [        "golf",        "surfing"      ],      "relation": "cousin"    }  }, </a:t>
            </a:r>
          </a:p>
          <a:p>
            <a:r>
              <a:rPr lang="en-US" sz="1700" dirty="0"/>
              <a:t> {    "person": {      "type": "contact",      "title": "Mrs.",      "</a:t>
            </a:r>
            <a:r>
              <a:rPr lang="en-US" sz="1700" dirty="0" err="1"/>
              <a:t>fname</a:t>
            </a:r>
            <a:r>
              <a:rPr lang="en-US" sz="1700" dirty="0"/>
              <a:t>": "Jane",      "</a:t>
            </a:r>
            <a:r>
              <a:rPr lang="en-US" sz="1700" dirty="0" err="1"/>
              <a:t>lname</a:t>
            </a:r>
            <a:r>
              <a:rPr lang="en-US" sz="1700" dirty="0"/>
              <a:t>": "Edwards",      "age": 40,      "email": "jane@gmail.com",      "contacts": [        {          "</a:t>
            </a:r>
            <a:r>
              <a:rPr lang="en-US" sz="1700" dirty="0" err="1"/>
              <a:t>fname</a:t>
            </a:r>
            <a:r>
              <a:rPr lang="en-US" sz="1700" dirty="0"/>
              <a:t>": "Fred"        },        {          "</a:t>
            </a:r>
            <a:r>
              <a:rPr lang="en-US" sz="1700" dirty="0" err="1"/>
              <a:t>fname</a:t>
            </a:r>
            <a:r>
              <a:rPr lang="en-US" sz="1700" dirty="0"/>
              <a:t>": "Sheela"        }      ],      "relation": "cousin"    }  },  </a:t>
            </a:r>
          </a:p>
          <a:p>
            <a:r>
              <a:rPr lang="en-US" sz="1700" dirty="0"/>
              <a:t>{    "person": {      "type": "contact",      "title": "Mr.",      "</a:t>
            </a:r>
            <a:r>
              <a:rPr lang="en-US" sz="1700" dirty="0" err="1"/>
              <a:t>fname</a:t>
            </a:r>
            <a:r>
              <a:rPr lang="en-US" sz="1700" dirty="0"/>
              <a:t>": "Harry",      "</a:t>
            </a:r>
            <a:r>
              <a:rPr lang="en-US" sz="1700" dirty="0" err="1"/>
              <a:t>lname</a:t>
            </a:r>
            <a:r>
              <a:rPr lang="en-US" sz="1700" dirty="0"/>
              <a:t>": "Jackson",      "age": 20,      "email": "harry@yahoo.com",      "relation": "parent"    }  }]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91572-60E2-396A-B46A-892A3C08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36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73160E-0345-1910-EE9C-E9C39093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200663"/>
          </a:xfrm>
        </p:spPr>
        <p:txBody>
          <a:bodyPr>
            <a:normAutofit fontScale="90000"/>
          </a:bodyPr>
          <a:lstStyle/>
          <a:p>
            <a:r>
              <a:rPr lang="en-US" dirty="0"/>
              <a:t>SELECT * FROM tutorial person   </a:t>
            </a:r>
            <a:br>
              <a:rPr lang="en-US" dirty="0"/>
            </a:br>
            <a:r>
              <a:rPr lang="en-US" dirty="0"/>
              <a:t>UNNEST </a:t>
            </a:r>
            <a:r>
              <a:rPr lang="en-US" dirty="0" err="1"/>
              <a:t>person.children</a:t>
            </a:r>
            <a:r>
              <a:rPr lang="en-US" dirty="0"/>
              <a:t> child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3A8299-4C82-518D-47C7-AB87B8603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48697"/>
            <a:ext cx="5181600" cy="4928267"/>
          </a:xfrm>
        </p:spPr>
        <p:txBody>
          <a:bodyPr>
            <a:noAutofit/>
          </a:bodyPr>
          <a:lstStyle/>
          <a:p>
            <a:r>
              <a:rPr lang="en-US" sz="1600" dirty="0"/>
              <a:t>[  {    "child": {      "</a:t>
            </a:r>
            <a:r>
              <a:rPr lang="en-US" sz="1600" dirty="0" err="1"/>
              <a:t>fname</a:t>
            </a:r>
            <a:r>
              <a:rPr lang="en-US" sz="1600" dirty="0"/>
              <a:t>": "Xena",      "age": 17,      "gender": "f"    },    "person": {      "type": "contact",      "title": "Mr.",      "</a:t>
            </a:r>
            <a:r>
              <a:rPr lang="en-US" sz="1600" dirty="0" err="1"/>
              <a:t>fname</a:t>
            </a:r>
            <a:r>
              <a:rPr lang="en-US" sz="1600" dirty="0"/>
              <a:t>": "Earl",      "</a:t>
            </a:r>
            <a:r>
              <a:rPr lang="en-US" sz="1600" dirty="0" err="1"/>
              <a:t>lname</a:t>
            </a:r>
            <a:r>
              <a:rPr lang="en-US" sz="1600" dirty="0"/>
              <a:t>": "Johnson",      "age": 46,      "email": "earl@gmail.com",      "children": [        {          "</a:t>
            </a:r>
            <a:r>
              <a:rPr lang="en-US" sz="1600" dirty="0" err="1"/>
              <a:t>fname</a:t>
            </a:r>
            <a:r>
              <a:rPr lang="en-US" sz="1600" dirty="0"/>
              <a:t>": "Xena",          "age": 17,          "gender": "f"        },        {          "</a:t>
            </a:r>
            <a:r>
              <a:rPr lang="en-US" sz="1600" dirty="0" err="1"/>
              <a:t>fname</a:t>
            </a:r>
            <a:r>
              <a:rPr lang="en-US" sz="1600" dirty="0"/>
              <a:t>": "Yuri",          "age": 2,          "gender": "m"        }      ],      "hobbies": [        "surfing"      ],      "relation": "friend"    }  },</a:t>
            </a:r>
          </a:p>
          <a:p>
            <a:r>
              <a:rPr lang="en-US" sz="1600" dirty="0"/>
              <a:t> {    "child": {      "</a:t>
            </a:r>
            <a:r>
              <a:rPr lang="en-US" sz="1600" dirty="0" err="1"/>
              <a:t>fname</a:t>
            </a:r>
            <a:r>
              <a:rPr lang="en-US" sz="1600" dirty="0"/>
              <a:t>": "Yuri",      "age": 2,      "gender": "m"    },    "person": {      "type": "contact",      "title": "Mr.",      "</a:t>
            </a:r>
            <a:r>
              <a:rPr lang="en-US" sz="1600" dirty="0" err="1"/>
              <a:t>fname</a:t>
            </a:r>
            <a:r>
              <a:rPr lang="en-US" sz="1600" dirty="0"/>
              <a:t>": "Earl",      "</a:t>
            </a:r>
            <a:r>
              <a:rPr lang="en-US" sz="1600" dirty="0" err="1"/>
              <a:t>lname</a:t>
            </a:r>
            <a:r>
              <a:rPr lang="en-US" sz="1600" dirty="0"/>
              <a:t>": "Johnson",      "age": 46,      "email": "earl@gmail.com",      "children": [        {          "</a:t>
            </a:r>
            <a:r>
              <a:rPr lang="en-US" sz="1600" dirty="0" err="1"/>
              <a:t>fname</a:t>
            </a:r>
            <a:r>
              <a:rPr lang="en-US" sz="1600" dirty="0"/>
              <a:t>": "Xena",          "age": 17,          "gender": "f"        },        {          "</a:t>
            </a:r>
            <a:r>
              <a:rPr lang="en-US" sz="1600" dirty="0" err="1"/>
              <a:t>fname</a:t>
            </a:r>
            <a:r>
              <a:rPr lang="en-US" sz="1600" dirty="0"/>
              <a:t>": "Yuri",          "age": 2,          "gender": "m"        }      ],      "hobbies": [        "surfing"      ],      "relation": "friend"    }  },</a:t>
            </a:r>
          </a:p>
          <a:p>
            <a:r>
              <a:rPr lang="en-US" sz="1600" dirty="0"/>
              <a:t> {    "child": {      "</a:t>
            </a:r>
            <a:r>
              <a:rPr lang="en-US" sz="1600" dirty="0" err="1"/>
              <a:t>fname</a:t>
            </a:r>
            <a:r>
              <a:rPr lang="en-US" sz="1600" dirty="0"/>
              <a:t>": "Abama",      "age": 17,      "gender": "m"    },    "person": {      "type": "contact",      "title": "Mr.",      "</a:t>
            </a:r>
            <a:r>
              <a:rPr lang="en-US" sz="1600" dirty="0" err="1"/>
              <a:t>fname</a:t>
            </a:r>
            <a:r>
              <a:rPr lang="en-US" sz="1600" dirty="0"/>
              <a:t>": "Ian",      "</a:t>
            </a:r>
            <a:r>
              <a:rPr lang="en-US" sz="1600" dirty="0" err="1"/>
              <a:t>lname</a:t>
            </a:r>
            <a:r>
              <a:rPr lang="en-US" sz="1600" dirty="0"/>
              <a:t>": "Taylor",      "age": 56,      "email": "ian@gmail.com",      "children": [        {          "</a:t>
            </a:r>
            <a:r>
              <a:rPr lang="en-US" sz="1600" dirty="0" err="1"/>
              <a:t>fname</a:t>
            </a:r>
            <a:r>
              <a:rPr lang="en-US" sz="1600" dirty="0"/>
              <a:t>": "Abama",          "age": 17,          "gender": "m"        },        {          "</a:t>
            </a:r>
            <a:r>
              <a:rPr lang="en-US" sz="1600" dirty="0" err="1"/>
              <a:t>fname</a:t>
            </a:r>
            <a:r>
              <a:rPr lang="en-US" sz="1600" dirty="0"/>
              <a:t>": "</a:t>
            </a:r>
            <a:r>
              <a:rPr lang="en-US" sz="1600" dirty="0" err="1"/>
              <a:t>Bebama</a:t>
            </a:r>
            <a:r>
              <a:rPr lang="en-US" sz="1600" dirty="0"/>
              <a:t>",          "age": 21,          "gender": "m"        }      ],      "hobbies": [        "golf",        "surfing"      ],      "relation": "cousin"    }  },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EC2A0C-F799-A9B3-5735-50D0C440E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48697"/>
            <a:ext cx="5181600" cy="4928267"/>
          </a:xfrm>
        </p:spPr>
        <p:txBody>
          <a:bodyPr>
            <a:noAutofit/>
          </a:bodyPr>
          <a:lstStyle/>
          <a:p>
            <a:r>
              <a:rPr lang="en-US" sz="1600" dirty="0"/>
              <a:t> {    "child": {      "</a:t>
            </a:r>
            <a:r>
              <a:rPr lang="en-US" sz="1600" dirty="0" err="1"/>
              <a:t>fname</a:t>
            </a:r>
            <a:r>
              <a:rPr lang="en-US" sz="1600" dirty="0"/>
              <a:t>": "</a:t>
            </a:r>
            <a:r>
              <a:rPr lang="en-US" sz="1600" dirty="0" err="1"/>
              <a:t>Bebama</a:t>
            </a:r>
            <a:r>
              <a:rPr lang="en-US" sz="1600" dirty="0"/>
              <a:t>",      "age": 21,      "gender": "m"    },    "person": {      "type": "contact",      "title": "Mr.",      "</a:t>
            </a:r>
            <a:r>
              <a:rPr lang="en-US" sz="1600" dirty="0" err="1"/>
              <a:t>fname</a:t>
            </a:r>
            <a:r>
              <a:rPr lang="en-US" sz="1600" dirty="0"/>
              <a:t>": "Ian",      "</a:t>
            </a:r>
            <a:r>
              <a:rPr lang="en-US" sz="1600" dirty="0" err="1"/>
              <a:t>lname</a:t>
            </a:r>
            <a:r>
              <a:rPr lang="en-US" sz="1600" dirty="0"/>
              <a:t>": "Taylor",      "age": 56,      "email": "ian@gmail.com",      "children": [        {          "</a:t>
            </a:r>
            <a:r>
              <a:rPr lang="en-US" sz="1600" dirty="0" err="1"/>
              <a:t>fname</a:t>
            </a:r>
            <a:r>
              <a:rPr lang="en-US" sz="1600" dirty="0"/>
              <a:t>": "Abama",          "age": 17,          "gender": "m"        },        {          "</a:t>
            </a:r>
            <a:r>
              <a:rPr lang="en-US" sz="1600" dirty="0" err="1"/>
              <a:t>fname</a:t>
            </a:r>
            <a:r>
              <a:rPr lang="en-US" sz="1600" dirty="0"/>
              <a:t>": "</a:t>
            </a:r>
            <a:r>
              <a:rPr lang="en-US" sz="1600" dirty="0" err="1"/>
              <a:t>Bebama</a:t>
            </a:r>
            <a:r>
              <a:rPr lang="en-US" sz="1600" dirty="0"/>
              <a:t>",          "age": 21,          "gender": "m"        }      ],      "hobbies": [        "golf",        "surfing"      ],      "relation": "cousin"    }  },</a:t>
            </a:r>
          </a:p>
          <a:p>
            <a:r>
              <a:rPr lang="en-US" sz="1600" dirty="0"/>
              <a:t> {    "child": {      "</a:t>
            </a:r>
            <a:r>
              <a:rPr lang="en-US" sz="1600" dirty="0" err="1"/>
              <a:t>fname</a:t>
            </a:r>
            <a:r>
              <a:rPr lang="en-US" sz="1600" dirty="0"/>
              <a:t>": "Aiden",      "age": 17,      "gender": "m"    },    "person": {      "type": "contact",      "title": "Mr.",      "</a:t>
            </a:r>
            <a:r>
              <a:rPr lang="en-US" sz="1600" dirty="0" err="1"/>
              <a:t>fname</a:t>
            </a:r>
            <a:r>
              <a:rPr lang="en-US" sz="1600" dirty="0"/>
              <a:t>": "Dave",      "</a:t>
            </a:r>
            <a:r>
              <a:rPr lang="en-US" sz="1600" dirty="0" err="1"/>
              <a:t>lname</a:t>
            </a:r>
            <a:r>
              <a:rPr lang="en-US" sz="1600" dirty="0"/>
              <a:t>": "Smith",      "age": 46,      "email": "dave@gmail.com",      "children": [        {          "</a:t>
            </a:r>
            <a:r>
              <a:rPr lang="en-US" sz="1600" dirty="0" err="1"/>
              <a:t>fname</a:t>
            </a:r>
            <a:r>
              <a:rPr lang="en-US" sz="1600" dirty="0"/>
              <a:t>": "Aiden",          "age": 17,          "gender": "m"        },        {          "</a:t>
            </a:r>
            <a:r>
              <a:rPr lang="en-US" sz="1600" dirty="0" err="1"/>
              <a:t>fname</a:t>
            </a:r>
            <a:r>
              <a:rPr lang="en-US" sz="1600" dirty="0"/>
              <a:t>": "Bill",          "age": 2,          "gender": "f"        }      ],      "hobbies": [        "golf",        "surfing"      ],      "relation": "friend"    }  },</a:t>
            </a:r>
          </a:p>
          <a:p>
            <a:r>
              <a:rPr lang="en-US" sz="1600" dirty="0"/>
              <a:t> {    "child": {      "</a:t>
            </a:r>
            <a:r>
              <a:rPr lang="en-US" sz="1600" dirty="0" err="1"/>
              <a:t>fname</a:t>
            </a:r>
            <a:r>
              <a:rPr lang="en-US" sz="1600" dirty="0"/>
              <a:t>": "Bill",      "age": 2,      "gender": "f"    },    "person": {      "type": "contact",      "title": "Mr.",      "</a:t>
            </a:r>
            <a:r>
              <a:rPr lang="en-US" sz="1600" dirty="0" err="1"/>
              <a:t>fname</a:t>
            </a:r>
            <a:r>
              <a:rPr lang="en-US" sz="1600" dirty="0"/>
              <a:t>": "Dave",      "</a:t>
            </a:r>
            <a:r>
              <a:rPr lang="en-US" sz="1600" dirty="0" err="1"/>
              <a:t>lname</a:t>
            </a:r>
            <a:r>
              <a:rPr lang="en-US" sz="1600" dirty="0"/>
              <a:t>": "Smith",      "age": 46,      "email": "dave@gmail.com",      "children": [        {          "</a:t>
            </a:r>
            <a:r>
              <a:rPr lang="en-US" sz="1600" dirty="0" err="1"/>
              <a:t>fname</a:t>
            </a:r>
            <a:r>
              <a:rPr lang="en-US" sz="1600" dirty="0"/>
              <a:t>": "Aiden",          "age": 17,          "gender": "m"        },        {          "</a:t>
            </a:r>
            <a:r>
              <a:rPr lang="en-US" sz="1600" dirty="0" err="1"/>
              <a:t>fname</a:t>
            </a:r>
            <a:r>
              <a:rPr lang="en-US" sz="1600" dirty="0"/>
              <a:t>": "Bill",          "age": 2,          "gender": "f"        }      ],      "hobbies": [        "golf",        "surfing"      ],      "relation": "friend"    }  }]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2C25B-36F1-D94E-561C-339E4274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181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B72A3EF-6A92-C45F-6768-6A36C834B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36FBDB-E574-8983-9E9C-06F48C463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UNNEST_POS(child) + 1 as </a:t>
            </a:r>
            <a:r>
              <a:rPr lang="en-US" dirty="0" err="1"/>
              <a:t>child_no</a:t>
            </a:r>
            <a:r>
              <a:rPr lang="en-US" dirty="0"/>
              <a:t>,* </a:t>
            </a:r>
          </a:p>
          <a:p>
            <a:r>
              <a:rPr lang="en-US" dirty="0"/>
              <a:t>FROM tutorial person UNNEST </a:t>
            </a:r>
            <a:r>
              <a:rPr lang="en-US" dirty="0" err="1"/>
              <a:t>person.children</a:t>
            </a:r>
            <a:r>
              <a:rPr lang="en-US" dirty="0"/>
              <a:t> child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7694B-3B34-1F45-4793-B05BB354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23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6137E-80F1-FD63-6868-CCDB9706B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D3370-0904-B4C2-424F-99AFA7B20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65125"/>
            <a:ext cx="5181600" cy="5811838"/>
          </a:xfrm>
        </p:spPr>
        <p:txBody>
          <a:bodyPr>
            <a:noAutofit/>
          </a:bodyPr>
          <a:lstStyle/>
          <a:p>
            <a:r>
              <a:rPr lang="en-US" sz="1600" dirty="0"/>
              <a:t>[  {    "</a:t>
            </a:r>
            <a:r>
              <a:rPr lang="en-US" sz="1600" dirty="0" err="1"/>
              <a:t>child_no</a:t>
            </a:r>
            <a:r>
              <a:rPr lang="en-US" sz="1600" dirty="0"/>
              <a:t>": 1,    "child": {      "</a:t>
            </a:r>
            <a:r>
              <a:rPr lang="en-US" sz="1600" dirty="0" err="1"/>
              <a:t>fname</a:t>
            </a:r>
            <a:r>
              <a:rPr lang="en-US" sz="1600" dirty="0"/>
              <a:t>": "Abama",      "age": 17,      "gender": "m"    },    "person": {      "type": "contact",      "title": "Mr.",      "</a:t>
            </a:r>
            <a:r>
              <a:rPr lang="en-US" sz="1600" dirty="0" err="1"/>
              <a:t>fname</a:t>
            </a:r>
            <a:r>
              <a:rPr lang="en-US" sz="1600" dirty="0"/>
              <a:t>": "Ian",      "</a:t>
            </a:r>
            <a:r>
              <a:rPr lang="en-US" sz="1600" dirty="0" err="1"/>
              <a:t>lname</a:t>
            </a:r>
            <a:r>
              <a:rPr lang="en-US" sz="1600" dirty="0"/>
              <a:t>": "Taylor",      "age": 56,      "email": "ian@gmail.com",      "children": [        {          "</a:t>
            </a:r>
            <a:r>
              <a:rPr lang="en-US" sz="1600" dirty="0" err="1"/>
              <a:t>fname</a:t>
            </a:r>
            <a:r>
              <a:rPr lang="en-US" sz="1600" dirty="0"/>
              <a:t>": "Abama",          "age": 17,          "gender": "m"        },        {          "</a:t>
            </a:r>
            <a:r>
              <a:rPr lang="en-US" sz="1600" dirty="0" err="1"/>
              <a:t>fname</a:t>
            </a:r>
            <a:r>
              <a:rPr lang="en-US" sz="1600" dirty="0"/>
              <a:t>": "</a:t>
            </a:r>
            <a:r>
              <a:rPr lang="en-US" sz="1600" dirty="0" err="1"/>
              <a:t>Bebama</a:t>
            </a:r>
            <a:r>
              <a:rPr lang="en-US" sz="1600" dirty="0"/>
              <a:t>",          "age": 21,          "gender": "m"        }      ],      "hobbies": [        "golf",        "surfing"      ],      "relation": "cousin"    }  },  </a:t>
            </a:r>
          </a:p>
          <a:p>
            <a:r>
              <a:rPr lang="en-US" sz="1600" dirty="0"/>
              <a:t>{    "</a:t>
            </a:r>
            <a:r>
              <a:rPr lang="en-US" sz="1600" dirty="0" err="1"/>
              <a:t>child_no</a:t>
            </a:r>
            <a:r>
              <a:rPr lang="en-US" sz="1600" dirty="0"/>
              <a:t>": 2,    "child": {      "</a:t>
            </a:r>
            <a:r>
              <a:rPr lang="en-US" sz="1600" dirty="0" err="1"/>
              <a:t>fname</a:t>
            </a:r>
            <a:r>
              <a:rPr lang="en-US" sz="1600" dirty="0"/>
              <a:t>": "</a:t>
            </a:r>
            <a:r>
              <a:rPr lang="en-US" sz="1600" dirty="0" err="1"/>
              <a:t>Bebama</a:t>
            </a:r>
            <a:r>
              <a:rPr lang="en-US" sz="1600" dirty="0"/>
              <a:t>",      "age": 21,      "gender": "m"    },    "person": {      "type": "contact",      "title": "Mr.",      "</a:t>
            </a:r>
            <a:r>
              <a:rPr lang="en-US" sz="1600" dirty="0" err="1"/>
              <a:t>fname</a:t>
            </a:r>
            <a:r>
              <a:rPr lang="en-US" sz="1600" dirty="0"/>
              <a:t>": "Ian",      "</a:t>
            </a:r>
            <a:r>
              <a:rPr lang="en-US" sz="1600" dirty="0" err="1"/>
              <a:t>lname</a:t>
            </a:r>
            <a:r>
              <a:rPr lang="en-US" sz="1600" dirty="0"/>
              <a:t>": "Taylor",      "age": 56,      "email": "ian@gmail.com",      "children": [        {          "</a:t>
            </a:r>
            <a:r>
              <a:rPr lang="en-US" sz="1600" dirty="0" err="1"/>
              <a:t>fname</a:t>
            </a:r>
            <a:r>
              <a:rPr lang="en-US" sz="1600" dirty="0"/>
              <a:t>": "Abama",          "age": 17,          "gender": "m"        },        {          "</a:t>
            </a:r>
            <a:r>
              <a:rPr lang="en-US" sz="1600" dirty="0" err="1"/>
              <a:t>fname</a:t>
            </a:r>
            <a:r>
              <a:rPr lang="en-US" sz="1600" dirty="0"/>
              <a:t>": "</a:t>
            </a:r>
            <a:r>
              <a:rPr lang="en-US" sz="1600" dirty="0" err="1"/>
              <a:t>Bebama</a:t>
            </a:r>
            <a:r>
              <a:rPr lang="en-US" sz="1600" dirty="0"/>
              <a:t>",          "age": 21,          "gender": "m"        }      ],      "hobbies": [        "golf",        "surfing"      ],      "relation": "cousin"    }  },  </a:t>
            </a:r>
          </a:p>
          <a:p>
            <a:r>
              <a:rPr lang="en-US" sz="1600" dirty="0"/>
              <a:t>{    "</a:t>
            </a:r>
            <a:r>
              <a:rPr lang="en-US" sz="1600" dirty="0" err="1"/>
              <a:t>child_no</a:t>
            </a:r>
            <a:r>
              <a:rPr lang="en-US" sz="1600" dirty="0"/>
              <a:t>": 1,    "child": {      "</a:t>
            </a:r>
            <a:r>
              <a:rPr lang="en-US" sz="1600" dirty="0" err="1"/>
              <a:t>fname</a:t>
            </a:r>
            <a:r>
              <a:rPr lang="en-US" sz="1600" dirty="0"/>
              <a:t>": "Aiden",      "age": 17,      "gender": "m"    },    "person": {      "type": "contact",      "title": "Mr.",      "</a:t>
            </a:r>
            <a:r>
              <a:rPr lang="en-US" sz="1600" dirty="0" err="1"/>
              <a:t>fname</a:t>
            </a:r>
            <a:r>
              <a:rPr lang="en-US" sz="1600" dirty="0"/>
              <a:t>": "Dave",      "</a:t>
            </a:r>
            <a:r>
              <a:rPr lang="en-US" sz="1600" dirty="0" err="1"/>
              <a:t>lname</a:t>
            </a:r>
            <a:r>
              <a:rPr lang="en-US" sz="1600" dirty="0"/>
              <a:t>": "Smith",      "age": 46,      "email": "dave@gmail.com",      "children": [        {          "</a:t>
            </a:r>
            <a:r>
              <a:rPr lang="en-US" sz="1600" dirty="0" err="1"/>
              <a:t>fname</a:t>
            </a:r>
            <a:r>
              <a:rPr lang="en-US" sz="1600" dirty="0"/>
              <a:t>": "Aiden",          "age": 17,          "gender": "m"        },        {          "</a:t>
            </a:r>
            <a:r>
              <a:rPr lang="en-US" sz="1600" dirty="0" err="1"/>
              <a:t>fname</a:t>
            </a:r>
            <a:r>
              <a:rPr lang="en-US" sz="1600" dirty="0"/>
              <a:t>": "Bill",          "age": 2,          "gender": "f"        }      ],      "hobbies": [        "golf",        "surfing"      ],      "relation": "friend"    }  },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0AF5-318C-50ED-1560-11E21DC90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65125"/>
            <a:ext cx="5181600" cy="5811838"/>
          </a:xfrm>
        </p:spPr>
        <p:txBody>
          <a:bodyPr>
            <a:noAutofit/>
          </a:bodyPr>
          <a:lstStyle/>
          <a:p>
            <a:r>
              <a:rPr lang="en-US" sz="1600" dirty="0"/>
              <a:t> {    "</a:t>
            </a:r>
            <a:r>
              <a:rPr lang="en-US" sz="1600" dirty="0" err="1"/>
              <a:t>child_no</a:t>
            </a:r>
            <a:r>
              <a:rPr lang="en-US" sz="1600" dirty="0"/>
              <a:t>": 2,    "child": {      "</a:t>
            </a:r>
            <a:r>
              <a:rPr lang="en-US" sz="1600" dirty="0" err="1"/>
              <a:t>fname</a:t>
            </a:r>
            <a:r>
              <a:rPr lang="en-US" sz="1600" dirty="0"/>
              <a:t>": "Bill",      "age": 2,      "gender": "f"    },    "person": {      "type": "contact",      "title": "Mr.",      "</a:t>
            </a:r>
            <a:r>
              <a:rPr lang="en-US" sz="1600" dirty="0" err="1"/>
              <a:t>fname</a:t>
            </a:r>
            <a:r>
              <a:rPr lang="en-US" sz="1600" dirty="0"/>
              <a:t>": "Dave",      "</a:t>
            </a:r>
            <a:r>
              <a:rPr lang="en-US" sz="1600" dirty="0" err="1"/>
              <a:t>lname</a:t>
            </a:r>
            <a:r>
              <a:rPr lang="en-US" sz="1600" dirty="0"/>
              <a:t>": "Smith",      "age": 46,      "email": "dave@gmail.com",      "children": [        {          "</a:t>
            </a:r>
            <a:r>
              <a:rPr lang="en-US" sz="1600" dirty="0" err="1"/>
              <a:t>fname</a:t>
            </a:r>
            <a:r>
              <a:rPr lang="en-US" sz="1600" dirty="0"/>
              <a:t>": "Aiden",          "age": 17,          "gender": "m"        },        {          "</a:t>
            </a:r>
            <a:r>
              <a:rPr lang="en-US" sz="1600" dirty="0" err="1"/>
              <a:t>fname</a:t>
            </a:r>
            <a:r>
              <a:rPr lang="en-US" sz="1600" dirty="0"/>
              <a:t>": "Bill",          "age": 2,          "gender": "f"        }      ],      "hobbies": [        "golf",        "surfing"      ],      "relation": "friend"    }  },  </a:t>
            </a:r>
          </a:p>
          <a:p>
            <a:r>
              <a:rPr lang="en-US" sz="1600" dirty="0"/>
              <a:t>{    "</a:t>
            </a:r>
            <a:r>
              <a:rPr lang="en-US" sz="1600" dirty="0" err="1"/>
              <a:t>child_no</a:t>
            </a:r>
            <a:r>
              <a:rPr lang="en-US" sz="1600" dirty="0"/>
              <a:t>": 1,    "child": {      "</a:t>
            </a:r>
            <a:r>
              <a:rPr lang="en-US" sz="1600" dirty="0" err="1"/>
              <a:t>fname</a:t>
            </a:r>
            <a:r>
              <a:rPr lang="en-US" sz="1600" dirty="0"/>
              <a:t>": "Xena",      "age": 17,      "gender": "f"    },    "person": {      "type": "contact",      "title": "Mr.",      "</a:t>
            </a:r>
            <a:r>
              <a:rPr lang="en-US" sz="1600" dirty="0" err="1"/>
              <a:t>fname</a:t>
            </a:r>
            <a:r>
              <a:rPr lang="en-US" sz="1600" dirty="0"/>
              <a:t>": "Earl",      "</a:t>
            </a:r>
            <a:r>
              <a:rPr lang="en-US" sz="1600" dirty="0" err="1"/>
              <a:t>lname</a:t>
            </a:r>
            <a:r>
              <a:rPr lang="en-US" sz="1600" dirty="0"/>
              <a:t>": "Johnson",      "age": 46,      "email": "earl@gmail.com",      "children": [        {          "</a:t>
            </a:r>
            <a:r>
              <a:rPr lang="en-US" sz="1600" dirty="0" err="1"/>
              <a:t>fname</a:t>
            </a:r>
            <a:r>
              <a:rPr lang="en-US" sz="1600" dirty="0"/>
              <a:t>": "Xena",          "age": 17,          "gender": "f"        },        {          "</a:t>
            </a:r>
            <a:r>
              <a:rPr lang="en-US" sz="1600" dirty="0" err="1"/>
              <a:t>fname</a:t>
            </a:r>
            <a:r>
              <a:rPr lang="en-US" sz="1600" dirty="0"/>
              <a:t>": "Yuri",          "age": 2,          "gender": "m"        }      ],      "hobbies": [        "surfing"      ],      "relation": "friend"    }  },  </a:t>
            </a:r>
          </a:p>
          <a:p>
            <a:r>
              <a:rPr lang="en-US" sz="1600" dirty="0"/>
              <a:t>{    "</a:t>
            </a:r>
            <a:r>
              <a:rPr lang="en-US" sz="1600" dirty="0" err="1"/>
              <a:t>child_no</a:t>
            </a:r>
            <a:r>
              <a:rPr lang="en-US" sz="1600" dirty="0"/>
              <a:t>": 2,    "child": {      "</a:t>
            </a:r>
            <a:r>
              <a:rPr lang="en-US" sz="1600" dirty="0" err="1"/>
              <a:t>fname</a:t>
            </a:r>
            <a:r>
              <a:rPr lang="en-US" sz="1600" dirty="0"/>
              <a:t>": "Yuri",      "age": 2,      "gender": "m"    },    "person": {      "type": "contact",      "title": "Mr.",      "</a:t>
            </a:r>
            <a:r>
              <a:rPr lang="en-US" sz="1600" dirty="0" err="1"/>
              <a:t>fname</a:t>
            </a:r>
            <a:r>
              <a:rPr lang="en-US" sz="1600" dirty="0"/>
              <a:t>": "Earl",      "</a:t>
            </a:r>
            <a:r>
              <a:rPr lang="en-US" sz="1600" dirty="0" err="1"/>
              <a:t>lname</a:t>
            </a:r>
            <a:r>
              <a:rPr lang="en-US" sz="1600" dirty="0"/>
              <a:t>": "Johnson",      "age": 46,      "email": "earl@gmail.com",      "children": [        {          "</a:t>
            </a:r>
            <a:r>
              <a:rPr lang="en-US" sz="1600" dirty="0" err="1"/>
              <a:t>fname</a:t>
            </a:r>
            <a:r>
              <a:rPr lang="en-US" sz="1600" dirty="0"/>
              <a:t>": "Xena",          "age": 17,          "gender": "f"        },        {          "</a:t>
            </a:r>
            <a:r>
              <a:rPr lang="en-US" sz="1600" dirty="0" err="1"/>
              <a:t>fname</a:t>
            </a:r>
            <a:r>
              <a:rPr lang="en-US" sz="1600" dirty="0"/>
              <a:t>": "Yuri",          "age": 2,          "gender": "m"        }      ],      "hobbies": [        "surfing"      ],      "relation": "friend"    }  }]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DA655-6A3B-DE28-BE2F-1ECF6CF7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70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F987E-E6E9-D576-FFC2-961D6A8B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61240-F435-8142-A123-60DF2CEB2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t.relation</a:t>
            </a:r>
            <a:r>
              <a:rPr lang="en-US" dirty="0"/>
              <a:t>, COUNT(*) AS count, AVG(</a:t>
            </a:r>
            <a:r>
              <a:rPr lang="en-US" dirty="0" err="1"/>
              <a:t>c.age</a:t>
            </a:r>
            <a:r>
              <a:rPr lang="en-US" dirty="0"/>
              <a:t>) AS </a:t>
            </a:r>
            <a:r>
              <a:rPr lang="en-US" dirty="0" err="1"/>
              <a:t>avg_age</a:t>
            </a:r>
            <a:endParaRPr lang="en-US" dirty="0"/>
          </a:p>
          <a:p>
            <a:r>
              <a:rPr lang="en-US" dirty="0"/>
              <a:t>    FROM tutorial t</a:t>
            </a:r>
          </a:p>
          <a:p>
            <a:r>
              <a:rPr lang="en-US" dirty="0"/>
              <a:t>    UNNEST </a:t>
            </a:r>
            <a:r>
              <a:rPr lang="en-US" dirty="0" err="1"/>
              <a:t>t.children</a:t>
            </a:r>
            <a:r>
              <a:rPr lang="en-US" dirty="0"/>
              <a:t> c</a:t>
            </a:r>
          </a:p>
          <a:p>
            <a:r>
              <a:rPr lang="en-US" dirty="0"/>
              <a:t>    WHERE </a:t>
            </a:r>
            <a:r>
              <a:rPr lang="en-US" dirty="0" err="1"/>
              <a:t>c.age</a:t>
            </a:r>
            <a:r>
              <a:rPr lang="en-US" dirty="0"/>
              <a:t> &gt; 10</a:t>
            </a:r>
          </a:p>
          <a:p>
            <a:r>
              <a:rPr lang="en-US" dirty="0"/>
              <a:t>    GROUP BY </a:t>
            </a:r>
            <a:r>
              <a:rPr lang="en-US" dirty="0" err="1"/>
              <a:t>t.relation</a:t>
            </a:r>
            <a:endParaRPr lang="en-US" dirty="0"/>
          </a:p>
          <a:p>
            <a:r>
              <a:rPr lang="en-US" dirty="0"/>
              <a:t>    HAVING COUNT(*) &gt; 1</a:t>
            </a:r>
          </a:p>
          <a:p>
            <a:r>
              <a:rPr lang="en-US" dirty="0"/>
              <a:t>    ORDER BY </a:t>
            </a:r>
            <a:r>
              <a:rPr lang="en-US" dirty="0" err="1"/>
              <a:t>avg_age</a:t>
            </a:r>
            <a:r>
              <a:rPr lang="en-US" dirty="0"/>
              <a:t> DESC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D7689-0D66-7533-AD10-C8277165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425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B85B-5F1E-30F0-DFA4-632709BC1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943E1-41BF-C9B6-4FB6-0D0989E9D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  </a:t>
            </a:r>
          </a:p>
          <a:p>
            <a:r>
              <a:rPr lang="en-US" dirty="0"/>
              <a:t>{    "relation": "cousin",    "count": 2,    "</a:t>
            </a:r>
            <a:r>
              <a:rPr lang="en-US" dirty="0" err="1"/>
              <a:t>avg_age</a:t>
            </a:r>
            <a:r>
              <a:rPr lang="en-US" dirty="0"/>
              <a:t>": 19  },  </a:t>
            </a:r>
          </a:p>
          <a:p>
            <a:r>
              <a:rPr lang="en-US" dirty="0"/>
              <a:t>{    "relation": "friend",    "count": 2,    "</a:t>
            </a:r>
            <a:r>
              <a:rPr lang="en-US" dirty="0" err="1"/>
              <a:t>avg_age</a:t>
            </a:r>
            <a:r>
              <a:rPr lang="en-US" dirty="0"/>
              <a:t>": 17  }</a:t>
            </a:r>
          </a:p>
          <a:p>
            <a:r>
              <a:rPr lang="en-US" dirty="0"/>
              <a:t>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1C395-E8BD-8F7C-1FCF-29942F4F0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686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E7A0AF-D6D8-E5BD-8893-D3D57B429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Data Models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31029F-D049-B502-3319-98380A15A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Buckets, Scopes, and Collections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4463B-F0F4-D9C5-F820-D891BD3F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001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A3EE-BFF8-58AA-7F20-AA039C66C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8864D-6D0E-7CAB-ED18-4A3907BB9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organize and manage data in Couchbase </a:t>
            </a:r>
            <a:r>
              <a:rPr lang="en-US" dirty="0" err="1"/>
              <a:t>DataBase</a:t>
            </a:r>
            <a:r>
              <a:rPr lang="en-US" dirty="0"/>
              <a:t>, can create buckets, scopes, and collections and documents </a:t>
            </a:r>
            <a:r>
              <a:rPr lang="en-US" sz="2700" dirty="0"/>
              <a:t>inside cluster</a:t>
            </a:r>
          </a:p>
          <a:p>
            <a:r>
              <a:rPr lang="en-US" dirty="0"/>
              <a:t>bucket is equivalent to a database in a relational database management system, while scopes and collections are used to provide separation between documents of different types</a:t>
            </a:r>
          </a:p>
          <a:p>
            <a:r>
              <a:rPr lang="en-US" dirty="0"/>
              <a:t>bucket can hold any number of scopes, and scope can hold any number of collections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44093-8DAC-F01C-74A8-58B423A3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0888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8E0046-48E1-F5E0-B6E0-006F7906E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3769E-2DF8-9571-8B5A-EB2F438E4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Bucket</a:t>
            </a:r>
          </a:p>
          <a:p>
            <a:endParaRPr lang="en-US" dirty="0"/>
          </a:p>
          <a:p>
            <a:r>
              <a:rPr lang="en-US" dirty="0"/>
              <a:t>Scope</a:t>
            </a:r>
          </a:p>
          <a:p>
            <a:r>
              <a:rPr lang="en-US" dirty="0"/>
              <a:t>Collection</a:t>
            </a:r>
          </a:p>
          <a:p>
            <a:endParaRPr lang="en-US" dirty="0"/>
          </a:p>
          <a:p>
            <a:r>
              <a:rPr lang="en-US" dirty="0"/>
              <a:t>Documents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97B31-C8F6-9A38-B186-4416DD13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60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F3F29D-C0DB-A128-C454-8478770F2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932" y="136525"/>
            <a:ext cx="7431896" cy="620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583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CE729-E170-B915-B806-F5BEAD925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E8065-A51B-FCE1-F3E1-36FD67F79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fundamental space for storing data in Couchbase</a:t>
            </a:r>
          </a:p>
          <a:p>
            <a:r>
              <a:rPr lang="en-US" dirty="0"/>
              <a:t>each bucket contains a hierarchy of scopes and collections </a:t>
            </a:r>
          </a:p>
          <a:p>
            <a:r>
              <a:rPr lang="en-US" dirty="0"/>
              <a:t>can create up to 30 buckets in a </a:t>
            </a:r>
            <a:r>
              <a:rPr lang="en-US" dirty="0" err="1"/>
              <a:t>cluste</a:t>
            </a:r>
            <a:endParaRPr lang="en-US" dirty="0"/>
          </a:p>
          <a:p>
            <a:r>
              <a:rPr lang="en-US" dirty="0"/>
              <a:t>buckets store data both in memory and on disk; support automatic data replication for high availability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A66DD-B29C-6DC6-551A-4D7658FA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624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B0D28-17C0-A7B0-D894-EB8FFC8C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66C01-A3C5-DEF2-3EC9-04EEDF926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refers to an entry in database (other databases may refer to same concept as a row)</a:t>
            </a:r>
          </a:p>
          <a:p>
            <a:r>
              <a:rPr lang="en-US" dirty="0"/>
              <a:t>has an ID (primary key in other relational databases), which is unique and by which it can be located - also has a value which contains the actual data</a:t>
            </a:r>
          </a:p>
          <a:p>
            <a:pPr lvl="1"/>
            <a:r>
              <a:rPr lang="en-US" sz="2800" dirty="0"/>
              <a:t>document IDs (keys) are assigned by application</a:t>
            </a:r>
          </a:p>
          <a:p>
            <a:pPr lvl="2"/>
            <a:r>
              <a:rPr lang="en-US" sz="2800" dirty="0"/>
              <a:t>valid document ID must:</a:t>
            </a:r>
          </a:p>
          <a:p>
            <a:pPr lvl="3"/>
            <a:r>
              <a:rPr lang="en-US" sz="2800" dirty="0"/>
              <a:t>conform to UTF-8 encoding</a:t>
            </a:r>
          </a:p>
          <a:p>
            <a:pPr lvl="3"/>
            <a:r>
              <a:rPr lang="en-US" sz="2800" dirty="0"/>
              <a:t>be no longer than 250 bytes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10CE3-B81A-83DB-3F6A-C0026BB74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856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9231-E9C1-802A-3847-9926A35E7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A605E-5AD3-C19A-765B-FA4CD10B0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374"/>
            <a:ext cx="10515600" cy="5026589"/>
          </a:xfrm>
        </p:spPr>
        <p:txBody>
          <a:bodyPr>
            <a:noAutofit/>
          </a:bodyPr>
          <a:lstStyle/>
          <a:p>
            <a:r>
              <a:rPr lang="en-US" dirty="0"/>
              <a:t>free to choose any ID (key) for your document, so long as it conforms to restrictions</a:t>
            </a:r>
          </a:p>
          <a:p>
            <a:r>
              <a:rPr lang="en-US" dirty="0"/>
              <a:t>unlike some other database, Couchbase does not automatically generate IDs for you</a:t>
            </a:r>
          </a:p>
          <a:p>
            <a:r>
              <a:rPr lang="en-US" dirty="0"/>
              <a:t>documents are usually (but not always) stored as JSON on server</a:t>
            </a:r>
          </a:p>
          <a:p>
            <a:r>
              <a:rPr lang="en-US" sz="2700" dirty="0"/>
              <a:t>insert will only create document if given ID is not found within database</a:t>
            </a:r>
          </a:p>
          <a:p>
            <a:r>
              <a:rPr lang="en-US" sz="2700" dirty="0"/>
              <a:t>replace will only replace document if given ID already exists within database</a:t>
            </a:r>
          </a:p>
          <a:p>
            <a:r>
              <a:rPr lang="en-US" sz="2700" dirty="0" err="1"/>
              <a:t>upsert</a:t>
            </a:r>
            <a:r>
              <a:rPr lang="en-US" sz="2700" dirty="0"/>
              <a:t> will always replace document, ignoring whether ID already exists or not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FE3AF-C44F-0A47-FEE1-61269AD3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077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59F9-6C5A-A2E8-1476-A16A1D18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11033-ABB2-D331-EE1A-EACACD834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1548"/>
            <a:ext cx="10515600" cy="5095415"/>
          </a:xfrm>
        </p:spPr>
        <p:txBody>
          <a:bodyPr>
            <a:noAutofit/>
          </a:bodyPr>
          <a:lstStyle/>
          <a:p>
            <a:r>
              <a:rPr lang="en-US" dirty="0"/>
              <a:t>can also specify additional options when storing document</a:t>
            </a:r>
          </a:p>
          <a:p>
            <a:pPr lvl="1"/>
            <a:r>
              <a:rPr lang="en-US" sz="2700" dirty="0"/>
              <a:t>expiry (or TTL) value which will instruct server to delete document after given amount of time; option is useful for transient data (such as sessions); by default, documents do not expire</a:t>
            </a:r>
          </a:p>
          <a:p>
            <a:pPr lvl="1"/>
            <a:r>
              <a:rPr lang="en-US" sz="2700" dirty="0"/>
              <a:t>CAS value to protect against concurrent updates to same document</a:t>
            </a:r>
          </a:p>
          <a:p>
            <a:r>
              <a:rPr lang="en-US" dirty="0"/>
              <a:t>to only modify certain parts of document, can use sub-document operations which operate on specific subsets of documents</a:t>
            </a:r>
          </a:p>
          <a:p>
            <a:r>
              <a:rPr lang="en-US" dirty="0"/>
              <a:t>additional operations for setting document’s expiration without modifying its contents:</a:t>
            </a:r>
          </a:p>
          <a:p>
            <a:pPr lvl="1"/>
            <a:r>
              <a:rPr lang="en-US" sz="2700" dirty="0"/>
              <a:t>get-and-touch operation</a:t>
            </a:r>
          </a:p>
          <a:p>
            <a:pPr lvl="1"/>
            <a:r>
              <a:rPr lang="en-US" sz="2700" dirty="0"/>
              <a:t>touch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32131-ACD6-355B-B6E6-E2CE873C0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717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88A43-096F-CD18-E132-25825866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7D044-4642-CC61-00F2-FA0A2F703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stores collections</a:t>
            </a:r>
          </a:p>
          <a:p>
            <a:r>
              <a:rPr lang="en-US" dirty="0"/>
              <a:t>when create bucket, Couchbase provides you with a default scope called _default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5C8E9-F48E-317D-056C-A362513B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560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CE8CB-AAEE-43F5-CD8E-E5066B7B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42BAD-6E3D-1B23-F914-A02191F01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contains a set of documents</a:t>
            </a:r>
          </a:p>
          <a:p>
            <a:r>
              <a:rPr lang="en-US" dirty="0"/>
              <a:t>Couchbase provides </a:t>
            </a:r>
            <a:r>
              <a:rPr lang="en-US"/>
              <a:t>with default </a:t>
            </a:r>
            <a:r>
              <a:rPr lang="en-US" dirty="0"/>
              <a:t>collection called </a:t>
            </a:r>
            <a:r>
              <a:rPr lang="en-US"/>
              <a:t>_default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301A6-7DEF-10BE-AD37-866E740C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344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2C5E-75C7-B8CA-ACEF-A7EA1A295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6309E-61CC-9370-7A79-386897FB4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5CBA1-6ACE-E7CB-C036-A2245D434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396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Picture 5"/>
          <p:cNvPicPr/>
          <p:nvPr/>
        </p:nvPicPr>
        <p:blipFill>
          <a:blip r:embed="rId2"/>
          <a:stretch/>
        </p:blipFill>
        <p:spPr>
          <a:xfrm>
            <a:off x="0" y="365040"/>
            <a:ext cx="12191040" cy="272772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6"/>
          <p:cNvPicPr/>
          <p:nvPr/>
        </p:nvPicPr>
        <p:blipFill>
          <a:blip r:embed="rId3"/>
          <a:stretch/>
        </p:blipFill>
        <p:spPr>
          <a:xfrm>
            <a:off x="731520" y="3840480"/>
            <a:ext cx="10826280" cy="20570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8C72F036-287D-46DB-BAE5-8FDEDC41A794}" type="slidenum">
              <a:rPr/>
              <a:t>68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Content Placeholder 5"/>
          <p:cNvPicPr/>
          <p:nvPr/>
        </p:nvPicPr>
        <p:blipFill>
          <a:blip r:embed="rId2"/>
          <a:stretch/>
        </p:blipFill>
        <p:spPr>
          <a:xfrm>
            <a:off x="914400" y="365040"/>
            <a:ext cx="6825240" cy="63007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CDDC0CE-6241-4FC5-AF31-35917DA89DF8}" type="slidenum">
              <a:rPr/>
              <a:t>69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08AA-DAF5-8208-3FB8-1553E4589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A47BA-A87B-4E2B-9013-CF55F4FA60DF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dirty="0"/>
              <a:t>now remember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F7469-51DB-2B95-D8A5-D5C22CE46460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717A396-9E77-4408-A7C7-E52016FE5C9F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964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9DEB3-5586-D5D2-0240-56F122E28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>
            <a:extLst>
              <a:ext uri="{FF2B5EF4-FFF2-40B4-BE49-F238E27FC236}">
                <a16:creationId xmlns:a16="http://schemas.microsoft.com/office/drawing/2014/main" id="{0768D19E-CF54-54C9-9E74-CFFA30F93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>
            <a:extLst>
              <a:ext uri="{FF2B5EF4-FFF2-40B4-BE49-F238E27FC236}">
                <a16:creationId xmlns:a16="http://schemas.microsoft.com/office/drawing/2014/main" id="{32E09321-BB9B-4785-61E6-A9B289777A6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Picture 5">
            <a:extLst>
              <a:ext uri="{FF2B5EF4-FFF2-40B4-BE49-F238E27FC236}">
                <a16:creationId xmlns:a16="http://schemas.microsoft.com/office/drawing/2014/main" id="{F4390B33-8E04-57F1-42E0-5C937C94A88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65040"/>
            <a:ext cx="12191040" cy="272772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6">
            <a:extLst>
              <a:ext uri="{FF2B5EF4-FFF2-40B4-BE49-F238E27FC236}">
                <a16:creationId xmlns:a16="http://schemas.microsoft.com/office/drawing/2014/main" id="{A26D2B54-37F3-3AB2-63F1-8DAF626A4D2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31520" y="3840480"/>
            <a:ext cx="10826280" cy="20570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>
            <a:extLst>
              <a:ext uri="{FF2B5EF4-FFF2-40B4-BE49-F238E27FC236}">
                <a16:creationId xmlns:a16="http://schemas.microsoft.com/office/drawing/2014/main" id="{3F057E99-6065-FCFF-896F-F8D584566F02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8C72F036-287D-46DB-BAE5-8FDEDC41A794}" type="slidenum">
              <a:rPr/>
              <a:t>71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491875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6331C-4A33-C333-03C3-E8F3342F1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&amp; Collections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15D19B-852B-F9A4-3F62-46B1E07AA3DC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2286000"/>
            <a:ext cx="11213573" cy="328016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3A46B-E177-4290-9696-13C677CEECF9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717A396-9E77-4408-A7C7-E52016FE5C9F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952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35CF-F587-2388-67CE-1C7E07D11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Scope</a:t>
            </a:r>
            <a:br>
              <a:rPr lang="en-US" dirty="0"/>
            </a:br>
            <a:r>
              <a:rPr lang="en-US" dirty="0"/>
              <a:t>click Add Scope, enter name, Save 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278358-1899-1BB2-B05B-F59BCE1B5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BE8EE-2C24-390D-8240-981DF9AF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A396-9E77-4408-A7C7-E52016FE5C9F}" type="slidenum">
              <a:rPr lang="en-US" smtClean="0"/>
              <a:t>73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592D49-5263-5F41-AF2E-C8E757D46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0"/>
            <a:ext cx="11802269" cy="222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012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8444-BF7C-27F4-59DF-A2D51BA2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Collection</a:t>
            </a:r>
            <a:br>
              <a:rPr lang="en-US" dirty="0"/>
            </a:br>
            <a:r>
              <a:rPr lang="en-US" dirty="0"/>
              <a:t>click Add Collection, enter name, Save 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158D2E-3D64-8EF5-7C0D-5D61CAF8E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09614-3F3D-D092-6981-94B71304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A396-9E77-4408-A7C7-E52016FE5C9F}" type="slidenum">
              <a:rPr lang="en-US" smtClean="0"/>
              <a:t>74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B41512-BFEC-E9EA-9CD7-ED1463694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2286000"/>
            <a:ext cx="11820788" cy="245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830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7377E-90FD-DEEE-7243-76299FB4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3B8E301-109C-AA5F-033A-6109D5968458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82877" y="2285999"/>
            <a:ext cx="11851651" cy="394437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1B03A-46D1-3A34-139F-FADB2F7CA987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717A396-9E77-4408-A7C7-E52016FE5C9F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729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A00D4-EDF0-6D11-242E-01DD78323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271B8E16-C4A3-2C1C-3BA8-C0F42012F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Content Placeholder 5">
            <a:extLst>
              <a:ext uri="{FF2B5EF4-FFF2-40B4-BE49-F238E27FC236}">
                <a16:creationId xmlns:a16="http://schemas.microsoft.com/office/drawing/2014/main" id="{9ECDCF14-0592-24CF-641B-B5E26D86753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14400" y="365040"/>
            <a:ext cx="6825240" cy="63007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>
            <a:extLst>
              <a:ext uri="{FF2B5EF4-FFF2-40B4-BE49-F238E27FC236}">
                <a16:creationId xmlns:a16="http://schemas.microsoft.com/office/drawing/2014/main" id="{1366D97B-0669-A7A3-CB1A-C64B32E43DC4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CDDC0CE-6241-4FC5-AF31-35917DA89DF8}" type="slidenum">
              <a:rPr/>
              <a:t>76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51468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EB763-E95C-8C59-1C11-154DC6EC0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4AEAB-437D-B171-DDEC-8FEAE86C2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847DF-910C-FBCB-3E72-552244702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collections allow to use the relational model and the document model at the same time to achieve the best data model design and performance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B35EB-5D9A-51B8-ECC8-652E78CA3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002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41173-20C4-AFC3-F541-B19B813F4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8A15C-16AE-6671-134B-2B0802AF9AB0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A1268-E70E-3EDB-381E-E0C097089BF0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717A396-9E77-4408-A7C7-E52016FE5C9F}" type="slidenum">
              <a:rPr lang="en-US" smtClean="0"/>
              <a:t>78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126FA0-5508-CE9A-CDA6-3366B57D3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11851651" cy="666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919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D0634-047D-69DB-6A39-E47DF553E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4059-12B3-EB4C-A3B1-16F661413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01457-2A56-5173-A900-5F4B9CFE1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collections allow to use the relational model and the document model at the same time to achieve the best data model design and performance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D9D29-98ED-043D-391F-3130E73B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551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33FAC-0C07-2D56-2D9B-111835E9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80940-5CF3-202D-F8CA-90AF2E8D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 context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CE1DA-1D29-A748-9080-ADA6C9776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EEC26-41F8-0CAC-4FA8-F2D0549F6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338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183A-AE05-406C-F1DD-CACF26205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* FROM `travel-sample` WHERE type ="airline" ORDER BY id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9D378F-A14C-5132-4B6D-E0CE2FC855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5365" y="1825625"/>
            <a:ext cx="6101269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A94E2-3007-69BA-12D6-09BBC83F0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336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D7527-1E4E-8094-3669-121D15ACC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C784-2450-8D14-8B0B-19F7193B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* FROM `travel-sample` </a:t>
            </a:r>
            <a:br>
              <a:rPr lang="en-US" dirty="0"/>
            </a:br>
            <a:r>
              <a:rPr lang="en-US" dirty="0"/>
              <a:t>WHERE type ="airline" ORDER BY id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5BC9A5-5EF3-2504-580C-32C0F437F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5365" y="1825625"/>
            <a:ext cx="6101269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7FC1F-88DF-3F70-09F1-3C433AE36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393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ADE6-7B9E-399A-9B51-FA9246EE7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D3021-5F0F-68E1-0C8D-B0F53553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SELECT * FROM</a:t>
            </a:r>
            <a:br>
              <a:rPr lang="en-US" dirty="0"/>
            </a:br>
            <a:r>
              <a:rPr lang="en-US" dirty="0"/>
              <a:t>`travel-sample`.</a:t>
            </a:r>
            <a:r>
              <a:rPr lang="en-US" dirty="0" err="1"/>
              <a:t>inventory.airline</a:t>
            </a:r>
            <a:r>
              <a:rPr lang="en-US" dirty="0"/>
              <a:t> ORDER BY id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86E4A8-EA87-03C7-DBDB-0D1D3EEFD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5365" y="1825625"/>
            <a:ext cx="6101269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59DB8-AF24-88B8-4171-CCD85BF2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418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4BA860-914D-224C-2522-24FFBDB93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C7641F-E701-59BA-9D6F-3186668E8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count(*) FROM `travel-sample` WHERE type = "airline"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C29D33-B198-A485-A246-EE896209AA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[  {    "$1": 187  }]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765AED2-3D9C-3827-E26D-FDBC85EB2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SELECT count(*) FROM `travel-sample`.</a:t>
            </a:r>
            <a:r>
              <a:rPr lang="en-US" dirty="0" err="1"/>
              <a:t>inventory.airline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BE0EE-7E17-9191-29DD-8892C14C384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[  {    "$1": 187  }]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3EBDC-F40B-0BCE-B1C7-F0C2CC797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3849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8EBF0-8B53-A97E-F906-139C9DF7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C13BAC-6A2A-0D57-3E2B-B53B85685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66639"/>
            <a:ext cx="10515600" cy="346931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D0608-5041-6604-F968-D617E197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9682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F5A5-844E-909C-27DF-FEB2D461C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 context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8CF82C-AB6E-BEF3-1B9C-89BAB51A5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F7D52-18A4-74CD-B0D8-4DF71D2A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213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3C2D2B-9406-145D-62A0-3E3128B2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D1DBBA-7668-2BF4-3048-FC9EC84C9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collection in context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0A475-D9E0-5EAF-54D9-B278A175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1189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53B0D8-D394-C53D-3745-752D74BB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07D544-6331-BAF7-AC88-50006280F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context at all</a:t>
            </a:r>
          </a:p>
          <a:p>
            <a:r>
              <a:rPr lang="en-US" dirty="0"/>
              <a:t>context: unset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BAA3A-B23C-2A12-2DF1-F410D6D75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8191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8BE3BF-C02C-81C7-11D2-0EE450AF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34B568-C61D-4F9C-0BED-4C4E5D0FA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1EB86-CDA2-2A32-876F-BEA15C25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89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C09E89-8087-E187-667E-29C73A3FC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1" y="182880"/>
            <a:ext cx="11960855" cy="631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7281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8730F-B180-13F9-CE2C-A3574A6A8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1EC3B8-1312-6D6B-1430-33730983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7C94CA-0DF4-3C40-32E5-DBDC7E1BD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bucket</a:t>
            </a:r>
          </a:p>
          <a:p>
            <a:r>
              <a:rPr lang="en-US" dirty="0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80CBC-A9B4-B347-5866-B8BB7A02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2175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EC9DB-97F6-CBC1-F5DA-93F2E6A2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3D9854-01E6-3DA9-47FA-CE94A8634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32" y="186010"/>
            <a:ext cx="12066554" cy="63821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4A18D-A925-989C-0EE1-6BA6F839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5523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4E20A-6C4D-CF3B-E8A5-FDBE69E06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6E92-6E20-2445-5B7A-B3D52F143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0346C4-056F-51AA-0C85-3571144EA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66639"/>
            <a:ext cx="10515600" cy="346931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81A67-68DD-9EA8-6748-BB4B9320D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5810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5575E-577D-426D-A51B-2B016531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E6590B-1D9F-B262-1BBB-AFE0D11B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053DE4-8306-1162-9E02-54806693A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bucket: tutorial</a:t>
            </a:r>
          </a:p>
          <a:p>
            <a:r>
              <a:rPr lang="en-US" dirty="0"/>
              <a:t>scope: art-school-scope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7F71E-77A5-5032-67C2-724FB71E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9028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AFDC-CB1B-3C03-D9D1-2EF0C7528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* from `student-record-collection`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B065E-5A43-172E-5680-229907695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[  {    "student-record-collection": {      "student-id": 1,      "enrollments": [        {          "course-id": 3,          "final-score": null,          "date-enrolled": "2024-04-18",          "date-completed": null        },        {          "course-id": 1,          "final-score": null,          "date-enrolled": "2025-03-05",          "date-completed": null        }      ],      "student-name": "Harriet Hill",      "date-of-birth": "1970-03-06"    }  },  </a:t>
            </a:r>
          </a:p>
          <a:p>
            <a:r>
              <a:rPr lang="en-US" dirty="0"/>
              <a:t>{    "student-record-collection": {      "student-id": 3,      "enrollments": [        {          "course-id": null,          "final-score": null,          "date-enrolled": null,          "date-completed": null        }      ],      "student-name": "Jenny Mills",      "date-of-birth": "1969-11-06"    }  },  </a:t>
            </a:r>
          </a:p>
          <a:p>
            <a:r>
              <a:rPr lang="en-US" dirty="0"/>
              <a:t>{    "student-record-collection": {      "student-id": 2,      "enrollments": [        {          "course-id": 1,          "final-score": null,          "date-enrolled": "2025-03-01",          "date-completed": null        }      ],      "student-name": "Steven Morris",      "date-of-birth": "1984-03-05"    }  }]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17C59-C13A-9E41-D402-E3D03951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903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40A1-A977-0A8D-A4AA-35C1A53F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582AC4F-891B-135A-A281-36542F602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4480" y="1554479"/>
            <a:ext cx="9115529" cy="505524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90C52-036E-FA23-8004-D1446F8AB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95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A6EB3A-C975-43D5-A916-E7EE9991D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5760"/>
            <a:ext cx="12036986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1880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7E592-3072-3F13-836F-D26AA4774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* from `course-record-collection`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62732-00E1-FC05-658D-7B171D2C0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59548" cy="4351338"/>
          </a:xfrm>
        </p:spPr>
        <p:txBody>
          <a:bodyPr/>
          <a:lstStyle/>
          <a:p>
            <a:r>
              <a:rPr lang="en-US" dirty="0"/>
              <a:t>[  {    "course-record-collection": {      "faculty": "English",      "course-id": 4,      "course-name": "Creative Writing",      "credit-points": 70    }  },  </a:t>
            </a:r>
          </a:p>
          <a:p>
            <a:r>
              <a:rPr lang="en-US" dirty="0"/>
              <a:t>{    "course-record-collection": {      "faculty": "Art",      "course-id": 1,      "course-name": "Art History",      "credit-points": 50    }  },  </a:t>
            </a:r>
          </a:p>
          <a:p>
            <a:r>
              <a:rPr lang="en-US" dirty="0"/>
              <a:t>{    "course-record-collection": {      "faculty": "Art",      "course-id": 2,      "course-name": "Fine Art",      "credit-points": 30    }  },  </a:t>
            </a:r>
          </a:p>
          <a:p>
            <a:r>
              <a:rPr lang="en-US" dirty="0"/>
              <a:t>{    "course-record-collection": {      "faculty": "Design",      "course-id": 3,      "course-name": "Graphic Design",      "credit-points": 70    }  }]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29FE-965A-C222-9E31-A4B910F98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3916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7CFB2-F372-898E-AAA1-3696C5E0F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A23A2-FDA3-029A-37D3-2EF07F6D1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847F8-7C6B-9E3B-8579-1CBE3C8FB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97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4E165-8E00-6D4D-210F-75225B6DC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1" y="365753"/>
            <a:ext cx="12056494" cy="1112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F271A5-610E-17EB-F823-F93C11383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54480"/>
            <a:ext cx="9086266" cy="512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718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36886-60B6-DE55-DF48-8641B6209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D3DCE-5DD1-D7D6-9CA5-4B1DE718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N1QL Query Join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81E34A-8CE0-C669-387D-4C50DFAD0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3281C-A4D2-3ADA-799D-C9F33C44A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9636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3FB0-65F7-5815-0680-84FC72B15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N1QL queries will be in following format: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E0E3C-CEE9-5E5B-3DE9-077034CC8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[DISTINCT] &lt;expression&gt; </a:t>
            </a:r>
          </a:p>
          <a:p>
            <a:r>
              <a:rPr lang="en-US" dirty="0"/>
              <a:t>FROM &lt;data source&gt; </a:t>
            </a:r>
          </a:p>
          <a:p>
            <a:r>
              <a:rPr lang="en-US" dirty="0"/>
              <a:t>WHERE &lt;expression&gt;</a:t>
            </a:r>
          </a:p>
          <a:p>
            <a:r>
              <a:rPr lang="en-US" dirty="0"/>
              <a:t>GROUP BY &lt;expression&gt; </a:t>
            </a:r>
          </a:p>
          <a:p>
            <a:r>
              <a:rPr lang="en-US" dirty="0"/>
              <a:t>ORDER BY &lt;expression&gt; </a:t>
            </a:r>
          </a:p>
          <a:p>
            <a:r>
              <a:rPr lang="en-US" dirty="0"/>
              <a:t>LIMIT &lt;number&gt; OFFSET &lt;number&gt;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4408A-FD27-A0F0-99BC-374B17E5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7931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243E1-7066-159D-DB44-715749EA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Join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DD57D-9D1C-8910-AD8B-C20421E4C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assemble new objects by combining two or more source objects</a:t>
            </a:r>
          </a:p>
          <a:p>
            <a:r>
              <a:rPr lang="en-US" dirty="0"/>
              <a:t>for example, suppose there are two bucket’s collections: users and cities with users – users contains user profiles along with city Ids of the city that they live on – cities contains description of particular city</a:t>
            </a:r>
          </a:p>
          <a:p>
            <a:r>
              <a:rPr lang="en-US" dirty="0"/>
              <a:t>can use JOIN clause to view user-profile along with city details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13A53-FFA3-7A0A-ADA0-D130BC6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8295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EA8C-375C-687B-8351-D11A50C51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Join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AB6C-E355-AA26-3D2B-506AF9193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use JOIN clause without specifying any quantifier, it will perform an inner join, which means that it will select only those documents from left side of join that have a matching key with that on right side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9A92-7236-AFB8-CB81-958D817A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5064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8E95-3E63-C337-CFFA-25CA27AD1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07707-D445-2EAC-8620-6F67235A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102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D53DFC-0B4F-333A-6609-E0070B9C2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168B1B-152B-827B-B257-96F5F6363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530897" cy="384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53421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8E0F8-B9B4-A528-88DB-40ED7FD7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F9433-FAB9-5C0D-B3D6-11EA4539C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`tutorial` </a:t>
            </a:r>
            <a:r>
              <a:rPr lang="en-US" dirty="0" err="1"/>
              <a:t>utilizatori</a:t>
            </a:r>
            <a:endParaRPr lang="en-US" dirty="0"/>
          </a:p>
          <a:p>
            <a:r>
              <a:rPr lang="en-US" dirty="0"/>
              <a:t>LEFT OUTER JOIN `tutorial` cities ON keys </a:t>
            </a:r>
            <a:r>
              <a:rPr lang="en-US" dirty="0" err="1"/>
              <a:t>utilizatori.cityid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utilizatori.type</a:t>
            </a:r>
            <a:r>
              <a:rPr lang="en-US" dirty="0"/>
              <a:t>="user"</a:t>
            </a:r>
          </a:p>
          <a:p>
            <a:r>
              <a:rPr lang="en-US" dirty="0"/>
              <a:t>ORDER BY </a:t>
            </a:r>
            <a:r>
              <a:rPr lang="en-US" dirty="0" err="1"/>
              <a:t>cities.city</a:t>
            </a:r>
            <a:r>
              <a:rPr lang="en-US" dirty="0"/>
              <a:t>, utilizatori.name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C7B7E-A7E8-EE8F-6164-F83A6899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9938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B1ACB-77FD-DDCB-B900-7B7BFA3AF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D62A9-0A2B-5A10-DE60-0666FBC1D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8161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[ { "cities": { "city": "Cluj-Napoca", "type": "city", "</a:t>
            </a:r>
            <a:r>
              <a:rPr lang="en-US" dirty="0" err="1"/>
              <a:t>userList</a:t>
            </a:r>
            <a:r>
              <a:rPr lang="en-US" dirty="0"/>
              <a:t>": [ "USER_001", "USER_002" ] }, "</a:t>
            </a:r>
            <a:r>
              <a:rPr lang="en-US" dirty="0" err="1"/>
              <a:t>utilizatori</a:t>
            </a:r>
            <a:r>
              <a:rPr lang="en-US" dirty="0"/>
              <a:t>": { "type": "user", "name": "Bogdan </a:t>
            </a:r>
            <a:r>
              <a:rPr lang="en-US" dirty="0" err="1"/>
              <a:t>Bindea</a:t>
            </a:r>
            <a:r>
              <a:rPr lang="en-US" dirty="0"/>
              <a:t>", "course": "Couchbase", "skills": [ "Couchbase", "</a:t>
            </a:r>
            <a:r>
              <a:rPr lang="en-US" dirty="0" err="1"/>
              <a:t>PostGreSQL</a:t>
            </a:r>
            <a:r>
              <a:rPr lang="en-US" dirty="0"/>
              <a:t>" ], </a:t>
            </a:r>
            <a:r>
              <a:rPr lang="en-US" i="1" dirty="0"/>
              <a:t>"</a:t>
            </a:r>
            <a:r>
              <a:rPr lang="en-US" i="1" dirty="0" err="1"/>
              <a:t>cityid</a:t>
            </a:r>
            <a:r>
              <a:rPr lang="en-US" i="1" dirty="0"/>
              <a:t>": "CITY_001"</a:t>
            </a:r>
            <a:r>
              <a:rPr lang="en-US" dirty="0"/>
              <a:t> } }, </a:t>
            </a:r>
          </a:p>
          <a:p>
            <a:pPr lvl="0"/>
            <a:r>
              <a:rPr lang="en-US" dirty="0"/>
              <a:t>{"cities": { "city": "Cluj-Napoca", "type": "city", "</a:t>
            </a:r>
            <a:r>
              <a:rPr lang="en-US" dirty="0" err="1"/>
              <a:t>userList</a:t>
            </a:r>
            <a:r>
              <a:rPr lang="en-US" dirty="0"/>
              <a:t>": [ "USER_001", "USER_002" ] }, "</a:t>
            </a:r>
            <a:r>
              <a:rPr lang="en-US" dirty="0" err="1"/>
              <a:t>utilizatori</a:t>
            </a:r>
            <a:r>
              <a:rPr lang="en-US" dirty="0"/>
              <a:t>": { "type": "user", "name": "Calin Cenan", "course": "</a:t>
            </a:r>
            <a:r>
              <a:rPr lang="en-US" dirty="0" err="1"/>
              <a:t>DataBase</a:t>
            </a:r>
            <a:r>
              <a:rPr lang="en-US" dirty="0"/>
              <a:t>", "skills": [ "Couchbase", "SQLite", "</a:t>
            </a:r>
            <a:r>
              <a:rPr lang="en-US" dirty="0" err="1"/>
              <a:t>PostGreSQL</a:t>
            </a:r>
            <a:r>
              <a:rPr lang="en-US" dirty="0"/>
              <a:t>" ], </a:t>
            </a:r>
            <a:r>
              <a:rPr lang="en-US" i="1" dirty="0"/>
              <a:t>"</a:t>
            </a:r>
            <a:r>
              <a:rPr lang="en-US" i="1" dirty="0" err="1"/>
              <a:t>cityid</a:t>
            </a:r>
            <a:r>
              <a:rPr lang="en-US" i="1" dirty="0"/>
              <a:t>": "CITY_001" </a:t>
            </a:r>
            <a:r>
              <a:rPr lang="en-US" dirty="0"/>
              <a:t>} }, </a:t>
            </a:r>
          </a:p>
          <a:p>
            <a:pPr lvl="0"/>
            <a:r>
              <a:rPr lang="en-US" dirty="0"/>
              <a:t>{"cities": { "type": "city", "city": "Oradea", "</a:t>
            </a:r>
            <a:r>
              <a:rPr lang="en-US" dirty="0" err="1"/>
              <a:t>userList</a:t>
            </a:r>
            <a:r>
              <a:rPr lang="en-US" dirty="0"/>
              <a:t>": [ "USER_003" ] }, "</a:t>
            </a:r>
            <a:r>
              <a:rPr lang="en-US" dirty="0" err="1"/>
              <a:t>utilizatori</a:t>
            </a:r>
            <a:r>
              <a:rPr lang="en-US" dirty="0"/>
              <a:t>": { "type": "user", "name": "Daniela CRUDu", "course": "</a:t>
            </a:r>
            <a:r>
              <a:rPr lang="en-US" dirty="0" err="1"/>
              <a:t>DataBase</a:t>
            </a:r>
            <a:r>
              <a:rPr lang="en-US" dirty="0"/>
              <a:t>", "skills": [ "Couchbase", "databases" ], </a:t>
            </a:r>
            <a:r>
              <a:rPr lang="en-US" i="1" dirty="0"/>
              <a:t>"</a:t>
            </a:r>
            <a:r>
              <a:rPr lang="en-US" i="1" dirty="0" err="1"/>
              <a:t>cityid</a:t>
            </a:r>
            <a:r>
              <a:rPr lang="en-US" i="1" dirty="0"/>
              <a:t>": "CITY_002"</a:t>
            </a:r>
            <a:r>
              <a:rPr lang="en-US" dirty="0"/>
              <a:t>, "model": "</a:t>
            </a:r>
            <a:r>
              <a:rPr lang="en-US" dirty="0" err="1"/>
              <a:t>Cruduță</a:t>
            </a:r>
            <a:r>
              <a:rPr lang="en-US" dirty="0"/>
              <a:t>" } }]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6A5AD-9304-48FE-E93F-ACBD3A0E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1210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D7B5-E401-8F64-9305-FEC8F1204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5AEF842-9C1F-B0A0-D5BE-99B422E19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" y="2103120"/>
            <a:ext cx="11405386" cy="39432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DAE20-270C-634A-065C-83B93603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6457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93F3E-4912-383B-78DC-CDDCAC5A7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5F9E7-8398-DE72-96CC-038194777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`tutorial` </a:t>
            </a:r>
            <a:r>
              <a:rPr lang="en-US" dirty="0" err="1"/>
              <a:t>utilizatori</a:t>
            </a:r>
            <a:endParaRPr lang="en-US" dirty="0"/>
          </a:p>
          <a:p>
            <a:r>
              <a:rPr lang="en-US" dirty="0"/>
              <a:t>LEFT OUTER JOIN `tutorial` cities ON </a:t>
            </a:r>
            <a:r>
              <a:rPr lang="en-US" dirty="0" err="1"/>
              <a:t>utilizatori.cityid</a:t>
            </a:r>
            <a:r>
              <a:rPr lang="en-US" dirty="0"/>
              <a:t> = cities.id</a:t>
            </a:r>
          </a:p>
          <a:p>
            <a:r>
              <a:rPr lang="en-US" dirty="0"/>
              <a:t>WHERE </a:t>
            </a:r>
            <a:r>
              <a:rPr lang="en-US" dirty="0" err="1"/>
              <a:t>utilizatori.type</a:t>
            </a:r>
            <a:r>
              <a:rPr lang="en-US" dirty="0"/>
              <a:t>="user"</a:t>
            </a:r>
          </a:p>
          <a:p>
            <a:r>
              <a:rPr lang="en-US" dirty="0"/>
              <a:t>ORDER BY </a:t>
            </a:r>
            <a:r>
              <a:rPr lang="en-US" dirty="0" err="1"/>
              <a:t>cities.city</a:t>
            </a:r>
            <a:r>
              <a:rPr lang="en-US" dirty="0"/>
              <a:t>, utilizatori.name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D17AB-A559-46D0-56EC-8C608194E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3277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9309F-FEB3-011D-7263-E2452149F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77CC1-F5E1-1D7F-5D8B-B5F9642F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870CE-BE72-AD62-4468-70DE1F27A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96413"/>
            <a:ext cx="11098161" cy="53805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[ { "cities": { "city": "Cluj-Napoca", </a:t>
            </a:r>
            <a:r>
              <a:rPr lang="en-US" i="1" dirty="0"/>
              <a:t>"id": "CITY_001"</a:t>
            </a:r>
            <a:r>
              <a:rPr lang="en-US" dirty="0"/>
              <a:t>, "type": "city", "</a:t>
            </a:r>
            <a:r>
              <a:rPr lang="en-US" dirty="0" err="1"/>
              <a:t>userList</a:t>
            </a:r>
            <a:r>
              <a:rPr lang="en-US" dirty="0"/>
              <a:t>": [ "USER_001", "USER_002" ] }, "</a:t>
            </a:r>
            <a:r>
              <a:rPr lang="en-US" dirty="0" err="1"/>
              <a:t>utilizatori</a:t>
            </a:r>
            <a:r>
              <a:rPr lang="en-US" dirty="0"/>
              <a:t>": { "id": "USER_002", "type": "user", "name": "Bogdan </a:t>
            </a:r>
            <a:r>
              <a:rPr lang="en-US" dirty="0" err="1"/>
              <a:t>Bindea</a:t>
            </a:r>
            <a:r>
              <a:rPr lang="en-US" dirty="0"/>
              <a:t>", "course": "Couchbase", "skills": [ "Couchbase", "</a:t>
            </a:r>
            <a:r>
              <a:rPr lang="en-US" dirty="0" err="1"/>
              <a:t>PostGreSQL</a:t>
            </a:r>
            <a:r>
              <a:rPr lang="en-US" dirty="0"/>
              <a:t>" ], </a:t>
            </a:r>
            <a:r>
              <a:rPr lang="en-US" i="1" dirty="0"/>
              <a:t>"</a:t>
            </a:r>
            <a:r>
              <a:rPr lang="en-US" i="1" dirty="0" err="1"/>
              <a:t>cityid</a:t>
            </a:r>
            <a:r>
              <a:rPr lang="en-US" i="1" dirty="0"/>
              <a:t>": "CITY_001" </a:t>
            </a:r>
            <a:r>
              <a:rPr lang="en-US" dirty="0"/>
              <a:t>} }, </a:t>
            </a:r>
          </a:p>
          <a:p>
            <a:pPr lvl="0"/>
            <a:r>
              <a:rPr lang="en-US" dirty="0"/>
              <a:t>{ "cities": { "city": "Cluj-Napoca", </a:t>
            </a:r>
            <a:r>
              <a:rPr lang="en-US" i="1" dirty="0"/>
              <a:t>"id": "CITY_001"</a:t>
            </a:r>
            <a:r>
              <a:rPr lang="en-US" dirty="0"/>
              <a:t>, "type": "city", "</a:t>
            </a:r>
            <a:r>
              <a:rPr lang="en-US" dirty="0" err="1"/>
              <a:t>userList</a:t>
            </a:r>
            <a:r>
              <a:rPr lang="en-US" dirty="0"/>
              <a:t>": [ "USER_001", "USER_002" ] }, "</a:t>
            </a:r>
            <a:r>
              <a:rPr lang="en-US" dirty="0" err="1"/>
              <a:t>utilizatori</a:t>
            </a:r>
            <a:r>
              <a:rPr lang="en-US" dirty="0"/>
              <a:t>": { "id": "USER_001", "type": "user", "name": "Calin Cenan", "course": "</a:t>
            </a:r>
            <a:r>
              <a:rPr lang="en-US" dirty="0" err="1"/>
              <a:t>DataBase</a:t>
            </a:r>
            <a:r>
              <a:rPr lang="en-US" dirty="0"/>
              <a:t>", "skills": [ "Couchbase", "SQLite", "</a:t>
            </a:r>
            <a:r>
              <a:rPr lang="en-US" dirty="0" err="1"/>
              <a:t>PostGreSQL</a:t>
            </a:r>
            <a:r>
              <a:rPr lang="en-US" dirty="0"/>
              <a:t>" ], </a:t>
            </a:r>
            <a:r>
              <a:rPr lang="en-US" i="1" dirty="0"/>
              <a:t>"</a:t>
            </a:r>
            <a:r>
              <a:rPr lang="en-US" i="1" dirty="0" err="1"/>
              <a:t>cityid</a:t>
            </a:r>
            <a:r>
              <a:rPr lang="en-US" i="1" dirty="0"/>
              <a:t>": "CITY_001" </a:t>
            </a:r>
            <a:r>
              <a:rPr lang="en-US" dirty="0"/>
              <a:t>} }, </a:t>
            </a:r>
          </a:p>
          <a:p>
            <a:pPr lvl="0"/>
            <a:r>
              <a:rPr lang="en-US" dirty="0"/>
              <a:t>{ "cities": { "city": "Oradea", </a:t>
            </a:r>
            <a:r>
              <a:rPr lang="en-US" i="1" dirty="0"/>
              <a:t>"id": "CITY_002"</a:t>
            </a:r>
            <a:r>
              <a:rPr lang="en-US" dirty="0"/>
              <a:t>, "type": "city", "</a:t>
            </a:r>
            <a:r>
              <a:rPr lang="en-US" dirty="0" err="1"/>
              <a:t>userList</a:t>
            </a:r>
            <a:r>
              <a:rPr lang="en-US" dirty="0"/>
              <a:t>": [ "USER_003" ] }, "</a:t>
            </a:r>
            <a:r>
              <a:rPr lang="en-US" dirty="0" err="1"/>
              <a:t>utilizatori</a:t>
            </a:r>
            <a:r>
              <a:rPr lang="en-US" dirty="0"/>
              <a:t>": { "id": "USER_003", "type": "user", "name": "Daniela CRUDu", "course": "</a:t>
            </a:r>
            <a:r>
              <a:rPr lang="en-US" dirty="0" err="1"/>
              <a:t>DataBase</a:t>
            </a:r>
            <a:r>
              <a:rPr lang="en-US" dirty="0"/>
              <a:t>", "skills": [ "Couchbase", "databases" ], </a:t>
            </a:r>
            <a:r>
              <a:rPr lang="en-US" i="1" dirty="0"/>
              <a:t>"</a:t>
            </a:r>
            <a:r>
              <a:rPr lang="en-US" i="1" dirty="0" err="1"/>
              <a:t>cityid</a:t>
            </a:r>
            <a:r>
              <a:rPr lang="en-US" i="1" dirty="0"/>
              <a:t>": "CITY_002"</a:t>
            </a:r>
            <a:r>
              <a:rPr lang="en-US" dirty="0"/>
              <a:t>, "model": "</a:t>
            </a:r>
            <a:r>
              <a:rPr lang="en-US" dirty="0" err="1"/>
              <a:t>Cruduță</a:t>
            </a:r>
            <a:r>
              <a:rPr lang="en-US" dirty="0"/>
              <a:t>" } }]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A2625-40EC-4410-2CDB-C1C1AD6D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2697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5C3F9-DEC0-4281-A1A8-A0483036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9F373-4AC2-771B-B2F1-9996B6D68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AF8E0-673D-EC53-9AF0-0F5CA39D7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`tutorial` cities</a:t>
            </a:r>
          </a:p>
          <a:p>
            <a:r>
              <a:rPr lang="en-US" dirty="0"/>
              <a:t>LEFT OUTER JOIN `tutorial` </a:t>
            </a:r>
            <a:r>
              <a:rPr lang="en-US" dirty="0" err="1"/>
              <a:t>utilizatori</a:t>
            </a:r>
            <a:r>
              <a:rPr lang="en-US" dirty="0"/>
              <a:t> ON </a:t>
            </a:r>
            <a:r>
              <a:rPr lang="en-US" dirty="0" err="1"/>
              <a:t>utilizatori.cityid</a:t>
            </a:r>
            <a:r>
              <a:rPr lang="en-US" dirty="0"/>
              <a:t> = cities.id</a:t>
            </a:r>
          </a:p>
          <a:p>
            <a:r>
              <a:rPr lang="en-US" dirty="0"/>
              <a:t>WHERE </a:t>
            </a:r>
            <a:r>
              <a:rPr lang="en-US" dirty="0" err="1"/>
              <a:t>utilizatori.type</a:t>
            </a:r>
            <a:r>
              <a:rPr lang="en-US" dirty="0"/>
              <a:t>="user"</a:t>
            </a:r>
          </a:p>
          <a:p>
            <a:r>
              <a:rPr lang="en-US" dirty="0"/>
              <a:t>ORDER BY </a:t>
            </a:r>
            <a:r>
              <a:rPr lang="en-US" dirty="0" err="1"/>
              <a:t>cities.city</a:t>
            </a:r>
            <a:r>
              <a:rPr lang="en-US" dirty="0"/>
              <a:t>, utilizatori.name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ABB50-3D96-1B90-E4B5-7699A4C0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4847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54B8B-7F69-FF44-DF39-DC3B5631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2729-7865-2688-043A-9462F3CD8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7588"/>
            <a:ext cx="10515600" cy="5449376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[ {</a:t>
            </a:r>
            <a:r>
              <a:rPr lang="en-US" i="1" dirty="0"/>
              <a:t> "cities": { "id": "CITY_001"</a:t>
            </a:r>
            <a:r>
              <a:rPr lang="en-US" dirty="0"/>
              <a:t>, "type": "city", "city": "Cluj-Napoca", "</a:t>
            </a:r>
            <a:r>
              <a:rPr lang="en-US" dirty="0" err="1"/>
              <a:t>userList</a:t>
            </a:r>
            <a:r>
              <a:rPr lang="en-US" dirty="0"/>
              <a:t>": [ "USER_001", "USER_002" ] }, "</a:t>
            </a:r>
            <a:r>
              <a:rPr lang="en-US" dirty="0" err="1"/>
              <a:t>utilizatori</a:t>
            </a:r>
            <a:r>
              <a:rPr lang="en-US" dirty="0"/>
              <a:t>": { </a:t>
            </a:r>
            <a:r>
              <a:rPr lang="en-US" i="1" dirty="0"/>
              <a:t>"</a:t>
            </a:r>
            <a:r>
              <a:rPr lang="en-US" i="1" dirty="0" err="1"/>
              <a:t>cityid</a:t>
            </a:r>
            <a:r>
              <a:rPr lang="en-US" i="1" dirty="0"/>
              <a:t>": "CITY_001"</a:t>
            </a:r>
            <a:r>
              <a:rPr lang="en-US" dirty="0"/>
              <a:t>, "course": "Couchbase", "id": "USER_002", "name": "Bogdan </a:t>
            </a:r>
            <a:r>
              <a:rPr lang="en-US" dirty="0" err="1"/>
              <a:t>Bindea</a:t>
            </a:r>
            <a:r>
              <a:rPr lang="en-US" dirty="0"/>
              <a:t>", "skills": [ "Couchbase", "</a:t>
            </a:r>
            <a:r>
              <a:rPr lang="en-US" dirty="0" err="1"/>
              <a:t>PostGreSQL</a:t>
            </a:r>
            <a:r>
              <a:rPr lang="en-US" dirty="0"/>
              <a:t>" ], "type": "user" } },</a:t>
            </a:r>
          </a:p>
          <a:p>
            <a:pPr lvl="0"/>
            <a:r>
              <a:rPr lang="en-US" dirty="0"/>
              <a:t> { </a:t>
            </a:r>
            <a:r>
              <a:rPr lang="en-US" i="1" dirty="0"/>
              <a:t>"cities": { "id": "CITY_001"</a:t>
            </a:r>
            <a:r>
              <a:rPr lang="en-US" dirty="0"/>
              <a:t>, "type": "city", "city": "Cluj-Napoca", "</a:t>
            </a:r>
            <a:r>
              <a:rPr lang="en-US" dirty="0" err="1"/>
              <a:t>userList</a:t>
            </a:r>
            <a:r>
              <a:rPr lang="en-US" dirty="0"/>
              <a:t>": [ "USER_001", "USER_002" ] }, "</a:t>
            </a:r>
            <a:r>
              <a:rPr lang="en-US" dirty="0" err="1"/>
              <a:t>utilizatori</a:t>
            </a:r>
            <a:r>
              <a:rPr lang="en-US" dirty="0"/>
              <a:t>": { </a:t>
            </a:r>
            <a:r>
              <a:rPr lang="en-US" i="1" dirty="0"/>
              <a:t>"</a:t>
            </a:r>
            <a:r>
              <a:rPr lang="en-US" i="1" dirty="0" err="1"/>
              <a:t>cityid</a:t>
            </a:r>
            <a:r>
              <a:rPr lang="en-US" i="1" dirty="0"/>
              <a:t>": "CITY_001</a:t>
            </a:r>
            <a:r>
              <a:rPr lang="en-US" dirty="0"/>
              <a:t>", "course": "</a:t>
            </a:r>
            <a:r>
              <a:rPr lang="en-US" dirty="0" err="1"/>
              <a:t>DataBase</a:t>
            </a:r>
            <a:r>
              <a:rPr lang="en-US" dirty="0"/>
              <a:t>", "id": "USER_001", "name": "Calin Cenan", "skills": [ "Couchbase", "SQLite", "</a:t>
            </a:r>
            <a:r>
              <a:rPr lang="en-US" dirty="0" err="1"/>
              <a:t>PostGreSQL</a:t>
            </a:r>
            <a:r>
              <a:rPr lang="en-US" dirty="0"/>
              <a:t>" ], "type": "user" } }, </a:t>
            </a:r>
          </a:p>
          <a:p>
            <a:pPr lvl="0"/>
            <a:r>
              <a:rPr lang="en-US" dirty="0"/>
              <a:t>{ </a:t>
            </a:r>
            <a:r>
              <a:rPr lang="en-US" i="1" dirty="0"/>
              <a:t>"cities": { "id": "CITY_002"</a:t>
            </a:r>
            <a:r>
              <a:rPr lang="en-US" dirty="0"/>
              <a:t>, "type": "city", "city": "Oradea", "</a:t>
            </a:r>
            <a:r>
              <a:rPr lang="en-US" dirty="0" err="1"/>
              <a:t>userList</a:t>
            </a:r>
            <a:r>
              <a:rPr lang="en-US" dirty="0"/>
              <a:t>": [ "USER_003" ] }, "</a:t>
            </a:r>
            <a:r>
              <a:rPr lang="en-US" dirty="0" err="1"/>
              <a:t>utilizatori</a:t>
            </a:r>
            <a:r>
              <a:rPr lang="en-US" dirty="0"/>
              <a:t>": { </a:t>
            </a:r>
            <a:r>
              <a:rPr lang="en-US" i="1" dirty="0"/>
              <a:t>"</a:t>
            </a:r>
            <a:r>
              <a:rPr lang="en-US" i="1" dirty="0" err="1"/>
              <a:t>cityid</a:t>
            </a:r>
            <a:r>
              <a:rPr lang="en-US" i="1" dirty="0"/>
              <a:t>": "CITY_002"</a:t>
            </a:r>
            <a:r>
              <a:rPr lang="en-US" dirty="0"/>
              <a:t>, "course": "</a:t>
            </a:r>
            <a:r>
              <a:rPr lang="en-US" dirty="0" err="1"/>
              <a:t>DataBase</a:t>
            </a:r>
            <a:r>
              <a:rPr lang="en-US" dirty="0"/>
              <a:t>", "id": "USER_003", "model": "</a:t>
            </a:r>
            <a:r>
              <a:rPr lang="en-US" dirty="0" err="1"/>
              <a:t>Cruduță</a:t>
            </a:r>
            <a:r>
              <a:rPr lang="en-US" dirty="0"/>
              <a:t>", "name": "Daniela CRUDu", "skills": [ "Couchbase", "databases" ], "type": "user" } }]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02190-2248-8C6F-8593-F395D1D2E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9102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BEAA1-55E5-DCB7-A6C1-8DAC2BBBA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7B37A-80EF-99E8-ECDA-7E70F112E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performs a join across two bucket’s collections, but instead of producing an object for each combination of left and right hand inputs, NEST produces a single object for each left hand input, while the corresponding right hand inputs are collected into array and nested as single array-valued field in the result object</a:t>
            </a:r>
          </a:p>
          <a:p>
            <a:endParaRPr lang="en-US" dirty="0"/>
          </a:p>
          <a:p>
            <a:r>
              <a:rPr lang="en-US" dirty="0"/>
              <a:t>similar to JOIN, NEST also supports LEFT [ OUTER ] NEST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755EF-B0DC-F607-3D6E-6F4AB3B3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4312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634EE-C194-F367-41E8-66D6A553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UNNEST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EF82-C9C7-53F6-BAEF-01FA0AD7D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creates an input object by flattening array in parent document</a:t>
            </a:r>
          </a:p>
          <a:p>
            <a:r>
              <a:rPr lang="en-US" dirty="0"/>
              <a:t>if document or object contains a nested array, UNNEST conceptually performs join of nested array with its parent object; each resulting joined object becomes an output of query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JOIN, NEST, and UNNEST can be chained and combined, in any order, as many times as desired.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E34A9-9D37-5108-AEC1-E7EC90B8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6439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170D9-ACF2-9679-61E4-1A9A0ED5B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DEB8A-4CE9-389E-2FBC-8E0B9D352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`tutorial` cities</a:t>
            </a:r>
          </a:p>
          <a:p>
            <a:r>
              <a:rPr lang="en-US" dirty="0"/>
              <a:t>UNNEST </a:t>
            </a:r>
            <a:r>
              <a:rPr lang="en-US" dirty="0" err="1"/>
              <a:t>cities.userList</a:t>
            </a:r>
            <a:r>
              <a:rPr lang="en-US" dirty="0"/>
              <a:t> </a:t>
            </a:r>
            <a:r>
              <a:rPr lang="en-US" dirty="0" err="1"/>
              <a:t>utilizator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cities.type</a:t>
            </a:r>
            <a:r>
              <a:rPr lang="en-US" dirty="0"/>
              <a:t>="city"</a:t>
            </a:r>
          </a:p>
          <a:p>
            <a:r>
              <a:rPr lang="en-US" dirty="0"/>
              <a:t>ORDER BY </a:t>
            </a:r>
            <a:r>
              <a:rPr lang="en-US" dirty="0" err="1"/>
              <a:t>cities.city</a:t>
            </a:r>
            <a:r>
              <a:rPr lang="en-US" dirty="0"/>
              <a:t>, </a:t>
            </a:r>
            <a:r>
              <a:rPr lang="en-US" dirty="0" err="1"/>
              <a:t>utilizator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D8A3D-760F-E1A5-FFCA-896AB1B9F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2178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4358-F6CB-418D-74DF-8EDCB8A0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587FD-A7B7-3EBC-2489-516C1BEF8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  {    "cities": {      "id": "CITY_001",      "type": "city",      "city": "Cluj-Napoca",      "</a:t>
            </a:r>
            <a:r>
              <a:rPr lang="en-US" dirty="0" err="1"/>
              <a:t>userList</a:t>
            </a:r>
            <a:r>
              <a:rPr lang="en-US" dirty="0"/>
              <a:t>": [        "USER_001",        "USER_002"      ]    },    "</a:t>
            </a:r>
            <a:r>
              <a:rPr lang="en-US" dirty="0" err="1"/>
              <a:t>utilizator</a:t>
            </a:r>
            <a:r>
              <a:rPr lang="en-US" dirty="0"/>
              <a:t>": "USER_001"  },  </a:t>
            </a:r>
          </a:p>
          <a:p>
            <a:r>
              <a:rPr lang="en-US" dirty="0"/>
              <a:t>{    "cities": {      "id": "CITY_001",      "type": "city",      "city": "Cluj-Napoca",      "</a:t>
            </a:r>
            <a:r>
              <a:rPr lang="en-US" dirty="0" err="1"/>
              <a:t>userList</a:t>
            </a:r>
            <a:r>
              <a:rPr lang="en-US" dirty="0"/>
              <a:t>": [        "USER_001",        "USER_002"      ]    },    "</a:t>
            </a:r>
            <a:r>
              <a:rPr lang="en-US" dirty="0" err="1"/>
              <a:t>utilizator</a:t>
            </a:r>
            <a:r>
              <a:rPr lang="en-US" dirty="0"/>
              <a:t>": "USER_002"  },  </a:t>
            </a:r>
          </a:p>
          <a:p>
            <a:r>
              <a:rPr lang="en-US" dirty="0"/>
              <a:t>{    "cities": {      "id": "CITY_002",      "type": "city",      "city": "Oradea",      "</a:t>
            </a:r>
            <a:r>
              <a:rPr lang="en-US" dirty="0" err="1"/>
              <a:t>userList</a:t>
            </a:r>
            <a:r>
              <a:rPr lang="en-US" dirty="0"/>
              <a:t>": [        "USER_003"      ]    },    "</a:t>
            </a:r>
            <a:r>
              <a:rPr lang="en-US" dirty="0" err="1"/>
              <a:t>utilizator</a:t>
            </a:r>
            <a:r>
              <a:rPr lang="en-US" dirty="0"/>
              <a:t>": "USER_003"  }]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4DDAA-15B8-F344-ECFB-A4485209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1481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06EC7-6518-C876-DB21-7F29D36A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179A5-9181-9887-D9E2-1DA2ABF94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4827F-BF20-44B6-9F3B-B3FEF0624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D11-8C12-4A89-A1F6-F472C841CF96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92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e3be701f0a6c8f6221ff53300429adee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74ac979782e2ad477dd4a10e8419547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7A81BB-57F1-4ED8-A52D-2E17AC340ABC}"/>
</file>

<file path=customXml/itemProps2.xml><?xml version="1.0" encoding="utf-8"?>
<ds:datastoreItem xmlns:ds="http://schemas.openxmlformats.org/officeDocument/2006/customXml" ds:itemID="{B7F97790-98CD-4A7F-BAB2-F5ECE03C3765}"/>
</file>

<file path=customXml/itemProps3.xml><?xml version="1.0" encoding="utf-8"?>
<ds:datastoreItem xmlns:ds="http://schemas.openxmlformats.org/officeDocument/2006/customXml" ds:itemID="{E8218F09-C874-488B-8122-8B314F5084B6}"/>
</file>

<file path=docProps/app.xml><?xml version="1.0" encoding="utf-8"?>
<Properties xmlns="http://schemas.openxmlformats.org/officeDocument/2006/extended-properties" xmlns:vt="http://schemas.openxmlformats.org/officeDocument/2006/docPropsVTypes">
  <TotalTime>3995</TotalTime>
  <Words>6642</Words>
  <Application>Microsoft Office PowerPoint</Application>
  <PresentationFormat>Widescreen</PresentationFormat>
  <Paragraphs>491</Paragraphs>
  <Slides>114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8" baseType="lpstr">
      <vt:lpstr>Aptos</vt:lpstr>
      <vt:lpstr>Aptos Display</vt:lpstr>
      <vt:lpstr>Arial</vt:lpstr>
      <vt:lpstr>Office Theme</vt:lpstr>
      <vt:lpstr>Couchbase</vt:lpstr>
      <vt:lpstr>PowerPoint Presentation</vt:lpstr>
      <vt:lpstr>N1QL</vt:lpstr>
      <vt:lpstr>N1QL</vt:lpstr>
      <vt:lpstr>1,2, CSimple.py Python Couchbase with N1QL </vt:lpstr>
      <vt:lpstr>PowerPoint Presentation</vt:lpstr>
      <vt:lpstr>1,2, CSimple.py</vt:lpstr>
      <vt:lpstr>1,2, CSimple.py</vt:lpstr>
      <vt:lpstr>1,2, CSimple.py</vt:lpstr>
      <vt:lpstr>N1QL</vt:lpstr>
      <vt:lpstr>SQL++</vt:lpstr>
      <vt:lpstr>N1QL</vt:lpstr>
      <vt:lpstr>N1QL basics</vt:lpstr>
      <vt:lpstr>N1QL Statements</vt:lpstr>
      <vt:lpstr>Data Definition Language</vt:lpstr>
      <vt:lpstr>Data Control Language</vt:lpstr>
      <vt:lpstr>Data Manipulation Language</vt:lpstr>
      <vt:lpstr>PowerPoint Presentation</vt:lpstr>
      <vt:lpstr>PowerPoint Presentation</vt:lpstr>
      <vt:lpstr>N1QL Query</vt:lpstr>
      <vt:lpstr>PowerPoint Presentation</vt:lpstr>
      <vt:lpstr>PowerPoint Presentation</vt:lpstr>
      <vt:lpstr>PowerPoint Presentation</vt:lpstr>
      <vt:lpstr>SELECT * FROM `beer-sample`</vt:lpstr>
      <vt:lpstr>SELECT * FROM `travel-sample`</vt:lpstr>
      <vt:lpstr>SELECT name, city, country, type  FROM `beer-sample`</vt:lpstr>
      <vt:lpstr>SELECT name, city, country, type  FROM `beer-sample` WHERE type = "beer"</vt:lpstr>
      <vt:lpstr>PowerPoint Presentation</vt:lpstr>
      <vt:lpstr>SELECT * FROM `book`</vt:lpstr>
      <vt:lpstr>SELECT title, author FROM `book`</vt:lpstr>
      <vt:lpstr>Attributes from child documents must be explicitly aliased using AS clause</vt:lpstr>
      <vt:lpstr>N1QL is for JSON documents,  not relational table, rows or columns</vt:lpstr>
      <vt:lpstr>PowerPoint Presentation</vt:lpstr>
      <vt:lpstr>SELECT title, author[1].last_name  FROM`book` WHERE title LIKE "%DataBase%"</vt:lpstr>
      <vt:lpstr>PowerPoint Presentation</vt:lpstr>
      <vt:lpstr>PowerPoint Presentation</vt:lpstr>
      <vt:lpstr>PowerPoint Presentation</vt:lpstr>
      <vt:lpstr>SELECT * from `tutorial`</vt:lpstr>
      <vt:lpstr>PowerPoint Presentation</vt:lpstr>
      <vt:lpstr>PowerPoint Presentation</vt:lpstr>
      <vt:lpstr>PowerPoint Presentation</vt:lpstr>
      <vt:lpstr>PowerPoint Presentation</vt:lpstr>
      <vt:lpstr>SELECT fname, children FROM tutorial WHERE ANY child IN tutorial.children SATISFIES child.age &gt; 10 END</vt:lpstr>
      <vt:lpstr>Combining multiple conditions with  AND OR NOT</vt:lpstr>
      <vt:lpstr>Querying primary keys</vt:lpstr>
      <vt:lpstr>PowerPoint Presentation</vt:lpstr>
      <vt:lpstr>Pagination with LIMIT and OFFSET</vt:lpstr>
      <vt:lpstr>SELECT COUNT(*) as Count FROM `travel-sample`</vt:lpstr>
      <vt:lpstr>SELECT type, COUNT(*) as Count FROM `travel-sample` GROUP BY type</vt:lpstr>
      <vt:lpstr>Filtering grouped data with HAVING</vt:lpstr>
      <vt:lpstr>UNNEST clause</vt:lpstr>
      <vt:lpstr>SELECT * FROM tutorial person</vt:lpstr>
      <vt:lpstr>SELECT * FROM tutorial person    UNNEST person.children child</vt:lpstr>
      <vt:lpstr>PowerPoint Presentation</vt:lpstr>
      <vt:lpstr>PowerPoint Presentation</vt:lpstr>
      <vt:lpstr>PowerPoint Presentation</vt:lpstr>
      <vt:lpstr>PowerPoint Presentation</vt:lpstr>
      <vt:lpstr>Implement Data Models</vt:lpstr>
      <vt:lpstr>PowerPoint Presentation</vt:lpstr>
      <vt:lpstr>Data Model</vt:lpstr>
      <vt:lpstr>Bucket</vt:lpstr>
      <vt:lpstr>Document</vt:lpstr>
      <vt:lpstr>PowerPoint Presentation</vt:lpstr>
      <vt:lpstr>PowerPoint Presentation</vt:lpstr>
      <vt:lpstr>Scope</vt:lpstr>
      <vt:lpstr>Collection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Scope &amp; Collections</vt:lpstr>
      <vt:lpstr>Create Scope click Add Scope, enter name, Save </vt:lpstr>
      <vt:lpstr>Create Collection click Add Collection, enter name, Save </vt:lpstr>
      <vt:lpstr>Document</vt:lpstr>
      <vt:lpstr>PowerPoint Presentation</vt:lpstr>
      <vt:lpstr>PowerPoint Presentation</vt:lpstr>
      <vt:lpstr>PowerPoint Presentation</vt:lpstr>
      <vt:lpstr>PowerPoint Presentation</vt:lpstr>
      <vt:lpstr>Query context</vt:lpstr>
      <vt:lpstr>SELECT * FROM `travel-sample` WHERE type ="airline" ORDER BY id</vt:lpstr>
      <vt:lpstr>SELECT * FROM `travel-sample`  WHERE type ="airline" ORDER BY id</vt:lpstr>
      <vt:lpstr>SELECT * FROM `travel-sample`.inventory.airline ORDER BY id</vt:lpstr>
      <vt:lpstr>PowerPoint Presentation</vt:lpstr>
      <vt:lpstr>PowerPoint Presentation</vt:lpstr>
      <vt:lpstr>Query context</vt:lpstr>
      <vt:lpstr>PowerPoint Presentation</vt:lpstr>
      <vt:lpstr>PowerPoint Presentation</vt:lpstr>
      <vt:lpstr>PowerPoint Presentation</vt:lpstr>
      <vt:lpstr>context</vt:lpstr>
      <vt:lpstr>PowerPoint Presentation</vt:lpstr>
      <vt:lpstr>PowerPoint Presentation</vt:lpstr>
      <vt:lpstr>context</vt:lpstr>
      <vt:lpstr>select * from `student-record-collection`</vt:lpstr>
      <vt:lpstr>PowerPoint Presentation</vt:lpstr>
      <vt:lpstr>select * from `course-record-collection`</vt:lpstr>
      <vt:lpstr>PowerPoint Presentation</vt:lpstr>
      <vt:lpstr>N1QL Query Join</vt:lpstr>
      <vt:lpstr>Most N1QL queries will be in following format: </vt:lpstr>
      <vt:lpstr>Join </vt:lpstr>
      <vt:lpstr>Join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NEST</vt:lpstr>
      <vt:lpstr>UNNEST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Calin Cenan</dc:creator>
  <cp:lastModifiedBy>Calin Cenan</cp:lastModifiedBy>
  <cp:revision>59</cp:revision>
  <dcterms:created xsi:type="dcterms:W3CDTF">2025-11-12T20:29:45Z</dcterms:created>
  <dcterms:modified xsi:type="dcterms:W3CDTF">2025-12-23T08:05:00Z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2025-11-12T20:30:04Z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56b1b6c9-50f1-493d-a12a-5259e7c6a408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  <property fmtid="{D5CDD505-2E9C-101B-9397-08002B2CF9AE}" pid="10" name="ContentTypeId">
    <vt:lpwstr>0x01010042D1F13D339BA04089B6530E3063BBB0</vt:lpwstr>
  </property>
</Properties>
</file>