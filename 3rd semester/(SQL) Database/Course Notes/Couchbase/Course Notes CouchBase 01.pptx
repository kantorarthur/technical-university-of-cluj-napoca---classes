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47" r:id="rId103"/>
    <p:sldId id="348" r:id="rId104"/>
    <p:sldId id="349" r:id="rId105"/>
    <p:sldId id="350" r:id="rId106"/>
    <p:sldId id="363" r:id="rId107"/>
    <p:sldId id="364" r:id="rId108"/>
    <p:sldId id="365" r:id="rId109"/>
    <p:sldId id="366" r:id="rId110"/>
    <p:sldId id="367" r:id="rId111"/>
    <p:sldId id="351" r:id="rId112"/>
    <p:sldId id="352" r:id="rId113"/>
    <p:sldId id="353" r:id="rId114"/>
    <p:sldId id="354" r:id="rId115"/>
    <p:sldId id="355" r:id="rId116"/>
    <p:sldId id="356" r:id="rId117"/>
    <p:sldId id="357" r:id="rId118"/>
    <p:sldId id="358" r:id="rId119"/>
    <p:sldId id="368" r:id="rId12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117" Type="http://schemas.openxmlformats.org/officeDocument/2006/relationships/slide" Target="slides/slide106.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12" Type="http://schemas.openxmlformats.org/officeDocument/2006/relationships/slide" Target="slides/slide101.xml"/><Relationship Id="rId16" Type="http://schemas.openxmlformats.org/officeDocument/2006/relationships/slide" Target="slides/slide5.xml"/><Relationship Id="rId107" Type="http://schemas.openxmlformats.org/officeDocument/2006/relationships/slide" Target="slides/slide96.xml"/><Relationship Id="rId11" Type="http://schemas.openxmlformats.org/officeDocument/2006/relationships/slideMaster" Target="slideMasters/slideMaster11.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slide" Target="slides/slide91.xml"/><Relationship Id="rId123"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113" Type="http://schemas.openxmlformats.org/officeDocument/2006/relationships/slide" Target="slides/slide102.xml"/><Relationship Id="rId118" Type="http://schemas.openxmlformats.org/officeDocument/2006/relationships/slide" Target="slides/slide107.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slide" Target="slides/slide92.xml"/><Relationship Id="rId108" Type="http://schemas.openxmlformats.org/officeDocument/2006/relationships/slide" Target="slides/slide97.xml"/><Relationship Id="rId124" Type="http://schemas.openxmlformats.org/officeDocument/2006/relationships/tableStyles" Target="tableStyles.xml"/><Relationship Id="rId54" Type="http://schemas.openxmlformats.org/officeDocument/2006/relationships/slide" Target="slides/slide43.xml"/><Relationship Id="rId70" Type="http://schemas.openxmlformats.org/officeDocument/2006/relationships/slide" Target="slides/slide59.xml"/><Relationship Id="rId75" Type="http://schemas.openxmlformats.org/officeDocument/2006/relationships/slide" Target="slides/slide64.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2.xml"/><Relationship Id="rId28" Type="http://schemas.openxmlformats.org/officeDocument/2006/relationships/slide" Target="slides/slide17.xml"/><Relationship Id="rId49" Type="http://schemas.openxmlformats.org/officeDocument/2006/relationships/slide" Target="slides/slide38.xml"/><Relationship Id="rId114" Type="http://schemas.openxmlformats.org/officeDocument/2006/relationships/slide" Target="slides/slide103.xml"/><Relationship Id="rId119" Type="http://schemas.openxmlformats.org/officeDocument/2006/relationships/slide" Target="slides/slide108.xml"/><Relationship Id="rId44" Type="http://schemas.openxmlformats.org/officeDocument/2006/relationships/slide" Target="slides/slide33.xml"/><Relationship Id="rId60" Type="http://schemas.openxmlformats.org/officeDocument/2006/relationships/slide" Target="slides/slide49.xml"/><Relationship Id="rId65" Type="http://schemas.openxmlformats.org/officeDocument/2006/relationships/slide" Target="slides/slide54.xml"/><Relationship Id="rId81" Type="http://schemas.openxmlformats.org/officeDocument/2006/relationships/slide" Target="slides/slide70.xml"/><Relationship Id="rId86" Type="http://schemas.openxmlformats.org/officeDocument/2006/relationships/slide" Target="slides/slide75.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slide" Target="slides/slide9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slide" Target="slides/slide93.xml"/><Relationship Id="rId120" Type="http://schemas.openxmlformats.org/officeDocument/2006/relationships/slide" Target="slides/slide109.xml"/><Relationship Id="rId125" Type="http://schemas.openxmlformats.org/officeDocument/2006/relationships/customXml" Target="../customXml/item1.xml"/><Relationship Id="rId7" Type="http://schemas.openxmlformats.org/officeDocument/2006/relationships/slideMaster" Target="slideMasters/slideMaster7.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slideMaster" Target="slideMasters/slideMaster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slide" Target="slides/slide99.xml"/><Relationship Id="rId115" Type="http://schemas.openxmlformats.org/officeDocument/2006/relationships/slide" Target="slides/slide104.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slide" Target="slides/slide94.xml"/><Relationship Id="rId126" Type="http://schemas.openxmlformats.org/officeDocument/2006/relationships/customXml" Target="../customXml/item2.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121"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116" Type="http://schemas.openxmlformats.org/officeDocument/2006/relationships/slide" Target="slides/slide105.xml"/><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slide" Target="slides/slide100.xml"/><Relationship Id="rId15" Type="http://schemas.openxmlformats.org/officeDocument/2006/relationships/slide" Target="slides/slide4.xml"/><Relationship Id="rId36" Type="http://schemas.openxmlformats.org/officeDocument/2006/relationships/slide" Target="slides/slide25.xml"/><Relationship Id="rId57" Type="http://schemas.openxmlformats.org/officeDocument/2006/relationships/slide" Target="slides/slide46.xml"/><Relationship Id="rId106" Type="http://schemas.openxmlformats.org/officeDocument/2006/relationships/slide" Target="slides/slide95.xml"/><Relationship Id="rId127" Type="http://schemas.openxmlformats.org/officeDocument/2006/relationships/customXml" Target="../customXml/item3.xml"/><Relationship Id="rId10" Type="http://schemas.openxmlformats.org/officeDocument/2006/relationships/slideMaster" Target="slideMasters/slideMaster10.xml"/><Relationship Id="rId31" Type="http://schemas.openxmlformats.org/officeDocument/2006/relationships/slide" Target="slides/slide20.xml"/><Relationship Id="rId52" Type="http://schemas.openxmlformats.org/officeDocument/2006/relationships/slide" Target="slides/slide41.xml"/><Relationship Id="rId73" Type="http://schemas.openxmlformats.org/officeDocument/2006/relationships/slide" Target="slides/slide62.xml"/><Relationship Id="rId78" Type="http://schemas.openxmlformats.org/officeDocument/2006/relationships/slide" Target="slides/slide67.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slide" Target="slides/slide90.xml"/><Relationship Id="rId12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 name="PlaceHolder 2"/>
          <p:cNvSpPr>
            <a:spLocks noGrp="1"/>
          </p:cNvSpPr>
          <p:nvPr>
            <p:ph type="subTitle"/>
          </p:nvPr>
        </p:nvSpPr>
        <p:spPr>
          <a:xfrm>
            <a:off x="838080" y="1825560"/>
            <a:ext cx="10514520" cy="43502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A46D94D3-1829-4886-A024-1614A7AD0750}"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0380ED65-08C4-4B8E-9D38-4311BE7DDDA5}"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DF504968-625B-44F6-9B70-9B720981A692}"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9" name="PlaceHolder 2"/>
          <p:cNvSpPr>
            <a:spLocks noGrp="1"/>
          </p:cNvSpPr>
          <p:nvPr>
            <p:ph/>
          </p:nvPr>
        </p:nvSpPr>
        <p:spPr>
          <a:xfrm>
            <a:off x="838080" y="1825560"/>
            <a:ext cx="10514520" cy="43502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5717A396-9E77-4408-A7C7-E52016FE5C9F}"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20594053-54A8-417E-B4C1-15A3CAC0742C}"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838080" y="1825560"/>
            <a:ext cx="5131080" cy="43502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6226200" y="1825560"/>
            <a:ext cx="5131080" cy="43502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66AEE617-4EC1-458D-BDF7-5088529370FF}"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CFFBD31E-6852-41F6-BBFF-64A8A260C2B7}"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B2353C30-1401-4673-9902-2FD09E6C6D88}" type="slidenum">
              <a:t>‹#›</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E7FCF65A-D889-40C1-847F-8992441ADB7F}"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7FCF3254-1E32-4BB7-8BA8-4D5AE796543C}" type="slidenum">
              <a:t>‹#›</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E2A0150E-042B-490A-B7FD-8E6C03488CAB}"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6" name="PlaceHolder 2"/>
          <p:cNvSpPr>
            <a:spLocks noGrp="1"/>
          </p:cNvSpPr>
          <p:nvPr>
            <p:ph type="ftr" idx="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 name="PlaceHolder 3"/>
          <p:cNvSpPr>
            <a:spLocks noGrp="1"/>
          </p:cNvSpPr>
          <p:nvPr>
            <p:ph type="sldNum" idx="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503545BC-2AD2-4D07-A4CC-437520BC919E}"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3" name="PlaceHolder 4"/>
          <p:cNvSpPr>
            <a:spLocks noGrp="1"/>
          </p:cNvSpPr>
          <p:nvPr>
            <p:ph type="dt" idx="3"/>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8" name="PlaceHolder 2"/>
          <p:cNvSpPr>
            <a:spLocks noGrp="1"/>
          </p:cNvSpPr>
          <p:nvPr>
            <p:ph type="sldNum" idx="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D0702ADC-D7A4-4A2A-A46C-37E81BCC586E}"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9" name="PlaceHolder 3"/>
          <p:cNvSpPr>
            <a:spLocks noGrp="1"/>
          </p:cNvSpPr>
          <p:nvPr>
            <p:ph type="dt" idx="6"/>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1" name="PlaceHolder 2"/>
          <p:cNvSpPr>
            <a:spLocks noGrp="1"/>
          </p:cNvSpPr>
          <p:nvPr>
            <p:ph type="sldNum" idx="8"/>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1DA930B4-BC9E-467C-A843-406F8D3FA5E7}"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12" name="PlaceHolder 3"/>
          <p:cNvSpPr>
            <a:spLocks noGrp="1"/>
          </p:cNvSpPr>
          <p:nvPr>
            <p:ph type="dt" idx="9"/>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4" name="PlaceHolder 2"/>
          <p:cNvSpPr>
            <a:spLocks noGrp="1"/>
          </p:cNvSpPr>
          <p:nvPr>
            <p:ph type="body"/>
          </p:nvPr>
        </p:nvSpPr>
        <p:spPr>
          <a:xfrm>
            <a:off x="838080" y="1825560"/>
            <a:ext cx="10514520" cy="4350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5" name="PlaceHolder 3"/>
          <p:cNvSpPr>
            <a:spLocks noGrp="1"/>
          </p:cNvSpPr>
          <p:nvPr>
            <p:ph type="ftr" idx="1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6" name="PlaceHolder 4"/>
          <p:cNvSpPr>
            <a:spLocks noGrp="1"/>
          </p:cNvSpPr>
          <p:nvPr>
            <p:ph type="sldNum" idx="1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FD05D2FD-6703-42C3-9102-93F5D7110990}"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17" name="PlaceHolder 5"/>
          <p:cNvSpPr>
            <a:spLocks noGrp="1"/>
          </p:cNvSpPr>
          <p:nvPr>
            <p:ph type="dt" idx="12"/>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1" name="PlaceHolder 2"/>
          <p:cNvSpPr>
            <a:spLocks noGrp="1"/>
          </p:cNvSpPr>
          <p:nvPr>
            <p:ph type="sldNum" idx="14"/>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DDF023EB-D59D-4783-AEE9-7670EAAAAE7E}"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22" name="PlaceHolder 3"/>
          <p:cNvSpPr>
            <a:spLocks noGrp="1"/>
          </p:cNvSpPr>
          <p:nvPr>
            <p:ph type="dt" idx="15"/>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2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2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6" name="PlaceHolder 2"/>
          <p:cNvSpPr>
            <a:spLocks noGrp="1"/>
          </p:cNvSpPr>
          <p:nvPr>
            <p:ph type="body"/>
          </p:nvPr>
        </p:nvSpPr>
        <p:spPr>
          <a:xfrm>
            <a:off x="838080" y="1825560"/>
            <a:ext cx="5130720" cy="4350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7" name="PlaceHolder 3"/>
          <p:cNvSpPr>
            <a:spLocks noGrp="1"/>
          </p:cNvSpPr>
          <p:nvPr>
            <p:ph type="body"/>
          </p:nvPr>
        </p:nvSpPr>
        <p:spPr>
          <a:xfrm>
            <a:off x="6226200" y="1825560"/>
            <a:ext cx="5130720" cy="4350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8" name="PlaceHolder 4"/>
          <p:cNvSpPr>
            <a:spLocks noGrp="1"/>
          </p:cNvSpPr>
          <p:nvPr>
            <p:ph type="ftr" idx="16"/>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9" name="PlaceHolder 5"/>
          <p:cNvSpPr>
            <a:spLocks noGrp="1"/>
          </p:cNvSpPr>
          <p:nvPr>
            <p:ph type="sldNum" idx="17"/>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8EFA2CEC-EF83-47F8-AE67-5F96374D00D7}"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30" name="PlaceHolder 6"/>
          <p:cNvSpPr>
            <a:spLocks noGrp="1"/>
          </p:cNvSpPr>
          <p:nvPr>
            <p:ph type="dt" idx="18"/>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ftr" idx="19"/>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5" name="PlaceHolder 2"/>
          <p:cNvSpPr>
            <a:spLocks noGrp="1"/>
          </p:cNvSpPr>
          <p:nvPr>
            <p:ph type="sldNum" idx="20"/>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D14F1CC8-9B55-4370-A97B-661009971AB1}"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36" name="PlaceHolder 3"/>
          <p:cNvSpPr>
            <a:spLocks noGrp="1"/>
          </p:cNvSpPr>
          <p:nvPr>
            <p:ph type="dt" idx="21"/>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3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0" name="PlaceHolder 2"/>
          <p:cNvSpPr>
            <a:spLocks noGrp="1"/>
          </p:cNvSpPr>
          <p:nvPr>
            <p:ph type="ftr" idx="2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1" name="PlaceHolder 3"/>
          <p:cNvSpPr>
            <a:spLocks noGrp="1"/>
          </p:cNvSpPr>
          <p:nvPr>
            <p:ph type="sldNum" idx="2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DBA18928-15AF-4524-B8C0-E668FC4C22E4}"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2" name="PlaceHolder 4"/>
          <p:cNvSpPr>
            <a:spLocks noGrp="1"/>
          </p:cNvSpPr>
          <p:nvPr>
            <p:ph type="dt" idx="24"/>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ftr" idx="25"/>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5" name="PlaceHolder 2"/>
          <p:cNvSpPr>
            <a:spLocks noGrp="1"/>
          </p:cNvSpPr>
          <p:nvPr>
            <p:ph type="sldNum" idx="26"/>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919A6D01-3D3E-4978-8B42-532522D8BBDE}"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6" name="PlaceHolder 3"/>
          <p:cNvSpPr>
            <a:spLocks noGrp="1"/>
          </p:cNvSpPr>
          <p:nvPr>
            <p:ph type="dt" idx="27"/>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28"/>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8" name="PlaceHolder 2"/>
          <p:cNvSpPr>
            <a:spLocks noGrp="1"/>
          </p:cNvSpPr>
          <p:nvPr>
            <p:ph type="sldNum" idx="29"/>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728CDAA1-9DB4-44DA-A372-902ECF5EDD63}"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9" name="PlaceHolder 3"/>
          <p:cNvSpPr>
            <a:spLocks noGrp="1"/>
          </p:cNvSpPr>
          <p:nvPr>
            <p:ph type="dt" idx="30"/>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51" name="PlaceHolder 2"/>
          <p:cNvSpPr>
            <a:spLocks noGrp="1"/>
          </p:cNvSpPr>
          <p:nvPr>
            <p:ph type="sldNum" idx="3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82000"/>
                  </a:schemeClr>
                </a:solidFill>
                <a:latin typeface="Aptos"/>
              </a:defRPr>
            </a:lvl1pPr>
          </a:lstStyle>
          <a:p>
            <a:pPr indent="0" algn="r" defTabSz="914400">
              <a:lnSpc>
                <a:spcPct val="100000"/>
              </a:lnSpc>
              <a:buNone/>
              <a:tabLst>
                <a:tab pos="0" algn="l"/>
              </a:tabLst>
            </a:pPr>
            <a:fld id="{3346632B-4235-4E6F-A4A6-257BBCA20B4B}"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52" name="PlaceHolder 3"/>
          <p:cNvSpPr>
            <a:spLocks noGrp="1"/>
          </p:cNvSpPr>
          <p:nvPr>
            <p:ph type="dt" idx="33"/>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uchbase.com/"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loud.couchbase.com/sign-up"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couchbase.com/"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localhost:8091/index.html"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localhost:8091/ui/index.html#/settings?scenarioZoom=minute&amp;scenario=abpyejefw" TargetMode="External"/><Relationship Id="rId2" Type="http://schemas.openxmlformats.org/officeDocument/2006/relationships/hyperlink" Target="http://localhost:8091/ui/index.html#/buckets?scenarioZoom=minute&amp;scenario=abpyejefw" TargetMode="Externa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en-US" sz="6000" b="0" strike="noStrike" spc="-1">
                <a:solidFill>
                  <a:schemeClr val="dk1"/>
                </a:solidFill>
                <a:latin typeface="Aptos Display"/>
              </a:rPr>
              <a:t>Couchbase</a:t>
            </a:r>
            <a:endParaRPr lang="en-US" sz="6000" b="0" strike="noStrike" spc="-1">
              <a:solidFill>
                <a:srgbClr val="000000"/>
              </a:solidFill>
              <a:latin typeface="Arial"/>
            </a:endParaRPr>
          </a:p>
        </p:txBody>
      </p:sp>
      <p:sp>
        <p:nvSpPr>
          <p:cNvPr id="54" name="PlaceHolder 2"/>
          <p:cNvSpPr>
            <a:spLocks noGrp="1"/>
          </p:cNvSpPr>
          <p:nvPr>
            <p:ph type="subTitle"/>
          </p:nvPr>
        </p:nvSpPr>
        <p:spPr>
          <a:xfrm>
            <a:off x="1523880" y="3602160"/>
            <a:ext cx="9142920" cy="1654560"/>
          </a:xfrm>
          <a:prstGeom prst="rect">
            <a:avLst/>
          </a:prstGeom>
          <a:noFill/>
          <a:ln w="0">
            <a:noFill/>
          </a:ln>
        </p:spPr>
        <p:txBody>
          <a:bodyPr lIns="91440" tIns="45720" rIns="91440" bIns="45720" anchor="t">
            <a:noAutofit/>
          </a:bodyPr>
          <a:lstStyle/>
          <a:p>
            <a:pPr indent="0" algn="ctr">
              <a:buNone/>
            </a:pPr>
            <a:endParaRPr lang="en-US" sz="1800" b="0" strike="noStrike" spc="-1">
              <a:solidFill>
                <a:srgbClr val="000000"/>
              </a:solidFill>
              <a:latin typeface="Arial"/>
            </a:endParaRPr>
          </a:p>
        </p:txBody>
      </p:sp>
      <p:sp>
        <p:nvSpPr>
          <p:cNvPr id="4" name="PlaceHolder 3"/>
          <p:cNvSpPr>
            <a:spLocks noGrp="1"/>
          </p:cNvSpPr>
          <p:nvPr>
            <p:ph type="sldNum" idx="2"/>
          </p:nvPr>
        </p:nvSpPr>
        <p:spPr/>
        <p:txBody>
          <a:bodyPr/>
          <a:lstStyle/>
          <a:p>
            <a:fld id="{D1801E7B-3961-48CB-BF49-1F7002DF16DB}"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5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sng" strike="noStrike" spc="-1">
                <a:solidFill>
                  <a:schemeClr val="dk1"/>
                </a:solidFill>
                <a:uFillTx/>
                <a:latin typeface="Aptos"/>
                <a:hlinkClick r:id="rId2"/>
              </a:rPr>
              <a:t>Couchbase: Best Free NoSQL Cloud Database Platform</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u="sng" strike="noStrike" spc="-1">
                <a:solidFill>
                  <a:schemeClr val="dk1"/>
                </a:solidFill>
                <a:uFillTx/>
                <a:latin typeface="Aptos"/>
                <a:hlinkClick r:id="rId2"/>
              </a:rPr>
              <a:t>https://www.couchbase.com/</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p:txBody>
      </p:sp>
      <p:pic>
        <p:nvPicPr>
          <p:cNvPr id="57" name="Picture 2" descr="Couchbase logo in transparent PNG and vectorized SVG formats"/>
          <p:cNvPicPr/>
          <p:nvPr/>
        </p:nvPicPr>
        <p:blipFill>
          <a:blip r:embed="rId3"/>
          <a:stretch/>
        </p:blipFill>
        <p:spPr>
          <a:xfrm>
            <a:off x="6309360" y="2468880"/>
            <a:ext cx="4110840" cy="4113720"/>
          </a:xfrm>
          <a:prstGeom prst="rect">
            <a:avLst/>
          </a:prstGeom>
          <a:ln w="0">
            <a:noFill/>
          </a:ln>
        </p:spPr>
      </p:pic>
      <p:sp>
        <p:nvSpPr>
          <p:cNvPr id="4" name="PlaceHolder 3"/>
          <p:cNvSpPr>
            <a:spLocks noGrp="1"/>
          </p:cNvSpPr>
          <p:nvPr>
            <p:ph type="sldNum" idx="11"/>
          </p:nvPr>
        </p:nvSpPr>
        <p:spPr/>
        <p:txBody>
          <a:bodyPr/>
          <a:lstStyle/>
          <a:p>
            <a:fld id="{7CDE5F4D-D2EA-4B6E-AFC0-8D2C41787115}" type="slidenum">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a:t>
            </a:r>
            <a:endParaRPr lang="en-US" sz="4400" b="0" strike="noStrike" spc="-1">
              <a:solidFill>
                <a:srgbClr val="000000"/>
              </a:solidFill>
              <a:latin typeface="Arial"/>
            </a:endParaRPr>
          </a:p>
        </p:txBody>
      </p:sp>
      <p:sp>
        <p:nvSpPr>
          <p:cNvPr id="5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is a distributed (shared-nothing architecture) multi-model NoSQL document-oriented database software package optimized for interactive applications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applications may serve many concurrent users by creating, storing, retrieving, aggregating, manipulating and presenting data</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designed to provide easy-to-scale key-value, or JSON document access, with low latency and high sustainability throughput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designed to be clustered from single machine to very large-scale deployments spanning many machines</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7596CD4D-9A4A-48CA-BFF4-AD9A7568788A}"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 Capella</a:t>
            </a:r>
            <a:br>
              <a:rPr sz="4400"/>
            </a:br>
            <a:r>
              <a:rPr lang="en-US" sz="4400" b="0" u="sng" strike="noStrike" spc="-1">
                <a:solidFill>
                  <a:schemeClr val="dk1"/>
                </a:solidFill>
                <a:uFillTx/>
                <a:latin typeface="Aptos Display"/>
                <a:hlinkClick r:id="rId2"/>
              </a:rPr>
              <a:t>cloud.couchbase.com/sign-up</a:t>
            </a:r>
            <a:r>
              <a:rPr lang="en-US" sz="4400" b="0" strike="noStrike" spc="-1">
                <a:solidFill>
                  <a:schemeClr val="dk1"/>
                </a:solidFill>
                <a:latin typeface="Aptos Display"/>
              </a:rPr>
              <a:t> </a:t>
            </a:r>
            <a:endParaRPr lang="en-US" sz="4400" b="0" strike="noStrike" spc="-1">
              <a:solidFill>
                <a:srgbClr val="000000"/>
              </a:solidFill>
              <a:latin typeface="Arial"/>
            </a:endParaRPr>
          </a:p>
        </p:txBody>
      </p:sp>
      <p:pic>
        <p:nvPicPr>
          <p:cNvPr id="61" name="Content Placeholder 5"/>
          <p:cNvPicPr/>
          <p:nvPr/>
        </p:nvPicPr>
        <p:blipFill>
          <a:blip r:embed="rId3"/>
          <a:stretch/>
        </p:blipFill>
        <p:spPr>
          <a:xfrm>
            <a:off x="838080" y="1920600"/>
            <a:ext cx="10514520" cy="4160520"/>
          </a:xfrm>
          <a:prstGeom prst="rect">
            <a:avLst/>
          </a:prstGeom>
          <a:ln w="0">
            <a:noFill/>
          </a:ln>
        </p:spPr>
      </p:pic>
      <p:sp>
        <p:nvSpPr>
          <p:cNvPr id="3" name="PlaceHolder 2"/>
          <p:cNvSpPr>
            <a:spLocks noGrp="1"/>
          </p:cNvSpPr>
          <p:nvPr>
            <p:ph type="sldNum" idx="11"/>
          </p:nvPr>
        </p:nvSpPr>
        <p:spPr/>
        <p:txBody>
          <a:bodyPr/>
          <a:lstStyle/>
          <a:p>
            <a:fld id="{9151F3AF-8A57-45F1-9717-E144FFDBDC42}" type="slidenum">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63"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64" name="Picture 5"/>
          <p:cNvPicPr/>
          <p:nvPr/>
        </p:nvPicPr>
        <p:blipFill>
          <a:blip r:embed="rId2"/>
          <a:stretch/>
        </p:blipFill>
        <p:spPr>
          <a:xfrm>
            <a:off x="0" y="754200"/>
            <a:ext cx="12191040" cy="5348160"/>
          </a:xfrm>
          <a:prstGeom prst="rect">
            <a:avLst/>
          </a:prstGeom>
          <a:ln w="0">
            <a:noFill/>
          </a:ln>
        </p:spPr>
      </p:pic>
      <p:sp>
        <p:nvSpPr>
          <p:cNvPr id="4" name="PlaceHolder 3"/>
          <p:cNvSpPr>
            <a:spLocks noGrp="1"/>
          </p:cNvSpPr>
          <p:nvPr>
            <p:ph type="sldNum" idx="11"/>
          </p:nvPr>
        </p:nvSpPr>
        <p:spPr/>
        <p:txBody>
          <a:bodyPr/>
          <a:lstStyle/>
          <a:p>
            <a:fld id="{0FD88F8E-F59D-4715-8331-D2779A81EE3C}" type="slidenum">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6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67" name="Picture 5"/>
          <p:cNvPicPr/>
          <p:nvPr/>
        </p:nvPicPr>
        <p:blipFill>
          <a:blip r:embed="rId2"/>
          <a:stretch/>
        </p:blipFill>
        <p:spPr>
          <a:xfrm>
            <a:off x="0" y="711720"/>
            <a:ext cx="12191040" cy="5433480"/>
          </a:xfrm>
          <a:prstGeom prst="rect">
            <a:avLst/>
          </a:prstGeom>
          <a:ln w="0">
            <a:noFill/>
          </a:ln>
        </p:spPr>
      </p:pic>
      <p:sp>
        <p:nvSpPr>
          <p:cNvPr id="4" name="PlaceHolder 3"/>
          <p:cNvSpPr>
            <a:spLocks noGrp="1"/>
          </p:cNvSpPr>
          <p:nvPr>
            <p:ph type="sldNum" idx="11"/>
          </p:nvPr>
        </p:nvSpPr>
        <p:spPr/>
        <p:txBody>
          <a:bodyPr/>
          <a:lstStyle/>
          <a:p>
            <a:fld id="{E425B4CB-F941-45D0-8534-6DC99C82387C}" type="slidenum">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6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70" name="Picture 5"/>
          <p:cNvPicPr/>
          <p:nvPr/>
        </p:nvPicPr>
        <p:blipFill>
          <a:blip r:embed="rId2"/>
          <a:stretch/>
        </p:blipFill>
        <p:spPr>
          <a:xfrm>
            <a:off x="0" y="914760"/>
            <a:ext cx="12191040" cy="5027040"/>
          </a:xfrm>
          <a:prstGeom prst="rect">
            <a:avLst/>
          </a:prstGeom>
          <a:ln w="0">
            <a:noFill/>
          </a:ln>
        </p:spPr>
      </p:pic>
      <p:sp>
        <p:nvSpPr>
          <p:cNvPr id="4" name="PlaceHolder 3"/>
          <p:cNvSpPr>
            <a:spLocks noGrp="1"/>
          </p:cNvSpPr>
          <p:nvPr>
            <p:ph type="sldNum" idx="11"/>
          </p:nvPr>
        </p:nvSpPr>
        <p:spPr/>
        <p:txBody>
          <a:bodyPr/>
          <a:lstStyle/>
          <a:p>
            <a:fld id="{F148DE15-BE83-4CF7-B720-FE0A693EAB38}" type="slidenum">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NoSQL</a:t>
            </a:r>
            <a:endParaRPr lang="en-US" sz="4400" b="0" strike="noStrike" spc="-1">
              <a:solidFill>
                <a:srgbClr val="000000"/>
              </a:solidFill>
              <a:latin typeface="Arial"/>
            </a:endParaRPr>
          </a:p>
        </p:txBody>
      </p:sp>
      <p:sp>
        <p:nvSpPr>
          <p:cNvPr id="7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Key-value store: data storage system that uses a key to access values; examples are Redis, Riak, and DynamoDB</a:t>
            </a:r>
            <a:endParaRPr lang="en-US" sz="2800" b="0" strike="noStrike" spc="-1">
              <a:solidFill>
                <a:srgbClr val="000000"/>
              </a:solidFill>
              <a:latin typeface="Arial"/>
            </a:endParaRPr>
          </a:p>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Column store: sparse matrix system that uses a row and a column as keys; Apache HBase, Apache Cassandra</a:t>
            </a:r>
            <a:endParaRPr lang="en-US" sz="2800" b="0" strike="noStrike" spc="-1">
              <a:solidFill>
                <a:srgbClr val="000000"/>
              </a:solidFill>
              <a:latin typeface="Arial"/>
            </a:endParaRPr>
          </a:p>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Graph store: used for relationship-intensive problems; example is Neo4j</a:t>
            </a:r>
            <a:endParaRPr lang="en-US" sz="2800" b="0" strike="noStrike" spc="-1">
              <a:solidFill>
                <a:srgbClr val="000000"/>
              </a:solidFill>
              <a:latin typeface="Arial"/>
            </a:endParaRPr>
          </a:p>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Document store: used to store hierarchical data structures directly in database; example, MongoDB (10Gen), CouchDB, and Couchbase - use case: storing structured information</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EA70DEDE-6384-49F7-9267-FE121047FADD}" type="slidenum">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NoSQL</a:t>
            </a:r>
            <a:endParaRPr lang="en-US" sz="4400" b="0" strike="noStrike" spc="-1">
              <a:solidFill>
                <a:srgbClr val="000000"/>
              </a:solidFill>
              <a:latin typeface="Arial"/>
            </a:endParaRPr>
          </a:p>
        </p:txBody>
      </p:sp>
      <p:sp>
        <p:nvSpPr>
          <p:cNvPr id="7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provides a flexible data model</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distributed system, it can scale out horizontally without too many changes in application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provides high availability, since there are multiple servers and data are replicated across nodes</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188933AC-B938-4655-8640-740A201BA046}" type="slidenum">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a:t>
            </a:r>
            <a:endParaRPr lang="en-US" sz="4400" b="0" strike="noStrike" spc="-1">
              <a:solidFill>
                <a:srgbClr val="000000"/>
              </a:solidFill>
              <a:latin typeface="Arial"/>
            </a:endParaRPr>
          </a:p>
        </p:txBody>
      </p:sp>
      <p:sp>
        <p:nvSpPr>
          <p:cNvPr id="7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Schema less: don't need to worry about database schema when changing your application object - records can have different structures; there is no fixed schema</a:t>
            </a:r>
            <a:endParaRPr lang="en-US" sz="2800" b="0" strike="noStrike" spc="-1">
              <a:solidFill>
                <a:srgbClr val="000000"/>
              </a:solidFill>
              <a:latin typeface="Arial"/>
            </a:endParaRP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allows changes in data model for rapid application development </a:t>
            </a:r>
            <a:endParaRPr lang="en-US" sz="24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flexible data model with JSON support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32CD8CFB-B5CC-428A-8C11-B8589E338E97}" type="slidenum">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a:t>
            </a:r>
            <a:endParaRPr lang="en-US" sz="4400" b="0" strike="noStrike" spc="-1">
              <a:solidFill>
                <a:srgbClr val="000000"/>
              </a:solidFill>
              <a:latin typeface="Arial"/>
            </a:endParaRPr>
          </a:p>
        </p:txBody>
      </p:sp>
      <p:sp>
        <p:nvSpPr>
          <p:cNvPr id="7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JSON-based document structure: documents are natively stored as JSON; metadata of the data like types are stored along with data and normally all related information is stored together as single document; when build application, don't require explicit mapping of application objects with that of database schema</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Built in clustering with replication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Cache: by default, all documents are stored in RAM, and hence provide a built-in managed cache</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0A2483C6-2BDA-4856-9EE9-02A002D0CCDC}" type="slidenum">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a:t>
            </a:r>
            <a:endParaRPr lang="en-US" sz="4400" b="0" strike="noStrike" spc="-1">
              <a:solidFill>
                <a:srgbClr val="000000"/>
              </a:solidFill>
              <a:latin typeface="Arial"/>
            </a:endParaRPr>
          </a:p>
        </p:txBody>
      </p:sp>
      <p:sp>
        <p:nvSpPr>
          <p:cNvPr id="8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Web UI</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Varieties of SDK: Software development kits for languages, such as Java, PHP, Python, ..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Couchbase Cluster, there are several nodes, and all nodes are equal; the cluster works on concept of peer-to-peer; can easily scale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Auto-sharding is a feature of NoSQL databases that spreads documents across nodes in a cluster automatically; remains transparent to application that consumes data</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D5D85538-FA20-47BE-BFF7-6DD0436B0D60}" type="slidenum">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8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83" name="Picture 5"/>
          <p:cNvPicPr/>
          <p:nvPr/>
        </p:nvPicPr>
        <p:blipFill>
          <a:blip r:embed="rId2"/>
          <a:stretch/>
        </p:blipFill>
        <p:spPr>
          <a:xfrm>
            <a:off x="1828800" y="365040"/>
            <a:ext cx="7519320" cy="6252480"/>
          </a:xfrm>
          <a:prstGeom prst="rect">
            <a:avLst/>
          </a:prstGeom>
          <a:ln w="0">
            <a:noFill/>
          </a:ln>
        </p:spPr>
      </p:pic>
      <p:sp>
        <p:nvSpPr>
          <p:cNvPr id="4" name="PlaceHolder 3"/>
          <p:cNvSpPr>
            <a:spLocks noGrp="1"/>
          </p:cNvSpPr>
          <p:nvPr>
            <p:ph type="sldNum" idx="11"/>
          </p:nvPr>
        </p:nvSpPr>
        <p:spPr/>
        <p:txBody>
          <a:bodyPr/>
          <a:lstStyle/>
          <a:p>
            <a:fld id="{7D805262-40D8-4C9E-9996-7DFD8CC7F8C6}" type="slidenum">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strike="noStrike" spc="-1">
                <a:solidFill>
                  <a:schemeClr val="dk1"/>
                </a:solidFill>
                <a:latin typeface="Aptos Display"/>
              </a:rPr>
              <a:t>Concepts</a:t>
            </a:r>
            <a:endParaRPr lang="en-US" sz="6000" b="0" strike="noStrike" spc="-1">
              <a:solidFill>
                <a:srgbClr val="000000"/>
              </a:solidFill>
              <a:latin typeface="Arial"/>
            </a:endParaRPr>
          </a:p>
        </p:txBody>
      </p:sp>
      <p:sp>
        <p:nvSpPr>
          <p:cNvPr id="85" name="PlaceHolder 2"/>
          <p:cNvSpPr>
            <a:spLocks noGrp="1"/>
          </p:cNvSpPr>
          <p:nvPr>
            <p:ph/>
          </p:nvPr>
        </p:nvSpPr>
        <p:spPr>
          <a:xfrm>
            <a:off x="831960" y="4589640"/>
            <a:ext cx="10514520" cy="14990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strike="noStrike" spc="-1">
                <a:solidFill>
                  <a:schemeClr val="dk1">
                    <a:tint val="82000"/>
                  </a:schemeClr>
                </a:solidFill>
                <a:latin typeface="Aptos"/>
              </a:rPr>
              <a:t>Couchbase concepts</a:t>
            </a:r>
            <a:endParaRPr lang="en-US" sz="2400" b="0" strike="noStrike" spc="-1">
              <a:solidFill>
                <a:srgbClr val="000000"/>
              </a:solidFill>
              <a:latin typeface="Arial"/>
            </a:endParaRPr>
          </a:p>
        </p:txBody>
      </p:sp>
      <p:sp>
        <p:nvSpPr>
          <p:cNvPr id="4" name="PlaceHolder 3"/>
          <p:cNvSpPr>
            <a:spLocks noGrp="1"/>
          </p:cNvSpPr>
          <p:nvPr>
            <p:ph type="sldNum" idx="14"/>
          </p:nvPr>
        </p:nvSpPr>
        <p:spPr/>
        <p:txBody>
          <a:bodyPr/>
          <a:lstStyle/>
          <a:p>
            <a:fld id="{16B82044-951B-46A0-B2D4-617981B1BF5F}" type="slidenum">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Buckets</a:t>
            </a:r>
            <a:endParaRPr lang="en-US" sz="4400" b="0" strike="noStrike" spc="-1">
              <a:solidFill>
                <a:srgbClr val="000000"/>
              </a:solidFill>
              <a:latin typeface="Arial"/>
            </a:endParaRPr>
          </a:p>
        </p:txBody>
      </p:sp>
      <p:sp>
        <p:nvSpPr>
          <p:cNvPr id="87"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 RDBMS, usually encapsulate all relevant data for particular application in a database namespace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called a bucket in Couchbase terminology</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independent virtual container that groups documents logically; equivalent to a database namespace in RDBMS; can be accessed by various clients in application</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CF68C919-3FF7-4C8A-B7E9-013CEB0BB935}" type="slidenum">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Views</a:t>
            </a:r>
            <a:endParaRPr lang="en-US" sz="4400" b="0" strike="noStrike" spc="-1">
              <a:solidFill>
                <a:srgbClr val="000000"/>
              </a:solidFill>
              <a:latin typeface="Arial"/>
            </a:endParaRPr>
          </a:p>
        </p:txBody>
      </p:sp>
      <p:sp>
        <p:nvSpPr>
          <p:cNvPr id="8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fontScale="93333"/>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enable indexing and querying by looking inside JSON documents for a key, for ranges of keys, or to aggregate data</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created using incremental MapReduce, which powers indexing</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enable us to define materialized views on JSON documents and then query across the dataset - materialized view is a database object that contains result of MapReduce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can define primary, simple secondary, complex secondary, tertiary, and composite indexes, as well as aggregations (reduction)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developed using MapReduce technology</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MapReduce functions are written in JavaScript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D3A827E6-ACD1-4DD2-A606-C214FE82D3D6}" type="slidenum">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91" name="PlaceHolder 2"/>
          <p:cNvSpPr>
            <a:spLocks noGrp="1"/>
          </p:cNvSpPr>
          <p:nvPr>
            <p:ph/>
          </p:nvPr>
        </p:nvSpPr>
        <p:spPr>
          <a:xfrm>
            <a:off x="838080" y="1500840"/>
            <a:ext cx="10514520" cy="4674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Installation on Linux, MacOS,  Windows environments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download </a:t>
            </a:r>
            <a:r>
              <a:rPr lang="en-US" sz="2800" b="0" i="1" strike="noStrike" spc="-1">
                <a:solidFill>
                  <a:schemeClr val="dk1"/>
                </a:solidFill>
                <a:latin typeface="Aptos"/>
              </a:rPr>
              <a:t>couchbase-server-community_8.0.0-windows_amd64</a:t>
            </a:r>
            <a:r>
              <a:rPr lang="en-US" sz="2800" b="0" strike="noStrike" spc="-1">
                <a:solidFill>
                  <a:schemeClr val="dk1"/>
                </a:solidFill>
                <a:latin typeface="Aptos"/>
              </a:rPr>
              <a:t> software from </a:t>
            </a:r>
            <a:r>
              <a:rPr lang="en-US" sz="2800" b="0" u="sng" strike="noStrike" spc="-1">
                <a:solidFill>
                  <a:schemeClr val="dk1"/>
                </a:solidFill>
                <a:uFillTx/>
                <a:latin typeface="Aptos"/>
                <a:hlinkClick r:id="rId2"/>
              </a:rPr>
              <a:t>www.couchbase.com</a:t>
            </a:r>
            <a:endParaRPr lang="en-US" sz="2800" b="0" strike="noStrike" spc="-1">
              <a:solidFill>
                <a:srgbClr val="000000"/>
              </a:solidFill>
              <a:latin typeface="Arial"/>
            </a:endParaRPr>
          </a:p>
        </p:txBody>
      </p:sp>
      <p:pic>
        <p:nvPicPr>
          <p:cNvPr id="92" name="Picture 5"/>
          <p:cNvPicPr/>
          <p:nvPr/>
        </p:nvPicPr>
        <p:blipFill>
          <a:blip r:embed="rId3"/>
          <a:stretch/>
        </p:blipFill>
        <p:spPr>
          <a:xfrm>
            <a:off x="6766560" y="2468880"/>
            <a:ext cx="5041440" cy="3848040"/>
          </a:xfrm>
          <a:prstGeom prst="rect">
            <a:avLst/>
          </a:prstGeom>
          <a:ln w="0">
            <a:noFill/>
          </a:ln>
        </p:spPr>
      </p:pic>
      <p:sp>
        <p:nvSpPr>
          <p:cNvPr id="4" name="PlaceHolder 3"/>
          <p:cNvSpPr>
            <a:spLocks noGrp="1"/>
          </p:cNvSpPr>
          <p:nvPr>
            <p:ph type="sldNum" idx="11"/>
          </p:nvPr>
        </p:nvSpPr>
        <p:spPr/>
        <p:txBody>
          <a:bodyPr/>
          <a:lstStyle/>
          <a:p>
            <a:fld id="{AC5D934E-C207-4764-BBCA-B381BB75A891}" type="slidenum">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94" name="PlaceHolder 2"/>
          <p:cNvSpPr>
            <a:spLocks noGrp="1"/>
          </p:cNvSpPr>
          <p:nvPr>
            <p:ph/>
          </p:nvPr>
        </p:nvSpPr>
        <p:spPr>
          <a:xfrm>
            <a:off x="838080" y="1825560"/>
            <a:ext cx="109890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need to change some settings before you can use Couchbase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can access the admin console with </a:t>
            </a:r>
            <a:r>
              <a:rPr lang="en-US" sz="2800" b="0" u="sng" strike="noStrike" spc="-1">
                <a:solidFill>
                  <a:schemeClr val="dk1"/>
                </a:solidFill>
                <a:uFillTx/>
                <a:latin typeface="Aptos"/>
                <a:hlinkClick r:id="rId2"/>
              </a:rPr>
              <a:t>http://localhost:8091/index.html</a:t>
            </a:r>
            <a:r>
              <a:rPr lang="en-US" sz="2800" b="0" strike="noStrike" spc="-1">
                <a:solidFill>
                  <a:schemeClr val="dk1"/>
                </a:solidFill>
                <a:latin typeface="Aptos"/>
              </a:rPr>
              <a:t>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default port is 8091; can change this if required</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0EC47E5F-37CC-4B18-9B40-F5919C2B8528}" type="slidenum">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96" name="Content Placeholder 5"/>
          <p:cNvPicPr/>
          <p:nvPr/>
        </p:nvPicPr>
        <p:blipFill>
          <a:blip r:embed="rId2"/>
          <a:stretch/>
        </p:blipFill>
        <p:spPr>
          <a:xfrm>
            <a:off x="822960" y="182880"/>
            <a:ext cx="10225800" cy="6580080"/>
          </a:xfrm>
          <a:prstGeom prst="rect">
            <a:avLst/>
          </a:prstGeom>
          <a:ln w="0">
            <a:noFill/>
          </a:ln>
        </p:spPr>
      </p:pic>
      <p:sp>
        <p:nvSpPr>
          <p:cNvPr id="3" name="PlaceHolder 2"/>
          <p:cNvSpPr>
            <a:spLocks noGrp="1"/>
          </p:cNvSpPr>
          <p:nvPr>
            <p:ph type="sldNum" idx="11"/>
          </p:nvPr>
        </p:nvSpPr>
        <p:spPr/>
        <p:txBody>
          <a:bodyPr/>
          <a:lstStyle/>
          <a:p>
            <a:fld id="{897595CD-A2B3-4A8C-9FF8-0CDAA24B7DAC}" type="slidenum">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9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99" name="Picture 5"/>
          <p:cNvPicPr/>
          <p:nvPr/>
        </p:nvPicPr>
        <p:blipFill>
          <a:blip r:embed="rId2"/>
          <a:stretch/>
        </p:blipFill>
        <p:spPr>
          <a:xfrm>
            <a:off x="838080" y="365040"/>
            <a:ext cx="5150520" cy="3588120"/>
          </a:xfrm>
          <a:prstGeom prst="rect">
            <a:avLst/>
          </a:prstGeom>
          <a:ln w="0">
            <a:noFill/>
          </a:ln>
        </p:spPr>
      </p:pic>
      <p:pic>
        <p:nvPicPr>
          <p:cNvPr id="100" name="Picture 7"/>
          <p:cNvPicPr/>
          <p:nvPr/>
        </p:nvPicPr>
        <p:blipFill>
          <a:blip r:embed="rId3"/>
          <a:stretch/>
        </p:blipFill>
        <p:spPr>
          <a:xfrm>
            <a:off x="6319800" y="187200"/>
            <a:ext cx="5142960" cy="5988600"/>
          </a:xfrm>
          <a:prstGeom prst="rect">
            <a:avLst/>
          </a:prstGeom>
          <a:ln w="0">
            <a:noFill/>
          </a:ln>
        </p:spPr>
      </p:pic>
      <p:sp>
        <p:nvSpPr>
          <p:cNvPr id="4" name="PlaceHolder 3"/>
          <p:cNvSpPr>
            <a:spLocks noGrp="1"/>
          </p:cNvSpPr>
          <p:nvPr>
            <p:ph type="sldNum" idx="11"/>
          </p:nvPr>
        </p:nvSpPr>
        <p:spPr/>
        <p:txBody>
          <a:bodyPr/>
          <a:lstStyle/>
          <a:p>
            <a:fld id="{96630F30-E68B-41E8-8343-FCD58B8D8BD1}" type="slidenum">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0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03" name="Picture 5"/>
          <p:cNvPicPr/>
          <p:nvPr/>
        </p:nvPicPr>
        <p:blipFill>
          <a:blip r:embed="rId2"/>
          <a:stretch/>
        </p:blipFill>
        <p:spPr>
          <a:xfrm>
            <a:off x="0" y="771120"/>
            <a:ext cx="12191040" cy="5315040"/>
          </a:xfrm>
          <a:prstGeom prst="rect">
            <a:avLst/>
          </a:prstGeom>
          <a:ln w="0">
            <a:noFill/>
          </a:ln>
        </p:spPr>
      </p:pic>
      <p:sp>
        <p:nvSpPr>
          <p:cNvPr id="4" name="PlaceHolder 3"/>
          <p:cNvSpPr>
            <a:spLocks noGrp="1"/>
          </p:cNvSpPr>
          <p:nvPr>
            <p:ph type="sldNum" idx="11"/>
          </p:nvPr>
        </p:nvSpPr>
        <p:spPr/>
        <p:txBody>
          <a:bodyPr/>
          <a:lstStyle/>
          <a:p>
            <a:fld id="{C2263A34-1DA7-4FFF-9AE4-90004AEA875E}" type="slidenum">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05"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You have no data buckets. Go to </a:t>
            </a:r>
            <a:r>
              <a:rPr lang="en-US" sz="2800" b="0" u="sng" strike="noStrike" spc="-1">
                <a:solidFill>
                  <a:schemeClr val="dk1"/>
                </a:solidFill>
                <a:uFillTx/>
                <a:latin typeface="Aptos"/>
                <a:hlinkClick r:id="rId2"/>
              </a:rPr>
              <a:t>Buckets</a:t>
            </a:r>
            <a:r>
              <a:rPr lang="en-US" sz="2800" b="0" strike="noStrike" spc="-1">
                <a:solidFill>
                  <a:schemeClr val="dk1"/>
                </a:solidFill>
                <a:latin typeface="Aptos"/>
              </a:rPr>
              <a:t> to add one, or load a sample bucket with data &amp; indexes from Settings &gt; </a:t>
            </a:r>
            <a:r>
              <a:rPr lang="en-US" sz="2800" b="0" u="sng" strike="noStrike" spc="-1">
                <a:solidFill>
                  <a:schemeClr val="dk1"/>
                </a:solidFill>
                <a:uFillTx/>
                <a:latin typeface="Aptos"/>
                <a:hlinkClick r:id="rId3"/>
              </a:rPr>
              <a:t>Sample Buckets</a:t>
            </a:r>
            <a:r>
              <a:rPr lang="en-US" sz="2800" b="0" strike="noStrike" spc="-1">
                <a:solidFill>
                  <a:schemeClr val="dk1"/>
                </a:solidFill>
                <a:latin typeface="Aptos"/>
              </a:rPr>
              <a:t>.</a:t>
            </a:r>
            <a:endParaRPr lang="en-US" sz="2800" b="0" strike="noStrike" spc="-1">
              <a:solidFill>
                <a:srgbClr val="000000"/>
              </a:solidFill>
              <a:latin typeface="Arial"/>
            </a:endParaRPr>
          </a:p>
        </p:txBody>
      </p:sp>
      <p:pic>
        <p:nvPicPr>
          <p:cNvPr id="106" name="Picture 5"/>
          <p:cNvPicPr/>
          <p:nvPr/>
        </p:nvPicPr>
        <p:blipFill>
          <a:blip r:embed="rId4"/>
          <a:stretch/>
        </p:blipFill>
        <p:spPr>
          <a:xfrm>
            <a:off x="914400" y="640080"/>
            <a:ext cx="10680120" cy="652320"/>
          </a:xfrm>
          <a:prstGeom prst="rect">
            <a:avLst/>
          </a:prstGeom>
          <a:ln w="0">
            <a:noFill/>
          </a:ln>
        </p:spPr>
      </p:pic>
      <p:pic>
        <p:nvPicPr>
          <p:cNvPr id="107" name="Picture 7"/>
          <p:cNvPicPr/>
          <p:nvPr/>
        </p:nvPicPr>
        <p:blipFill>
          <a:blip r:embed="rId5"/>
          <a:stretch/>
        </p:blipFill>
        <p:spPr>
          <a:xfrm>
            <a:off x="2651760" y="2651760"/>
            <a:ext cx="8430480" cy="3785040"/>
          </a:xfrm>
          <a:prstGeom prst="rect">
            <a:avLst/>
          </a:prstGeom>
          <a:ln w="0">
            <a:noFill/>
          </a:ln>
        </p:spPr>
      </p:pic>
      <p:sp>
        <p:nvSpPr>
          <p:cNvPr id="4" name="PlaceHolder 3"/>
          <p:cNvSpPr>
            <a:spLocks noGrp="1"/>
          </p:cNvSpPr>
          <p:nvPr>
            <p:ph type="sldNum" idx="11"/>
          </p:nvPr>
        </p:nvSpPr>
        <p:spPr/>
        <p:txBody>
          <a:bodyPr/>
          <a:lstStyle/>
          <a:p>
            <a:fld id="{8D5B5C55-171D-43C6-813D-25FA3C9A737A}" type="slidenum">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09" name="Content Placeholder 5"/>
          <p:cNvPicPr/>
          <p:nvPr/>
        </p:nvPicPr>
        <p:blipFill>
          <a:blip r:embed="rId2"/>
          <a:stretch/>
        </p:blipFill>
        <p:spPr>
          <a:xfrm>
            <a:off x="822960" y="182880"/>
            <a:ext cx="10849320" cy="6464160"/>
          </a:xfrm>
          <a:prstGeom prst="rect">
            <a:avLst/>
          </a:prstGeom>
          <a:ln w="0">
            <a:noFill/>
          </a:ln>
        </p:spPr>
      </p:pic>
      <p:sp>
        <p:nvSpPr>
          <p:cNvPr id="3" name="PlaceHolder 2"/>
          <p:cNvSpPr>
            <a:spLocks noGrp="1"/>
          </p:cNvSpPr>
          <p:nvPr>
            <p:ph type="sldNum" idx="11"/>
          </p:nvPr>
        </p:nvSpPr>
        <p:spPr/>
        <p:txBody>
          <a:bodyPr/>
          <a:lstStyle/>
          <a:p>
            <a:fld id="{92D968F9-70B6-4974-BF2B-5B3ACA804911}" type="slidenum">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Buckets</a:t>
            </a:r>
            <a:endParaRPr lang="en-US" sz="4400" b="0" strike="noStrike" spc="-1">
              <a:solidFill>
                <a:srgbClr val="000000"/>
              </a:solidFill>
              <a:latin typeface="Arial"/>
            </a:endParaRPr>
          </a:p>
        </p:txBody>
      </p:sp>
      <p:pic>
        <p:nvPicPr>
          <p:cNvPr id="111" name="Content Placeholder 5"/>
          <p:cNvPicPr/>
          <p:nvPr/>
        </p:nvPicPr>
        <p:blipFill>
          <a:blip r:embed="rId2"/>
          <a:stretch/>
        </p:blipFill>
        <p:spPr>
          <a:xfrm>
            <a:off x="838080" y="2868120"/>
            <a:ext cx="10514520" cy="2265120"/>
          </a:xfrm>
          <a:prstGeom prst="rect">
            <a:avLst/>
          </a:prstGeom>
          <a:ln w="0">
            <a:noFill/>
          </a:ln>
        </p:spPr>
      </p:pic>
      <p:sp>
        <p:nvSpPr>
          <p:cNvPr id="3" name="PlaceHolder 2"/>
          <p:cNvSpPr>
            <a:spLocks noGrp="1"/>
          </p:cNvSpPr>
          <p:nvPr>
            <p:ph type="sldNum" idx="11"/>
          </p:nvPr>
        </p:nvSpPr>
        <p:spPr/>
        <p:txBody>
          <a:bodyPr/>
          <a:lstStyle/>
          <a:p>
            <a:fld id="{B2769AC1-978B-42DA-AF28-37CB00857D6E}" type="slidenum">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Documents</a:t>
            </a:r>
            <a:endParaRPr lang="en-US" sz="4400" b="0" strike="noStrike" spc="-1">
              <a:solidFill>
                <a:srgbClr val="000000"/>
              </a:solidFill>
              <a:latin typeface="Arial"/>
            </a:endParaRPr>
          </a:p>
        </p:txBody>
      </p:sp>
      <p:pic>
        <p:nvPicPr>
          <p:cNvPr id="113" name="Content Placeholder 5"/>
          <p:cNvPicPr/>
          <p:nvPr/>
        </p:nvPicPr>
        <p:blipFill>
          <a:blip r:embed="rId2"/>
          <a:stretch/>
        </p:blipFill>
        <p:spPr>
          <a:xfrm>
            <a:off x="838080" y="1903680"/>
            <a:ext cx="10514520" cy="4194000"/>
          </a:xfrm>
          <a:prstGeom prst="rect">
            <a:avLst/>
          </a:prstGeom>
          <a:ln w="0">
            <a:noFill/>
          </a:ln>
        </p:spPr>
      </p:pic>
      <p:sp>
        <p:nvSpPr>
          <p:cNvPr id="3" name="PlaceHolder 2"/>
          <p:cNvSpPr>
            <a:spLocks noGrp="1"/>
          </p:cNvSpPr>
          <p:nvPr>
            <p:ph type="sldNum" idx="11"/>
          </p:nvPr>
        </p:nvSpPr>
        <p:spPr/>
        <p:txBody>
          <a:bodyPr/>
          <a:lstStyle/>
          <a:p>
            <a:fld id="{F24C612C-09AF-4870-95E4-750B33F24A02}" type="slidenum">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15"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16" name="Picture 5"/>
          <p:cNvPicPr/>
          <p:nvPr/>
        </p:nvPicPr>
        <p:blipFill>
          <a:blip r:embed="rId2"/>
          <a:stretch/>
        </p:blipFill>
        <p:spPr>
          <a:xfrm>
            <a:off x="3657600" y="2468880"/>
            <a:ext cx="7929360" cy="3842280"/>
          </a:xfrm>
          <a:prstGeom prst="rect">
            <a:avLst/>
          </a:prstGeom>
          <a:ln w="0">
            <a:noFill/>
          </a:ln>
        </p:spPr>
      </p:pic>
      <p:pic>
        <p:nvPicPr>
          <p:cNvPr id="117" name="Picture 7"/>
          <p:cNvPicPr/>
          <p:nvPr/>
        </p:nvPicPr>
        <p:blipFill>
          <a:blip r:embed="rId3"/>
          <a:stretch/>
        </p:blipFill>
        <p:spPr>
          <a:xfrm>
            <a:off x="640080" y="457200"/>
            <a:ext cx="11265480" cy="924480"/>
          </a:xfrm>
          <a:prstGeom prst="rect">
            <a:avLst/>
          </a:prstGeom>
          <a:ln w="0">
            <a:noFill/>
          </a:ln>
        </p:spPr>
      </p:pic>
      <p:sp>
        <p:nvSpPr>
          <p:cNvPr id="4" name="PlaceHolder 3"/>
          <p:cNvSpPr>
            <a:spLocks noGrp="1"/>
          </p:cNvSpPr>
          <p:nvPr>
            <p:ph type="sldNum" idx="11"/>
          </p:nvPr>
        </p:nvSpPr>
        <p:spPr/>
        <p:txBody>
          <a:bodyPr/>
          <a:lstStyle/>
          <a:p>
            <a:fld id="{288E04C7-0837-4F40-AA19-DC1AAA0CA9DB}" type="slidenum">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1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20" name="Picture 5"/>
          <p:cNvPicPr/>
          <p:nvPr/>
        </p:nvPicPr>
        <p:blipFill>
          <a:blip r:embed="rId2"/>
          <a:stretch/>
        </p:blipFill>
        <p:spPr>
          <a:xfrm>
            <a:off x="0" y="1629360"/>
            <a:ext cx="12191040" cy="3598560"/>
          </a:xfrm>
          <a:prstGeom prst="rect">
            <a:avLst/>
          </a:prstGeom>
          <a:ln w="0">
            <a:noFill/>
          </a:ln>
        </p:spPr>
      </p:pic>
      <p:sp>
        <p:nvSpPr>
          <p:cNvPr id="4" name="PlaceHolder 3"/>
          <p:cNvSpPr>
            <a:spLocks noGrp="1"/>
          </p:cNvSpPr>
          <p:nvPr>
            <p:ph type="sldNum" idx="11"/>
          </p:nvPr>
        </p:nvSpPr>
        <p:spPr/>
        <p:txBody>
          <a:bodyPr/>
          <a:lstStyle/>
          <a:p>
            <a:fld id="{CF1F5425-6B97-40E8-9592-E9EBA66040A4}" type="slidenum">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22" name="Content Placeholder 5"/>
          <p:cNvPicPr/>
          <p:nvPr/>
        </p:nvPicPr>
        <p:blipFill>
          <a:blip r:embed="rId2"/>
          <a:stretch/>
        </p:blipFill>
        <p:spPr>
          <a:xfrm>
            <a:off x="838080" y="2516040"/>
            <a:ext cx="10514520" cy="2969280"/>
          </a:xfrm>
          <a:prstGeom prst="rect">
            <a:avLst/>
          </a:prstGeom>
          <a:ln w="0">
            <a:noFill/>
          </a:ln>
        </p:spPr>
      </p:pic>
      <p:sp>
        <p:nvSpPr>
          <p:cNvPr id="3" name="PlaceHolder 2"/>
          <p:cNvSpPr>
            <a:spLocks noGrp="1"/>
          </p:cNvSpPr>
          <p:nvPr>
            <p:ph type="sldNum" idx="11"/>
          </p:nvPr>
        </p:nvSpPr>
        <p:spPr/>
        <p:txBody>
          <a:bodyPr/>
          <a:lstStyle/>
          <a:p>
            <a:fld id="{CB15DF70-2BCF-45F8-9184-68EFF9A70B00}" type="slidenum">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4800" b="1" strike="noStrike" spc="-1">
                <a:solidFill>
                  <a:schemeClr val="dk1"/>
                </a:solidFill>
                <a:latin typeface="Aptos Display"/>
              </a:rPr>
              <a:t>Buckets</a:t>
            </a:r>
            <a:endParaRPr lang="en-US" sz="4800" b="0" strike="noStrike" spc="-1">
              <a:solidFill>
                <a:srgbClr val="000000"/>
              </a:solidFill>
              <a:latin typeface="Arial"/>
            </a:endParaRPr>
          </a:p>
        </p:txBody>
      </p:sp>
      <p:sp>
        <p:nvSpPr>
          <p:cNvPr id="12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fontScale="93333"/>
          </a:bodyPr>
          <a:lstStyle/>
          <a:p>
            <a:pPr marL="228600" indent="-228600" defTabSz="914400">
              <a:lnSpc>
                <a:spcPct val="90000"/>
              </a:lnSpc>
              <a:spcBef>
                <a:spcPts val="1001"/>
              </a:spcBef>
              <a:buClr>
                <a:srgbClr val="000000"/>
              </a:buClr>
              <a:buFont typeface="Arial"/>
              <a:buChar char="•"/>
            </a:pPr>
            <a:r>
              <a:rPr lang="en-US" sz="2600" b="0" strike="noStrike" spc="-1">
                <a:solidFill>
                  <a:schemeClr val="dk1"/>
                </a:solidFill>
                <a:latin typeface="Aptos"/>
              </a:rPr>
              <a:t>can store anything in it as we do in the physical world, hence the name</a:t>
            </a:r>
            <a:endParaRPr lang="en-US" sz="26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 Couchbase, namespace for storing data is called bucket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data container that stores data related to applications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partition application data depending on application's requirements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create one bucket for each application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 Couchbase, a bucket is the equivalence of a database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 Couchbase, all data or records, which are referred to as documents, are stored directly in a bucket</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DF53D75D-71B7-41A4-B1B0-73A1A7D86254}" type="slidenum">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2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can create a separate temporary bucket rather than a regular transaction bucket when you need temporary storage for ad hoc requirements, such as reporting, temporary workspace for application programming, …, so that you can flush out temporary bucket after use</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0027F946-23DE-4091-8495-EC4EAF6D996A}" type="slidenum">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Memcached buckets</a:t>
            </a:r>
            <a:endParaRPr lang="en-US" sz="4400" b="0" strike="noStrike" spc="-1">
              <a:solidFill>
                <a:srgbClr val="000000"/>
              </a:solidFill>
              <a:latin typeface="Arial"/>
            </a:endParaRPr>
          </a:p>
        </p:txBody>
      </p:sp>
      <p:sp>
        <p:nvSpPr>
          <p:cNvPr id="12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buckets of the Memcached type store documents in memory, RAM only; means that documents stored in Memcache bucket are volatile in nature</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C32E7E8D-FC8A-4E23-A003-BA8689574655}" type="slidenum">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Couchbase buckets</a:t>
            </a:r>
            <a:endParaRPr lang="en-US" sz="4400" b="0" strike="noStrike" spc="-1">
              <a:solidFill>
                <a:srgbClr val="000000"/>
              </a:solidFill>
              <a:latin typeface="Arial"/>
            </a:endParaRPr>
          </a:p>
        </p:txBody>
      </p:sp>
      <p:sp>
        <p:nvSpPr>
          <p:cNvPr id="13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Couchbase bucket type gives persistence to documents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distributed across a cluster of nodes and can configure replication, which is not supported in Memcached bucket type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highly available, since documents are replicated across nodes in a cluster</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9E1998DF-1A2B-4903-B2B8-331846C792F2}" type="slidenum">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3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33" name="Picture 5"/>
          <p:cNvPicPr/>
          <p:nvPr/>
        </p:nvPicPr>
        <p:blipFill>
          <a:blip r:embed="rId2"/>
          <a:stretch/>
        </p:blipFill>
        <p:spPr>
          <a:xfrm>
            <a:off x="0" y="365040"/>
            <a:ext cx="12191040" cy="2727720"/>
          </a:xfrm>
          <a:prstGeom prst="rect">
            <a:avLst/>
          </a:prstGeom>
          <a:ln w="0">
            <a:noFill/>
          </a:ln>
        </p:spPr>
      </p:pic>
      <p:pic>
        <p:nvPicPr>
          <p:cNvPr id="134" name="Picture 6"/>
          <p:cNvPicPr/>
          <p:nvPr/>
        </p:nvPicPr>
        <p:blipFill>
          <a:blip r:embed="rId3"/>
          <a:stretch/>
        </p:blipFill>
        <p:spPr>
          <a:xfrm>
            <a:off x="731520" y="3840480"/>
            <a:ext cx="10826280" cy="2057040"/>
          </a:xfrm>
          <a:prstGeom prst="rect">
            <a:avLst/>
          </a:prstGeom>
          <a:ln w="0">
            <a:noFill/>
          </a:ln>
        </p:spPr>
      </p:pic>
      <p:sp>
        <p:nvSpPr>
          <p:cNvPr id="4" name="PlaceHolder 3"/>
          <p:cNvSpPr>
            <a:spLocks noGrp="1"/>
          </p:cNvSpPr>
          <p:nvPr>
            <p:ph type="sldNum" idx="11"/>
          </p:nvPr>
        </p:nvSpPr>
        <p:spPr/>
        <p:txBody>
          <a:bodyPr/>
          <a:lstStyle/>
          <a:p>
            <a:fld id="{8C72F036-287D-46DB-BAE5-8FDEDC41A794}" type="slidenum">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4800" b="1" strike="noStrike" spc="-1">
                <a:solidFill>
                  <a:schemeClr val="dk1"/>
                </a:solidFill>
                <a:latin typeface="Aptos Display"/>
              </a:rPr>
              <a:t>Documents</a:t>
            </a:r>
            <a:endParaRPr lang="en-US" sz="4800" b="0" strike="noStrike" spc="-1">
              <a:solidFill>
                <a:srgbClr val="000000"/>
              </a:solidFill>
              <a:latin typeface="Arial"/>
            </a:endParaRPr>
          </a:p>
        </p:txBody>
      </p:sp>
      <p:sp>
        <p:nvSpPr>
          <p:cNvPr id="13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fontScale="96666"/>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document is a piece of information or data that gets stored in a bucket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smallest item that can be stored in a bucket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developer will always work on a bucket, in terms of documents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similar to a row in RDBMS table schema</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NoSQL databases, including Couchbase, don't require a fixed schema to store documents or data in a particular bucket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documents are represented in the form of JavaScript Object Notation JSON</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AA242490-38C4-4031-A068-3C0163D82AB1}" type="slidenum">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38" name="Content Placeholder 5"/>
          <p:cNvPicPr/>
          <p:nvPr/>
        </p:nvPicPr>
        <p:blipFill>
          <a:blip r:embed="rId2"/>
          <a:stretch/>
        </p:blipFill>
        <p:spPr>
          <a:xfrm>
            <a:off x="914400" y="365040"/>
            <a:ext cx="6825240" cy="6300720"/>
          </a:xfrm>
          <a:prstGeom prst="rect">
            <a:avLst/>
          </a:prstGeom>
          <a:ln w="0">
            <a:noFill/>
          </a:ln>
        </p:spPr>
      </p:pic>
      <p:sp>
        <p:nvSpPr>
          <p:cNvPr id="3" name="PlaceHolder 2"/>
          <p:cNvSpPr>
            <a:spLocks noGrp="1"/>
          </p:cNvSpPr>
          <p:nvPr>
            <p:ph type="sldNum" idx="11"/>
          </p:nvPr>
        </p:nvSpPr>
        <p:spPr/>
        <p:txBody>
          <a:bodyPr/>
          <a:lstStyle/>
          <a:p>
            <a:fld id="{3CDDC0CE-6241-4FC5-AF31-35917DA89DF8}" type="slidenum">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40" name="PlaceHolder 2"/>
          <p:cNvSpPr>
            <a:spLocks noGrp="1"/>
          </p:cNvSpPr>
          <p:nvPr>
            <p:ph/>
          </p:nvPr>
        </p:nvSpPr>
        <p:spPr>
          <a:xfrm>
            <a:off x="838080" y="1825560"/>
            <a:ext cx="1073340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preceding screenshot shows a document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represents a brewery and its document ID is 21st_amendment_brewery_cafe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ID is unique identifier that is assigned for each document in bucket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each document can have multiple properties/items along with its values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for example, name is property and 21</a:t>
            </a:r>
            <a:r>
              <a:rPr lang="en-US" sz="2800" b="0" strike="noStrike" spc="-1" baseline="30000">
                <a:solidFill>
                  <a:schemeClr val="dk1"/>
                </a:solidFill>
                <a:latin typeface="Aptos"/>
              </a:rPr>
              <a:t>st</a:t>
            </a:r>
            <a:r>
              <a:rPr lang="en-US" sz="2800" b="0" strike="noStrike" spc="-1">
                <a:solidFill>
                  <a:schemeClr val="dk1"/>
                </a:solidFill>
                <a:latin typeface="Aptos"/>
              </a:rPr>
              <a:t> Amendment Brewery Café is value </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1B86217F-B594-4A53-BB4E-82705B018EA6}" type="slidenum">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meta information</a:t>
            </a:r>
            <a:endParaRPr lang="en-US" sz="4400" b="0" strike="noStrike" spc="-1">
              <a:solidFill>
                <a:srgbClr val="000000"/>
              </a:solidFill>
              <a:latin typeface="Arial"/>
            </a:endParaRPr>
          </a:p>
        </p:txBody>
      </p:sp>
      <p:sp>
        <p:nvSpPr>
          <p:cNvPr id="14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indent="0">
              <a:spcBef>
                <a:spcPts val="1417"/>
              </a:spcBef>
              <a:buNone/>
            </a:pPr>
            <a:endParaRPr lang="en-US" sz="1800" b="0" strike="noStrike" spc="-1">
              <a:solidFill>
                <a:srgbClr val="000000"/>
              </a:solidFill>
              <a:latin typeface="Arial"/>
            </a:endParaRPr>
          </a:p>
        </p:txBody>
      </p:sp>
      <p:pic>
        <p:nvPicPr>
          <p:cNvPr id="143" name="Picture 5"/>
          <p:cNvPicPr/>
          <p:nvPr/>
        </p:nvPicPr>
        <p:blipFill>
          <a:blip r:embed="rId2"/>
          <a:stretch/>
        </p:blipFill>
        <p:spPr>
          <a:xfrm>
            <a:off x="2286000" y="2194560"/>
            <a:ext cx="6774480" cy="2688840"/>
          </a:xfrm>
          <a:prstGeom prst="rect">
            <a:avLst/>
          </a:prstGeom>
          <a:ln w="0">
            <a:noFill/>
          </a:ln>
        </p:spPr>
      </p:pic>
      <p:sp>
        <p:nvSpPr>
          <p:cNvPr id="4" name="PlaceHolder 3"/>
          <p:cNvSpPr>
            <a:spLocks noGrp="1"/>
          </p:cNvSpPr>
          <p:nvPr>
            <p:ph type="sldNum" idx="11"/>
          </p:nvPr>
        </p:nvSpPr>
        <p:spPr/>
        <p:txBody>
          <a:bodyPr/>
          <a:lstStyle/>
          <a:p>
            <a:fld id="{4DA186AC-B591-42C5-BFA9-AFA1195E8333}" type="slidenum">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45" name="PlaceHolder 2"/>
          <p:cNvSpPr>
            <a:spLocks noGrp="1"/>
          </p:cNvSpPr>
          <p:nvPr>
            <p:ph/>
          </p:nvPr>
        </p:nvSpPr>
        <p:spPr>
          <a:xfrm>
            <a:off x="838080" y="1406160"/>
            <a:ext cx="10792440" cy="4770000"/>
          </a:xfrm>
          <a:prstGeom prst="rect">
            <a:avLst/>
          </a:prstGeom>
          <a:noFill/>
          <a:ln w="0">
            <a:noFill/>
          </a:ln>
        </p:spPr>
        <p:txBody>
          <a:bodyPr lIns="91440" tIns="45720" rIns="91440" bIns="45720" anchor="t">
            <a:normAutofit fontScale="88611" lnSpcReduction="10000"/>
          </a:bodyPr>
          <a:lstStyle/>
          <a:p>
            <a:pPr marL="228600" indent="-228600" defTabSz="914400">
              <a:lnSpc>
                <a:spcPct val="90000"/>
              </a:lnSpc>
              <a:spcBef>
                <a:spcPts val="1001"/>
              </a:spcBef>
              <a:buClr>
                <a:srgbClr val="000000"/>
              </a:buClr>
              <a:buFont typeface="Arial"/>
              <a:buChar char="•"/>
            </a:pPr>
            <a:r>
              <a:rPr lang="en-US" sz="3000" b="0" i="1" strike="noStrike" spc="-1">
                <a:solidFill>
                  <a:schemeClr val="dk1"/>
                </a:solidFill>
                <a:latin typeface="Aptos"/>
              </a:rPr>
              <a:t>id</a:t>
            </a:r>
            <a:r>
              <a:rPr lang="en-US" sz="3000" b="0" strike="noStrike" spc="-1">
                <a:solidFill>
                  <a:schemeClr val="dk1"/>
                </a:solidFill>
                <a:latin typeface="Aptos"/>
              </a:rPr>
              <a:t>: document key is a unique identifier for a document; value of document key can be any string</a:t>
            </a:r>
            <a:endParaRPr lang="en-US" sz="30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3000" b="0" i="1" strike="noStrike" spc="-1">
                <a:solidFill>
                  <a:schemeClr val="dk1"/>
                </a:solidFill>
                <a:latin typeface="Aptos"/>
              </a:rPr>
              <a:t>rev</a:t>
            </a:r>
            <a:r>
              <a:rPr lang="en-US" sz="3000" b="0" strike="noStrike" spc="-1">
                <a:solidFill>
                  <a:schemeClr val="dk1"/>
                </a:solidFill>
                <a:latin typeface="Aptos"/>
              </a:rPr>
              <a:t>: internal revision ID meant for internal use by Couchbase; it should not be used in application</a:t>
            </a:r>
            <a:endParaRPr lang="en-US" sz="30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3000" b="0" strike="noStrike" spc="-1">
                <a:solidFill>
                  <a:schemeClr val="dk1"/>
                </a:solidFill>
                <a:latin typeface="Aptos"/>
              </a:rPr>
              <a:t>expiration: if you want your document to expire after certain amount of time, you can set that value; by default, it is 0; that is, the document never expires</a:t>
            </a:r>
            <a:endParaRPr lang="en-US" sz="30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3000" b="0" i="1" strike="noStrike" spc="-1">
                <a:solidFill>
                  <a:schemeClr val="dk1"/>
                </a:solidFill>
                <a:latin typeface="Aptos"/>
              </a:rPr>
              <a:t>flags</a:t>
            </a:r>
            <a:r>
              <a:rPr lang="en-US" sz="3000" b="0" strike="noStrike" spc="-1">
                <a:solidFill>
                  <a:schemeClr val="dk1"/>
                </a:solidFill>
                <a:latin typeface="Aptos"/>
              </a:rPr>
              <a:t>: numerical values specific to client library that is updated when document is stored</a:t>
            </a:r>
            <a:endParaRPr lang="en-US" sz="30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3000" b="0" i="1" strike="noStrike" spc="-1">
                <a:solidFill>
                  <a:schemeClr val="dk1"/>
                </a:solidFill>
                <a:latin typeface="Aptos"/>
              </a:rPr>
              <a:t>type</a:t>
            </a:r>
            <a:r>
              <a:rPr lang="en-US" sz="3000" b="0" strike="noStrike" spc="-1">
                <a:solidFill>
                  <a:schemeClr val="dk1"/>
                </a:solidFill>
                <a:latin typeface="Aptos"/>
              </a:rPr>
              <a:t>:</a:t>
            </a:r>
            <a:endParaRPr lang="en-US" sz="3000" b="0" strike="noStrike" spc="-1">
              <a:solidFill>
                <a:srgbClr val="000000"/>
              </a:solidFill>
              <a:latin typeface="Arial"/>
            </a:endParaRPr>
          </a:p>
          <a:p>
            <a:pPr marL="685800" lvl="1" indent="-228600" defTabSz="914400">
              <a:lnSpc>
                <a:spcPct val="90000"/>
              </a:lnSpc>
              <a:spcBef>
                <a:spcPts val="499"/>
              </a:spcBef>
              <a:buClr>
                <a:srgbClr val="000000"/>
              </a:buClr>
              <a:buFont typeface="Arial"/>
              <a:buChar char="•"/>
            </a:pPr>
            <a:r>
              <a:rPr lang="en-US" sz="2900" b="0" strike="noStrike" spc="-1">
                <a:solidFill>
                  <a:schemeClr val="dk1"/>
                </a:solidFill>
                <a:latin typeface="Aptos"/>
              </a:rPr>
              <a:t>JSON format: whenever you require a valid form of JSON format</a:t>
            </a:r>
            <a:endParaRPr lang="en-US" sz="2900" b="0" strike="noStrike" spc="-1">
              <a:solidFill>
                <a:srgbClr val="000000"/>
              </a:solidFill>
              <a:latin typeface="Arial"/>
            </a:endParaRPr>
          </a:p>
          <a:p>
            <a:pPr marL="685800" lvl="1" indent="-228600" defTabSz="914400">
              <a:lnSpc>
                <a:spcPct val="90000"/>
              </a:lnSpc>
              <a:spcBef>
                <a:spcPts val="499"/>
              </a:spcBef>
              <a:buClr>
                <a:srgbClr val="000000"/>
              </a:buClr>
              <a:buFont typeface="Arial"/>
              <a:buChar char="•"/>
            </a:pPr>
            <a:r>
              <a:rPr lang="en-US" sz="2900" b="0" strike="noStrike" spc="-1">
                <a:solidFill>
                  <a:schemeClr val="dk1"/>
                </a:solidFill>
                <a:latin typeface="Aptos"/>
              </a:rPr>
              <a:t>Binary data: whenever you require any data format other than JSON</a:t>
            </a:r>
            <a:endParaRPr lang="en-US" sz="2900" b="0" strike="noStrike" spc="-1">
              <a:solidFill>
                <a:srgbClr val="000000"/>
              </a:solidFill>
              <a:latin typeface="Arial"/>
            </a:endParaRPr>
          </a:p>
        </p:txBody>
      </p:sp>
      <p:sp>
        <p:nvSpPr>
          <p:cNvPr id="4" name="PlaceHolder 3"/>
          <p:cNvSpPr>
            <a:spLocks noGrp="1"/>
          </p:cNvSpPr>
          <p:nvPr>
            <p:ph type="sldNum" idx="11"/>
          </p:nvPr>
        </p:nvSpPr>
        <p:spPr/>
        <p:txBody>
          <a:bodyPr/>
          <a:lstStyle/>
          <a:p>
            <a:fld id="{8913AEC2-F4A9-40DF-9AB2-F26364A49F63}" type="slidenum">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800" b="0" strike="noStrike" spc="-1">
                <a:solidFill>
                  <a:schemeClr val="dk1"/>
                </a:solidFill>
                <a:latin typeface="Aptos Display"/>
              </a:rPr>
              <a:t>C</a:t>
            </a:r>
            <a:r>
              <a:rPr lang="en-US" sz="4400" b="0" strike="noStrike" spc="-1">
                <a:solidFill>
                  <a:schemeClr val="dk1"/>
                </a:solidFill>
                <a:latin typeface="Aptos Display"/>
              </a:rPr>
              <a:t>reate</a:t>
            </a:r>
            <a:endParaRPr lang="en-US" sz="4400" b="0" strike="noStrike" spc="-1">
              <a:solidFill>
                <a:srgbClr val="000000"/>
              </a:solidFill>
              <a:latin typeface="Arial"/>
            </a:endParaRPr>
          </a:p>
        </p:txBody>
      </p:sp>
      <p:sp>
        <p:nvSpPr>
          <p:cNvPr id="147"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MyCluster &gt; Buckets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Add Bucket</a:t>
            </a:r>
            <a:endParaRPr lang="en-US" sz="2800" b="0" strike="noStrike" spc="-1">
              <a:solidFill>
                <a:srgbClr val="000000"/>
              </a:solidFill>
              <a:latin typeface="Arial"/>
            </a:endParaRPr>
          </a:p>
        </p:txBody>
      </p:sp>
      <p:pic>
        <p:nvPicPr>
          <p:cNvPr id="148" name="Picture 5"/>
          <p:cNvPicPr/>
          <p:nvPr/>
        </p:nvPicPr>
        <p:blipFill>
          <a:blip r:embed="rId2"/>
          <a:stretch/>
        </p:blipFill>
        <p:spPr>
          <a:xfrm>
            <a:off x="91440" y="1463040"/>
            <a:ext cx="11950200" cy="1400760"/>
          </a:xfrm>
          <a:prstGeom prst="rect">
            <a:avLst/>
          </a:prstGeom>
          <a:ln w="0">
            <a:noFill/>
          </a:ln>
        </p:spPr>
      </p:pic>
      <p:pic>
        <p:nvPicPr>
          <p:cNvPr id="149" name="Picture 7" descr="A screenshot of a computer&#10;&#10;AI-generated content may be incorrect."/>
          <p:cNvPicPr/>
          <p:nvPr/>
        </p:nvPicPr>
        <p:blipFill>
          <a:blip r:embed="rId3"/>
          <a:stretch/>
        </p:blipFill>
        <p:spPr>
          <a:xfrm>
            <a:off x="6126480" y="2834640"/>
            <a:ext cx="4770000" cy="3930840"/>
          </a:xfrm>
          <a:prstGeom prst="rect">
            <a:avLst/>
          </a:prstGeom>
          <a:ln w="0">
            <a:noFill/>
          </a:ln>
        </p:spPr>
      </p:pic>
      <p:sp>
        <p:nvSpPr>
          <p:cNvPr id="4" name="PlaceHolder 3"/>
          <p:cNvSpPr>
            <a:spLocks noGrp="1"/>
          </p:cNvSpPr>
          <p:nvPr>
            <p:ph type="sldNum" idx="11"/>
          </p:nvPr>
        </p:nvSpPr>
        <p:spPr/>
        <p:txBody>
          <a:bodyPr/>
          <a:lstStyle/>
          <a:p>
            <a:fld id="{E59355BF-DD11-4B51-B2A5-F5EDD7DFEF77}" type="slidenum">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51"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Documents</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400" b="0" strike="noStrike" spc="-1">
                <a:solidFill>
                  <a:schemeClr val="dk1"/>
                </a:solidFill>
                <a:latin typeface="Aptos"/>
              </a:rPr>
              <a:t>select</a:t>
            </a:r>
            <a:endParaRPr lang="en-US" sz="24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Buckets</a:t>
            </a:r>
            <a:endParaRPr lang="en-US" sz="2800" b="0" strike="noStrike" spc="-1">
              <a:solidFill>
                <a:srgbClr val="000000"/>
              </a:solidFill>
              <a:latin typeface="Arial"/>
            </a:endParaRPr>
          </a:p>
          <a:p>
            <a:pPr marL="685800" lvl="1" indent="-228600" defTabSz="914400">
              <a:lnSpc>
                <a:spcPct val="90000"/>
              </a:lnSpc>
              <a:spcBef>
                <a:spcPts val="499"/>
              </a:spcBef>
              <a:buClr>
                <a:srgbClr val="000000"/>
              </a:buClr>
              <a:buFont typeface="Arial"/>
              <a:buChar char="•"/>
              <a:tabLst>
                <a:tab pos="0" algn="l"/>
              </a:tabLst>
            </a:pPr>
            <a:r>
              <a:rPr lang="en-US" sz="2800" b="0" strike="noStrike" spc="-1">
                <a:solidFill>
                  <a:schemeClr val="dk1"/>
                </a:solidFill>
                <a:latin typeface="Aptos"/>
              </a:rPr>
              <a:t>Keyspace</a:t>
            </a:r>
            <a:endParaRPr lang="en-US" sz="2800" b="0" strike="noStrike" spc="-1">
              <a:solidFill>
                <a:srgbClr val="000000"/>
              </a:solidFill>
              <a:latin typeface="Arial"/>
            </a:endParaRPr>
          </a:p>
        </p:txBody>
      </p:sp>
      <p:pic>
        <p:nvPicPr>
          <p:cNvPr id="152" name="Picture 5" descr="A screenshot of a computer&#10;&#10;AI-generated content may be incorrect."/>
          <p:cNvPicPr/>
          <p:nvPr/>
        </p:nvPicPr>
        <p:blipFill>
          <a:blip r:embed="rId2"/>
          <a:stretch/>
        </p:blipFill>
        <p:spPr>
          <a:xfrm>
            <a:off x="4847040" y="0"/>
            <a:ext cx="6750720" cy="6103080"/>
          </a:xfrm>
          <a:prstGeom prst="rect">
            <a:avLst/>
          </a:prstGeom>
          <a:ln w="0">
            <a:noFill/>
          </a:ln>
        </p:spPr>
      </p:pic>
      <p:sp>
        <p:nvSpPr>
          <p:cNvPr id="4" name="PlaceHolder 3"/>
          <p:cNvSpPr>
            <a:spLocks noGrp="1"/>
          </p:cNvSpPr>
          <p:nvPr>
            <p:ph type="sldNum" idx="11"/>
          </p:nvPr>
        </p:nvSpPr>
        <p:spPr/>
        <p:txBody>
          <a:bodyPr/>
          <a:lstStyle/>
          <a:p>
            <a:fld id="{78F23373-19A0-4F84-833A-9CF16F79CF00}" type="slidenum">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54" name="Content Placeholder 5" descr="A screenshot of a computer&#10;&#10;AI-generated content may be incorrect."/>
          <p:cNvPicPr/>
          <p:nvPr/>
        </p:nvPicPr>
        <p:blipFill>
          <a:blip r:embed="rId2"/>
          <a:stretch/>
        </p:blipFill>
        <p:spPr>
          <a:xfrm>
            <a:off x="838080" y="1865880"/>
            <a:ext cx="10514520" cy="4269960"/>
          </a:xfrm>
          <a:prstGeom prst="rect">
            <a:avLst/>
          </a:prstGeom>
          <a:ln w="0">
            <a:noFill/>
          </a:ln>
        </p:spPr>
      </p:pic>
      <p:sp>
        <p:nvSpPr>
          <p:cNvPr id="3" name="PlaceHolder 2"/>
          <p:cNvSpPr>
            <a:spLocks noGrp="1"/>
          </p:cNvSpPr>
          <p:nvPr>
            <p:ph type="sldNum" idx="11"/>
          </p:nvPr>
        </p:nvSpPr>
        <p:spPr/>
        <p:txBody>
          <a:bodyPr/>
          <a:lstStyle/>
          <a:p>
            <a:fld id="{02075C43-7626-49A8-8B92-8FA2F534CF7C}" type="slidenum">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Add Document</a:t>
            </a:r>
            <a:endParaRPr lang="en-US" sz="4400" b="0" strike="noStrike" spc="-1">
              <a:solidFill>
                <a:srgbClr val="000000"/>
              </a:solidFill>
              <a:latin typeface="Arial"/>
            </a:endParaRPr>
          </a:p>
        </p:txBody>
      </p:sp>
      <p:sp>
        <p:nvSpPr>
          <p:cNvPr id="15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57" name="Picture 5" descr="A screenshot of a computer&#10;&#10;AI-generated content may be incorrect."/>
          <p:cNvPicPr/>
          <p:nvPr/>
        </p:nvPicPr>
        <p:blipFill>
          <a:blip r:embed="rId2"/>
          <a:stretch/>
        </p:blipFill>
        <p:spPr>
          <a:xfrm>
            <a:off x="5029200" y="91440"/>
            <a:ext cx="7044840" cy="6281640"/>
          </a:xfrm>
          <a:prstGeom prst="rect">
            <a:avLst/>
          </a:prstGeom>
          <a:ln w="0">
            <a:noFill/>
          </a:ln>
        </p:spPr>
      </p:pic>
      <p:sp>
        <p:nvSpPr>
          <p:cNvPr id="4" name="PlaceHolder 3"/>
          <p:cNvSpPr>
            <a:spLocks noGrp="1"/>
          </p:cNvSpPr>
          <p:nvPr>
            <p:ph type="sldNum" idx="11"/>
          </p:nvPr>
        </p:nvSpPr>
        <p:spPr/>
        <p:txBody>
          <a:bodyPr/>
          <a:lstStyle/>
          <a:p>
            <a:fld id="{14A86917-1F12-46A8-98B0-41FD8E5F8643}" type="slidenum">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ramakrishnan2003database</a:t>
            </a:r>
            <a:endParaRPr lang="en-US" sz="4400" b="0" strike="noStrike" spc="-1">
              <a:solidFill>
                <a:srgbClr val="000000"/>
              </a:solidFill>
              <a:latin typeface="Arial"/>
            </a:endParaRPr>
          </a:p>
        </p:txBody>
      </p:sp>
      <p:sp>
        <p:nvSpPr>
          <p:cNvPr id="15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fontScale="75833" lnSpcReduction="10000"/>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"title": "Database Management Systems",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"author":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"Ramakrishnan, R.",</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"Gehrke, J."</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"isbn": "9780072465631",</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"url": "https://books.google.ro/books?id=JSVhe-WLGZ0C",</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"year": 2003,</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"publisher": "McGraw-Hill Education"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67EF5BE8-8C6A-407D-BCC7-EB3D2C40C7FF}" type="slidenum">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61" name="Content Placeholder 5" descr="A screenshot of a computer&#10;&#10;AI-generated content may be incorrect."/>
          <p:cNvPicPr/>
          <p:nvPr/>
        </p:nvPicPr>
        <p:blipFill>
          <a:blip r:embed="rId2"/>
          <a:stretch/>
        </p:blipFill>
        <p:spPr>
          <a:xfrm>
            <a:off x="2103120" y="91440"/>
            <a:ext cx="7342200" cy="6610680"/>
          </a:xfrm>
          <a:prstGeom prst="rect">
            <a:avLst/>
          </a:prstGeom>
          <a:ln w="0">
            <a:noFill/>
          </a:ln>
        </p:spPr>
      </p:pic>
      <p:sp>
        <p:nvSpPr>
          <p:cNvPr id="3" name="PlaceHolder 2"/>
          <p:cNvSpPr>
            <a:spLocks noGrp="1"/>
          </p:cNvSpPr>
          <p:nvPr>
            <p:ph type="sldNum" idx="11"/>
          </p:nvPr>
        </p:nvSpPr>
        <p:spPr/>
        <p:txBody>
          <a:bodyPr/>
          <a:lstStyle/>
          <a:p>
            <a:fld id="{D7B5E6CA-6C31-4281-AFF0-3123B82AEE1F}" type="slidenum">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63"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64" name="Picture 5" descr="A screenshot of a computer&#10;&#10;AI-generated content may be incorrect."/>
          <p:cNvPicPr/>
          <p:nvPr/>
        </p:nvPicPr>
        <p:blipFill>
          <a:blip r:embed="rId2"/>
          <a:stretch/>
        </p:blipFill>
        <p:spPr>
          <a:xfrm>
            <a:off x="91440" y="1828800"/>
            <a:ext cx="11969280" cy="3212280"/>
          </a:xfrm>
          <a:prstGeom prst="rect">
            <a:avLst/>
          </a:prstGeom>
          <a:ln w="0">
            <a:noFill/>
          </a:ln>
        </p:spPr>
      </p:pic>
      <p:sp>
        <p:nvSpPr>
          <p:cNvPr id="4" name="PlaceHolder 3"/>
          <p:cNvSpPr>
            <a:spLocks noGrp="1"/>
          </p:cNvSpPr>
          <p:nvPr>
            <p:ph type="sldNum" idx="11"/>
          </p:nvPr>
        </p:nvSpPr>
        <p:spPr/>
        <p:txBody>
          <a:bodyPr/>
          <a:lstStyle/>
          <a:p>
            <a:fld id="{7698A410-EEBF-4025-B464-376703796F6A}" type="slidenum">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66" name="PlaceHolder 2"/>
          <p:cNvSpPr>
            <a:spLocks noGrp="1"/>
          </p:cNvSpPr>
          <p:nvPr>
            <p:ph/>
          </p:nvPr>
        </p:nvSpPr>
        <p:spPr>
          <a:xfrm>
            <a:off x="838080" y="1825560"/>
            <a:ext cx="108511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when you click on </a:t>
            </a:r>
            <a:r>
              <a:rPr lang="en-US" sz="2800" b="0" i="1" strike="noStrike" spc="-1">
                <a:solidFill>
                  <a:schemeClr val="dk1"/>
                </a:solidFill>
                <a:latin typeface="Aptos"/>
              </a:rPr>
              <a:t>Create Document</a:t>
            </a:r>
            <a:r>
              <a:rPr lang="en-US" sz="2800" b="0" strike="noStrike" spc="-1">
                <a:solidFill>
                  <a:schemeClr val="dk1"/>
                </a:solidFill>
                <a:latin typeface="Aptos"/>
              </a:rPr>
              <a:t>, you will be asked to enter the document ID - don't need to generate a unique ID in production manually, there are ways to generate a unique ID depending on the client library that will be used to write a document in Couchbase</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will be shown a console where you can enter document in JSON format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E346827A-679D-48F8-94DE-777978C7A1A2}" type="slidenum">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800" b="0" strike="noStrike" spc="-1">
                <a:solidFill>
                  <a:schemeClr val="dk1"/>
                </a:solidFill>
                <a:latin typeface="Aptos Display"/>
              </a:rPr>
              <a:t>R</a:t>
            </a:r>
            <a:r>
              <a:rPr lang="en-US" sz="4400" b="0" strike="noStrike" spc="-1">
                <a:solidFill>
                  <a:schemeClr val="dk1"/>
                </a:solidFill>
                <a:latin typeface="Aptos Display"/>
              </a:rPr>
              <a:t>ead</a:t>
            </a:r>
            <a:endParaRPr lang="en-US" sz="4400" b="0" strike="noStrike" spc="-1">
              <a:solidFill>
                <a:srgbClr val="000000"/>
              </a:solidFill>
              <a:latin typeface="Arial"/>
            </a:endParaRPr>
          </a:p>
        </p:txBody>
      </p:sp>
      <p:sp>
        <p:nvSpPr>
          <p:cNvPr id="16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can search documents using key only</a:t>
            </a:r>
            <a:endParaRPr lang="en-US" sz="2800" b="0" strike="noStrike" spc="-1">
              <a:solidFill>
                <a:srgbClr val="000000"/>
              </a:solidFill>
              <a:latin typeface="Arial"/>
            </a:endParaRP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should know the key before you need to retrieve it since the only mechanism to fetch document is by using document ID</a:t>
            </a:r>
            <a:endParaRPr lang="en-US" sz="24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Couchbase DataBase provides an alternatives mechanism</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C8033EA7-4088-49A7-9CF2-06725382623F}" type="slidenum">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pic>
        <p:nvPicPr>
          <p:cNvPr id="170" name="Content Placeholder 5" descr="A screenshot of a computer&#10;&#10;AI-generated content may be incorrect."/>
          <p:cNvPicPr/>
          <p:nvPr/>
        </p:nvPicPr>
        <p:blipFill>
          <a:blip r:embed="rId2"/>
          <a:stretch/>
        </p:blipFill>
        <p:spPr>
          <a:xfrm>
            <a:off x="731520" y="2286000"/>
            <a:ext cx="10995480" cy="3654720"/>
          </a:xfrm>
          <a:prstGeom prst="rect">
            <a:avLst/>
          </a:prstGeom>
          <a:ln w="0">
            <a:noFill/>
          </a:ln>
        </p:spPr>
      </p:pic>
      <p:sp>
        <p:nvSpPr>
          <p:cNvPr id="3" name="PlaceHolder 2"/>
          <p:cNvSpPr>
            <a:spLocks noGrp="1"/>
          </p:cNvSpPr>
          <p:nvPr>
            <p:ph type="sldNum" idx="11"/>
          </p:nvPr>
        </p:nvSpPr>
        <p:spPr/>
        <p:txBody>
          <a:bodyPr/>
          <a:lstStyle/>
          <a:p>
            <a:fld id="{D2D31A82-5B04-4261-BDF3-2E2D067EB1AB}" type="slidenum">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7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73" name="Picture 5" descr="A screenshot of a computer&#10;&#10;AI-generated content may be incorrect."/>
          <p:cNvPicPr/>
          <p:nvPr/>
        </p:nvPicPr>
        <p:blipFill>
          <a:blip r:embed="rId2"/>
          <a:stretch/>
        </p:blipFill>
        <p:spPr>
          <a:xfrm>
            <a:off x="731520" y="2286000"/>
            <a:ext cx="11335320" cy="3033000"/>
          </a:xfrm>
          <a:prstGeom prst="rect">
            <a:avLst/>
          </a:prstGeom>
          <a:ln w="0">
            <a:noFill/>
          </a:ln>
        </p:spPr>
      </p:pic>
      <p:sp>
        <p:nvSpPr>
          <p:cNvPr id="4" name="PlaceHolder 3"/>
          <p:cNvSpPr>
            <a:spLocks noGrp="1"/>
          </p:cNvSpPr>
          <p:nvPr>
            <p:ph type="sldNum" idx="11"/>
          </p:nvPr>
        </p:nvSpPr>
        <p:spPr/>
        <p:txBody>
          <a:bodyPr/>
          <a:lstStyle/>
          <a:p>
            <a:fld id="{356D4D8C-7597-4EAD-BCD4-5FFB20C57757}" type="slidenum">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800" b="0" strike="noStrike" spc="-1">
                <a:solidFill>
                  <a:schemeClr val="dk1"/>
                </a:solidFill>
                <a:latin typeface="Aptos Display"/>
              </a:rPr>
              <a:t>U</a:t>
            </a:r>
            <a:r>
              <a:rPr lang="en-US" sz="4400" b="0" strike="noStrike" spc="-1">
                <a:solidFill>
                  <a:schemeClr val="dk1"/>
                </a:solidFill>
                <a:latin typeface="Aptos Display"/>
              </a:rPr>
              <a:t>pdate</a:t>
            </a:r>
            <a:endParaRPr lang="en-US" sz="4400" b="0" strike="noStrike" spc="-1">
              <a:solidFill>
                <a:srgbClr val="000000"/>
              </a:solidFill>
              <a:latin typeface="Arial"/>
            </a:endParaRPr>
          </a:p>
        </p:txBody>
      </p:sp>
      <p:pic>
        <p:nvPicPr>
          <p:cNvPr id="175" name="Content Placeholder 5" descr="A screenshot of a computer&#10;&#10;AI-generated content may be incorrect."/>
          <p:cNvPicPr/>
          <p:nvPr/>
        </p:nvPicPr>
        <p:blipFill>
          <a:blip r:embed="rId2"/>
          <a:stretch/>
        </p:blipFill>
        <p:spPr>
          <a:xfrm>
            <a:off x="731520" y="2468880"/>
            <a:ext cx="11100960" cy="2915280"/>
          </a:xfrm>
          <a:prstGeom prst="rect">
            <a:avLst/>
          </a:prstGeom>
          <a:ln w="0">
            <a:noFill/>
          </a:ln>
        </p:spPr>
      </p:pic>
      <p:sp>
        <p:nvSpPr>
          <p:cNvPr id="3" name="PlaceHolder 2"/>
          <p:cNvSpPr>
            <a:spLocks noGrp="1"/>
          </p:cNvSpPr>
          <p:nvPr>
            <p:ph type="sldNum" idx="11"/>
          </p:nvPr>
        </p:nvSpPr>
        <p:spPr/>
        <p:txBody>
          <a:bodyPr/>
          <a:lstStyle/>
          <a:p>
            <a:fld id="{15187153-9F4A-48B1-AE7D-D55BD8E49389}" type="slidenum">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800" b="0" strike="noStrike" spc="-1">
                <a:solidFill>
                  <a:schemeClr val="dk1"/>
                </a:solidFill>
                <a:latin typeface="Aptos Display"/>
              </a:rPr>
              <a:t>D</a:t>
            </a:r>
            <a:r>
              <a:rPr lang="en-US" sz="4400" b="0" strike="noStrike" spc="-1">
                <a:solidFill>
                  <a:schemeClr val="dk1"/>
                </a:solidFill>
                <a:latin typeface="Aptos Display"/>
              </a:rPr>
              <a:t>elete</a:t>
            </a:r>
            <a:endParaRPr lang="en-US" sz="4400" b="0" strike="noStrike" spc="-1">
              <a:solidFill>
                <a:srgbClr val="000000"/>
              </a:solidFill>
              <a:latin typeface="Arial"/>
            </a:endParaRPr>
          </a:p>
        </p:txBody>
      </p:sp>
      <p:pic>
        <p:nvPicPr>
          <p:cNvPr id="177" name="Content Placeholder 5" descr="A screenshot of a computer&#10;&#10;AI-generated content may be incorrect."/>
          <p:cNvPicPr/>
          <p:nvPr/>
        </p:nvPicPr>
        <p:blipFill>
          <a:blip r:embed="rId2"/>
          <a:stretch/>
        </p:blipFill>
        <p:spPr>
          <a:xfrm>
            <a:off x="731520" y="2468880"/>
            <a:ext cx="11118600" cy="2973960"/>
          </a:xfrm>
          <a:prstGeom prst="rect">
            <a:avLst/>
          </a:prstGeom>
          <a:ln w="0">
            <a:noFill/>
          </a:ln>
        </p:spPr>
      </p:pic>
      <p:sp>
        <p:nvSpPr>
          <p:cNvPr id="3" name="PlaceHolder 2"/>
          <p:cNvSpPr>
            <a:spLocks noGrp="1"/>
          </p:cNvSpPr>
          <p:nvPr>
            <p:ph type="sldNum" idx="11"/>
          </p:nvPr>
        </p:nvSpPr>
        <p:spPr/>
        <p:txBody>
          <a:bodyPr/>
          <a:lstStyle/>
          <a:p>
            <a:fld id="{00B9CDB0-AA87-414E-9C6C-0849946C372E}" type="slidenum">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strike="noStrike" spc="-1">
                <a:solidFill>
                  <a:schemeClr val="dk1"/>
                </a:solidFill>
                <a:latin typeface="Aptos Display"/>
              </a:rPr>
              <a:t>internals … </a:t>
            </a:r>
            <a:endParaRPr lang="en-US" sz="6000" b="0" strike="noStrike" spc="-1">
              <a:solidFill>
                <a:srgbClr val="000000"/>
              </a:solidFill>
              <a:latin typeface="Arial"/>
            </a:endParaRPr>
          </a:p>
        </p:txBody>
      </p:sp>
      <p:sp>
        <p:nvSpPr>
          <p:cNvPr id="179" name="PlaceHolder 2"/>
          <p:cNvSpPr>
            <a:spLocks noGrp="1"/>
          </p:cNvSpPr>
          <p:nvPr>
            <p:ph/>
          </p:nvPr>
        </p:nvSpPr>
        <p:spPr>
          <a:xfrm>
            <a:off x="831960" y="4589640"/>
            <a:ext cx="10514520" cy="14990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sp>
        <p:nvSpPr>
          <p:cNvPr id="4" name="PlaceHolder 3"/>
          <p:cNvSpPr>
            <a:spLocks noGrp="1"/>
          </p:cNvSpPr>
          <p:nvPr>
            <p:ph type="sldNum" idx="14"/>
          </p:nvPr>
        </p:nvSpPr>
        <p:spPr/>
        <p:txBody>
          <a:bodyPr/>
          <a:lstStyle/>
          <a:p>
            <a:fld id="{8791D168-97EE-4B50-9FF6-54EDF039D58A}" type="slidenum">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vBuckets</a:t>
            </a:r>
            <a:r>
              <a:rPr lang="en-US" sz="4400" b="1" strike="noStrike" spc="-1">
                <a:solidFill>
                  <a:schemeClr val="dk1"/>
                </a:solidFill>
                <a:latin typeface="Aptos Display"/>
              </a:rPr>
              <a:t> </a:t>
            </a:r>
            <a:endParaRPr lang="en-US" sz="4400" b="0" strike="noStrike" spc="-1">
              <a:solidFill>
                <a:srgbClr val="000000"/>
              </a:solidFill>
              <a:latin typeface="Arial"/>
            </a:endParaRPr>
          </a:p>
        </p:txBody>
      </p:sp>
      <p:sp>
        <p:nvSpPr>
          <p:cNvPr id="181" name="PlaceHolder 2"/>
          <p:cNvSpPr>
            <a:spLocks noGrp="1"/>
          </p:cNvSpPr>
          <p:nvPr>
            <p:ph/>
          </p:nvPr>
        </p:nvSpPr>
        <p:spPr>
          <a:xfrm>
            <a:off x="838080" y="1248840"/>
            <a:ext cx="11185560" cy="4927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helps in replicating documents across the nodes in a cluster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document ID is a unique key per bucket, that is associated with each document</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depending on document ID, documents are distributed across nodes in  cluster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each bucket is divided into 1024 logical partitions called vBuckets</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each partition is bound to particular node in cluster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bindings of vBuckets to server nodes is stored in cluster map, which is a lookup structure</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each vBucket will have a subset of document IDs; mechanism allows effective distribution and sharding of documents across nodes in cluster</a:t>
            </a: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EA627701-CBC9-4234-8074-68030B20CF9E}" type="slidenum">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83"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client derives the node using a hashing algorithm for each document it stores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hashing function algorithm takes the document ID for each document and returns vBucket in which it belongs to and refers to cluster map to determine node to store actual document in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client uses this information to communicate with node directly to store or retrieve document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198073A6-7B5F-4A9E-B9DA-EFB9ABB81E4D}" type="slidenum">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85"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Couchbase ensures that the most frequently accessed data is stored in RAM, which is an inbuilt caching layer, and boosts performance, but eventually flushes data to disks for persistence</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BEC95499-0558-4FB3-8022-81E256A00EC9}" type="slidenum">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Replication</a:t>
            </a:r>
            <a:endParaRPr lang="en-US" sz="4400" b="0" strike="noStrike" spc="-1">
              <a:solidFill>
                <a:srgbClr val="000000"/>
              </a:solidFill>
              <a:latin typeface="Arial"/>
            </a:endParaRPr>
          </a:p>
        </p:txBody>
      </p:sp>
      <p:sp>
        <p:nvSpPr>
          <p:cNvPr id="187"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is configured per bucket, and at most, you can configure up to three replicas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replicas work closely with vBucket structure and cluster map</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0D11F7DA-5E49-43BA-AA29-F6D4B5B21108}" type="slidenum">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Rebalancing</a:t>
            </a:r>
            <a:endParaRPr lang="en-US" sz="4400" b="0" strike="noStrike" spc="-1">
              <a:solidFill>
                <a:srgbClr val="000000"/>
              </a:solidFill>
              <a:latin typeface="Arial"/>
            </a:endParaRPr>
          </a:p>
        </p:txBody>
      </p:sp>
      <p:sp>
        <p:nvSpPr>
          <p:cNvPr id="18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1" strike="noStrike" spc="-1">
                <a:solidFill>
                  <a:schemeClr val="dk1"/>
                </a:solidFill>
                <a:latin typeface="Aptos"/>
              </a:rPr>
              <a:t> </a:t>
            </a:r>
            <a:r>
              <a:rPr lang="en-US" sz="2800" b="0" strike="noStrike" spc="-1">
                <a:solidFill>
                  <a:schemeClr val="dk1"/>
                </a:solidFill>
                <a:latin typeface="Aptos"/>
              </a:rPr>
              <a:t>if administrators need to expand or shrink the Couchbase server cluster to increase or downsize its capacity, which is very common in cloud environment for elasticity, then information stored in vBuckets needs to be redistributed between available nodes with a process called rebalancing, in which corresponding vBucket cluster map is updated to reflect new structure</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05B40B56-9A1C-4862-BA04-ACBC10C17B51}" type="slidenum">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strike="noStrike" spc="-1">
                <a:solidFill>
                  <a:schemeClr val="dk1"/>
                </a:solidFill>
                <a:latin typeface="Aptos Display"/>
              </a:rPr>
              <a:t>Designing a Document</a:t>
            </a:r>
            <a:endParaRPr lang="en-US" sz="6000" b="0" strike="noStrike" spc="-1">
              <a:solidFill>
                <a:srgbClr val="000000"/>
              </a:solidFill>
              <a:latin typeface="Arial"/>
            </a:endParaRPr>
          </a:p>
        </p:txBody>
      </p:sp>
      <p:sp>
        <p:nvSpPr>
          <p:cNvPr id="191" name="PlaceHolder 2"/>
          <p:cNvSpPr>
            <a:spLocks noGrp="1"/>
          </p:cNvSpPr>
          <p:nvPr>
            <p:ph/>
          </p:nvPr>
        </p:nvSpPr>
        <p:spPr>
          <a:xfrm>
            <a:off x="831960" y="4589640"/>
            <a:ext cx="10514520" cy="14990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sp>
        <p:nvSpPr>
          <p:cNvPr id="4" name="PlaceHolder 3"/>
          <p:cNvSpPr>
            <a:spLocks noGrp="1"/>
          </p:cNvSpPr>
          <p:nvPr>
            <p:ph type="sldNum" idx="14"/>
          </p:nvPr>
        </p:nvSpPr>
        <p:spPr/>
        <p:txBody>
          <a:bodyPr/>
          <a:lstStyle/>
          <a:p>
            <a:fld id="{16E199A0-BA0E-4759-8615-24B9F941FDCF}" type="slidenum">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JSON JavaScript Object Notation</a:t>
            </a:r>
            <a:endParaRPr lang="en-US" sz="4400" b="0" strike="noStrike" spc="-1">
              <a:solidFill>
                <a:srgbClr val="000000"/>
              </a:solidFill>
              <a:latin typeface="Arial"/>
            </a:endParaRPr>
          </a:p>
        </p:txBody>
      </p:sp>
      <p:sp>
        <p:nvSpPr>
          <p:cNvPr id="193"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is a text format that is completely language-independent and a lightweight data interchange format</a:t>
            </a:r>
            <a:endParaRPr lang="en-US" sz="2800" b="0" strike="noStrike" spc="-1">
              <a:solidFill>
                <a:srgbClr val="000000"/>
              </a:solidFill>
              <a:latin typeface="Arial"/>
            </a:endParaRPr>
          </a:p>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collection of name and value pairs</a:t>
            </a:r>
            <a:endParaRPr lang="en-US" sz="2800" b="0" strike="noStrike" spc="-1">
              <a:solidFill>
                <a:srgbClr val="000000"/>
              </a:solidFill>
              <a:latin typeface="Arial"/>
            </a:endParaRPr>
          </a:p>
          <a:p>
            <a:pPr marL="514440" indent="-514440" defTabSz="914400">
              <a:lnSpc>
                <a:spcPct val="90000"/>
              </a:lnSpc>
              <a:spcBef>
                <a:spcPts val="1001"/>
              </a:spcBef>
              <a:buClr>
                <a:srgbClr val="000000"/>
              </a:buClr>
              <a:buFont typeface="Aptos Display"/>
              <a:buAutoNum type="arabicPeriod"/>
            </a:pPr>
            <a:r>
              <a:rPr lang="en-US" sz="2800" b="0" strike="noStrike" spc="-1">
                <a:solidFill>
                  <a:schemeClr val="dk1"/>
                </a:solidFill>
                <a:latin typeface="Aptos"/>
              </a:rPr>
              <a:t>ordered list of values: represented as an array, vector, or list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DB1A4B29-FC79-46F9-9428-5B647FF7EF1D}" type="slidenum">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195"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196" name="Picture 5" descr="A screenshot of a computer&#10;&#10;AI-generated content may be incorrect."/>
          <p:cNvPicPr/>
          <p:nvPr/>
        </p:nvPicPr>
        <p:blipFill>
          <a:blip r:embed="rId2"/>
          <a:stretch/>
        </p:blipFill>
        <p:spPr>
          <a:xfrm>
            <a:off x="320760" y="0"/>
            <a:ext cx="11549160" cy="6856920"/>
          </a:xfrm>
          <a:prstGeom prst="rect">
            <a:avLst/>
          </a:prstGeom>
          <a:ln w="0">
            <a:noFill/>
          </a:ln>
        </p:spPr>
      </p:pic>
      <p:sp>
        <p:nvSpPr>
          <p:cNvPr id="4" name="PlaceHolder 3"/>
          <p:cNvSpPr>
            <a:spLocks noGrp="1"/>
          </p:cNvSpPr>
          <p:nvPr>
            <p:ph type="sldNum" idx="11"/>
          </p:nvPr>
        </p:nvSpPr>
        <p:spPr/>
        <p:txBody>
          <a:bodyPr/>
          <a:lstStyle/>
          <a:p>
            <a:fld id="{BC24FC86-0D7E-480E-9068-EDBBFAF4217A}" type="slidenum">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Data Types</a:t>
            </a:r>
            <a:endParaRPr lang="en-US" sz="4400" b="0" strike="noStrike" spc="-1">
              <a:solidFill>
                <a:srgbClr val="000000"/>
              </a:solidFill>
              <a:latin typeface="Arial"/>
            </a:endParaRPr>
          </a:p>
        </p:txBody>
      </p:sp>
      <p:sp>
        <p:nvSpPr>
          <p:cNvPr id="19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title	 	String 	DataBase Management Systems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author	Array		["Ramakrishnan, R.", "Gehrke, J."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year		Numeric	2003</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active 	Boolean 	true</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expire	Time Stamp	2055/05/50 17:05:05 	</a:t>
            </a:r>
            <a:endParaRPr lang="en-US" sz="27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4F90FFBC-B267-43B3-BCFE-E2CB0DD1F454}" type="slidenum">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00" name="PlaceHolder 2"/>
          <p:cNvSpPr>
            <a:spLocks noGrp="1"/>
          </p:cNvSpPr>
          <p:nvPr>
            <p:ph/>
          </p:nvPr>
        </p:nvSpPr>
        <p:spPr>
          <a:xfrm>
            <a:off x="838080" y="365040"/>
            <a:ext cx="10514520" cy="5810760"/>
          </a:xfrm>
          <a:prstGeom prst="rect">
            <a:avLst/>
          </a:prstGeom>
          <a:noFill/>
          <a:ln w="0">
            <a:noFill/>
          </a:ln>
        </p:spPr>
        <p:txBody>
          <a:bodyPr lIns="91440" tIns="45720" rIns="91440" bIns="45720" anchor="t">
            <a:normAutofit fontScale="88611" lnSpcReduction="10000"/>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"title": "Database Management Systems",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"author":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"Ramakrishnan, R.",</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"Gehrke, J."</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"isbn": "9780072465631",</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"url": "https://books.google.ro/books?id=JSVhe-WLGZ0C",</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"year": 2003,</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"publisher": "McGraw-Hill Education",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"active": true,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    "expire": "20205/05/05 17:05:05"</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A8EF1BF8-08A1-4A3C-9843-5BC885CD4824}" type="slidenum">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02" name="PlaceHolder 2"/>
          <p:cNvSpPr>
            <a:spLocks noGrp="1"/>
          </p:cNvSpPr>
          <p:nvPr>
            <p:ph/>
          </p:nvPr>
        </p:nvSpPr>
        <p:spPr>
          <a:xfrm>
            <a:off x="839880" y="365040"/>
            <a:ext cx="5156640" cy="81360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Document</a:t>
            </a:r>
            <a:endParaRPr lang="en-US" sz="2400" b="0" strike="noStrike" spc="-1">
              <a:solidFill>
                <a:srgbClr val="000000"/>
              </a:solidFill>
              <a:latin typeface="Arial"/>
            </a:endParaRPr>
          </a:p>
        </p:txBody>
      </p:sp>
      <p:sp>
        <p:nvSpPr>
          <p:cNvPr id="203" name="PlaceHolder 3"/>
          <p:cNvSpPr>
            <a:spLocks noGrp="1"/>
          </p:cNvSpPr>
          <p:nvPr>
            <p:ph/>
          </p:nvPr>
        </p:nvSpPr>
        <p:spPr>
          <a:xfrm>
            <a:off x="678600" y="1248840"/>
            <a:ext cx="5492520" cy="49399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it is schemaless</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metadata about attributes goes, or is stored, with data itself</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atomicity is for single document</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no joins are allowed between documents</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transactions are on a single document only</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good for structured and unstructured data</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can handle big data without much cost</a:t>
            </a:r>
            <a:endParaRPr lang="en-US" sz="2700" b="0" strike="noStrike" spc="-1">
              <a:solidFill>
                <a:srgbClr val="000000"/>
              </a:solidFill>
              <a:latin typeface="Arial"/>
            </a:endParaRPr>
          </a:p>
        </p:txBody>
      </p:sp>
      <p:sp>
        <p:nvSpPr>
          <p:cNvPr id="204" name="PlaceHolder 4"/>
          <p:cNvSpPr>
            <a:spLocks noGrp="1"/>
          </p:cNvSpPr>
          <p:nvPr>
            <p:ph/>
          </p:nvPr>
        </p:nvSpPr>
        <p:spPr>
          <a:xfrm>
            <a:off x="6172200" y="462240"/>
            <a:ext cx="5182200" cy="7167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RDBMS</a:t>
            </a:r>
            <a:endParaRPr lang="en-US" sz="2400" b="0" strike="noStrike" spc="-1">
              <a:solidFill>
                <a:srgbClr val="000000"/>
              </a:solidFill>
              <a:latin typeface="Arial"/>
            </a:endParaRPr>
          </a:p>
        </p:txBody>
      </p:sp>
      <p:sp>
        <p:nvSpPr>
          <p:cNvPr id="205" name="PlaceHolder 5"/>
          <p:cNvSpPr>
            <a:spLocks noGrp="1"/>
          </p:cNvSpPr>
          <p:nvPr>
            <p:ph/>
          </p:nvPr>
        </p:nvSpPr>
        <p:spPr>
          <a:xfrm>
            <a:off x="6172200" y="1248840"/>
            <a:ext cx="5182200" cy="49399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schema needs to be defined in terms of table structures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records are stored individually and without attributes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supports ACID properties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joins are supported across table</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support transactions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good for structured data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handling big data is expensive</a:t>
            </a:r>
            <a:endParaRPr lang="en-US" sz="2700" b="0" strike="noStrike" spc="-1">
              <a:solidFill>
                <a:srgbClr val="000000"/>
              </a:solidFill>
              <a:latin typeface="Arial"/>
            </a:endParaRPr>
          </a:p>
        </p:txBody>
      </p:sp>
      <p:sp>
        <p:nvSpPr>
          <p:cNvPr id="7" name="PlaceHolder 6"/>
          <p:cNvSpPr>
            <a:spLocks noGrp="1"/>
          </p:cNvSpPr>
          <p:nvPr>
            <p:ph type="sldNum" idx="20"/>
          </p:nvPr>
        </p:nvSpPr>
        <p:spPr/>
        <p:txBody>
          <a:bodyPr/>
          <a:lstStyle/>
          <a:p>
            <a:fld id="{BBB06D4A-7AE4-4C22-9AD2-D4A79D60875D}" type="slidenum">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4400" b="0" strike="noStrike" spc="-1">
                <a:solidFill>
                  <a:schemeClr val="dk1"/>
                </a:solidFill>
                <a:latin typeface="Aptos Display"/>
              </a:rPr>
              <a:t>One document vs. Multiple documents </a:t>
            </a:r>
            <a:endParaRPr lang="en-US" sz="4400" b="0" strike="noStrike" spc="-1">
              <a:solidFill>
                <a:srgbClr val="000000"/>
              </a:solidFill>
              <a:latin typeface="Arial"/>
            </a:endParaRPr>
          </a:p>
        </p:txBody>
      </p:sp>
      <p:sp>
        <p:nvSpPr>
          <p:cNvPr id="207" name="PlaceHolder 2"/>
          <p:cNvSpPr>
            <a:spLocks noGrp="1"/>
          </p:cNvSpPr>
          <p:nvPr>
            <p:ph/>
          </p:nvPr>
        </p:nvSpPr>
        <p:spPr>
          <a:xfrm>
            <a:off x="839880" y="1681200"/>
            <a:ext cx="515664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One Document</a:t>
            </a:r>
            <a:endParaRPr lang="en-US" sz="2400" b="0" strike="noStrike" spc="-1">
              <a:solidFill>
                <a:srgbClr val="000000"/>
              </a:solidFill>
              <a:latin typeface="Arial"/>
            </a:endParaRPr>
          </a:p>
        </p:txBody>
      </p:sp>
      <p:sp>
        <p:nvSpPr>
          <p:cNvPr id="208" name="PlaceHolder 3"/>
          <p:cNvSpPr>
            <a:spLocks noGrp="1"/>
          </p:cNvSpPr>
          <p:nvPr>
            <p:ph/>
          </p:nvPr>
        </p:nvSpPr>
        <p:spPr>
          <a:xfrm>
            <a:off x="839880" y="2505240"/>
            <a:ext cx="5156640" cy="3683520"/>
          </a:xfrm>
          <a:prstGeom prst="rect">
            <a:avLst/>
          </a:prstGeom>
          <a:noFill/>
          <a:ln w="0">
            <a:noFill/>
          </a:ln>
        </p:spPr>
        <p:txBody>
          <a:bodyPr lIns="91440" tIns="45720" rIns="91440" bIns="45720" anchor="t">
            <a:normAutofit fontScale="98333"/>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denormalized data format, in which all information is stored together in a single document</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leads to better performance since all information is kept together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don't need to join document since all related information is at a single document</a:t>
            </a:r>
            <a:endParaRPr lang="en-US" sz="2700" b="0" strike="noStrike" spc="-1">
              <a:solidFill>
                <a:srgbClr val="000000"/>
              </a:solidFill>
              <a:latin typeface="Arial"/>
            </a:endParaRPr>
          </a:p>
        </p:txBody>
      </p:sp>
      <p:sp>
        <p:nvSpPr>
          <p:cNvPr id="209" name="PlaceHolder 4"/>
          <p:cNvSpPr>
            <a:spLocks noGrp="1"/>
          </p:cNvSpPr>
          <p:nvPr>
            <p:ph/>
          </p:nvPr>
        </p:nvSpPr>
        <p:spPr>
          <a:xfrm>
            <a:off x="6172200" y="1681200"/>
            <a:ext cx="518220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Multime Documents</a:t>
            </a:r>
            <a:endParaRPr lang="en-US" sz="2400" b="0" strike="noStrike" spc="-1">
              <a:solidFill>
                <a:srgbClr val="000000"/>
              </a:solidFill>
              <a:latin typeface="Arial"/>
            </a:endParaRPr>
          </a:p>
        </p:txBody>
      </p:sp>
      <p:sp>
        <p:nvSpPr>
          <p:cNvPr id="210" name="PlaceHolder 5"/>
          <p:cNvSpPr>
            <a:spLocks noGrp="1"/>
          </p:cNvSpPr>
          <p:nvPr>
            <p:ph/>
          </p:nvPr>
        </p:nvSpPr>
        <p:spPr>
          <a:xfrm>
            <a:off x="6172200" y="2505240"/>
            <a:ext cx="5182200" cy="3683520"/>
          </a:xfrm>
          <a:prstGeom prst="rect">
            <a:avLst/>
          </a:prstGeom>
          <a:noFill/>
          <a:ln w="0">
            <a:noFill/>
          </a:ln>
        </p:spPr>
        <p:txBody>
          <a:bodyPr lIns="91440" tIns="45720" rIns="91440" bIns="45720" anchor="t">
            <a:normAutofit fontScale="96666"/>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information will be split into multiple documents thereby normalizing data</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there is an impact on performance, since related documents are scattered across nodes</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join is not supported, while the application logic requires it</a:t>
            </a:r>
            <a:endParaRPr lang="en-US" sz="2700" b="0" strike="noStrike" spc="-1">
              <a:solidFill>
                <a:srgbClr val="000000"/>
              </a:solidFill>
              <a:latin typeface="Arial"/>
            </a:endParaRPr>
          </a:p>
        </p:txBody>
      </p:sp>
      <p:sp>
        <p:nvSpPr>
          <p:cNvPr id="7" name="PlaceHolder 6"/>
          <p:cNvSpPr>
            <a:spLocks noGrp="1"/>
          </p:cNvSpPr>
          <p:nvPr>
            <p:ph type="sldNum" idx="20"/>
          </p:nvPr>
        </p:nvSpPr>
        <p:spPr/>
        <p:txBody>
          <a:bodyPr/>
          <a:lstStyle/>
          <a:p>
            <a:fld id="{5DCD2FC0-A1EA-4DAE-ABBF-7206475B8828}" type="slidenum">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12" name="PlaceHolder 2"/>
          <p:cNvSpPr>
            <a:spLocks noGrp="1"/>
          </p:cNvSpPr>
          <p:nvPr>
            <p:ph/>
          </p:nvPr>
        </p:nvSpPr>
        <p:spPr>
          <a:xfrm>
            <a:off x="838080" y="1248840"/>
            <a:ext cx="10514520" cy="4927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"order":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"order_id" : 10248,</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"order_date" : "1996-07-04",</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"company_name" : "Vins et alcools Chevalier",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"product_name" : "Queso Cabrales",</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"quantity" : 12,</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"unit_price" : 14.0</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B6B4A528-612A-4DE1-B742-38E1380D6B12}" type="slidenum">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14" name="PlaceHolder 2"/>
          <p:cNvSpPr>
            <a:spLocks noGrp="1"/>
          </p:cNvSpPr>
          <p:nvPr>
            <p:ph/>
          </p:nvPr>
        </p:nvSpPr>
        <p:spPr>
          <a:xfrm>
            <a:off x="838080" y="1248840"/>
            <a:ext cx="10514520" cy="4927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"order_id" : 10248,</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"order_date" : "1996-07-04",</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"company_name" : "Vins et alcools Chevalier",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"product_name" : "Singaporean Hokkien Fried Mee",</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"quantity" : 10,</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"unit_price" : 9.8</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6C4E9514-516A-419B-B25A-E1D16A6E3DCB}" type="slidenum">
              <a:rPr/>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16" name="PlaceHolder 2"/>
          <p:cNvSpPr>
            <a:spLocks noGrp="1"/>
          </p:cNvSpPr>
          <p:nvPr>
            <p:ph/>
          </p:nvPr>
        </p:nvSpPr>
        <p:spPr>
          <a:xfrm>
            <a:off x="838080" y="1248840"/>
            <a:ext cx="10514520" cy="4927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"order_id" : 10248,</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"order_date" : "1996-07-04",</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"company_name" : "Vins et alcools Chevalier",</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"product_name" : "Mozzarella di Giovanni",</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"quantity" : 5,</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"unit_price" : 34.8</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    }</a:t>
            </a:r>
            <a:endParaRPr lang="en-US" sz="27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700" b="0" strike="noStrike" spc="-1">
                <a:solidFill>
                  <a:schemeClr val="dk1"/>
                </a:solidFill>
                <a:latin typeface="Aptos"/>
              </a:rPr>
              <a:t>]}</a:t>
            </a:r>
            <a:endParaRPr lang="en-US" sz="2700" b="0" strike="noStrike" spc="-1">
              <a:solidFill>
                <a:srgbClr val="000000"/>
              </a:solidFill>
              <a:latin typeface="Arial"/>
            </a:endParaRPr>
          </a:p>
          <a:p>
            <a:pPr indent="0" defTabSz="914400">
              <a:lnSpc>
                <a:spcPct val="90000"/>
              </a:lnSpc>
              <a:spcBef>
                <a:spcPts val="1001"/>
              </a:spcBef>
              <a:buNone/>
              <a:tabLst>
                <a:tab pos="0" algn="l"/>
              </a:tabLst>
            </a:pP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19FE3DAF-54B4-450E-8C88-6BE04245FB0B}" type="slidenum">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18" name="PlaceHolder 2"/>
          <p:cNvSpPr>
            <a:spLocks noGrp="1"/>
          </p:cNvSpPr>
          <p:nvPr>
            <p:ph/>
          </p:nvPr>
        </p:nvSpPr>
        <p:spPr>
          <a:xfrm>
            <a:off x="838080" y="365040"/>
            <a:ext cx="10514520" cy="58107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500" b="0" strike="noStrike" spc="-1">
                <a:solidFill>
                  <a:schemeClr val="dk1"/>
                </a:solidFill>
                <a:latin typeface="Aptos"/>
              </a:rPr>
              <a:t>{       "order_id" : 10248,</a:t>
            </a:r>
            <a:endParaRPr lang="en-US" sz="25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500" b="0" strike="noStrike" spc="-1">
                <a:solidFill>
                  <a:schemeClr val="dk1"/>
                </a:solidFill>
                <a:latin typeface="Aptos"/>
              </a:rPr>
              <a:t>        "order_date" : "1996-07-04",</a:t>
            </a:r>
            <a:endParaRPr lang="en-US" sz="25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500" b="0" strike="noStrike" spc="-1">
                <a:solidFill>
                  <a:schemeClr val="dk1"/>
                </a:solidFill>
                <a:latin typeface="Aptos"/>
              </a:rPr>
              <a:t>        "company_name" : "Vins et alcools Chevalier",</a:t>
            </a:r>
            <a:endParaRPr lang="en-US" sz="25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500" b="0" strike="noStrike" spc="-1">
                <a:solidFill>
                  <a:schemeClr val="dk1"/>
                </a:solidFill>
                <a:latin typeface="Aptos"/>
              </a:rPr>
              <a:t> 	"detail": [    {</a:t>
            </a:r>
            <a:endParaRPr lang="en-US" sz="25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"product_name" : "Queso Cabrales",</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"quantity" : 12,</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"unit_price" : 14.0</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    {</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"product_name" : "Singaporean Hokkien Fried Mee",</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"quantity" : 10,</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"unit_price" : 9.8</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    {</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"product_name" : "Mozzarella di Giovanni",</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"quantity" : 5,</a:t>
            </a:r>
            <a:endParaRPr lang="en-US" sz="23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300" b="0" strike="noStrike" spc="-1">
                <a:solidFill>
                  <a:schemeClr val="dk1"/>
                </a:solidFill>
                <a:latin typeface="Aptos"/>
              </a:rPr>
              <a:t>        "unit_price" : 34.8    }	]}</a:t>
            </a:r>
            <a:endParaRPr lang="en-US" sz="2300" b="0" strike="noStrike" spc="-1">
              <a:solidFill>
                <a:srgbClr val="000000"/>
              </a:solidFill>
              <a:latin typeface="Arial"/>
            </a:endParaRPr>
          </a:p>
        </p:txBody>
      </p:sp>
      <p:sp>
        <p:nvSpPr>
          <p:cNvPr id="4" name="PlaceHolder 3"/>
          <p:cNvSpPr>
            <a:spLocks noGrp="1"/>
          </p:cNvSpPr>
          <p:nvPr>
            <p:ph type="sldNum" idx="11"/>
          </p:nvPr>
        </p:nvSpPr>
        <p:spPr/>
        <p:txBody>
          <a:bodyPr/>
          <a:lstStyle/>
          <a:p>
            <a:fld id="{A758AE23-723D-4ABD-AF0F-D34B166D9D7F}" type="slidenum">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Document relationships </a:t>
            </a:r>
            <a:endParaRPr lang="en-US" sz="4400" b="0" strike="noStrike" spc="-1">
              <a:solidFill>
                <a:srgbClr val="000000"/>
              </a:solidFill>
              <a:latin typeface="Arial"/>
            </a:endParaRPr>
          </a:p>
        </p:txBody>
      </p:sp>
      <p:sp>
        <p:nvSpPr>
          <p:cNvPr id="22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 document-based database system don't need to worry about altering tables when there are changes in schema, as we do in RDBMS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all schemas of document are driven by application code only</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schema of a document goes along with the document itself as metadata</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D0405636-E142-4042-8181-C57714E91AF5}" type="slidenum">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2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can store the company_name or the customer_id value in Order document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C2D9F688-23F2-40B2-A277-1B0E708D299E}" type="slidenum">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strike="noStrike" spc="-1">
                <a:solidFill>
                  <a:schemeClr val="dk1"/>
                </a:solidFill>
                <a:latin typeface="Aptos Display"/>
              </a:rPr>
              <a:t>Client  </a:t>
            </a:r>
            <a:endParaRPr lang="en-US" sz="6000" b="0" strike="noStrike" spc="-1">
              <a:solidFill>
                <a:srgbClr val="000000"/>
              </a:solidFill>
              <a:latin typeface="Arial"/>
            </a:endParaRPr>
          </a:p>
        </p:txBody>
      </p:sp>
      <p:sp>
        <p:nvSpPr>
          <p:cNvPr id="224" name="PlaceHolder 2"/>
          <p:cNvSpPr>
            <a:spLocks noGrp="1"/>
          </p:cNvSpPr>
          <p:nvPr>
            <p:ph/>
          </p:nvPr>
        </p:nvSpPr>
        <p:spPr>
          <a:xfrm>
            <a:off x="831960" y="4589640"/>
            <a:ext cx="10514520" cy="14990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sp>
        <p:nvSpPr>
          <p:cNvPr id="4" name="PlaceHolder 3"/>
          <p:cNvSpPr>
            <a:spLocks noGrp="1"/>
          </p:cNvSpPr>
          <p:nvPr>
            <p:ph type="sldNum" idx="14"/>
          </p:nvPr>
        </p:nvSpPr>
        <p:spPr/>
        <p:txBody>
          <a:bodyPr/>
          <a:lstStyle/>
          <a:p>
            <a:fld id="{3B4C0AB2-062B-4053-9866-C81460B77D35}" type="slidenum">
              <a:rPr/>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dataauth.py</a:t>
            </a:r>
            <a:endParaRPr lang="en-US" sz="4400" b="0" strike="noStrike" spc="-1">
              <a:solidFill>
                <a:srgbClr val="000000"/>
              </a:solidFill>
              <a:latin typeface="Arial"/>
            </a:endParaRPr>
          </a:p>
        </p:txBody>
      </p:sp>
      <p:sp>
        <p:nvSpPr>
          <p:cNvPr id="22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 Update this to your cluster</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servername ="couchbase://localhost"</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username = "Administrator"</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password = "Administrator"</a:t>
            </a:r>
            <a:endParaRPr lang="en-US" sz="2800" b="0" strike="noStrike" spc="-1">
              <a:solidFill>
                <a:srgbClr val="000000"/>
              </a:solidFill>
              <a:latin typeface="Arial"/>
            </a:endParaRPr>
          </a:p>
          <a:p>
            <a:pPr marL="228600" indent="0" defTabSz="914400">
              <a:lnSpc>
                <a:spcPct val="90000"/>
              </a:lnSpc>
              <a:spcBef>
                <a:spcPts val="1191"/>
              </a:spcBef>
              <a:spcAft>
                <a:spcPts val="992"/>
              </a:spcAft>
              <a:buNone/>
              <a:tabLst>
                <a:tab pos="0" algn="l"/>
              </a:tabLst>
            </a:pPr>
            <a:r>
              <a:rPr lang="en-US" sz="2800" b="0" strike="noStrike" spc="-1">
                <a:solidFill>
                  <a:schemeClr val="dk1"/>
                </a:solidFill>
                <a:latin typeface="Aptos"/>
              </a:rPr>
              <a:t> </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2D8F3326-D1D0-43B4-8596-1669189C8A72}" type="slidenum">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1One.py</a:t>
            </a:r>
            <a:endParaRPr lang="en-US" sz="4400" b="0" strike="noStrike" spc="-1">
              <a:solidFill>
                <a:srgbClr val="000000"/>
              </a:solidFill>
              <a:latin typeface="Arial"/>
            </a:endParaRPr>
          </a:p>
        </p:txBody>
      </p:sp>
      <p:sp>
        <p:nvSpPr>
          <p:cNvPr id="228" name="PlaceHolder 2"/>
          <p:cNvSpPr>
            <a:spLocks noGrp="1"/>
          </p:cNvSpPr>
          <p:nvPr>
            <p:ph/>
          </p:nvPr>
        </p:nvSpPr>
        <p:spPr>
          <a:xfrm>
            <a:off x="685800" y="1364040"/>
            <a:ext cx="11277000" cy="4350240"/>
          </a:xfrm>
          <a:prstGeom prst="rect">
            <a:avLst/>
          </a:prstGeom>
          <a:noFill/>
          <a:ln w="0">
            <a:noFill/>
          </a:ln>
        </p:spPr>
        <p:txBody>
          <a:bodyPr lIns="91440" tIns="45720" rIns="91440" bIns="45720" anchor="t">
            <a:noAutofit/>
          </a:bodyPr>
          <a:lstStyle/>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import dataauth as da</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100" b="0" strike="noStrike" spc="-1">
                <a:solidFill>
                  <a:schemeClr val="dk1"/>
                </a:solidFill>
                <a:latin typeface="Aptos"/>
              </a:rPr>
              <a:t># </a:t>
            </a:r>
            <a:r>
              <a:rPr lang="en-US" sz="2000" b="0" strike="noStrike" spc="-1">
                <a:solidFill>
                  <a:schemeClr val="dk1"/>
                </a:solidFill>
                <a:latin typeface="Aptos"/>
              </a:rPr>
              <a:t>needed</a:t>
            </a:r>
            <a:r>
              <a:rPr lang="en-US" sz="2100" b="0" strike="noStrike" spc="-1">
                <a:solidFill>
                  <a:schemeClr val="dk1"/>
                </a:solidFill>
                <a:latin typeface="Aptos"/>
              </a:rPr>
              <a:t> for any cluster connection</a:t>
            </a:r>
            <a:endParaRPr lang="en-US" sz="21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from couchbase.cluster import Cluster</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from couchbase.auth import PasswordAuthenticator</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000" b="0" strike="noStrike" spc="-1">
                <a:solidFill>
                  <a:schemeClr val="dk1"/>
                </a:solidFill>
                <a:latin typeface="Aptos"/>
              </a:rPr>
              <a:t># options for a cluster and SQL++ (N1QL) queries</a:t>
            </a:r>
            <a:endParaRPr lang="en-US" sz="20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800" b="0" strike="noStrike" spc="-1">
                <a:solidFill>
                  <a:schemeClr val="dk1"/>
                </a:solidFill>
                <a:latin typeface="Aptos"/>
              </a:rPr>
              <a:t>from couchbase.options import ClusterOptions, QueryOptions</a:t>
            </a:r>
            <a:endParaRPr lang="en-US" sz="28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000" b="0" strike="noStrike" spc="-1">
                <a:solidFill>
                  <a:schemeClr val="dk1"/>
                </a:solidFill>
                <a:latin typeface="Aptos"/>
              </a:rPr>
              <a:t># get a reference to our cluster</a:t>
            </a:r>
            <a:endParaRPr lang="en-US" sz="20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cluster = Cluster.connect(da.servername, ClusterOptions ( PasswordAuthenticator (da.username, da.password)))</a:t>
            </a: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B6F23B9A-430A-4164-B13C-B4547A96AC5E}" type="slidenum">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30" name="PlaceHolder 2"/>
          <p:cNvSpPr>
            <a:spLocks noGrp="1"/>
          </p:cNvSpPr>
          <p:nvPr>
            <p:ph/>
          </p:nvPr>
        </p:nvSpPr>
        <p:spPr>
          <a:xfrm>
            <a:off x="685800" y="457200"/>
            <a:ext cx="11277000" cy="5257080"/>
          </a:xfrm>
          <a:prstGeom prst="rect">
            <a:avLst/>
          </a:prstGeom>
          <a:noFill/>
          <a:ln w="0">
            <a:noFill/>
          </a:ln>
        </p:spPr>
        <p:txBody>
          <a:bodyPr lIns="91440" tIns="45720" rIns="91440" bIns="45720" anchor="t">
            <a:noAutofit/>
          </a:bodyPr>
          <a:lstStyle/>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bucket_name = "travel-sample"</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000" b="0" strike="noStrike" spc="-1">
                <a:solidFill>
                  <a:schemeClr val="dk1"/>
                </a:solidFill>
                <a:latin typeface="Aptos"/>
              </a:rPr>
              <a:t># get a reference to our bucket</a:t>
            </a:r>
            <a:endParaRPr lang="en-US" sz="20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cb = cluster.bucket('travel-sample')</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000" b="0" strike="noStrike" spc="-1">
                <a:solidFill>
                  <a:schemeClr val="dk1"/>
                </a:solidFill>
                <a:latin typeface="Aptos"/>
              </a:rPr>
              <a:t># get a reference to the default collection</a:t>
            </a:r>
            <a:endParaRPr lang="en-US" sz="20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cb_coll = cb.default_collection()</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000" b="0" strike="noStrike" spc="-1">
                <a:solidFill>
                  <a:schemeClr val="dk1"/>
                </a:solidFill>
                <a:latin typeface="Aptos"/>
              </a:rPr>
              <a:t># get a document</a:t>
            </a:r>
            <a:endParaRPr lang="en-US" sz="20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result = cb_coll.get('airline_10')</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print(result.content_as[dict])</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res = result.valueprint(res)</a:t>
            </a:r>
            <a:endParaRPr lang="en-US" sz="2700" b="0" strike="noStrike" spc="-1">
              <a:solidFill>
                <a:srgbClr val="000000"/>
              </a:solidFill>
              <a:latin typeface="Arial"/>
            </a:endParaRPr>
          </a:p>
          <a:p>
            <a:pPr marL="228600" indent="-228600" defTabSz="914400">
              <a:lnSpc>
                <a:spcPct val="90000"/>
              </a:lnSpc>
              <a:spcBef>
                <a:spcPts val="1191"/>
              </a:spcBef>
              <a:spcAft>
                <a:spcPts val="992"/>
              </a:spcAft>
              <a:buClr>
                <a:srgbClr val="000000"/>
              </a:buClr>
              <a:buFont typeface="Arial"/>
              <a:buChar char="•"/>
            </a:pPr>
            <a:r>
              <a:rPr lang="en-US" sz="2700" b="0" strike="noStrike" spc="-1">
                <a:solidFill>
                  <a:schemeClr val="dk1"/>
                </a:solidFill>
                <a:latin typeface="Aptos"/>
              </a:rPr>
              <a:t>print(f"{res["name"]} is {res["type"]} with call sign: {res["callsign"]}")</a:t>
            </a:r>
            <a:endParaRPr lang="en-US" sz="2700" b="0" strike="noStrike" spc="-1">
              <a:solidFill>
                <a:srgbClr val="000000"/>
              </a:solidFill>
              <a:latin typeface="Arial"/>
            </a:endParaRPr>
          </a:p>
        </p:txBody>
      </p:sp>
      <p:sp>
        <p:nvSpPr>
          <p:cNvPr id="4" name="PlaceHolder 3"/>
          <p:cNvSpPr>
            <a:spLocks noGrp="1"/>
          </p:cNvSpPr>
          <p:nvPr>
            <p:ph type="sldNum" idx="11"/>
          </p:nvPr>
        </p:nvSpPr>
        <p:spPr/>
        <p:txBody>
          <a:bodyPr/>
          <a:lstStyle/>
          <a:p>
            <a:fld id="{1BD268F7-5F08-4DB2-BE66-888D0F87A342}" type="slidenum">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90000"/>
              </a:lnSpc>
              <a:spcBef>
                <a:spcPts val="1417"/>
              </a:spcBef>
              <a:buNone/>
              <a:tabLst>
                <a:tab pos="0" algn="l"/>
              </a:tabLst>
            </a:pPr>
            <a:r>
              <a:rPr lang="en-US" sz="4400" b="0" strike="noStrike" spc="-1">
                <a:solidFill>
                  <a:schemeClr val="dk1"/>
                </a:solidFill>
                <a:latin typeface="Aptos"/>
              </a:rPr>
              <a:t>python3 1One.py </a:t>
            </a:r>
            <a:endParaRPr lang="en-US" sz="4400" b="0" strike="noStrike" spc="-1">
              <a:solidFill>
                <a:srgbClr val="000000"/>
              </a:solidFill>
              <a:latin typeface="Arial"/>
            </a:endParaRPr>
          </a:p>
        </p:txBody>
      </p:sp>
      <p:sp>
        <p:nvSpPr>
          <p:cNvPr id="23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{'id': 10, 'type': 'airline', 'name': '40-Mile Air', 'iata': 'Q5', 'icao': 'MLA', 'callsign': 'MILE-AIR', 'country': 'United States'}</a:t>
            </a:r>
            <a:endParaRPr lang="en-US" sz="2800" b="0" strike="noStrike" spc="-1">
              <a:solidFill>
                <a:srgbClr val="000000"/>
              </a:solidFill>
              <a:latin typeface="Arial"/>
            </a:endParaRPr>
          </a:p>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{'id': 10, 'type': 'airline', 'name': '40-Mile Air', 'iata': 'Q5', 'icao': 'MLA', 'callsign': 'MILE-AIR', 'country': 'United States'}</a:t>
            </a:r>
            <a:endParaRPr lang="en-US" sz="2800" b="0" strike="noStrike" spc="-1">
              <a:solidFill>
                <a:srgbClr val="000000"/>
              </a:solidFill>
              <a:latin typeface="Arial"/>
            </a:endParaRPr>
          </a:p>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40-Mile Air is airline with call sign: MILE-AIR</a:t>
            </a:r>
            <a:endParaRPr lang="en-US" sz="2800" b="0" strike="noStrike" spc="-1">
              <a:solidFill>
                <a:srgbClr val="000000"/>
              </a:solidFill>
              <a:latin typeface="Arial"/>
            </a:endParaRPr>
          </a:p>
          <a:p>
            <a:pPr marL="432000" indent="0">
              <a:lnSpc>
                <a:spcPct val="90000"/>
              </a:lnSpc>
              <a:spcBef>
                <a:spcPts val="1417"/>
              </a:spcBef>
              <a:buNone/>
              <a:tabLst>
                <a:tab pos="0" algn="l"/>
              </a:tabLst>
            </a:pPr>
            <a:r>
              <a:rPr lang="en-US" sz="2800" b="0" strike="noStrike" spc="-1">
                <a:solidFill>
                  <a:schemeClr val="dk1"/>
                </a:solidFill>
                <a:latin typeface="Aptos"/>
              </a:rPr>
              <a:t> </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F4D322AE-7329-4527-9E82-FC7122DFF3B3}" type="slidenum">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90000"/>
              </a:lnSpc>
              <a:spcBef>
                <a:spcPts val="1417"/>
              </a:spcBef>
              <a:buNone/>
              <a:tabLst>
                <a:tab pos="0" algn="l"/>
              </a:tabLst>
            </a:pPr>
            <a:r>
              <a:rPr lang="en-US" sz="4400" b="0" strike="noStrike" spc="-1">
                <a:solidFill>
                  <a:schemeClr val="dk1"/>
                </a:solidFill>
                <a:latin typeface="Aptos"/>
              </a:rPr>
              <a:t>CAS</a:t>
            </a:r>
            <a:endParaRPr lang="en-US" sz="4400" b="0" strike="noStrike" spc="-1">
              <a:solidFill>
                <a:srgbClr val="000000"/>
              </a:solidFill>
              <a:latin typeface="Arial"/>
            </a:endParaRPr>
          </a:p>
        </p:txBody>
      </p:sp>
      <p:sp>
        <p:nvSpPr>
          <p:cNvPr id="23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90000"/>
              </a:lnSpc>
              <a:spcBef>
                <a:spcPts val="1191"/>
              </a:spcBef>
              <a:spcAft>
                <a:spcPts val="992"/>
              </a:spcAft>
              <a:buClr>
                <a:srgbClr val="000000"/>
              </a:buClr>
              <a:buSzPct val="45000"/>
              <a:buFont typeface="Wingdings" charset="2"/>
              <a:buChar char=""/>
            </a:pPr>
            <a:r>
              <a:rPr lang="en-US" sz="2800" b="0" strike="noStrike" spc="-1">
                <a:solidFill>
                  <a:schemeClr val="dk1"/>
                </a:solidFill>
                <a:latin typeface="Aptos"/>
              </a:rPr>
              <a:t>setting a Compare and Swap (CAS) value is a form of optimistic locking</a:t>
            </a:r>
            <a:endParaRPr lang="en-US" sz="2800" b="0" strike="noStrike" spc="-1">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lang="en-US" sz="2800" b="0" strike="noStrike" spc="-1">
                <a:solidFill>
                  <a:schemeClr val="dk1"/>
                </a:solidFill>
                <a:latin typeface="Aptos"/>
              </a:rPr>
              <a:t>CAS is a value representing the current state of an item; each time item is modified, its CAS changes</a:t>
            </a:r>
            <a:endParaRPr lang="en-US" sz="2800" b="0" strike="noStrike" spc="-1">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lang="en-US" sz="2800" b="0" strike="noStrike" spc="-1">
                <a:solidFill>
                  <a:schemeClr val="dk1"/>
                </a:solidFill>
                <a:latin typeface="Aptos"/>
              </a:rPr>
              <a:t>CAS value is returned as part of a document’s metadata whenever a document is accessed</a:t>
            </a:r>
            <a:endParaRPr lang="en-US" sz="2800" b="0" strike="noStrike" spc="-1">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lang="en-US" sz="2800" b="0" strike="noStrike" spc="-1">
                <a:solidFill>
                  <a:schemeClr val="dk1"/>
                </a:solidFill>
                <a:latin typeface="Aptos"/>
              </a:rPr>
              <a:t>without explicitly setting it, a newly-created document would have a CAS value of 0</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91483180-AC37-4FDA-924D-10B7337552B0}" type="slidenum">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Insert.Py</a:t>
            </a:r>
          </a:p>
        </p:txBody>
      </p:sp>
      <p:sp>
        <p:nvSpPr>
          <p:cNvPr id="23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bucket = cluster.bucket("travel-sample")</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collection = bucket.default_collection()</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document = {"foo": "bar", "bar": "foo"}</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result = collection.insert("document-key", document)</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cas = result.cas</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 end::insert</a:t>
            </a:r>
          </a:p>
        </p:txBody>
      </p:sp>
      <p:sp>
        <p:nvSpPr>
          <p:cNvPr id="4" name="PlaceHolder 3"/>
          <p:cNvSpPr>
            <a:spLocks noGrp="1"/>
          </p:cNvSpPr>
          <p:nvPr>
            <p:ph type="sldNum" idx="11"/>
          </p:nvPr>
        </p:nvSpPr>
        <p:spPr/>
        <p:txBody>
          <a:bodyPr/>
          <a:lstStyle/>
          <a:p>
            <a:fld id="{39F68844-B6F6-4C63-AFC7-CD2052177815}" type="slidenum">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Insert.Py</a:t>
            </a:r>
          </a:p>
        </p:txBody>
      </p:sp>
      <p:sp>
        <p:nvSpPr>
          <p:cNvPr id="23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print(result)</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print(cas)</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result = collection.get('documentkey')</a:t>
            </a:r>
          </a:p>
          <a:p>
            <a:pPr marL="432000" indent="-324000">
              <a:lnSpc>
                <a:spcPct val="100000"/>
              </a:lnSpc>
              <a:spcBef>
                <a:spcPts val="1191"/>
              </a:spcBef>
              <a:spcAft>
                <a:spcPts val="992"/>
              </a:spcAft>
              <a:buClr>
                <a:srgbClr val="000000"/>
              </a:buClr>
              <a:buFont typeface="Wingdings" charset="2"/>
              <a:buChar char=""/>
            </a:pPr>
            <a:r>
              <a:rPr lang="en-US" sz="2800" b="0" strike="noStrike" spc="-1">
                <a:solidFill>
                  <a:srgbClr val="000000"/>
                </a:solidFill>
                <a:latin typeface="Arial"/>
              </a:rPr>
              <a:t>print(result.content_as[dict])</a:t>
            </a:r>
          </a:p>
        </p:txBody>
      </p:sp>
      <p:sp>
        <p:nvSpPr>
          <p:cNvPr id="4" name="PlaceHolder 3"/>
          <p:cNvSpPr>
            <a:spLocks noGrp="1"/>
          </p:cNvSpPr>
          <p:nvPr>
            <p:ph type="sldNum" idx="11"/>
          </p:nvPr>
        </p:nvSpPr>
        <p:spPr/>
        <p:txBody>
          <a:bodyPr/>
          <a:lstStyle/>
          <a:p>
            <a:fld id="{A2B2F24F-B42A-44C3-B015-DCC2D309F032}" type="slidenum">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python3 2TwoInsert.py</a:t>
            </a:r>
          </a:p>
        </p:txBody>
      </p:sp>
      <p:sp>
        <p:nvSpPr>
          <p:cNvPr id="24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100000"/>
              </a:lnSpc>
              <a:buClr>
                <a:srgbClr val="000000"/>
              </a:buClr>
              <a:buSzPct val="45000"/>
              <a:buFont typeface="Wingdings" charset="2"/>
              <a:buChar char=""/>
            </a:pPr>
            <a:r>
              <a:rPr lang="en-US" sz="2800" b="0" strike="noStrike" spc="-1">
                <a:solidFill>
                  <a:srgbClr val="000000"/>
                </a:solidFill>
                <a:latin typeface="Arial"/>
              </a:rPr>
              <a:t>Insert  ...</a:t>
            </a:r>
          </a:p>
          <a:p>
            <a:pPr marL="432000" indent="-324000">
              <a:lnSpc>
                <a:spcPct val="100000"/>
              </a:lnSpc>
              <a:buClr>
                <a:srgbClr val="000000"/>
              </a:buClr>
              <a:buSzPct val="45000"/>
              <a:buFont typeface="Wingdings" charset="2"/>
              <a:buChar char=""/>
            </a:pPr>
            <a:r>
              <a:rPr lang="en-US" sz="2800" b="0" strike="noStrike" spc="-1">
                <a:solidFill>
                  <a:srgbClr val="000000"/>
                </a:solidFill>
                <a:latin typeface="Arial"/>
              </a:rPr>
              <a:t>MutationResult:result:{value={'cas': 1765982205516316672, 'key': 'document-key', 'mutation_token': &lt;pycbc_core.mutation_token object at 0x7fa139919ef0&gt;}}</a:t>
            </a:r>
          </a:p>
          <a:p>
            <a:pPr marL="432000" indent="-324000">
              <a:lnSpc>
                <a:spcPct val="100000"/>
              </a:lnSpc>
              <a:buClr>
                <a:srgbClr val="000000"/>
              </a:buClr>
              <a:buSzPct val="45000"/>
              <a:buFont typeface="Wingdings" charset="2"/>
              <a:buChar char=""/>
            </a:pPr>
            <a:r>
              <a:rPr lang="en-US" sz="2800" b="0" strike="noStrike" spc="-1">
                <a:solidFill>
                  <a:srgbClr val="000000"/>
                </a:solidFill>
                <a:latin typeface="Arial"/>
              </a:rPr>
              <a:t>1765982205516316672</a:t>
            </a:r>
          </a:p>
          <a:p>
            <a:pPr marL="432000" indent="-324000">
              <a:lnSpc>
                <a:spcPct val="100000"/>
              </a:lnSpc>
              <a:buClr>
                <a:srgbClr val="000000"/>
              </a:buClr>
              <a:buSzPct val="45000"/>
              <a:buFont typeface="Wingdings" charset="2"/>
              <a:buChar char=""/>
            </a:pPr>
            <a:r>
              <a:rPr lang="en-US" sz="2800" b="0" strike="noStrike" spc="-1">
                <a:solidFill>
                  <a:srgbClr val="000000"/>
                </a:solidFill>
                <a:latin typeface="Arial"/>
              </a:rPr>
              <a:t>{'foo': 'bar', 'bar': 'foo'}</a:t>
            </a:r>
          </a:p>
          <a:p>
            <a:pPr marL="432000" indent="0">
              <a:lnSpc>
                <a:spcPct val="100000"/>
              </a:lnSpc>
              <a:buNone/>
              <a:tabLst>
                <a:tab pos="0" algn="l"/>
              </a:tabLst>
            </a:pPr>
            <a:r>
              <a:rPr lang="en-US" sz="2800" b="0" strike="noStrike" spc="-1">
                <a:solidFill>
                  <a:srgbClr val="000000"/>
                </a:solidFill>
                <a:latin typeface="Arial"/>
              </a:rPr>
              <a:t> </a:t>
            </a:r>
          </a:p>
        </p:txBody>
      </p:sp>
      <p:sp>
        <p:nvSpPr>
          <p:cNvPr id="4" name="PlaceHolder 3"/>
          <p:cNvSpPr>
            <a:spLocks noGrp="1"/>
          </p:cNvSpPr>
          <p:nvPr>
            <p:ph type="sldNum" idx="11"/>
          </p:nvPr>
        </p:nvSpPr>
        <p:spPr/>
        <p:txBody>
          <a:bodyPr/>
          <a:lstStyle/>
          <a:p>
            <a:fld id="{25491B18-F160-4172-AC14-D0D6E68E2ADA}" type="slidenum">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2InserTarom.py</a:t>
            </a:r>
          </a:p>
        </p:txBody>
      </p:sp>
      <p:sp>
        <p:nvSpPr>
          <p:cNvPr id="242"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SzPct val="45000"/>
              <a:buFont typeface="Wingdings" charset="2"/>
              <a:buChar char=""/>
            </a:pPr>
            <a:r>
              <a:rPr lang="en-US" sz="2400" b="0" strike="noStrike" spc="-1">
                <a:solidFill>
                  <a:srgbClr val="000000"/>
                </a:solidFill>
                <a:latin typeface="Arial"/>
              </a:rPr>
              <a:t>bucket = cluster.bucket("travel-sample")</a:t>
            </a:r>
          </a:p>
          <a:p>
            <a:pPr marL="432000" indent="-324000">
              <a:lnSpc>
                <a:spcPct val="100000"/>
              </a:lnSpc>
              <a:spcBef>
                <a:spcPts val="1191"/>
              </a:spcBef>
              <a:spcAft>
                <a:spcPts val="992"/>
              </a:spcAft>
              <a:buClr>
                <a:srgbClr val="000000"/>
              </a:buClr>
              <a:buSzPct val="45000"/>
              <a:buFont typeface="Wingdings" charset="2"/>
              <a:buChar char=""/>
            </a:pPr>
            <a:r>
              <a:rPr lang="en-US" sz="2400" b="0" strike="noStrike" spc="-1">
                <a:solidFill>
                  <a:srgbClr val="000000"/>
                </a:solidFill>
                <a:latin typeface="Arial"/>
              </a:rPr>
              <a:t>collection = bucket.default_collection()</a:t>
            </a:r>
          </a:p>
          <a:p>
            <a:pPr marL="432000" indent="-324000">
              <a:lnSpc>
                <a:spcPct val="100000"/>
              </a:lnSpc>
              <a:spcBef>
                <a:spcPts val="1191"/>
              </a:spcBef>
              <a:spcAft>
                <a:spcPts val="992"/>
              </a:spcAft>
              <a:buClr>
                <a:srgbClr val="000000"/>
              </a:buClr>
              <a:buSzPct val="45000"/>
              <a:buFont typeface="Wingdings" charset="2"/>
              <a:buChar char=""/>
            </a:pPr>
            <a:r>
              <a:rPr lang="en-US" sz="2400" b="0" strike="noStrike" spc="-1">
                <a:solidFill>
                  <a:srgbClr val="000000"/>
                </a:solidFill>
                <a:latin typeface="Arial"/>
              </a:rPr>
              <a:t>print("\nInsert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document = {'id': 101, 'type': 'airline', 'name': 'Tarom', \ 'iata': 'RO', 'icao': 'ROT', 'callsign': 'Tar-Rom', 'country': 'Romania'}</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result = collection.insert("101", document)</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cas = result.cas</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end::insert</a:t>
            </a:r>
          </a:p>
        </p:txBody>
      </p:sp>
      <p:sp>
        <p:nvSpPr>
          <p:cNvPr id="4" name="PlaceHolder 3"/>
          <p:cNvSpPr>
            <a:spLocks noGrp="1"/>
          </p:cNvSpPr>
          <p:nvPr>
            <p:ph type="sldNum" idx="11"/>
          </p:nvPr>
        </p:nvSpPr>
        <p:spPr/>
        <p:txBody>
          <a:bodyPr/>
          <a:lstStyle/>
          <a:p>
            <a:fld id="{55E3D649-B7DE-4819-BF9B-E10989A3876B}" type="slidenum">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2InserTarom.py</a:t>
            </a:r>
          </a:p>
        </p:txBody>
      </p:sp>
      <p:sp>
        <p:nvSpPr>
          <p:cNvPr id="244"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0">
              <a:lnSpc>
                <a:spcPct val="100000"/>
              </a:lnSpc>
              <a:spcBef>
                <a:spcPts val="1191"/>
              </a:spcBef>
              <a:spcAft>
                <a:spcPts val="992"/>
              </a:spcAft>
              <a:buNone/>
              <a:tabLst>
                <a:tab pos="0" algn="l"/>
              </a:tabLst>
            </a:pPr>
            <a:r>
              <a:rPr lang="en-US" sz="2800" b="0" strike="noStrike" spc="-1">
                <a:solidFill>
                  <a:srgbClr val="000000"/>
                </a:solidFill>
                <a:latin typeface="Arial"/>
              </a:rPr>
              <a:t> </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2800" b="0" strike="noStrike" spc="-1">
                <a:solidFill>
                  <a:srgbClr val="000000"/>
                </a:solidFill>
                <a:latin typeface="Arial"/>
              </a:rPr>
              <a:t># end::insert</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2800" b="0" strike="noStrike" spc="-1">
                <a:solidFill>
                  <a:srgbClr val="000000"/>
                </a:solidFill>
                <a:latin typeface="Arial"/>
              </a:rPr>
              <a:t>result = collection.get('101')</a:t>
            </a:r>
          </a:p>
          <a:p>
            <a:pPr marL="432000" indent="-324000">
              <a:lnSpc>
                <a:spcPct val="100000"/>
              </a:lnSpc>
              <a:spcBef>
                <a:spcPts val="1191"/>
              </a:spcBef>
              <a:spcAft>
                <a:spcPts val="992"/>
              </a:spcAft>
              <a:buClr>
                <a:srgbClr val="000000"/>
              </a:buClr>
              <a:buSzPct val="45000"/>
              <a:buFont typeface="Wingdings" charset="2"/>
              <a:buChar char=""/>
              <a:tabLst>
                <a:tab pos="0" algn="l"/>
              </a:tabLst>
            </a:pPr>
            <a:r>
              <a:rPr lang="en-US" sz="2800" b="0" strike="noStrike" spc="-1">
                <a:solidFill>
                  <a:srgbClr val="000000"/>
                </a:solidFill>
                <a:latin typeface="Arial"/>
              </a:rPr>
              <a:t>print(result.content_as[dict])</a:t>
            </a:r>
          </a:p>
        </p:txBody>
      </p:sp>
      <p:sp>
        <p:nvSpPr>
          <p:cNvPr id="4" name="PlaceHolder 3"/>
          <p:cNvSpPr>
            <a:spLocks noGrp="1"/>
          </p:cNvSpPr>
          <p:nvPr>
            <p:ph type="sldNum" idx="11"/>
          </p:nvPr>
        </p:nvSpPr>
        <p:spPr/>
        <p:txBody>
          <a:bodyPr/>
          <a:lstStyle/>
          <a:p>
            <a:fld id="{4EF7CE6B-5402-47B5-9A54-DE7E136BE2ED}" type="slidenum">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 python3 2TwoInserTarom.py </a:t>
            </a:r>
          </a:p>
        </p:txBody>
      </p:sp>
      <p:sp>
        <p:nvSpPr>
          <p:cNvPr id="24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lnSpc>
                <a:spcPct val="100000"/>
              </a:lnSpc>
              <a:buClr>
                <a:srgbClr val="000000"/>
              </a:buClr>
              <a:buFont typeface="Wingdings" charset="2"/>
              <a:buChar char=""/>
            </a:pPr>
            <a:r>
              <a:rPr lang="en-US" sz="2800" b="0" strike="noStrike" spc="-1">
                <a:solidFill>
                  <a:srgbClr val="000000"/>
                </a:solidFill>
                <a:latin typeface="Arial"/>
              </a:rPr>
              <a:t>Insert  ...</a:t>
            </a:r>
          </a:p>
          <a:p>
            <a:pPr marL="432000" indent="-324000">
              <a:lnSpc>
                <a:spcPct val="100000"/>
              </a:lnSpc>
              <a:buClr>
                <a:srgbClr val="000000"/>
              </a:buClr>
              <a:buFont typeface="Wingdings" charset="2"/>
              <a:buChar char=""/>
            </a:pPr>
            <a:r>
              <a:rPr lang="en-US" sz="2800" b="0" strike="noStrike" spc="-1">
                <a:solidFill>
                  <a:srgbClr val="000000"/>
                </a:solidFill>
                <a:latin typeface="Arial"/>
              </a:rPr>
              <a:t>{'id': 101, 'type': 'airline', 'name': 'Tarom', 'iata': 'RO', 'icao': 'ROT', 'callsign': 'Tar-Rom', 'country': 'Romania'}</a:t>
            </a:r>
          </a:p>
        </p:txBody>
      </p:sp>
      <p:sp>
        <p:nvSpPr>
          <p:cNvPr id="4" name="PlaceHolder 3"/>
          <p:cNvSpPr>
            <a:spLocks noGrp="1"/>
          </p:cNvSpPr>
          <p:nvPr>
            <p:ph type="sldNum" idx="11"/>
          </p:nvPr>
        </p:nvSpPr>
        <p:spPr/>
        <p:txBody>
          <a:bodyPr/>
          <a:lstStyle/>
          <a:p>
            <a:fld id="{5414A087-3646-481B-B1BF-5C99E9786E98}" type="slidenum">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4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249" name="Picture 248"/>
          <p:cNvPicPr/>
          <p:nvPr/>
        </p:nvPicPr>
        <p:blipFill>
          <a:blip r:embed="rId2"/>
          <a:stretch/>
        </p:blipFill>
        <p:spPr>
          <a:xfrm>
            <a:off x="-2160" y="1459080"/>
            <a:ext cx="12191400" cy="4425480"/>
          </a:xfrm>
          <a:prstGeom prst="rect">
            <a:avLst/>
          </a:prstGeom>
          <a:ln w="0">
            <a:noFill/>
          </a:ln>
        </p:spPr>
      </p:pic>
      <p:sp>
        <p:nvSpPr>
          <p:cNvPr id="4" name="PlaceHolder 3"/>
          <p:cNvSpPr>
            <a:spLocks noGrp="1"/>
          </p:cNvSpPr>
          <p:nvPr>
            <p:ph type="sldNum" idx="11"/>
          </p:nvPr>
        </p:nvSpPr>
        <p:spPr/>
        <p:txBody>
          <a:bodyPr/>
          <a:lstStyle/>
          <a:p>
            <a:fld id="{B228A4E7-B350-4585-8F48-DF32E82B25CC}" type="slidenum">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2UpdateTarom.py</a:t>
            </a:r>
          </a:p>
        </p:txBody>
      </p:sp>
      <p:sp>
        <p:nvSpPr>
          <p:cNvPr id="251"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SzPct val="45000"/>
              <a:buFont typeface="Wingdings" charset="2"/>
              <a:buChar char=""/>
            </a:pPr>
            <a:r>
              <a:rPr lang="en-US" sz="2500" b="0" strike="noStrike" spc="-1">
                <a:solidFill>
                  <a:srgbClr val="000000"/>
                </a:solidFill>
                <a:latin typeface="Arial"/>
              </a:rPr>
              <a:t>import dataauth as da</a:t>
            </a:r>
          </a:p>
          <a:p>
            <a:pPr marL="432000" indent="-324000">
              <a:lnSpc>
                <a:spcPct val="100000"/>
              </a:lnSpc>
              <a:spcBef>
                <a:spcPts val="1191"/>
              </a:spcBef>
              <a:spcAft>
                <a:spcPts val="992"/>
              </a:spcAft>
              <a:buClr>
                <a:srgbClr val="000000"/>
              </a:buClr>
              <a:buSzPct val="45000"/>
              <a:buFont typeface="Wingdings" charset="2"/>
              <a:buChar char=""/>
            </a:pPr>
            <a:r>
              <a:rPr lang="en-US" sz="2500" b="0" strike="noStrike" spc="-1">
                <a:solidFill>
                  <a:srgbClr val="000000"/>
                </a:solidFill>
                <a:latin typeface="Arial"/>
              </a:rPr>
              <a:t># needed for any cluster connection</a:t>
            </a:r>
          </a:p>
          <a:p>
            <a:pPr marL="432000" indent="-324000">
              <a:lnSpc>
                <a:spcPct val="100000"/>
              </a:lnSpc>
              <a:spcBef>
                <a:spcPts val="1191"/>
              </a:spcBef>
              <a:spcAft>
                <a:spcPts val="992"/>
              </a:spcAft>
              <a:buClr>
                <a:srgbClr val="000000"/>
              </a:buClr>
              <a:buSzPct val="45000"/>
              <a:buFont typeface="Wingdings" charset="2"/>
              <a:buChar char=""/>
            </a:pPr>
            <a:r>
              <a:rPr lang="en-US" sz="2500" b="0" strike="noStrike" spc="-1">
                <a:solidFill>
                  <a:srgbClr val="000000"/>
                </a:solidFill>
                <a:latin typeface="Arial"/>
              </a:rPr>
              <a:t>from couchbase.cluster import Cluster</a:t>
            </a:r>
          </a:p>
          <a:p>
            <a:pPr marL="432000" indent="-324000">
              <a:lnSpc>
                <a:spcPct val="100000"/>
              </a:lnSpc>
              <a:spcBef>
                <a:spcPts val="1191"/>
              </a:spcBef>
              <a:spcAft>
                <a:spcPts val="992"/>
              </a:spcAft>
              <a:buClr>
                <a:srgbClr val="000000"/>
              </a:buClr>
              <a:buSzPct val="45000"/>
              <a:buFont typeface="Wingdings" charset="2"/>
              <a:buChar char=""/>
            </a:pPr>
            <a:r>
              <a:rPr lang="en-US" sz="2500" b="0" strike="noStrike" spc="-1">
                <a:solidFill>
                  <a:srgbClr val="000000"/>
                </a:solidFill>
                <a:latin typeface="Arial"/>
              </a:rPr>
              <a:t>from couchbase.auth import PasswordAuthenticator</a:t>
            </a:r>
          </a:p>
          <a:p>
            <a:pPr marL="432000" indent="-324000">
              <a:lnSpc>
                <a:spcPct val="100000"/>
              </a:lnSpc>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options for a cluster and SQL++ (N1QL) queries</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from couchbase.options import ClusterOptions, QueryOptions</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from couchbase.options import ReplaceOptions</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from couchbase.exceptions import CouchbaseException, CASMismatchException</a:t>
            </a:r>
          </a:p>
        </p:txBody>
      </p:sp>
      <p:sp>
        <p:nvSpPr>
          <p:cNvPr id="4" name="PlaceHolder 3"/>
          <p:cNvSpPr>
            <a:spLocks noGrp="1"/>
          </p:cNvSpPr>
          <p:nvPr>
            <p:ph type="sldNum" idx="11"/>
          </p:nvPr>
        </p:nvSpPr>
        <p:spPr/>
        <p:txBody>
          <a:bodyPr/>
          <a:lstStyle/>
          <a:p>
            <a:fld id="{AEDE721D-7F3B-404C-97E4-08E2BAA89E60}" type="slidenum">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2UpdateTarom.py</a:t>
            </a:r>
          </a:p>
        </p:txBody>
      </p:sp>
      <p:sp>
        <p:nvSpPr>
          <p:cNvPr id="253"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get a reference to our cluster</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cluster = Cluster.connect(da.servername, ClusterOptions( PasswordAuthenticator(da.username, da.password)))</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bucket = cluster.bucket("travel-sample")</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collection = bucket.default_collection()</a:t>
            </a:r>
          </a:p>
        </p:txBody>
      </p:sp>
      <p:sp>
        <p:nvSpPr>
          <p:cNvPr id="4" name="PlaceHolder 3"/>
          <p:cNvSpPr>
            <a:spLocks noGrp="1"/>
          </p:cNvSpPr>
          <p:nvPr>
            <p:ph type="sldNum" idx="11"/>
          </p:nvPr>
        </p:nvSpPr>
        <p:spPr/>
        <p:txBody>
          <a:bodyPr/>
          <a:lstStyle/>
          <a:p>
            <a:fld id="{64074A41-6D4C-41A3-827B-15FF7744FCE7}" type="slidenum">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2UpdateTarom.py</a:t>
            </a:r>
          </a:p>
        </p:txBody>
      </p:sp>
      <p:sp>
        <p:nvSpPr>
          <p:cNvPr id="255"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print("\nUpdate …")</a:t>
            </a:r>
          </a:p>
          <a:p>
            <a:pPr marL="432000" indent="-324000">
              <a:lnSpc>
                <a:spcPct val="100000"/>
              </a:lnSpc>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try: </a:t>
            </a:r>
          </a:p>
          <a:p>
            <a:pPr marL="432000" indent="-324000">
              <a:lnSpc>
                <a:spcPct val="100000"/>
              </a:lnSpc>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tag::get_cas_replace</a:t>
            </a:r>
          </a:p>
          <a:p>
            <a:pPr marL="432000" indent="-324000">
              <a:lnSpc>
                <a:spcPct val="100000"/>
              </a:lnSpc>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Replace document with CAS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result = collection.get("101")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doc = result.content_as[dict]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doc["name"] = "CAROM"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a:t>
            </a:r>
          </a:p>
        </p:txBody>
      </p:sp>
      <p:sp>
        <p:nvSpPr>
          <p:cNvPr id="4" name="PlaceHolder 3"/>
          <p:cNvSpPr>
            <a:spLocks noGrp="1"/>
          </p:cNvSpPr>
          <p:nvPr>
            <p:ph type="sldNum" idx="11"/>
          </p:nvPr>
        </p:nvSpPr>
        <p:spPr/>
        <p:txBody>
          <a:bodyPr/>
          <a:lstStyle/>
          <a:p>
            <a:fld id="{5894E0A7-DBF6-49B7-B72E-368000030F1B}" type="slidenum">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nSpc>
                <a:spcPct val="100000"/>
              </a:lnSpc>
              <a:buNone/>
              <a:tabLst>
                <a:tab pos="0" algn="l"/>
              </a:tabLst>
            </a:pPr>
            <a:r>
              <a:rPr lang="en-US" sz="4400" b="0" strike="noStrike" spc="-1">
                <a:solidFill>
                  <a:srgbClr val="000000"/>
                </a:solidFill>
                <a:latin typeface="Arial"/>
              </a:rPr>
              <a:t>2UpdateTarom.py</a:t>
            </a:r>
          </a:p>
        </p:txBody>
      </p:sp>
      <p:sp>
        <p:nvSpPr>
          <p:cNvPr id="257"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try: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doc["name"] = "CAROM"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opts = ReplaceOptions(cas=result.cas) </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result = collection.replace("101", doc, opts)</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 end::get_cas_replace</a:t>
            </a:r>
          </a:p>
          <a:p>
            <a:pPr marL="432000" indent="-324000">
              <a:lnSpc>
                <a:spcPct val="100000"/>
              </a:lnSpc>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except CASMismatchException as ex: print(ex)</a:t>
            </a:r>
          </a:p>
        </p:txBody>
      </p:sp>
      <p:sp>
        <p:nvSpPr>
          <p:cNvPr id="4" name="PlaceHolder 3"/>
          <p:cNvSpPr>
            <a:spLocks noGrp="1"/>
          </p:cNvSpPr>
          <p:nvPr>
            <p:ph type="sldNum" idx="11"/>
          </p:nvPr>
        </p:nvSpPr>
        <p:spPr/>
        <p:txBody>
          <a:bodyPr/>
          <a:lstStyle/>
          <a:p>
            <a:fld id="{ECE66A24-2B0E-4479-AACC-5AB119DA6F97}" type="slidenum">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59"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pic>
        <p:nvPicPr>
          <p:cNvPr id="260" name="Picture 259"/>
          <p:cNvPicPr/>
          <p:nvPr/>
        </p:nvPicPr>
        <p:blipFill>
          <a:blip r:embed="rId2"/>
          <a:stretch/>
        </p:blipFill>
        <p:spPr>
          <a:xfrm>
            <a:off x="-2160" y="1918440"/>
            <a:ext cx="12191400" cy="4425480"/>
          </a:xfrm>
          <a:prstGeom prst="rect">
            <a:avLst/>
          </a:prstGeom>
          <a:ln w="0">
            <a:noFill/>
          </a:ln>
        </p:spPr>
      </p:pic>
      <p:sp>
        <p:nvSpPr>
          <p:cNvPr id="4" name="PlaceHolder 3"/>
          <p:cNvSpPr>
            <a:spLocks noGrp="1"/>
          </p:cNvSpPr>
          <p:nvPr>
            <p:ph type="sldNum" idx="11"/>
          </p:nvPr>
        </p:nvSpPr>
        <p:spPr/>
        <p:txBody>
          <a:bodyPr/>
          <a:lstStyle/>
          <a:p>
            <a:fld id="{E55EDA09-7D73-4E36-8F58-138F9FA21F95}" type="slidenum">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CRUD</a:t>
            </a:r>
            <a:endParaRPr lang="en-US" sz="4400" b="0" strike="noStrike" spc="-1">
              <a:solidFill>
                <a:srgbClr val="000000"/>
              </a:solidFill>
              <a:latin typeface="Arial"/>
            </a:endParaRPr>
          </a:p>
        </p:txBody>
      </p:sp>
      <p:sp>
        <p:nvSpPr>
          <p:cNvPr id="26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Create</a:t>
            </a:r>
          </a:p>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Read</a:t>
            </a:r>
          </a:p>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Update</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Upsert</a:t>
            </a:r>
          </a:p>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Delete</a:t>
            </a:r>
          </a:p>
        </p:txBody>
      </p:sp>
      <p:sp>
        <p:nvSpPr>
          <p:cNvPr id="4" name="PlaceHolder 3"/>
          <p:cNvSpPr>
            <a:spLocks noGrp="1"/>
          </p:cNvSpPr>
          <p:nvPr>
            <p:ph type="sldNum" idx="11"/>
          </p:nvPr>
        </p:nvSpPr>
        <p:spPr/>
        <p:txBody>
          <a:bodyPr/>
          <a:lstStyle/>
          <a:p>
            <a:fld id="{AD80232C-47CF-4AAA-A4FF-834C9D022627}" type="slidenum">
              <a:rPr/>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Create</a:t>
            </a:r>
            <a:r>
              <a:rPr lang="en-US" sz="3700" b="0" strike="noStrike" spc="-1">
                <a:solidFill>
                  <a:schemeClr val="dk1"/>
                </a:solidFill>
                <a:latin typeface="Aptos Display"/>
              </a:rPr>
              <a:t>Tarom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6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print("\nCreate …")</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document = {'id': 101, 'type': 'airline', 'name': 'Tarom', \ 'iata': 'RO', 'icao': 'ROT', 'callsign': 'Tar-Rom', 'country': 'Romania'}</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result = collection.insert("101", document)</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cas = result.cas</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end::insert[]</a:t>
            </a:r>
          </a:p>
        </p:txBody>
      </p:sp>
      <p:sp>
        <p:nvSpPr>
          <p:cNvPr id="4" name="PlaceHolder 3"/>
          <p:cNvSpPr>
            <a:spLocks noGrp="1"/>
          </p:cNvSpPr>
          <p:nvPr>
            <p:ph type="sldNum" idx="11"/>
          </p:nvPr>
        </p:nvSpPr>
        <p:spPr/>
        <p:txBody>
          <a:bodyPr/>
          <a:lstStyle/>
          <a:p>
            <a:fld id="{D860314B-87E1-42AB-940A-D09B6771D8C7}" type="slidenum">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Read</a:t>
            </a:r>
            <a:r>
              <a:rPr lang="en-US" sz="3700" b="0" strike="noStrike" spc="-1">
                <a:solidFill>
                  <a:schemeClr val="dk1"/>
                </a:solidFill>
                <a:latin typeface="Aptos Display"/>
              </a:rPr>
              <a:t>Tarom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6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print("\nRead …")</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result = collection.get('101')</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print(result.content_as[dict])</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end::read[]</a:t>
            </a:r>
          </a:p>
        </p:txBody>
      </p:sp>
      <p:sp>
        <p:nvSpPr>
          <p:cNvPr id="4" name="PlaceHolder 3"/>
          <p:cNvSpPr>
            <a:spLocks noGrp="1"/>
          </p:cNvSpPr>
          <p:nvPr>
            <p:ph type="sldNum" idx="11"/>
          </p:nvPr>
        </p:nvSpPr>
        <p:spPr/>
        <p:txBody>
          <a:bodyPr/>
          <a:lstStyle/>
          <a:p>
            <a:fld id="{BADAE030-DD16-4E26-839E-BC474B0D4783}" type="slidenum">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Update</a:t>
            </a:r>
            <a:r>
              <a:rPr lang="en-US" sz="3700" b="0" strike="noStrike" spc="-1">
                <a:solidFill>
                  <a:schemeClr val="dk1"/>
                </a:solidFill>
                <a:latin typeface="Aptos Display"/>
              </a:rPr>
              <a:t>Tarom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68" name="PlaceHolder 2"/>
          <p:cNvSpPr>
            <a:spLocks noGrp="1"/>
          </p:cNvSpPr>
          <p:nvPr>
            <p:ph/>
          </p:nvPr>
        </p:nvSpPr>
        <p:spPr>
          <a:xfrm>
            <a:off x="838080" y="1371600"/>
            <a:ext cx="10514520" cy="4804200"/>
          </a:xfrm>
          <a:prstGeom prst="rect">
            <a:avLst/>
          </a:prstGeom>
          <a:noFill/>
          <a:ln w="0">
            <a:noFill/>
          </a:ln>
        </p:spPr>
        <p:txBody>
          <a:bodyPr lIns="91440" tIns="45720" rIns="91440" bIns="45720" anchor="t">
            <a:noAutofit/>
          </a:bodyPr>
          <a:lstStyle/>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try: # tag::get_cas_replace[] </a:t>
            </a:r>
          </a:p>
          <a:p>
            <a:pPr marL="432000" indent="-324000">
              <a:spcBef>
                <a:spcPts val="791"/>
              </a:spcBef>
              <a:spcAft>
                <a:spcPts val="720"/>
              </a:spcAft>
              <a:buClr>
                <a:srgbClr val="000000"/>
              </a:buClr>
              <a:buSzPct val="45000"/>
              <a:buFont typeface="Wingdings" charset="2"/>
              <a:buChar char=""/>
            </a:pPr>
            <a:r>
              <a:rPr lang="en-US" sz="2000" b="0" strike="noStrike" spc="-1">
                <a:solidFill>
                  <a:srgbClr val="000000"/>
                </a:solidFill>
                <a:latin typeface="Arial"/>
              </a:rPr>
              <a:t> 	# Replace document with CAS</a:t>
            </a:r>
            <a:r>
              <a:rPr lang="en-US" sz="2700" b="0" strike="noStrike" spc="-1">
                <a:solidFill>
                  <a:srgbClr val="000000"/>
                </a:solidFill>
                <a:latin typeface="Arial"/>
              </a:rPr>
              <a:t> </a:t>
            </a:r>
          </a:p>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 	result = collection.get("101") </a:t>
            </a:r>
          </a:p>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 	doc = result.content_as[dict] </a:t>
            </a:r>
          </a:p>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 	doc["name"] = "CAROM" </a:t>
            </a:r>
          </a:p>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 	opts = ReplaceOptions(cas=result.cas) </a:t>
            </a:r>
          </a:p>
          <a:p>
            <a:pPr marL="432000" indent="-324000">
              <a:spcBef>
                <a:spcPts val="791"/>
              </a:spcBef>
              <a:spcAft>
                <a:spcPts val="720"/>
              </a:spcAft>
              <a:buClr>
                <a:srgbClr val="000000"/>
              </a:buClr>
              <a:buSzPct val="45000"/>
              <a:buFont typeface="Wingdings" charset="2"/>
              <a:buChar char=""/>
            </a:pPr>
            <a:r>
              <a:rPr lang="en-US" sz="2500" b="0" strike="noStrike" spc="-1">
                <a:solidFill>
                  <a:srgbClr val="000000"/>
                </a:solidFill>
                <a:latin typeface="Arial"/>
              </a:rPr>
              <a:t> 	result = collection.replace("101", doc, opts) </a:t>
            </a:r>
          </a:p>
          <a:p>
            <a:pPr marL="432000" indent="-324000">
              <a:spcBef>
                <a:spcPts val="791"/>
              </a:spcBef>
              <a:spcAft>
                <a:spcPts val="720"/>
              </a:spcAft>
              <a:buClr>
                <a:srgbClr val="000000"/>
              </a:buClr>
              <a:buSzPct val="45000"/>
              <a:buFont typeface="Wingdings" charset="2"/>
              <a:buChar char=""/>
            </a:pPr>
            <a:r>
              <a:rPr lang="en-US" sz="2000" b="0" strike="noStrike" spc="-1">
                <a:solidFill>
                  <a:srgbClr val="000000"/>
                </a:solidFill>
                <a:latin typeface="Arial"/>
              </a:rPr>
              <a:t> 	# end::get_cas_replace[]</a:t>
            </a:r>
          </a:p>
          <a:p>
            <a:pPr marL="432000" indent="-324000">
              <a:spcBef>
                <a:spcPts val="791"/>
              </a:spcBef>
              <a:spcAft>
                <a:spcPts val="720"/>
              </a:spcAft>
              <a:buClr>
                <a:srgbClr val="000000"/>
              </a:buClr>
              <a:buSzPct val="45000"/>
              <a:buFont typeface="Wingdings" charset="2"/>
              <a:buChar char=""/>
            </a:pPr>
            <a:r>
              <a:rPr lang="en-US" sz="2000" b="0" strike="noStrike" spc="-1">
                <a:solidFill>
                  <a:srgbClr val="000000"/>
                </a:solidFill>
                <a:latin typeface="Arial"/>
              </a:rPr>
              <a:t>except CASMismatchException as ex: </a:t>
            </a:r>
          </a:p>
          <a:p>
            <a:pPr marL="432000" indent="-324000">
              <a:spcBef>
                <a:spcPts val="791"/>
              </a:spcBef>
              <a:spcAft>
                <a:spcPts val="720"/>
              </a:spcAft>
              <a:buClr>
                <a:srgbClr val="000000"/>
              </a:buClr>
              <a:buSzPct val="45000"/>
              <a:buFont typeface="Wingdings" charset="2"/>
              <a:buChar char=""/>
            </a:pPr>
            <a:r>
              <a:rPr lang="en-US" sz="2000" b="0" strike="noStrike" spc="-1">
                <a:solidFill>
                  <a:srgbClr val="000000"/>
                </a:solidFill>
                <a:latin typeface="Arial"/>
              </a:rPr>
              <a:t> 	print(ex)</a:t>
            </a:r>
          </a:p>
        </p:txBody>
      </p:sp>
      <p:sp>
        <p:nvSpPr>
          <p:cNvPr id="4" name="PlaceHolder 3"/>
          <p:cNvSpPr>
            <a:spLocks noGrp="1"/>
          </p:cNvSpPr>
          <p:nvPr>
            <p:ph type="sldNum" idx="11"/>
          </p:nvPr>
        </p:nvSpPr>
        <p:spPr/>
        <p:txBody>
          <a:bodyPr/>
          <a:lstStyle/>
          <a:p>
            <a:fld id="{4E82EE08-6F49-4613-94EC-791A1584082E}" type="slidenum">
              <a:rPr/>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Upsert</a:t>
            </a:r>
            <a:r>
              <a:rPr lang="en-US" sz="3700" b="0" strike="noStrike" spc="-1">
                <a:solidFill>
                  <a:schemeClr val="dk1"/>
                </a:solidFill>
                <a:latin typeface="Aptos Display"/>
              </a:rPr>
              <a:t>Tarom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70" name="PlaceHolder 2"/>
          <p:cNvSpPr>
            <a:spLocks noGrp="1"/>
          </p:cNvSpPr>
          <p:nvPr>
            <p:ph/>
          </p:nvPr>
        </p:nvSpPr>
        <p:spPr>
          <a:xfrm>
            <a:off x="228600" y="1371600"/>
            <a:ext cx="11658600" cy="4350240"/>
          </a:xfrm>
          <a:prstGeom prst="rect">
            <a:avLst/>
          </a:prstGeom>
          <a:noFill/>
          <a:ln w="0">
            <a:noFill/>
          </a:ln>
        </p:spPr>
        <p:txBody>
          <a:bodyPr lIns="91440" tIns="45720" rIns="91440" bIns="45720" anchor="t">
            <a:noAutofit/>
          </a:bodyPr>
          <a:lstStyle/>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try: # tag::durability[] </a:t>
            </a:r>
          </a:p>
          <a:p>
            <a:pPr marL="432000" indent="-324000">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Upsert with Durability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document = {'id': 111, 'type': 'airline', 'name': 'Tarom', \ 'iata': 'RO', 'icao': 'ROT', 'callsign': 'Tar-Rom', 'country': 'Romania'}</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a:t>
            </a:r>
            <a:r>
              <a:rPr lang="en-US" sz="2500" b="0" strike="noStrike" spc="-1">
                <a:solidFill>
                  <a:srgbClr val="000000"/>
                </a:solidFill>
                <a:latin typeface="Arial"/>
              </a:rPr>
              <a:t>result=collection.upsert("111", document, expiry=timedelta( seconds=300))</a:t>
            </a:r>
            <a:r>
              <a:rPr lang="en-US" sz="2700" b="0" strike="noStrike" spc="-1">
                <a:solidFill>
                  <a:srgbClr val="000000"/>
                </a:solidFill>
                <a:latin typeface="Arial"/>
              </a:rPr>
              <a:t>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 end::durability[]</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except CouchbaseException as ex: </a:t>
            </a:r>
          </a:p>
          <a:p>
            <a:pPr marL="432000" indent="-324000">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we expect an exception as Durability requires appropriately configured cluster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pass</a:t>
            </a:r>
          </a:p>
        </p:txBody>
      </p:sp>
      <p:sp>
        <p:nvSpPr>
          <p:cNvPr id="4" name="PlaceHolder 3"/>
          <p:cNvSpPr>
            <a:spLocks noGrp="1"/>
          </p:cNvSpPr>
          <p:nvPr>
            <p:ph type="sldNum" idx="11"/>
          </p:nvPr>
        </p:nvSpPr>
        <p:spPr/>
        <p:txBody>
          <a:bodyPr/>
          <a:lstStyle/>
          <a:p>
            <a:fld id="{1A5A628C-EA4E-41BC-8127-E771E1AEE4C4}" type="slidenum">
              <a:t>93</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Upsert</a:t>
            </a:r>
            <a:r>
              <a:rPr lang="en-US" sz="3700" b="0" strike="noStrike" spc="-1">
                <a:solidFill>
                  <a:schemeClr val="dk1"/>
                </a:solidFill>
                <a:latin typeface="Aptos Display"/>
              </a:rPr>
              <a:t>Carom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72" name="PlaceHolder 2"/>
          <p:cNvSpPr>
            <a:spLocks noGrp="1"/>
          </p:cNvSpPr>
          <p:nvPr>
            <p:ph/>
          </p:nvPr>
        </p:nvSpPr>
        <p:spPr>
          <a:xfrm>
            <a:off x="228600" y="1371600"/>
            <a:ext cx="11658600" cy="4350240"/>
          </a:xfrm>
          <a:prstGeom prst="rect">
            <a:avLst/>
          </a:prstGeom>
          <a:noFill/>
          <a:ln w="0">
            <a:noFill/>
          </a:ln>
        </p:spPr>
        <p:txBody>
          <a:bodyPr lIns="91440" tIns="45720" rIns="91440" bIns="45720" anchor="t">
            <a:noAutofit/>
          </a:bodyPr>
          <a:lstStyle/>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try: # tag::durability[] </a:t>
            </a:r>
          </a:p>
          <a:p>
            <a:pPr marL="432000" indent="-324000">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Upsert with Durability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document = {'id': 111, 'type': 'airline', 'name': 'Carom', \ 'iata': 'RO', 'icao': 'COT', 'callsign': 'Cart-Rom', 'country': 'Romania'}</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a:t>
            </a:r>
            <a:r>
              <a:rPr lang="en-US" sz="2500" b="0" strike="noStrike" spc="-1">
                <a:solidFill>
                  <a:srgbClr val="000000"/>
                </a:solidFill>
                <a:latin typeface="Arial"/>
              </a:rPr>
              <a:t>result=collection.upsert("111", document, expiry=timedelta( seconds=300))</a:t>
            </a:r>
            <a:r>
              <a:rPr lang="en-US" sz="2700" b="0" strike="noStrike" spc="-1">
                <a:solidFill>
                  <a:srgbClr val="000000"/>
                </a:solidFill>
                <a:latin typeface="Arial"/>
              </a:rPr>
              <a:t>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 end::durability[]</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except CouchbaseException as ex: </a:t>
            </a:r>
          </a:p>
          <a:p>
            <a:pPr marL="432000" indent="-324000">
              <a:spcBef>
                <a:spcPts val="1191"/>
              </a:spcBef>
              <a:spcAft>
                <a:spcPts val="992"/>
              </a:spcAft>
              <a:buClr>
                <a:srgbClr val="000000"/>
              </a:buClr>
              <a:buSzPct val="45000"/>
              <a:buFont typeface="Wingdings" charset="2"/>
              <a:buChar char=""/>
            </a:pPr>
            <a:r>
              <a:rPr lang="en-US" sz="2000" b="0" strike="noStrike" spc="-1">
                <a:solidFill>
                  <a:srgbClr val="000000"/>
                </a:solidFill>
                <a:latin typeface="Arial"/>
              </a:rPr>
              <a:t>    # we expect an exception as Durability requires appropriately configured cluster </a:t>
            </a:r>
          </a:p>
          <a:p>
            <a:pPr marL="432000" indent="-324000">
              <a:spcBef>
                <a:spcPts val="1191"/>
              </a:spcBef>
              <a:spcAft>
                <a:spcPts val="992"/>
              </a:spcAft>
              <a:buClr>
                <a:srgbClr val="000000"/>
              </a:buClr>
              <a:buSzPct val="45000"/>
              <a:buFont typeface="Wingdings" charset="2"/>
              <a:buChar char=""/>
            </a:pPr>
            <a:r>
              <a:rPr lang="en-US" sz="2700" b="0" strike="noStrike" spc="-1">
                <a:solidFill>
                  <a:srgbClr val="000000"/>
                </a:solidFill>
                <a:latin typeface="Arial"/>
              </a:rPr>
              <a:t>    pass</a:t>
            </a:r>
          </a:p>
        </p:txBody>
      </p:sp>
      <p:sp>
        <p:nvSpPr>
          <p:cNvPr id="4" name="PlaceHolder 3"/>
          <p:cNvSpPr>
            <a:spLocks noGrp="1"/>
          </p:cNvSpPr>
          <p:nvPr>
            <p:ph type="sldNum" idx="11"/>
          </p:nvPr>
        </p:nvSpPr>
        <p:spPr/>
        <p:txBody>
          <a:bodyPr/>
          <a:lstStyle/>
          <a:p>
            <a:fld id="{E9AEF8CE-3E43-4520-BF42-EFFA206D7F2B}" type="slidenum">
              <a:rPr/>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Delete</a:t>
            </a:r>
            <a:r>
              <a:rPr lang="en-US" sz="3700" b="0" strike="noStrike" spc="-1">
                <a:solidFill>
                  <a:schemeClr val="dk1"/>
                </a:solidFill>
                <a:latin typeface="Aptos Display"/>
              </a:rPr>
              <a:t>Tarom</a:t>
            </a:r>
            <a:r>
              <a:rPr lang="en-US" sz="4400" b="0" strike="noStrike" spc="-1">
                <a:solidFill>
                  <a:schemeClr val="dk1"/>
                </a:solidFill>
                <a:latin typeface="Aptos Display"/>
              </a:rPr>
              <a:t>.py</a:t>
            </a:r>
            <a:endParaRPr lang="en-US" sz="4400" b="0" strike="noStrike" spc="-1">
              <a:solidFill>
                <a:srgbClr val="000000"/>
              </a:solidFill>
              <a:latin typeface="Arial"/>
            </a:endParaRPr>
          </a:p>
        </p:txBody>
      </p:sp>
      <p:sp>
        <p:nvSpPr>
          <p:cNvPr id="27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print("\nDelete …")</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 remove document with options</a:t>
            </a:r>
          </a:p>
          <a:p>
            <a:pPr marL="432000" indent="-324000">
              <a:spcBef>
                <a:spcPts val="1191"/>
              </a:spcBef>
              <a:spcAft>
                <a:spcPts val="992"/>
              </a:spcAft>
              <a:buClr>
                <a:srgbClr val="000000"/>
              </a:buClr>
              <a:buSzPct val="45000"/>
              <a:buFont typeface="Wingdings" charset="2"/>
              <a:buChar char=""/>
            </a:pPr>
            <a:r>
              <a:rPr lang="en-US" sz="2800" b="0" strike="noStrike" spc="-1">
                <a:solidFill>
                  <a:srgbClr val="000000"/>
                </a:solidFill>
                <a:latin typeface="Arial"/>
              </a:rPr>
              <a:t>result = collection.remove("101")</a:t>
            </a:r>
          </a:p>
        </p:txBody>
      </p:sp>
      <p:sp>
        <p:nvSpPr>
          <p:cNvPr id="4" name="PlaceHolder 3"/>
          <p:cNvSpPr>
            <a:spLocks noGrp="1"/>
          </p:cNvSpPr>
          <p:nvPr>
            <p:ph type="sldNum" idx="11"/>
          </p:nvPr>
        </p:nvSpPr>
        <p:spPr/>
        <p:txBody>
          <a:bodyPr/>
          <a:lstStyle/>
          <a:p>
            <a:fld id="{C027A008-CEDD-4594-9F50-1960D3AD1E80}" type="slidenum">
              <a:rPr/>
              <a:t>95</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B9949-2984-C553-ADEA-33934D49AE87}"/>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C8CDE8E5-6041-B6A3-10F6-5AAD178D21BF}"/>
              </a:ext>
            </a:extLst>
          </p:cNvPr>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a:tabLst>
                <a:tab pos="0" algn="l"/>
              </a:tabLst>
            </a:pPr>
            <a:r>
              <a:rPr lang="en-US" dirty="0"/>
              <a:t>Durability</a:t>
            </a:r>
            <a:endParaRPr lang="en-US" sz="4400" b="0" strike="noStrike" spc="-1" dirty="0">
              <a:solidFill>
                <a:srgbClr val="000000"/>
              </a:solidFill>
              <a:latin typeface="Arial"/>
            </a:endParaRPr>
          </a:p>
        </p:txBody>
      </p:sp>
      <p:sp>
        <p:nvSpPr>
          <p:cNvPr id="59" name="PlaceHolder 2">
            <a:extLst>
              <a:ext uri="{FF2B5EF4-FFF2-40B4-BE49-F238E27FC236}">
                <a16:creationId xmlns:a16="http://schemas.microsoft.com/office/drawing/2014/main" id="{2919CF46-7F48-18F6-2E54-DF4A9E8D6BC4}"/>
              </a:ext>
            </a:extLst>
          </p:cNvPr>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writes in Couchbase are written to single node, and from there the server will take care of sending that mutation to any configured replicas</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optional durability parameter, which all mutating operations accept, allows application to wait until this replication (or persistence) is successful before proceeding</a:t>
            </a:r>
          </a:p>
        </p:txBody>
      </p:sp>
      <p:sp>
        <p:nvSpPr>
          <p:cNvPr id="4" name="PlaceHolder 3">
            <a:extLst>
              <a:ext uri="{FF2B5EF4-FFF2-40B4-BE49-F238E27FC236}">
                <a16:creationId xmlns:a16="http://schemas.microsoft.com/office/drawing/2014/main" id="{0B3B56F4-BEC4-282A-F7E9-52D86A7D5664}"/>
              </a:ext>
            </a:extLst>
          </p:cNvPr>
          <p:cNvSpPr>
            <a:spLocks noGrp="1"/>
          </p:cNvSpPr>
          <p:nvPr>
            <p:ph type="sldNum" idx="11"/>
          </p:nvPr>
        </p:nvSpPr>
        <p:spPr/>
        <p:txBody>
          <a:bodyPr/>
          <a:lstStyle/>
          <a:p>
            <a:fld id="{7596CD4D-9A4A-48CA-BFF4-AD9A7568788A}" type="slidenum">
              <a:rPr/>
              <a:t>96</a:t>
            </a:fld>
            <a:endParaRPr/>
          </a:p>
        </p:txBody>
      </p:sp>
    </p:spTree>
    <p:extLst>
      <p:ext uri="{BB962C8B-B14F-4D97-AF65-F5344CB8AC3E}">
        <p14:creationId xmlns:p14="http://schemas.microsoft.com/office/powerpoint/2010/main" val="26832643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71EF-CCF2-7DC1-5834-3460069D3E3B}"/>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EDD6683B-9E14-29D9-6F1C-90B16B6FCC17}"/>
              </a:ext>
            </a:extLst>
          </p:cNvPr>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a:tabLst>
                <a:tab pos="0" algn="l"/>
              </a:tabLst>
            </a:pPr>
            <a:r>
              <a:rPr lang="en-US" dirty="0"/>
              <a:t>durability levels:</a:t>
            </a:r>
            <a:endParaRPr lang="en-US" sz="4400" b="0" strike="noStrike" spc="-1" dirty="0">
              <a:solidFill>
                <a:srgbClr val="000000"/>
              </a:solidFill>
              <a:latin typeface="Arial"/>
            </a:endParaRPr>
          </a:p>
        </p:txBody>
      </p:sp>
      <p:sp>
        <p:nvSpPr>
          <p:cNvPr id="59" name="PlaceHolder 2">
            <a:extLst>
              <a:ext uri="{FF2B5EF4-FFF2-40B4-BE49-F238E27FC236}">
                <a16:creationId xmlns:a16="http://schemas.microsoft.com/office/drawing/2014/main" id="{1A0B6571-1719-4CF8-87E9-12FE827E7CA6}"/>
              </a:ext>
            </a:extLst>
          </p:cNvPr>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Majority - server will ensure that the change is available in memory on majority of configured replicas</a:t>
            </a:r>
          </a:p>
          <a:p>
            <a:pPr marL="228600" indent="-228600" defTabSz="914400">
              <a:lnSpc>
                <a:spcPct val="90000"/>
              </a:lnSpc>
              <a:spcBef>
                <a:spcPts val="1001"/>
              </a:spcBef>
              <a:buClr>
                <a:srgbClr val="000000"/>
              </a:buClr>
              <a:buFont typeface="Arial"/>
              <a:buChar char="•"/>
            </a:pPr>
            <a:r>
              <a:rPr lang="en-US" sz="2800" b="0" strike="noStrike" spc="-1" dirty="0" err="1">
                <a:solidFill>
                  <a:schemeClr val="dk1"/>
                </a:solidFill>
                <a:latin typeface="Aptos"/>
              </a:rPr>
              <a:t>MajorityAndPersistToActive</a:t>
            </a:r>
            <a:r>
              <a:rPr lang="en-US" sz="2800" b="0" strike="noStrike" spc="-1" dirty="0">
                <a:solidFill>
                  <a:schemeClr val="dk1"/>
                </a:solidFill>
                <a:latin typeface="Aptos"/>
              </a:rPr>
              <a:t> - majority level, plus persisted to disk on active nodes</a:t>
            </a:r>
          </a:p>
          <a:p>
            <a:pPr marL="228600" indent="-228600" defTabSz="914400">
              <a:lnSpc>
                <a:spcPct val="90000"/>
              </a:lnSpc>
              <a:spcBef>
                <a:spcPts val="1001"/>
              </a:spcBef>
              <a:buClr>
                <a:srgbClr val="000000"/>
              </a:buClr>
              <a:buFont typeface="Arial"/>
              <a:buChar char="•"/>
            </a:pPr>
            <a:r>
              <a:rPr lang="en-US" sz="2800" b="0" strike="noStrike" spc="-1" dirty="0" err="1">
                <a:solidFill>
                  <a:schemeClr val="dk1"/>
                </a:solidFill>
                <a:latin typeface="Aptos"/>
              </a:rPr>
              <a:t>PersistToMajority</a:t>
            </a:r>
            <a:r>
              <a:rPr lang="en-US" sz="2800" b="0" strike="noStrike" spc="-1" dirty="0">
                <a:solidFill>
                  <a:schemeClr val="dk1"/>
                </a:solidFill>
                <a:latin typeface="Aptos"/>
              </a:rPr>
              <a:t> - majority level, plus persisted to disk on majority of configured replicas</a:t>
            </a:r>
          </a:p>
          <a:p>
            <a:pPr marL="228600" indent="-228600" defTabSz="914400">
              <a:lnSpc>
                <a:spcPct val="90000"/>
              </a:lnSpc>
              <a:spcBef>
                <a:spcPts val="1001"/>
              </a:spcBef>
              <a:buClr>
                <a:srgbClr val="000000"/>
              </a:buClr>
              <a:buFont typeface="Arial"/>
              <a:buChar char="•"/>
            </a:pPr>
            <a:endParaRPr lang="en-US" sz="2800" b="0" strike="noStrike" spc="-1" dirty="0">
              <a:solidFill>
                <a:schemeClr val="dk1"/>
              </a:solidFill>
              <a:latin typeface="Aptos"/>
            </a:endParaRPr>
          </a:p>
        </p:txBody>
      </p:sp>
      <p:sp>
        <p:nvSpPr>
          <p:cNvPr id="4" name="PlaceHolder 3">
            <a:extLst>
              <a:ext uri="{FF2B5EF4-FFF2-40B4-BE49-F238E27FC236}">
                <a16:creationId xmlns:a16="http://schemas.microsoft.com/office/drawing/2014/main" id="{2093858F-F3DB-CC5E-6B54-53CE10047A62}"/>
              </a:ext>
            </a:extLst>
          </p:cNvPr>
          <p:cNvSpPr>
            <a:spLocks noGrp="1"/>
          </p:cNvSpPr>
          <p:nvPr>
            <p:ph type="sldNum" idx="11"/>
          </p:nvPr>
        </p:nvSpPr>
        <p:spPr/>
        <p:txBody>
          <a:bodyPr/>
          <a:lstStyle/>
          <a:p>
            <a:fld id="{7596CD4D-9A4A-48CA-BFF4-AD9A7568788A}" type="slidenum">
              <a:rPr/>
              <a:t>97</a:t>
            </a:fld>
            <a:endParaRPr/>
          </a:p>
        </p:txBody>
      </p:sp>
    </p:spTree>
    <p:extLst>
      <p:ext uri="{BB962C8B-B14F-4D97-AF65-F5344CB8AC3E}">
        <p14:creationId xmlns:p14="http://schemas.microsoft.com/office/powerpoint/2010/main" val="38355711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1EA07-5AEC-7140-E9FC-D21E905604B1}"/>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C01B5460-1D28-A9E5-84F7-FD4348F714D0}"/>
              </a:ext>
            </a:extLst>
          </p:cNvPr>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a:tabLst>
                <a:tab pos="0" algn="l"/>
              </a:tabLst>
            </a:pPr>
            <a:r>
              <a:rPr lang="en-US" dirty="0"/>
              <a:t>Expiration</a:t>
            </a:r>
            <a:endParaRPr lang="en-US" sz="4400" b="0" strike="noStrike" spc="-1" dirty="0">
              <a:solidFill>
                <a:srgbClr val="000000"/>
              </a:solidFill>
              <a:latin typeface="Arial"/>
            </a:endParaRPr>
          </a:p>
        </p:txBody>
      </p:sp>
      <p:sp>
        <p:nvSpPr>
          <p:cNvPr id="59" name="PlaceHolder 2">
            <a:extLst>
              <a:ext uri="{FF2B5EF4-FFF2-40B4-BE49-F238E27FC236}">
                <a16:creationId xmlns:a16="http://schemas.microsoft.com/office/drawing/2014/main" id="{20C73907-85F2-6BFD-4F09-24F61A61D02C}"/>
              </a:ext>
            </a:extLst>
          </p:cNvPr>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strike="noStrike" spc="-1" dirty="0">
                <a:solidFill>
                  <a:schemeClr val="dk1"/>
                </a:solidFill>
                <a:latin typeface="Aptos"/>
              </a:rPr>
              <a:t>options like timeout and expiry are </a:t>
            </a:r>
            <a:r>
              <a:rPr lang="en-US" sz="3200" b="0" strike="noStrike" spc="-1" dirty="0" err="1">
                <a:solidFill>
                  <a:schemeClr val="dk1"/>
                </a:solidFill>
                <a:latin typeface="Aptos"/>
              </a:rPr>
              <a:t>timedelta</a:t>
            </a:r>
            <a:r>
              <a:rPr lang="en-US" sz="3200" b="0" strike="noStrike" spc="-1" dirty="0">
                <a:solidFill>
                  <a:schemeClr val="dk1"/>
                </a:solidFill>
                <a:latin typeface="Aptos"/>
              </a:rPr>
              <a:t> objects</a:t>
            </a:r>
          </a:p>
          <a:p>
            <a:pPr marL="228600" indent="-228600" defTabSz="914400">
              <a:lnSpc>
                <a:spcPct val="90000"/>
              </a:lnSpc>
              <a:spcBef>
                <a:spcPts val="1001"/>
              </a:spcBef>
              <a:buClr>
                <a:srgbClr val="000000"/>
              </a:buClr>
              <a:buFont typeface="Arial"/>
              <a:buChar char="•"/>
            </a:pPr>
            <a:endParaRPr lang="en-US" sz="2800" b="0" strike="noStrike" spc="-1" dirty="0">
              <a:solidFill>
                <a:schemeClr val="dk1"/>
              </a:solidFill>
              <a:latin typeface="Aptos"/>
            </a:endParaRP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result = </a:t>
            </a:r>
            <a:r>
              <a:rPr lang="en-US" sz="2800" b="0" strike="noStrike" spc="-1" dirty="0" err="1">
                <a:solidFill>
                  <a:schemeClr val="dk1"/>
                </a:solidFill>
                <a:latin typeface="Aptos"/>
              </a:rPr>
              <a:t>collection.insert</a:t>
            </a:r>
            <a:r>
              <a:rPr lang="en-US" sz="2800" b="0" strike="noStrike" spc="-1" dirty="0">
                <a:solidFill>
                  <a:schemeClr val="dk1"/>
                </a:solidFill>
                <a:latin typeface="Aptos"/>
              </a:rPr>
              <a:t>("document-key",</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                           document,</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                           opts,</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                           expiry=</a:t>
            </a:r>
            <a:r>
              <a:rPr lang="en-US" sz="2800" b="0" strike="noStrike" spc="-1" dirty="0" err="1">
                <a:solidFill>
                  <a:schemeClr val="dk1"/>
                </a:solidFill>
                <a:latin typeface="Aptos"/>
              </a:rPr>
              <a:t>timedelta</a:t>
            </a:r>
            <a:r>
              <a:rPr lang="en-US" sz="2800" b="0" strike="noStrike" spc="-1" dirty="0">
                <a:solidFill>
                  <a:schemeClr val="dk1"/>
                </a:solidFill>
                <a:latin typeface="Aptos"/>
              </a:rPr>
              <a:t>(seconds=30))</a:t>
            </a:r>
          </a:p>
        </p:txBody>
      </p:sp>
      <p:sp>
        <p:nvSpPr>
          <p:cNvPr id="4" name="PlaceHolder 3">
            <a:extLst>
              <a:ext uri="{FF2B5EF4-FFF2-40B4-BE49-F238E27FC236}">
                <a16:creationId xmlns:a16="http://schemas.microsoft.com/office/drawing/2014/main" id="{199483E3-6723-413D-777F-BEF702BDC7DE}"/>
              </a:ext>
            </a:extLst>
          </p:cNvPr>
          <p:cNvSpPr>
            <a:spLocks noGrp="1"/>
          </p:cNvSpPr>
          <p:nvPr>
            <p:ph type="sldNum" idx="11"/>
          </p:nvPr>
        </p:nvSpPr>
        <p:spPr/>
        <p:txBody>
          <a:bodyPr/>
          <a:lstStyle/>
          <a:p>
            <a:fld id="{7596CD4D-9A4A-48CA-BFF4-AD9A7568788A}" type="slidenum">
              <a:rPr/>
              <a:t>98</a:t>
            </a:fld>
            <a:endParaRPr/>
          </a:p>
        </p:txBody>
      </p:sp>
    </p:spTree>
    <p:extLst>
      <p:ext uri="{BB962C8B-B14F-4D97-AF65-F5344CB8AC3E}">
        <p14:creationId xmlns:p14="http://schemas.microsoft.com/office/powerpoint/2010/main" val="17026402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E25FE-B946-2D99-FBAD-735C2962049A}"/>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F0504963-C28E-C535-7B40-53F7237B2C56}"/>
              </a:ext>
            </a:extLst>
          </p:cNvPr>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a:tabLst>
                <a:tab pos="0" algn="l"/>
              </a:tabLst>
            </a:pPr>
            <a:r>
              <a:rPr lang="en-US" dirty="0"/>
              <a:t>Expiration</a:t>
            </a:r>
            <a:endParaRPr lang="en-US" sz="4400" b="0" strike="noStrike" spc="-1" dirty="0">
              <a:solidFill>
                <a:srgbClr val="000000"/>
              </a:solidFill>
              <a:latin typeface="Arial"/>
            </a:endParaRPr>
          </a:p>
        </p:txBody>
      </p:sp>
      <p:sp>
        <p:nvSpPr>
          <p:cNvPr id="59" name="PlaceHolder 2">
            <a:extLst>
              <a:ext uri="{FF2B5EF4-FFF2-40B4-BE49-F238E27FC236}">
                <a16:creationId xmlns:a16="http://schemas.microsoft.com/office/drawing/2014/main" id="{B74F5A1C-3587-DCAC-D668-C315FEB17806}"/>
              </a:ext>
            </a:extLst>
          </p:cNvPr>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sets an explicit time to live (TTL) for a document</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by default, Couchbase documents do not expire, but transient or temporary data may be needed </a:t>
            </a:r>
            <a:r>
              <a:rPr lang="en-US" sz="2700" b="0" strike="noStrike" spc="-1" dirty="0">
                <a:solidFill>
                  <a:schemeClr val="dk1"/>
                </a:solidFill>
                <a:latin typeface="Aptos"/>
              </a:rPr>
              <a:t>for user sessions, caches, or other temporary documents</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can use expiration values on documents to handle transient data</a:t>
            </a:r>
          </a:p>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to prevent document from expiring you can use Touch operations which will extend expiry by the time specified</a:t>
            </a:r>
          </a:p>
          <a:p>
            <a:pPr marL="228600" indent="-228600" defTabSz="914400">
              <a:lnSpc>
                <a:spcPct val="90000"/>
              </a:lnSpc>
              <a:spcBef>
                <a:spcPts val="1001"/>
              </a:spcBef>
              <a:buClr>
                <a:srgbClr val="000000"/>
              </a:buClr>
              <a:buFont typeface="Arial"/>
              <a:buChar char="•"/>
            </a:pPr>
            <a:r>
              <a:rPr lang="en-US" sz="2700" b="0" strike="noStrike" spc="-1" dirty="0">
                <a:solidFill>
                  <a:schemeClr val="dk1"/>
                </a:solidFill>
                <a:latin typeface="Aptos"/>
              </a:rPr>
              <a:t>result = </a:t>
            </a:r>
            <a:r>
              <a:rPr lang="en-US" sz="2700" b="0" strike="noStrike" spc="-1" dirty="0" err="1">
                <a:solidFill>
                  <a:schemeClr val="dk1"/>
                </a:solidFill>
                <a:latin typeface="Aptos"/>
              </a:rPr>
              <a:t>collection.</a:t>
            </a:r>
            <a:r>
              <a:rPr lang="en-US" sz="2800" b="0" strike="noStrike" spc="-1" dirty="0" err="1">
                <a:solidFill>
                  <a:schemeClr val="dk1"/>
                </a:solidFill>
                <a:latin typeface="Aptos"/>
              </a:rPr>
              <a:t>touch</a:t>
            </a:r>
            <a:r>
              <a:rPr lang="en-US" sz="2700" b="0" strike="noStrike" spc="-1" dirty="0">
                <a:solidFill>
                  <a:schemeClr val="dk1"/>
                </a:solidFill>
                <a:latin typeface="Aptos"/>
              </a:rPr>
              <a:t>("document-key", </a:t>
            </a:r>
            <a:r>
              <a:rPr lang="en-US" sz="2700" b="0" strike="noStrike" spc="-1" dirty="0" err="1">
                <a:solidFill>
                  <a:schemeClr val="dk1"/>
                </a:solidFill>
                <a:latin typeface="Aptos"/>
              </a:rPr>
              <a:t>timedelta</a:t>
            </a:r>
            <a:r>
              <a:rPr lang="en-US" sz="2700" b="0" strike="noStrike" spc="-1" dirty="0">
                <a:solidFill>
                  <a:schemeClr val="dk1"/>
                </a:solidFill>
                <a:latin typeface="Aptos"/>
              </a:rPr>
              <a:t>(seconds=10))</a:t>
            </a:r>
          </a:p>
          <a:p>
            <a:pPr marL="228600" indent="-228600">
              <a:spcBef>
                <a:spcPts val="1001"/>
              </a:spcBef>
              <a:buClr>
                <a:srgbClr val="000000"/>
              </a:buClr>
              <a:buFont typeface="Arial"/>
              <a:buChar char="•"/>
            </a:pPr>
            <a:r>
              <a:rPr lang="en-US" sz="2700" b="0" strike="noStrike" spc="-1" dirty="0">
                <a:solidFill>
                  <a:schemeClr val="dk1"/>
                </a:solidFill>
                <a:latin typeface="Aptos"/>
              </a:rPr>
              <a:t>result = </a:t>
            </a:r>
            <a:r>
              <a:rPr lang="en-US" sz="2700" b="0" strike="noStrike" spc="-1" dirty="0" err="1">
                <a:solidFill>
                  <a:schemeClr val="dk1"/>
                </a:solidFill>
                <a:latin typeface="Aptos"/>
              </a:rPr>
              <a:t>collection.</a:t>
            </a:r>
            <a:r>
              <a:rPr lang="en-US" sz="2800" b="0" strike="noStrike" spc="-1" dirty="0" err="1">
                <a:solidFill>
                  <a:schemeClr val="dk1"/>
                </a:solidFill>
                <a:latin typeface="Aptos"/>
              </a:rPr>
              <a:t>touch</a:t>
            </a:r>
            <a:r>
              <a:rPr lang="en-US" sz="2700" b="0" strike="noStrike" spc="-1" dirty="0">
                <a:solidFill>
                  <a:schemeClr val="dk1"/>
                </a:solidFill>
                <a:latin typeface="Aptos"/>
              </a:rPr>
              <a:t>("document-key", </a:t>
            </a:r>
            <a:r>
              <a:rPr lang="en-US" sz="2700" b="0" strike="noStrike" spc="-1" dirty="0" err="1">
                <a:solidFill>
                  <a:schemeClr val="dk1"/>
                </a:solidFill>
                <a:latin typeface="Aptos"/>
              </a:rPr>
              <a:t>timedelta</a:t>
            </a:r>
            <a:r>
              <a:rPr lang="en-US" sz="2700" b="0" strike="noStrike" spc="-1" dirty="0">
                <a:solidFill>
                  <a:schemeClr val="dk1"/>
                </a:solidFill>
                <a:latin typeface="Aptos"/>
              </a:rPr>
              <a:t>(seconds=100))</a:t>
            </a:r>
          </a:p>
          <a:p>
            <a:pPr marL="228600" indent="-228600" defTabSz="914400">
              <a:lnSpc>
                <a:spcPct val="90000"/>
              </a:lnSpc>
              <a:spcBef>
                <a:spcPts val="1001"/>
              </a:spcBef>
              <a:buClr>
                <a:srgbClr val="000000"/>
              </a:buClr>
              <a:buFont typeface="Arial"/>
              <a:buChar char="•"/>
            </a:pPr>
            <a:endParaRPr lang="en-US" sz="2800" b="0" strike="noStrike" spc="-1" dirty="0">
              <a:solidFill>
                <a:schemeClr val="dk1"/>
              </a:solidFill>
              <a:latin typeface="Aptos"/>
            </a:endParaRPr>
          </a:p>
        </p:txBody>
      </p:sp>
      <p:sp>
        <p:nvSpPr>
          <p:cNvPr id="4" name="PlaceHolder 3">
            <a:extLst>
              <a:ext uri="{FF2B5EF4-FFF2-40B4-BE49-F238E27FC236}">
                <a16:creationId xmlns:a16="http://schemas.microsoft.com/office/drawing/2014/main" id="{5361306C-F6E4-1DAC-4987-E388758E7FE0}"/>
              </a:ext>
            </a:extLst>
          </p:cNvPr>
          <p:cNvSpPr>
            <a:spLocks noGrp="1"/>
          </p:cNvSpPr>
          <p:nvPr>
            <p:ph type="sldNum" idx="11"/>
          </p:nvPr>
        </p:nvSpPr>
        <p:spPr/>
        <p:txBody>
          <a:bodyPr/>
          <a:lstStyle/>
          <a:p>
            <a:fld id="{7596CD4D-9A4A-48CA-BFF4-AD9A7568788A}" type="slidenum">
              <a:rPr/>
              <a:t>99</a:t>
            </a:fld>
            <a:endParaRPr/>
          </a:p>
        </p:txBody>
      </p:sp>
    </p:spTree>
    <p:extLst>
      <p:ext uri="{BB962C8B-B14F-4D97-AF65-F5344CB8AC3E}">
        <p14:creationId xmlns:p14="http://schemas.microsoft.com/office/powerpoint/2010/main" val="21885326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170EE-ED2C-743D-74E7-320633640990}"/>
            </a:ext>
          </a:extLst>
        </p:cNvPr>
        <p:cNvGrpSpPr/>
        <p:nvPr/>
      </p:nvGrpSpPr>
      <p:grpSpPr>
        <a:xfrm>
          <a:off x="0" y="0"/>
          <a:ext cx="0" cy="0"/>
          <a:chOff x="0" y="0"/>
          <a:chExt cx="0" cy="0"/>
        </a:xfrm>
      </p:grpSpPr>
      <p:sp>
        <p:nvSpPr>
          <p:cNvPr id="58" name="PlaceHolder 1">
            <a:extLst>
              <a:ext uri="{FF2B5EF4-FFF2-40B4-BE49-F238E27FC236}">
                <a16:creationId xmlns:a16="http://schemas.microsoft.com/office/drawing/2014/main" id="{B3A4D799-6491-D898-8BCC-519F12F164DF}"/>
              </a:ext>
            </a:extLst>
          </p:cNvPr>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a:tabLst>
                <a:tab pos="0" algn="l"/>
              </a:tabLst>
            </a:pPr>
            <a:r>
              <a:rPr lang="en-US" dirty="0"/>
              <a:t>Expiration</a:t>
            </a:r>
            <a:endParaRPr lang="en-US" sz="4400" b="0" strike="noStrike" spc="-1" dirty="0">
              <a:solidFill>
                <a:srgbClr val="000000"/>
              </a:solidFill>
              <a:latin typeface="Arial"/>
            </a:endParaRPr>
          </a:p>
        </p:txBody>
      </p:sp>
      <p:sp>
        <p:nvSpPr>
          <p:cNvPr id="59" name="PlaceHolder 2">
            <a:extLst>
              <a:ext uri="{FF2B5EF4-FFF2-40B4-BE49-F238E27FC236}">
                <a16:creationId xmlns:a16="http://schemas.microsoft.com/office/drawing/2014/main" id="{6006273C-8B98-4CBA-A3E2-BCB8C230F5CA}"/>
              </a:ext>
            </a:extLst>
          </p:cNvPr>
          <p:cNvSpPr>
            <a:spLocks noGrp="1"/>
          </p:cNvSpPr>
          <p:nvPr>
            <p:ph/>
          </p:nvPr>
        </p:nvSpPr>
        <p:spPr>
          <a:xfrm>
            <a:off x="838080" y="1825560"/>
            <a:ext cx="10911468"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chemeClr val="dk1"/>
                </a:solidFill>
                <a:latin typeface="Aptos"/>
              </a:rPr>
              <a:t>when getting a document, the expiry is not provided automatically but it can be requested:</a:t>
            </a:r>
          </a:p>
          <a:p>
            <a:pPr marL="228600" indent="-228600" defTabSz="914400">
              <a:lnSpc>
                <a:spcPct val="90000"/>
              </a:lnSpc>
              <a:spcBef>
                <a:spcPts val="1001"/>
              </a:spcBef>
              <a:buClr>
                <a:srgbClr val="000000"/>
              </a:buClr>
              <a:buFont typeface="Arial"/>
              <a:buChar char="•"/>
            </a:pPr>
            <a:r>
              <a:rPr lang="en-US" sz="2700" b="0" strike="noStrike" spc="-1" dirty="0">
                <a:solidFill>
                  <a:schemeClr val="dk1"/>
                </a:solidFill>
                <a:latin typeface="Aptos"/>
              </a:rPr>
              <a:t>result = </a:t>
            </a:r>
            <a:r>
              <a:rPr lang="en-US" sz="2700" b="0" strike="noStrike" spc="-1" dirty="0" err="1">
                <a:solidFill>
                  <a:schemeClr val="dk1"/>
                </a:solidFill>
                <a:latin typeface="Aptos"/>
              </a:rPr>
              <a:t>collection.get</a:t>
            </a:r>
            <a:r>
              <a:rPr lang="en-US" sz="2700" b="0" strike="noStrike" spc="-1" dirty="0">
                <a:solidFill>
                  <a:schemeClr val="dk1"/>
                </a:solidFill>
                <a:latin typeface="Aptos"/>
              </a:rPr>
              <a:t>("document-key", </a:t>
            </a:r>
            <a:r>
              <a:rPr lang="en-US" sz="2700" b="0" strike="noStrike" spc="-1" dirty="0" err="1">
                <a:solidFill>
                  <a:schemeClr val="dk1"/>
                </a:solidFill>
                <a:latin typeface="Aptos"/>
              </a:rPr>
              <a:t>GetOptions</a:t>
            </a:r>
            <a:r>
              <a:rPr lang="en-US" sz="2700" b="0" strike="noStrike" spc="-1" dirty="0">
                <a:solidFill>
                  <a:schemeClr val="dk1"/>
                </a:solidFill>
                <a:latin typeface="Aptos"/>
              </a:rPr>
              <a:t>(</a:t>
            </a:r>
            <a:r>
              <a:rPr lang="en-US" sz="2700" b="0" strike="noStrike" spc="-1" dirty="0" err="1">
                <a:solidFill>
                  <a:schemeClr val="dk1"/>
                </a:solidFill>
                <a:latin typeface="Aptos"/>
              </a:rPr>
              <a:t>with_expiry</a:t>
            </a:r>
            <a:r>
              <a:rPr lang="en-US" sz="2700" b="0" strike="noStrike" spc="-1" dirty="0">
                <a:solidFill>
                  <a:schemeClr val="dk1"/>
                </a:solidFill>
                <a:latin typeface="Aptos"/>
              </a:rPr>
              <a:t>=True))</a:t>
            </a:r>
          </a:p>
          <a:p>
            <a:pPr marL="228600" indent="-228600" defTabSz="914400">
              <a:lnSpc>
                <a:spcPct val="90000"/>
              </a:lnSpc>
              <a:spcBef>
                <a:spcPts val="1001"/>
              </a:spcBef>
              <a:buClr>
                <a:srgbClr val="000000"/>
              </a:buClr>
              <a:buFont typeface="Arial"/>
              <a:buChar char="•"/>
            </a:pPr>
            <a:r>
              <a:rPr lang="en-US" sz="2700" b="0" strike="noStrike" spc="-1" dirty="0">
                <a:solidFill>
                  <a:schemeClr val="dk1"/>
                </a:solidFill>
                <a:latin typeface="Aptos"/>
              </a:rPr>
              <a:t>print("Expiry of result: {}".format(</a:t>
            </a:r>
            <a:r>
              <a:rPr lang="en-US" sz="2700" b="0" strike="noStrike" spc="-1" dirty="0" err="1">
                <a:solidFill>
                  <a:schemeClr val="dk1"/>
                </a:solidFill>
                <a:latin typeface="Aptos"/>
              </a:rPr>
              <a:t>result.expiryTime</a:t>
            </a:r>
            <a:r>
              <a:rPr lang="en-US" sz="2700" b="0" strike="noStrike" spc="-1" dirty="0">
                <a:solidFill>
                  <a:schemeClr val="dk1"/>
                </a:solidFill>
                <a:latin typeface="Aptos"/>
              </a:rPr>
              <a:t>))</a:t>
            </a:r>
          </a:p>
          <a:p>
            <a:pPr marL="228600" indent="-228600" defTabSz="914400">
              <a:lnSpc>
                <a:spcPct val="90000"/>
              </a:lnSpc>
              <a:spcBef>
                <a:spcPts val="1001"/>
              </a:spcBef>
              <a:buClr>
                <a:srgbClr val="000000"/>
              </a:buClr>
              <a:buFont typeface="Arial"/>
              <a:buChar char="•"/>
            </a:pPr>
            <a:endParaRPr lang="en-US" sz="2800" b="0" strike="noStrike" spc="-1" dirty="0">
              <a:solidFill>
                <a:schemeClr val="dk1"/>
              </a:solidFill>
              <a:latin typeface="Aptos"/>
            </a:endParaRPr>
          </a:p>
        </p:txBody>
      </p:sp>
      <p:sp>
        <p:nvSpPr>
          <p:cNvPr id="4" name="PlaceHolder 3">
            <a:extLst>
              <a:ext uri="{FF2B5EF4-FFF2-40B4-BE49-F238E27FC236}">
                <a16:creationId xmlns:a16="http://schemas.microsoft.com/office/drawing/2014/main" id="{7962DD35-21EB-555D-587F-ABFC1AEBD518}"/>
              </a:ext>
            </a:extLst>
          </p:cNvPr>
          <p:cNvSpPr>
            <a:spLocks noGrp="1"/>
          </p:cNvSpPr>
          <p:nvPr>
            <p:ph type="sldNum" idx="11"/>
          </p:nvPr>
        </p:nvSpPr>
        <p:spPr/>
        <p:txBody>
          <a:bodyPr/>
          <a:lstStyle/>
          <a:p>
            <a:fld id="{7596CD4D-9A4A-48CA-BFF4-AD9A7568788A}" type="slidenum">
              <a:rPr/>
              <a:t>100</a:t>
            </a:fld>
            <a:endParaRPr/>
          </a:p>
        </p:txBody>
      </p:sp>
    </p:spTree>
    <p:extLst>
      <p:ext uri="{BB962C8B-B14F-4D97-AF65-F5344CB8AC3E}">
        <p14:creationId xmlns:p14="http://schemas.microsoft.com/office/powerpoint/2010/main" val="9635726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strike="noStrike" spc="-1">
                <a:solidFill>
                  <a:schemeClr val="dk1"/>
                </a:solidFill>
                <a:latin typeface="Aptos Display"/>
              </a:rPr>
              <a:t>Views</a:t>
            </a:r>
            <a:endParaRPr lang="en-US" sz="6000" b="0" strike="noStrike" spc="-1">
              <a:solidFill>
                <a:srgbClr val="000000"/>
              </a:solidFill>
              <a:latin typeface="Arial"/>
            </a:endParaRPr>
          </a:p>
        </p:txBody>
      </p:sp>
      <p:sp>
        <p:nvSpPr>
          <p:cNvPr id="276" name="PlaceHolder 2"/>
          <p:cNvSpPr>
            <a:spLocks noGrp="1"/>
          </p:cNvSpPr>
          <p:nvPr>
            <p:ph/>
          </p:nvPr>
        </p:nvSpPr>
        <p:spPr>
          <a:xfrm>
            <a:off x="831960" y="4589640"/>
            <a:ext cx="10514520" cy="1499040"/>
          </a:xfrm>
          <a:prstGeom prst="rect">
            <a:avLst/>
          </a:prstGeom>
          <a:noFill/>
          <a:ln w="0">
            <a:noFill/>
          </a:ln>
        </p:spPr>
        <p:txBody>
          <a:bodyPr lIns="91440" tIns="45720" rIns="91440" bIns="45720" anchor="t">
            <a:noAutofit/>
          </a:bodyPr>
          <a:lstStyle/>
          <a:p>
            <a:pPr indent="0">
              <a:spcBef>
                <a:spcPts val="1417"/>
              </a:spcBef>
              <a:buNone/>
            </a:pPr>
            <a:endParaRPr lang="en-US" sz="1800" b="0" strike="noStrike" spc="-1">
              <a:solidFill>
                <a:srgbClr val="000000"/>
              </a:solidFill>
              <a:latin typeface="Arial"/>
            </a:endParaRPr>
          </a:p>
        </p:txBody>
      </p:sp>
      <p:sp>
        <p:nvSpPr>
          <p:cNvPr id="4" name="PlaceHolder 3"/>
          <p:cNvSpPr>
            <a:spLocks noGrp="1"/>
          </p:cNvSpPr>
          <p:nvPr>
            <p:ph type="sldNum" idx="14"/>
          </p:nvPr>
        </p:nvSpPr>
        <p:spPr/>
        <p:txBody>
          <a:bodyPr/>
          <a:lstStyle/>
          <a:p>
            <a:fld id="{27CC1E27-4020-480B-A113-023C7C0E45B7}" type="slidenum">
              <a:rPr/>
              <a:t>101</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rmAutofit/>
          </a:bodyPr>
          <a:lstStyle/>
          <a:p>
            <a:pPr indent="0" algn="ctr">
              <a:buNone/>
            </a:pPr>
            <a:endParaRPr lang="en-US" sz="1800" b="0" strike="noStrike" spc="-1">
              <a:solidFill>
                <a:srgbClr val="000000"/>
              </a:solidFill>
              <a:latin typeface="Arial"/>
            </a:endParaRPr>
          </a:p>
        </p:txBody>
      </p:sp>
      <p:sp>
        <p:nvSpPr>
          <p:cNvPr id="27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retrieving documents using document ID only</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to fetch documents using attributes other than document ID</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functionality provided by a mechanism called MapReduce programming, which is referred to as the term </a:t>
            </a:r>
            <a:r>
              <a:rPr lang="en-US" sz="3200" b="1" i="1" strike="noStrike" spc="-1">
                <a:solidFill>
                  <a:schemeClr val="dk1"/>
                </a:solidFill>
                <a:latin typeface="Aptos"/>
              </a:rPr>
              <a:t>view</a:t>
            </a:r>
            <a:r>
              <a:rPr lang="en-US" sz="2800" b="0" strike="noStrike" spc="-1">
                <a:solidFill>
                  <a:schemeClr val="dk1"/>
                </a:solidFill>
                <a:latin typeface="Aptos"/>
              </a:rPr>
              <a:t> in the Couchbase terminology</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BAD7D084-1995-4E22-A3C4-6B320D8CD9BC}" type="slidenum">
              <a:t>102</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1" strike="noStrike" spc="-1">
                <a:solidFill>
                  <a:schemeClr val="dk1"/>
                </a:solidFill>
                <a:latin typeface="Aptos Display"/>
              </a:rPr>
              <a:t>MapReduce </a:t>
            </a:r>
            <a:endParaRPr lang="en-US" sz="4400" b="0" strike="noStrike" spc="-1">
              <a:solidFill>
                <a:srgbClr val="000000"/>
              </a:solidFill>
              <a:latin typeface="Arial"/>
            </a:endParaRPr>
          </a:p>
        </p:txBody>
      </p:sp>
      <p:sp>
        <p:nvSpPr>
          <p:cNvPr id="28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is a way of programming, an abstract concept</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need to think in terms of MapReduce while developing applications using views to fetch documents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when write a view in Couchbase to fetch documents from a bucket, we will be writing in the MapReduce format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F8528AEB-FD14-4502-8763-05D633DB4583}" type="slidenum">
              <a:t>103</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MapReduce Example</a:t>
            </a:r>
            <a:endParaRPr lang="en-US" sz="4400" b="0" strike="noStrike" spc="-1">
              <a:solidFill>
                <a:srgbClr val="000000"/>
              </a:solidFill>
              <a:latin typeface="Arial"/>
            </a:endParaRPr>
          </a:p>
        </p:txBody>
      </p:sp>
      <p:sp>
        <p:nvSpPr>
          <p:cNvPr id="282"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an example of a retail company, that sells consumer goods such as clothes, shoes, … across continents and it has thousands outlets all over the world</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all transactions that occurred everyday are centrally collected and stored in (possible Couchbase) cluster; data that gets generated everyday is about one - 1 TB and cluster consists of hundred nodes, each having storage capacity of tens – 10 TB</a:t>
            </a:r>
            <a:endParaRPr lang="en-US" sz="2800" b="0" strike="noStrike" spc="-1">
              <a:solidFill>
                <a:srgbClr val="000000"/>
              </a:solidFill>
              <a:latin typeface="Arial"/>
            </a:endParaRPr>
          </a:p>
          <a:p>
            <a:pPr indent="0" defTabSz="914400">
              <a:lnSpc>
                <a:spcPct val="90000"/>
              </a:lnSpc>
              <a:spcBef>
                <a:spcPts val="1001"/>
              </a:spcBef>
              <a:buNone/>
              <a:tabLst>
                <a:tab pos="0" algn="l"/>
              </a:tabLst>
            </a:pP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tabLst>
                <a:tab pos="0" algn="l"/>
              </a:tabLst>
            </a:pPr>
            <a:r>
              <a:rPr lang="en-US" sz="2800" b="0" strike="noStrike" spc="-1">
                <a:solidFill>
                  <a:schemeClr val="dk1"/>
                </a:solidFill>
                <a:latin typeface="Aptos"/>
              </a:rPr>
              <a:t>reward the outlet that has performed the best</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C72D363C-3C71-4846-AA11-0DB2FB8C1448}" type="slidenum">
              <a:t>104</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84"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fontScale="94722" lnSpcReduction="10000"/>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there is no way a single machine can handle such a mammoth task of processing hundreds * tens TB data</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program goes to each of the nodes and performs processing on each node on the data that is stored in that particular node, the process executed in each node is called Map</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output from each node is consolidated in a single process by the key, which is the Reduce phase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minimizes fetching of all documents at one node for overall aggregation</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aggregated in a single node after preprocessing each document, at each of the nodes where the document is stored</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4DC43EB9-42B6-40E7-8207-144FF6CA2CF8}" type="slidenum">
              <a:t>105</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algn="ctr">
              <a:buNone/>
            </a:pPr>
            <a:endParaRPr lang="en-US" sz="1800" b="0" strike="noStrike" spc="-1">
              <a:solidFill>
                <a:srgbClr val="000000"/>
              </a:solidFill>
              <a:latin typeface="Arial"/>
            </a:endParaRPr>
          </a:p>
        </p:txBody>
      </p:sp>
      <p:sp>
        <p:nvSpPr>
          <p:cNvPr id="286"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each of records in group or collection of input will be passed through the map function - output will be in the form of key and value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reduce method will accept key and value, which is an array as a parameters - reduce function will be called for each distinct key emitted from map function as key parameter along with values array that has same key</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grouping values of same key in the form of an array or list and passing it as a parameter to a reduce task</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45AA64E8-0A16-4EC2-98E0-F7B5E81E9282}" type="slidenum">
              <a:t>106</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4600" b="1" strike="noStrike" spc="-1">
                <a:solidFill>
                  <a:schemeClr val="dk1"/>
                </a:solidFill>
                <a:latin typeface="Aptos Display"/>
              </a:rPr>
              <a:t>Views</a:t>
            </a:r>
            <a:endParaRPr lang="en-US" sz="4600" b="0" strike="noStrike" spc="-1">
              <a:solidFill>
                <a:srgbClr val="000000"/>
              </a:solidFill>
              <a:latin typeface="Arial"/>
            </a:endParaRPr>
          </a:p>
        </p:txBody>
      </p:sp>
      <p:sp>
        <p:nvSpPr>
          <p:cNvPr id="288"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whenever we want to extract fields from JSON documents without the document ID, we use views</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to find a document or fetch information about document with attributes or fields of a document other than document ID,  a view is the way</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Views are written in the form of MapReduce; it consists of map and reduce phase</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32F89053-1677-442A-A7B0-88C8EF8F72EA}" type="slidenum">
              <a:t>107</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strike="noStrike" spc="-1">
                <a:solidFill>
                  <a:schemeClr val="dk1"/>
                </a:solidFill>
                <a:latin typeface="Aptos Display"/>
              </a:rPr>
              <a:t>Views enable indexing and querying of data</a:t>
            </a:r>
            <a:endParaRPr lang="en-US" sz="4400" b="0" strike="noStrike" spc="-1">
              <a:solidFill>
                <a:srgbClr val="000000"/>
              </a:solidFill>
              <a:latin typeface="Arial"/>
            </a:endParaRPr>
          </a:p>
        </p:txBody>
      </p:sp>
      <p:sp>
        <p:nvSpPr>
          <p:cNvPr id="290" name="PlaceHolder 2"/>
          <p:cNvSpPr>
            <a:spLocks noGrp="1"/>
          </p:cNvSpPr>
          <p:nvPr>
            <p:ph/>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views are deprecated in Couchbase Server 7.0 and later versions – 2021</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views support in Couchbase Server will be removed in future release</a:t>
            </a:r>
            <a:endParaRPr lang="en-US" sz="2800" b="0" strike="noStrike" spc="-1">
              <a:solidFill>
                <a:srgbClr val="000000"/>
              </a:solidFill>
              <a:latin typeface="Arial"/>
            </a:endParaRPr>
          </a:p>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instead of views, use indexes and queries using Index Service (GSI) and the Query Service (SQL++)</a:t>
            </a:r>
            <a:endParaRPr lang="en-US" sz="2800" b="0" strike="noStrike" spc="-1">
              <a:solidFill>
                <a:srgbClr val="000000"/>
              </a:solidFill>
              <a:latin typeface="Arial"/>
            </a:endParaRPr>
          </a:p>
        </p:txBody>
      </p:sp>
      <p:sp>
        <p:nvSpPr>
          <p:cNvPr id="4" name="PlaceHolder 3"/>
          <p:cNvSpPr>
            <a:spLocks noGrp="1"/>
          </p:cNvSpPr>
          <p:nvPr>
            <p:ph type="sldNum" idx="11"/>
          </p:nvPr>
        </p:nvSpPr>
        <p:spPr/>
        <p:txBody>
          <a:bodyPr/>
          <a:lstStyle/>
          <a:p>
            <a:fld id="{405C1E4F-8DAF-4899-8451-6E96DFB793F9}" type="slidenum">
              <a:rPr/>
              <a:t>108</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CEBD-EE66-B50A-DBC8-4D5056EDF8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991C7E-F77A-2D8C-04EA-94D3CC5A6A12}"/>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179646147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e3be701f0a6c8f6221ff53300429adee">
  <xsd:schema xmlns:xsd="http://www.w3.org/2001/XMLSchema" xmlns:xs="http://www.w3.org/2001/XMLSchema" xmlns:p="http://schemas.microsoft.com/office/2006/metadata/properties" xmlns:ns2="a1338ef3-f957-4fbb-b33a-3b606fe126b3" targetNamespace="http://schemas.microsoft.com/office/2006/metadata/properties" ma:root="true" ma:fieldsID="974ac979782e2ad477dd4a10e8419547"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D4DBB7-13DE-4DEA-AEDD-3570A7E351B9}"/>
</file>

<file path=customXml/itemProps2.xml><?xml version="1.0" encoding="utf-8"?>
<ds:datastoreItem xmlns:ds="http://schemas.openxmlformats.org/officeDocument/2006/customXml" ds:itemID="{25ED847C-53F1-427E-894B-5C1E8ECD893F}"/>
</file>

<file path=customXml/itemProps3.xml><?xml version="1.0" encoding="utf-8"?>
<ds:datastoreItem xmlns:ds="http://schemas.openxmlformats.org/officeDocument/2006/customXml" ds:itemID="{8ACD88C4-0271-4302-A6E5-F9EC37DAC49A}"/>
</file>

<file path=docProps/app.xml><?xml version="1.0" encoding="utf-8"?>
<Properties xmlns="http://schemas.openxmlformats.org/officeDocument/2006/extended-properties" xmlns:vt="http://schemas.openxmlformats.org/officeDocument/2006/docPropsVTypes">
  <Template/>
  <TotalTime>1389</TotalTime>
  <Words>4342</Words>
  <Application>Microsoft Office PowerPoint</Application>
  <PresentationFormat>Widescreen</PresentationFormat>
  <Paragraphs>550</Paragraphs>
  <Slides>109</Slides>
  <Notes>0</Notes>
  <HiddenSlides>0</HiddenSlides>
  <MMClips>0</MMClips>
  <ScaleCrop>false</ScaleCrop>
  <HeadingPairs>
    <vt:vector size="6" baseType="variant">
      <vt:variant>
        <vt:lpstr>Fonts Used</vt:lpstr>
      </vt:variant>
      <vt:variant>
        <vt:i4>6</vt:i4>
      </vt:variant>
      <vt:variant>
        <vt:lpstr>Theme</vt:lpstr>
      </vt:variant>
      <vt:variant>
        <vt:i4>11</vt:i4>
      </vt:variant>
      <vt:variant>
        <vt:lpstr>Slide Titles</vt:lpstr>
      </vt:variant>
      <vt:variant>
        <vt:i4>109</vt:i4>
      </vt:variant>
    </vt:vector>
  </HeadingPairs>
  <TitlesOfParts>
    <vt:vector size="126" baseType="lpstr">
      <vt:lpstr>Aptos</vt:lpstr>
      <vt:lpstr>Aptos Display</vt:lpstr>
      <vt:lpstr>Arial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Couchbase</vt:lpstr>
      <vt:lpstr>PowerPoint Presentation</vt:lpstr>
      <vt:lpstr>Couchbase</vt:lpstr>
      <vt:lpstr>Couchbase Capella cloud.couchbase.com/sign-up </vt:lpstr>
      <vt:lpstr>PowerPoint Presentation</vt:lpstr>
      <vt:lpstr>PowerPoint Presentation</vt:lpstr>
      <vt:lpstr>PowerPoint Presentation</vt:lpstr>
      <vt:lpstr>NoSQL</vt:lpstr>
      <vt:lpstr>NoSQL</vt:lpstr>
      <vt:lpstr>Couchbase</vt:lpstr>
      <vt:lpstr>Couchbase</vt:lpstr>
      <vt:lpstr>Couchbase</vt:lpstr>
      <vt:lpstr>PowerPoint Presentation</vt:lpstr>
      <vt:lpstr>Concepts</vt:lpstr>
      <vt:lpstr>Buckets</vt:lpstr>
      <vt:lpstr>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Buckets</vt:lpstr>
      <vt:lpstr>Documents</vt:lpstr>
      <vt:lpstr>PowerPoint Presentation</vt:lpstr>
      <vt:lpstr>PowerPoint Presentation</vt:lpstr>
      <vt:lpstr>PowerPoint Presentation</vt:lpstr>
      <vt:lpstr>Buckets</vt:lpstr>
      <vt:lpstr>PowerPoint Presentation</vt:lpstr>
      <vt:lpstr>Memcached buckets</vt:lpstr>
      <vt:lpstr>Couchbase buckets</vt:lpstr>
      <vt:lpstr>PowerPoint Presentation</vt:lpstr>
      <vt:lpstr>Documents</vt:lpstr>
      <vt:lpstr>PowerPoint Presentation</vt:lpstr>
      <vt:lpstr>PowerPoint Presentation</vt:lpstr>
      <vt:lpstr>meta information</vt:lpstr>
      <vt:lpstr>PowerPoint Presentation</vt:lpstr>
      <vt:lpstr>Create</vt:lpstr>
      <vt:lpstr>PowerPoint Presentation</vt:lpstr>
      <vt:lpstr>PowerPoint Presentation</vt:lpstr>
      <vt:lpstr>Add Document</vt:lpstr>
      <vt:lpstr>ramakrishnan2003database</vt:lpstr>
      <vt:lpstr>PowerPoint Presentation</vt:lpstr>
      <vt:lpstr>PowerPoint Presentation</vt:lpstr>
      <vt:lpstr>PowerPoint Presentation</vt:lpstr>
      <vt:lpstr>Read</vt:lpstr>
      <vt:lpstr>PowerPoint Presentation</vt:lpstr>
      <vt:lpstr>PowerPoint Presentation</vt:lpstr>
      <vt:lpstr>Update</vt:lpstr>
      <vt:lpstr>Delete</vt:lpstr>
      <vt:lpstr>internals … </vt:lpstr>
      <vt:lpstr>vBuckets </vt:lpstr>
      <vt:lpstr>PowerPoint Presentation</vt:lpstr>
      <vt:lpstr>PowerPoint Presentation</vt:lpstr>
      <vt:lpstr>Replication</vt:lpstr>
      <vt:lpstr>Rebalancing</vt:lpstr>
      <vt:lpstr>Designing a Document</vt:lpstr>
      <vt:lpstr>JSON JavaScript Object Notation</vt:lpstr>
      <vt:lpstr>PowerPoint Presentation</vt:lpstr>
      <vt:lpstr>Data Types</vt:lpstr>
      <vt:lpstr>PowerPoint Presentation</vt:lpstr>
      <vt:lpstr>PowerPoint Presentation</vt:lpstr>
      <vt:lpstr>One document vs. Multiple documents </vt:lpstr>
      <vt:lpstr>PowerPoint Presentation</vt:lpstr>
      <vt:lpstr>PowerPoint Presentation</vt:lpstr>
      <vt:lpstr>PowerPoint Presentation</vt:lpstr>
      <vt:lpstr>PowerPoint Presentation</vt:lpstr>
      <vt:lpstr>Document relationships </vt:lpstr>
      <vt:lpstr>PowerPoint Presentation</vt:lpstr>
      <vt:lpstr>Client  </vt:lpstr>
      <vt:lpstr>dataauth.py</vt:lpstr>
      <vt:lpstr>1One.py</vt:lpstr>
      <vt:lpstr>PowerPoint Presentation</vt:lpstr>
      <vt:lpstr>python3 1One.py </vt:lpstr>
      <vt:lpstr>CAS</vt:lpstr>
      <vt:lpstr>Insert.Py</vt:lpstr>
      <vt:lpstr>Insert.Py</vt:lpstr>
      <vt:lpstr>python3 2TwoInsert.py</vt:lpstr>
      <vt:lpstr>2InserTarom.py</vt:lpstr>
      <vt:lpstr>2InserTarom.py</vt:lpstr>
      <vt:lpstr> python3 2TwoInserTarom.py </vt:lpstr>
      <vt:lpstr>PowerPoint Presentation</vt:lpstr>
      <vt:lpstr>2UpdateTarom.py</vt:lpstr>
      <vt:lpstr>2UpdateTarom.py</vt:lpstr>
      <vt:lpstr>2UpdateTarom.py</vt:lpstr>
      <vt:lpstr>2UpdateTarom.py</vt:lpstr>
      <vt:lpstr>PowerPoint Presentation</vt:lpstr>
      <vt:lpstr>CRUD</vt:lpstr>
      <vt:lpstr>CreateTarom.py</vt:lpstr>
      <vt:lpstr>ReadTarom.py</vt:lpstr>
      <vt:lpstr>UpdateTarom.py</vt:lpstr>
      <vt:lpstr>UpsertTarom.py</vt:lpstr>
      <vt:lpstr>UpsertCarom.py</vt:lpstr>
      <vt:lpstr>DeleteTarom.py</vt:lpstr>
      <vt:lpstr>Durability</vt:lpstr>
      <vt:lpstr>durability levels:</vt:lpstr>
      <vt:lpstr>Expiration</vt:lpstr>
      <vt:lpstr>Expiration</vt:lpstr>
      <vt:lpstr>Expiration</vt:lpstr>
      <vt:lpstr>Views</vt:lpstr>
      <vt:lpstr>PowerPoint Presentation</vt:lpstr>
      <vt:lpstr>MapReduce </vt:lpstr>
      <vt:lpstr>MapReduce Example</vt:lpstr>
      <vt:lpstr>PowerPoint Presentation</vt:lpstr>
      <vt:lpstr>PowerPoint Presentation</vt:lpstr>
      <vt:lpstr>Views</vt:lpstr>
      <vt:lpstr>Views enable indexing and querying of 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Calin Cenan</dc:creator>
  <dc:description/>
  <cp:lastModifiedBy>Calin Cenan</cp:lastModifiedBy>
  <cp:revision>38</cp:revision>
  <dcterms:created xsi:type="dcterms:W3CDTF">2025-11-12T20:29:45Z</dcterms:created>
  <dcterms:modified xsi:type="dcterms:W3CDTF">2025-12-18T06:14:36Z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ActionId">
    <vt:lpwstr>56b1b6c9-50f1-493d-a12a-5259e7c6a408</vt:lpwstr>
  </property>
  <property fmtid="{D5CDD505-2E9C-101B-9397-08002B2CF9AE}" pid="3" name="MSIP_Label_5b58b62f-6f94-46bd-8089-18e64b0a9abb_ContentBits">
    <vt:lpwstr>0</vt:lpwstr>
  </property>
  <property fmtid="{D5CDD505-2E9C-101B-9397-08002B2CF9AE}" pid="4" name="MSIP_Label_5b58b62f-6f94-46bd-8089-18e64b0a9abb_Enabled">
    <vt:lpwstr>true</vt:lpwstr>
  </property>
  <property fmtid="{D5CDD505-2E9C-101B-9397-08002B2CF9AE}" pid="5" name="MSIP_Label_5b58b62f-6f94-46bd-8089-18e64b0a9abb_Method">
    <vt:lpwstr>Standard</vt:lpwstr>
  </property>
  <property fmtid="{D5CDD505-2E9C-101B-9397-08002B2CF9AE}" pid="6" name="MSIP_Label_5b58b62f-6f94-46bd-8089-18e64b0a9abb_Name">
    <vt:lpwstr>defa4170-0d19-0005-0004-bc88714345d2</vt:lpwstr>
  </property>
  <property fmtid="{D5CDD505-2E9C-101B-9397-08002B2CF9AE}" pid="7" name="MSIP_Label_5b58b62f-6f94-46bd-8089-18e64b0a9abb_SetDate">
    <vt:lpwstr>2025-11-12T20:30:04Z</vt:lpwstr>
  </property>
  <property fmtid="{D5CDD505-2E9C-101B-9397-08002B2CF9AE}" pid="8" name="MSIP_Label_5b58b62f-6f94-46bd-8089-18e64b0a9abb_SiteId">
    <vt:lpwstr>a6eb79fa-c4a9-4cce-818d-b85274d15305</vt:lpwstr>
  </property>
  <property fmtid="{D5CDD505-2E9C-101B-9397-08002B2CF9AE}" pid="9" name="MSIP_Label_5b58b62f-6f94-46bd-8089-18e64b0a9abb_Tag">
    <vt:lpwstr>10, 3, 0, 1</vt:lpwstr>
  </property>
  <property fmtid="{D5CDD505-2E9C-101B-9397-08002B2CF9AE}" pid="10" name="PresentationFormat">
    <vt:lpwstr>Widescreen</vt:lpwstr>
  </property>
  <property fmtid="{D5CDD505-2E9C-101B-9397-08002B2CF9AE}" pid="11" name="Slides">
    <vt:i4>80</vt:i4>
  </property>
  <property fmtid="{D5CDD505-2E9C-101B-9397-08002B2CF9AE}" pid="12" name="ContentTypeId">
    <vt:lpwstr>0x01010042D1F13D339BA04089B6530E3063BBB0</vt:lpwstr>
  </property>
</Properties>
</file>