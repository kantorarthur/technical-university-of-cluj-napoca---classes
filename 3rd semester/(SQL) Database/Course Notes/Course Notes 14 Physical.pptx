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9" r:id="rId34"/>
    <p:sldId id="290" r:id="rId35"/>
    <p:sldId id="288"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2" r:id="rId57"/>
    <p:sldId id="311"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7" r:id="rId72"/>
    <p:sldId id="326" r:id="rId73"/>
    <p:sldId id="328" r:id="rId74"/>
    <p:sldId id="329" r:id="rId75"/>
    <p:sldId id="330" r:id="rId76"/>
    <p:sldId id="331"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customXml" Target="../customXml/item2.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85"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1EAB0-20EB-4DF7-837B-371DDD1B95C0}" type="datetimeFigureOut">
              <a:rPr lang="en-US" smtClean="0"/>
              <a:t>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4AE39B-1103-4190-9942-3807C5A66D1E}" type="slidenum">
              <a:rPr lang="en-US" smtClean="0"/>
              <a:t>‹#›</a:t>
            </a:fld>
            <a:endParaRPr lang="en-US"/>
          </a:p>
        </p:txBody>
      </p:sp>
    </p:spTree>
    <p:extLst>
      <p:ext uri="{BB962C8B-B14F-4D97-AF65-F5344CB8AC3E}">
        <p14:creationId xmlns:p14="http://schemas.microsoft.com/office/powerpoint/2010/main" val="3288525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5930C-760D-5883-ECC1-F5CB6465DF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364E95-C921-0CB2-83A2-29CEC570C7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D4FD1E-FFDF-6B9B-391C-832B885E6995}"/>
              </a:ext>
            </a:extLst>
          </p:cNvPr>
          <p:cNvSpPr>
            <a:spLocks noGrp="1"/>
          </p:cNvSpPr>
          <p:nvPr>
            <p:ph type="dt" sz="half" idx="10"/>
          </p:nvPr>
        </p:nvSpPr>
        <p:spPr/>
        <p:txBody>
          <a:bodyPr/>
          <a:lstStyle/>
          <a:p>
            <a:fld id="{DEAC430E-5A65-442F-9064-DEB17858D8F1}" type="datetime1">
              <a:rPr lang="en-US" smtClean="0"/>
              <a:t>1/5/2026</a:t>
            </a:fld>
            <a:endParaRPr lang="en-US"/>
          </a:p>
        </p:txBody>
      </p:sp>
      <p:sp>
        <p:nvSpPr>
          <p:cNvPr id="5" name="Footer Placeholder 4">
            <a:extLst>
              <a:ext uri="{FF2B5EF4-FFF2-40B4-BE49-F238E27FC236}">
                <a16:creationId xmlns:a16="http://schemas.microsoft.com/office/drawing/2014/main" id="{987AFC09-CB58-1A98-44F8-DBDC4F5002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CFBC4E-168F-EAEF-CFF4-122B5A788DE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28470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1843C-D16F-310D-4FA1-1770C7C422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9DEFEC-D274-3CE4-42AD-5111479AB4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A0F2E-18F9-69C4-3350-10D366326F57}"/>
              </a:ext>
            </a:extLst>
          </p:cNvPr>
          <p:cNvSpPr>
            <a:spLocks noGrp="1"/>
          </p:cNvSpPr>
          <p:nvPr>
            <p:ph type="dt" sz="half" idx="10"/>
          </p:nvPr>
        </p:nvSpPr>
        <p:spPr/>
        <p:txBody>
          <a:bodyPr/>
          <a:lstStyle/>
          <a:p>
            <a:fld id="{8314E179-45D9-45BE-AAA6-FF7B7D57AEF0}" type="datetime1">
              <a:rPr lang="en-US" smtClean="0"/>
              <a:t>1/5/2026</a:t>
            </a:fld>
            <a:endParaRPr lang="en-US"/>
          </a:p>
        </p:txBody>
      </p:sp>
      <p:sp>
        <p:nvSpPr>
          <p:cNvPr id="5" name="Footer Placeholder 4">
            <a:extLst>
              <a:ext uri="{FF2B5EF4-FFF2-40B4-BE49-F238E27FC236}">
                <a16:creationId xmlns:a16="http://schemas.microsoft.com/office/drawing/2014/main" id="{F4E32DEE-4207-0B12-6389-B20CBEF9D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792F1E-3EC2-CF71-F9CB-EC8DC8862A0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1933296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6A0F8-BF06-2ADC-8889-D45C2EC9C7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45234B-00B7-B1C8-175F-A98E178C1F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D476CC-1FA3-98AE-E860-9DB0608A497D}"/>
              </a:ext>
            </a:extLst>
          </p:cNvPr>
          <p:cNvSpPr>
            <a:spLocks noGrp="1"/>
          </p:cNvSpPr>
          <p:nvPr>
            <p:ph type="dt" sz="half" idx="10"/>
          </p:nvPr>
        </p:nvSpPr>
        <p:spPr/>
        <p:txBody>
          <a:bodyPr/>
          <a:lstStyle/>
          <a:p>
            <a:fld id="{0B334156-D111-4B8A-9649-E929320D3996}" type="datetime1">
              <a:rPr lang="en-US" smtClean="0"/>
              <a:t>1/5/2026</a:t>
            </a:fld>
            <a:endParaRPr lang="en-US"/>
          </a:p>
        </p:txBody>
      </p:sp>
      <p:sp>
        <p:nvSpPr>
          <p:cNvPr id="5" name="Footer Placeholder 4">
            <a:extLst>
              <a:ext uri="{FF2B5EF4-FFF2-40B4-BE49-F238E27FC236}">
                <a16:creationId xmlns:a16="http://schemas.microsoft.com/office/drawing/2014/main" id="{3F5DB7F2-4B1B-DDD7-9588-D2C9C263F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58A86-DB04-E206-C61A-28D61489DE6E}"/>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420062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37934-58E2-6C87-8517-91D784E602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F54FA1-51FD-BDD7-08D8-CB22949ED9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0A14B0-AB9F-84A5-DCFF-AF29D610B9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B74DE0-D4E6-B98A-0A7A-6199C46FA299}"/>
              </a:ext>
            </a:extLst>
          </p:cNvPr>
          <p:cNvSpPr>
            <a:spLocks noGrp="1"/>
          </p:cNvSpPr>
          <p:nvPr>
            <p:ph type="dt" sz="half" idx="10"/>
          </p:nvPr>
        </p:nvSpPr>
        <p:spPr/>
        <p:txBody>
          <a:bodyPr/>
          <a:lstStyle/>
          <a:p>
            <a:fld id="{83FF7365-BEFC-4E6B-9F2A-FA9474576F81}" type="datetime1">
              <a:rPr lang="en-US" smtClean="0"/>
              <a:t>1/5/2026</a:t>
            </a:fld>
            <a:endParaRPr lang="en-US"/>
          </a:p>
        </p:txBody>
      </p:sp>
      <p:sp>
        <p:nvSpPr>
          <p:cNvPr id="6" name="Footer Placeholder 5">
            <a:extLst>
              <a:ext uri="{FF2B5EF4-FFF2-40B4-BE49-F238E27FC236}">
                <a16:creationId xmlns:a16="http://schemas.microsoft.com/office/drawing/2014/main" id="{8D27B8B2-CEA6-EA62-4C6E-6C903F9353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196544-3A77-9F6F-A9A9-14340023965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227620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5363-41F2-E6A8-F4B1-CD1FFAB37A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0AC76C-821C-A4CF-E20D-28A35FB1A9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B10B08-0A91-BC33-F467-764F5842D8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6E10F4-B1CD-E882-ADC7-E67EB6795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208411-74C8-D893-F7D4-63FB702F18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3A8843-6A85-EBA5-EACE-D31AE341B3A4}"/>
              </a:ext>
            </a:extLst>
          </p:cNvPr>
          <p:cNvSpPr>
            <a:spLocks noGrp="1"/>
          </p:cNvSpPr>
          <p:nvPr>
            <p:ph type="dt" sz="half" idx="10"/>
          </p:nvPr>
        </p:nvSpPr>
        <p:spPr/>
        <p:txBody>
          <a:bodyPr/>
          <a:lstStyle/>
          <a:p>
            <a:fld id="{13137B2F-B566-42C1-8C47-FE2D3202CF99}" type="datetime1">
              <a:rPr lang="en-US" smtClean="0"/>
              <a:t>1/5/2026</a:t>
            </a:fld>
            <a:endParaRPr lang="en-US"/>
          </a:p>
        </p:txBody>
      </p:sp>
      <p:sp>
        <p:nvSpPr>
          <p:cNvPr id="8" name="Footer Placeholder 7">
            <a:extLst>
              <a:ext uri="{FF2B5EF4-FFF2-40B4-BE49-F238E27FC236}">
                <a16:creationId xmlns:a16="http://schemas.microsoft.com/office/drawing/2014/main" id="{13EBBCF3-2913-461E-AD28-FDC7B6BCAB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5B7710-25A1-0BB7-4D14-D8B4331A5E60}"/>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77521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97EF-6A4C-4E15-3A3D-09B6216B5D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5C6005-4DF2-B1D3-F14D-C8E8D586F7D3}"/>
              </a:ext>
            </a:extLst>
          </p:cNvPr>
          <p:cNvSpPr>
            <a:spLocks noGrp="1"/>
          </p:cNvSpPr>
          <p:nvPr>
            <p:ph type="dt" sz="half" idx="10"/>
          </p:nvPr>
        </p:nvSpPr>
        <p:spPr/>
        <p:txBody>
          <a:bodyPr/>
          <a:lstStyle/>
          <a:p>
            <a:fld id="{77340BE3-421C-4D71-A3C6-49D639A19F9F}" type="datetime1">
              <a:rPr lang="en-US" smtClean="0"/>
              <a:t>1/5/2026</a:t>
            </a:fld>
            <a:endParaRPr lang="en-US"/>
          </a:p>
        </p:txBody>
      </p:sp>
      <p:sp>
        <p:nvSpPr>
          <p:cNvPr id="4" name="Footer Placeholder 3">
            <a:extLst>
              <a:ext uri="{FF2B5EF4-FFF2-40B4-BE49-F238E27FC236}">
                <a16:creationId xmlns:a16="http://schemas.microsoft.com/office/drawing/2014/main" id="{071B5121-2E4F-976C-B042-58478DDE8C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32A568-1B5A-A844-5FEE-3C9477D8E0F8}"/>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801491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C6BE25-6954-DC36-134A-6597CFDF6E3F}"/>
              </a:ext>
            </a:extLst>
          </p:cNvPr>
          <p:cNvSpPr>
            <a:spLocks noGrp="1"/>
          </p:cNvSpPr>
          <p:nvPr>
            <p:ph type="dt" sz="half" idx="10"/>
          </p:nvPr>
        </p:nvSpPr>
        <p:spPr/>
        <p:txBody>
          <a:bodyPr/>
          <a:lstStyle/>
          <a:p>
            <a:fld id="{679B5E47-D439-4284-AE0D-962FCB75FAB6}" type="datetime1">
              <a:rPr lang="en-US" smtClean="0"/>
              <a:t>1/5/2026</a:t>
            </a:fld>
            <a:endParaRPr lang="en-US"/>
          </a:p>
        </p:txBody>
      </p:sp>
      <p:sp>
        <p:nvSpPr>
          <p:cNvPr id="3" name="Footer Placeholder 2">
            <a:extLst>
              <a:ext uri="{FF2B5EF4-FFF2-40B4-BE49-F238E27FC236}">
                <a16:creationId xmlns:a16="http://schemas.microsoft.com/office/drawing/2014/main" id="{C9303941-91C4-7A76-45CF-7066AD1A65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FCB0C5-B44E-B54F-CFD1-EDD7E30FAA23}"/>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6472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DF43-2516-CD44-C72D-9495FB26D7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1BC6C8-737E-06B7-89DA-D63713584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52FE81-C2D0-FEAE-8767-51F60ADA88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E62AB-E046-F609-762A-CFEDAB93629B}"/>
              </a:ext>
            </a:extLst>
          </p:cNvPr>
          <p:cNvSpPr>
            <a:spLocks noGrp="1"/>
          </p:cNvSpPr>
          <p:nvPr>
            <p:ph type="dt" sz="half" idx="10"/>
          </p:nvPr>
        </p:nvSpPr>
        <p:spPr/>
        <p:txBody>
          <a:bodyPr/>
          <a:lstStyle/>
          <a:p>
            <a:fld id="{453BECBD-8257-458C-AEE3-AE942135D6AE}" type="datetime1">
              <a:rPr lang="en-US" smtClean="0"/>
              <a:t>1/5/2026</a:t>
            </a:fld>
            <a:endParaRPr lang="en-US"/>
          </a:p>
        </p:txBody>
      </p:sp>
      <p:sp>
        <p:nvSpPr>
          <p:cNvPr id="6" name="Footer Placeholder 5">
            <a:extLst>
              <a:ext uri="{FF2B5EF4-FFF2-40B4-BE49-F238E27FC236}">
                <a16:creationId xmlns:a16="http://schemas.microsoft.com/office/drawing/2014/main" id="{11AECE13-A79A-69BD-9DB1-2A174276C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527B68-E2DF-8982-4DF5-D4C4397E060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0326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EDE69-5905-BC3C-C645-91E6D6C208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E53DAA-F625-F974-8D2C-1373B1158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AF7B45-CD9A-C6B1-F58C-0341BCC9C8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39E8BC-CB6F-F740-3924-593736BA966E}"/>
              </a:ext>
            </a:extLst>
          </p:cNvPr>
          <p:cNvSpPr>
            <a:spLocks noGrp="1"/>
          </p:cNvSpPr>
          <p:nvPr>
            <p:ph type="dt" sz="half" idx="10"/>
          </p:nvPr>
        </p:nvSpPr>
        <p:spPr/>
        <p:txBody>
          <a:bodyPr/>
          <a:lstStyle/>
          <a:p>
            <a:fld id="{BDF3CAC5-E83F-4F07-8EAE-BE5D8EAB68B2}" type="datetime1">
              <a:rPr lang="en-US" smtClean="0"/>
              <a:t>1/5/2026</a:t>
            </a:fld>
            <a:endParaRPr lang="en-US"/>
          </a:p>
        </p:txBody>
      </p:sp>
      <p:sp>
        <p:nvSpPr>
          <p:cNvPr id="6" name="Footer Placeholder 5">
            <a:extLst>
              <a:ext uri="{FF2B5EF4-FFF2-40B4-BE49-F238E27FC236}">
                <a16:creationId xmlns:a16="http://schemas.microsoft.com/office/drawing/2014/main" id="{000A5595-E2B3-6B7E-1C62-1515F5F58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2632C9-6D22-EF5A-C318-89619C4FF8C5}"/>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37264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1039-EF43-212D-7EB3-340A513863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6A0E3D-A0E9-C266-077E-DFBD0C4D20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D565F-9519-15CB-09A9-53305AE3454D}"/>
              </a:ext>
            </a:extLst>
          </p:cNvPr>
          <p:cNvSpPr>
            <a:spLocks noGrp="1"/>
          </p:cNvSpPr>
          <p:nvPr>
            <p:ph type="dt" sz="half" idx="10"/>
          </p:nvPr>
        </p:nvSpPr>
        <p:spPr/>
        <p:txBody>
          <a:bodyPr/>
          <a:lstStyle/>
          <a:p>
            <a:fld id="{96BA5DA7-E5C5-46E6-B6AF-18BC49A4DE0B}" type="datetime1">
              <a:rPr lang="en-US" smtClean="0"/>
              <a:t>1/5/2026</a:t>
            </a:fld>
            <a:endParaRPr lang="en-US"/>
          </a:p>
        </p:txBody>
      </p:sp>
      <p:sp>
        <p:nvSpPr>
          <p:cNvPr id="5" name="Footer Placeholder 4">
            <a:extLst>
              <a:ext uri="{FF2B5EF4-FFF2-40B4-BE49-F238E27FC236}">
                <a16:creationId xmlns:a16="http://schemas.microsoft.com/office/drawing/2014/main" id="{3401AFDD-7C39-8E1A-B031-9AA5A2F530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30541-3970-D9E8-80EF-0B798E685FD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524134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DAE23E-03A8-AE9D-8E36-BA90B5684A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B840BB-AB25-B52A-9656-E117AF3811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9CD23E-B3F5-FBA5-C80E-A574CC18C813}"/>
              </a:ext>
            </a:extLst>
          </p:cNvPr>
          <p:cNvSpPr>
            <a:spLocks noGrp="1"/>
          </p:cNvSpPr>
          <p:nvPr>
            <p:ph type="dt" sz="half" idx="10"/>
          </p:nvPr>
        </p:nvSpPr>
        <p:spPr/>
        <p:txBody>
          <a:bodyPr/>
          <a:lstStyle/>
          <a:p>
            <a:fld id="{F4EFC786-2935-4265-9B26-B14D271DC5F5}" type="datetime1">
              <a:rPr lang="en-US" smtClean="0"/>
              <a:t>1/5/2026</a:t>
            </a:fld>
            <a:endParaRPr lang="en-US"/>
          </a:p>
        </p:txBody>
      </p:sp>
      <p:sp>
        <p:nvSpPr>
          <p:cNvPr id="5" name="Footer Placeholder 4">
            <a:extLst>
              <a:ext uri="{FF2B5EF4-FFF2-40B4-BE49-F238E27FC236}">
                <a16:creationId xmlns:a16="http://schemas.microsoft.com/office/drawing/2014/main" id="{86BA6015-6A82-66FB-892D-7D52F1652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298FE3-2185-D0F2-F9B2-2354C09E0CA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803823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4736D2-BD27-C33D-3016-B5C22D738B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3F75BE-AE64-BECA-E759-43100BE00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69206-125B-41DF-997C-750E4FDE90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EC6D-4A47-4C37-A1F4-993B8D832209}" type="datetime1">
              <a:rPr lang="en-US" smtClean="0"/>
              <a:t>1/5/2026</a:t>
            </a:fld>
            <a:endParaRPr lang="en-US"/>
          </a:p>
        </p:txBody>
      </p:sp>
      <p:sp>
        <p:nvSpPr>
          <p:cNvPr id="5" name="Footer Placeholder 4">
            <a:extLst>
              <a:ext uri="{FF2B5EF4-FFF2-40B4-BE49-F238E27FC236}">
                <a16:creationId xmlns:a16="http://schemas.microsoft.com/office/drawing/2014/main" id="{2EB39EDE-9A6C-95C6-EF1C-2D6885F9F2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D51B1B-62CF-80AA-081B-D24CFA9A0E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64BDCF-5269-49AC-A246-ED26C2B980E3}" type="slidenum">
              <a:rPr lang="en-US" smtClean="0"/>
              <a:t>‹#›</a:t>
            </a:fld>
            <a:endParaRPr lang="en-US"/>
          </a:p>
        </p:txBody>
      </p:sp>
    </p:spTree>
    <p:extLst>
      <p:ext uri="{BB962C8B-B14F-4D97-AF65-F5344CB8AC3E}">
        <p14:creationId xmlns:p14="http://schemas.microsoft.com/office/powerpoint/2010/main" val="1557268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www.youtube.com/watch?v=vWz9VN40nCA"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4E64-D01B-5FDF-22D9-EC08BEB62AED}"/>
              </a:ext>
            </a:extLst>
          </p:cNvPr>
          <p:cNvSpPr>
            <a:spLocks noGrp="1"/>
          </p:cNvSpPr>
          <p:nvPr>
            <p:ph type="ctrTitle"/>
          </p:nvPr>
        </p:nvSpPr>
        <p:spPr/>
        <p:txBody>
          <a:bodyPr/>
          <a:lstStyle/>
          <a:p>
            <a:r>
              <a:rPr lang="en-US" dirty="0" err="1"/>
              <a:t>DataBase</a:t>
            </a:r>
            <a:endParaRPr lang="en-US" dirty="0"/>
          </a:p>
        </p:txBody>
      </p:sp>
      <p:sp>
        <p:nvSpPr>
          <p:cNvPr id="3" name="Subtitle 2">
            <a:extLst>
              <a:ext uri="{FF2B5EF4-FFF2-40B4-BE49-F238E27FC236}">
                <a16:creationId xmlns:a16="http://schemas.microsoft.com/office/drawing/2014/main" id="{10AB3069-C608-4303-DE85-85C98B05157B}"/>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C693C704-9F31-242D-BF15-7D930A158006}"/>
              </a:ext>
            </a:extLst>
          </p:cNvPr>
          <p:cNvSpPr>
            <a:spLocks noGrp="1"/>
          </p:cNvSpPr>
          <p:nvPr>
            <p:ph type="sldNum" sz="quarter" idx="12"/>
          </p:nvPr>
        </p:nvSpPr>
        <p:spPr/>
        <p:txBody>
          <a:bodyPr/>
          <a:lstStyle/>
          <a:p>
            <a:fld id="{6264BDCF-5269-49AC-A246-ED26C2B980E3}" type="slidenum">
              <a:rPr lang="en-US" smtClean="0"/>
              <a:t>1</a:t>
            </a:fld>
            <a:endParaRPr lang="en-US"/>
          </a:p>
        </p:txBody>
      </p:sp>
    </p:spTree>
    <p:extLst>
      <p:ext uri="{BB962C8B-B14F-4D97-AF65-F5344CB8AC3E}">
        <p14:creationId xmlns:p14="http://schemas.microsoft.com/office/powerpoint/2010/main" val="493323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B2C80-9FD9-EF84-AA9E-F999B4B5F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44C62C-0C1C-AA5D-C342-D3FEFC2861A1}"/>
              </a:ext>
            </a:extLst>
          </p:cNvPr>
          <p:cNvSpPr>
            <a:spLocks noGrp="1"/>
          </p:cNvSpPr>
          <p:nvPr>
            <p:ph type="ctrTitle"/>
          </p:nvPr>
        </p:nvSpPr>
        <p:spPr/>
        <p:txBody>
          <a:bodyPr/>
          <a:lstStyle/>
          <a:p>
            <a:r>
              <a:rPr lang="en-US" dirty="0" err="1"/>
              <a:t>DataBase</a:t>
            </a:r>
            <a:r>
              <a:rPr lang="en-US" dirty="0"/>
              <a:t> Design </a:t>
            </a:r>
          </a:p>
        </p:txBody>
      </p:sp>
      <p:sp>
        <p:nvSpPr>
          <p:cNvPr id="3" name="Subtitle 2">
            <a:extLst>
              <a:ext uri="{FF2B5EF4-FFF2-40B4-BE49-F238E27FC236}">
                <a16:creationId xmlns:a16="http://schemas.microsoft.com/office/drawing/2014/main" id="{FEF81BAB-2277-111D-30A9-7BC0984575BA}"/>
              </a:ext>
            </a:extLst>
          </p:cNvPr>
          <p:cNvSpPr>
            <a:spLocks noGrp="1"/>
          </p:cNvSpPr>
          <p:nvPr>
            <p:ph type="subTitle" idx="1"/>
          </p:nvPr>
        </p:nvSpPr>
        <p:spPr/>
        <p:txBody>
          <a:bodyPr>
            <a:normAutofit/>
          </a:bodyPr>
          <a:lstStyle/>
          <a:p>
            <a:r>
              <a:rPr lang="en-US" sz="3600" b="1" dirty="0"/>
              <a:t>Physical</a:t>
            </a:r>
            <a:endParaRPr lang="en-US" sz="3600" dirty="0"/>
          </a:p>
        </p:txBody>
      </p:sp>
      <p:sp>
        <p:nvSpPr>
          <p:cNvPr id="4" name="Slide Number Placeholder 3">
            <a:extLst>
              <a:ext uri="{FF2B5EF4-FFF2-40B4-BE49-F238E27FC236}">
                <a16:creationId xmlns:a16="http://schemas.microsoft.com/office/drawing/2014/main" id="{5CC32E51-21AB-E06B-DF4E-89A4006AAB49}"/>
              </a:ext>
            </a:extLst>
          </p:cNvPr>
          <p:cNvSpPr>
            <a:spLocks noGrp="1"/>
          </p:cNvSpPr>
          <p:nvPr>
            <p:ph type="sldNum" sz="quarter" idx="12"/>
          </p:nvPr>
        </p:nvSpPr>
        <p:spPr/>
        <p:txBody>
          <a:bodyPr/>
          <a:lstStyle/>
          <a:p>
            <a:fld id="{6264BDCF-5269-49AC-A246-ED26C2B980E3}" type="slidenum">
              <a:rPr lang="en-US" smtClean="0"/>
              <a:t>2</a:t>
            </a:fld>
            <a:endParaRPr lang="en-US"/>
          </a:p>
        </p:txBody>
      </p:sp>
    </p:spTree>
    <p:extLst>
      <p:ext uri="{BB962C8B-B14F-4D97-AF65-F5344CB8AC3E}">
        <p14:creationId xmlns:p14="http://schemas.microsoft.com/office/powerpoint/2010/main" val="1379357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12E16-66D0-F8FD-FC69-5D715DB23D9A}"/>
              </a:ext>
            </a:extLst>
          </p:cNvPr>
          <p:cNvSpPr>
            <a:spLocks noGrp="1"/>
          </p:cNvSpPr>
          <p:nvPr>
            <p:ph type="title"/>
          </p:nvPr>
        </p:nvSpPr>
        <p:spPr>
          <a:xfrm>
            <a:off x="838199" y="365125"/>
            <a:ext cx="10872019" cy="1325563"/>
          </a:xfrm>
        </p:spPr>
        <p:txBody>
          <a:bodyPr>
            <a:normAutofit fontScale="90000"/>
          </a:bodyPr>
          <a:lstStyle/>
          <a:p>
            <a:r>
              <a:rPr lang="en-US" sz="4900" dirty="0">
                <a:hlinkClick r:id="rId2"/>
              </a:rPr>
              <a:t>Physical</a:t>
            </a:r>
            <a:r>
              <a:rPr lang="en-US" sz="4900" dirty="0"/>
              <a:t> </a:t>
            </a:r>
            <a:br>
              <a:rPr lang="en-US" dirty="0"/>
            </a:br>
            <a:r>
              <a:rPr lang="en-US" dirty="0">
                <a:hlinkClick r:id="rId2"/>
              </a:rPr>
              <a:t>https://www.youtube.com/watch?v=vWz9VN40nCA</a:t>
            </a:r>
            <a:endParaRPr lang="en-US" dirty="0"/>
          </a:p>
        </p:txBody>
      </p:sp>
      <p:sp>
        <p:nvSpPr>
          <p:cNvPr id="3" name="Content Placeholder 2">
            <a:extLst>
              <a:ext uri="{FF2B5EF4-FFF2-40B4-BE49-F238E27FC236}">
                <a16:creationId xmlns:a16="http://schemas.microsoft.com/office/drawing/2014/main" id="{D19C6949-1518-6AA4-1E5A-451835F51F37}"/>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5E79DCDC-F669-C707-D840-989B6452990A}"/>
              </a:ext>
            </a:extLst>
          </p:cNvPr>
          <p:cNvSpPr>
            <a:spLocks noGrp="1"/>
          </p:cNvSpPr>
          <p:nvPr>
            <p:ph type="sldNum" sz="quarter" idx="12"/>
          </p:nvPr>
        </p:nvSpPr>
        <p:spPr/>
        <p:txBody>
          <a:bodyPr/>
          <a:lstStyle/>
          <a:p>
            <a:fld id="{6264BDCF-5269-49AC-A246-ED26C2B980E3}" type="slidenum">
              <a:rPr lang="en-US" smtClean="0"/>
              <a:t>3</a:t>
            </a:fld>
            <a:endParaRPr lang="en-US"/>
          </a:p>
        </p:txBody>
      </p:sp>
      <p:pic>
        <p:nvPicPr>
          <p:cNvPr id="1026" name="Picture 2" descr="View Poster">
            <a:extLst>
              <a:ext uri="{FF2B5EF4-FFF2-40B4-BE49-F238E27FC236}">
                <a16:creationId xmlns:a16="http://schemas.microsoft.com/office/drawing/2014/main" id="{01D93BC6-3BF6-D948-BBA8-914BD222C7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0240" y="1920240"/>
            <a:ext cx="7802690" cy="4393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0712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18F9E-B3A5-10D8-982C-C063B7A96186}"/>
              </a:ext>
            </a:extLst>
          </p:cNvPr>
          <p:cNvSpPr>
            <a:spLocks noGrp="1"/>
          </p:cNvSpPr>
          <p:nvPr>
            <p:ph type="title"/>
          </p:nvPr>
        </p:nvSpPr>
        <p:spPr/>
        <p:txBody>
          <a:bodyPr/>
          <a:lstStyle/>
          <a:p>
            <a:r>
              <a:rPr lang="en-US" dirty="0"/>
              <a:t>Physical </a:t>
            </a:r>
            <a:r>
              <a:rPr lang="en-US" dirty="0" err="1"/>
              <a:t>DataBases</a:t>
            </a:r>
            <a:r>
              <a:rPr lang="en-US" dirty="0"/>
              <a:t> Storage Systems</a:t>
            </a:r>
          </a:p>
        </p:txBody>
      </p:sp>
      <p:sp>
        <p:nvSpPr>
          <p:cNvPr id="3" name="Content Placeholder 2">
            <a:extLst>
              <a:ext uri="{FF2B5EF4-FFF2-40B4-BE49-F238E27FC236}">
                <a16:creationId xmlns:a16="http://schemas.microsoft.com/office/drawing/2014/main" id="{4FC737F4-116B-7BA1-164C-889B79A1EE00}"/>
              </a:ext>
            </a:extLst>
          </p:cNvPr>
          <p:cNvSpPr>
            <a:spLocks noGrp="1"/>
          </p:cNvSpPr>
          <p:nvPr>
            <p:ph idx="1"/>
          </p:nvPr>
        </p:nvSpPr>
        <p:spPr/>
        <p:txBody>
          <a:bodyPr>
            <a:normAutofit/>
          </a:bodyPr>
          <a:lstStyle/>
          <a:p>
            <a:r>
              <a:rPr lang="en-US" dirty="0"/>
              <a:t>higher-level models of a database: at the </a:t>
            </a:r>
            <a:r>
              <a:rPr lang="en-US" i="1" dirty="0"/>
              <a:t>conceptual </a:t>
            </a:r>
            <a:r>
              <a:rPr lang="en-US" dirty="0"/>
              <a:t>or </a:t>
            </a:r>
            <a:r>
              <a:rPr lang="en-US" i="1" dirty="0"/>
              <a:t>logical </a:t>
            </a:r>
            <a:r>
              <a:rPr lang="en-US" dirty="0"/>
              <a:t>level, entities, tables, …</a:t>
            </a:r>
          </a:p>
          <a:p>
            <a:r>
              <a:rPr lang="en-US" dirty="0"/>
              <a:t>these are correct levels for database </a:t>
            </a:r>
            <a:r>
              <a:rPr lang="en-US" i="1" dirty="0"/>
              <a:t>users </a:t>
            </a:r>
            <a:r>
              <a:rPr lang="en-US" dirty="0"/>
              <a:t>to focus on - because the goal of database system is to simplify and facilitate access to data - users of the system should not be burdened unnecessarily with  physical details of implementation of system</a:t>
            </a:r>
          </a:p>
        </p:txBody>
      </p:sp>
      <p:sp>
        <p:nvSpPr>
          <p:cNvPr id="4" name="Slide Number Placeholder 3">
            <a:extLst>
              <a:ext uri="{FF2B5EF4-FFF2-40B4-BE49-F238E27FC236}">
                <a16:creationId xmlns:a16="http://schemas.microsoft.com/office/drawing/2014/main" id="{C2A6F5F8-157C-E5EF-C610-3E1F53A7F0D0}"/>
              </a:ext>
            </a:extLst>
          </p:cNvPr>
          <p:cNvSpPr>
            <a:spLocks noGrp="1"/>
          </p:cNvSpPr>
          <p:nvPr>
            <p:ph type="sldNum" sz="quarter" idx="12"/>
          </p:nvPr>
        </p:nvSpPr>
        <p:spPr/>
        <p:txBody>
          <a:bodyPr/>
          <a:lstStyle/>
          <a:p>
            <a:fld id="{6264BDCF-5269-49AC-A246-ED26C2B980E3}" type="slidenum">
              <a:rPr lang="en-US" smtClean="0"/>
              <a:t>4</a:t>
            </a:fld>
            <a:endParaRPr lang="en-US"/>
          </a:p>
        </p:txBody>
      </p:sp>
    </p:spTree>
    <p:extLst>
      <p:ext uri="{BB962C8B-B14F-4D97-AF65-F5344CB8AC3E}">
        <p14:creationId xmlns:p14="http://schemas.microsoft.com/office/powerpoint/2010/main" val="1266119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95A94-1384-422B-C9D2-6C2D75508FE6}"/>
              </a:ext>
            </a:extLst>
          </p:cNvPr>
          <p:cNvSpPr>
            <a:spLocks noGrp="1"/>
          </p:cNvSpPr>
          <p:nvPr>
            <p:ph type="title"/>
          </p:nvPr>
        </p:nvSpPr>
        <p:spPr/>
        <p:txBody>
          <a:bodyPr/>
          <a:lstStyle/>
          <a:p>
            <a:r>
              <a:rPr lang="en-US" dirty="0"/>
              <a:t>Physical Storage Media</a:t>
            </a:r>
          </a:p>
        </p:txBody>
      </p:sp>
      <p:sp>
        <p:nvSpPr>
          <p:cNvPr id="3" name="Content Placeholder 2">
            <a:extLst>
              <a:ext uri="{FF2B5EF4-FFF2-40B4-BE49-F238E27FC236}">
                <a16:creationId xmlns:a16="http://schemas.microsoft.com/office/drawing/2014/main" id="{0A2678A3-A019-0DB3-6EF1-4A35CC1706F2}"/>
              </a:ext>
            </a:extLst>
          </p:cNvPr>
          <p:cNvSpPr>
            <a:spLocks noGrp="1"/>
          </p:cNvSpPr>
          <p:nvPr>
            <p:ph idx="1"/>
          </p:nvPr>
        </p:nvSpPr>
        <p:spPr/>
        <p:txBody>
          <a:bodyPr>
            <a:noAutofit/>
          </a:bodyPr>
          <a:lstStyle/>
          <a:p>
            <a:r>
              <a:rPr lang="en-US" dirty="0"/>
              <a:t>types of data storage classified by speed with which data can be accessed, by cost per unit of data and by medium’s reliability</a:t>
            </a:r>
          </a:p>
        </p:txBody>
      </p:sp>
      <p:sp>
        <p:nvSpPr>
          <p:cNvPr id="4" name="Slide Number Placeholder 3">
            <a:extLst>
              <a:ext uri="{FF2B5EF4-FFF2-40B4-BE49-F238E27FC236}">
                <a16:creationId xmlns:a16="http://schemas.microsoft.com/office/drawing/2014/main" id="{06354000-0E5F-6877-5C9A-E8A1217FA36B}"/>
              </a:ext>
            </a:extLst>
          </p:cNvPr>
          <p:cNvSpPr>
            <a:spLocks noGrp="1"/>
          </p:cNvSpPr>
          <p:nvPr>
            <p:ph type="sldNum" sz="quarter" idx="12"/>
          </p:nvPr>
        </p:nvSpPr>
        <p:spPr/>
        <p:txBody>
          <a:bodyPr/>
          <a:lstStyle/>
          <a:p>
            <a:fld id="{6264BDCF-5269-49AC-A246-ED26C2B980E3}" type="slidenum">
              <a:rPr lang="en-US" smtClean="0"/>
              <a:t>5</a:t>
            </a:fld>
            <a:endParaRPr lang="en-US"/>
          </a:p>
        </p:txBody>
      </p:sp>
    </p:spTree>
    <p:extLst>
      <p:ext uri="{BB962C8B-B14F-4D97-AF65-F5344CB8AC3E}">
        <p14:creationId xmlns:p14="http://schemas.microsoft.com/office/powerpoint/2010/main" val="2205600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C51BE-9377-C295-6944-067AD243D855}"/>
              </a:ext>
            </a:extLst>
          </p:cNvPr>
          <p:cNvSpPr>
            <a:spLocks noGrp="1"/>
          </p:cNvSpPr>
          <p:nvPr>
            <p:ph type="title"/>
          </p:nvPr>
        </p:nvSpPr>
        <p:spPr/>
        <p:txBody>
          <a:bodyPr/>
          <a:lstStyle/>
          <a:p>
            <a:r>
              <a:rPr lang="en-US" dirty="0"/>
              <a:t>Cache</a:t>
            </a:r>
          </a:p>
        </p:txBody>
      </p:sp>
      <p:sp>
        <p:nvSpPr>
          <p:cNvPr id="3" name="Content Placeholder 2">
            <a:extLst>
              <a:ext uri="{FF2B5EF4-FFF2-40B4-BE49-F238E27FC236}">
                <a16:creationId xmlns:a16="http://schemas.microsoft.com/office/drawing/2014/main" id="{1DC42A49-D737-6BCF-0AF5-9B78030FE1D6}"/>
              </a:ext>
            </a:extLst>
          </p:cNvPr>
          <p:cNvSpPr>
            <a:spLocks noGrp="1"/>
          </p:cNvSpPr>
          <p:nvPr>
            <p:ph idx="1"/>
          </p:nvPr>
        </p:nvSpPr>
        <p:spPr/>
        <p:txBody>
          <a:bodyPr>
            <a:noAutofit/>
          </a:bodyPr>
          <a:lstStyle/>
          <a:p>
            <a:r>
              <a:rPr lang="en-US" dirty="0"/>
              <a:t>fastest and most costly form of storage</a:t>
            </a:r>
          </a:p>
          <a:p>
            <a:r>
              <a:rPr lang="en-US" dirty="0"/>
              <a:t>cache memory is relatively small; its use is managed by computer system hardware</a:t>
            </a:r>
          </a:p>
          <a:p>
            <a:r>
              <a:rPr lang="en-US" dirty="0"/>
              <a:t>database implementors DO pay attention to cache effects when designing query processing</a:t>
            </a:r>
          </a:p>
        </p:txBody>
      </p:sp>
      <p:sp>
        <p:nvSpPr>
          <p:cNvPr id="4" name="Slide Number Placeholder 3">
            <a:extLst>
              <a:ext uri="{FF2B5EF4-FFF2-40B4-BE49-F238E27FC236}">
                <a16:creationId xmlns:a16="http://schemas.microsoft.com/office/drawing/2014/main" id="{0BE2CAA5-EEA3-556E-F431-550541ACE13A}"/>
              </a:ext>
            </a:extLst>
          </p:cNvPr>
          <p:cNvSpPr>
            <a:spLocks noGrp="1"/>
          </p:cNvSpPr>
          <p:nvPr>
            <p:ph type="sldNum" sz="quarter" idx="12"/>
          </p:nvPr>
        </p:nvSpPr>
        <p:spPr/>
        <p:txBody>
          <a:bodyPr/>
          <a:lstStyle/>
          <a:p>
            <a:fld id="{6264BDCF-5269-49AC-A246-ED26C2B980E3}" type="slidenum">
              <a:rPr lang="en-US" smtClean="0"/>
              <a:t>6</a:t>
            </a:fld>
            <a:endParaRPr lang="en-US"/>
          </a:p>
        </p:txBody>
      </p:sp>
    </p:spTree>
    <p:extLst>
      <p:ext uri="{BB962C8B-B14F-4D97-AF65-F5344CB8AC3E}">
        <p14:creationId xmlns:p14="http://schemas.microsoft.com/office/powerpoint/2010/main" val="3511063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18CB1-5671-5C1E-B373-F2AE607AD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97E9E9-B7E8-06A5-9B6E-C059547AE786}"/>
              </a:ext>
            </a:extLst>
          </p:cNvPr>
          <p:cNvSpPr>
            <a:spLocks noGrp="1"/>
          </p:cNvSpPr>
          <p:nvPr>
            <p:ph type="title"/>
          </p:nvPr>
        </p:nvSpPr>
        <p:spPr/>
        <p:txBody>
          <a:bodyPr/>
          <a:lstStyle/>
          <a:p>
            <a:r>
              <a:rPr lang="en-US" dirty="0"/>
              <a:t>Main Memory</a:t>
            </a:r>
          </a:p>
        </p:txBody>
      </p:sp>
      <p:sp>
        <p:nvSpPr>
          <p:cNvPr id="3" name="Content Placeholder 2">
            <a:extLst>
              <a:ext uri="{FF2B5EF4-FFF2-40B4-BE49-F238E27FC236}">
                <a16:creationId xmlns:a16="http://schemas.microsoft.com/office/drawing/2014/main" id="{042B3ED2-B55C-71FC-34BE-D3C539392B77}"/>
              </a:ext>
            </a:extLst>
          </p:cNvPr>
          <p:cNvSpPr>
            <a:spLocks noGrp="1"/>
          </p:cNvSpPr>
          <p:nvPr>
            <p:ph idx="1"/>
          </p:nvPr>
        </p:nvSpPr>
        <p:spPr/>
        <p:txBody>
          <a:bodyPr>
            <a:noAutofit/>
          </a:bodyPr>
          <a:lstStyle/>
          <a:p>
            <a:r>
              <a:rPr lang="en-US" dirty="0"/>
              <a:t>may contain tens of gigabytes of data on personal computer, and are even larger in large server systems</a:t>
            </a:r>
          </a:p>
          <a:p>
            <a:r>
              <a:rPr lang="en-US" dirty="0"/>
              <a:t>generally, too small (or too expensive) for storing entire database for very large databases, but some enterprise databases can fit in main memory</a:t>
            </a:r>
          </a:p>
          <a:p>
            <a:r>
              <a:rPr lang="en-US" dirty="0"/>
              <a:t>however, contents of main memory are lost in the event of a power failure or system crash; main memory is said to be </a:t>
            </a:r>
            <a:r>
              <a:rPr lang="en-US" i="1" dirty="0"/>
              <a:t>volatile</a:t>
            </a:r>
          </a:p>
        </p:txBody>
      </p:sp>
      <p:sp>
        <p:nvSpPr>
          <p:cNvPr id="4" name="Slide Number Placeholder 3">
            <a:extLst>
              <a:ext uri="{FF2B5EF4-FFF2-40B4-BE49-F238E27FC236}">
                <a16:creationId xmlns:a16="http://schemas.microsoft.com/office/drawing/2014/main" id="{A98C16B0-EB53-4FF4-8010-D964A153908B}"/>
              </a:ext>
            </a:extLst>
          </p:cNvPr>
          <p:cNvSpPr>
            <a:spLocks noGrp="1"/>
          </p:cNvSpPr>
          <p:nvPr>
            <p:ph type="sldNum" sz="quarter" idx="12"/>
          </p:nvPr>
        </p:nvSpPr>
        <p:spPr/>
        <p:txBody>
          <a:bodyPr/>
          <a:lstStyle/>
          <a:p>
            <a:fld id="{6264BDCF-5269-49AC-A246-ED26C2B980E3}" type="slidenum">
              <a:rPr lang="en-US" smtClean="0"/>
              <a:t>7</a:t>
            </a:fld>
            <a:endParaRPr lang="en-US"/>
          </a:p>
        </p:txBody>
      </p:sp>
    </p:spTree>
    <p:extLst>
      <p:ext uri="{BB962C8B-B14F-4D97-AF65-F5344CB8AC3E}">
        <p14:creationId xmlns:p14="http://schemas.microsoft.com/office/powerpoint/2010/main" val="763689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3BD29-A8F1-DCE1-ABDE-3FF03089A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C81DA-C1F2-2DE9-C38C-6CC61E1CFB40}"/>
              </a:ext>
            </a:extLst>
          </p:cNvPr>
          <p:cNvSpPr>
            <a:spLocks noGrp="1"/>
          </p:cNvSpPr>
          <p:nvPr>
            <p:ph type="title"/>
          </p:nvPr>
        </p:nvSpPr>
        <p:spPr/>
        <p:txBody>
          <a:bodyPr/>
          <a:lstStyle/>
          <a:p>
            <a:r>
              <a:rPr lang="en-US" dirty="0"/>
              <a:t>Flash Memory</a:t>
            </a:r>
          </a:p>
        </p:txBody>
      </p:sp>
      <p:sp>
        <p:nvSpPr>
          <p:cNvPr id="3" name="Content Placeholder 2">
            <a:extLst>
              <a:ext uri="{FF2B5EF4-FFF2-40B4-BE49-F238E27FC236}">
                <a16:creationId xmlns:a16="http://schemas.microsoft.com/office/drawing/2014/main" id="{59BBA55A-3107-AD80-DF34-48B4FD395F82}"/>
              </a:ext>
            </a:extLst>
          </p:cNvPr>
          <p:cNvSpPr>
            <a:spLocks noGrp="1"/>
          </p:cNvSpPr>
          <p:nvPr>
            <p:ph idx="1"/>
          </p:nvPr>
        </p:nvSpPr>
        <p:spPr/>
        <p:txBody>
          <a:bodyPr>
            <a:noAutofit/>
          </a:bodyPr>
          <a:lstStyle/>
          <a:p>
            <a:r>
              <a:rPr lang="en-US" dirty="0"/>
              <a:t>differs from main memory in that stored data are retained even if power is turned off (or fails) - that is, it is </a:t>
            </a:r>
            <a:r>
              <a:rPr lang="en-US" i="1" dirty="0"/>
              <a:t>non-volatile</a:t>
            </a:r>
          </a:p>
          <a:p>
            <a:r>
              <a:rPr lang="en-US" dirty="0"/>
              <a:t>lower cost per byte than main memory</a:t>
            </a:r>
          </a:p>
          <a:p>
            <a:r>
              <a:rPr lang="en-US" dirty="0"/>
              <a:t>higher cost per byte than (magnetic) disks</a:t>
            </a:r>
          </a:p>
          <a:p>
            <a:r>
              <a:rPr lang="en-US" dirty="0"/>
              <a:t>widely used for data storage in devices such as cameras and </a:t>
            </a:r>
            <a:r>
              <a:rPr lang="en-US" dirty="0" err="1"/>
              <a:t>mobles</a:t>
            </a:r>
            <a:endParaRPr lang="en-US" dirty="0"/>
          </a:p>
          <a:p>
            <a:r>
              <a:rPr lang="en-US" dirty="0"/>
              <a:t>can be plugged into </a:t>
            </a:r>
            <a:r>
              <a:rPr lang="en-US" i="1" dirty="0"/>
              <a:t>Universal Serial Bus </a:t>
            </a:r>
            <a:r>
              <a:rPr lang="en-US" dirty="0"/>
              <a:t>(USB) slots of computing devices</a:t>
            </a:r>
          </a:p>
        </p:txBody>
      </p:sp>
      <p:sp>
        <p:nvSpPr>
          <p:cNvPr id="4" name="Slide Number Placeholder 3">
            <a:extLst>
              <a:ext uri="{FF2B5EF4-FFF2-40B4-BE49-F238E27FC236}">
                <a16:creationId xmlns:a16="http://schemas.microsoft.com/office/drawing/2014/main" id="{5435828F-5AE0-C6F1-D96B-9CE9DB036FEA}"/>
              </a:ext>
            </a:extLst>
          </p:cNvPr>
          <p:cNvSpPr>
            <a:spLocks noGrp="1"/>
          </p:cNvSpPr>
          <p:nvPr>
            <p:ph type="sldNum" sz="quarter" idx="12"/>
          </p:nvPr>
        </p:nvSpPr>
        <p:spPr/>
        <p:txBody>
          <a:bodyPr/>
          <a:lstStyle/>
          <a:p>
            <a:fld id="{6264BDCF-5269-49AC-A246-ED26C2B980E3}" type="slidenum">
              <a:rPr lang="en-US" smtClean="0"/>
              <a:t>8</a:t>
            </a:fld>
            <a:endParaRPr lang="en-US"/>
          </a:p>
        </p:txBody>
      </p:sp>
    </p:spTree>
    <p:extLst>
      <p:ext uri="{BB962C8B-B14F-4D97-AF65-F5344CB8AC3E}">
        <p14:creationId xmlns:p14="http://schemas.microsoft.com/office/powerpoint/2010/main" val="3358467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9ECF0-A57C-4D5E-2A43-4BEC609CD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C41114-370B-BF85-FC8F-9E5A6D6C57C6}"/>
              </a:ext>
            </a:extLst>
          </p:cNvPr>
          <p:cNvSpPr>
            <a:spLocks noGrp="1"/>
          </p:cNvSpPr>
          <p:nvPr>
            <p:ph type="title"/>
          </p:nvPr>
        </p:nvSpPr>
        <p:spPr/>
        <p:txBody>
          <a:bodyPr/>
          <a:lstStyle/>
          <a:p>
            <a:r>
              <a:rPr lang="en-US" dirty="0"/>
              <a:t>Solid State Drive (SSD)</a:t>
            </a:r>
          </a:p>
        </p:txBody>
      </p:sp>
      <p:sp>
        <p:nvSpPr>
          <p:cNvPr id="3" name="Content Placeholder 2">
            <a:extLst>
              <a:ext uri="{FF2B5EF4-FFF2-40B4-BE49-F238E27FC236}">
                <a16:creationId xmlns:a16="http://schemas.microsoft.com/office/drawing/2014/main" id="{E161B3BB-B2DB-50D0-8C19-78E4776F2D3D}"/>
              </a:ext>
            </a:extLst>
          </p:cNvPr>
          <p:cNvSpPr>
            <a:spLocks noGrp="1"/>
          </p:cNvSpPr>
          <p:nvPr>
            <p:ph idx="1"/>
          </p:nvPr>
        </p:nvSpPr>
        <p:spPr/>
        <p:txBody>
          <a:bodyPr>
            <a:noAutofit/>
          </a:bodyPr>
          <a:lstStyle/>
          <a:p>
            <a:r>
              <a:rPr lang="en-US" dirty="0"/>
              <a:t>flash memory is also increasingly used as a replacement for magnetic disks in personal computers as well as in servers</a:t>
            </a:r>
          </a:p>
          <a:p>
            <a:r>
              <a:rPr lang="en-US" dirty="0"/>
              <a:t>Solid State Drive (SSD) uses flash memory internally to store data but provides interface similar to magnetic disk, allowing data to be stored or retrieved in units of a block - such interface is called block-oriented interface</a:t>
            </a:r>
          </a:p>
          <a:p>
            <a:r>
              <a:rPr lang="en-US" dirty="0"/>
              <a:t>block sizes typically range from 512 bytes to 8 kilobytes</a:t>
            </a:r>
          </a:p>
          <a:p>
            <a:endParaRPr lang="en-US" dirty="0"/>
          </a:p>
        </p:txBody>
      </p:sp>
      <p:sp>
        <p:nvSpPr>
          <p:cNvPr id="4" name="Slide Number Placeholder 3">
            <a:extLst>
              <a:ext uri="{FF2B5EF4-FFF2-40B4-BE49-F238E27FC236}">
                <a16:creationId xmlns:a16="http://schemas.microsoft.com/office/drawing/2014/main" id="{CF0560B2-A4AE-3961-30F1-D29C11F934A0}"/>
              </a:ext>
            </a:extLst>
          </p:cNvPr>
          <p:cNvSpPr>
            <a:spLocks noGrp="1"/>
          </p:cNvSpPr>
          <p:nvPr>
            <p:ph type="sldNum" sz="quarter" idx="12"/>
          </p:nvPr>
        </p:nvSpPr>
        <p:spPr/>
        <p:txBody>
          <a:bodyPr/>
          <a:lstStyle/>
          <a:p>
            <a:fld id="{6264BDCF-5269-49AC-A246-ED26C2B980E3}" type="slidenum">
              <a:rPr lang="en-US" smtClean="0"/>
              <a:t>9</a:t>
            </a:fld>
            <a:endParaRPr lang="en-US"/>
          </a:p>
        </p:txBody>
      </p:sp>
    </p:spTree>
    <p:extLst>
      <p:ext uri="{BB962C8B-B14F-4D97-AF65-F5344CB8AC3E}">
        <p14:creationId xmlns:p14="http://schemas.microsoft.com/office/powerpoint/2010/main" val="1528874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5159B-EA8B-59B1-458A-8336DD089CBD}"/>
              </a:ext>
            </a:extLst>
          </p:cNvPr>
          <p:cNvSpPr>
            <a:spLocks noGrp="1"/>
          </p:cNvSpPr>
          <p:nvPr>
            <p:ph type="title"/>
          </p:nvPr>
        </p:nvSpPr>
        <p:spPr/>
        <p:txBody>
          <a:bodyPr/>
          <a:lstStyle/>
          <a:p>
            <a:r>
              <a:rPr lang="en-US" dirty="0"/>
              <a:t>Magnetic-disk storage</a:t>
            </a:r>
            <a:br>
              <a:rPr lang="en-US" dirty="0"/>
            </a:br>
            <a:r>
              <a:rPr lang="en-US" dirty="0"/>
              <a:t>Hard Disk Drive (HDD)</a:t>
            </a:r>
          </a:p>
        </p:txBody>
      </p:sp>
      <p:sp>
        <p:nvSpPr>
          <p:cNvPr id="3" name="Content Placeholder 2">
            <a:extLst>
              <a:ext uri="{FF2B5EF4-FFF2-40B4-BE49-F238E27FC236}">
                <a16:creationId xmlns:a16="http://schemas.microsoft.com/office/drawing/2014/main" id="{226B26DD-21DB-D518-471C-B99D5BE5BAA9}"/>
              </a:ext>
            </a:extLst>
          </p:cNvPr>
          <p:cNvSpPr>
            <a:spLocks noGrp="1"/>
          </p:cNvSpPr>
          <p:nvPr>
            <p:ph idx="1"/>
          </p:nvPr>
        </p:nvSpPr>
        <p:spPr>
          <a:xfrm>
            <a:off x="838199" y="1825625"/>
            <a:ext cx="11225981" cy="4351338"/>
          </a:xfrm>
        </p:spPr>
        <p:txBody>
          <a:bodyPr>
            <a:normAutofit/>
          </a:bodyPr>
          <a:lstStyle/>
          <a:p>
            <a:r>
              <a:rPr lang="en-US" dirty="0"/>
              <a:t>primary medium for long-term online storage of data is magnetic disk drive</a:t>
            </a:r>
          </a:p>
          <a:p>
            <a:r>
              <a:rPr lang="en-US" dirty="0"/>
              <a:t>like flash memory is nonvolatile</a:t>
            </a:r>
          </a:p>
          <a:p>
            <a:r>
              <a:rPr lang="en-US" dirty="0"/>
              <a:t>disks may sometimes fail and destroy data, but such failures are quite rare compared to system crashes or power failures</a:t>
            </a:r>
          </a:p>
          <a:p>
            <a:r>
              <a:rPr lang="en-US" dirty="0"/>
              <a:t>to access data stored on magnetic disk, system must first move data from disk to main memory, from where they can be accessed</a:t>
            </a:r>
          </a:p>
          <a:p>
            <a:r>
              <a:rPr lang="en-US" dirty="0"/>
              <a:t>after the system has performed designated operations, data that have been modified must be written to disk</a:t>
            </a:r>
          </a:p>
        </p:txBody>
      </p:sp>
      <p:sp>
        <p:nvSpPr>
          <p:cNvPr id="4" name="Slide Number Placeholder 3">
            <a:extLst>
              <a:ext uri="{FF2B5EF4-FFF2-40B4-BE49-F238E27FC236}">
                <a16:creationId xmlns:a16="http://schemas.microsoft.com/office/drawing/2014/main" id="{63F42992-784E-EABD-3050-CDF174612C92}"/>
              </a:ext>
            </a:extLst>
          </p:cNvPr>
          <p:cNvSpPr>
            <a:spLocks noGrp="1"/>
          </p:cNvSpPr>
          <p:nvPr>
            <p:ph type="sldNum" sz="quarter" idx="12"/>
          </p:nvPr>
        </p:nvSpPr>
        <p:spPr/>
        <p:txBody>
          <a:bodyPr/>
          <a:lstStyle/>
          <a:p>
            <a:fld id="{6264BDCF-5269-49AC-A246-ED26C2B980E3}" type="slidenum">
              <a:rPr lang="en-US" smtClean="0"/>
              <a:t>10</a:t>
            </a:fld>
            <a:endParaRPr lang="en-US"/>
          </a:p>
        </p:txBody>
      </p:sp>
    </p:spTree>
    <p:extLst>
      <p:ext uri="{BB962C8B-B14F-4D97-AF65-F5344CB8AC3E}">
        <p14:creationId xmlns:p14="http://schemas.microsoft.com/office/powerpoint/2010/main" val="3584865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A3675-1F03-F19F-D534-70FD6B80494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9CA804-0A5D-45DE-EC9B-EFFF11E7E0FA}"/>
              </a:ext>
            </a:extLst>
          </p:cNvPr>
          <p:cNvSpPr>
            <a:spLocks noGrp="1"/>
          </p:cNvSpPr>
          <p:nvPr>
            <p:ph idx="1"/>
          </p:nvPr>
        </p:nvSpPr>
        <p:spPr/>
        <p:txBody>
          <a:bodyPr/>
          <a:lstStyle/>
          <a:p>
            <a:r>
              <a:rPr lang="en-US" dirty="0"/>
              <a:t>significantly cheaper than SSDs, magnetic HDD disks provide lower performance in terms of number of data access operations that they can support per second</a:t>
            </a:r>
          </a:p>
        </p:txBody>
      </p:sp>
      <p:sp>
        <p:nvSpPr>
          <p:cNvPr id="4" name="Slide Number Placeholder 3">
            <a:extLst>
              <a:ext uri="{FF2B5EF4-FFF2-40B4-BE49-F238E27FC236}">
                <a16:creationId xmlns:a16="http://schemas.microsoft.com/office/drawing/2014/main" id="{B1F96EBE-4438-98CE-1765-845E8D67481A}"/>
              </a:ext>
            </a:extLst>
          </p:cNvPr>
          <p:cNvSpPr>
            <a:spLocks noGrp="1"/>
          </p:cNvSpPr>
          <p:nvPr>
            <p:ph type="sldNum" sz="quarter" idx="12"/>
          </p:nvPr>
        </p:nvSpPr>
        <p:spPr/>
        <p:txBody>
          <a:bodyPr/>
          <a:lstStyle/>
          <a:p>
            <a:fld id="{6264BDCF-5269-49AC-A246-ED26C2B980E3}" type="slidenum">
              <a:rPr lang="en-US" smtClean="0"/>
              <a:t>11</a:t>
            </a:fld>
            <a:endParaRPr lang="en-US"/>
          </a:p>
        </p:txBody>
      </p:sp>
    </p:spTree>
    <p:extLst>
      <p:ext uri="{BB962C8B-B14F-4D97-AF65-F5344CB8AC3E}">
        <p14:creationId xmlns:p14="http://schemas.microsoft.com/office/powerpoint/2010/main" val="2140161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26E46-61DE-6448-6E60-5039EC60D869}"/>
              </a:ext>
            </a:extLst>
          </p:cNvPr>
          <p:cNvSpPr>
            <a:spLocks noGrp="1"/>
          </p:cNvSpPr>
          <p:nvPr>
            <p:ph type="title"/>
          </p:nvPr>
        </p:nvSpPr>
        <p:spPr/>
        <p:txBody>
          <a:bodyPr/>
          <a:lstStyle/>
          <a:p>
            <a:r>
              <a:rPr lang="en-US" dirty="0"/>
              <a:t>Optical storage</a:t>
            </a:r>
          </a:p>
        </p:txBody>
      </p:sp>
      <p:sp>
        <p:nvSpPr>
          <p:cNvPr id="3" name="Content Placeholder 2">
            <a:extLst>
              <a:ext uri="{FF2B5EF4-FFF2-40B4-BE49-F238E27FC236}">
                <a16:creationId xmlns:a16="http://schemas.microsoft.com/office/drawing/2014/main" id="{9AF30154-AAFD-F56D-672B-D01FC54E3758}"/>
              </a:ext>
            </a:extLst>
          </p:cNvPr>
          <p:cNvSpPr>
            <a:spLocks noGrp="1"/>
          </p:cNvSpPr>
          <p:nvPr>
            <p:ph idx="1"/>
          </p:nvPr>
        </p:nvSpPr>
        <p:spPr/>
        <p:txBody>
          <a:bodyPr>
            <a:normAutofit/>
          </a:bodyPr>
          <a:lstStyle/>
          <a:p>
            <a:r>
              <a:rPr lang="en-US" dirty="0"/>
              <a:t>Digital Video Disk (DVD) is an optical storage medium, with data written and read back using a laser light source</a:t>
            </a:r>
          </a:p>
          <a:p>
            <a:r>
              <a:rPr lang="en-US" dirty="0"/>
              <a:t>Blu-ray DVD format has a larger capacity of 27 to 128 gigabytes</a:t>
            </a:r>
          </a:p>
          <a:p>
            <a:r>
              <a:rPr lang="en-US" dirty="0"/>
              <a:t>capable of storing any type of digital data, including backups of database contents</a:t>
            </a:r>
          </a:p>
          <a:p>
            <a:r>
              <a:rPr lang="en-US" dirty="0"/>
              <a:t>are not suitable for storing active database data since the time required to access given piece of data can be quite long compared to magnetic disk</a:t>
            </a:r>
          </a:p>
        </p:txBody>
      </p:sp>
      <p:sp>
        <p:nvSpPr>
          <p:cNvPr id="4" name="Slide Number Placeholder 3">
            <a:extLst>
              <a:ext uri="{FF2B5EF4-FFF2-40B4-BE49-F238E27FC236}">
                <a16:creationId xmlns:a16="http://schemas.microsoft.com/office/drawing/2014/main" id="{6AA999E6-B884-9D53-6CCB-6476A94F7F3D}"/>
              </a:ext>
            </a:extLst>
          </p:cNvPr>
          <p:cNvSpPr>
            <a:spLocks noGrp="1"/>
          </p:cNvSpPr>
          <p:nvPr>
            <p:ph type="sldNum" sz="quarter" idx="12"/>
          </p:nvPr>
        </p:nvSpPr>
        <p:spPr/>
        <p:txBody>
          <a:bodyPr/>
          <a:lstStyle/>
          <a:p>
            <a:fld id="{6264BDCF-5269-49AC-A246-ED26C2B980E3}" type="slidenum">
              <a:rPr lang="en-US" smtClean="0"/>
              <a:t>12</a:t>
            </a:fld>
            <a:endParaRPr lang="en-US"/>
          </a:p>
        </p:txBody>
      </p:sp>
    </p:spTree>
    <p:extLst>
      <p:ext uri="{BB962C8B-B14F-4D97-AF65-F5344CB8AC3E}">
        <p14:creationId xmlns:p14="http://schemas.microsoft.com/office/powerpoint/2010/main" val="621590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E1D30-F2B8-AA24-F7B9-DE81A911EF01}"/>
              </a:ext>
            </a:extLst>
          </p:cNvPr>
          <p:cNvSpPr>
            <a:spLocks noGrp="1"/>
          </p:cNvSpPr>
          <p:nvPr>
            <p:ph type="title"/>
          </p:nvPr>
        </p:nvSpPr>
        <p:spPr/>
        <p:txBody>
          <a:bodyPr/>
          <a:lstStyle/>
          <a:p>
            <a:r>
              <a:rPr lang="en-US" dirty="0"/>
              <a:t>Tape storage</a:t>
            </a:r>
          </a:p>
        </p:txBody>
      </p:sp>
      <p:sp>
        <p:nvSpPr>
          <p:cNvPr id="3" name="Content Placeholder 2">
            <a:extLst>
              <a:ext uri="{FF2B5EF4-FFF2-40B4-BE49-F238E27FC236}">
                <a16:creationId xmlns:a16="http://schemas.microsoft.com/office/drawing/2014/main" id="{DA7EDEC0-AD10-61B9-FE67-A895F769168C}"/>
              </a:ext>
            </a:extLst>
          </p:cNvPr>
          <p:cNvSpPr>
            <a:spLocks noGrp="1"/>
          </p:cNvSpPr>
          <p:nvPr>
            <p:ph idx="1"/>
          </p:nvPr>
        </p:nvSpPr>
        <p:spPr/>
        <p:txBody>
          <a:bodyPr>
            <a:noAutofit/>
          </a:bodyPr>
          <a:lstStyle/>
          <a:p>
            <a:r>
              <a:rPr lang="en-US" dirty="0"/>
              <a:t>used primarily for backup and archival data</a:t>
            </a:r>
          </a:p>
          <a:p>
            <a:r>
              <a:rPr lang="en-US" i="1" dirty="0"/>
              <a:t>Archival </a:t>
            </a:r>
            <a:r>
              <a:rPr lang="en-US" dirty="0"/>
              <a:t>data refers to data that must be stored safely for a long period of time, often for legal reasons</a:t>
            </a:r>
          </a:p>
          <a:p>
            <a:r>
              <a:rPr lang="en-US" dirty="0"/>
              <a:t>cheaper than disks and can safely store data for many years</a:t>
            </a:r>
          </a:p>
          <a:p>
            <a:r>
              <a:rPr lang="en-US" dirty="0"/>
              <a:t>access to data is much slower because tape must be accessed sequentially from the beginning of the tape</a:t>
            </a:r>
          </a:p>
          <a:p>
            <a:r>
              <a:rPr lang="en-US" dirty="0"/>
              <a:t>tape storage is referred to as </a:t>
            </a:r>
            <a:r>
              <a:rPr lang="en-US" i="1" dirty="0"/>
              <a:t>sequential-access</a:t>
            </a:r>
            <a:r>
              <a:rPr lang="en-US" b="1" dirty="0"/>
              <a:t> </a:t>
            </a:r>
            <a:r>
              <a:rPr lang="en-US" dirty="0"/>
              <a:t>storage and in contrast, magnetic disk and SSD storage are referred to as </a:t>
            </a:r>
            <a:r>
              <a:rPr lang="en-US" i="1" dirty="0"/>
              <a:t>direct-access</a:t>
            </a:r>
            <a:r>
              <a:rPr lang="en-US" b="1" dirty="0"/>
              <a:t> </a:t>
            </a:r>
            <a:r>
              <a:rPr lang="en-US" dirty="0"/>
              <a:t>storage because it is possible to read data from any location</a:t>
            </a:r>
          </a:p>
        </p:txBody>
      </p:sp>
      <p:sp>
        <p:nvSpPr>
          <p:cNvPr id="4" name="Slide Number Placeholder 3">
            <a:extLst>
              <a:ext uri="{FF2B5EF4-FFF2-40B4-BE49-F238E27FC236}">
                <a16:creationId xmlns:a16="http://schemas.microsoft.com/office/drawing/2014/main" id="{4968426B-6013-D899-8CEC-0E512CAE6ADF}"/>
              </a:ext>
            </a:extLst>
          </p:cNvPr>
          <p:cNvSpPr>
            <a:spLocks noGrp="1"/>
          </p:cNvSpPr>
          <p:nvPr>
            <p:ph type="sldNum" sz="quarter" idx="12"/>
          </p:nvPr>
        </p:nvSpPr>
        <p:spPr/>
        <p:txBody>
          <a:bodyPr/>
          <a:lstStyle/>
          <a:p>
            <a:fld id="{6264BDCF-5269-49AC-A246-ED26C2B980E3}" type="slidenum">
              <a:rPr lang="en-US" smtClean="0"/>
              <a:t>13</a:t>
            </a:fld>
            <a:endParaRPr lang="en-US"/>
          </a:p>
        </p:txBody>
      </p:sp>
    </p:spTree>
    <p:extLst>
      <p:ext uri="{BB962C8B-B14F-4D97-AF65-F5344CB8AC3E}">
        <p14:creationId xmlns:p14="http://schemas.microsoft.com/office/powerpoint/2010/main" val="1683231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5616A-D2CE-B116-8D12-49CEF220CA34}"/>
              </a:ext>
            </a:extLst>
          </p:cNvPr>
          <p:cNvSpPr>
            <a:spLocks noGrp="1"/>
          </p:cNvSpPr>
          <p:nvPr>
            <p:ph type="title"/>
          </p:nvPr>
        </p:nvSpPr>
        <p:spPr/>
        <p:txBody>
          <a:bodyPr/>
          <a:lstStyle/>
          <a:p>
            <a:r>
              <a:rPr lang="en-US" dirty="0"/>
              <a:t>Storage device hierarchy</a:t>
            </a:r>
          </a:p>
        </p:txBody>
      </p:sp>
      <p:sp>
        <p:nvSpPr>
          <p:cNvPr id="3" name="Content Placeholder 2">
            <a:extLst>
              <a:ext uri="{FF2B5EF4-FFF2-40B4-BE49-F238E27FC236}">
                <a16:creationId xmlns:a16="http://schemas.microsoft.com/office/drawing/2014/main" id="{22C79509-447F-D237-E1D9-06CBD7B3AE0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2CCE3C4-73C8-FB2F-1EB3-6106E53956C9}"/>
              </a:ext>
            </a:extLst>
          </p:cNvPr>
          <p:cNvSpPr>
            <a:spLocks noGrp="1"/>
          </p:cNvSpPr>
          <p:nvPr>
            <p:ph type="sldNum" sz="quarter" idx="12"/>
          </p:nvPr>
        </p:nvSpPr>
        <p:spPr/>
        <p:txBody>
          <a:bodyPr/>
          <a:lstStyle/>
          <a:p>
            <a:fld id="{6264BDCF-5269-49AC-A246-ED26C2B980E3}" type="slidenum">
              <a:rPr lang="en-US" smtClean="0"/>
              <a:t>14</a:t>
            </a:fld>
            <a:endParaRPr lang="en-US"/>
          </a:p>
        </p:txBody>
      </p:sp>
      <p:pic>
        <p:nvPicPr>
          <p:cNvPr id="6" name="Picture 5">
            <a:extLst>
              <a:ext uri="{FF2B5EF4-FFF2-40B4-BE49-F238E27FC236}">
                <a16:creationId xmlns:a16="http://schemas.microsoft.com/office/drawing/2014/main" id="{DEB1C3ED-55A5-DF30-0723-D5800BCB27C2}"/>
              </a:ext>
            </a:extLst>
          </p:cNvPr>
          <p:cNvPicPr>
            <a:picLocks noChangeAspect="1"/>
          </p:cNvPicPr>
          <p:nvPr/>
        </p:nvPicPr>
        <p:blipFill>
          <a:blip r:embed="rId2"/>
          <a:stretch>
            <a:fillRect/>
          </a:stretch>
        </p:blipFill>
        <p:spPr>
          <a:xfrm>
            <a:off x="2743200" y="1371600"/>
            <a:ext cx="6053070" cy="5103253"/>
          </a:xfrm>
          <a:prstGeom prst="rect">
            <a:avLst/>
          </a:prstGeom>
        </p:spPr>
      </p:pic>
    </p:spTree>
    <p:extLst>
      <p:ext uri="{BB962C8B-B14F-4D97-AF65-F5344CB8AC3E}">
        <p14:creationId xmlns:p14="http://schemas.microsoft.com/office/powerpoint/2010/main" val="2124784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EFB73-DE06-EDC2-070E-6673C87B937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AE29C0-9D30-B288-853F-3A123FF38DB8}"/>
              </a:ext>
            </a:extLst>
          </p:cNvPr>
          <p:cNvSpPr>
            <a:spLocks noGrp="1"/>
          </p:cNvSpPr>
          <p:nvPr>
            <p:ph idx="1"/>
          </p:nvPr>
        </p:nvSpPr>
        <p:spPr/>
        <p:txBody>
          <a:bodyPr>
            <a:normAutofit/>
          </a:bodyPr>
          <a:lstStyle/>
          <a:p>
            <a:r>
              <a:rPr lang="en-US" dirty="0"/>
              <a:t>fastest storage media, cache and main memory are referred to as </a:t>
            </a:r>
            <a:r>
              <a:rPr lang="en-US" b="1" i="1" dirty="0"/>
              <a:t>primary storage</a:t>
            </a:r>
          </a:p>
          <a:p>
            <a:r>
              <a:rPr lang="en-US" dirty="0"/>
              <a:t>media in next level in hierarchy, flash memory and magnetic disks are referred to as </a:t>
            </a:r>
            <a:r>
              <a:rPr lang="en-US" b="1" i="1" dirty="0"/>
              <a:t>secondary storage</a:t>
            </a:r>
            <a:r>
              <a:rPr lang="en-US" dirty="0"/>
              <a:t>, or </a:t>
            </a:r>
            <a:r>
              <a:rPr lang="en-US" b="1" i="1" dirty="0"/>
              <a:t>online storage</a:t>
            </a:r>
          </a:p>
          <a:p>
            <a:r>
              <a:rPr lang="en-US" dirty="0"/>
              <a:t>media in lowest level in hierarchy, magnetic tape and optical disk are referred to as </a:t>
            </a:r>
            <a:r>
              <a:rPr lang="en-US" b="1" i="1" dirty="0"/>
              <a:t>tertiary storage</a:t>
            </a:r>
            <a:r>
              <a:rPr lang="en-US" dirty="0"/>
              <a:t>, or </a:t>
            </a:r>
            <a:r>
              <a:rPr lang="en-US" b="1" i="1" dirty="0"/>
              <a:t>offline storage</a:t>
            </a:r>
            <a:endParaRPr lang="en-US" dirty="0"/>
          </a:p>
        </p:txBody>
      </p:sp>
      <p:sp>
        <p:nvSpPr>
          <p:cNvPr id="4" name="Slide Number Placeholder 3">
            <a:extLst>
              <a:ext uri="{FF2B5EF4-FFF2-40B4-BE49-F238E27FC236}">
                <a16:creationId xmlns:a16="http://schemas.microsoft.com/office/drawing/2014/main" id="{D69BC384-B8F1-9F50-D4A2-FC2D8A23DDDE}"/>
              </a:ext>
            </a:extLst>
          </p:cNvPr>
          <p:cNvSpPr>
            <a:spLocks noGrp="1"/>
          </p:cNvSpPr>
          <p:nvPr>
            <p:ph type="sldNum" sz="quarter" idx="12"/>
          </p:nvPr>
        </p:nvSpPr>
        <p:spPr/>
        <p:txBody>
          <a:bodyPr/>
          <a:lstStyle/>
          <a:p>
            <a:fld id="{6264BDCF-5269-49AC-A246-ED26C2B980E3}" type="slidenum">
              <a:rPr lang="en-US" smtClean="0"/>
              <a:t>15</a:t>
            </a:fld>
            <a:endParaRPr lang="en-US"/>
          </a:p>
        </p:txBody>
      </p:sp>
    </p:spTree>
    <p:extLst>
      <p:ext uri="{BB962C8B-B14F-4D97-AF65-F5344CB8AC3E}">
        <p14:creationId xmlns:p14="http://schemas.microsoft.com/office/powerpoint/2010/main" val="1920129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D0A0E-F55F-7CFA-FE3A-7C38C502BFAD}"/>
              </a:ext>
            </a:extLst>
          </p:cNvPr>
          <p:cNvSpPr>
            <a:spLocks noGrp="1"/>
          </p:cNvSpPr>
          <p:nvPr>
            <p:ph type="title"/>
          </p:nvPr>
        </p:nvSpPr>
        <p:spPr/>
        <p:txBody>
          <a:bodyPr/>
          <a:lstStyle/>
          <a:p>
            <a:r>
              <a:rPr lang="en-US" dirty="0"/>
              <a:t>Storage Interfaces</a:t>
            </a:r>
          </a:p>
        </p:txBody>
      </p:sp>
      <p:sp>
        <p:nvSpPr>
          <p:cNvPr id="3" name="Content Placeholder 2">
            <a:extLst>
              <a:ext uri="{FF2B5EF4-FFF2-40B4-BE49-F238E27FC236}">
                <a16:creationId xmlns:a16="http://schemas.microsoft.com/office/drawing/2014/main" id="{63ACA2C0-61E8-F32A-C72D-E04E62EA23E9}"/>
              </a:ext>
            </a:extLst>
          </p:cNvPr>
          <p:cNvSpPr>
            <a:spLocks noGrp="1"/>
          </p:cNvSpPr>
          <p:nvPr>
            <p:ph idx="1"/>
          </p:nvPr>
        </p:nvSpPr>
        <p:spPr/>
        <p:txBody>
          <a:bodyPr/>
          <a:lstStyle/>
          <a:p>
            <a:r>
              <a:rPr lang="en-US" dirty="0"/>
              <a:t>magnetic HDD disks as well as flash-based Solid-State Disks are connected to system through a high-speed interconnection</a:t>
            </a:r>
          </a:p>
          <a:p>
            <a:r>
              <a:rPr lang="en-US" dirty="0"/>
              <a:t>disks typically support either the Serial ATA (SATA) interface, or the Serial Attached SCSI (SAS) interface; the SAS interface is typically used only in servers</a:t>
            </a:r>
          </a:p>
          <a:p>
            <a:r>
              <a:rPr lang="en-US" dirty="0"/>
              <a:t>the Non Volatile Memory Express (NVM e) interface is a logical interface standard developed to better support SSDs and is typically used with PCIe interface (the PCIe interface provides high-speed data transfer internal to computer systems)</a:t>
            </a:r>
          </a:p>
          <a:p>
            <a:endParaRPr lang="en-US" dirty="0"/>
          </a:p>
        </p:txBody>
      </p:sp>
      <p:sp>
        <p:nvSpPr>
          <p:cNvPr id="4" name="Slide Number Placeholder 3">
            <a:extLst>
              <a:ext uri="{FF2B5EF4-FFF2-40B4-BE49-F238E27FC236}">
                <a16:creationId xmlns:a16="http://schemas.microsoft.com/office/drawing/2014/main" id="{71A80414-6AB1-C4C7-B67D-77E342F4A04B}"/>
              </a:ext>
            </a:extLst>
          </p:cNvPr>
          <p:cNvSpPr>
            <a:spLocks noGrp="1"/>
          </p:cNvSpPr>
          <p:nvPr>
            <p:ph type="sldNum" sz="quarter" idx="12"/>
          </p:nvPr>
        </p:nvSpPr>
        <p:spPr/>
        <p:txBody>
          <a:bodyPr/>
          <a:lstStyle/>
          <a:p>
            <a:fld id="{6264BDCF-5269-49AC-A246-ED26C2B980E3}" type="slidenum">
              <a:rPr lang="en-US" smtClean="0"/>
              <a:t>16</a:t>
            </a:fld>
            <a:endParaRPr lang="en-US"/>
          </a:p>
        </p:txBody>
      </p:sp>
    </p:spTree>
    <p:extLst>
      <p:ext uri="{BB962C8B-B14F-4D97-AF65-F5344CB8AC3E}">
        <p14:creationId xmlns:p14="http://schemas.microsoft.com/office/powerpoint/2010/main" val="2407018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48C2A-3F1D-3B5E-887F-BA17493D9C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0F10D8C-4A14-2D9C-6DE5-23BABE99A28D}"/>
              </a:ext>
            </a:extLst>
          </p:cNvPr>
          <p:cNvSpPr>
            <a:spLocks noGrp="1"/>
          </p:cNvSpPr>
          <p:nvPr>
            <p:ph idx="1"/>
          </p:nvPr>
        </p:nvSpPr>
        <p:spPr/>
        <p:txBody>
          <a:bodyPr>
            <a:noAutofit/>
          </a:bodyPr>
          <a:lstStyle/>
          <a:p>
            <a:r>
              <a:rPr lang="en-US" dirty="0"/>
              <a:t>disks are usually connected directly by cables to disk interface of computer system</a:t>
            </a:r>
          </a:p>
          <a:p>
            <a:r>
              <a:rPr lang="en-US" dirty="0"/>
              <a:t>disk can be situated remotely and connected by high-speed network to computer system</a:t>
            </a:r>
          </a:p>
          <a:p>
            <a:r>
              <a:rPr lang="en-US" dirty="0"/>
              <a:t>in the Storage Area Network (SAN) architecture, large numbers of disks are connected by high-speed network to a number of servers</a:t>
            </a:r>
          </a:p>
          <a:p>
            <a:r>
              <a:rPr lang="en-US" dirty="0"/>
              <a:t>disks are usually organized locally using a storage organization technique called </a:t>
            </a:r>
            <a:r>
              <a:rPr lang="en-US" b="1" i="1" dirty="0"/>
              <a:t>Redundant Arrays of Independent Disks </a:t>
            </a:r>
            <a:r>
              <a:rPr lang="en-US" b="1" dirty="0"/>
              <a:t>(RAID)</a:t>
            </a:r>
            <a:r>
              <a:rPr lang="en-US" dirty="0"/>
              <a:t> to give servers a logical view of a very large and very reliable disk</a:t>
            </a:r>
          </a:p>
        </p:txBody>
      </p:sp>
      <p:sp>
        <p:nvSpPr>
          <p:cNvPr id="4" name="Slide Number Placeholder 3">
            <a:extLst>
              <a:ext uri="{FF2B5EF4-FFF2-40B4-BE49-F238E27FC236}">
                <a16:creationId xmlns:a16="http://schemas.microsoft.com/office/drawing/2014/main" id="{100F769E-687E-3369-B62D-B532C864FE10}"/>
              </a:ext>
            </a:extLst>
          </p:cNvPr>
          <p:cNvSpPr>
            <a:spLocks noGrp="1"/>
          </p:cNvSpPr>
          <p:nvPr>
            <p:ph type="sldNum" sz="quarter" idx="12"/>
          </p:nvPr>
        </p:nvSpPr>
        <p:spPr/>
        <p:txBody>
          <a:bodyPr/>
          <a:lstStyle/>
          <a:p>
            <a:fld id="{6264BDCF-5269-49AC-A246-ED26C2B980E3}" type="slidenum">
              <a:rPr lang="en-US" smtClean="0"/>
              <a:t>17</a:t>
            </a:fld>
            <a:endParaRPr lang="en-US"/>
          </a:p>
        </p:txBody>
      </p:sp>
    </p:spTree>
    <p:extLst>
      <p:ext uri="{BB962C8B-B14F-4D97-AF65-F5344CB8AC3E}">
        <p14:creationId xmlns:p14="http://schemas.microsoft.com/office/powerpoint/2010/main" val="537472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068FA-3623-21EA-D8A9-92620C53CB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B28C07-9E0F-5D72-BD02-E505945AF5E0}"/>
              </a:ext>
            </a:extLst>
          </p:cNvPr>
          <p:cNvSpPr>
            <a:spLocks noGrp="1"/>
          </p:cNvSpPr>
          <p:nvPr>
            <p:ph idx="1"/>
          </p:nvPr>
        </p:nvSpPr>
        <p:spPr/>
        <p:txBody>
          <a:bodyPr>
            <a:noAutofit/>
          </a:bodyPr>
          <a:lstStyle/>
          <a:p>
            <a:r>
              <a:rPr lang="en-US" dirty="0"/>
              <a:t>interconnection technologies used in Storage Area Networks include iSCSI, which allows SCSI commands to be sent over an IP network, Fiber Channel FC, which supports transfer rates of 1.6 to 12 gigabytes per second and InfiniBand, which provides very low latency high-bandwidth network communication</a:t>
            </a:r>
          </a:p>
          <a:p>
            <a:r>
              <a:rPr lang="en-US" dirty="0"/>
              <a:t>Network Attached Storage (NAS) is an alternative to SAN; like SAN, except that instead of networked storage appearing to be a large disk, it provides a file system interface using networked file system protocols such as NFS or CIFS</a:t>
            </a:r>
          </a:p>
        </p:txBody>
      </p:sp>
      <p:sp>
        <p:nvSpPr>
          <p:cNvPr id="4" name="Slide Number Placeholder 3">
            <a:extLst>
              <a:ext uri="{FF2B5EF4-FFF2-40B4-BE49-F238E27FC236}">
                <a16:creationId xmlns:a16="http://schemas.microsoft.com/office/drawing/2014/main" id="{193C2C5D-8185-F9A9-5A1E-A754F9A05296}"/>
              </a:ext>
            </a:extLst>
          </p:cNvPr>
          <p:cNvSpPr>
            <a:spLocks noGrp="1"/>
          </p:cNvSpPr>
          <p:nvPr>
            <p:ph type="sldNum" sz="quarter" idx="12"/>
          </p:nvPr>
        </p:nvSpPr>
        <p:spPr/>
        <p:txBody>
          <a:bodyPr/>
          <a:lstStyle/>
          <a:p>
            <a:fld id="{6264BDCF-5269-49AC-A246-ED26C2B980E3}" type="slidenum">
              <a:rPr lang="en-US" smtClean="0"/>
              <a:t>18</a:t>
            </a:fld>
            <a:endParaRPr lang="en-US"/>
          </a:p>
        </p:txBody>
      </p:sp>
    </p:spTree>
    <p:extLst>
      <p:ext uri="{BB962C8B-B14F-4D97-AF65-F5344CB8AC3E}">
        <p14:creationId xmlns:p14="http://schemas.microsoft.com/office/powerpoint/2010/main" val="2962289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AFF9B-54AC-EED3-1473-3F51475CB5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8E02351-1B84-1E3F-8242-39AEF5A8C72B}"/>
              </a:ext>
            </a:extLst>
          </p:cNvPr>
          <p:cNvSpPr>
            <a:spLocks noGrp="1"/>
          </p:cNvSpPr>
          <p:nvPr>
            <p:ph idx="1"/>
          </p:nvPr>
        </p:nvSpPr>
        <p:spPr>
          <a:xfrm>
            <a:off x="838199" y="1825625"/>
            <a:ext cx="10999839" cy="4351338"/>
          </a:xfrm>
        </p:spPr>
        <p:txBody>
          <a:bodyPr>
            <a:normAutofit/>
          </a:bodyPr>
          <a:lstStyle/>
          <a:p>
            <a:r>
              <a:rPr lang="en-US" dirty="0"/>
              <a:t>cloud storage where data are stored in the cloud and accessed via an API</a:t>
            </a:r>
          </a:p>
          <a:p>
            <a:r>
              <a:rPr lang="en-US" dirty="0"/>
              <a:t>has a very high latency of tens to hundreds of milliseconds, if data are not collocated with database, and is thus not ideal as underlying storage for databases</a:t>
            </a:r>
          </a:p>
          <a:p>
            <a:r>
              <a:rPr lang="en-US" dirty="0"/>
              <a:t>applications often use cloud storage for storing objects</a:t>
            </a:r>
          </a:p>
          <a:p>
            <a:endParaRPr lang="en-US" dirty="0"/>
          </a:p>
        </p:txBody>
      </p:sp>
      <p:sp>
        <p:nvSpPr>
          <p:cNvPr id="4" name="Slide Number Placeholder 3">
            <a:extLst>
              <a:ext uri="{FF2B5EF4-FFF2-40B4-BE49-F238E27FC236}">
                <a16:creationId xmlns:a16="http://schemas.microsoft.com/office/drawing/2014/main" id="{5EC6A197-8350-F522-1695-F795D450BEBE}"/>
              </a:ext>
            </a:extLst>
          </p:cNvPr>
          <p:cNvSpPr>
            <a:spLocks noGrp="1"/>
          </p:cNvSpPr>
          <p:nvPr>
            <p:ph type="sldNum" sz="quarter" idx="12"/>
          </p:nvPr>
        </p:nvSpPr>
        <p:spPr/>
        <p:txBody>
          <a:bodyPr/>
          <a:lstStyle/>
          <a:p>
            <a:fld id="{6264BDCF-5269-49AC-A246-ED26C2B980E3}" type="slidenum">
              <a:rPr lang="en-US" smtClean="0"/>
              <a:t>19</a:t>
            </a:fld>
            <a:endParaRPr lang="en-US"/>
          </a:p>
        </p:txBody>
      </p:sp>
    </p:spTree>
    <p:extLst>
      <p:ext uri="{BB962C8B-B14F-4D97-AF65-F5344CB8AC3E}">
        <p14:creationId xmlns:p14="http://schemas.microsoft.com/office/powerpoint/2010/main" val="1088541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FC5B8-0E17-2E7D-B0D6-48B03500C29D}"/>
              </a:ext>
            </a:extLst>
          </p:cNvPr>
          <p:cNvSpPr>
            <a:spLocks noGrp="1"/>
          </p:cNvSpPr>
          <p:nvPr>
            <p:ph type="title"/>
          </p:nvPr>
        </p:nvSpPr>
        <p:spPr/>
        <p:txBody>
          <a:bodyPr/>
          <a:lstStyle/>
          <a:p>
            <a:r>
              <a:rPr lang="en-US" dirty="0"/>
              <a:t>disk controller</a:t>
            </a:r>
          </a:p>
        </p:txBody>
      </p:sp>
      <p:sp>
        <p:nvSpPr>
          <p:cNvPr id="3" name="Content Placeholder 2">
            <a:extLst>
              <a:ext uri="{FF2B5EF4-FFF2-40B4-BE49-F238E27FC236}">
                <a16:creationId xmlns:a16="http://schemas.microsoft.com/office/drawing/2014/main" id="{1BF3A3A2-F2C1-758E-B611-7D87EF43A2B1}"/>
              </a:ext>
            </a:extLst>
          </p:cNvPr>
          <p:cNvSpPr>
            <a:spLocks noGrp="1"/>
          </p:cNvSpPr>
          <p:nvPr>
            <p:ph idx="1"/>
          </p:nvPr>
        </p:nvSpPr>
        <p:spPr>
          <a:xfrm>
            <a:off x="838200" y="1307690"/>
            <a:ext cx="10515600" cy="4869273"/>
          </a:xfrm>
        </p:spPr>
        <p:txBody>
          <a:bodyPr>
            <a:normAutofit lnSpcReduction="10000"/>
          </a:bodyPr>
          <a:lstStyle/>
          <a:p>
            <a:r>
              <a:rPr lang="en-US" dirty="0"/>
              <a:t>interfaces between the computer system and the actual hardware of disk drive</a:t>
            </a:r>
          </a:p>
          <a:p>
            <a:r>
              <a:rPr lang="en-US" dirty="0"/>
              <a:t>disk controller accepts high-level commands to read or write a magnetic disk sector, and initiates actions, such as moving disk arm to right track and actually reading or writing data</a:t>
            </a:r>
          </a:p>
          <a:p>
            <a:r>
              <a:rPr lang="en-US" dirty="0"/>
              <a:t>disk controllers attach </a:t>
            </a:r>
            <a:r>
              <a:rPr lang="en-US" i="1" dirty="0"/>
              <a:t>checksums</a:t>
            </a:r>
            <a:r>
              <a:rPr lang="en-US" b="1" dirty="0"/>
              <a:t> </a:t>
            </a:r>
            <a:r>
              <a:rPr lang="en-US" dirty="0"/>
              <a:t>to each sector that is written; when sector is read back, controller computes checksum again from retrieved data and compares it with stored checksum; if data are corrupted, with high probability newly computed checksum will not match stored checksum - if such error occurs, controller will retry the read several times; if error continues to occur, controller will signal a read failure and a bad sector</a:t>
            </a:r>
          </a:p>
        </p:txBody>
      </p:sp>
      <p:sp>
        <p:nvSpPr>
          <p:cNvPr id="4" name="Slide Number Placeholder 3">
            <a:extLst>
              <a:ext uri="{FF2B5EF4-FFF2-40B4-BE49-F238E27FC236}">
                <a16:creationId xmlns:a16="http://schemas.microsoft.com/office/drawing/2014/main" id="{EA89AC9E-48DF-F24E-3E0D-88C822C5F3BD}"/>
              </a:ext>
            </a:extLst>
          </p:cNvPr>
          <p:cNvSpPr>
            <a:spLocks noGrp="1"/>
          </p:cNvSpPr>
          <p:nvPr>
            <p:ph type="sldNum" sz="quarter" idx="12"/>
          </p:nvPr>
        </p:nvSpPr>
        <p:spPr/>
        <p:txBody>
          <a:bodyPr/>
          <a:lstStyle/>
          <a:p>
            <a:fld id="{6264BDCF-5269-49AC-A246-ED26C2B980E3}" type="slidenum">
              <a:rPr lang="en-US" smtClean="0"/>
              <a:t>20</a:t>
            </a:fld>
            <a:endParaRPr lang="en-US"/>
          </a:p>
        </p:txBody>
      </p:sp>
    </p:spTree>
    <p:extLst>
      <p:ext uri="{BB962C8B-B14F-4D97-AF65-F5344CB8AC3E}">
        <p14:creationId xmlns:p14="http://schemas.microsoft.com/office/powerpoint/2010/main" val="3340716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EABA0-9664-5883-3E10-BD66C6E9A3C5}"/>
              </a:ext>
            </a:extLst>
          </p:cNvPr>
          <p:cNvSpPr>
            <a:spLocks noGrp="1"/>
          </p:cNvSpPr>
          <p:nvPr>
            <p:ph type="title"/>
          </p:nvPr>
        </p:nvSpPr>
        <p:spPr/>
        <p:txBody>
          <a:bodyPr/>
          <a:lstStyle/>
          <a:p>
            <a:r>
              <a:rPr lang="en-US" dirty="0"/>
              <a:t>Performance Measures of Disks</a:t>
            </a:r>
          </a:p>
        </p:txBody>
      </p:sp>
      <p:sp>
        <p:nvSpPr>
          <p:cNvPr id="3" name="Content Placeholder 2">
            <a:extLst>
              <a:ext uri="{FF2B5EF4-FFF2-40B4-BE49-F238E27FC236}">
                <a16:creationId xmlns:a16="http://schemas.microsoft.com/office/drawing/2014/main" id="{F90AE21C-FF8B-988E-5895-B518450266BC}"/>
              </a:ext>
            </a:extLst>
          </p:cNvPr>
          <p:cNvSpPr>
            <a:spLocks noGrp="1"/>
          </p:cNvSpPr>
          <p:nvPr>
            <p:ph idx="1"/>
          </p:nvPr>
        </p:nvSpPr>
        <p:spPr/>
        <p:txBody>
          <a:bodyPr>
            <a:normAutofit/>
          </a:bodyPr>
          <a:lstStyle/>
          <a:p>
            <a:r>
              <a:rPr lang="en-US" b="1" dirty="0"/>
              <a:t>access time </a:t>
            </a:r>
            <a:r>
              <a:rPr lang="en-US" dirty="0"/>
              <a:t>is the time from when read or write request is issued to when data transfer begins</a:t>
            </a:r>
          </a:p>
          <a:p>
            <a:r>
              <a:rPr lang="en-US" dirty="0"/>
              <a:t>to access (i.e., to read or write) data on given sector of magnetic disk, arm first must move so that it is positioned over correct track, and then must wait for sector to appear under it as disk rotates</a:t>
            </a:r>
          </a:p>
          <a:p>
            <a:r>
              <a:rPr lang="en-US" dirty="0"/>
              <a:t>the time for repositioning arm is called </a:t>
            </a:r>
            <a:r>
              <a:rPr lang="en-US" b="1" dirty="0"/>
              <a:t>seek time</a:t>
            </a:r>
            <a:r>
              <a:rPr lang="en-US" dirty="0"/>
              <a:t>, and it increases with the distance that the arm must move</a:t>
            </a:r>
          </a:p>
          <a:p>
            <a:r>
              <a:rPr lang="en-US" b="1" dirty="0"/>
              <a:t>average seek time </a:t>
            </a:r>
            <a:r>
              <a:rPr lang="en-US" dirty="0"/>
              <a:t>is average of seek times, measured over a sequence of (uniformly distributed) random requests</a:t>
            </a:r>
          </a:p>
          <a:p>
            <a:endParaRPr lang="en-US" dirty="0"/>
          </a:p>
        </p:txBody>
      </p:sp>
      <p:sp>
        <p:nvSpPr>
          <p:cNvPr id="4" name="Slide Number Placeholder 3">
            <a:extLst>
              <a:ext uri="{FF2B5EF4-FFF2-40B4-BE49-F238E27FC236}">
                <a16:creationId xmlns:a16="http://schemas.microsoft.com/office/drawing/2014/main" id="{DDA84DE2-22DA-A575-8724-7C7AA8F41EE5}"/>
              </a:ext>
            </a:extLst>
          </p:cNvPr>
          <p:cNvSpPr>
            <a:spLocks noGrp="1"/>
          </p:cNvSpPr>
          <p:nvPr>
            <p:ph type="sldNum" sz="quarter" idx="12"/>
          </p:nvPr>
        </p:nvSpPr>
        <p:spPr/>
        <p:txBody>
          <a:bodyPr/>
          <a:lstStyle/>
          <a:p>
            <a:fld id="{6264BDCF-5269-49AC-A246-ED26C2B980E3}" type="slidenum">
              <a:rPr lang="en-US" smtClean="0"/>
              <a:t>21</a:t>
            </a:fld>
            <a:endParaRPr lang="en-US"/>
          </a:p>
        </p:txBody>
      </p:sp>
    </p:spTree>
    <p:extLst>
      <p:ext uri="{BB962C8B-B14F-4D97-AF65-F5344CB8AC3E}">
        <p14:creationId xmlns:p14="http://schemas.microsoft.com/office/powerpoint/2010/main" val="3777494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95E61-88AA-B6A5-3A52-A55F499101A7}"/>
              </a:ext>
            </a:extLst>
          </p:cNvPr>
          <p:cNvSpPr>
            <a:spLocks noGrp="1"/>
          </p:cNvSpPr>
          <p:nvPr>
            <p:ph type="title"/>
          </p:nvPr>
        </p:nvSpPr>
        <p:spPr/>
        <p:txBody>
          <a:bodyPr/>
          <a:lstStyle/>
          <a:p>
            <a:r>
              <a:rPr lang="en-US" dirty="0"/>
              <a:t>Performance Measures of Disks</a:t>
            </a:r>
          </a:p>
        </p:txBody>
      </p:sp>
      <p:sp>
        <p:nvSpPr>
          <p:cNvPr id="3" name="Content Placeholder 2">
            <a:extLst>
              <a:ext uri="{FF2B5EF4-FFF2-40B4-BE49-F238E27FC236}">
                <a16:creationId xmlns:a16="http://schemas.microsoft.com/office/drawing/2014/main" id="{CE1007B3-B75A-4CE6-8F29-CEB59DB20E50}"/>
              </a:ext>
            </a:extLst>
          </p:cNvPr>
          <p:cNvSpPr>
            <a:spLocks noGrp="1"/>
          </p:cNvSpPr>
          <p:nvPr>
            <p:ph idx="1"/>
          </p:nvPr>
        </p:nvSpPr>
        <p:spPr>
          <a:xfrm>
            <a:off x="838200" y="1366684"/>
            <a:ext cx="10515600" cy="4810279"/>
          </a:xfrm>
        </p:spPr>
        <p:txBody>
          <a:bodyPr>
            <a:normAutofit lnSpcReduction="10000"/>
          </a:bodyPr>
          <a:lstStyle/>
          <a:p>
            <a:r>
              <a:rPr lang="en-US" dirty="0"/>
              <a:t>access time is the sum of seek time and rotational latency</a:t>
            </a:r>
          </a:p>
          <a:p>
            <a:r>
              <a:rPr lang="en-US" b="1" dirty="0"/>
              <a:t>data-transfer rate </a:t>
            </a:r>
            <a:r>
              <a:rPr lang="en-US" dirty="0"/>
              <a:t>is the rate at which data can be retrieved from or stored to disk</a:t>
            </a:r>
          </a:p>
          <a:p>
            <a:r>
              <a:rPr lang="en-US" dirty="0"/>
              <a:t>requests for disk I/O are typically generated by file system but can be generated directly by database system; each request specifies address on disk to be referenced; that address is in the form of a </a:t>
            </a:r>
            <a:r>
              <a:rPr lang="en-US" i="1" dirty="0"/>
              <a:t>block number - </a:t>
            </a:r>
            <a:r>
              <a:rPr lang="en-US" dirty="0"/>
              <a:t>a logical unit of storage allocation and retrieval - block sizes typically range from 4 to 16 kilobytes</a:t>
            </a:r>
          </a:p>
          <a:p>
            <a:r>
              <a:rPr lang="en-US" dirty="0"/>
              <a:t>data are transferred between disk and main memory in units of blocks</a:t>
            </a:r>
          </a:p>
          <a:p>
            <a:r>
              <a:rPr lang="en-US" dirty="0"/>
              <a:t>term </a:t>
            </a:r>
            <a:r>
              <a:rPr lang="en-US" sz="3000" b="1" dirty="0"/>
              <a:t>page</a:t>
            </a:r>
            <a:r>
              <a:rPr lang="en-US" b="1" dirty="0"/>
              <a:t> </a:t>
            </a:r>
            <a:r>
              <a:rPr lang="en-US" dirty="0"/>
              <a:t>is often used to refer to blocks</a:t>
            </a:r>
          </a:p>
        </p:txBody>
      </p:sp>
      <p:sp>
        <p:nvSpPr>
          <p:cNvPr id="4" name="Slide Number Placeholder 3">
            <a:extLst>
              <a:ext uri="{FF2B5EF4-FFF2-40B4-BE49-F238E27FC236}">
                <a16:creationId xmlns:a16="http://schemas.microsoft.com/office/drawing/2014/main" id="{A5645F39-4308-954D-2AF2-D9EB9C80EC13}"/>
              </a:ext>
            </a:extLst>
          </p:cNvPr>
          <p:cNvSpPr>
            <a:spLocks noGrp="1"/>
          </p:cNvSpPr>
          <p:nvPr>
            <p:ph type="sldNum" sz="quarter" idx="12"/>
          </p:nvPr>
        </p:nvSpPr>
        <p:spPr/>
        <p:txBody>
          <a:bodyPr/>
          <a:lstStyle/>
          <a:p>
            <a:fld id="{6264BDCF-5269-49AC-A246-ED26C2B980E3}" type="slidenum">
              <a:rPr lang="en-US" smtClean="0"/>
              <a:t>22</a:t>
            </a:fld>
            <a:endParaRPr lang="en-US"/>
          </a:p>
        </p:txBody>
      </p:sp>
    </p:spTree>
    <p:extLst>
      <p:ext uri="{BB962C8B-B14F-4D97-AF65-F5344CB8AC3E}">
        <p14:creationId xmlns:p14="http://schemas.microsoft.com/office/powerpoint/2010/main" val="2943917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BFBA5-1033-B02C-00E5-A885EB9A0320}"/>
              </a:ext>
            </a:extLst>
          </p:cNvPr>
          <p:cNvSpPr>
            <a:spLocks noGrp="1"/>
          </p:cNvSpPr>
          <p:nvPr>
            <p:ph type="title"/>
          </p:nvPr>
        </p:nvSpPr>
        <p:spPr/>
        <p:txBody>
          <a:bodyPr/>
          <a:lstStyle/>
          <a:p>
            <a:r>
              <a:rPr lang="en-US" dirty="0"/>
              <a:t>Performance Measures of Disks</a:t>
            </a:r>
          </a:p>
        </p:txBody>
      </p:sp>
      <p:sp>
        <p:nvSpPr>
          <p:cNvPr id="3" name="Content Placeholder 2">
            <a:extLst>
              <a:ext uri="{FF2B5EF4-FFF2-40B4-BE49-F238E27FC236}">
                <a16:creationId xmlns:a16="http://schemas.microsoft.com/office/drawing/2014/main" id="{E149459E-B6D8-82C9-B325-460744667609}"/>
              </a:ext>
            </a:extLst>
          </p:cNvPr>
          <p:cNvSpPr>
            <a:spLocks noGrp="1"/>
          </p:cNvSpPr>
          <p:nvPr>
            <p:ph idx="1"/>
          </p:nvPr>
        </p:nvSpPr>
        <p:spPr/>
        <p:txBody>
          <a:bodyPr>
            <a:normAutofit/>
          </a:bodyPr>
          <a:lstStyle/>
          <a:p>
            <a:r>
              <a:rPr lang="en-US" dirty="0"/>
              <a:t>sequence of requests for blocks from disk may be classified as sequential access pattern or random-access pattern</a:t>
            </a:r>
          </a:p>
          <a:p>
            <a:r>
              <a:rPr lang="en-US" dirty="0"/>
              <a:t>in sequential access pattern, successive requests are for successive block numbers, which are on same track, or adjacent tracks; to read blocks in sequential access, disk seek may be required for first block, but successive requests would either not require seek, or require a seek to adjacent track, which is faster than seek to track that is farther away</a:t>
            </a:r>
          </a:p>
          <a:p>
            <a:r>
              <a:rPr lang="en-US" dirty="0"/>
              <a:t>data transfer rates are highest with sequential access pattern, since seek time is minimal</a:t>
            </a:r>
          </a:p>
        </p:txBody>
      </p:sp>
      <p:sp>
        <p:nvSpPr>
          <p:cNvPr id="4" name="Slide Number Placeholder 3">
            <a:extLst>
              <a:ext uri="{FF2B5EF4-FFF2-40B4-BE49-F238E27FC236}">
                <a16:creationId xmlns:a16="http://schemas.microsoft.com/office/drawing/2014/main" id="{545D9727-B597-F250-FD67-57A4029C3AE9}"/>
              </a:ext>
            </a:extLst>
          </p:cNvPr>
          <p:cNvSpPr>
            <a:spLocks noGrp="1"/>
          </p:cNvSpPr>
          <p:nvPr>
            <p:ph type="sldNum" sz="quarter" idx="12"/>
          </p:nvPr>
        </p:nvSpPr>
        <p:spPr/>
        <p:txBody>
          <a:bodyPr/>
          <a:lstStyle/>
          <a:p>
            <a:fld id="{6264BDCF-5269-49AC-A246-ED26C2B980E3}" type="slidenum">
              <a:rPr lang="en-US" smtClean="0"/>
              <a:t>23</a:t>
            </a:fld>
            <a:endParaRPr lang="en-US"/>
          </a:p>
        </p:txBody>
      </p:sp>
    </p:spTree>
    <p:extLst>
      <p:ext uri="{BB962C8B-B14F-4D97-AF65-F5344CB8AC3E}">
        <p14:creationId xmlns:p14="http://schemas.microsoft.com/office/powerpoint/2010/main" val="29699620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15B67-FEF7-D46F-5FAA-4266B679444D}"/>
              </a:ext>
            </a:extLst>
          </p:cNvPr>
          <p:cNvSpPr>
            <a:spLocks noGrp="1"/>
          </p:cNvSpPr>
          <p:nvPr>
            <p:ph type="title"/>
          </p:nvPr>
        </p:nvSpPr>
        <p:spPr/>
        <p:txBody>
          <a:bodyPr>
            <a:normAutofit/>
          </a:bodyPr>
          <a:lstStyle/>
          <a:p>
            <a:r>
              <a:rPr lang="en-US" dirty="0"/>
              <a:t>Performance Measures of Disks</a:t>
            </a:r>
            <a:br>
              <a:rPr lang="en-US" dirty="0"/>
            </a:br>
            <a:r>
              <a:rPr lang="en-US" dirty="0"/>
              <a:t>Mean Time to Failure</a:t>
            </a:r>
          </a:p>
        </p:txBody>
      </p:sp>
      <p:sp>
        <p:nvSpPr>
          <p:cNvPr id="3" name="Content Placeholder 2">
            <a:extLst>
              <a:ext uri="{FF2B5EF4-FFF2-40B4-BE49-F238E27FC236}">
                <a16:creationId xmlns:a16="http://schemas.microsoft.com/office/drawing/2014/main" id="{3EF14895-236A-92CD-0EF2-1AF96E47EFFF}"/>
              </a:ext>
            </a:extLst>
          </p:cNvPr>
          <p:cNvSpPr>
            <a:spLocks noGrp="1"/>
          </p:cNvSpPr>
          <p:nvPr>
            <p:ph idx="1"/>
          </p:nvPr>
        </p:nvSpPr>
        <p:spPr/>
        <p:txBody>
          <a:bodyPr>
            <a:normAutofit/>
          </a:bodyPr>
          <a:lstStyle/>
          <a:p>
            <a:r>
              <a:rPr lang="en-US" dirty="0"/>
              <a:t>measure of reliability of disk - amount of time that, on average, we can expect the system to run continuously without any failure</a:t>
            </a:r>
          </a:p>
          <a:p>
            <a:r>
              <a:rPr lang="en-US" dirty="0"/>
              <a:t>mean time to failure of magnetic disks today ranges from 500,000 to 1, 200,000 hours-about 57 to 136 years</a:t>
            </a:r>
          </a:p>
          <a:p>
            <a:endParaRPr lang="en-US" dirty="0"/>
          </a:p>
          <a:p>
            <a:r>
              <a:rPr lang="en-US" sz="3000" dirty="0"/>
              <a:t>most disks have an expected life span of about 5 years and have significantly higher rates of failure once they become more than few years old</a:t>
            </a:r>
          </a:p>
        </p:txBody>
      </p:sp>
      <p:sp>
        <p:nvSpPr>
          <p:cNvPr id="4" name="Slide Number Placeholder 3">
            <a:extLst>
              <a:ext uri="{FF2B5EF4-FFF2-40B4-BE49-F238E27FC236}">
                <a16:creationId xmlns:a16="http://schemas.microsoft.com/office/drawing/2014/main" id="{F32BAEA8-86BA-3DAA-F920-6BBF61C85191}"/>
              </a:ext>
            </a:extLst>
          </p:cNvPr>
          <p:cNvSpPr>
            <a:spLocks noGrp="1"/>
          </p:cNvSpPr>
          <p:nvPr>
            <p:ph type="sldNum" sz="quarter" idx="12"/>
          </p:nvPr>
        </p:nvSpPr>
        <p:spPr/>
        <p:txBody>
          <a:bodyPr/>
          <a:lstStyle/>
          <a:p>
            <a:fld id="{6264BDCF-5269-49AC-A246-ED26C2B980E3}" type="slidenum">
              <a:rPr lang="en-US" smtClean="0"/>
              <a:t>24</a:t>
            </a:fld>
            <a:endParaRPr lang="en-US"/>
          </a:p>
        </p:txBody>
      </p:sp>
    </p:spTree>
    <p:extLst>
      <p:ext uri="{BB962C8B-B14F-4D97-AF65-F5344CB8AC3E}">
        <p14:creationId xmlns:p14="http://schemas.microsoft.com/office/powerpoint/2010/main" val="1603455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55F06-310F-4099-2B68-8F6CD729B31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6658425-2F7A-AD67-5C08-A24B3BC82811}"/>
              </a:ext>
            </a:extLst>
          </p:cNvPr>
          <p:cNvSpPr>
            <a:spLocks noGrp="1"/>
          </p:cNvSpPr>
          <p:nvPr>
            <p:ph idx="1"/>
          </p:nvPr>
        </p:nvSpPr>
        <p:spPr/>
        <p:txBody>
          <a:bodyPr>
            <a:noAutofit/>
          </a:bodyPr>
          <a:lstStyle/>
          <a:p>
            <a:r>
              <a:rPr lang="en-US" dirty="0"/>
              <a:t>NAND flash is the variant that is predominantly used for data storage in </a:t>
            </a:r>
            <a:r>
              <a:rPr lang="en-US" sz="3000" b="1" dirty="0"/>
              <a:t>Solid State Disks SSD</a:t>
            </a:r>
          </a:p>
          <a:p>
            <a:r>
              <a:rPr lang="en-US" dirty="0"/>
              <a:t>reading from NAND flash requires an entire </a:t>
            </a:r>
            <a:r>
              <a:rPr lang="en-US" i="1" dirty="0"/>
              <a:t>page </a:t>
            </a:r>
            <a:r>
              <a:rPr lang="en-US" dirty="0"/>
              <a:t>of data, which is very commonly 4096 bytes, to be fetched from NAND flash into main memory - thus similar to sectors in magnetic disk</a:t>
            </a:r>
          </a:p>
          <a:p>
            <a:r>
              <a:rPr lang="en-US" dirty="0"/>
              <a:t>compared to magnetic disks, SSDs can provide much faster random access - microseconds for SSDs, milliseconds for magnetic HDD disks</a:t>
            </a:r>
          </a:p>
        </p:txBody>
      </p:sp>
      <p:sp>
        <p:nvSpPr>
          <p:cNvPr id="4" name="Slide Number Placeholder 3">
            <a:extLst>
              <a:ext uri="{FF2B5EF4-FFF2-40B4-BE49-F238E27FC236}">
                <a16:creationId xmlns:a16="http://schemas.microsoft.com/office/drawing/2014/main" id="{0D0AFAA3-93ED-8733-7A1C-3C17559F94F8}"/>
              </a:ext>
            </a:extLst>
          </p:cNvPr>
          <p:cNvSpPr>
            <a:spLocks noGrp="1"/>
          </p:cNvSpPr>
          <p:nvPr>
            <p:ph type="sldNum" sz="quarter" idx="12"/>
          </p:nvPr>
        </p:nvSpPr>
        <p:spPr/>
        <p:txBody>
          <a:bodyPr/>
          <a:lstStyle/>
          <a:p>
            <a:fld id="{6264BDCF-5269-49AC-A246-ED26C2B980E3}" type="slidenum">
              <a:rPr lang="en-US" smtClean="0"/>
              <a:t>25</a:t>
            </a:fld>
            <a:endParaRPr lang="en-US"/>
          </a:p>
        </p:txBody>
      </p:sp>
    </p:spTree>
    <p:extLst>
      <p:ext uri="{BB962C8B-B14F-4D97-AF65-F5344CB8AC3E}">
        <p14:creationId xmlns:p14="http://schemas.microsoft.com/office/powerpoint/2010/main" val="9685450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D1EDB-D040-E8D5-855F-D5EB84F52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27F50-D595-8F95-FB7E-D4F82283D9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BCA6532-C9E1-AEB7-F4BD-4B71CC67BFC2}"/>
              </a:ext>
            </a:extLst>
          </p:cNvPr>
          <p:cNvSpPr>
            <a:spLocks noGrp="1"/>
          </p:cNvSpPr>
          <p:nvPr>
            <p:ph idx="1"/>
          </p:nvPr>
        </p:nvSpPr>
        <p:spPr/>
        <p:txBody>
          <a:bodyPr>
            <a:noAutofit/>
          </a:bodyPr>
          <a:lstStyle/>
          <a:p>
            <a:r>
              <a:rPr lang="en-US" dirty="0"/>
              <a:t>data transfer rate of SSDs is higher than that of magnetic disks </a:t>
            </a:r>
          </a:p>
          <a:p>
            <a:r>
              <a:rPr lang="en-US" dirty="0"/>
              <a:t>transfer rates range from around 500 megabytes per second with SATA interfaces, up to 3 gigabytes per second using </a:t>
            </a:r>
            <a:r>
              <a:rPr lang="en-US" dirty="0" err="1"/>
              <a:t>NVMe</a:t>
            </a:r>
            <a:r>
              <a:rPr lang="en-US" dirty="0"/>
              <a:t> PCIe interfaces, depending on specific SSD model, in contrast to maximum of about 200 megabytes per second with magnetic disk</a:t>
            </a:r>
          </a:p>
          <a:p>
            <a:r>
              <a:rPr lang="en-US" dirty="0"/>
              <a:t>power consumption of SSDs is also significantly lower </a:t>
            </a:r>
          </a:p>
        </p:txBody>
      </p:sp>
      <p:sp>
        <p:nvSpPr>
          <p:cNvPr id="4" name="Slide Number Placeholder 3">
            <a:extLst>
              <a:ext uri="{FF2B5EF4-FFF2-40B4-BE49-F238E27FC236}">
                <a16:creationId xmlns:a16="http://schemas.microsoft.com/office/drawing/2014/main" id="{D3BDA716-5093-FB8C-D955-16D7B4BA3B82}"/>
              </a:ext>
            </a:extLst>
          </p:cNvPr>
          <p:cNvSpPr>
            <a:spLocks noGrp="1"/>
          </p:cNvSpPr>
          <p:nvPr>
            <p:ph type="sldNum" sz="quarter" idx="12"/>
          </p:nvPr>
        </p:nvSpPr>
        <p:spPr/>
        <p:txBody>
          <a:bodyPr/>
          <a:lstStyle/>
          <a:p>
            <a:fld id="{6264BDCF-5269-49AC-A246-ED26C2B980E3}" type="slidenum">
              <a:rPr lang="en-US" smtClean="0"/>
              <a:t>26</a:t>
            </a:fld>
            <a:endParaRPr lang="en-US"/>
          </a:p>
        </p:txBody>
      </p:sp>
    </p:spTree>
    <p:extLst>
      <p:ext uri="{BB962C8B-B14F-4D97-AF65-F5344CB8AC3E}">
        <p14:creationId xmlns:p14="http://schemas.microsoft.com/office/powerpoint/2010/main" val="30121974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1ADD7-B068-5789-DEF1-022011D880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981A45-F38E-7005-995D-B5C68B367E37}"/>
              </a:ext>
            </a:extLst>
          </p:cNvPr>
          <p:cNvSpPr>
            <a:spLocks noGrp="1"/>
          </p:cNvSpPr>
          <p:nvPr>
            <p:ph idx="1"/>
          </p:nvPr>
        </p:nvSpPr>
        <p:spPr/>
        <p:txBody>
          <a:bodyPr>
            <a:noAutofit/>
          </a:bodyPr>
          <a:lstStyle/>
          <a:p>
            <a:r>
              <a:rPr lang="en-US" dirty="0"/>
              <a:t>writes to flash memory are a little more complicated</a:t>
            </a:r>
          </a:p>
          <a:p>
            <a:r>
              <a:rPr lang="en-US" dirty="0"/>
              <a:t>write to a page of flash memory typically takes about 100 microseconds; however, once written, page of flash memory cannot be directly overwritten; instead, it has to be erased and rewritten subsequently and takes about 2 to 5 milliseconds</a:t>
            </a:r>
          </a:p>
        </p:txBody>
      </p:sp>
      <p:sp>
        <p:nvSpPr>
          <p:cNvPr id="4" name="Slide Number Placeholder 3">
            <a:extLst>
              <a:ext uri="{FF2B5EF4-FFF2-40B4-BE49-F238E27FC236}">
                <a16:creationId xmlns:a16="http://schemas.microsoft.com/office/drawing/2014/main" id="{35BEF230-D411-27E2-D2AD-5614ECB85436}"/>
              </a:ext>
            </a:extLst>
          </p:cNvPr>
          <p:cNvSpPr>
            <a:spLocks noGrp="1"/>
          </p:cNvSpPr>
          <p:nvPr>
            <p:ph type="sldNum" sz="quarter" idx="12"/>
          </p:nvPr>
        </p:nvSpPr>
        <p:spPr/>
        <p:txBody>
          <a:bodyPr/>
          <a:lstStyle/>
          <a:p>
            <a:fld id="{6264BDCF-5269-49AC-A246-ED26C2B980E3}" type="slidenum">
              <a:rPr lang="en-US" smtClean="0"/>
              <a:t>27</a:t>
            </a:fld>
            <a:endParaRPr lang="en-US"/>
          </a:p>
        </p:txBody>
      </p:sp>
    </p:spTree>
    <p:extLst>
      <p:ext uri="{BB962C8B-B14F-4D97-AF65-F5344CB8AC3E}">
        <p14:creationId xmlns:p14="http://schemas.microsoft.com/office/powerpoint/2010/main" val="1619356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9F11D-6791-B0E1-1D42-776300A612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9FF828-6384-CCF6-C83A-C2FB48705A24}"/>
              </a:ext>
            </a:extLst>
          </p:cNvPr>
          <p:cNvSpPr>
            <a:spLocks noGrp="1"/>
          </p:cNvSpPr>
          <p:nvPr>
            <p:ph idx="1"/>
          </p:nvPr>
        </p:nvSpPr>
        <p:spPr/>
        <p:txBody>
          <a:bodyPr/>
          <a:lstStyle/>
          <a:p>
            <a:r>
              <a:rPr lang="en-US" b="1" dirty="0"/>
              <a:t>Hybrid disk drives </a:t>
            </a:r>
            <a:r>
              <a:rPr lang="en-US" dirty="0"/>
              <a:t>are hard-disk systems that combine magnetic storage with a smaller amount of flash memory, which is used as cache for frequently accessed data</a:t>
            </a:r>
          </a:p>
        </p:txBody>
      </p:sp>
      <p:sp>
        <p:nvSpPr>
          <p:cNvPr id="4" name="Slide Number Placeholder 3">
            <a:extLst>
              <a:ext uri="{FF2B5EF4-FFF2-40B4-BE49-F238E27FC236}">
                <a16:creationId xmlns:a16="http://schemas.microsoft.com/office/drawing/2014/main" id="{2835ECFB-A327-93CA-37A6-B29C2CD3DE37}"/>
              </a:ext>
            </a:extLst>
          </p:cNvPr>
          <p:cNvSpPr>
            <a:spLocks noGrp="1"/>
          </p:cNvSpPr>
          <p:nvPr>
            <p:ph type="sldNum" sz="quarter" idx="12"/>
          </p:nvPr>
        </p:nvSpPr>
        <p:spPr/>
        <p:txBody>
          <a:bodyPr/>
          <a:lstStyle/>
          <a:p>
            <a:fld id="{6264BDCF-5269-49AC-A246-ED26C2B980E3}" type="slidenum">
              <a:rPr lang="en-US" smtClean="0"/>
              <a:t>28</a:t>
            </a:fld>
            <a:endParaRPr lang="en-US"/>
          </a:p>
        </p:txBody>
      </p:sp>
    </p:spTree>
    <p:extLst>
      <p:ext uri="{BB962C8B-B14F-4D97-AF65-F5344CB8AC3E}">
        <p14:creationId xmlns:p14="http://schemas.microsoft.com/office/powerpoint/2010/main" val="35976615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034C1E5-7EB6-2CF2-0210-B68661FFF980}"/>
              </a:ext>
            </a:extLst>
          </p:cNvPr>
          <p:cNvSpPr>
            <a:spLocks noGrp="1"/>
          </p:cNvSpPr>
          <p:nvPr>
            <p:ph type="title"/>
          </p:nvPr>
        </p:nvSpPr>
        <p:spPr/>
        <p:txBody>
          <a:bodyPr/>
          <a:lstStyle/>
          <a:p>
            <a:r>
              <a:rPr lang="en-US" dirty="0"/>
              <a:t>RAID</a:t>
            </a:r>
          </a:p>
        </p:txBody>
      </p:sp>
      <p:sp>
        <p:nvSpPr>
          <p:cNvPr id="6" name="Text Placeholder 5">
            <a:extLst>
              <a:ext uri="{FF2B5EF4-FFF2-40B4-BE49-F238E27FC236}">
                <a16:creationId xmlns:a16="http://schemas.microsoft.com/office/drawing/2014/main" id="{8E92D348-5712-2AD7-166B-B05D27B9E20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38C973-6823-BD7F-2D6B-996A8169C47B}"/>
              </a:ext>
            </a:extLst>
          </p:cNvPr>
          <p:cNvSpPr>
            <a:spLocks noGrp="1"/>
          </p:cNvSpPr>
          <p:nvPr>
            <p:ph type="sldNum" sz="quarter" idx="12"/>
          </p:nvPr>
        </p:nvSpPr>
        <p:spPr/>
        <p:txBody>
          <a:bodyPr/>
          <a:lstStyle/>
          <a:p>
            <a:fld id="{6264BDCF-5269-49AC-A246-ED26C2B980E3}" type="slidenum">
              <a:rPr lang="en-US" smtClean="0"/>
              <a:t>29</a:t>
            </a:fld>
            <a:endParaRPr lang="en-US"/>
          </a:p>
        </p:txBody>
      </p:sp>
    </p:spTree>
    <p:extLst>
      <p:ext uri="{BB962C8B-B14F-4D97-AF65-F5344CB8AC3E}">
        <p14:creationId xmlns:p14="http://schemas.microsoft.com/office/powerpoint/2010/main" val="964322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1E1E3-48CF-548C-FBE4-B5D2FC8E1C0A}"/>
              </a:ext>
            </a:extLst>
          </p:cNvPr>
          <p:cNvSpPr>
            <a:spLocks noGrp="1"/>
          </p:cNvSpPr>
          <p:nvPr>
            <p:ph type="title"/>
          </p:nvPr>
        </p:nvSpPr>
        <p:spPr>
          <a:xfrm>
            <a:off x="838199" y="365125"/>
            <a:ext cx="10704871" cy="1325563"/>
          </a:xfrm>
        </p:spPr>
        <p:txBody>
          <a:bodyPr/>
          <a:lstStyle/>
          <a:p>
            <a:r>
              <a:rPr lang="en-US" dirty="0"/>
              <a:t>Redundant Arrays of Independent Disks (RAID)</a:t>
            </a:r>
          </a:p>
        </p:txBody>
      </p:sp>
      <p:sp>
        <p:nvSpPr>
          <p:cNvPr id="3" name="Content Placeholder 2">
            <a:extLst>
              <a:ext uri="{FF2B5EF4-FFF2-40B4-BE49-F238E27FC236}">
                <a16:creationId xmlns:a16="http://schemas.microsoft.com/office/drawing/2014/main" id="{1BF7E52D-9D8B-AD40-FD0C-51C459F7FE5A}"/>
              </a:ext>
            </a:extLst>
          </p:cNvPr>
          <p:cNvSpPr>
            <a:spLocks noGrp="1"/>
          </p:cNvSpPr>
          <p:nvPr>
            <p:ph idx="1"/>
          </p:nvPr>
        </p:nvSpPr>
        <p:spPr/>
        <p:txBody>
          <a:bodyPr>
            <a:noAutofit/>
          </a:bodyPr>
          <a:lstStyle/>
          <a:p>
            <a:r>
              <a:rPr lang="en-US" dirty="0"/>
              <a:t>having a large number of disks in a system presents opportunities for improving the rate at which data can be read or written, if disks are operated in parallel</a:t>
            </a:r>
          </a:p>
          <a:p>
            <a:r>
              <a:rPr lang="en-US" dirty="0"/>
              <a:t>several independent reads or writes can be performed in parallel</a:t>
            </a:r>
          </a:p>
          <a:p>
            <a:r>
              <a:rPr lang="en-US" dirty="0"/>
              <a:t>setup offers potential for improving the reliability of data storage, because redundant information can be stored on multiple disks - thus, failure of one disk does not lead to loss of data</a:t>
            </a:r>
          </a:p>
          <a:p>
            <a:r>
              <a:rPr lang="en-US" dirty="0"/>
              <a:t>used for their higher reliability and higher performance rate</a:t>
            </a:r>
          </a:p>
        </p:txBody>
      </p:sp>
      <p:sp>
        <p:nvSpPr>
          <p:cNvPr id="4" name="Slide Number Placeholder 3">
            <a:extLst>
              <a:ext uri="{FF2B5EF4-FFF2-40B4-BE49-F238E27FC236}">
                <a16:creationId xmlns:a16="http://schemas.microsoft.com/office/drawing/2014/main" id="{0C776CE2-3448-1043-D7EA-80826138CF4E}"/>
              </a:ext>
            </a:extLst>
          </p:cNvPr>
          <p:cNvSpPr>
            <a:spLocks noGrp="1"/>
          </p:cNvSpPr>
          <p:nvPr>
            <p:ph type="sldNum" sz="quarter" idx="12"/>
          </p:nvPr>
        </p:nvSpPr>
        <p:spPr/>
        <p:txBody>
          <a:bodyPr/>
          <a:lstStyle/>
          <a:p>
            <a:fld id="{6264BDCF-5269-49AC-A246-ED26C2B980E3}" type="slidenum">
              <a:rPr lang="en-US" smtClean="0"/>
              <a:t>30</a:t>
            </a:fld>
            <a:endParaRPr lang="en-US"/>
          </a:p>
        </p:txBody>
      </p:sp>
    </p:spTree>
    <p:extLst>
      <p:ext uri="{BB962C8B-B14F-4D97-AF65-F5344CB8AC3E}">
        <p14:creationId xmlns:p14="http://schemas.microsoft.com/office/powerpoint/2010/main" val="4127528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73939-ADD3-4D1F-F8C7-1825A676E80E}"/>
              </a:ext>
            </a:extLst>
          </p:cNvPr>
          <p:cNvSpPr>
            <a:spLocks noGrp="1"/>
          </p:cNvSpPr>
          <p:nvPr>
            <p:ph type="title"/>
          </p:nvPr>
        </p:nvSpPr>
        <p:spPr/>
        <p:txBody>
          <a:bodyPr/>
          <a:lstStyle/>
          <a:p>
            <a:r>
              <a:rPr lang="en-US" dirty="0"/>
              <a:t>Improvement of Reliability via Redundancy</a:t>
            </a:r>
          </a:p>
        </p:txBody>
      </p:sp>
      <p:sp>
        <p:nvSpPr>
          <p:cNvPr id="3" name="Content Placeholder 2">
            <a:extLst>
              <a:ext uri="{FF2B5EF4-FFF2-40B4-BE49-F238E27FC236}">
                <a16:creationId xmlns:a16="http://schemas.microsoft.com/office/drawing/2014/main" id="{FBF0E473-C954-DFE4-D4FC-D414F6F333C5}"/>
              </a:ext>
            </a:extLst>
          </p:cNvPr>
          <p:cNvSpPr>
            <a:spLocks noGrp="1"/>
          </p:cNvSpPr>
          <p:nvPr>
            <p:ph idx="1"/>
          </p:nvPr>
        </p:nvSpPr>
        <p:spPr>
          <a:xfrm>
            <a:off x="838200" y="1307690"/>
            <a:ext cx="10832690" cy="4869273"/>
          </a:xfrm>
        </p:spPr>
        <p:txBody>
          <a:bodyPr>
            <a:normAutofit/>
          </a:bodyPr>
          <a:lstStyle/>
          <a:p>
            <a:r>
              <a:rPr lang="en-US" dirty="0"/>
              <a:t>suppose that the mean time to failure of a disk is 100,000 hours, or slightly over 11 years - then, mean time to failure of some disk in an array of 100 disks will be 100,000/100 = 1000 hours, or around 42 days</a:t>
            </a:r>
          </a:p>
          <a:p>
            <a:r>
              <a:rPr lang="en-US" dirty="0"/>
              <a:t>if we store only one copy of data, then each disk failure will result in loss of a significant amount of data - such a high frequency of data loss is unacceptable</a:t>
            </a:r>
          </a:p>
          <a:p>
            <a:r>
              <a:rPr lang="en-US" dirty="0"/>
              <a:t>solution to problem of reliability is to introduce </a:t>
            </a:r>
            <a:r>
              <a:rPr lang="en-US" b="1" dirty="0"/>
              <a:t>redundancy</a:t>
            </a:r>
            <a:r>
              <a:rPr lang="en-US" dirty="0"/>
              <a:t>; store extra information that is not needed normally but that can be used in the event of failure of a disk to rebuild the lost information; thus, even if a disk fails, data are not lost, so effective mean time to failure is increased, provided that we count only failures that lead to loss of data</a:t>
            </a:r>
          </a:p>
        </p:txBody>
      </p:sp>
      <p:sp>
        <p:nvSpPr>
          <p:cNvPr id="4" name="Slide Number Placeholder 3">
            <a:extLst>
              <a:ext uri="{FF2B5EF4-FFF2-40B4-BE49-F238E27FC236}">
                <a16:creationId xmlns:a16="http://schemas.microsoft.com/office/drawing/2014/main" id="{E406C83C-6E09-8592-42D1-6794BF85717A}"/>
              </a:ext>
            </a:extLst>
          </p:cNvPr>
          <p:cNvSpPr>
            <a:spLocks noGrp="1"/>
          </p:cNvSpPr>
          <p:nvPr>
            <p:ph type="sldNum" sz="quarter" idx="12"/>
          </p:nvPr>
        </p:nvSpPr>
        <p:spPr/>
        <p:txBody>
          <a:bodyPr/>
          <a:lstStyle/>
          <a:p>
            <a:fld id="{6264BDCF-5269-49AC-A246-ED26C2B980E3}" type="slidenum">
              <a:rPr lang="en-US" smtClean="0"/>
              <a:t>31</a:t>
            </a:fld>
            <a:endParaRPr lang="en-US"/>
          </a:p>
        </p:txBody>
      </p:sp>
    </p:spTree>
    <p:extLst>
      <p:ext uri="{BB962C8B-B14F-4D97-AF65-F5344CB8AC3E}">
        <p14:creationId xmlns:p14="http://schemas.microsoft.com/office/powerpoint/2010/main" val="10714412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25C09-FD6C-BA85-CD26-80E4BEBA84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B099F89-8E61-E382-3036-53BBA08FF42F}"/>
              </a:ext>
            </a:extLst>
          </p:cNvPr>
          <p:cNvSpPr>
            <a:spLocks noGrp="1"/>
          </p:cNvSpPr>
          <p:nvPr>
            <p:ph idx="1"/>
          </p:nvPr>
        </p:nvSpPr>
        <p:spPr/>
        <p:txBody>
          <a:bodyPr>
            <a:noAutofit/>
          </a:bodyPr>
          <a:lstStyle/>
          <a:p>
            <a:r>
              <a:rPr lang="en-US" dirty="0"/>
              <a:t>simplest (but most expensive) approach to introducing redundancy is to duplicate every disk</a:t>
            </a:r>
          </a:p>
          <a:p>
            <a:r>
              <a:rPr lang="en-US" dirty="0"/>
              <a:t>technique called </a:t>
            </a:r>
            <a:r>
              <a:rPr lang="en-US" b="1" i="1" dirty="0"/>
              <a:t>mirroring</a:t>
            </a:r>
            <a:r>
              <a:rPr lang="en-US" b="1" dirty="0"/>
              <a:t> - </a:t>
            </a:r>
            <a:r>
              <a:rPr lang="en-US" dirty="0"/>
              <a:t>logical disk then consists of two physical disks, and every write is carried out on both disks; if one disks fails, data can be read from other - data will be lost only if second disk fails before first failed disk is repaired</a:t>
            </a:r>
          </a:p>
          <a:p>
            <a:r>
              <a:rPr lang="en-US" dirty="0"/>
              <a:t>mean time to failure (where failure is loss of data) of mirrored disk depends as well as on the mean time to repair</a:t>
            </a:r>
          </a:p>
          <a:p>
            <a:r>
              <a:rPr lang="en-US" dirty="0"/>
              <a:t>failures of two disks are independent the </a:t>
            </a:r>
            <a:r>
              <a:rPr lang="en-US" b="1" dirty="0"/>
              <a:t>mean time to data loss </a:t>
            </a:r>
            <a:r>
              <a:rPr lang="en-US" dirty="0"/>
              <a:t>of a mirrored disk system is around 5 times greater</a:t>
            </a:r>
          </a:p>
        </p:txBody>
      </p:sp>
      <p:sp>
        <p:nvSpPr>
          <p:cNvPr id="4" name="Slide Number Placeholder 3">
            <a:extLst>
              <a:ext uri="{FF2B5EF4-FFF2-40B4-BE49-F238E27FC236}">
                <a16:creationId xmlns:a16="http://schemas.microsoft.com/office/drawing/2014/main" id="{46789714-3614-6710-A009-C041C2E00131}"/>
              </a:ext>
            </a:extLst>
          </p:cNvPr>
          <p:cNvSpPr>
            <a:spLocks noGrp="1"/>
          </p:cNvSpPr>
          <p:nvPr>
            <p:ph type="sldNum" sz="quarter" idx="12"/>
          </p:nvPr>
        </p:nvSpPr>
        <p:spPr/>
        <p:txBody>
          <a:bodyPr/>
          <a:lstStyle/>
          <a:p>
            <a:fld id="{6264BDCF-5269-49AC-A246-ED26C2B980E3}" type="slidenum">
              <a:rPr lang="en-US" smtClean="0"/>
              <a:t>32</a:t>
            </a:fld>
            <a:endParaRPr lang="en-US"/>
          </a:p>
        </p:txBody>
      </p:sp>
    </p:spTree>
    <p:extLst>
      <p:ext uri="{BB962C8B-B14F-4D97-AF65-F5344CB8AC3E}">
        <p14:creationId xmlns:p14="http://schemas.microsoft.com/office/powerpoint/2010/main" val="36090780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F7F57-02E4-CE0A-91BB-0A0017EB2B7F}"/>
              </a:ext>
            </a:extLst>
          </p:cNvPr>
          <p:cNvSpPr>
            <a:spLocks noGrp="1"/>
          </p:cNvSpPr>
          <p:nvPr>
            <p:ph type="title"/>
          </p:nvPr>
        </p:nvSpPr>
        <p:spPr/>
        <p:txBody>
          <a:bodyPr/>
          <a:lstStyle/>
          <a:p>
            <a:r>
              <a:rPr lang="it-IT" dirty="0"/>
              <a:t>Improvement in Performance via Parallelism</a:t>
            </a:r>
            <a:endParaRPr lang="en-US" dirty="0"/>
          </a:p>
        </p:txBody>
      </p:sp>
      <p:sp>
        <p:nvSpPr>
          <p:cNvPr id="3" name="Content Placeholder 2">
            <a:extLst>
              <a:ext uri="{FF2B5EF4-FFF2-40B4-BE49-F238E27FC236}">
                <a16:creationId xmlns:a16="http://schemas.microsoft.com/office/drawing/2014/main" id="{D2A4D1C0-6E2F-E450-9ABC-022A55180C68}"/>
              </a:ext>
            </a:extLst>
          </p:cNvPr>
          <p:cNvSpPr>
            <a:spLocks noGrp="1"/>
          </p:cNvSpPr>
          <p:nvPr>
            <p:ph idx="1"/>
          </p:nvPr>
        </p:nvSpPr>
        <p:spPr>
          <a:xfrm>
            <a:off x="838200" y="1278194"/>
            <a:ext cx="10515600" cy="4898769"/>
          </a:xfrm>
        </p:spPr>
        <p:txBody>
          <a:bodyPr>
            <a:noAutofit/>
          </a:bodyPr>
          <a:lstStyle/>
          <a:p>
            <a:r>
              <a:rPr lang="en-US" sz="2700" dirty="0"/>
              <a:t>with 2 disk mirroring, rate at which read requests can be handled is doubled</a:t>
            </a:r>
          </a:p>
          <a:p>
            <a:r>
              <a:rPr lang="en-US" sz="2700" dirty="0"/>
              <a:t>with multiple disks, can improve transfer rate as well by </a:t>
            </a:r>
            <a:r>
              <a:rPr lang="en-US" sz="2700" b="1" i="1" dirty="0"/>
              <a:t>striping data</a:t>
            </a:r>
            <a:r>
              <a:rPr lang="en-US" sz="2700" b="1" dirty="0"/>
              <a:t> </a:t>
            </a:r>
            <a:r>
              <a:rPr lang="en-US" sz="2700" dirty="0"/>
              <a:t>across multiple disks</a:t>
            </a:r>
          </a:p>
          <a:p>
            <a:r>
              <a:rPr lang="en-US" sz="2700" dirty="0"/>
              <a:t>in its simplest form, data striping consists of splitting bits of each byte across multiple disks; such striping is called bit-level striping</a:t>
            </a:r>
          </a:p>
          <a:p>
            <a:r>
              <a:rPr lang="en-US" sz="2700" dirty="0"/>
              <a:t>in such organization, every disk participates in every access (read or write), so number of accesses that can be processed per second is about the same as on a single disk, but each access can read eight times as much data in same time as on a single disk</a:t>
            </a:r>
          </a:p>
          <a:p>
            <a:r>
              <a:rPr lang="en-US" sz="2700" dirty="0"/>
              <a:t>Block-level striping stripes blocks across multiple disks</a:t>
            </a:r>
          </a:p>
          <a:p>
            <a:r>
              <a:rPr lang="en-US" sz="2700" dirty="0"/>
              <a:t>treats array of disks as a single large disk, and it gives blocks logical numbers</a:t>
            </a:r>
          </a:p>
        </p:txBody>
      </p:sp>
      <p:sp>
        <p:nvSpPr>
          <p:cNvPr id="4" name="Slide Number Placeholder 3">
            <a:extLst>
              <a:ext uri="{FF2B5EF4-FFF2-40B4-BE49-F238E27FC236}">
                <a16:creationId xmlns:a16="http://schemas.microsoft.com/office/drawing/2014/main" id="{CFDE94A6-24F5-A96A-8887-453993127FDA}"/>
              </a:ext>
            </a:extLst>
          </p:cNvPr>
          <p:cNvSpPr>
            <a:spLocks noGrp="1"/>
          </p:cNvSpPr>
          <p:nvPr>
            <p:ph type="sldNum" sz="quarter" idx="12"/>
          </p:nvPr>
        </p:nvSpPr>
        <p:spPr/>
        <p:txBody>
          <a:bodyPr/>
          <a:lstStyle/>
          <a:p>
            <a:fld id="{6264BDCF-5269-49AC-A246-ED26C2B980E3}" type="slidenum">
              <a:rPr lang="en-US" smtClean="0"/>
              <a:t>33</a:t>
            </a:fld>
            <a:endParaRPr lang="en-US" dirty="0"/>
          </a:p>
        </p:txBody>
      </p:sp>
    </p:spTree>
    <p:extLst>
      <p:ext uri="{BB962C8B-B14F-4D97-AF65-F5344CB8AC3E}">
        <p14:creationId xmlns:p14="http://schemas.microsoft.com/office/powerpoint/2010/main" val="29163595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FB5E80-5FC3-33E0-DBE9-64AF135B980C}"/>
              </a:ext>
            </a:extLst>
          </p:cNvPr>
          <p:cNvSpPr>
            <a:spLocks noGrp="1"/>
          </p:cNvSpPr>
          <p:nvPr>
            <p:ph type="title"/>
          </p:nvPr>
        </p:nvSpPr>
        <p:spPr/>
        <p:txBody>
          <a:bodyPr/>
          <a:lstStyle/>
          <a:p>
            <a:endParaRPr lang="en-US" dirty="0"/>
          </a:p>
        </p:txBody>
      </p:sp>
      <p:sp>
        <p:nvSpPr>
          <p:cNvPr id="9" name="Text Placeholder 8">
            <a:extLst>
              <a:ext uri="{FF2B5EF4-FFF2-40B4-BE49-F238E27FC236}">
                <a16:creationId xmlns:a16="http://schemas.microsoft.com/office/drawing/2014/main" id="{3C274BC9-4402-DA56-964A-C95DCF14D738}"/>
              </a:ext>
            </a:extLst>
          </p:cNvPr>
          <p:cNvSpPr>
            <a:spLocks noGrp="1"/>
          </p:cNvSpPr>
          <p:nvPr>
            <p:ph type="body" idx="1"/>
          </p:nvPr>
        </p:nvSpPr>
        <p:spPr/>
        <p:txBody>
          <a:bodyPr/>
          <a:lstStyle/>
          <a:p>
            <a:r>
              <a:rPr lang="en-US" dirty="0"/>
              <a:t>Disk mirroring</a:t>
            </a:r>
          </a:p>
        </p:txBody>
      </p:sp>
      <p:sp>
        <p:nvSpPr>
          <p:cNvPr id="11" name="Text Placeholder 10">
            <a:extLst>
              <a:ext uri="{FF2B5EF4-FFF2-40B4-BE49-F238E27FC236}">
                <a16:creationId xmlns:a16="http://schemas.microsoft.com/office/drawing/2014/main" id="{4BED5E44-F72E-7F94-48C2-1D3FBE07ED90}"/>
              </a:ext>
            </a:extLst>
          </p:cNvPr>
          <p:cNvSpPr>
            <a:spLocks noGrp="1"/>
          </p:cNvSpPr>
          <p:nvPr>
            <p:ph type="body" sz="quarter" idx="3"/>
          </p:nvPr>
        </p:nvSpPr>
        <p:spPr/>
        <p:txBody>
          <a:bodyPr/>
          <a:lstStyle/>
          <a:p>
            <a:r>
              <a:rPr lang="en-US" dirty="0"/>
              <a:t>Disk stripping</a:t>
            </a:r>
          </a:p>
        </p:txBody>
      </p:sp>
      <p:sp>
        <p:nvSpPr>
          <p:cNvPr id="4" name="Slide Number Placeholder 3">
            <a:extLst>
              <a:ext uri="{FF2B5EF4-FFF2-40B4-BE49-F238E27FC236}">
                <a16:creationId xmlns:a16="http://schemas.microsoft.com/office/drawing/2014/main" id="{1F59700C-0D75-AE32-D2D1-634024E39EC6}"/>
              </a:ext>
            </a:extLst>
          </p:cNvPr>
          <p:cNvSpPr>
            <a:spLocks noGrp="1"/>
          </p:cNvSpPr>
          <p:nvPr>
            <p:ph type="sldNum" sz="quarter" idx="12"/>
          </p:nvPr>
        </p:nvSpPr>
        <p:spPr/>
        <p:txBody>
          <a:bodyPr/>
          <a:lstStyle/>
          <a:p>
            <a:fld id="{6264BDCF-5269-49AC-A246-ED26C2B980E3}" type="slidenum">
              <a:rPr lang="en-US" smtClean="0"/>
              <a:t>34</a:t>
            </a:fld>
            <a:endParaRPr lang="en-US"/>
          </a:p>
        </p:txBody>
      </p:sp>
      <p:sp>
        <p:nvSpPr>
          <p:cNvPr id="18" name="Content Placeholder 17">
            <a:extLst>
              <a:ext uri="{FF2B5EF4-FFF2-40B4-BE49-F238E27FC236}">
                <a16:creationId xmlns:a16="http://schemas.microsoft.com/office/drawing/2014/main" id="{457438CA-DB06-7BF2-41F3-CFDC380466C6}"/>
              </a:ext>
            </a:extLst>
          </p:cNvPr>
          <p:cNvSpPr>
            <a:spLocks noGrp="1"/>
          </p:cNvSpPr>
          <p:nvPr>
            <p:ph sz="half" idx="2"/>
          </p:nvPr>
        </p:nvSpPr>
        <p:spPr/>
        <p:txBody>
          <a:bodyPr/>
          <a:lstStyle/>
          <a:p>
            <a:endParaRPr lang="en-US"/>
          </a:p>
        </p:txBody>
      </p:sp>
      <p:pic>
        <p:nvPicPr>
          <p:cNvPr id="1036" name="Picture 12" descr="undefined">
            <a:extLst>
              <a:ext uri="{FF2B5EF4-FFF2-40B4-BE49-F238E27FC236}">
                <a16:creationId xmlns:a16="http://schemas.microsoft.com/office/drawing/2014/main" id="{F9246CD8-9D4F-13C7-2691-774A2101E1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468880"/>
            <a:ext cx="2619375" cy="4033838"/>
          </a:xfrm>
          <a:prstGeom prst="rect">
            <a:avLst/>
          </a:prstGeom>
          <a:noFill/>
          <a:extLst>
            <a:ext uri="{909E8E84-426E-40DD-AFC4-6F175D3DCCD1}">
              <a14:hiddenFill xmlns:a14="http://schemas.microsoft.com/office/drawing/2010/main">
                <a:solidFill>
                  <a:srgbClr val="FFFFFF"/>
                </a:solidFill>
              </a14:hiddenFill>
            </a:ext>
          </a:extLst>
        </p:spPr>
      </p:pic>
      <p:sp>
        <p:nvSpPr>
          <p:cNvPr id="19" name="Content Placeholder 18">
            <a:extLst>
              <a:ext uri="{FF2B5EF4-FFF2-40B4-BE49-F238E27FC236}">
                <a16:creationId xmlns:a16="http://schemas.microsoft.com/office/drawing/2014/main" id="{E36CA6E3-6CD3-4D76-BFC6-CB86BFDDD0C4}"/>
              </a:ext>
            </a:extLst>
          </p:cNvPr>
          <p:cNvSpPr>
            <a:spLocks noGrp="1"/>
          </p:cNvSpPr>
          <p:nvPr>
            <p:ph sz="quarter" idx="4"/>
          </p:nvPr>
        </p:nvSpPr>
        <p:spPr/>
        <p:txBody>
          <a:bodyPr/>
          <a:lstStyle/>
          <a:p>
            <a:endParaRPr lang="en-US" dirty="0"/>
          </a:p>
        </p:txBody>
      </p:sp>
      <p:pic>
        <p:nvPicPr>
          <p:cNvPr id="1038" name="Picture 14" descr="undefined">
            <a:extLst>
              <a:ext uri="{FF2B5EF4-FFF2-40B4-BE49-F238E27FC236}">
                <a16:creationId xmlns:a16="http://schemas.microsoft.com/office/drawing/2014/main" id="{4DA08397-83C8-2AB0-C66B-8B278FC293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5120" y="2468880"/>
            <a:ext cx="2619375" cy="4033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82271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E1EDF-C1BA-8F36-8637-E20B09577B1A}"/>
              </a:ext>
            </a:extLst>
          </p:cNvPr>
          <p:cNvSpPr>
            <a:spLocks noGrp="1"/>
          </p:cNvSpPr>
          <p:nvPr>
            <p:ph type="title"/>
          </p:nvPr>
        </p:nvSpPr>
        <p:spPr/>
        <p:txBody>
          <a:bodyPr/>
          <a:lstStyle/>
          <a:p>
            <a:r>
              <a:rPr lang="en-US" dirty="0"/>
              <a:t>RAID Levels</a:t>
            </a:r>
          </a:p>
        </p:txBody>
      </p:sp>
      <p:sp>
        <p:nvSpPr>
          <p:cNvPr id="3" name="Content Placeholder 2">
            <a:extLst>
              <a:ext uri="{FF2B5EF4-FFF2-40B4-BE49-F238E27FC236}">
                <a16:creationId xmlns:a16="http://schemas.microsoft.com/office/drawing/2014/main" id="{16D5944A-4E99-E478-6B07-CD235F66E70E}"/>
              </a:ext>
            </a:extLst>
          </p:cNvPr>
          <p:cNvSpPr>
            <a:spLocks noGrp="1"/>
          </p:cNvSpPr>
          <p:nvPr>
            <p:ph idx="1"/>
          </p:nvPr>
        </p:nvSpPr>
        <p:spPr>
          <a:xfrm>
            <a:off x="838200" y="1825625"/>
            <a:ext cx="10911348" cy="4351338"/>
          </a:xfrm>
        </p:spPr>
        <p:txBody>
          <a:bodyPr>
            <a:normAutofit/>
          </a:bodyPr>
          <a:lstStyle/>
          <a:p>
            <a:r>
              <a:rPr lang="en-US" dirty="0"/>
              <a:t>mirroring provides high reliability, but it is expensive</a:t>
            </a:r>
          </a:p>
          <a:p>
            <a:r>
              <a:rPr lang="en-US" dirty="0"/>
              <a:t>striping provides high data-transfer rates but does not improve reliability</a:t>
            </a:r>
          </a:p>
          <a:p>
            <a:r>
              <a:rPr lang="en-US" dirty="0"/>
              <a:t>alternative schemes aim to provide redundancy at lower cost by combining disk striping with “parity blocks”</a:t>
            </a:r>
          </a:p>
        </p:txBody>
      </p:sp>
      <p:sp>
        <p:nvSpPr>
          <p:cNvPr id="4" name="Slide Number Placeholder 3">
            <a:extLst>
              <a:ext uri="{FF2B5EF4-FFF2-40B4-BE49-F238E27FC236}">
                <a16:creationId xmlns:a16="http://schemas.microsoft.com/office/drawing/2014/main" id="{D1CB7D67-D520-C6B8-F7C3-E46FAC0EB1FE}"/>
              </a:ext>
            </a:extLst>
          </p:cNvPr>
          <p:cNvSpPr>
            <a:spLocks noGrp="1"/>
          </p:cNvSpPr>
          <p:nvPr>
            <p:ph type="sldNum" sz="quarter" idx="12"/>
          </p:nvPr>
        </p:nvSpPr>
        <p:spPr/>
        <p:txBody>
          <a:bodyPr/>
          <a:lstStyle/>
          <a:p>
            <a:fld id="{6264BDCF-5269-49AC-A246-ED26C2B980E3}" type="slidenum">
              <a:rPr lang="en-US" smtClean="0"/>
              <a:t>35</a:t>
            </a:fld>
            <a:endParaRPr lang="en-US"/>
          </a:p>
        </p:txBody>
      </p:sp>
    </p:spTree>
    <p:extLst>
      <p:ext uri="{BB962C8B-B14F-4D97-AF65-F5344CB8AC3E}">
        <p14:creationId xmlns:p14="http://schemas.microsoft.com/office/powerpoint/2010/main" val="16809800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2871B-69C0-11D4-36A6-246BBAFA0A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752231B-ABC4-28E0-5998-C428DDAC4D18}"/>
              </a:ext>
            </a:extLst>
          </p:cNvPr>
          <p:cNvSpPr>
            <a:spLocks noGrp="1"/>
          </p:cNvSpPr>
          <p:nvPr>
            <p:ph idx="1"/>
          </p:nvPr>
        </p:nvSpPr>
        <p:spPr/>
        <p:txBody>
          <a:bodyPr>
            <a:normAutofit/>
          </a:bodyPr>
          <a:lstStyle/>
          <a:p>
            <a:r>
              <a:rPr lang="en-US" dirty="0"/>
              <a:t>for given set of blocks, parity block</a:t>
            </a:r>
            <a:r>
              <a:rPr lang="en-US" b="1" dirty="0"/>
              <a:t> </a:t>
            </a:r>
            <a:r>
              <a:rPr lang="en-US" dirty="0"/>
              <a:t>can be computed and stored on disk</a:t>
            </a:r>
          </a:p>
          <a:p>
            <a:r>
              <a:rPr lang="en-US" dirty="0"/>
              <a:t>the </a:t>
            </a:r>
            <a:r>
              <a:rPr lang="en-US" i="1" dirty="0" err="1"/>
              <a:t>i</a:t>
            </a:r>
            <a:r>
              <a:rPr lang="en-US" baseline="30000" dirty="0" err="1"/>
              <a:t>th</a:t>
            </a:r>
            <a:r>
              <a:rPr lang="en-US" dirty="0"/>
              <a:t> bit of parity block is computed as “exclusive or” (XOR) of </a:t>
            </a:r>
            <a:r>
              <a:rPr lang="en-US" i="1" dirty="0" err="1"/>
              <a:t>i</a:t>
            </a:r>
            <a:r>
              <a:rPr lang="en-US" baseline="30000" dirty="0" err="1"/>
              <a:t>th</a:t>
            </a:r>
            <a:r>
              <a:rPr lang="en-US" dirty="0"/>
              <a:t> bits of all blocks in set</a:t>
            </a:r>
          </a:p>
          <a:p>
            <a:r>
              <a:rPr lang="en-US" dirty="0"/>
              <a:t>if contents of any one of the blocks in a set is lost due to failure, block contents can be recovered by computing bitwise-XOR of remaining blocks in set, along with parity block</a:t>
            </a:r>
          </a:p>
          <a:p>
            <a:r>
              <a:rPr lang="en-US" dirty="0"/>
              <a:t>whenever a block is written, the parity block for its set must be recomputed and written to disk</a:t>
            </a:r>
          </a:p>
        </p:txBody>
      </p:sp>
      <p:sp>
        <p:nvSpPr>
          <p:cNvPr id="4" name="Slide Number Placeholder 3">
            <a:extLst>
              <a:ext uri="{FF2B5EF4-FFF2-40B4-BE49-F238E27FC236}">
                <a16:creationId xmlns:a16="http://schemas.microsoft.com/office/drawing/2014/main" id="{91EB54F6-4B6C-2391-7389-93848278D2E8}"/>
              </a:ext>
            </a:extLst>
          </p:cNvPr>
          <p:cNvSpPr>
            <a:spLocks noGrp="1"/>
          </p:cNvSpPr>
          <p:nvPr>
            <p:ph type="sldNum" sz="quarter" idx="12"/>
          </p:nvPr>
        </p:nvSpPr>
        <p:spPr/>
        <p:txBody>
          <a:bodyPr/>
          <a:lstStyle/>
          <a:p>
            <a:fld id="{6264BDCF-5269-49AC-A246-ED26C2B980E3}" type="slidenum">
              <a:rPr lang="en-US" smtClean="0"/>
              <a:t>36</a:t>
            </a:fld>
            <a:endParaRPr lang="en-US"/>
          </a:p>
        </p:txBody>
      </p:sp>
    </p:spTree>
    <p:extLst>
      <p:ext uri="{BB962C8B-B14F-4D97-AF65-F5344CB8AC3E}">
        <p14:creationId xmlns:p14="http://schemas.microsoft.com/office/powerpoint/2010/main" val="21477021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1DB07-0E61-1956-7995-3BEB3F8F31EC}"/>
              </a:ext>
            </a:extLst>
          </p:cNvPr>
          <p:cNvSpPr>
            <a:spLocks noGrp="1"/>
          </p:cNvSpPr>
          <p:nvPr>
            <p:ph type="title"/>
          </p:nvPr>
        </p:nvSpPr>
        <p:spPr/>
        <p:txBody>
          <a:bodyPr/>
          <a:lstStyle/>
          <a:p>
            <a:r>
              <a:rPr lang="en-US" dirty="0"/>
              <a:t>RAID Levels </a:t>
            </a:r>
          </a:p>
        </p:txBody>
      </p:sp>
      <p:pic>
        <p:nvPicPr>
          <p:cNvPr id="6" name="Content Placeholder 5">
            <a:extLst>
              <a:ext uri="{FF2B5EF4-FFF2-40B4-BE49-F238E27FC236}">
                <a16:creationId xmlns:a16="http://schemas.microsoft.com/office/drawing/2014/main" id="{CE56B75E-90F1-1B82-5C91-AA6CE30226D8}"/>
              </a:ext>
            </a:extLst>
          </p:cNvPr>
          <p:cNvPicPr>
            <a:picLocks noGrp="1" noChangeAspect="1"/>
          </p:cNvPicPr>
          <p:nvPr>
            <p:ph idx="1"/>
          </p:nvPr>
        </p:nvPicPr>
        <p:blipFill>
          <a:blip r:embed="rId2"/>
          <a:stretch>
            <a:fillRect/>
          </a:stretch>
        </p:blipFill>
        <p:spPr>
          <a:xfrm>
            <a:off x="4023360" y="365760"/>
            <a:ext cx="6398225" cy="6220495"/>
          </a:xfrm>
          <a:prstGeom prst="rect">
            <a:avLst/>
          </a:prstGeom>
        </p:spPr>
      </p:pic>
      <p:sp>
        <p:nvSpPr>
          <p:cNvPr id="4" name="Slide Number Placeholder 3">
            <a:extLst>
              <a:ext uri="{FF2B5EF4-FFF2-40B4-BE49-F238E27FC236}">
                <a16:creationId xmlns:a16="http://schemas.microsoft.com/office/drawing/2014/main" id="{00CCCCAD-20F9-3CFF-0430-43E1E5C5236C}"/>
              </a:ext>
            </a:extLst>
          </p:cNvPr>
          <p:cNvSpPr>
            <a:spLocks noGrp="1"/>
          </p:cNvSpPr>
          <p:nvPr>
            <p:ph type="sldNum" sz="quarter" idx="12"/>
          </p:nvPr>
        </p:nvSpPr>
        <p:spPr/>
        <p:txBody>
          <a:bodyPr/>
          <a:lstStyle/>
          <a:p>
            <a:fld id="{6264BDCF-5269-49AC-A246-ED26C2B980E3}" type="slidenum">
              <a:rPr lang="en-US" smtClean="0"/>
              <a:t>37</a:t>
            </a:fld>
            <a:endParaRPr lang="en-US"/>
          </a:p>
        </p:txBody>
      </p:sp>
    </p:spTree>
    <p:extLst>
      <p:ext uri="{BB962C8B-B14F-4D97-AF65-F5344CB8AC3E}">
        <p14:creationId xmlns:p14="http://schemas.microsoft.com/office/powerpoint/2010/main" val="23449974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D83A4-8D4C-A60E-5EF3-A9934CAA7B95}"/>
              </a:ext>
            </a:extLst>
          </p:cNvPr>
          <p:cNvSpPr>
            <a:spLocks noGrp="1"/>
          </p:cNvSpPr>
          <p:nvPr>
            <p:ph type="title"/>
          </p:nvPr>
        </p:nvSpPr>
        <p:spPr/>
        <p:txBody>
          <a:bodyPr/>
          <a:lstStyle/>
          <a:p>
            <a:r>
              <a:rPr lang="en-US" dirty="0"/>
              <a:t>RAID level 0</a:t>
            </a:r>
          </a:p>
        </p:txBody>
      </p:sp>
      <p:sp>
        <p:nvSpPr>
          <p:cNvPr id="3" name="Content Placeholder 2">
            <a:extLst>
              <a:ext uri="{FF2B5EF4-FFF2-40B4-BE49-F238E27FC236}">
                <a16:creationId xmlns:a16="http://schemas.microsoft.com/office/drawing/2014/main" id="{E0EB31E2-4CD6-7672-AFA1-E277041BEA64}"/>
              </a:ext>
            </a:extLst>
          </p:cNvPr>
          <p:cNvSpPr>
            <a:spLocks noGrp="1"/>
          </p:cNvSpPr>
          <p:nvPr>
            <p:ph idx="1"/>
          </p:nvPr>
        </p:nvSpPr>
        <p:spPr/>
        <p:txBody>
          <a:bodyPr/>
          <a:lstStyle/>
          <a:p>
            <a:r>
              <a:rPr lang="en-US" dirty="0"/>
              <a:t>refers to disk arrays with striping at the level of blocks, but without any redundancy (such as mirroring or parity bits)</a:t>
            </a:r>
          </a:p>
          <a:p>
            <a:endParaRPr lang="en-US" dirty="0"/>
          </a:p>
          <a:p>
            <a:r>
              <a:rPr lang="en-US" dirty="0"/>
              <a:t>array of size four disks</a:t>
            </a:r>
          </a:p>
        </p:txBody>
      </p:sp>
      <p:sp>
        <p:nvSpPr>
          <p:cNvPr id="4" name="Slide Number Placeholder 3">
            <a:extLst>
              <a:ext uri="{FF2B5EF4-FFF2-40B4-BE49-F238E27FC236}">
                <a16:creationId xmlns:a16="http://schemas.microsoft.com/office/drawing/2014/main" id="{EE510E98-01EA-2F1B-51BE-1E11D5C5BC51}"/>
              </a:ext>
            </a:extLst>
          </p:cNvPr>
          <p:cNvSpPr>
            <a:spLocks noGrp="1"/>
          </p:cNvSpPr>
          <p:nvPr>
            <p:ph type="sldNum" sz="quarter" idx="12"/>
          </p:nvPr>
        </p:nvSpPr>
        <p:spPr/>
        <p:txBody>
          <a:bodyPr/>
          <a:lstStyle/>
          <a:p>
            <a:fld id="{6264BDCF-5269-49AC-A246-ED26C2B980E3}" type="slidenum">
              <a:rPr lang="en-US" smtClean="0"/>
              <a:t>38</a:t>
            </a:fld>
            <a:endParaRPr lang="en-US"/>
          </a:p>
        </p:txBody>
      </p:sp>
    </p:spTree>
    <p:extLst>
      <p:ext uri="{BB962C8B-B14F-4D97-AF65-F5344CB8AC3E}">
        <p14:creationId xmlns:p14="http://schemas.microsoft.com/office/powerpoint/2010/main" val="33015676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4E71A-43C9-D086-5BDC-24B5DBE11139}"/>
              </a:ext>
            </a:extLst>
          </p:cNvPr>
          <p:cNvSpPr>
            <a:spLocks noGrp="1"/>
          </p:cNvSpPr>
          <p:nvPr>
            <p:ph type="title"/>
          </p:nvPr>
        </p:nvSpPr>
        <p:spPr/>
        <p:txBody>
          <a:bodyPr/>
          <a:lstStyle/>
          <a:p>
            <a:r>
              <a:rPr lang="en-US" dirty="0"/>
              <a:t>RAID level 1</a:t>
            </a:r>
          </a:p>
        </p:txBody>
      </p:sp>
      <p:sp>
        <p:nvSpPr>
          <p:cNvPr id="3" name="Content Placeholder 2">
            <a:extLst>
              <a:ext uri="{FF2B5EF4-FFF2-40B4-BE49-F238E27FC236}">
                <a16:creationId xmlns:a16="http://schemas.microsoft.com/office/drawing/2014/main" id="{8CACF672-7DD6-5EFE-3457-603D035314CE}"/>
              </a:ext>
            </a:extLst>
          </p:cNvPr>
          <p:cNvSpPr>
            <a:spLocks noGrp="1"/>
          </p:cNvSpPr>
          <p:nvPr>
            <p:ph idx="1"/>
          </p:nvPr>
        </p:nvSpPr>
        <p:spPr/>
        <p:txBody>
          <a:bodyPr/>
          <a:lstStyle/>
          <a:p>
            <a:r>
              <a:rPr lang="en-US" dirty="0"/>
              <a:t>refers to disk mirroring with block striping</a:t>
            </a:r>
          </a:p>
          <a:p>
            <a:endParaRPr lang="en-US" dirty="0"/>
          </a:p>
          <a:p>
            <a:r>
              <a:rPr lang="en-US" dirty="0"/>
              <a:t>mirrored organization that holds four disks’ worth of data</a:t>
            </a:r>
          </a:p>
        </p:txBody>
      </p:sp>
      <p:sp>
        <p:nvSpPr>
          <p:cNvPr id="4" name="Slide Number Placeholder 3">
            <a:extLst>
              <a:ext uri="{FF2B5EF4-FFF2-40B4-BE49-F238E27FC236}">
                <a16:creationId xmlns:a16="http://schemas.microsoft.com/office/drawing/2014/main" id="{C99F7B4B-5C9B-3FFD-1E82-2F7FDDC89DA7}"/>
              </a:ext>
            </a:extLst>
          </p:cNvPr>
          <p:cNvSpPr>
            <a:spLocks noGrp="1"/>
          </p:cNvSpPr>
          <p:nvPr>
            <p:ph type="sldNum" sz="quarter" idx="12"/>
          </p:nvPr>
        </p:nvSpPr>
        <p:spPr/>
        <p:txBody>
          <a:bodyPr/>
          <a:lstStyle/>
          <a:p>
            <a:fld id="{6264BDCF-5269-49AC-A246-ED26C2B980E3}" type="slidenum">
              <a:rPr lang="en-US" smtClean="0"/>
              <a:t>39</a:t>
            </a:fld>
            <a:endParaRPr lang="en-US"/>
          </a:p>
        </p:txBody>
      </p:sp>
    </p:spTree>
    <p:extLst>
      <p:ext uri="{BB962C8B-B14F-4D97-AF65-F5344CB8AC3E}">
        <p14:creationId xmlns:p14="http://schemas.microsoft.com/office/powerpoint/2010/main" val="17150067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5DC44-584D-7BF9-99E9-F2025D05EF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42CDDFA-0449-E832-B136-112F84F842A5}"/>
              </a:ext>
            </a:extLst>
          </p:cNvPr>
          <p:cNvSpPr>
            <a:spLocks noGrp="1"/>
          </p:cNvSpPr>
          <p:nvPr>
            <p:ph idx="1"/>
          </p:nvPr>
        </p:nvSpPr>
        <p:spPr/>
        <p:txBody>
          <a:bodyPr/>
          <a:lstStyle/>
          <a:p>
            <a:r>
              <a:rPr lang="en-US" dirty="0"/>
              <a:t>term RAID level 1+0 or RAID level 10 refer to mirroring with striping</a:t>
            </a:r>
          </a:p>
        </p:txBody>
      </p:sp>
      <p:sp>
        <p:nvSpPr>
          <p:cNvPr id="4" name="Slide Number Placeholder 3">
            <a:extLst>
              <a:ext uri="{FF2B5EF4-FFF2-40B4-BE49-F238E27FC236}">
                <a16:creationId xmlns:a16="http://schemas.microsoft.com/office/drawing/2014/main" id="{18CF0D6E-84D3-46D4-0E17-F8324AF469B2}"/>
              </a:ext>
            </a:extLst>
          </p:cNvPr>
          <p:cNvSpPr>
            <a:spLocks noGrp="1"/>
          </p:cNvSpPr>
          <p:nvPr>
            <p:ph type="sldNum" sz="quarter" idx="12"/>
          </p:nvPr>
        </p:nvSpPr>
        <p:spPr/>
        <p:txBody>
          <a:bodyPr/>
          <a:lstStyle/>
          <a:p>
            <a:fld id="{6264BDCF-5269-49AC-A246-ED26C2B980E3}" type="slidenum">
              <a:rPr lang="en-US" smtClean="0"/>
              <a:t>40</a:t>
            </a:fld>
            <a:endParaRPr lang="en-US"/>
          </a:p>
        </p:txBody>
      </p:sp>
    </p:spTree>
    <p:extLst>
      <p:ext uri="{BB962C8B-B14F-4D97-AF65-F5344CB8AC3E}">
        <p14:creationId xmlns:p14="http://schemas.microsoft.com/office/powerpoint/2010/main" val="1209228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94B80-5F6F-13B7-92BE-D8C272773223}"/>
              </a:ext>
            </a:extLst>
          </p:cNvPr>
          <p:cNvSpPr>
            <a:spLocks noGrp="1"/>
          </p:cNvSpPr>
          <p:nvPr>
            <p:ph type="title"/>
          </p:nvPr>
        </p:nvSpPr>
        <p:spPr/>
        <p:txBody>
          <a:bodyPr/>
          <a:lstStyle/>
          <a:p>
            <a:r>
              <a:rPr lang="en-US" dirty="0"/>
              <a:t>RAID level 5</a:t>
            </a:r>
          </a:p>
        </p:txBody>
      </p:sp>
      <p:sp>
        <p:nvSpPr>
          <p:cNvPr id="3" name="Content Placeholder 2">
            <a:extLst>
              <a:ext uri="{FF2B5EF4-FFF2-40B4-BE49-F238E27FC236}">
                <a16:creationId xmlns:a16="http://schemas.microsoft.com/office/drawing/2014/main" id="{24AC81B4-234D-6779-02F6-CB25E006220F}"/>
              </a:ext>
            </a:extLst>
          </p:cNvPr>
          <p:cNvSpPr>
            <a:spLocks noGrp="1"/>
          </p:cNvSpPr>
          <p:nvPr>
            <p:ph idx="1"/>
          </p:nvPr>
        </p:nvSpPr>
        <p:spPr/>
        <p:txBody>
          <a:bodyPr/>
          <a:lstStyle/>
          <a:p>
            <a:r>
              <a:rPr lang="en-US" dirty="0"/>
              <a:t>refers to block-interleaved distributed parity</a:t>
            </a:r>
          </a:p>
          <a:p>
            <a:r>
              <a:rPr lang="en-US" dirty="0"/>
              <a:t>data and parity are partitioned among all </a:t>
            </a:r>
            <a:r>
              <a:rPr lang="en-US" i="1" dirty="0"/>
              <a:t>N </a:t>
            </a:r>
            <a:r>
              <a:rPr lang="en-US" dirty="0"/>
              <a:t>+ 1 disks; for each set of </a:t>
            </a:r>
            <a:r>
              <a:rPr lang="en-US" i="1" dirty="0"/>
              <a:t>N </a:t>
            </a:r>
            <a:r>
              <a:rPr lang="en-US" dirty="0"/>
              <a:t>logical blocks, one of the disks stores the parity, and the other </a:t>
            </a:r>
            <a:r>
              <a:rPr lang="en-US" i="1" dirty="0"/>
              <a:t>N </a:t>
            </a:r>
            <a:r>
              <a:rPr lang="en-US" dirty="0"/>
              <a:t>disks store the blocks; parity blocks are stored on different disks for different sets of </a:t>
            </a:r>
            <a:r>
              <a:rPr lang="en-US" i="1" dirty="0"/>
              <a:t>N </a:t>
            </a:r>
            <a:r>
              <a:rPr lang="en-US" dirty="0"/>
              <a:t>blocks</a:t>
            </a:r>
          </a:p>
          <a:p>
            <a:r>
              <a:rPr lang="en-US" dirty="0"/>
              <a:t>all disks can participate in satisfying read requests</a:t>
            </a:r>
          </a:p>
        </p:txBody>
      </p:sp>
      <p:sp>
        <p:nvSpPr>
          <p:cNvPr id="4" name="Slide Number Placeholder 3">
            <a:extLst>
              <a:ext uri="{FF2B5EF4-FFF2-40B4-BE49-F238E27FC236}">
                <a16:creationId xmlns:a16="http://schemas.microsoft.com/office/drawing/2014/main" id="{A964157E-6B38-58A2-32D9-388102132EF4}"/>
              </a:ext>
            </a:extLst>
          </p:cNvPr>
          <p:cNvSpPr>
            <a:spLocks noGrp="1"/>
          </p:cNvSpPr>
          <p:nvPr>
            <p:ph type="sldNum" sz="quarter" idx="12"/>
          </p:nvPr>
        </p:nvSpPr>
        <p:spPr/>
        <p:txBody>
          <a:bodyPr/>
          <a:lstStyle/>
          <a:p>
            <a:fld id="{6264BDCF-5269-49AC-A246-ED26C2B980E3}" type="slidenum">
              <a:rPr lang="en-US" smtClean="0"/>
              <a:t>41</a:t>
            </a:fld>
            <a:endParaRPr lang="en-US"/>
          </a:p>
        </p:txBody>
      </p:sp>
    </p:spTree>
    <p:extLst>
      <p:ext uri="{BB962C8B-B14F-4D97-AF65-F5344CB8AC3E}">
        <p14:creationId xmlns:p14="http://schemas.microsoft.com/office/powerpoint/2010/main" val="23706959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55D15-17CF-1F9B-1534-53DD8691D5E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3AF8FF-C83A-B39C-0B0A-211EF6B44EC0}"/>
              </a:ext>
            </a:extLst>
          </p:cNvPr>
          <p:cNvSpPr>
            <a:spLocks noGrp="1"/>
          </p:cNvSpPr>
          <p:nvPr>
            <p:ph idx="1"/>
          </p:nvPr>
        </p:nvSpPr>
        <p:spPr/>
        <p:txBody>
          <a:bodyPr/>
          <a:lstStyle/>
          <a:p>
            <a:r>
              <a:rPr lang="en-US" dirty="0"/>
              <a:t>the P’s are distributed across all disks</a:t>
            </a:r>
          </a:p>
          <a:p>
            <a:r>
              <a:rPr lang="en-US" dirty="0"/>
              <a:t>for example, with an array of five disks, parity block, labeled Pk, for logical blocks 4</a:t>
            </a:r>
            <a:r>
              <a:rPr lang="en-US" i="1" dirty="0"/>
              <a:t>k</a:t>
            </a:r>
            <a:r>
              <a:rPr lang="en-US" dirty="0"/>
              <a:t>, 4</a:t>
            </a:r>
            <a:r>
              <a:rPr lang="en-US" i="1" dirty="0"/>
              <a:t>k </a:t>
            </a:r>
            <a:r>
              <a:rPr lang="en-US" dirty="0"/>
              <a:t>+ 1, 4</a:t>
            </a:r>
            <a:r>
              <a:rPr lang="en-US" i="1" dirty="0"/>
              <a:t>k </a:t>
            </a:r>
            <a:r>
              <a:rPr lang="en-US" dirty="0"/>
              <a:t>+ 2, 4</a:t>
            </a:r>
            <a:r>
              <a:rPr lang="en-US" i="1" dirty="0"/>
              <a:t>k </a:t>
            </a:r>
            <a:r>
              <a:rPr lang="en-US" dirty="0"/>
              <a:t>+ 3 is stored in disk </a:t>
            </a:r>
            <a:r>
              <a:rPr lang="en-US" i="1" dirty="0"/>
              <a:t>k </a:t>
            </a:r>
            <a:r>
              <a:rPr lang="en-US" dirty="0"/>
              <a:t>mod 5; </a:t>
            </a:r>
          </a:p>
          <a:p>
            <a:r>
              <a:rPr lang="en-US" dirty="0"/>
              <a:t>corresponding blocks of other four disks store four data blocks 4</a:t>
            </a:r>
            <a:r>
              <a:rPr lang="en-US" i="1" dirty="0"/>
              <a:t>k </a:t>
            </a:r>
            <a:r>
              <a:rPr lang="en-US" dirty="0"/>
              <a:t>to 4</a:t>
            </a:r>
            <a:r>
              <a:rPr lang="en-US" i="1" dirty="0"/>
              <a:t>k </a:t>
            </a:r>
            <a:r>
              <a:rPr lang="en-US" dirty="0"/>
              <a:t>+ 3</a:t>
            </a:r>
          </a:p>
          <a:p>
            <a:endParaRPr lang="en-US" dirty="0"/>
          </a:p>
          <a:p>
            <a:r>
              <a:rPr lang="en-US" dirty="0"/>
              <a:t>parity block cannot store parity for blocks in the same disk, since then a disk failure would result in loss of data as well as of parity, and hence would not be recoverable</a:t>
            </a:r>
          </a:p>
        </p:txBody>
      </p:sp>
      <p:sp>
        <p:nvSpPr>
          <p:cNvPr id="4" name="Slide Number Placeholder 3">
            <a:extLst>
              <a:ext uri="{FF2B5EF4-FFF2-40B4-BE49-F238E27FC236}">
                <a16:creationId xmlns:a16="http://schemas.microsoft.com/office/drawing/2014/main" id="{A17F70FD-2F24-9DB3-CB1A-55F3AD547511}"/>
              </a:ext>
            </a:extLst>
          </p:cNvPr>
          <p:cNvSpPr>
            <a:spLocks noGrp="1"/>
          </p:cNvSpPr>
          <p:nvPr>
            <p:ph type="sldNum" sz="quarter" idx="12"/>
          </p:nvPr>
        </p:nvSpPr>
        <p:spPr/>
        <p:txBody>
          <a:bodyPr/>
          <a:lstStyle/>
          <a:p>
            <a:fld id="{6264BDCF-5269-49AC-A246-ED26C2B980E3}" type="slidenum">
              <a:rPr lang="en-US" smtClean="0"/>
              <a:t>42</a:t>
            </a:fld>
            <a:endParaRPr lang="en-US"/>
          </a:p>
        </p:txBody>
      </p:sp>
    </p:spTree>
    <p:extLst>
      <p:ext uri="{BB962C8B-B14F-4D97-AF65-F5344CB8AC3E}">
        <p14:creationId xmlns:p14="http://schemas.microsoft.com/office/powerpoint/2010/main" val="23883906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86EBA-DF93-D18C-738C-C94979FBEB71}"/>
              </a:ext>
            </a:extLst>
          </p:cNvPr>
          <p:cNvSpPr>
            <a:spLocks noGrp="1"/>
          </p:cNvSpPr>
          <p:nvPr>
            <p:ph type="title"/>
          </p:nvPr>
        </p:nvSpPr>
        <p:spPr>
          <a:xfrm>
            <a:off x="838199" y="365125"/>
            <a:ext cx="10999839" cy="1325563"/>
          </a:xfrm>
        </p:spPr>
        <p:txBody>
          <a:bodyPr>
            <a:noAutofit/>
          </a:bodyPr>
          <a:lstStyle/>
          <a:p>
            <a:r>
              <a:rPr lang="en-US" sz="3600" dirty="0"/>
              <a:t>first 20 blocks, numbered 0 to 19, and their parity</a:t>
            </a:r>
            <a:br>
              <a:rPr lang="en-US" sz="3600" dirty="0"/>
            </a:br>
            <a:r>
              <a:rPr lang="en-US" sz="3600" dirty="0"/>
              <a:t>blocks are laid out; pattern gets repeated on further blocks</a:t>
            </a:r>
          </a:p>
        </p:txBody>
      </p:sp>
      <p:pic>
        <p:nvPicPr>
          <p:cNvPr id="6" name="Content Placeholder 5">
            <a:extLst>
              <a:ext uri="{FF2B5EF4-FFF2-40B4-BE49-F238E27FC236}">
                <a16:creationId xmlns:a16="http://schemas.microsoft.com/office/drawing/2014/main" id="{8D1B5BF0-E34B-9EB2-8F0D-06AD2A95DC21}"/>
              </a:ext>
            </a:extLst>
          </p:cNvPr>
          <p:cNvPicPr>
            <a:picLocks noGrp="1" noChangeAspect="1"/>
          </p:cNvPicPr>
          <p:nvPr>
            <p:ph idx="1"/>
          </p:nvPr>
        </p:nvPicPr>
        <p:blipFill>
          <a:blip r:embed="rId2"/>
          <a:stretch>
            <a:fillRect/>
          </a:stretch>
        </p:blipFill>
        <p:spPr>
          <a:xfrm>
            <a:off x="3017520" y="2011680"/>
            <a:ext cx="5375126" cy="2716152"/>
          </a:xfrm>
          <a:prstGeom prst="rect">
            <a:avLst/>
          </a:prstGeom>
        </p:spPr>
      </p:pic>
      <p:sp>
        <p:nvSpPr>
          <p:cNvPr id="4" name="Slide Number Placeholder 3">
            <a:extLst>
              <a:ext uri="{FF2B5EF4-FFF2-40B4-BE49-F238E27FC236}">
                <a16:creationId xmlns:a16="http://schemas.microsoft.com/office/drawing/2014/main" id="{EECD6651-C559-B417-BF58-92E653991EC0}"/>
              </a:ext>
            </a:extLst>
          </p:cNvPr>
          <p:cNvSpPr>
            <a:spLocks noGrp="1"/>
          </p:cNvSpPr>
          <p:nvPr>
            <p:ph type="sldNum" sz="quarter" idx="12"/>
          </p:nvPr>
        </p:nvSpPr>
        <p:spPr/>
        <p:txBody>
          <a:bodyPr/>
          <a:lstStyle/>
          <a:p>
            <a:fld id="{6264BDCF-5269-49AC-A246-ED26C2B980E3}" type="slidenum">
              <a:rPr lang="en-US" smtClean="0"/>
              <a:t>43</a:t>
            </a:fld>
            <a:endParaRPr lang="en-US"/>
          </a:p>
        </p:txBody>
      </p:sp>
    </p:spTree>
    <p:extLst>
      <p:ext uri="{BB962C8B-B14F-4D97-AF65-F5344CB8AC3E}">
        <p14:creationId xmlns:p14="http://schemas.microsoft.com/office/powerpoint/2010/main" val="20134283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5097A-117E-45E9-EBEA-1503EC652EE5}"/>
              </a:ext>
            </a:extLst>
          </p:cNvPr>
          <p:cNvSpPr>
            <a:spLocks noGrp="1"/>
          </p:cNvSpPr>
          <p:nvPr>
            <p:ph type="title"/>
          </p:nvPr>
        </p:nvSpPr>
        <p:spPr/>
        <p:txBody>
          <a:bodyPr/>
          <a:lstStyle/>
          <a:p>
            <a:r>
              <a:rPr lang="en-US" dirty="0"/>
              <a:t>RAID level 6</a:t>
            </a:r>
          </a:p>
        </p:txBody>
      </p:sp>
      <p:sp>
        <p:nvSpPr>
          <p:cNvPr id="3" name="Content Placeholder 2">
            <a:extLst>
              <a:ext uri="{FF2B5EF4-FFF2-40B4-BE49-F238E27FC236}">
                <a16:creationId xmlns:a16="http://schemas.microsoft.com/office/drawing/2014/main" id="{0BF18247-6C90-F66D-C742-EFC76C5ABD82}"/>
              </a:ext>
            </a:extLst>
          </p:cNvPr>
          <p:cNvSpPr>
            <a:spLocks noGrp="1"/>
          </p:cNvSpPr>
          <p:nvPr>
            <p:ph idx="1"/>
          </p:nvPr>
        </p:nvSpPr>
        <p:spPr/>
        <p:txBody>
          <a:bodyPr/>
          <a:lstStyle/>
          <a:p>
            <a:r>
              <a:rPr lang="en-US" dirty="0"/>
              <a:t>the P + Q redundancy scheme, is much like RAID level 5, but it stores extra redundant information to guard against multiple disk failures</a:t>
            </a:r>
          </a:p>
          <a:p>
            <a:r>
              <a:rPr lang="en-US" dirty="0"/>
              <a:t>instead of using parity, level 6 uses error-correcting codes</a:t>
            </a:r>
          </a:p>
          <a:p>
            <a:endParaRPr lang="en-US" dirty="0"/>
          </a:p>
          <a:p>
            <a:r>
              <a:rPr lang="en-US" dirty="0"/>
              <a:t>two bits of redundant data are stored for every four bits of data -unlike one parity bit in level 5 - and system can tolerate two disk failures</a:t>
            </a:r>
          </a:p>
        </p:txBody>
      </p:sp>
      <p:sp>
        <p:nvSpPr>
          <p:cNvPr id="4" name="Slide Number Placeholder 3">
            <a:extLst>
              <a:ext uri="{FF2B5EF4-FFF2-40B4-BE49-F238E27FC236}">
                <a16:creationId xmlns:a16="http://schemas.microsoft.com/office/drawing/2014/main" id="{F1714E35-64AC-35DD-5105-73AD3B55254D}"/>
              </a:ext>
            </a:extLst>
          </p:cNvPr>
          <p:cNvSpPr>
            <a:spLocks noGrp="1"/>
          </p:cNvSpPr>
          <p:nvPr>
            <p:ph type="sldNum" sz="quarter" idx="12"/>
          </p:nvPr>
        </p:nvSpPr>
        <p:spPr/>
        <p:txBody>
          <a:bodyPr/>
          <a:lstStyle/>
          <a:p>
            <a:fld id="{6264BDCF-5269-49AC-A246-ED26C2B980E3}" type="slidenum">
              <a:rPr lang="en-US" smtClean="0"/>
              <a:t>44</a:t>
            </a:fld>
            <a:endParaRPr lang="en-US"/>
          </a:p>
        </p:txBody>
      </p:sp>
    </p:spTree>
    <p:extLst>
      <p:ext uri="{BB962C8B-B14F-4D97-AF65-F5344CB8AC3E}">
        <p14:creationId xmlns:p14="http://schemas.microsoft.com/office/powerpoint/2010/main" val="1862428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4140C-0FF3-F85B-78B9-8CFF4438DED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20FE5E-D4CB-E581-05DD-CD887A5A9FFA}"/>
              </a:ext>
            </a:extLst>
          </p:cNvPr>
          <p:cNvSpPr>
            <a:spLocks noGrp="1"/>
          </p:cNvSpPr>
          <p:nvPr>
            <p:ph idx="1"/>
          </p:nvPr>
        </p:nvSpPr>
        <p:spPr/>
        <p:txBody>
          <a:bodyPr/>
          <a:lstStyle/>
          <a:p>
            <a:r>
              <a:rPr lang="en-US" dirty="0"/>
              <a:t>P and Q denote blocks containing the two corresponding error-correcting blocks for a given set of data blocks</a:t>
            </a:r>
          </a:p>
          <a:p>
            <a:r>
              <a:rPr lang="en-US" dirty="0"/>
              <a:t>layout of blocks is an extension of that for RAID 5</a:t>
            </a:r>
          </a:p>
          <a:p>
            <a:r>
              <a:rPr lang="en-US" dirty="0"/>
              <a:t>with six disks, two parity blocks, labeled Pk and </a:t>
            </a:r>
            <a:r>
              <a:rPr lang="en-US" dirty="0" err="1"/>
              <a:t>Qk</a:t>
            </a:r>
            <a:r>
              <a:rPr lang="en-US" dirty="0"/>
              <a:t>, for logical blocks 4</a:t>
            </a:r>
            <a:r>
              <a:rPr lang="en-US" i="1" dirty="0"/>
              <a:t>k</a:t>
            </a:r>
            <a:r>
              <a:rPr lang="en-US" dirty="0"/>
              <a:t>, 4</a:t>
            </a:r>
            <a:r>
              <a:rPr lang="en-US" i="1" dirty="0"/>
              <a:t>k </a:t>
            </a:r>
            <a:r>
              <a:rPr lang="en-US" dirty="0"/>
              <a:t>+ 1, 4</a:t>
            </a:r>
            <a:r>
              <a:rPr lang="en-US" i="1" dirty="0"/>
              <a:t>k </a:t>
            </a:r>
            <a:r>
              <a:rPr lang="en-US" dirty="0"/>
              <a:t>+ 2, and </a:t>
            </a:r>
            <a:r>
              <a:rPr lang="en-US" i="1" dirty="0"/>
              <a:t>4k </a:t>
            </a:r>
            <a:r>
              <a:rPr lang="en-US" dirty="0"/>
              <a:t>+ 3 are stored in disk </a:t>
            </a:r>
            <a:r>
              <a:rPr lang="en-US" i="1" dirty="0"/>
              <a:t>k </a:t>
            </a:r>
            <a:r>
              <a:rPr lang="en-US" dirty="0"/>
              <a:t>mod 6 and (</a:t>
            </a:r>
            <a:r>
              <a:rPr lang="en-US" i="1" dirty="0"/>
              <a:t>k </a:t>
            </a:r>
            <a:r>
              <a:rPr lang="en-US" dirty="0"/>
              <a:t>+ 1) mod 6, and corresponding blocks of other four disks store the four data blocks 4</a:t>
            </a:r>
            <a:r>
              <a:rPr lang="en-US" i="1" dirty="0"/>
              <a:t>k </a:t>
            </a:r>
            <a:r>
              <a:rPr lang="en-US" dirty="0"/>
              <a:t>to 4</a:t>
            </a:r>
            <a:r>
              <a:rPr lang="en-US" i="1" dirty="0"/>
              <a:t>k </a:t>
            </a:r>
            <a:r>
              <a:rPr lang="en-US" dirty="0"/>
              <a:t>+ 3</a:t>
            </a:r>
          </a:p>
        </p:txBody>
      </p:sp>
      <p:sp>
        <p:nvSpPr>
          <p:cNvPr id="4" name="Slide Number Placeholder 3">
            <a:extLst>
              <a:ext uri="{FF2B5EF4-FFF2-40B4-BE49-F238E27FC236}">
                <a16:creationId xmlns:a16="http://schemas.microsoft.com/office/drawing/2014/main" id="{DD726AFB-FADF-162D-55F6-14CD9541BAAC}"/>
              </a:ext>
            </a:extLst>
          </p:cNvPr>
          <p:cNvSpPr>
            <a:spLocks noGrp="1"/>
          </p:cNvSpPr>
          <p:nvPr>
            <p:ph type="sldNum" sz="quarter" idx="12"/>
          </p:nvPr>
        </p:nvSpPr>
        <p:spPr/>
        <p:txBody>
          <a:bodyPr/>
          <a:lstStyle/>
          <a:p>
            <a:fld id="{6264BDCF-5269-49AC-A246-ED26C2B980E3}" type="slidenum">
              <a:rPr lang="en-US" smtClean="0"/>
              <a:t>45</a:t>
            </a:fld>
            <a:endParaRPr lang="en-US"/>
          </a:p>
        </p:txBody>
      </p:sp>
    </p:spTree>
    <p:extLst>
      <p:ext uri="{BB962C8B-B14F-4D97-AF65-F5344CB8AC3E}">
        <p14:creationId xmlns:p14="http://schemas.microsoft.com/office/powerpoint/2010/main" val="5972671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D69C3-0F89-E717-ADD0-0CF4DD60DFBD}"/>
              </a:ext>
            </a:extLst>
          </p:cNvPr>
          <p:cNvSpPr>
            <a:spLocks noGrp="1"/>
          </p:cNvSpPr>
          <p:nvPr>
            <p:ph type="title"/>
          </p:nvPr>
        </p:nvSpPr>
        <p:spPr/>
        <p:txBody>
          <a:bodyPr/>
          <a:lstStyle/>
          <a:p>
            <a:r>
              <a:rPr lang="en-US" dirty="0"/>
              <a:t>Hardware RAID</a:t>
            </a:r>
          </a:p>
        </p:txBody>
      </p:sp>
      <p:sp>
        <p:nvSpPr>
          <p:cNvPr id="3" name="Content Placeholder 2">
            <a:extLst>
              <a:ext uri="{FF2B5EF4-FFF2-40B4-BE49-F238E27FC236}">
                <a16:creationId xmlns:a16="http://schemas.microsoft.com/office/drawing/2014/main" id="{D3FE7963-E7C6-33E3-5926-850433FD1948}"/>
              </a:ext>
            </a:extLst>
          </p:cNvPr>
          <p:cNvSpPr>
            <a:spLocks noGrp="1"/>
          </p:cNvSpPr>
          <p:nvPr>
            <p:ph idx="1"/>
          </p:nvPr>
        </p:nvSpPr>
        <p:spPr>
          <a:xfrm>
            <a:off x="838200" y="1825625"/>
            <a:ext cx="10744200" cy="4351338"/>
          </a:xfrm>
        </p:spPr>
        <p:txBody>
          <a:bodyPr>
            <a:normAutofit/>
          </a:bodyPr>
          <a:lstStyle/>
          <a:p>
            <a:r>
              <a:rPr lang="en-US" b="1" dirty="0"/>
              <a:t>Hardware RAID uses a dedicated controller for better performance and reliability (with features like battery-backed cache), ideal for critical systems, but costs more and ties data to specific hardware</a:t>
            </a:r>
          </a:p>
          <a:p>
            <a:r>
              <a:rPr lang="en-US" b="1" dirty="0"/>
              <a:t>Hardware RAID implementations can use non-volatile RAM to record writes before they are performed</a:t>
            </a:r>
          </a:p>
          <a:p>
            <a:r>
              <a:rPr lang="en-US" dirty="0"/>
              <a:t>Software RAID uses operating systems and CPU, making it flexible and cheap, great for non-critical tasks, but can slow the system and is less portable across different OS</a:t>
            </a:r>
          </a:p>
        </p:txBody>
      </p:sp>
      <p:sp>
        <p:nvSpPr>
          <p:cNvPr id="4" name="Slide Number Placeholder 3">
            <a:extLst>
              <a:ext uri="{FF2B5EF4-FFF2-40B4-BE49-F238E27FC236}">
                <a16:creationId xmlns:a16="http://schemas.microsoft.com/office/drawing/2014/main" id="{D6D0295C-E53D-98A3-6843-C5371EA12B5F}"/>
              </a:ext>
            </a:extLst>
          </p:cNvPr>
          <p:cNvSpPr>
            <a:spLocks noGrp="1"/>
          </p:cNvSpPr>
          <p:nvPr>
            <p:ph type="sldNum" sz="quarter" idx="12"/>
          </p:nvPr>
        </p:nvSpPr>
        <p:spPr/>
        <p:txBody>
          <a:bodyPr/>
          <a:lstStyle/>
          <a:p>
            <a:fld id="{6264BDCF-5269-49AC-A246-ED26C2B980E3}" type="slidenum">
              <a:rPr lang="en-US" smtClean="0"/>
              <a:t>46</a:t>
            </a:fld>
            <a:endParaRPr lang="en-US"/>
          </a:p>
        </p:txBody>
      </p:sp>
    </p:spTree>
    <p:extLst>
      <p:ext uri="{BB962C8B-B14F-4D97-AF65-F5344CB8AC3E}">
        <p14:creationId xmlns:p14="http://schemas.microsoft.com/office/powerpoint/2010/main" val="42359255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88EAE-3E5A-CB86-BC43-2B836FBA91E7}"/>
              </a:ext>
            </a:extLst>
          </p:cNvPr>
          <p:cNvSpPr>
            <a:spLocks noGrp="1"/>
          </p:cNvSpPr>
          <p:nvPr>
            <p:ph type="title"/>
          </p:nvPr>
        </p:nvSpPr>
        <p:spPr/>
        <p:txBody>
          <a:bodyPr/>
          <a:lstStyle/>
          <a:p>
            <a:r>
              <a:rPr lang="en-US" dirty="0"/>
              <a:t>server hardware is often designed to permit </a:t>
            </a:r>
            <a:r>
              <a:rPr lang="en-US" b="1" dirty="0"/>
              <a:t>hot swapping</a:t>
            </a:r>
            <a:endParaRPr lang="en-US" dirty="0"/>
          </a:p>
        </p:txBody>
      </p:sp>
      <p:sp>
        <p:nvSpPr>
          <p:cNvPr id="3" name="Content Placeholder 2">
            <a:extLst>
              <a:ext uri="{FF2B5EF4-FFF2-40B4-BE49-F238E27FC236}">
                <a16:creationId xmlns:a16="http://schemas.microsoft.com/office/drawing/2014/main" id="{83A09D7B-1DE6-32EA-9061-F1339E1D7EB2}"/>
              </a:ext>
            </a:extLst>
          </p:cNvPr>
          <p:cNvSpPr>
            <a:spLocks noGrp="1"/>
          </p:cNvSpPr>
          <p:nvPr>
            <p:ph idx="1"/>
          </p:nvPr>
        </p:nvSpPr>
        <p:spPr/>
        <p:txBody>
          <a:bodyPr>
            <a:noAutofit/>
          </a:bodyPr>
          <a:lstStyle/>
          <a:p>
            <a:r>
              <a:rPr lang="en-US" dirty="0"/>
              <a:t>faulty disks can be removed and replaced by new ones without turning power off</a:t>
            </a:r>
          </a:p>
          <a:p>
            <a:r>
              <a:rPr lang="en-US" dirty="0"/>
              <a:t>RAID controller can detect that disk was replaced by new one and can immediately proceed to reconstruct data that was on old disk, and write it to new disk</a:t>
            </a:r>
          </a:p>
          <a:p>
            <a:r>
              <a:rPr lang="en-US" dirty="0"/>
              <a:t>Hot swapping reduces the mean time to repair</a:t>
            </a:r>
          </a:p>
          <a:p>
            <a:r>
              <a:rPr lang="en-US" dirty="0"/>
              <a:t>many critical systems today run on a 24 x 7 schedule; that is, they run 24 hours a day, 7 days a week, continuous, round-the-clock availability or operation, with no breaks providing no time for shutting down and replacing failed disk</a:t>
            </a:r>
          </a:p>
        </p:txBody>
      </p:sp>
      <p:sp>
        <p:nvSpPr>
          <p:cNvPr id="4" name="Slide Number Placeholder 3">
            <a:extLst>
              <a:ext uri="{FF2B5EF4-FFF2-40B4-BE49-F238E27FC236}">
                <a16:creationId xmlns:a16="http://schemas.microsoft.com/office/drawing/2014/main" id="{A5424FC6-6774-89C4-AA8C-2C9780EBC937}"/>
              </a:ext>
            </a:extLst>
          </p:cNvPr>
          <p:cNvSpPr>
            <a:spLocks noGrp="1"/>
          </p:cNvSpPr>
          <p:nvPr>
            <p:ph type="sldNum" sz="quarter" idx="12"/>
          </p:nvPr>
        </p:nvSpPr>
        <p:spPr/>
        <p:txBody>
          <a:bodyPr/>
          <a:lstStyle/>
          <a:p>
            <a:fld id="{6264BDCF-5269-49AC-A246-ED26C2B980E3}" type="slidenum">
              <a:rPr lang="en-US" smtClean="0"/>
              <a:t>47</a:t>
            </a:fld>
            <a:endParaRPr lang="en-US"/>
          </a:p>
        </p:txBody>
      </p:sp>
    </p:spTree>
    <p:extLst>
      <p:ext uri="{BB962C8B-B14F-4D97-AF65-F5344CB8AC3E}">
        <p14:creationId xmlns:p14="http://schemas.microsoft.com/office/powerpoint/2010/main" val="35432896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E44C1-C1D3-A369-4F6C-42BEC654FE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5E6551-1AD7-7F5B-7E98-264832F6DE79}"/>
              </a:ext>
            </a:extLst>
          </p:cNvPr>
          <p:cNvSpPr>
            <a:spLocks noGrp="1"/>
          </p:cNvSpPr>
          <p:nvPr>
            <p:ph idx="1"/>
          </p:nvPr>
        </p:nvSpPr>
        <p:spPr/>
        <p:txBody>
          <a:bodyPr>
            <a:normAutofit/>
          </a:bodyPr>
          <a:lstStyle/>
          <a:p>
            <a:r>
              <a:rPr lang="en-US" dirty="0"/>
              <a:t>power supply, or disk controller, or system interconnection in RAID system could become a single point of failure that could stop functioning of RAID</a:t>
            </a:r>
          </a:p>
          <a:p>
            <a:r>
              <a:rPr lang="en-US" dirty="0"/>
              <a:t>multiple redundant power supplies (with battery backups)</a:t>
            </a:r>
          </a:p>
          <a:p>
            <a:r>
              <a:rPr lang="en-US" dirty="0"/>
              <a:t>multiple disk interfaces</a:t>
            </a:r>
          </a:p>
          <a:p>
            <a:r>
              <a:rPr lang="en-US" dirty="0"/>
              <a:t>multiple interconnections to connect RAID system to computer system</a:t>
            </a:r>
          </a:p>
        </p:txBody>
      </p:sp>
      <p:sp>
        <p:nvSpPr>
          <p:cNvPr id="4" name="Slide Number Placeholder 3">
            <a:extLst>
              <a:ext uri="{FF2B5EF4-FFF2-40B4-BE49-F238E27FC236}">
                <a16:creationId xmlns:a16="http://schemas.microsoft.com/office/drawing/2014/main" id="{FB64520F-B2D1-06E3-F8A2-6AC9C32AA49F}"/>
              </a:ext>
            </a:extLst>
          </p:cNvPr>
          <p:cNvSpPr>
            <a:spLocks noGrp="1"/>
          </p:cNvSpPr>
          <p:nvPr>
            <p:ph type="sldNum" sz="quarter" idx="12"/>
          </p:nvPr>
        </p:nvSpPr>
        <p:spPr/>
        <p:txBody>
          <a:bodyPr/>
          <a:lstStyle/>
          <a:p>
            <a:fld id="{6264BDCF-5269-49AC-A246-ED26C2B980E3}" type="slidenum">
              <a:rPr lang="en-US" smtClean="0"/>
              <a:t>48</a:t>
            </a:fld>
            <a:endParaRPr lang="en-US"/>
          </a:p>
        </p:txBody>
      </p:sp>
    </p:spTree>
    <p:extLst>
      <p:ext uri="{BB962C8B-B14F-4D97-AF65-F5344CB8AC3E}">
        <p14:creationId xmlns:p14="http://schemas.microsoft.com/office/powerpoint/2010/main" val="9273135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F4B7CDD-CA0C-E2FF-E82D-D8BC2EF6F3C2}"/>
              </a:ext>
            </a:extLst>
          </p:cNvPr>
          <p:cNvSpPr>
            <a:spLocks noGrp="1"/>
          </p:cNvSpPr>
          <p:nvPr>
            <p:ph type="title"/>
          </p:nvPr>
        </p:nvSpPr>
        <p:spPr/>
        <p:txBody>
          <a:bodyPr/>
          <a:lstStyle/>
          <a:p>
            <a:r>
              <a:rPr lang="en-US" dirty="0"/>
              <a:t>Data Storage Structures</a:t>
            </a:r>
          </a:p>
        </p:txBody>
      </p:sp>
      <p:sp>
        <p:nvSpPr>
          <p:cNvPr id="6" name="Text Placeholder 5">
            <a:extLst>
              <a:ext uri="{FF2B5EF4-FFF2-40B4-BE49-F238E27FC236}">
                <a16:creationId xmlns:a16="http://schemas.microsoft.com/office/drawing/2014/main" id="{B96BF823-8B4B-E5F9-E0E3-F68849B837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9EBA9C-1B31-299F-1A65-1BB88B59415F}"/>
              </a:ext>
            </a:extLst>
          </p:cNvPr>
          <p:cNvSpPr>
            <a:spLocks noGrp="1"/>
          </p:cNvSpPr>
          <p:nvPr>
            <p:ph type="sldNum" sz="quarter" idx="12"/>
          </p:nvPr>
        </p:nvSpPr>
        <p:spPr/>
        <p:txBody>
          <a:bodyPr/>
          <a:lstStyle/>
          <a:p>
            <a:fld id="{6264BDCF-5269-49AC-A246-ED26C2B980E3}" type="slidenum">
              <a:rPr lang="en-US" smtClean="0"/>
              <a:t>49</a:t>
            </a:fld>
            <a:endParaRPr lang="en-US"/>
          </a:p>
        </p:txBody>
      </p:sp>
    </p:spTree>
    <p:extLst>
      <p:ext uri="{BB962C8B-B14F-4D97-AF65-F5344CB8AC3E}">
        <p14:creationId xmlns:p14="http://schemas.microsoft.com/office/powerpoint/2010/main" val="2171764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C220C-9F59-0774-AB61-FB14EA3D7195}"/>
              </a:ext>
            </a:extLst>
          </p:cNvPr>
          <p:cNvSpPr>
            <a:spLocks noGrp="1"/>
          </p:cNvSpPr>
          <p:nvPr>
            <p:ph type="title"/>
          </p:nvPr>
        </p:nvSpPr>
        <p:spPr/>
        <p:txBody>
          <a:bodyPr/>
          <a:lstStyle/>
          <a:p>
            <a:r>
              <a:rPr lang="en-US" dirty="0"/>
              <a:t>Disk-Block Access</a:t>
            </a:r>
          </a:p>
        </p:txBody>
      </p:sp>
      <p:sp>
        <p:nvSpPr>
          <p:cNvPr id="3" name="Content Placeholder 2">
            <a:extLst>
              <a:ext uri="{FF2B5EF4-FFF2-40B4-BE49-F238E27FC236}">
                <a16:creationId xmlns:a16="http://schemas.microsoft.com/office/drawing/2014/main" id="{16DBC68C-1ECB-2FF0-0755-3139EE1B4A07}"/>
              </a:ext>
            </a:extLst>
          </p:cNvPr>
          <p:cNvSpPr>
            <a:spLocks noGrp="1"/>
          </p:cNvSpPr>
          <p:nvPr>
            <p:ph idx="1"/>
          </p:nvPr>
        </p:nvSpPr>
        <p:spPr/>
        <p:txBody>
          <a:bodyPr>
            <a:normAutofit/>
          </a:bodyPr>
          <a:lstStyle/>
          <a:p>
            <a:r>
              <a:rPr lang="en-US" dirty="0"/>
              <a:t>requests for disk I/O are generated by database system, with the query processing subsystem responsible for most of disk I/O</a:t>
            </a:r>
          </a:p>
          <a:p>
            <a:r>
              <a:rPr lang="en-US" dirty="0"/>
              <a:t>data are transferred between disk and main memory in units of blocks</a:t>
            </a:r>
          </a:p>
        </p:txBody>
      </p:sp>
      <p:sp>
        <p:nvSpPr>
          <p:cNvPr id="4" name="Slide Number Placeholder 3">
            <a:extLst>
              <a:ext uri="{FF2B5EF4-FFF2-40B4-BE49-F238E27FC236}">
                <a16:creationId xmlns:a16="http://schemas.microsoft.com/office/drawing/2014/main" id="{B3879A58-EF3E-3377-943B-67E59E709BBB}"/>
              </a:ext>
            </a:extLst>
          </p:cNvPr>
          <p:cNvSpPr>
            <a:spLocks noGrp="1"/>
          </p:cNvSpPr>
          <p:nvPr>
            <p:ph type="sldNum" sz="quarter" idx="12"/>
          </p:nvPr>
        </p:nvSpPr>
        <p:spPr/>
        <p:txBody>
          <a:bodyPr/>
          <a:lstStyle/>
          <a:p>
            <a:fld id="{6264BDCF-5269-49AC-A246-ED26C2B980E3}" type="slidenum">
              <a:rPr lang="en-US" smtClean="0"/>
              <a:t>50</a:t>
            </a:fld>
            <a:endParaRPr lang="en-US"/>
          </a:p>
        </p:txBody>
      </p:sp>
    </p:spTree>
    <p:extLst>
      <p:ext uri="{BB962C8B-B14F-4D97-AF65-F5344CB8AC3E}">
        <p14:creationId xmlns:p14="http://schemas.microsoft.com/office/powerpoint/2010/main" val="3866905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3B053-9899-AB32-4E8B-3BD528C6492E}"/>
              </a:ext>
            </a:extLst>
          </p:cNvPr>
          <p:cNvSpPr>
            <a:spLocks noGrp="1"/>
          </p:cNvSpPr>
          <p:nvPr>
            <p:ph type="title"/>
          </p:nvPr>
        </p:nvSpPr>
        <p:spPr>
          <a:xfrm>
            <a:off x="838200" y="365125"/>
            <a:ext cx="10515600" cy="1325563"/>
          </a:xfrm>
        </p:spPr>
        <p:txBody>
          <a:bodyPr>
            <a:normAutofit/>
          </a:bodyPr>
          <a:lstStyle/>
          <a:p>
            <a:r>
              <a:rPr lang="en-US" sz="4000" dirty="0"/>
              <a:t>techniques for improving speed of access to blocks</a:t>
            </a:r>
          </a:p>
        </p:txBody>
      </p:sp>
      <p:sp>
        <p:nvSpPr>
          <p:cNvPr id="3" name="Content Placeholder 2">
            <a:extLst>
              <a:ext uri="{FF2B5EF4-FFF2-40B4-BE49-F238E27FC236}">
                <a16:creationId xmlns:a16="http://schemas.microsoft.com/office/drawing/2014/main" id="{E6E3C412-F4D7-9AF2-963C-E39D83C612E4}"/>
              </a:ext>
            </a:extLst>
          </p:cNvPr>
          <p:cNvSpPr>
            <a:spLocks noGrp="1"/>
          </p:cNvSpPr>
          <p:nvPr>
            <p:ph idx="1"/>
          </p:nvPr>
        </p:nvSpPr>
        <p:spPr/>
        <p:txBody>
          <a:bodyPr>
            <a:normAutofit/>
          </a:bodyPr>
          <a:lstStyle/>
          <a:p>
            <a:r>
              <a:rPr lang="en-US" dirty="0"/>
              <a:t>Buffering</a:t>
            </a:r>
          </a:p>
          <a:p>
            <a:r>
              <a:rPr lang="en-US" dirty="0"/>
              <a:t>Read-ahead</a:t>
            </a:r>
          </a:p>
          <a:p>
            <a:r>
              <a:rPr lang="en-US" dirty="0"/>
              <a:t>Scheduling</a:t>
            </a:r>
          </a:p>
          <a:p>
            <a:r>
              <a:rPr lang="en-US" dirty="0"/>
              <a:t>File organization</a:t>
            </a:r>
          </a:p>
          <a:p>
            <a:r>
              <a:rPr lang="en-US" dirty="0"/>
              <a:t>Non-volatile write buffer</a:t>
            </a:r>
          </a:p>
        </p:txBody>
      </p:sp>
      <p:sp>
        <p:nvSpPr>
          <p:cNvPr id="4" name="Slide Number Placeholder 3">
            <a:extLst>
              <a:ext uri="{FF2B5EF4-FFF2-40B4-BE49-F238E27FC236}">
                <a16:creationId xmlns:a16="http://schemas.microsoft.com/office/drawing/2014/main" id="{2487EB25-AAFE-9FE3-1334-C4DF13EF27D2}"/>
              </a:ext>
            </a:extLst>
          </p:cNvPr>
          <p:cNvSpPr>
            <a:spLocks noGrp="1"/>
          </p:cNvSpPr>
          <p:nvPr>
            <p:ph type="sldNum" sz="quarter" idx="12"/>
          </p:nvPr>
        </p:nvSpPr>
        <p:spPr/>
        <p:txBody>
          <a:bodyPr/>
          <a:lstStyle/>
          <a:p>
            <a:fld id="{6264BDCF-5269-49AC-A246-ED26C2B980E3}" type="slidenum">
              <a:rPr lang="en-US" smtClean="0"/>
              <a:t>51</a:t>
            </a:fld>
            <a:endParaRPr lang="en-US"/>
          </a:p>
        </p:txBody>
      </p:sp>
    </p:spTree>
    <p:extLst>
      <p:ext uri="{BB962C8B-B14F-4D97-AF65-F5344CB8AC3E}">
        <p14:creationId xmlns:p14="http://schemas.microsoft.com/office/powerpoint/2010/main" val="3881228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1337D-64AB-0E75-7C1B-8C6D50DE78A8}"/>
              </a:ext>
            </a:extLst>
          </p:cNvPr>
          <p:cNvSpPr>
            <a:spLocks noGrp="1"/>
          </p:cNvSpPr>
          <p:nvPr>
            <p:ph type="title"/>
          </p:nvPr>
        </p:nvSpPr>
        <p:spPr/>
        <p:txBody>
          <a:bodyPr/>
          <a:lstStyle/>
          <a:p>
            <a:r>
              <a:rPr lang="en-US" dirty="0"/>
              <a:t>Buffering</a:t>
            </a:r>
          </a:p>
        </p:txBody>
      </p:sp>
      <p:sp>
        <p:nvSpPr>
          <p:cNvPr id="3" name="Content Placeholder 2">
            <a:extLst>
              <a:ext uri="{FF2B5EF4-FFF2-40B4-BE49-F238E27FC236}">
                <a16:creationId xmlns:a16="http://schemas.microsoft.com/office/drawing/2014/main" id="{BD30CD86-3ED2-74AA-2893-FEBB6638D453}"/>
              </a:ext>
            </a:extLst>
          </p:cNvPr>
          <p:cNvSpPr>
            <a:spLocks noGrp="1"/>
          </p:cNvSpPr>
          <p:nvPr>
            <p:ph idx="1"/>
          </p:nvPr>
        </p:nvSpPr>
        <p:spPr/>
        <p:txBody>
          <a:bodyPr/>
          <a:lstStyle/>
          <a:p>
            <a:r>
              <a:rPr lang="en-US" dirty="0"/>
              <a:t>blocks that are read from disk are stored temporarily in an in-memory buffer, to satisfy future requests</a:t>
            </a:r>
          </a:p>
          <a:p>
            <a:r>
              <a:rPr lang="en-US" dirty="0"/>
              <a:t>buffering is done by both operating system and database system</a:t>
            </a:r>
          </a:p>
        </p:txBody>
      </p:sp>
      <p:sp>
        <p:nvSpPr>
          <p:cNvPr id="4" name="Slide Number Placeholder 3">
            <a:extLst>
              <a:ext uri="{FF2B5EF4-FFF2-40B4-BE49-F238E27FC236}">
                <a16:creationId xmlns:a16="http://schemas.microsoft.com/office/drawing/2014/main" id="{FEE16343-FFB2-7FB9-FD77-43F527BBD44C}"/>
              </a:ext>
            </a:extLst>
          </p:cNvPr>
          <p:cNvSpPr>
            <a:spLocks noGrp="1"/>
          </p:cNvSpPr>
          <p:nvPr>
            <p:ph type="sldNum" sz="quarter" idx="12"/>
          </p:nvPr>
        </p:nvSpPr>
        <p:spPr/>
        <p:txBody>
          <a:bodyPr/>
          <a:lstStyle/>
          <a:p>
            <a:fld id="{6264BDCF-5269-49AC-A246-ED26C2B980E3}" type="slidenum">
              <a:rPr lang="en-US" smtClean="0"/>
              <a:t>52</a:t>
            </a:fld>
            <a:endParaRPr lang="en-US"/>
          </a:p>
        </p:txBody>
      </p:sp>
    </p:spTree>
    <p:extLst>
      <p:ext uri="{BB962C8B-B14F-4D97-AF65-F5344CB8AC3E}">
        <p14:creationId xmlns:p14="http://schemas.microsoft.com/office/powerpoint/2010/main" val="2067809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C7D47-9428-4596-CBBF-B89E9EB23C95}"/>
              </a:ext>
            </a:extLst>
          </p:cNvPr>
          <p:cNvSpPr>
            <a:spLocks noGrp="1"/>
          </p:cNvSpPr>
          <p:nvPr>
            <p:ph type="title"/>
          </p:nvPr>
        </p:nvSpPr>
        <p:spPr/>
        <p:txBody>
          <a:bodyPr/>
          <a:lstStyle/>
          <a:p>
            <a:r>
              <a:rPr lang="en-US" dirty="0"/>
              <a:t>Read-ahead</a:t>
            </a:r>
          </a:p>
        </p:txBody>
      </p:sp>
      <p:sp>
        <p:nvSpPr>
          <p:cNvPr id="3" name="Content Placeholder 2">
            <a:extLst>
              <a:ext uri="{FF2B5EF4-FFF2-40B4-BE49-F238E27FC236}">
                <a16:creationId xmlns:a16="http://schemas.microsoft.com/office/drawing/2014/main" id="{713B4DAE-C9EC-6AD8-1AE7-989B8E3B4CAF}"/>
              </a:ext>
            </a:extLst>
          </p:cNvPr>
          <p:cNvSpPr>
            <a:spLocks noGrp="1"/>
          </p:cNvSpPr>
          <p:nvPr>
            <p:ph idx="1"/>
          </p:nvPr>
        </p:nvSpPr>
        <p:spPr/>
        <p:txBody>
          <a:bodyPr>
            <a:normAutofit/>
          </a:bodyPr>
          <a:lstStyle/>
          <a:p>
            <a:r>
              <a:rPr lang="en-US" dirty="0"/>
              <a:t>when disk block is accessed, consecutive blocks from same track are read into an in-memory buffer even if there is no pending request</a:t>
            </a:r>
          </a:p>
          <a:p>
            <a:r>
              <a:rPr lang="en-US" dirty="0"/>
              <a:t>in case of sequential access ensures that many blocks are already in memory when they are requested, and it minimizes the time wasted in disk seeks</a:t>
            </a:r>
          </a:p>
          <a:p>
            <a:endParaRPr lang="en-US" dirty="0"/>
          </a:p>
          <a:p>
            <a:r>
              <a:rPr lang="en-US" sz="2600" dirty="0"/>
              <a:t>not very useful for random block accesses</a:t>
            </a:r>
          </a:p>
        </p:txBody>
      </p:sp>
      <p:sp>
        <p:nvSpPr>
          <p:cNvPr id="4" name="Slide Number Placeholder 3">
            <a:extLst>
              <a:ext uri="{FF2B5EF4-FFF2-40B4-BE49-F238E27FC236}">
                <a16:creationId xmlns:a16="http://schemas.microsoft.com/office/drawing/2014/main" id="{45DD9B5E-A801-BB91-F130-FAFDB6EF075F}"/>
              </a:ext>
            </a:extLst>
          </p:cNvPr>
          <p:cNvSpPr>
            <a:spLocks noGrp="1"/>
          </p:cNvSpPr>
          <p:nvPr>
            <p:ph type="sldNum" sz="quarter" idx="12"/>
          </p:nvPr>
        </p:nvSpPr>
        <p:spPr/>
        <p:txBody>
          <a:bodyPr/>
          <a:lstStyle/>
          <a:p>
            <a:fld id="{6264BDCF-5269-49AC-A246-ED26C2B980E3}" type="slidenum">
              <a:rPr lang="en-US" smtClean="0"/>
              <a:t>53</a:t>
            </a:fld>
            <a:endParaRPr lang="en-US"/>
          </a:p>
        </p:txBody>
      </p:sp>
    </p:spTree>
    <p:extLst>
      <p:ext uri="{BB962C8B-B14F-4D97-AF65-F5344CB8AC3E}">
        <p14:creationId xmlns:p14="http://schemas.microsoft.com/office/powerpoint/2010/main" val="10812796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2FC92-4EFC-5233-3F4C-A1686AFB0DE0}"/>
              </a:ext>
            </a:extLst>
          </p:cNvPr>
          <p:cNvSpPr>
            <a:spLocks noGrp="1"/>
          </p:cNvSpPr>
          <p:nvPr>
            <p:ph type="title"/>
          </p:nvPr>
        </p:nvSpPr>
        <p:spPr/>
        <p:txBody>
          <a:bodyPr/>
          <a:lstStyle/>
          <a:p>
            <a:r>
              <a:rPr lang="en-US" b="1" dirty="0"/>
              <a:t>Scheduling</a:t>
            </a:r>
            <a:endParaRPr lang="en-US" dirty="0"/>
          </a:p>
        </p:txBody>
      </p:sp>
      <p:sp>
        <p:nvSpPr>
          <p:cNvPr id="3" name="Content Placeholder 2">
            <a:extLst>
              <a:ext uri="{FF2B5EF4-FFF2-40B4-BE49-F238E27FC236}">
                <a16:creationId xmlns:a16="http://schemas.microsoft.com/office/drawing/2014/main" id="{D33F4E10-2351-0278-18A6-542D8B8B8CCC}"/>
              </a:ext>
            </a:extLst>
          </p:cNvPr>
          <p:cNvSpPr>
            <a:spLocks noGrp="1"/>
          </p:cNvSpPr>
          <p:nvPr>
            <p:ph idx="1"/>
          </p:nvPr>
        </p:nvSpPr>
        <p:spPr/>
        <p:txBody>
          <a:bodyPr>
            <a:noAutofit/>
          </a:bodyPr>
          <a:lstStyle/>
          <a:p>
            <a:r>
              <a:rPr lang="en-US" dirty="0"/>
              <a:t>if several blocks from disk need to be transferred we may be able to save access time by requesting blocks in order in which they will pass</a:t>
            </a:r>
          </a:p>
          <a:p>
            <a:r>
              <a:rPr lang="en-US" dirty="0"/>
              <a:t>commonly used algorithm is the elevator algorithm</a:t>
            </a:r>
          </a:p>
        </p:txBody>
      </p:sp>
      <p:sp>
        <p:nvSpPr>
          <p:cNvPr id="4" name="Slide Number Placeholder 3">
            <a:extLst>
              <a:ext uri="{FF2B5EF4-FFF2-40B4-BE49-F238E27FC236}">
                <a16:creationId xmlns:a16="http://schemas.microsoft.com/office/drawing/2014/main" id="{1759B763-C8EF-438A-9651-AAFD7104F34C}"/>
              </a:ext>
            </a:extLst>
          </p:cNvPr>
          <p:cNvSpPr>
            <a:spLocks noGrp="1"/>
          </p:cNvSpPr>
          <p:nvPr>
            <p:ph type="sldNum" sz="quarter" idx="12"/>
          </p:nvPr>
        </p:nvSpPr>
        <p:spPr/>
        <p:txBody>
          <a:bodyPr/>
          <a:lstStyle/>
          <a:p>
            <a:fld id="{6264BDCF-5269-49AC-A246-ED26C2B980E3}" type="slidenum">
              <a:rPr lang="en-US" smtClean="0"/>
              <a:t>54</a:t>
            </a:fld>
            <a:endParaRPr lang="en-US"/>
          </a:p>
        </p:txBody>
      </p:sp>
    </p:spTree>
    <p:extLst>
      <p:ext uri="{BB962C8B-B14F-4D97-AF65-F5344CB8AC3E}">
        <p14:creationId xmlns:p14="http://schemas.microsoft.com/office/powerpoint/2010/main" val="4119937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CD0AA-5894-D7A7-BE5C-5EF91F698664}"/>
              </a:ext>
            </a:extLst>
          </p:cNvPr>
          <p:cNvSpPr>
            <a:spLocks noGrp="1"/>
          </p:cNvSpPr>
          <p:nvPr>
            <p:ph type="title"/>
          </p:nvPr>
        </p:nvSpPr>
        <p:spPr/>
        <p:txBody>
          <a:bodyPr/>
          <a:lstStyle/>
          <a:p>
            <a:r>
              <a:rPr lang="en-US" b="1" dirty="0"/>
              <a:t>File organization</a:t>
            </a:r>
            <a:endParaRPr lang="en-US" dirty="0"/>
          </a:p>
        </p:txBody>
      </p:sp>
      <p:sp>
        <p:nvSpPr>
          <p:cNvPr id="3" name="Content Placeholder 2">
            <a:extLst>
              <a:ext uri="{FF2B5EF4-FFF2-40B4-BE49-F238E27FC236}">
                <a16:creationId xmlns:a16="http://schemas.microsoft.com/office/drawing/2014/main" id="{A8F94739-AE79-712B-DA71-324C51BC56BA}"/>
              </a:ext>
            </a:extLst>
          </p:cNvPr>
          <p:cNvSpPr>
            <a:spLocks noGrp="1"/>
          </p:cNvSpPr>
          <p:nvPr>
            <p:ph idx="1"/>
          </p:nvPr>
        </p:nvSpPr>
        <p:spPr/>
        <p:txBody>
          <a:bodyPr>
            <a:noAutofit/>
          </a:bodyPr>
          <a:lstStyle/>
          <a:p>
            <a:r>
              <a:rPr lang="en-US" dirty="0"/>
              <a:t>organize blocks on disk in a way that corresponds closely to the way we expect data to be accessed</a:t>
            </a:r>
          </a:p>
          <a:p>
            <a:r>
              <a:rPr lang="en-US" dirty="0"/>
              <a:t>allocating consecutive blocks of a file to disk blocks that are consecutively numbered, ensure that files are stored sequentially</a:t>
            </a:r>
          </a:p>
        </p:txBody>
      </p:sp>
      <p:sp>
        <p:nvSpPr>
          <p:cNvPr id="4" name="Slide Number Placeholder 3">
            <a:extLst>
              <a:ext uri="{FF2B5EF4-FFF2-40B4-BE49-F238E27FC236}">
                <a16:creationId xmlns:a16="http://schemas.microsoft.com/office/drawing/2014/main" id="{50A936E5-9FD6-2AFD-111C-29BF1A584552}"/>
              </a:ext>
            </a:extLst>
          </p:cNvPr>
          <p:cNvSpPr>
            <a:spLocks noGrp="1"/>
          </p:cNvSpPr>
          <p:nvPr>
            <p:ph type="sldNum" sz="quarter" idx="12"/>
          </p:nvPr>
        </p:nvSpPr>
        <p:spPr/>
        <p:txBody>
          <a:bodyPr/>
          <a:lstStyle/>
          <a:p>
            <a:fld id="{6264BDCF-5269-49AC-A246-ED26C2B980E3}" type="slidenum">
              <a:rPr lang="en-US" smtClean="0"/>
              <a:t>55</a:t>
            </a:fld>
            <a:endParaRPr lang="en-US"/>
          </a:p>
        </p:txBody>
      </p:sp>
    </p:spTree>
    <p:extLst>
      <p:ext uri="{BB962C8B-B14F-4D97-AF65-F5344CB8AC3E}">
        <p14:creationId xmlns:p14="http://schemas.microsoft.com/office/powerpoint/2010/main" val="26753324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D90D1-5E4F-E266-0681-6A91DB86EF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3183CA-39E7-E629-CBD4-0DC4B9F05BBD}"/>
              </a:ext>
            </a:extLst>
          </p:cNvPr>
          <p:cNvSpPr>
            <a:spLocks noGrp="1"/>
          </p:cNvSpPr>
          <p:nvPr>
            <p:ph idx="1"/>
          </p:nvPr>
        </p:nvSpPr>
        <p:spPr/>
        <p:txBody>
          <a:bodyPr>
            <a:noAutofit/>
          </a:bodyPr>
          <a:lstStyle/>
          <a:p>
            <a:r>
              <a:rPr lang="en-US" dirty="0"/>
              <a:t>allocate consecutive blocks (an </a:t>
            </a:r>
            <a:r>
              <a:rPr lang="en-US" i="1" dirty="0"/>
              <a:t>extent</a:t>
            </a:r>
            <a:r>
              <a:rPr lang="en-US" dirty="0"/>
              <a:t>) at a time to a file</a:t>
            </a:r>
          </a:p>
          <a:p>
            <a:r>
              <a:rPr lang="en-US" dirty="0"/>
              <a:t>over time, sequential file that has multiple small appends may become </a:t>
            </a:r>
            <a:r>
              <a:rPr lang="en-US" i="1" dirty="0"/>
              <a:t>fragmented</a:t>
            </a:r>
            <a:r>
              <a:rPr lang="en-US" dirty="0"/>
              <a:t>;</a:t>
            </a:r>
          </a:p>
          <a:p>
            <a:r>
              <a:rPr lang="en-US" dirty="0"/>
              <a:t>to reduce fragmentation, system can make backup copy of data on disk and restore entire disk - the restore operation writes back the blocks of each file contiguously (or nearly so)</a:t>
            </a:r>
          </a:p>
          <a:p>
            <a:endParaRPr lang="en-US" dirty="0"/>
          </a:p>
          <a:p>
            <a:r>
              <a:rPr lang="en-US" dirty="0"/>
              <a:t>performance increases realized from these techniques can be quite significant</a:t>
            </a:r>
          </a:p>
          <a:p>
            <a:endParaRPr lang="en-US" dirty="0"/>
          </a:p>
        </p:txBody>
      </p:sp>
      <p:sp>
        <p:nvSpPr>
          <p:cNvPr id="4" name="Slide Number Placeholder 3">
            <a:extLst>
              <a:ext uri="{FF2B5EF4-FFF2-40B4-BE49-F238E27FC236}">
                <a16:creationId xmlns:a16="http://schemas.microsoft.com/office/drawing/2014/main" id="{1CDBBB86-C18B-1E42-1CB0-DD253CA24650}"/>
              </a:ext>
            </a:extLst>
          </p:cNvPr>
          <p:cNvSpPr>
            <a:spLocks noGrp="1"/>
          </p:cNvSpPr>
          <p:nvPr>
            <p:ph type="sldNum" sz="quarter" idx="12"/>
          </p:nvPr>
        </p:nvSpPr>
        <p:spPr/>
        <p:txBody>
          <a:bodyPr/>
          <a:lstStyle/>
          <a:p>
            <a:fld id="{6264BDCF-5269-49AC-A246-ED26C2B980E3}" type="slidenum">
              <a:rPr lang="en-US" smtClean="0"/>
              <a:t>56</a:t>
            </a:fld>
            <a:endParaRPr lang="en-US"/>
          </a:p>
        </p:txBody>
      </p:sp>
    </p:spTree>
    <p:extLst>
      <p:ext uri="{BB962C8B-B14F-4D97-AF65-F5344CB8AC3E}">
        <p14:creationId xmlns:p14="http://schemas.microsoft.com/office/powerpoint/2010/main" val="28544520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2EE9C-4096-60CF-62E6-51ABC598D96F}"/>
              </a:ext>
            </a:extLst>
          </p:cNvPr>
          <p:cNvSpPr>
            <a:spLocks noGrp="1"/>
          </p:cNvSpPr>
          <p:nvPr>
            <p:ph type="title"/>
          </p:nvPr>
        </p:nvSpPr>
        <p:spPr/>
        <p:txBody>
          <a:bodyPr/>
          <a:lstStyle/>
          <a:p>
            <a:r>
              <a:rPr lang="en-US" b="1" dirty="0"/>
              <a:t>Non-volatile write buffer</a:t>
            </a:r>
            <a:endParaRPr lang="en-US" dirty="0"/>
          </a:p>
        </p:txBody>
      </p:sp>
      <p:sp>
        <p:nvSpPr>
          <p:cNvPr id="3" name="Content Placeholder 2">
            <a:extLst>
              <a:ext uri="{FF2B5EF4-FFF2-40B4-BE49-F238E27FC236}">
                <a16:creationId xmlns:a16="http://schemas.microsoft.com/office/drawing/2014/main" id="{E5EB861E-E403-B9C2-6CEF-09D7FA04DA1A}"/>
              </a:ext>
            </a:extLst>
          </p:cNvPr>
          <p:cNvSpPr>
            <a:spLocks noGrp="1"/>
          </p:cNvSpPr>
          <p:nvPr>
            <p:ph idx="1"/>
          </p:nvPr>
        </p:nvSpPr>
        <p:spPr/>
        <p:txBody>
          <a:bodyPr>
            <a:noAutofit/>
          </a:bodyPr>
          <a:lstStyle/>
          <a:p>
            <a:r>
              <a:rPr lang="en-US" dirty="0"/>
              <a:t>can use </a:t>
            </a:r>
            <a:r>
              <a:rPr lang="en-US" i="1" dirty="0"/>
              <a:t>non-volatile random-access memory </a:t>
            </a:r>
            <a:r>
              <a:rPr lang="en-US" dirty="0"/>
              <a:t>(NVRAM) to speed up disk writes</a:t>
            </a:r>
          </a:p>
        </p:txBody>
      </p:sp>
      <p:sp>
        <p:nvSpPr>
          <p:cNvPr id="4" name="Slide Number Placeholder 3">
            <a:extLst>
              <a:ext uri="{FF2B5EF4-FFF2-40B4-BE49-F238E27FC236}">
                <a16:creationId xmlns:a16="http://schemas.microsoft.com/office/drawing/2014/main" id="{06D09DA1-341C-D2AB-7A53-4BDD9409E98F}"/>
              </a:ext>
            </a:extLst>
          </p:cNvPr>
          <p:cNvSpPr>
            <a:spLocks noGrp="1"/>
          </p:cNvSpPr>
          <p:nvPr>
            <p:ph type="sldNum" sz="quarter" idx="12"/>
          </p:nvPr>
        </p:nvSpPr>
        <p:spPr/>
        <p:txBody>
          <a:bodyPr/>
          <a:lstStyle/>
          <a:p>
            <a:fld id="{6264BDCF-5269-49AC-A246-ED26C2B980E3}" type="slidenum">
              <a:rPr lang="en-US" smtClean="0"/>
              <a:t>57</a:t>
            </a:fld>
            <a:endParaRPr lang="en-US"/>
          </a:p>
        </p:txBody>
      </p:sp>
    </p:spTree>
    <p:extLst>
      <p:ext uri="{BB962C8B-B14F-4D97-AF65-F5344CB8AC3E}">
        <p14:creationId xmlns:p14="http://schemas.microsoft.com/office/powerpoint/2010/main" val="21489457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DAC8F-3212-6B48-C926-4D68713B8936}"/>
              </a:ext>
            </a:extLst>
          </p:cNvPr>
          <p:cNvSpPr>
            <a:spLocks noGrp="1"/>
          </p:cNvSpPr>
          <p:nvPr>
            <p:ph type="title"/>
          </p:nvPr>
        </p:nvSpPr>
        <p:spPr/>
        <p:txBody>
          <a:bodyPr/>
          <a:lstStyle/>
          <a:p>
            <a:r>
              <a:rPr lang="en-US" dirty="0"/>
              <a:t>Data Storage Structures</a:t>
            </a:r>
          </a:p>
        </p:txBody>
      </p:sp>
      <p:sp>
        <p:nvSpPr>
          <p:cNvPr id="3" name="Content Placeholder 2">
            <a:extLst>
              <a:ext uri="{FF2B5EF4-FFF2-40B4-BE49-F238E27FC236}">
                <a16:creationId xmlns:a16="http://schemas.microsoft.com/office/drawing/2014/main" id="{E691BFFA-0645-63D5-7960-D9C8EBA8C113}"/>
              </a:ext>
            </a:extLst>
          </p:cNvPr>
          <p:cNvSpPr>
            <a:spLocks noGrp="1"/>
          </p:cNvSpPr>
          <p:nvPr>
            <p:ph idx="1"/>
          </p:nvPr>
        </p:nvSpPr>
        <p:spPr/>
        <p:txBody>
          <a:bodyPr>
            <a:normAutofit/>
          </a:bodyPr>
          <a:lstStyle/>
          <a:p>
            <a:r>
              <a:rPr lang="en-US" dirty="0"/>
              <a:t>persistent data are stored on non-volatile storage, which, are block structured devices, that is, data are read or written in units of a block / page</a:t>
            </a:r>
          </a:p>
          <a:p>
            <a:r>
              <a:rPr lang="en-US" dirty="0"/>
              <a:t>databases deal with records, which are usually much smaller than a block</a:t>
            </a:r>
          </a:p>
          <a:p>
            <a:r>
              <a:rPr lang="en-US" dirty="0"/>
              <a:t>records are stored in files, taking block structure into account</a:t>
            </a:r>
          </a:p>
        </p:txBody>
      </p:sp>
      <p:sp>
        <p:nvSpPr>
          <p:cNvPr id="4" name="Slide Number Placeholder 3">
            <a:extLst>
              <a:ext uri="{FF2B5EF4-FFF2-40B4-BE49-F238E27FC236}">
                <a16:creationId xmlns:a16="http://schemas.microsoft.com/office/drawing/2014/main" id="{497E3DE1-BC9A-D0DF-EE37-FFBDAD50472E}"/>
              </a:ext>
            </a:extLst>
          </p:cNvPr>
          <p:cNvSpPr>
            <a:spLocks noGrp="1"/>
          </p:cNvSpPr>
          <p:nvPr>
            <p:ph type="sldNum" sz="quarter" idx="12"/>
          </p:nvPr>
        </p:nvSpPr>
        <p:spPr/>
        <p:txBody>
          <a:bodyPr/>
          <a:lstStyle/>
          <a:p>
            <a:fld id="{6264BDCF-5269-49AC-A246-ED26C2B980E3}" type="slidenum">
              <a:rPr lang="en-US" smtClean="0"/>
              <a:t>58</a:t>
            </a:fld>
            <a:endParaRPr lang="en-US"/>
          </a:p>
        </p:txBody>
      </p:sp>
    </p:spTree>
    <p:extLst>
      <p:ext uri="{BB962C8B-B14F-4D97-AF65-F5344CB8AC3E}">
        <p14:creationId xmlns:p14="http://schemas.microsoft.com/office/powerpoint/2010/main" val="3292598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4D85E-D922-7DFC-2E3C-9FB070B98C0B}"/>
              </a:ext>
            </a:extLst>
          </p:cNvPr>
          <p:cNvSpPr>
            <a:spLocks noGrp="1"/>
          </p:cNvSpPr>
          <p:nvPr>
            <p:ph type="title"/>
          </p:nvPr>
        </p:nvSpPr>
        <p:spPr/>
        <p:txBody>
          <a:bodyPr/>
          <a:lstStyle/>
          <a:p>
            <a:r>
              <a:rPr lang="en-US" dirty="0"/>
              <a:t>File Organization</a:t>
            </a:r>
          </a:p>
        </p:txBody>
      </p:sp>
      <p:sp>
        <p:nvSpPr>
          <p:cNvPr id="3" name="Content Placeholder 2">
            <a:extLst>
              <a:ext uri="{FF2B5EF4-FFF2-40B4-BE49-F238E27FC236}">
                <a16:creationId xmlns:a16="http://schemas.microsoft.com/office/drawing/2014/main" id="{4FB8AECC-C66D-59BA-10E6-CF94A9A6D34A}"/>
              </a:ext>
            </a:extLst>
          </p:cNvPr>
          <p:cNvSpPr>
            <a:spLocks noGrp="1"/>
          </p:cNvSpPr>
          <p:nvPr>
            <p:ph idx="1"/>
          </p:nvPr>
        </p:nvSpPr>
        <p:spPr/>
        <p:txBody>
          <a:bodyPr>
            <a:noAutofit/>
          </a:bodyPr>
          <a:lstStyle/>
          <a:p>
            <a:r>
              <a:rPr lang="en-US" dirty="0"/>
              <a:t>database is mapped into several different files that are maintained by operating system</a:t>
            </a:r>
          </a:p>
          <a:p>
            <a:r>
              <a:rPr lang="en-US" dirty="0"/>
              <a:t>file is organized logically as a sequence of records, records are mapped onto disk blocks</a:t>
            </a:r>
          </a:p>
          <a:p>
            <a:r>
              <a:rPr lang="en-US" dirty="0"/>
              <a:t>most databases use block sizes of 4 to 8 kilobytes by default, but many databases allow block size to be specified when database instance is created</a:t>
            </a:r>
          </a:p>
          <a:p>
            <a:r>
              <a:rPr lang="en-US" dirty="0"/>
              <a:t>assume that </a:t>
            </a:r>
            <a:r>
              <a:rPr lang="en-US" i="1" dirty="0"/>
              <a:t>no record is larger than a block: </a:t>
            </a:r>
            <a:r>
              <a:rPr lang="en-US" dirty="0"/>
              <a:t>realistic for most data-processing applications</a:t>
            </a:r>
          </a:p>
        </p:txBody>
      </p:sp>
      <p:sp>
        <p:nvSpPr>
          <p:cNvPr id="4" name="Slide Number Placeholder 3">
            <a:extLst>
              <a:ext uri="{FF2B5EF4-FFF2-40B4-BE49-F238E27FC236}">
                <a16:creationId xmlns:a16="http://schemas.microsoft.com/office/drawing/2014/main" id="{B5CEA179-0165-DDAC-1628-8DBD8DADAEBE}"/>
              </a:ext>
            </a:extLst>
          </p:cNvPr>
          <p:cNvSpPr>
            <a:spLocks noGrp="1"/>
          </p:cNvSpPr>
          <p:nvPr>
            <p:ph type="sldNum" sz="quarter" idx="12"/>
          </p:nvPr>
        </p:nvSpPr>
        <p:spPr/>
        <p:txBody>
          <a:bodyPr/>
          <a:lstStyle/>
          <a:p>
            <a:fld id="{6264BDCF-5269-49AC-A246-ED26C2B980E3}" type="slidenum">
              <a:rPr lang="en-US" smtClean="0"/>
              <a:t>59</a:t>
            </a:fld>
            <a:endParaRPr lang="en-US"/>
          </a:p>
        </p:txBody>
      </p:sp>
    </p:spTree>
    <p:extLst>
      <p:ext uri="{BB962C8B-B14F-4D97-AF65-F5344CB8AC3E}">
        <p14:creationId xmlns:p14="http://schemas.microsoft.com/office/powerpoint/2010/main" val="14590590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58688-5D80-B237-9B0F-6F3B25DFF37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32BB481-B83C-63A0-57D1-E6F6830DE1A8}"/>
              </a:ext>
            </a:extLst>
          </p:cNvPr>
          <p:cNvSpPr>
            <a:spLocks noGrp="1"/>
          </p:cNvSpPr>
          <p:nvPr>
            <p:ph idx="1"/>
          </p:nvPr>
        </p:nvSpPr>
        <p:spPr/>
        <p:txBody>
          <a:bodyPr/>
          <a:lstStyle/>
          <a:p>
            <a:r>
              <a:rPr lang="en-US" dirty="0"/>
              <a:t>in relational database, tuples of distinct relations are generally of different sizes</a:t>
            </a:r>
          </a:p>
          <a:p>
            <a:r>
              <a:rPr lang="en-US" dirty="0"/>
              <a:t>alternative is to structure our files so that we can accommodate multiple lengths for records</a:t>
            </a:r>
          </a:p>
          <a:p>
            <a:r>
              <a:rPr lang="en-US" dirty="0"/>
              <a:t>files of fixed-length records are easier to implement than are files of variable-length records</a:t>
            </a:r>
          </a:p>
          <a:p>
            <a:endParaRPr lang="en-US" dirty="0"/>
          </a:p>
        </p:txBody>
      </p:sp>
      <p:sp>
        <p:nvSpPr>
          <p:cNvPr id="4" name="Slide Number Placeholder 3">
            <a:extLst>
              <a:ext uri="{FF2B5EF4-FFF2-40B4-BE49-F238E27FC236}">
                <a16:creationId xmlns:a16="http://schemas.microsoft.com/office/drawing/2014/main" id="{74FBAC53-2D5F-76E0-49E1-6937DCDCB03B}"/>
              </a:ext>
            </a:extLst>
          </p:cNvPr>
          <p:cNvSpPr>
            <a:spLocks noGrp="1"/>
          </p:cNvSpPr>
          <p:nvPr>
            <p:ph type="sldNum" sz="quarter" idx="12"/>
          </p:nvPr>
        </p:nvSpPr>
        <p:spPr/>
        <p:txBody>
          <a:bodyPr/>
          <a:lstStyle/>
          <a:p>
            <a:fld id="{6264BDCF-5269-49AC-A246-ED26C2B980E3}" type="slidenum">
              <a:rPr lang="en-US" smtClean="0"/>
              <a:t>60</a:t>
            </a:fld>
            <a:endParaRPr lang="en-US"/>
          </a:p>
        </p:txBody>
      </p:sp>
    </p:spTree>
    <p:extLst>
      <p:ext uri="{BB962C8B-B14F-4D97-AF65-F5344CB8AC3E}">
        <p14:creationId xmlns:p14="http://schemas.microsoft.com/office/powerpoint/2010/main" val="13645136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03479-EC7E-9603-5E98-5D2B1A90D31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325D74-0F5F-9977-009B-278C9C80989F}"/>
              </a:ext>
            </a:extLst>
          </p:cNvPr>
          <p:cNvSpPr>
            <a:spLocks noGrp="1"/>
          </p:cNvSpPr>
          <p:nvPr>
            <p:ph idx="1"/>
          </p:nvPr>
        </p:nvSpPr>
        <p:spPr>
          <a:xfrm>
            <a:off x="838200" y="365125"/>
            <a:ext cx="10515600" cy="5811838"/>
          </a:xfrm>
        </p:spPr>
        <p:txBody>
          <a:bodyPr>
            <a:normAutofit/>
          </a:bodyPr>
          <a:lstStyle/>
          <a:p>
            <a:r>
              <a:rPr lang="en-US" b="1" dirty="0"/>
              <a:t>type </a:t>
            </a:r>
            <a:r>
              <a:rPr lang="en-US" i="1" dirty="0"/>
              <a:t>employee </a:t>
            </a:r>
            <a:r>
              <a:rPr lang="en-US" dirty="0"/>
              <a:t>= </a:t>
            </a:r>
            <a:r>
              <a:rPr lang="en-US" b="1" dirty="0"/>
              <a:t>record</a:t>
            </a:r>
          </a:p>
          <a:p>
            <a:r>
              <a:rPr lang="en-US" i="1" dirty="0"/>
              <a:t> 	ID </a:t>
            </a:r>
            <a:r>
              <a:rPr lang="en-US" b="1" dirty="0"/>
              <a:t>varchar </a:t>
            </a:r>
            <a:r>
              <a:rPr lang="en-US" dirty="0"/>
              <a:t>(5);</a:t>
            </a:r>
          </a:p>
          <a:p>
            <a:r>
              <a:rPr lang="en-US" i="1" dirty="0"/>
              <a:t> 	name </a:t>
            </a:r>
            <a:r>
              <a:rPr lang="en-US" b="1" dirty="0"/>
              <a:t>varchar</a:t>
            </a:r>
            <a:r>
              <a:rPr lang="en-US" dirty="0"/>
              <a:t>(20);</a:t>
            </a:r>
          </a:p>
          <a:p>
            <a:r>
              <a:rPr lang="en-US" i="1" dirty="0"/>
              <a:t> 	</a:t>
            </a:r>
            <a:r>
              <a:rPr lang="en-US" i="1" dirty="0" err="1"/>
              <a:t>dept_name</a:t>
            </a:r>
            <a:r>
              <a:rPr lang="en-US" i="1" dirty="0"/>
              <a:t> </a:t>
            </a:r>
            <a:r>
              <a:rPr lang="en-US" b="1" dirty="0"/>
              <a:t>varchar </a:t>
            </a:r>
            <a:r>
              <a:rPr lang="en-US" dirty="0"/>
              <a:t>(20);</a:t>
            </a:r>
          </a:p>
          <a:p>
            <a:r>
              <a:rPr lang="en-US" i="1" dirty="0"/>
              <a:t> 	salary </a:t>
            </a:r>
            <a:r>
              <a:rPr lang="en-US" b="1" dirty="0"/>
              <a:t>numeric </a:t>
            </a:r>
            <a:r>
              <a:rPr lang="en-US" dirty="0"/>
              <a:t>(8,2);</a:t>
            </a:r>
          </a:p>
          <a:p>
            <a:r>
              <a:rPr lang="en-US" b="1" dirty="0"/>
              <a:t>end</a:t>
            </a:r>
          </a:p>
          <a:p>
            <a:r>
              <a:rPr lang="en-US" i="1" dirty="0"/>
              <a:t>employee </a:t>
            </a:r>
            <a:r>
              <a:rPr lang="en-US" dirty="0"/>
              <a:t>record is 53 bytes long</a:t>
            </a:r>
          </a:p>
          <a:p>
            <a:r>
              <a:rPr lang="en-US" dirty="0"/>
              <a:t>simple approach is to use the first 53 bytes for the first record, the next 53 bytes for the second record, and so on, …</a:t>
            </a:r>
          </a:p>
          <a:p>
            <a:endParaRPr lang="en-US" dirty="0"/>
          </a:p>
        </p:txBody>
      </p:sp>
      <p:sp>
        <p:nvSpPr>
          <p:cNvPr id="4" name="Slide Number Placeholder 3">
            <a:extLst>
              <a:ext uri="{FF2B5EF4-FFF2-40B4-BE49-F238E27FC236}">
                <a16:creationId xmlns:a16="http://schemas.microsoft.com/office/drawing/2014/main" id="{79D9505C-E19D-6B50-B18F-77D41677174C}"/>
              </a:ext>
            </a:extLst>
          </p:cNvPr>
          <p:cNvSpPr>
            <a:spLocks noGrp="1"/>
          </p:cNvSpPr>
          <p:nvPr>
            <p:ph type="sldNum" sz="quarter" idx="12"/>
          </p:nvPr>
        </p:nvSpPr>
        <p:spPr/>
        <p:txBody>
          <a:bodyPr/>
          <a:lstStyle/>
          <a:p>
            <a:fld id="{6264BDCF-5269-49AC-A246-ED26C2B980E3}" type="slidenum">
              <a:rPr lang="en-US" smtClean="0"/>
              <a:t>61</a:t>
            </a:fld>
            <a:endParaRPr lang="en-US"/>
          </a:p>
        </p:txBody>
      </p:sp>
    </p:spTree>
    <p:extLst>
      <p:ext uri="{BB962C8B-B14F-4D97-AF65-F5344CB8AC3E}">
        <p14:creationId xmlns:p14="http://schemas.microsoft.com/office/powerpoint/2010/main" val="22071838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D02468A-9A91-8B4A-B6B6-A22EB2D29037}"/>
              </a:ext>
            </a:extLst>
          </p:cNvPr>
          <p:cNvSpPr>
            <a:spLocks noGrp="1"/>
          </p:cNvSpPr>
          <p:nvPr>
            <p:ph type="title"/>
          </p:nvPr>
        </p:nvSpPr>
        <p:spPr/>
        <p:txBody>
          <a:bodyPr/>
          <a:lstStyle/>
          <a:p>
            <a:r>
              <a:rPr lang="en-US" dirty="0"/>
              <a:t>problems with this simple approach</a:t>
            </a:r>
          </a:p>
        </p:txBody>
      </p:sp>
      <p:sp>
        <p:nvSpPr>
          <p:cNvPr id="6" name="Content Placeholder 5">
            <a:extLst>
              <a:ext uri="{FF2B5EF4-FFF2-40B4-BE49-F238E27FC236}">
                <a16:creationId xmlns:a16="http://schemas.microsoft.com/office/drawing/2014/main" id="{B2014B50-AB8F-022B-F214-E7307090CE96}"/>
              </a:ext>
            </a:extLst>
          </p:cNvPr>
          <p:cNvSpPr>
            <a:spLocks noGrp="1"/>
          </p:cNvSpPr>
          <p:nvPr>
            <p:ph sz="half" idx="1"/>
          </p:nvPr>
        </p:nvSpPr>
        <p:spPr/>
        <p:txBody>
          <a:bodyPr>
            <a:normAutofit/>
          </a:bodyPr>
          <a:lstStyle/>
          <a:p>
            <a:r>
              <a:rPr lang="en-US" dirty="0"/>
              <a:t>unless the block size happens to be multiple of 53 (which is unlikely), some records will cross block boundaries</a:t>
            </a:r>
          </a:p>
          <a:p>
            <a:r>
              <a:rPr lang="en-US" dirty="0"/>
              <a:t>part of the record will be stored in one block and part in another - it would thus require two block accesses to read or write such a record</a:t>
            </a:r>
          </a:p>
        </p:txBody>
      </p:sp>
      <p:sp>
        <p:nvSpPr>
          <p:cNvPr id="7" name="Content Placeholder 6">
            <a:extLst>
              <a:ext uri="{FF2B5EF4-FFF2-40B4-BE49-F238E27FC236}">
                <a16:creationId xmlns:a16="http://schemas.microsoft.com/office/drawing/2014/main" id="{8492AE30-3B9F-44E1-0480-703FBD3A7D4C}"/>
              </a:ext>
            </a:extLst>
          </p:cNvPr>
          <p:cNvSpPr>
            <a:spLocks noGrp="1"/>
          </p:cNvSpPr>
          <p:nvPr>
            <p:ph sz="half" idx="2"/>
          </p:nvPr>
        </p:nvSpPr>
        <p:spPr/>
        <p:txBody>
          <a:bodyPr>
            <a:normAutofit/>
          </a:bodyPr>
          <a:lstStyle/>
          <a:p>
            <a:r>
              <a:rPr lang="en-US" dirty="0"/>
              <a:t>difficult to delete a record from this structure</a:t>
            </a:r>
          </a:p>
          <a:p>
            <a:r>
              <a:rPr lang="en-US" dirty="0"/>
              <a:t>space occupied by record to be deleted must be filled with some other record of the file, or we must have a way of marking deleted records so that they can be ignored</a:t>
            </a:r>
          </a:p>
        </p:txBody>
      </p:sp>
      <p:sp>
        <p:nvSpPr>
          <p:cNvPr id="4" name="Slide Number Placeholder 3">
            <a:extLst>
              <a:ext uri="{FF2B5EF4-FFF2-40B4-BE49-F238E27FC236}">
                <a16:creationId xmlns:a16="http://schemas.microsoft.com/office/drawing/2014/main" id="{D4ED38E3-D026-7C87-00B3-D63A618557BA}"/>
              </a:ext>
            </a:extLst>
          </p:cNvPr>
          <p:cNvSpPr>
            <a:spLocks noGrp="1"/>
          </p:cNvSpPr>
          <p:nvPr>
            <p:ph type="sldNum" sz="quarter" idx="12"/>
          </p:nvPr>
        </p:nvSpPr>
        <p:spPr/>
        <p:txBody>
          <a:bodyPr/>
          <a:lstStyle/>
          <a:p>
            <a:fld id="{6264BDCF-5269-49AC-A246-ED26C2B980E3}" type="slidenum">
              <a:rPr lang="en-US" smtClean="0"/>
              <a:t>62</a:t>
            </a:fld>
            <a:endParaRPr lang="en-US"/>
          </a:p>
        </p:txBody>
      </p:sp>
    </p:spTree>
    <p:extLst>
      <p:ext uri="{BB962C8B-B14F-4D97-AF65-F5344CB8AC3E}">
        <p14:creationId xmlns:p14="http://schemas.microsoft.com/office/powerpoint/2010/main" val="8270368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76468-156A-35B8-3D2A-3B06038C8F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D6EA6E1-59EA-4DAD-C050-ED8640869E54}"/>
              </a:ext>
            </a:extLst>
          </p:cNvPr>
          <p:cNvSpPr>
            <a:spLocks noGrp="1"/>
          </p:cNvSpPr>
          <p:nvPr>
            <p:ph idx="1"/>
          </p:nvPr>
        </p:nvSpPr>
        <p:spPr/>
        <p:txBody>
          <a:bodyPr>
            <a:normAutofit/>
          </a:bodyPr>
          <a:lstStyle/>
          <a:p>
            <a:r>
              <a:rPr lang="en-US" dirty="0"/>
              <a:t>to avoid the first problem, we allocate only as many records to block as would fit entirely in block (number computed by dividing block size by record size) - any remaining bytes of each block are left unused</a:t>
            </a:r>
          </a:p>
          <a:p>
            <a:r>
              <a:rPr lang="en-US" dirty="0"/>
              <a:t>at beginning of file, we allocate a certain number of bytes as file header</a:t>
            </a:r>
          </a:p>
          <a:p>
            <a:r>
              <a:rPr lang="en-US" dirty="0"/>
              <a:t>header will contain information about file including the address of first record whose contents are deleted; then we use this record to store the address of second deleted record – available - and so on</a:t>
            </a:r>
          </a:p>
          <a:p>
            <a:r>
              <a:rPr lang="en-US" dirty="0"/>
              <a:t>deleted records thus form a linked list</a:t>
            </a:r>
          </a:p>
        </p:txBody>
      </p:sp>
      <p:sp>
        <p:nvSpPr>
          <p:cNvPr id="4" name="Slide Number Placeholder 3">
            <a:extLst>
              <a:ext uri="{FF2B5EF4-FFF2-40B4-BE49-F238E27FC236}">
                <a16:creationId xmlns:a16="http://schemas.microsoft.com/office/drawing/2014/main" id="{0C9CD923-9526-42C3-F4DD-4186FF5640A7}"/>
              </a:ext>
            </a:extLst>
          </p:cNvPr>
          <p:cNvSpPr>
            <a:spLocks noGrp="1"/>
          </p:cNvSpPr>
          <p:nvPr>
            <p:ph type="sldNum" sz="quarter" idx="12"/>
          </p:nvPr>
        </p:nvSpPr>
        <p:spPr/>
        <p:txBody>
          <a:bodyPr/>
          <a:lstStyle/>
          <a:p>
            <a:fld id="{6264BDCF-5269-49AC-A246-ED26C2B980E3}" type="slidenum">
              <a:rPr lang="en-US" smtClean="0"/>
              <a:t>63</a:t>
            </a:fld>
            <a:endParaRPr lang="en-US"/>
          </a:p>
        </p:txBody>
      </p:sp>
    </p:spTree>
    <p:extLst>
      <p:ext uri="{BB962C8B-B14F-4D97-AF65-F5344CB8AC3E}">
        <p14:creationId xmlns:p14="http://schemas.microsoft.com/office/powerpoint/2010/main" val="11890772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4D838-4AF8-D479-C6FD-594C1227271C}"/>
              </a:ext>
            </a:extLst>
          </p:cNvPr>
          <p:cNvSpPr>
            <a:spLocks noGrp="1"/>
          </p:cNvSpPr>
          <p:nvPr>
            <p:ph type="title"/>
          </p:nvPr>
        </p:nvSpPr>
        <p:spPr/>
        <p:txBody>
          <a:bodyPr/>
          <a:lstStyle/>
          <a:p>
            <a:r>
              <a:rPr lang="en-US" dirty="0"/>
              <a:t>Storing Large Objects</a:t>
            </a:r>
          </a:p>
        </p:txBody>
      </p:sp>
      <p:sp>
        <p:nvSpPr>
          <p:cNvPr id="3" name="Content Placeholder 2">
            <a:extLst>
              <a:ext uri="{FF2B5EF4-FFF2-40B4-BE49-F238E27FC236}">
                <a16:creationId xmlns:a16="http://schemas.microsoft.com/office/drawing/2014/main" id="{66727F3A-5247-8E97-C5A5-0776A83FE1C8}"/>
              </a:ext>
            </a:extLst>
          </p:cNvPr>
          <p:cNvSpPr>
            <a:spLocks noGrp="1"/>
          </p:cNvSpPr>
          <p:nvPr>
            <p:ph idx="1"/>
          </p:nvPr>
        </p:nvSpPr>
        <p:spPr/>
        <p:txBody>
          <a:bodyPr>
            <a:normAutofit/>
          </a:bodyPr>
          <a:lstStyle/>
          <a:p>
            <a:r>
              <a:rPr lang="en-US" dirty="0"/>
              <a:t>many databases internally restrict size of record to be no larger than size of a block</a:t>
            </a:r>
          </a:p>
          <a:p>
            <a:r>
              <a:rPr lang="en-US" dirty="0"/>
              <a:t>many databases allow records to logically contain large objects, but they store the large objects separate from the other attributes of records in which they occur; a (logical) pointer to object is then stored in the record containing the large object</a:t>
            </a:r>
          </a:p>
          <a:p>
            <a:r>
              <a:rPr lang="en-US" dirty="0"/>
              <a:t>large objects may be stored either as files in file system area managed by  database, or as file structures stored in and managed by database</a:t>
            </a:r>
          </a:p>
          <a:p>
            <a:endParaRPr lang="en-US" dirty="0"/>
          </a:p>
        </p:txBody>
      </p:sp>
      <p:sp>
        <p:nvSpPr>
          <p:cNvPr id="4" name="Slide Number Placeholder 3">
            <a:extLst>
              <a:ext uri="{FF2B5EF4-FFF2-40B4-BE49-F238E27FC236}">
                <a16:creationId xmlns:a16="http://schemas.microsoft.com/office/drawing/2014/main" id="{458FCD7E-DCDF-B97D-E276-DFB02A90DFD8}"/>
              </a:ext>
            </a:extLst>
          </p:cNvPr>
          <p:cNvSpPr>
            <a:spLocks noGrp="1"/>
          </p:cNvSpPr>
          <p:nvPr>
            <p:ph type="sldNum" sz="quarter" idx="12"/>
          </p:nvPr>
        </p:nvSpPr>
        <p:spPr/>
        <p:txBody>
          <a:bodyPr/>
          <a:lstStyle/>
          <a:p>
            <a:fld id="{6264BDCF-5269-49AC-A246-ED26C2B980E3}" type="slidenum">
              <a:rPr lang="en-US" smtClean="0"/>
              <a:t>64</a:t>
            </a:fld>
            <a:endParaRPr lang="en-US"/>
          </a:p>
        </p:txBody>
      </p:sp>
    </p:spTree>
    <p:extLst>
      <p:ext uri="{BB962C8B-B14F-4D97-AF65-F5344CB8AC3E}">
        <p14:creationId xmlns:p14="http://schemas.microsoft.com/office/powerpoint/2010/main" val="39900665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F9B73-5475-9CCD-A121-1C2C0E78442C}"/>
              </a:ext>
            </a:extLst>
          </p:cNvPr>
          <p:cNvSpPr>
            <a:spLocks noGrp="1"/>
          </p:cNvSpPr>
          <p:nvPr>
            <p:ph type="title"/>
          </p:nvPr>
        </p:nvSpPr>
        <p:spPr/>
        <p:txBody>
          <a:bodyPr/>
          <a:lstStyle/>
          <a:p>
            <a:r>
              <a:rPr lang="en-US" dirty="0"/>
              <a:t>performance issues with storing large objects in databases</a:t>
            </a:r>
          </a:p>
        </p:txBody>
      </p:sp>
      <p:sp>
        <p:nvSpPr>
          <p:cNvPr id="3" name="Content Placeholder 2">
            <a:extLst>
              <a:ext uri="{FF2B5EF4-FFF2-40B4-BE49-F238E27FC236}">
                <a16:creationId xmlns:a16="http://schemas.microsoft.com/office/drawing/2014/main" id="{8E47FE38-2D4E-7F4E-E36C-8F62CDE6B73C}"/>
              </a:ext>
            </a:extLst>
          </p:cNvPr>
          <p:cNvSpPr>
            <a:spLocks noGrp="1"/>
          </p:cNvSpPr>
          <p:nvPr>
            <p:ph idx="1"/>
          </p:nvPr>
        </p:nvSpPr>
        <p:spPr/>
        <p:txBody>
          <a:bodyPr>
            <a:noAutofit/>
          </a:bodyPr>
          <a:lstStyle/>
          <a:p>
            <a:r>
              <a:rPr lang="en-US" dirty="0"/>
              <a:t>efficiency of accessing large objects via database interfaces</a:t>
            </a:r>
          </a:p>
          <a:p>
            <a:r>
              <a:rPr lang="en-US" dirty="0"/>
              <a:t>size of database backups.</a:t>
            </a:r>
          </a:p>
          <a:p>
            <a:r>
              <a:rPr lang="en-US" dirty="0"/>
              <a:t>enterprises periodically create “database dumps” that is, backup copies of their databases; storing large objects in database can result in large increase in the size of the database dumps</a:t>
            </a:r>
          </a:p>
          <a:p>
            <a:r>
              <a:rPr lang="en-US" dirty="0"/>
              <a:t>many database applications therefore choose to store very large objects outside of the database, in file system - in such cases, application may store file name (usually path in file system) as an attribute of a record in the database</a:t>
            </a:r>
          </a:p>
        </p:txBody>
      </p:sp>
      <p:sp>
        <p:nvSpPr>
          <p:cNvPr id="4" name="Slide Number Placeholder 3">
            <a:extLst>
              <a:ext uri="{FF2B5EF4-FFF2-40B4-BE49-F238E27FC236}">
                <a16:creationId xmlns:a16="http://schemas.microsoft.com/office/drawing/2014/main" id="{74AADBBD-D900-0E1F-667F-96775E4BB0BE}"/>
              </a:ext>
            </a:extLst>
          </p:cNvPr>
          <p:cNvSpPr>
            <a:spLocks noGrp="1"/>
          </p:cNvSpPr>
          <p:nvPr>
            <p:ph type="sldNum" sz="quarter" idx="12"/>
          </p:nvPr>
        </p:nvSpPr>
        <p:spPr/>
        <p:txBody>
          <a:bodyPr/>
          <a:lstStyle/>
          <a:p>
            <a:fld id="{6264BDCF-5269-49AC-A246-ED26C2B980E3}" type="slidenum">
              <a:rPr lang="en-US" smtClean="0"/>
              <a:t>65</a:t>
            </a:fld>
            <a:endParaRPr lang="en-US"/>
          </a:p>
        </p:txBody>
      </p:sp>
    </p:spTree>
    <p:extLst>
      <p:ext uri="{BB962C8B-B14F-4D97-AF65-F5344CB8AC3E}">
        <p14:creationId xmlns:p14="http://schemas.microsoft.com/office/powerpoint/2010/main" val="21653663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A8371-87AA-F92D-A8ED-7CEE9E8357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38209CB-463B-005A-C852-33EDF23926DD}"/>
              </a:ext>
            </a:extLst>
          </p:cNvPr>
          <p:cNvSpPr>
            <a:spLocks noGrp="1"/>
          </p:cNvSpPr>
          <p:nvPr>
            <p:ph idx="1"/>
          </p:nvPr>
        </p:nvSpPr>
        <p:spPr/>
        <p:txBody>
          <a:bodyPr/>
          <a:lstStyle/>
          <a:p>
            <a:r>
              <a:rPr lang="en-US" dirty="0"/>
              <a:t>storing data in files outside the database can result in file names in database pointing to files that do not exist, perhaps because they have been deleted, which results in a form of foreign-key constraint violation</a:t>
            </a:r>
          </a:p>
          <a:p>
            <a:r>
              <a:rPr lang="en-US" dirty="0"/>
              <a:t>further, database authorization controls are not applicable to data stored in the file system</a:t>
            </a:r>
          </a:p>
          <a:p>
            <a:endParaRPr lang="en-US" dirty="0"/>
          </a:p>
        </p:txBody>
      </p:sp>
      <p:sp>
        <p:nvSpPr>
          <p:cNvPr id="4" name="Slide Number Placeholder 3">
            <a:extLst>
              <a:ext uri="{FF2B5EF4-FFF2-40B4-BE49-F238E27FC236}">
                <a16:creationId xmlns:a16="http://schemas.microsoft.com/office/drawing/2014/main" id="{D7EB80E0-2188-1E73-578F-B850497A8AAD}"/>
              </a:ext>
            </a:extLst>
          </p:cNvPr>
          <p:cNvSpPr>
            <a:spLocks noGrp="1"/>
          </p:cNvSpPr>
          <p:nvPr>
            <p:ph type="sldNum" sz="quarter" idx="12"/>
          </p:nvPr>
        </p:nvSpPr>
        <p:spPr/>
        <p:txBody>
          <a:bodyPr/>
          <a:lstStyle/>
          <a:p>
            <a:fld id="{6264BDCF-5269-49AC-A246-ED26C2B980E3}" type="slidenum">
              <a:rPr lang="en-US" smtClean="0"/>
              <a:t>66</a:t>
            </a:fld>
            <a:endParaRPr lang="en-US"/>
          </a:p>
        </p:txBody>
      </p:sp>
    </p:spTree>
    <p:extLst>
      <p:ext uri="{BB962C8B-B14F-4D97-AF65-F5344CB8AC3E}">
        <p14:creationId xmlns:p14="http://schemas.microsoft.com/office/powerpoint/2010/main" val="14545410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D63FE-3CC3-9252-B749-864012D80A65}"/>
              </a:ext>
            </a:extLst>
          </p:cNvPr>
          <p:cNvSpPr>
            <a:spLocks noGrp="1"/>
          </p:cNvSpPr>
          <p:nvPr>
            <p:ph type="title"/>
          </p:nvPr>
        </p:nvSpPr>
        <p:spPr/>
        <p:txBody>
          <a:bodyPr/>
          <a:lstStyle/>
          <a:p>
            <a:r>
              <a:rPr lang="en-US" dirty="0"/>
              <a:t>Organization of Records in Files</a:t>
            </a:r>
          </a:p>
        </p:txBody>
      </p:sp>
      <p:sp>
        <p:nvSpPr>
          <p:cNvPr id="3" name="Content Placeholder 2">
            <a:extLst>
              <a:ext uri="{FF2B5EF4-FFF2-40B4-BE49-F238E27FC236}">
                <a16:creationId xmlns:a16="http://schemas.microsoft.com/office/drawing/2014/main" id="{B1D39BFD-F7FE-455C-CAE1-2AFE8F6FF0AE}"/>
              </a:ext>
            </a:extLst>
          </p:cNvPr>
          <p:cNvSpPr>
            <a:spLocks noGrp="1"/>
          </p:cNvSpPr>
          <p:nvPr>
            <p:ph idx="1"/>
          </p:nvPr>
        </p:nvSpPr>
        <p:spPr/>
        <p:txBody>
          <a:bodyPr>
            <a:noAutofit/>
          </a:bodyPr>
          <a:lstStyle/>
          <a:p>
            <a:r>
              <a:rPr lang="en-US" sz="2700" dirty="0"/>
              <a:t>Heap file organization</a:t>
            </a:r>
          </a:p>
          <a:p>
            <a:r>
              <a:rPr lang="en-US" sz="2700" dirty="0"/>
              <a:t>Sequential file organization</a:t>
            </a:r>
          </a:p>
          <a:p>
            <a:r>
              <a:rPr lang="en-US" sz="2700" dirty="0" err="1"/>
              <a:t>Multitable</a:t>
            </a:r>
            <a:r>
              <a:rPr lang="en-US" sz="2700" dirty="0"/>
              <a:t> clustering file organization</a:t>
            </a:r>
          </a:p>
          <a:p>
            <a:r>
              <a:rPr lang="en-US" sz="2700" dirty="0"/>
              <a:t>B + -tree file organization</a:t>
            </a:r>
          </a:p>
          <a:p>
            <a:r>
              <a:rPr lang="en-US" sz="2700" dirty="0"/>
              <a:t>Hashing file organization</a:t>
            </a:r>
          </a:p>
        </p:txBody>
      </p:sp>
      <p:sp>
        <p:nvSpPr>
          <p:cNvPr id="4" name="Slide Number Placeholder 3">
            <a:extLst>
              <a:ext uri="{FF2B5EF4-FFF2-40B4-BE49-F238E27FC236}">
                <a16:creationId xmlns:a16="http://schemas.microsoft.com/office/drawing/2014/main" id="{0C440EDE-7CDB-2EAA-D8F0-EC30F7ECEE70}"/>
              </a:ext>
            </a:extLst>
          </p:cNvPr>
          <p:cNvSpPr>
            <a:spLocks noGrp="1"/>
          </p:cNvSpPr>
          <p:nvPr>
            <p:ph type="sldNum" sz="quarter" idx="12"/>
          </p:nvPr>
        </p:nvSpPr>
        <p:spPr/>
        <p:txBody>
          <a:bodyPr/>
          <a:lstStyle/>
          <a:p>
            <a:fld id="{6264BDCF-5269-49AC-A246-ED26C2B980E3}" type="slidenum">
              <a:rPr lang="en-US" smtClean="0"/>
              <a:t>67</a:t>
            </a:fld>
            <a:endParaRPr lang="en-US"/>
          </a:p>
        </p:txBody>
      </p:sp>
    </p:spTree>
    <p:extLst>
      <p:ext uri="{BB962C8B-B14F-4D97-AF65-F5344CB8AC3E}">
        <p14:creationId xmlns:p14="http://schemas.microsoft.com/office/powerpoint/2010/main" val="38679481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3B3E9-75EA-C84B-F4A3-A965B719393F}"/>
              </a:ext>
            </a:extLst>
          </p:cNvPr>
          <p:cNvSpPr>
            <a:spLocks noGrp="1"/>
          </p:cNvSpPr>
          <p:nvPr>
            <p:ph type="title"/>
          </p:nvPr>
        </p:nvSpPr>
        <p:spPr/>
        <p:txBody>
          <a:bodyPr/>
          <a:lstStyle/>
          <a:p>
            <a:r>
              <a:rPr lang="en-US" dirty="0"/>
              <a:t>Heap file organization</a:t>
            </a:r>
          </a:p>
        </p:txBody>
      </p:sp>
      <p:sp>
        <p:nvSpPr>
          <p:cNvPr id="3" name="Content Placeholder 2">
            <a:extLst>
              <a:ext uri="{FF2B5EF4-FFF2-40B4-BE49-F238E27FC236}">
                <a16:creationId xmlns:a16="http://schemas.microsoft.com/office/drawing/2014/main" id="{FB1711C0-F942-5A5C-E259-5541B0A9B1BC}"/>
              </a:ext>
            </a:extLst>
          </p:cNvPr>
          <p:cNvSpPr>
            <a:spLocks noGrp="1"/>
          </p:cNvSpPr>
          <p:nvPr>
            <p:ph idx="1"/>
          </p:nvPr>
        </p:nvSpPr>
        <p:spPr/>
        <p:txBody>
          <a:bodyPr>
            <a:noAutofit/>
          </a:bodyPr>
          <a:lstStyle/>
          <a:p>
            <a:r>
              <a:rPr lang="en-US" dirty="0"/>
              <a:t>any record can be placed anywhere in file where there is space for  record; there is no ordering of records</a:t>
            </a:r>
          </a:p>
          <a:p>
            <a:r>
              <a:rPr lang="en-US" dirty="0"/>
              <a:t>typically, there is either a single file or a set of files for each relation</a:t>
            </a:r>
          </a:p>
          <a:p>
            <a:r>
              <a:rPr lang="en-US" dirty="0"/>
              <a:t>in a heap file organization, record may be stored anywhere in file corresponding to relation; once placed in particular location, record is not usually moved</a:t>
            </a:r>
          </a:p>
        </p:txBody>
      </p:sp>
      <p:sp>
        <p:nvSpPr>
          <p:cNvPr id="4" name="Slide Number Placeholder 3">
            <a:extLst>
              <a:ext uri="{FF2B5EF4-FFF2-40B4-BE49-F238E27FC236}">
                <a16:creationId xmlns:a16="http://schemas.microsoft.com/office/drawing/2014/main" id="{0FFC3B39-31E4-640E-C763-5E8B20635016}"/>
              </a:ext>
            </a:extLst>
          </p:cNvPr>
          <p:cNvSpPr>
            <a:spLocks noGrp="1"/>
          </p:cNvSpPr>
          <p:nvPr>
            <p:ph type="sldNum" sz="quarter" idx="12"/>
          </p:nvPr>
        </p:nvSpPr>
        <p:spPr/>
        <p:txBody>
          <a:bodyPr/>
          <a:lstStyle/>
          <a:p>
            <a:fld id="{6264BDCF-5269-49AC-A246-ED26C2B980E3}" type="slidenum">
              <a:rPr lang="en-US" smtClean="0"/>
              <a:t>68</a:t>
            </a:fld>
            <a:endParaRPr lang="en-US"/>
          </a:p>
        </p:txBody>
      </p:sp>
    </p:spTree>
    <p:extLst>
      <p:ext uri="{BB962C8B-B14F-4D97-AF65-F5344CB8AC3E}">
        <p14:creationId xmlns:p14="http://schemas.microsoft.com/office/powerpoint/2010/main" val="37331626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E5EDC-F0AD-2209-E94D-580B83BFDC8A}"/>
              </a:ext>
            </a:extLst>
          </p:cNvPr>
          <p:cNvSpPr>
            <a:spLocks noGrp="1"/>
          </p:cNvSpPr>
          <p:nvPr>
            <p:ph type="title"/>
          </p:nvPr>
        </p:nvSpPr>
        <p:spPr/>
        <p:txBody>
          <a:bodyPr/>
          <a:lstStyle/>
          <a:p>
            <a:r>
              <a:rPr lang="en-US" dirty="0"/>
              <a:t>Sequential file organization</a:t>
            </a:r>
          </a:p>
        </p:txBody>
      </p:sp>
      <p:sp>
        <p:nvSpPr>
          <p:cNvPr id="3" name="Content Placeholder 2">
            <a:extLst>
              <a:ext uri="{FF2B5EF4-FFF2-40B4-BE49-F238E27FC236}">
                <a16:creationId xmlns:a16="http://schemas.microsoft.com/office/drawing/2014/main" id="{B7062CE0-6D69-AB44-4287-DC02A6B5A4A5}"/>
              </a:ext>
            </a:extLst>
          </p:cNvPr>
          <p:cNvSpPr>
            <a:spLocks noGrp="1"/>
          </p:cNvSpPr>
          <p:nvPr>
            <p:ph idx="1"/>
          </p:nvPr>
        </p:nvSpPr>
        <p:spPr/>
        <p:txBody>
          <a:bodyPr>
            <a:normAutofit/>
          </a:bodyPr>
          <a:lstStyle/>
          <a:p>
            <a:r>
              <a:rPr lang="en-US" dirty="0"/>
              <a:t>records are stored in sequential order, according to the value of a “search key” of each record</a:t>
            </a:r>
          </a:p>
          <a:p>
            <a:r>
              <a:rPr lang="en-US" dirty="0"/>
              <a:t>designed for efficient processing of records in sorted order based on some search key - any set of attributes </a:t>
            </a:r>
          </a:p>
          <a:p>
            <a:r>
              <a:rPr lang="en-US" dirty="0"/>
              <a:t>to permit fast retrieval of records in search-key order, we chain together records by pointers</a:t>
            </a:r>
          </a:p>
          <a:p>
            <a:r>
              <a:rPr lang="en-US" dirty="0"/>
              <a:t>store records physically in search-key order, or as close to search-key order as possible</a:t>
            </a:r>
          </a:p>
        </p:txBody>
      </p:sp>
      <p:sp>
        <p:nvSpPr>
          <p:cNvPr id="4" name="Slide Number Placeholder 3">
            <a:extLst>
              <a:ext uri="{FF2B5EF4-FFF2-40B4-BE49-F238E27FC236}">
                <a16:creationId xmlns:a16="http://schemas.microsoft.com/office/drawing/2014/main" id="{6D884445-CF69-512B-B2B6-608EDB3A11F4}"/>
              </a:ext>
            </a:extLst>
          </p:cNvPr>
          <p:cNvSpPr>
            <a:spLocks noGrp="1"/>
          </p:cNvSpPr>
          <p:nvPr>
            <p:ph type="sldNum" sz="quarter" idx="12"/>
          </p:nvPr>
        </p:nvSpPr>
        <p:spPr/>
        <p:txBody>
          <a:bodyPr/>
          <a:lstStyle/>
          <a:p>
            <a:fld id="{6264BDCF-5269-49AC-A246-ED26C2B980E3}" type="slidenum">
              <a:rPr lang="en-US" smtClean="0"/>
              <a:t>69</a:t>
            </a:fld>
            <a:endParaRPr lang="en-US"/>
          </a:p>
        </p:txBody>
      </p:sp>
    </p:spTree>
    <p:extLst>
      <p:ext uri="{BB962C8B-B14F-4D97-AF65-F5344CB8AC3E}">
        <p14:creationId xmlns:p14="http://schemas.microsoft.com/office/powerpoint/2010/main" val="14034822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2067E-D159-7B4B-85EB-022E879D4E82}"/>
              </a:ext>
            </a:extLst>
          </p:cNvPr>
          <p:cNvSpPr>
            <a:spLocks noGrp="1"/>
          </p:cNvSpPr>
          <p:nvPr>
            <p:ph type="title"/>
          </p:nvPr>
        </p:nvSpPr>
        <p:spPr/>
        <p:txBody>
          <a:bodyPr/>
          <a:lstStyle/>
          <a:p>
            <a:r>
              <a:rPr lang="en-US" dirty="0" err="1"/>
              <a:t>Multitable</a:t>
            </a:r>
            <a:r>
              <a:rPr lang="en-US" dirty="0"/>
              <a:t> clustering file organization</a:t>
            </a:r>
          </a:p>
        </p:txBody>
      </p:sp>
      <p:sp>
        <p:nvSpPr>
          <p:cNvPr id="3" name="Content Placeholder 2">
            <a:extLst>
              <a:ext uri="{FF2B5EF4-FFF2-40B4-BE49-F238E27FC236}">
                <a16:creationId xmlns:a16="http://schemas.microsoft.com/office/drawing/2014/main" id="{DE9AA3DA-9A06-1111-FA12-3D2B9C606BF3}"/>
              </a:ext>
            </a:extLst>
          </p:cNvPr>
          <p:cNvSpPr>
            <a:spLocks noGrp="1"/>
          </p:cNvSpPr>
          <p:nvPr>
            <p:ph idx="1"/>
          </p:nvPr>
        </p:nvSpPr>
        <p:spPr/>
        <p:txBody>
          <a:bodyPr>
            <a:normAutofit/>
          </a:bodyPr>
          <a:lstStyle/>
          <a:p>
            <a:r>
              <a:rPr lang="en-US" dirty="0"/>
              <a:t>records of several different relations are stored in the same file, and in fact in same block within a file, to reduce the cost of certain join operations</a:t>
            </a:r>
          </a:p>
        </p:txBody>
      </p:sp>
      <p:sp>
        <p:nvSpPr>
          <p:cNvPr id="4" name="Slide Number Placeholder 3">
            <a:extLst>
              <a:ext uri="{FF2B5EF4-FFF2-40B4-BE49-F238E27FC236}">
                <a16:creationId xmlns:a16="http://schemas.microsoft.com/office/drawing/2014/main" id="{BD972D0F-FBDC-9677-67A9-2CE4DEDA2B13}"/>
              </a:ext>
            </a:extLst>
          </p:cNvPr>
          <p:cNvSpPr>
            <a:spLocks noGrp="1"/>
          </p:cNvSpPr>
          <p:nvPr>
            <p:ph type="sldNum" sz="quarter" idx="12"/>
          </p:nvPr>
        </p:nvSpPr>
        <p:spPr/>
        <p:txBody>
          <a:bodyPr/>
          <a:lstStyle/>
          <a:p>
            <a:fld id="{6264BDCF-5269-49AC-A246-ED26C2B980E3}" type="slidenum">
              <a:rPr lang="en-US" smtClean="0"/>
              <a:t>70</a:t>
            </a:fld>
            <a:endParaRPr lang="en-US"/>
          </a:p>
        </p:txBody>
      </p:sp>
    </p:spTree>
    <p:extLst>
      <p:ext uri="{BB962C8B-B14F-4D97-AF65-F5344CB8AC3E}">
        <p14:creationId xmlns:p14="http://schemas.microsoft.com/office/powerpoint/2010/main" val="4295244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D8A40-2B49-4705-3B7E-72B4E301A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DECCB5-BA0A-82F8-E052-B18A3924E19A}"/>
              </a:ext>
            </a:extLst>
          </p:cNvPr>
          <p:cNvSpPr>
            <a:spLocks noGrp="1"/>
          </p:cNvSpPr>
          <p:nvPr>
            <p:ph type="title"/>
          </p:nvPr>
        </p:nvSpPr>
        <p:spPr/>
        <p:txBody>
          <a:bodyPr/>
          <a:lstStyle/>
          <a:p>
            <a:r>
              <a:rPr lang="en-US" dirty="0"/>
              <a:t>B + -tree file organization</a:t>
            </a:r>
          </a:p>
        </p:txBody>
      </p:sp>
      <p:sp>
        <p:nvSpPr>
          <p:cNvPr id="3" name="Content Placeholder 2">
            <a:extLst>
              <a:ext uri="{FF2B5EF4-FFF2-40B4-BE49-F238E27FC236}">
                <a16:creationId xmlns:a16="http://schemas.microsoft.com/office/drawing/2014/main" id="{7B4B4EF2-887F-98DC-CB20-8932E4A3676C}"/>
              </a:ext>
            </a:extLst>
          </p:cNvPr>
          <p:cNvSpPr>
            <a:spLocks noGrp="1"/>
          </p:cNvSpPr>
          <p:nvPr>
            <p:ph idx="1"/>
          </p:nvPr>
        </p:nvSpPr>
        <p:spPr/>
        <p:txBody>
          <a:bodyPr>
            <a:normAutofit/>
          </a:bodyPr>
          <a:lstStyle/>
          <a:p>
            <a:r>
              <a:rPr lang="en-US" dirty="0"/>
              <a:t>related to B+ tree index structure can provide efficient ordered access to records even if there are a large number of insert, delete, or update operations - supports very efficient access to specific records, based on the search key</a:t>
            </a:r>
          </a:p>
          <a:p>
            <a:endParaRPr lang="en-US" dirty="0"/>
          </a:p>
          <a:p>
            <a:endParaRPr lang="en-US" dirty="0"/>
          </a:p>
        </p:txBody>
      </p:sp>
      <p:sp>
        <p:nvSpPr>
          <p:cNvPr id="4" name="Slide Number Placeholder 3">
            <a:extLst>
              <a:ext uri="{FF2B5EF4-FFF2-40B4-BE49-F238E27FC236}">
                <a16:creationId xmlns:a16="http://schemas.microsoft.com/office/drawing/2014/main" id="{4928B176-B678-0B87-8223-239C6CB27F17}"/>
              </a:ext>
            </a:extLst>
          </p:cNvPr>
          <p:cNvSpPr>
            <a:spLocks noGrp="1"/>
          </p:cNvSpPr>
          <p:nvPr>
            <p:ph type="sldNum" sz="quarter" idx="12"/>
          </p:nvPr>
        </p:nvSpPr>
        <p:spPr/>
        <p:txBody>
          <a:bodyPr/>
          <a:lstStyle/>
          <a:p>
            <a:fld id="{6264BDCF-5269-49AC-A246-ED26C2B980E3}" type="slidenum">
              <a:rPr lang="en-US" smtClean="0"/>
              <a:t>71</a:t>
            </a:fld>
            <a:endParaRPr lang="en-US"/>
          </a:p>
        </p:txBody>
      </p:sp>
    </p:spTree>
    <p:extLst>
      <p:ext uri="{BB962C8B-B14F-4D97-AF65-F5344CB8AC3E}">
        <p14:creationId xmlns:p14="http://schemas.microsoft.com/office/powerpoint/2010/main" val="19957308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B76C0-4D60-A6AE-9F82-538747C348AA}"/>
              </a:ext>
            </a:extLst>
          </p:cNvPr>
          <p:cNvSpPr>
            <a:spLocks noGrp="1"/>
          </p:cNvSpPr>
          <p:nvPr>
            <p:ph type="title"/>
          </p:nvPr>
        </p:nvSpPr>
        <p:spPr/>
        <p:txBody>
          <a:bodyPr/>
          <a:lstStyle/>
          <a:p>
            <a:r>
              <a:rPr lang="en-US" dirty="0"/>
              <a:t>Hashing file organization</a:t>
            </a:r>
          </a:p>
        </p:txBody>
      </p:sp>
      <p:sp>
        <p:nvSpPr>
          <p:cNvPr id="3" name="Content Placeholder 2">
            <a:extLst>
              <a:ext uri="{FF2B5EF4-FFF2-40B4-BE49-F238E27FC236}">
                <a16:creationId xmlns:a16="http://schemas.microsoft.com/office/drawing/2014/main" id="{23741180-358A-0D05-7C7D-36E29BF0F132}"/>
              </a:ext>
            </a:extLst>
          </p:cNvPr>
          <p:cNvSpPr>
            <a:spLocks noGrp="1"/>
          </p:cNvSpPr>
          <p:nvPr>
            <p:ph idx="1"/>
          </p:nvPr>
        </p:nvSpPr>
        <p:spPr/>
        <p:txBody>
          <a:bodyPr>
            <a:normAutofit/>
          </a:bodyPr>
          <a:lstStyle/>
          <a:p>
            <a:r>
              <a:rPr lang="en-US" dirty="0"/>
              <a:t>a hash function is computed on some attribute of each record - result of the hash function specifies in which block of the file the record should be placed</a:t>
            </a:r>
          </a:p>
          <a:p>
            <a:r>
              <a:rPr lang="en-US" dirty="0"/>
              <a:t>closely related to indexing structures</a:t>
            </a:r>
          </a:p>
        </p:txBody>
      </p:sp>
      <p:sp>
        <p:nvSpPr>
          <p:cNvPr id="4" name="Slide Number Placeholder 3">
            <a:extLst>
              <a:ext uri="{FF2B5EF4-FFF2-40B4-BE49-F238E27FC236}">
                <a16:creationId xmlns:a16="http://schemas.microsoft.com/office/drawing/2014/main" id="{591B7763-95AE-638A-9E32-12945B22CC73}"/>
              </a:ext>
            </a:extLst>
          </p:cNvPr>
          <p:cNvSpPr>
            <a:spLocks noGrp="1"/>
          </p:cNvSpPr>
          <p:nvPr>
            <p:ph type="sldNum" sz="quarter" idx="12"/>
          </p:nvPr>
        </p:nvSpPr>
        <p:spPr/>
        <p:txBody>
          <a:bodyPr/>
          <a:lstStyle/>
          <a:p>
            <a:fld id="{6264BDCF-5269-49AC-A246-ED26C2B980E3}" type="slidenum">
              <a:rPr lang="en-US" smtClean="0"/>
              <a:t>72</a:t>
            </a:fld>
            <a:endParaRPr lang="en-US"/>
          </a:p>
        </p:txBody>
      </p:sp>
    </p:spTree>
    <p:extLst>
      <p:ext uri="{BB962C8B-B14F-4D97-AF65-F5344CB8AC3E}">
        <p14:creationId xmlns:p14="http://schemas.microsoft.com/office/powerpoint/2010/main" val="17024342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5B44A-522F-694A-1062-E0BBBDC5C576}"/>
              </a:ext>
            </a:extLst>
          </p:cNvPr>
          <p:cNvSpPr>
            <a:spLocks noGrp="1"/>
          </p:cNvSpPr>
          <p:nvPr>
            <p:ph type="title"/>
          </p:nvPr>
        </p:nvSpPr>
        <p:spPr/>
        <p:txBody>
          <a:bodyPr/>
          <a:lstStyle/>
          <a:p>
            <a:r>
              <a:rPr lang="en-US" b="1" dirty="0"/>
              <a:t>Partitioning</a:t>
            </a:r>
            <a:endParaRPr lang="en-US" dirty="0"/>
          </a:p>
        </p:txBody>
      </p:sp>
      <p:sp>
        <p:nvSpPr>
          <p:cNvPr id="3" name="Content Placeholder 2">
            <a:extLst>
              <a:ext uri="{FF2B5EF4-FFF2-40B4-BE49-F238E27FC236}">
                <a16:creationId xmlns:a16="http://schemas.microsoft.com/office/drawing/2014/main" id="{E1542C9E-C486-6C8D-2268-E9AA52B5194E}"/>
              </a:ext>
            </a:extLst>
          </p:cNvPr>
          <p:cNvSpPr>
            <a:spLocks noGrp="1"/>
          </p:cNvSpPr>
          <p:nvPr>
            <p:ph idx="1"/>
          </p:nvPr>
        </p:nvSpPr>
        <p:spPr/>
        <p:txBody>
          <a:bodyPr>
            <a:normAutofit/>
          </a:bodyPr>
          <a:lstStyle/>
          <a:p>
            <a:r>
              <a:rPr lang="en-US" dirty="0"/>
              <a:t>many databases allow records in relation to be partitioned into smaller relations that are stored separately; such </a:t>
            </a:r>
            <a:r>
              <a:rPr lang="en-US" b="1" dirty="0"/>
              <a:t>table partitioning </a:t>
            </a:r>
            <a:r>
              <a:rPr lang="en-US" dirty="0"/>
              <a:t>is typically done on the basis of an attribute value</a:t>
            </a:r>
          </a:p>
          <a:p>
            <a:r>
              <a:rPr lang="en-US" dirty="0"/>
              <a:t>for example, records in a </a:t>
            </a:r>
            <a:r>
              <a:rPr lang="en-US" i="1" dirty="0"/>
              <a:t>transaction </a:t>
            </a:r>
            <a:r>
              <a:rPr lang="en-US" dirty="0"/>
              <a:t>relation in an accounting database may be partitioned by year into smaller relations corresponding to each year, such as </a:t>
            </a:r>
            <a:r>
              <a:rPr lang="en-US" i="1" dirty="0"/>
              <a:t>transaction_2018, transaction_2019, </a:t>
            </a:r>
            <a:r>
              <a:rPr lang="en-US" dirty="0"/>
              <a:t>and so on, …</a:t>
            </a:r>
          </a:p>
          <a:p>
            <a:r>
              <a:rPr lang="en-US" dirty="0"/>
              <a:t>queries can be written based on </a:t>
            </a:r>
            <a:r>
              <a:rPr lang="en-US" i="1" dirty="0"/>
              <a:t>transaction </a:t>
            </a:r>
            <a:r>
              <a:rPr lang="en-US" dirty="0"/>
              <a:t>relation but are translated into queries on the year-wise relations</a:t>
            </a:r>
          </a:p>
        </p:txBody>
      </p:sp>
      <p:sp>
        <p:nvSpPr>
          <p:cNvPr id="4" name="Slide Number Placeholder 3">
            <a:extLst>
              <a:ext uri="{FF2B5EF4-FFF2-40B4-BE49-F238E27FC236}">
                <a16:creationId xmlns:a16="http://schemas.microsoft.com/office/drawing/2014/main" id="{D6F48F68-DE88-7571-A525-1720C54C99B1}"/>
              </a:ext>
            </a:extLst>
          </p:cNvPr>
          <p:cNvSpPr>
            <a:spLocks noGrp="1"/>
          </p:cNvSpPr>
          <p:nvPr>
            <p:ph type="sldNum" sz="quarter" idx="12"/>
          </p:nvPr>
        </p:nvSpPr>
        <p:spPr/>
        <p:txBody>
          <a:bodyPr/>
          <a:lstStyle/>
          <a:p>
            <a:fld id="{6264BDCF-5269-49AC-A246-ED26C2B980E3}" type="slidenum">
              <a:rPr lang="en-US" smtClean="0"/>
              <a:t>73</a:t>
            </a:fld>
            <a:endParaRPr lang="en-US"/>
          </a:p>
        </p:txBody>
      </p:sp>
    </p:spTree>
    <p:extLst>
      <p:ext uri="{BB962C8B-B14F-4D97-AF65-F5344CB8AC3E}">
        <p14:creationId xmlns:p14="http://schemas.microsoft.com/office/powerpoint/2010/main" val="10554161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EBE68-BC6C-DC49-31FD-EBB7D27323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1F4D39-94A2-3C8F-C9FB-3D240576B6E6}"/>
              </a:ext>
            </a:extLst>
          </p:cNvPr>
          <p:cNvSpPr>
            <a:spLocks noGrp="1"/>
          </p:cNvSpPr>
          <p:nvPr>
            <p:ph idx="1"/>
          </p:nvPr>
        </p:nvSpPr>
        <p:spPr/>
        <p:txBody>
          <a:bodyPr>
            <a:normAutofit/>
          </a:bodyPr>
          <a:lstStyle/>
          <a:p>
            <a:r>
              <a:rPr lang="en-US" sz="3200" dirty="0"/>
              <a:t>Data files contain data and objects such as tables, indexes, stored procedures, and views</a:t>
            </a:r>
          </a:p>
        </p:txBody>
      </p:sp>
      <p:sp>
        <p:nvSpPr>
          <p:cNvPr id="4" name="Slide Number Placeholder 3">
            <a:extLst>
              <a:ext uri="{FF2B5EF4-FFF2-40B4-BE49-F238E27FC236}">
                <a16:creationId xmlns:a16="http://schemas.microsoft.com/office/drawing/2014/main" id="{4CB89F83-E237-5C6A-6871-59F93C860BB8}"/>
              </a:ext>
            </a:extLst>
          </p:cNvPr>
          <p:cNvSpPr>
            <a:spLocks noGrp="1"/>
          </p:cNvSpPr>
          <p:nvPr>
            <p:ph type="sldNum" sz="quarter" idx="12"/>
          </p:nvPr>
        </p:nvSpPr>
        <p:spPr/>
        <p:txBody>
          <a:bodyPr/>
          <a:lstStyle/>
          <a:p>
            <a:fld id="{6264BDCF-5269-49AC-A246-ED26C2B980E3}" type="slidenum">
              <a:rPr lang="en-US" smtClean="0"/>
              <a:t>74</a:t>
            </a:fld>
            <a:endParaRPr lang="en-US"/>
          </a:p>
        </p:txBody>
      </p:sp>
    </p:spTree>
    <p:extLst>
      <p:ext uri="{BB962C8B-B14F-4D97-AF65-F5344CB8AC3E}">
        <p14:creationId xmlns:p14="http://schemas.microsoft.com/office/powerpoint/2010/main" val="14313669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C484-AA06-478C-F64C-D89DF7D834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04F02C5-CA9C-5514-D811-9A13D88FFC14}"/>
              </a:ext>
            </a:extLst>
          </p:cNvPr>
          <p:cNvSpPr>
            <a:spLocks noGrp="1"/>
          </p:cNvSpPr>
          <p:nvPr>
            <p:ph idx="1"/>
          </p:nvPr>
        </p:nvSpPr>
        <p:spPr/>
        <p:txBody>
          <a:bodyPr>
            <a:normAutofit/>
          </a:bodyPr>
          <a:lstStyle/>
          <a:p>
            <a:r>
              <a:rPr lang="en-US" sz="3200" dirty="0"/>
              <a:t>Log files contain the information that is required to recover all transactions in the database</a:t>
            </a:r>
          </a:p>
        </p:txBody>
      </p:sp>
      <p:sp>
        <p:nvSpPr>
          <p:cNvPr id="4" name="Slide Number Placeholder 3">
            <a:extLst>
              <a:ext uri="{FF2B5EF4-FFF2-40B4-BE49-F238E27FC236}">
                <a16:creationId xmlns:a16="http://schemas.microsoft.com/office/drawing/2014/main" id="{2BA2DF77-F1AB-7161-EC1A-C8B3457A5CA4}"/>
              </a:ext>
            </a:extLst>
          </p:cNvPr>
          <p:cNvSpPr>
            <a:spLocks noGrp="1"/>
          </p:cNvSpPr>
          <p:nvPr>
            <p:ph type="sldNum" sz="quarter" idx="12"/>
          </p:nvPr>
        </p:nvSpPr>
        <p:spPr/>
        <p:txBody>
          <a:bodyPr/>
          <a:lstStyle/>
          <a:p>
            <a:fld id="{6264BDCF-5269-49AC-A246-ED26C2B980E3}" type="slidenum">
              <a:rPr lang="en-US" smtClean="0"/>
              <a:t>75</a:t>
            </a:fld>
            <a:endParaRPr lang="en-US"/>
          </a:p>
        </p:txBody>
      </p:sp>
    </p:spTree>
    <p:extLst>
      <p:ext uri="{BB962C8B-B14F-4D97-AF65-F5344CB8AC3E}">
        <p14:creationId xmlns:p14="http://schemas.microsoft.com/office/powerpoint/2010/main" val="7651157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7CEC7-CB03-EED9-08B0-E7D492AADB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40F998-B0B2-CA18-24C9-34766813B926}"/>
              </a:ext>
            </a:extLst>
          </p:cNvPr>
          <p:cNvSpPr>
            <a:spLocks noGrp="1"/>
          </p:cNvSpPr>
          <p:nvPr>
            <p:ph idx="1"/>
          </p:nvPr>
        </p:nvSpPr>
        <p:spPr/>
        <p:txBody>
          <a:bodyPr>
            <a:normAutofit/>
          </a:bodyPr>
          <a:lstStyle/>
          <a:p>
            <a:r>
              <a:rPr lang="en-US" sz="3200" dirty="0"/>
              <a:t>relational databases traditionally store all attributes of a tuple together in a record, and tuples are stored in a file as we have just seen</a:t>
            </a:r>
          </a:p>
          <a:p>
            <a:r>
              <a:rPr lang="en-US" sz="3200" dirty="0"/>
              <a:t>such a storage layout is referred to as a </a:t>
            </a:r>
            <a:r>
              <a:rPr lang="en-US" sz="3200" i="1" dirty="0"/>
              <a:t>row-oriented storage</a:t>
            </a:r>
            <a:endParaRPr lang="en-US" sz="3200" dirty="0"/>
          </a:p>
        </p:txBody>
      </p:sp>
      <p:sp>
        <p:nvSpPr>
          <p:cNvPr id="4" name="Slide Number Placeholder 3">
            <a:extLst>
              <a:ext uri="{FF2B5EF4-FFF2-40B4-BE49-F238E27FC236}">
                <a16:creationId xmlns:a16="http://schemas.microsoft.com/office/drawing/2014/main" id="{7DE5DB17-391B-7653-8563-ED33A969E00F}"/>
              </a:ext>
            </a:extLst>
          </p:cNvPr>
          <p:cNvSpPr>
            <a:spLocks noGrp="1"/>
          </p:cNvSpPr>
          <p:nvPr>
            <p:ph type="sldNum" sz="quarter" idx="12"/>
          </p:nvPr>
        </p:nvSpPr>
        <p:spPr/>
        <p:txBody>
          <a:bodyPr/>
          <a:lstStyle/>
          <a:p>
            <a:fld id="{6264BDCF-5269-49AC-A246-ED26C2B980E3}" type="slidenum">
              <a:rPr lang="en-US" smtClean="0"/>
              <a:t>76</a:t>
            </a:fld>
            <a:endParaRPr lang="en-US"/>
          </a:p>
        </p:txBody>
      </p:sp>
    </p:spTree>
    <p:extLst>
      <p:ext uri="{BB962C8B-B14F-4D97-AF65-F5344CB8AC3E}">
        <p14:creationId xmlns:p14="http://schemas.microsoft.com/office/powerpoint/2010/main" val="6452647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53edffdedc90a5cc23417a2d239f45a4">
  <xsd:schema xmlns:xsd="http://www.w3.org/2001/XMLSchema" xmlns:xs="http://www.w3.org/2001/XMLSchema" xmlns:p="http://schemas.microsoft.com/office/2006/metadata/properties" xmlns:ns2="a1338ef3-f957-4fbb-b33a-3b606fe126b3" targetNamespace="http://schemas.microsoft.com/office/2006/metadata/properties" ma:root="true" ma:fieldsID="9f407ff9521a5dcbcc967750435157a3"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AB1A220-095E-4FB5-AAEA-92B2FD3662ED}"/>
</file>

<file path=customXml/itemProps2.xml><?xml version="1.0" encoding="utf-8"?>
<ds:datastoreItem xmlns:ds="http://schemas.openxmlformats.org/officeDocument/2006/customXml" ds:itemID="{004771B2-5CD2-4F0F-81A6-7DA5BD73CFA4}"/>
</file>

<file path=customXml/itemProps3.xml><?xml version="1.0" encoding="utf-8"?>
<ds:datastoreItem xmlns:ds="http://schemas.openxmlformats.org/officeDocument/2006/customXml" ds:itemID="{0754C065-3B67-43BA-B17E-7D50E86261D7}"/>
</file>

<file path=docProps/app.xml><?xml version="1.0" encoding="utf-8"?>
<Properties xmlns="http://schemas.openxmlformats.org/officeDocument/2006/extended-properties" xmlns:vt="http://schemas.openxmlformats.org/officeDocument/2006/docPropsVTypes">
  <TotalTime>5418</TotalTime>
  <Words>4555</Words>
  <Application>Microsoft Office PowerPoint</Application>
  <PresentationFormat>Widescreen</PresentationFormat>
  <Paragraphs>344</Paragraphs>
  <Slides>76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76</vt:i4>
      </vt:variant>
    </vt:vector>
  </HeadingPairs>
  <TitlesOfParts>
    <vt:vector size="80" baseType="lpstr">
      <vt:lpstr>Arial</vt:lpstr>
      <vt:lpstr>Calibri</vt:lpstr>
      <vt:lpstr>Calibri Light</vt:lpstr>
      <vt:lpstr>Office Theme</vt:lpstr>
      <vt:lpstr>DataBase</vt:lpstr>
      <vt:lpstr>DataBase Design </vt:lpstr>
      <vt:lpstr>Physical  https://www.youtube.com/watch?v=vWz9VN40nCA</vt:lpstr>
      <vt:lpstr>Physical DataBases Storage Systems</vt:lpstr>
      <vt:lpstr>Physical Storage Media</vt:lpstr>
      <vt:lpstr>Cache</vt:lpstr>
      <vt:lpstr>Main Memory</vt:lpstr>
      <vt:lpstr>Flash Memory</vt:lpstr>
      <vt:lpstr>Solid State Drive (SSD)</vt:lpstr>
      <vt:lpstr>Magnetic-disk storage Hard Disk Drive (HDD)</vt:lpstr>
      <vt:lpstr>PowerPoint Presentation</vt:lpstr>
      <vt:lpstr>Optical storage</vt:lpstr>
      <vt:lpstr>Tape storage</vt:lpstr>
      <vt:lpstr>Storage device hierarchy</vt:lpstr>
      <vt:lpstr>PowerPoint Presentation</vt:lpstr>
      <vt:lpstr>Storage Interfaces</vt:lpstr>
      <vt:lpstr>PowerPoint Presentation</vt:lpstr>
      <vt:lpstr>PowerPoint Presentation</vt:lpstr>
      <vt:lpstr>PowerPoint Presentation</vt:lpstr>
      <vt:lpstr>disk controller</vt:lpstr>
      <vt:lpstr>Performance Measures of Disks</vt:lpstr>
      <vt:lpstr>Performance Measures of Disks</vt:lpstr>
      <vt:lpstr>Performance Measures of Disks</vt:lpstr>
      <vt:lpstr>Performance Measures of Disks Mean Time to Failure</vt:lpstr>
      <vt:lpstr>PowerPoint Presentation</vt:lpstr>
      <vt:lpstr>PowerPoint Presentation</vt:lpstr>
      <vt:lpstr>PowerPoint Presentation</vt:lpstr>
      <vt:lpstr>PowerPoint Presentation</vt:lpstr>
      <vt:lpstr>RAID</vt:lpstr>
      <vt:lpstr>Redundant Arrays of Independent Disks (RAID)</vt:lpstr>
      <vt:lpstr>Improvement of Reliability via Redundancy</vt:lpstr>
      <vt:lpstr>PowerPoint Presentation</vt:lpstr>
      <vt:lpstr>Improvement in Performance via Parallelism</vt:lpstr>
      <vt:lpstr>PowerPoint Presentation</vt:lpstr>
      <vt:lpstr>RAID Levels</vt:lpstr>
      <vt:lpstr>PowerPoint Presentation</vt:lpstr>
      <vt:lpstr>RAID Levels </vt:lpstr>
      <vt:lpstr>RAID level 0</vt:lpstr>
      <vt:lpstr>RAID level 1</vt:lpstr>
      <vt:lpstr>PowerPoint Presentation</vt:lpstr>
      <vt:lpstr>RAID level 5</vt:lpstr>
      <vt:lpstr>PowerPoint Presentation</vt:lpstr>
      <vt:lpstr>first 20 blocks, numbered 0 to 19, and their parity blocks are laid out; pattern gets repeated on further blocks</vt:lpstr>
      <vt:lpstr>RAID level 6</vt:lpstr>
      <vt:lpstr>PowerPoint Presentation</vt:lpstr>
      <vt:lpstr>Hardware RAID</vt:lpstr>
      <vt:lpstr>server hardware is often designed to permit hot swapping</vt:lpstr>
      <vt:lpstr>PowerPoint Presentation</vt:lpstr>
      <vt:lpstr>Data Storage Structures</vt:lpstr>
      <vt:lpstr>Disk-Block Access</vt:lpstr>
      <vt:lpstr>techniques for improving speed of access to blocks</vt:lpstr>
      <vt:lpstr>Buffering</vt:lpstr>
      <vt:lpstr>Read-ahead</vt:lpstr>
      <vt:lpstr>Scheduling</vt:lpstr>
      <vt:lpstr>File organization</vt:lpstr>
      <vt:lpstr>PowerPoint Presentation</vt:lpstr>
      <vt:lpstr>Non-volatile write buffer</vt:lpstr>
      <vt:lpstr>Data Storage Structures</vt:lpstr>
      <vt:lpstr>File Organization</vt:lpstr>
      <vt:lpstr>PowerPoint Presentation</vt:lpstr>
      <vt:lpstr>PowerPoint Presentation</vt:lpstr>
      <vt:lpstr>problems with this simple approach</vt:lpstr>
      <vt:lpstr>PowerPoint Presentation</vt:lpstr>
      <vt:lpstr>Storing Large Objects</vt:lpstr>
      <vt:lpstr>performance issues with storing large objects in databases</vt:lpstr>
      <vt:lpstr>PowerPoint Presentation</vt:lpstr>
      <vt:lpstr>Organization of Records in Files</vt:lpstr>
      <vt:lpstr>Heap file organization</vt:lpstr>
      <vt:lpstr>Sequential file organization</vt:lpstr>
      <vt:lpstr>Multitable clustering file organization</vt:lpstr>
      <vt:lpstr>B + -tree file organization</vt:lpstr>
      <vt:lpstr>Hashing file organization</vt:lpstr>
      <vt:lpstr>Partitioning</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dc:title>
  <dc:creator>Calin Cenan</dc:creator>
  <cp:lastModifiedBy>Calin Cenan</cp:lastModifiedBy>
  <cp:revision>128</cp:revision>
  <dcterms:created xsi:type="dcterms:W3CDTF">2023-08-06T12:55:35Z</dcterms:created>
  <dcterms:modified xsi:type="dcterms:W3CDTF">2026-01-05T15:46:33Z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2023-08-06T13:14:17Z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de879172-8bb0-4294-827c-110d21e2f193</vt:lpwstr>
  </property>
  <property fmtid="{D5CDD505-2E9C-101B-9397-08002B2CF9AE}" pid="8" name="MSIP_Label_5b58b62f-6f94-46bd-8089-18e64b0a9abb_ContentBits">
    <vt:lpwstr>0</vt:lpwstr>
  </property>
  <property fmtid="{D5CDD505-2E9C-101B-9397-08002B2CF9AE}" pid="9" name="ContentTypeId">
    <vt:lpwstr>0x01010042D1F13D339BA04089B6530E3063BBB0</vt:lpwstr>
  </property>
</Properties>
</file>