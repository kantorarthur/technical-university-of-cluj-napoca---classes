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256" r:id="rId2"/>
    <p:sldId id="257" r:id="rId3"/>
    <p:sldId id="259" r:id="rId4"/>
    <p:sldId id="644" r:id="rId5"/>
    <p:sldId id="504" r:id="rId6"/>
    <p:sldId id="260" r:id="rId7"/>
    <p:sldId id="261" r:id="rId8"/>
    <p:sldId id="643" r:id="rId9"/>
    <p:sldId id="273" r:id="rId10"/>
    <p:sldId id="262" r:id="rId11"/>
    <p:sldId id="505" r:id="rId12"/>
    <p:sldId id="415" r:id="rId13"/>
    <p:sldId id="416" r:id="rId14"/>
    <p:sldId id="417" r:id="rId15"/>
    <p:sldId id="418" r:id="rId16"/>
    <p:sldId id="419" r:id="rId17"/>
    <p:sldId id="420" r:id="rId18"/>
    <p:sldId id="421" r:id="rId19"/>
    <p:sldId id="263" r:id="rId20"/>
    <p:sldId id="502" r:id="rId21"/>
    <p:sldId id="506" r:id="rId22"/>
    <p:sldId id="507" r:id="rId23"/>
    <p:sldId id="525" r:id="rId24"/>
    <p:sldId id="646" r:id="rId25"/>
    <p:sldId id="647" r:id="rId26"/>
    <p:sldId id="649" r:id="rId27"/>
    <p:sldId id="648" r:id="rId28"/>
    <p:sldId id="650" r:id="rId29"/>
    <p:sldId id="653" r:id="rId30"/>
    <p:sldId id="651" r:id="rId31"/>
    <p:sldId id="652" r:id="rId32"/>
    <p:sldId id="654" r:id="rId33"/>
    <p:sldId id="655" r:id="rId34"/>
    <p:sldId id="656" r:id="rId35"/>
    <p:sldId id="657" r:id="rId36"/>
    <p:sldId id="658" r:id="rId37"/>
    <p:sldId id="660" r:id="rId38"/>
    <p:sldId id="661" r:id="rId39"/>
    <p:sldId id="659" r:id="rId40"/>
    <p:sldId id="662" r:id="rId41"/>
    <p:sldId id="664" r:id="rId42"/>
    <p:sldId id="663" r:id="rId43"/>
    <p:sldId id="665" r:id="rId44"/>
    <p:sldId id="666" r:id="rId45"/>
    <p:sldId id="667" r:id="rId46"/>
    <p:sldId id="526" r:id="rId47"/>
    <p:sldId id="645" r:id="rId48"/>
    <p:sldId id="669" r:id="rId49"/>
    <p:sldId id="668" r:id="rId50"/>
    <p:sldId id="670" r:id="rId51"/>
    <p:sldId id="680" r:id="rId52"/>
    <p:sldId id="671" r:id="rId53"/>
    <p:sldId id="672" r:id="rId54"/>
    <p:sldId id="673" r:id="rId55"/>
    <p:sldId id="674" r:id="rId56"/>
    <p:sldId id="675" r:id="rId57"/>
    <p:sldId id="677" r:id="rId58"/>
    <p:sldId id="676" r:id="rId59"/>
    <p:sldId id="679" r:id="rId60"/>
    <p:sldId id="681" r:id="rId61"/>
    <p:sldId id="682" r:id="rId6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notesMaster" Target="notesMasters/notesMaster1.xml"/><Relationship Id="rId68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69" Type="http://schemas.openxmlformats.org/officeDocument/2006/relationships/customXml" Target="../customXml/item2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28022-3C0D-418B-A8D0-6F07DD708D64}" type="datetimeFigureOut">
              <a:rPr lang="en-US" smtClean="0"/>
              <a:pPr/>
              <a:t>7/20/2025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7C1943-EA29-41FC-8FD0-B2CFE143596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18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F0693-3796-4872-A646-36E9DD818325}" type="datetime1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15C6B-A99D-4376-B85D-B9F8AA4AA6C2}" type="datetime1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61B2-CFBA-4340-AEA4-5D8542C068CF}" type="datetime1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8B736-50EF-48EA-AB03-2E3302D67BCB}" type="datetime1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244C6-2BE6-4274-9647-B45DDA121EF7}" type="datetime1">
              <a:rPr lang="en-US" smtClean="0"/>
              <a:t>7/20/2025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68B19-1A13-4694-8113-01153F41A6A1}" type="datetime1">
              <a:rPr lang="en-US" smtClean="0"/>
              <a:t>7/20/2025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223B1-26B7-4927-8A17-9A12A0387197}" type="datetime1">
              <a:rPr lang="en-US" smtClean="0"/>
              <a:t>7/20/2025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A93DA-D41D-4C3D-9F59-01152E6E7804}" type="datetime1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753F7-2318-4A49-BA8C-91D00DE5893F}" type="datetime1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A11B2-A719-45B9-A2C8-422707F433E0}" type="datetime1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0C866-4B19-4831-BC60-0FCF548618BC}" type="datetime1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EDA98C-EC19-43B6-9880-785FFE0C27DA}" type="datetime1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qlite.org/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qlite.org/download.html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gadmin.org/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etbrains.com/datagrip/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s://dbeaver.io/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fA3URC1wyk" TargetMode="External"/><Relationship Id="rId2" Type="http://schemas.openxmlformats.org/officeDocument/2006/relationships/hyperlink" Target="https://www.youtube.com/watch?v=FOt3oQ_k008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wisc.edu/-dbbook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Structured Query Language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23D44-A265-4C35-B3D9-34A1C005FE0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713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is everywhere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just about every computer and every person on planet eventually touches something running SQL</a:t>
            </a:r>
          </a:p>
          <a:p>
            <a:r>
              <a:rPr lang="en-US" dirty="0"/>
              <a:t>incredibly successful and solid technology</a:t>
            </a:r>
          </a:p>
          <a:p>
            <a:r>
              <a:rPr lang="en-US" dirty="0"/>
              <a:t>runs universities (System Informatics </a:t>
            </a:r>
            <a:r>
              <a:rPr lang="en-US" dirty="0" err="1"/>
              <a:t>iNtegrated</a:t>
            </a:r>
            <a:r>
              <a:rPr lang="en-US" dirty="0"/>
              <a:t> University), banks, hospitals, governments, small businesses, large ones</a:t>
            </a:r>
          </a:p>
          <a:p>
            <a:r>
              <a:rPr lang="en-US" dirty="0"/>
              <a:t>all Android Phones and iPhones have easy access to SQL database called SQLite </a:t>
            </a:r>
          </a:p>
          <a:p>
            <a:pPr lvl="1"/>
            <a:r>
              <a:rPr lang="en-US" dirty="0"/>
              <a:t>many applications on your phone use it directly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23D44-A265-4C35-B3D9-34A1C005FE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914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SQL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weird obtuse kind of "non-language" </a:t>
            </a:r>
          </a:p>
          <a:p>
            <a:pPr lvl="1"/>
            <a:r>
              <a:rPr lang="en-US" dirty="0"/>
              <a:t>that most programmers can't stand</a:t>
            </a:r>
          </a:p>
          <a:p>
            <a:r>
              <a:rPr lang="en-US" dirty="0"/>
              <a:t>based on solid mathematically built theory of operation (</a:t>
            </a:r>
            <a:r>
              <a:rPr lang="en-US" sz="3300" b="1" dirty="0"/>
              <a:t>relational theory </a:t>
            </a:r>
            <a:r>
              <a:rPr lang="en-US" dirty="0"/>
              <a:t>(extension of </a:t>
            </a:r>
            <a:r>
              <a:rPr lang="en-US" sz="3300" b="1" dirty="0"/>
              <a:t>set theory</a:t>
            </a:r>
            <a:r>
              <a:rPr lang="en-US" dirty="0"/>
              <a:t>))</a:t>
            </a:r>
          </a:p>
          <a:p>
            <a:r>
              <a:rPr lang="en-US" dirty="0"/>
              <a:t>actually, learn important theoretical concepts that apply to nearly every data storage system past and present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23D44-A265-4C35-B3D9-34A1C005FE0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084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877F9-7375-4E4B-7BD8-0FF182627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90B1C-4DBF-D53A-C472-580913F35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standard for Relational </a:t>
            </a:r>
            <a:r>
              <a:rPr lang="en-GB" dirty="0" err="1"/>
              <a:t>DataBase</a:t>
            </a:r>
            <a:r>
              <a:rPr lang="en-GB" dirty="0"/>
              <a:t> Management Systems: SQLite, </a:t>
            </a:r>
            <a:r>
              <a:rPr lang="en-GB" dirty="0" err="1"/>
              <a:t>PostGreSQL</a:t>
            </a:r>
            <a:r>
              <a:rPr lang="en-GB" dirty="0"/>
              <a:t> (most advanced Open Source DB), MySQL/MariaDB, SQL Server, Oracle, …</a:t>
            </a:r>
          </a:p>
          <a:p>
            <a:r>
              <a:rPr lang="en-US" dirty="0"/>
              <a:t>NoSQL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44910E-C2BC-D611-5867-B0EC9953C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519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AC6E0-90C0-4E98-B5AD-CD1BFC6B8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Non Procedural, Declarative Programming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9FFB6-E103-499A-953A-5EC1B1828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(procedural) programming languages - variables and data structures, using conditional logic (i.e., if-then-else) and looping constructs (i.e., do while ... end), ….</a:t>
            </a:r>
          </a:p>
          <a:p>
            <a:r>
              <a:rPr lang="en-US" dirty="0"/>
              <a:t>procedural language defines both desired results and mechanism, or process, by which results are generated</a:t>
            </a:r>
          </a:p>
          <a:p>
            <a:r>
              <a:rPr lang="en-US" dirty="0"/>
              <a:t>nonprocedural languages define desired results, but process by which results are generated is left to an external agent</a:t>
            </a:r>
          </a:p>
          <a:p>
            <a:r>
              <a:rPr lang="en-US" dirty="0"/>
              <a:t>manner in which statement is executed is left to component of your database engine known as </a:t>
            </a:r>
            <a:r>
              <a:rPr lang="en-US" i="1" dirty="0"/>
              <a:t>query optimizer</a:t>
            </a:r>
          </a:p>
          <a:p>
            <a:r>
              <a:rPr lang="en-US" dirty="0"/>
              <a:t>integrate SQL with programming language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8C8E12-F0A8-40B8-BE44-16302CAEE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807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pronounce SQL "sequel“</a:t>
            </a:r>
          </a:p>
          <a:p>
            <a:r>
              <a:rPr lang="en-US" dirty="0"/>
              <a:t>but you can also say "ESS-QUEUE-ELL" if you want</a:t>
            </a:r>
          </a:p>
          <a:p>
            <a:r>
              <a:rPr lang="en-US" dirty="0"/>
              <a:t>stands for Structured Query Language </a:t>
            </a:r>
          </a:p>
          <a:p>
            <a:r>
              <a:rPr lang="en-US" dirty="0"/>
              <a:t>language for interacting with data in (relational) database</a:t>
            </a:r>
          </a:p>
          <a:p>
            <a:r>
              <a:rPr lang="en-US" dirty="0"/>
              <a:t>matches theory established many years ago defining properties of well structured data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23D44-A265-4C35-B3D9-34A1C005FE0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797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Create </a:t>
            </a:r>
          </a:p>
          <a:p>
            <a:pPr lvl="1"/>
            <a:r>
              <a:rPr lang="en-US" dirty="0"/>
              <a:t>putting data into tables - </a:t>
            </a:r>
            <a:r>
              <a:rPr lang="en-US" sz="3000" dirty="0"/>
              <a:t>INSERT</a:t>
            </a:r>
            <a:endParaRPr lang="en-US" dirty="0"/>
          </a:p>
          <a:p>
            <a:r>
              <a:rPr lang="en-US" dirty="0"/>
              <a:t>Read </a:t>
            </a:r>
          </a:p>
          <a:p>
            <a:pPr lvl="1"/>
            <a:r>
              <a:rPr lang="en-US" dirty="0"/>
              <a:t>query data out of tables - </a:t>
            </a:r>
            <a:r>
              <a:rPr lang="en-US" sz="3000" dirty="0"/>
              <a:t>SELECT</a:t>
            </a:r>
            <a:endParaRPr lang="en-US" dirty="0"/>
          </a:p>
          <a:p>
            <a:r>
              <a:rPr lang="en-US" dirty="0"/>
              <a:t>Update </a:t>
            </a:r>
          </a:p>
          <a:p>
            <a:pPr lvl="1"/>
            <a:r>
              <a:rPr lang="en-US" dirty="0"/>
              <a:t>change data already in table - </a:t>
            </a:r>
            <a:r>
              <a:rPr lang="en-US" sz="3000" dirty="0"/>
              <a:t>UPDATE</a:t>
            </a:r>
            <a:endParaRPr lang="en-US" dirty="0"/>
          </a:p>
          <a:p>
            <a:r>
              <a:rPr lang="en-US" dirty="0"/>
              <a:t>Delete </a:t>
            </a:r>
          </a:p>
          <a:p>
            <a:pPr lvl="1"/>
            <a:r>
              <a:rPr lang="en-US" dirty="0"/>
              <a:t>remove data from table – </a:t>
            </a:r>
            <a:r>
              <a:rPr lang="en-US" sz="3000" dirty="0"/>
              <a:t>DELETE</a:t>
            </a:r>
            <a:endParaRPr lang="en-US" dirty="0"/>
          </a:p>
          <a:p>
            <a:r>
              <a:rPr lang="en-US" dirty="0"/>
              <a:t>acronym "CRUD" is considered fundamental set of features every data storage system must have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23D44-A265-4C35-B3D9-34A1C005FE0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027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F7756-688F-FAAB-5593-75F6A5B8B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82072-C04C-CFA6-6B64-7841A77D6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imagine here some (nude) pictures of famous Daniela </a:t>
            </a:r>
            <a:r>
              <a:rPr lang="en-GB" dirty="0" err="1"/>
              <a:t>CRUDu</a:t>
            </a:r>
            <a:r>
              <a:rPr lang="en-GB" dirty="0"/>
              <a:t> …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24C9ED-D753-FD4F-3D21-62075BEC8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454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462A4-F3F8-5C80-4DB1-230910013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Purpose of Database Systems:</a:t>
            </a:r>
            <a:br>
              <a:rPr lang="en-US" dirty="0"/>
            </a:br>
            <a:r>
              <a:rPr lang="en-US" dirty="0" err="1"/>
              <a:t>CRUDu</a:t>
            </a:r>
            <a:r>
              <a:rPr lang="en-US" dirty="0"/>
              <a:t>, Daniela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EC4D5-770F-7310-815F-53BA7D8A6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9</a:t>
            </a:fld>
            <a:endParaRPr lang="en-US"/>
          </a:p>
        </p:txBody>
      </p:sp>
      <p:pic>
        <p:nvPicPr>
          <p:cNvPr id="1026" name="Picture 2" descr="Daniela Crudu - breasts">
            <a:extLst>
              <a:ext uri="{FF2B5EF4-FFF2-40B4-BE49-F238E27FC236}">
                <a16:creationId xmlns:a16="http://schemas.microsoft.com/office/drawing/2014/main" id="{E3CBBAC2-7738-7E60-7715-578D60498F9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906" y="2265164"/>
            <a:ext cx="6072188" cy="3186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9398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SQL - language for doing CRUD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SQL Data Definition Language - DDL</a:t>
            </a:r>
          </a:p>
          <a:p>
            <a:r>
              <a:rPr lang="en-US" dirty="0"/>
              <a:t>to produce new tables or alter existing ones</a:t>
            </a:r>
          </a:p>
          <a:p>
            <a:r>
              <a:rPr lang="en-US" dirty="0"/>
              <a:t>SQL only knows tables, and every operation produces tables</a:t>
            </a:r>
          </a:p>
          <a:p>
            <a:pPr lvl="1"/>
            <a:r>
              <a:rPr lang="en-US" dirty="0"/>
              <a:t>by modifying an existing one</a:t>
            </a:r>
          </a:p>
          <a:p>
            <a:pPr lvl="1"/>
            <a:r>
              <a:rPr lang="en-US" dirty="0"/>
              <a:t>or it returns new temporary table as your data set</a:t>
            </a:r>
          </a:p>
          <a:p>
            <a:r>
              <a:rPr lang="en-US" dirty="0"/>
              <a:t> SQL Data Manipulation Language – DML</a:t>
            </a:r>
          </a:p>
          <a:p>
            <a:r>
              <a:rPr lang="en-US" dirty="0"/>
              <a:t>SQL Security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23D44-A265-4C35-B3D9-34A1C005FE0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492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8B8A5-1DFC-4BDE-AD4B-F02FACD18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600" b="1" dirty="0"/>
              <a:t>SELECT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79DBD-1789-4839-91A8-9AD884452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2E8E20-5B9C-4C51-B52D-333F25197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852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sqlzoo.net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 laboratory works</a:t>
            </a:r>
          </a:p>
          <a:p>
            <a:r>
              <a:rPr lang="en-US" dirty="0"/>
              <a:t>A Gentle Introduction to </a:t>
            </a:r>
          </a:p>
          <a:p>
            <a:r>
              <a:rPr lang="en-US" dirty="0"/>
              <a:t>Structured Query Language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Why is it called SQLzoo?</a:t>
            </a:r>
            <a:endParaRPr lang="en-US"/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The animals of this zoo are SQL engines - one of each species</a:t>
            </a:r>
          </a:p>
          <a:p>
            <a:r>
              <a:rPr lang="en-GB"/>
              <a:t>They have been caged and tamed</a:t>
            </a:r>
          </a:p>
          <a:p>
            <a:r>
              <a:rPr lang="en-GB"/>
              <a:t>The public can poke, prod and gawp - the exhibits and the public are protected from each other</a:t>
            </a:r>
          </a:p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Who runs this site?</a:t>
            </a:r>
            <a:endParaRPr lang="en-US"/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Andrew Cumming is a lecturer at Napier University in Edinburgh, Scotland, UK</a:t>
            </a:r>
          </a:p>
          <a:p>
            <a:r>
              <a:rPr lang="en-GB"/>
              <a:t>is the zoo keeper, he feeds the animals and shovels away the waste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Can I shake his hand?</a:t>
            </a:r>
            <a:br>
              <a:rPr lang="en-GB"/>
            </a:br>
            <a:r>
              <a:rPr lang="en-GB"/>
              <a:t>buy him a drink?</a:t>
            </a:r>
            <a:endParaRPr lang="en-US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Next time you are visiting Edinburgh, UK you can shake his hand at the Tollcross State Circus which meets on Monday, 7pm to 9pm in Tollcross primary school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Can I buy him a drink?</a:t>
            </a:r>
            <a:endParaRPr lang="en-US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can buy him a drink afterwards, in the Blue Blazer, </a:t>
            </a:r>
            <a:r>
              <a:rPr lang="en-GB" dirty="0" err="1"/>
              <a:t>Spittal</a:t>
            </a:r>
            <a:r>
              <a:rPr lang="en-GB" dirty="0"/>
              <a:t> Street; a pint of 80 Shilling please</a:t>
            </a:r>
          </a:p>
          <a:p>
            <a:r>
              <a:rPr lang="en-GB" dirty="0"/>
              <a:t>I (not </a:t>
            </a:r>
            <a:r>
              <a:rPr lang="en-GB" dirty="0" err="1"/>
              <a:t>Techical</a:t>
            </a:r>
            <a:r>
              <a:rPr lang="en-GB" dirty="0"/>
              <a:t> University of </a:t>
            </a:r>
            <a:r>
              <a:rPr lang="en-GB" dirty="0" err="1"/>
              <a:t>Cluj</a:t>
            </a:r>
            <a:r>
              <a:rPr lang="en-GB" dirty="0"/>
              <a:t> </a:t>
            </a:r>
            <a:r>
              <a:rPr lang="en-GB" dirty="0" err="1"/>
              <a:t>Napoca</a:t>
            </a:r>
            <a:r>
              <a:rPr lang="en-GB" dirty="0"/>
              <a:t>) will reimburse the expenses </a:t>
            </a:r>
          </a:p>
          <a:p>
            <a:pPr lvl="1"/>
            <a:r>
              <a:rPr lang="en-GB" dirty="0"/>
              <a:t>bring a proof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Notes for teachers</a:t>
            </a:r>
            <a:endParaRPr lang="en-US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600" i="1"/>
              <a:t>This material was designed to be used in supervised tutorials at Napier University</a:t>
            </a:r>
          </a:p>
          <a:p>
            <a:r>
              <a:rPr lang="en-GB" sz="2400"/>
              <a:t>Teachers from other institutions are welcome to use it in any way they see fit, however I have a few requests / suggestions:</a:t>
            </a:r>
          </a:p>
          <a:p>
            <a:r>
              <a:rPr lang="en-GB" sz="2400"/>
              <a:t>Reliability of the SQL Engines</a:t>
            </a:r>
          </a:p>
          <a:p>
            <a:pPr lvl="1"/>
            <a:r>
              <a:rPr lang="en-GB" sz="2000"/>
              <a:t>Sometimes long running processes accumulate</a:t>
            </a:r>
          </a:p>
          <a:p>
            <a:r>
              <a:rPr lang="en-GB" sz="2400"/>
              <a:t>Feedback</a:t>
            </a:r>
          </a:p>
          <a:p>
            <a:pPr lvl="1"/>
            <a:r>
              <a:rPr lang="en-GB" sz="2000"/>
              <a:t>If you are making use of this material please let me know what worked well and what didn‘t</a:t>
            </a:r>
          </a:p>
          <a:p>
            <a:pPr lvl="1"/>
            <a:r>
              <a:rPr lang="en-GB" sz="2000"/>
              <a:t>Let me know if any of the questions are poorly phrased or confusing. I have tried to keep the language as simple as possible. Many students do not have English as their first language - I would like to hear more from them </a:t>
            </a:r>
            <a:endParaRPr lang="en-US" sz="20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Acknowledgements</a:t>
            </a:r>
            <a:endParaRPr lang="en-US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2800"/>
              <a:t>The CIA</a:t>
            </a:r>
          </a:p>
          <a:p>
            <a:pPr lvl="1"/>
            <a:r>
              <a:rPr lang="en-GB" sz="2400"/>
              <a:t>Not just spying and wet work, they help you with your geography homework</a:t>
            </a:r>
          </a:p>
          <a:p>
            <a:r>
              <a:rPr lang="en-GB" sz="2800"/>
              <a:t>BBC News - </a:t>
            </a:r>
            <a:r>
              <a:rPr lang="en-GB" sz="2400"/>
              <a:t>Country Profiles</a:t>
            </a:r>
          </a:p>
          <a:p>
            <a:r>
              <a:rPr lang="en-GB" sz="2800"/>
              <a:t>Internet Movie Database</a:t>
            </a:r>
          </a:p>
          <a:p>
            <a:pPr lvl="1"/>
            <a:r>
              <a:rPr lang="en-GB" sz="2400"/>
              <a:t>wonderful way to waste hours</a:t>
            </a:r>
          </a:p>
          <a:p>
            <a:r>
              <a:rPr lang="en-GB" sz="2800"/>
              <a:t>Scotland's Parliament</a:t>
            </a:r>
          </a:p>
          <a:p>
            <a:pPr lvl="1"/>
            <a:r>
              <a:rPr lang="en-GB" sz="2400"/>
              <a:t>They've got my vote.</a:t>
            </a:r>
          </a:p>
          <a:p>
            <a:r>
              <a:rPr lang="en-GB" sz="2800"/>
              <a:t>TRAVELINE, Edinburgh City Council </a:t>
            </a:r>
          </a:p>
          <a:p>
            <a:r>
              <a:rPr lang="en-GB" sz="2800"/>
              <a:t>Amazon, New Scientist</a:t>
            </a:r>
            <a:endParaRPr lang="en-US" sz="2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Concepts and Principles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SQL Basic Concepts and Principles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23D44-A265-4C35-B3D9-34A1C005FE0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9957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851A17C-08F3-43C6-A108-0464FCBD9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449FD3C-E578-486A-98F3-5B36D5CCC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1970, Dr. E. F. Codd of IBM’s research laboratory published paper titled “A Relational Model of Data for Large Shared Data Banks” that proposed that data be represented as relations, sets of </a:t>
            </a:r>
            <a:r>
              <a:rPr lang="en-US" b="1" i="1" dirty="0"/>
              <a:t>tables</a:t>
            </a:r>
          </a:p>
          <a:p>
            <a:r>
              <a:rPr lang="en-US" dirty="0"/>
              <a:t>redundant data used to link records in different tables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B02B68-1AFD-4C4D-93FC-83E5467C5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95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20AE8-CB74-4C8A-832F-84C128AAB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0DDD7-0597-47CB-89FD-1BE6B7C72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each table in relational database includes information that uniquely identifies row in that table (known as </a:t>
            </a:r>
            <a:r>
              <a:rPr lang="en-US" b="1" i="1" dirty="0"/>
              <a:t>primary key</a:t>
            </a:r>
            <a:r>
              <a:rPr lang="en-US" dirty="0"/>
              <a:t>), along with additional information needed to describe entity completely</a:t>
            </a:r>
          </a:p>
          <a:p>
            <a:r>
              <a:rPr lang="en-US" dirty="0"/>
              <a:t>some tables also include information used to navigate to another table; this is where “redundant data” mentioned earlier comes in</a:t>
            </a:r>
          </a:p>
          <a:p>
            <a:r>
              <a:rPr lang="en-US" dirty="0"/>
              <a:t>these columns are known as </a:t>
            </a:r>
            <a:r>
              <a:rPr lang="en-US" b="1" i="1" dirty="0"/>
              <a:t>foreign keys</a:t>
            </a:r>
            <a:r>
              <a:rPr lang="en-US" dirty="0"/>
              <a:t>, and they serve purpose as lines that connect entities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51BE26-6398-4A4C-B9D0-9D5C62DF8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8117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6C1C9-3743-4304-829F-C767717BB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B8702-D405-4D31-8BD7-CAED1658A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Entity - something of interest to database user community; examples include customers, parts, geographic locations, etc.</a:t>
            </a:r>
          </a:p>
          <a:p>
            <a:r>
              <a:rPr lang="en-US" dirty="0"/>
              <a:t>Column - individual piece of data stored in table</a:t>
            </a:r>
          </a:p>
          <a:p>
            <a:r>
              <a:rPr lang="en-US" dirty="0"/>
              <a:t>Row - set of columns that together completely describe entity; also called record</a:t>
            </a:r>
          </a:p>
          <a:p>
            <a:r>
              <a:rPr lang="en-US" dirty="0"/>
              <a:t>Table - set of rows, held on permanent storage (persistent)</a:t>
            </a:r>
          </a:p>
          <a:p>
            <a:r>
              <a:rPr lang="en-US" dirty="0"/>
              <a:t>Result set - another name for nonpersistent table, generally result of SQL query</a:t>
            </a:r>
          </a:p>
          <a:p>
            <a:r>
              <a:rPr lang="en-US" dirty="0"/>
              <a:t>Primary Key - one or more columns that can be used as  unique identifier for each row in table</a:t>
            </a:r>
          </a:p>
          <a:p>
            <a:r>
              <a:rPr lang="en-US" dirty="0"/>
              <a:t>Foreign Key - one or more columns that can be used together to identify single row in another table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BFD147-0FE5-49AC-98DA-BD2C1EDAB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346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D1E6E-0D16-44D8-8E0E-FE7FA7614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E1FA7-2634-4FBC-A8C3-74A72CD98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Result set - another name for nonpersistent table, generally result of SQL query</a:t>
            </a:r>
          </a:p>
          <a:p>
            <a:endParaRPr lang="en-US" dirty="0"/>
          </a:p>
          <a:p>
            <a:r>
              <a:rPr lang="en-US" dirty="0"/>
              <a:t>SQL goes with relational model - result of SQL query is table (also called, in this context, </a:t>
            </a:r>
            <a:r>
              <a:rPr lang="en-US" i="1" dirty="0"/>
              <a:t>result set</a:t>
            </a:r>
            <a:r>
              <a:rPr lang="en-US" dirty="0"/>
              <a:t>)</a:t>
            </a:r>
          </a:p>
          <a:p>
            <a:r>
              <a:rPr lang="en-US" dirty="0"/>
              <a:t>table can be created in relational database simply by storing result set of query</a:t>
            </a:r>
          </a:p>
          <a:p>
            <a:r>
              <a:rPr lang="en-US" dirty="0"/>
              <a:t>query can use both permanent tables and result sets from other queries as inputs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8EAD4F-BE2D-4B52-B16D-E54A24C0C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0660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AF69DA9-5765-C716-7E88-49893373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 Wars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FBB2479-F489-6501-AA93-A02576E181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4ED2D5-4C92-EDF3-AD9D-56118431D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84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686C7DE-4B60-0BF4-9E13-683982774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794" y="-4588130"/>
            <a:ext cx="8229600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5BF0334-607C-8FAE-CEAF-2FFDDA757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522287"/>
          </a:xfrm>
        </p:spPr>
        <p:txBody>
          <a:bodyPr/>
          <a:lstStyle/>
          <a:p>
            <a:r>
              <a:rPr lang="en-US" dirty="0"/>
              <a:t>Release order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2FED594-7DF2-7F61-81FA-D41897951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0" y="2057400"/>
            <a:ext cx="4497388" cy="4298950"/>
          </a:xfrm>
        </p:spPr>
        <p:txBody>
          <a:bodyPr>
            <a:noAutofit/>
          </a:bodyPr>
          <a:lstStyle/>
          <a:p>
            <a:r>
              <a:rPr lang="en-US" sz="1600" dirty="0"/>
              <a:t>Star Wars: A New Hope (Episode IV) (1977)</a:t>
            </a:r>
          </a:p>
          <a:p>
            <a:r>
              <a:rPr lang="en-US" sz="1600" dirty="0"/>
              <a:t>Star Wars: The Empire Strikes Back (Episode V) (1980)</a:t>
            </a:r>
          </a:p>
          <a:p>
            <a:r>
              <a:rPr lang="en-US" sz="1600" dirty="0"/>
              <a:t>Star Wars: Return of the Jedi (Episode VI) (1983)</a:t>
            </a:r>
          </a:p>
          <a:p>
            <a:r>
              <a:rPr lang="en-US" sz="1600" dirty="0"/>
              <a:t>Star Wars: The Phantom Menace (Episode I) (1999)</a:t>
            </a:r>
          </a:p>
          <a:p>
            <a:r>
              <a:rPr lang="en-US" sz="1600" dirty="0"/>
              <a:t>Star Wars: Attack of the Clones (Episode II) (2002)</a:t>
            </a:r>
          </a:p>
          <a:p>
            <a:r>
              <a:rPr lang="en-US" sz="1600" dirty="0"/>
              <a:t>Star Wars: Revenge of the Sith (Episode III) (2005)</a:t>
            </a:r>
          </a:p>
          <a:p>
            <a:r>
              <a:rPr lang="en-US" sz="1600" dirty="0"/>
              <a:t>Star Wars: The Force Awakens (Episode VII) (2015)</a:t>
            </a:r>
          </a:p>
          <a:p>
            <a:r>
              <a:rPr lang="en-US" sz="1600" dirty="0"/>
              <a:t>Star Wars: The Last Jedi (Episode VIII) (2017)</a:t>
            </a:r>
          </a:p>
          <a:p>
            <a:r>
              <a:rPr lang="en-US" sz="1600" dirty="0"/>
              <a:t>Star Wars: The Rise of Skywalker (Episode IX) (2019)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7A5C3EC-1299-5BEE-A9CE-EE3420B82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522287"/>
          </a:xfrm>
        </p:spPr>
        <p:txBody>
          <a:bodyPr/>
          <a:lstStyle/>
          <a:p>
            <a:r>
              <a:rPr lang="en-US" dirty="0"/>
              <a:t>Chronological order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66EAAF4-A3AC-86D1-981D-7DE3AA3F7B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5025" y="2057400"/>
            <a:ext cx="4422775" cy="4298950"/>
          </a:xfrm>
        </p:spPr>
        <p:txBody>
          <a:bodyPr>
            <a:noAutofit/>
          </a:bodyPr>
          <a:lstStyle/>
          <a:p>
            <a:r>
              <a:rPr lang="en-US" sz="1600" dirty="0"/>
              <a:t>Star Wars: The Phantom Menace (Episode I) (1999)</a:t>
            </a:r>
          </a:p>
          <a:p>
            <a:r>
              <a:rPr lang="en-US" sz="1600" dirty="0"/>
              <a:t>Star Wars: Attack of the Clones (Episode II) (2002)</a:t>
            </a:r>
          </a:p>
          <a:p>
            <a:r>
              <a:rPr lang="en-US" sz="1600" dirty="0"/>
              <a:t>Star Wars: Revenge of the Sith (Episode III) (2005)</a:t>
            </a:r>
          </a:p>
          <a:p>
            <a:r>
              <a:rPr lang="en-US" sz="1600" dirty="0"/>
              <a:t>Star Wars: A New Hope (Episode IV) (1977)</a:t>
            </a:r>
          </a:p>
          <a:p>
            <a:r>
              <a:rPr lang="en-US" sz="1600" dirty="0"/>
              <a:t>Star Wars: The Empire Strikes Back (Episode V) (1980)</a:t>
            </a:r>
          </a:p>
          <a:p>
            <a:r>
              <a:rPr lang="en-US" sz="1600" dirty="0"/>
              <a:t>Star Wars: Return of the Jedi (Episode VI) (1983)</a:t>
            </a:r>
          </a:p>
          <a:p>
            <a:r>
              <a:rPr lang="en-US" sz="1600" dirty="0"/>
              <a:t>Star Wars: The Force Awakens (Episode VII) (2015)</a:t>
            </a:r>
          </a:p>
          <a:p>
            <a:r>
              <a:rPr lang="en-US" sz="1600" dirty="0"/>
              <a:t>Star Wars: The Last Jedi (Episode VIII) (2017)</a:t>
            </a:r>
          </a:p>
          <a:p>
            <a:r>
              <a:rPr lang="en-US" sz="1600" dirty="0"/>
              <a:t>Star Wars: The Rise of Skywalker (Episode IX) (2019)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942CF-5C4E-23BE-DA42-1288798E9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1026" name="Picture 2" descr="Star Wars Logos: The evolution of a film icon - Vistaprint ...">
            <a:extLst>
              <a:ext uri="{FF2B5EF4-FFF2-40B4-BE49-F238E27FC236}">
                <a16:creationId xmlns:a16="http://schemas.microsoft.com/office/drawing/2014/main" id="{241600B9-E06A-7BA0-DC3F-5D0C2915C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116" y="45910"/>
            <a:ext cx="25336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6F5D806-1B40-111E-B806-405394EC0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7005" y="27526"/>
            <a:ext cx="25717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77594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D740A-D0C1-097D-96BA-129C013A9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E84F6A6-11FC-2C53-76EE-C6270BF89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DataBases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2D559BF-3B64-5953-B693-089D0873E0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7DC9F1-962C-844F-BEF3-684D17EDB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8730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A4E55A6-94B8-8EFD-0DB1-0F1997D28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DataBase</a:t>
            </a:r>
            <a:r>
              <a:rPr lang="en-US" dirty="0"/>
              <a:t> Laboratory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510B2AA-FA3B-4DDD-4E7B-FF565B9ED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14 weeks semester university course about </a:t>
            </a:r>
            <a:r>
              <a:rPr lang="en-US" sz="2800" dirty="0" err="1"/>
              <a:t>DataBase</a:t>
            </a:r>
            <a:endParaRPr lang="en-US" sz="2800" dirty="0"/>
          </a:p>
          <a:p>
            <a:r>
              <a:rPr lang="en-US" sz="2800" dirty="0"/>
              <a:t>organized in many parts of the three: </a:t>
            </a:r>
          </a:p>
          <a:p>
            <a:pPr lvl="1"/>
            <a:r>
              <a:rPr lang="en-US" dirty="0"/>
              <a:t>three parts Structured Query Language SQL, </a:t>
            </a:r>
          </a:p>
          <a:p>
            <a:pPr lvl="1"/>
            <a:r>
              <a:rPr lang="en-US" dirty="0"/>
              <a:t>three parts relational databases (SQLite and </a:t>
            </a:r>
            <a:r>
              <a:rPr lang="en-US" dirty="0" err="1"/>
              <a:t>PostGreSQL</a:t>
            </a:r>
            <a:r>
              <a:rPr lang="en-US" dirty="0"/>
              <a:t>),</a:t>
            </a:r>
          </a:p>
          <a:p>
            <a:pPr lvl="1"/>
            <a:r>
              <a:rPr lang="en-US" dirty="0"/>
              <a:t>three parts more relational database,</a:t>
            </a:r>
          </a:p>
          <a:p>
            <a:pPr lvl="1"/>
            <a:r>
              <a:rPr lang="en-US" dirty="0"/>
              <a:t>three parts developing applications with database</a:t>
            </a:r>
          </a:p>
          <a:p>
            <a:pPr lvl="1"/>
            <a:r>
              <a:rPr lang="en-US" dirty="0"/>
              <a:t>non-relational databases</a:t>
            </a:r>
          </a:p>
          <a:p>
            <a:pPr lvl="1"/>
            <a:r>
              <a:rPr lang="en-US" dirty="0"/>
              <a:t>…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9D68684-74AF-AB6F-F63C-D34E92F8D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5366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37839-CF8F-42DF-CEC1-02EB3BFFC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CE657-7002-79F8-835A-DD2FB0411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for practicing with databases, we don’t need three but only two things: </a:t>
            </a:r>
          </a:p>
          <a:p>
            <a:pPr lvl="1"/>
            <a:r>
              <a:rPr lang="en-US" dirty="0"/>
              <a:t>back-end: access to a database server, database engine</a:t>
            </a:r>
          </a:p>
          <a:p>
            <a:pPr lvl="1"/>
            <a:r>
              <a:rPr lang="en-US" dirty="0"/>
              <a:t>front-end: a tool to work with databases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ADC6A-2193-1B9E-317D-5C1950AC5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7821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FA6C0-BE70-CC77-3D23-86F2EEA76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F73A52D-ECD9-A56F-8667-68B1D0C62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BackEND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50504BF-3B49-F886-C6F4-EB5282144C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SQLite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8A724D-67D9-6A8E-F032-15B1AE1F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5354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869AC-C582-780D-34C4-C16219593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hlinkClick r:id="rId2"/>
              </a:rPr>
              <a:t>SQLite Home Page</a:t>
            </a:r>
            <a:br>
              <a:rPr lang="en-US" dirty="0"/>
            </a:br>
            <a:r>
              <a:rPr lang="en-US" dirty="0">
                <a:hlinkClick r:id="rId2"/>
              </a:rPr>
              <a:t>https://www.sqlite.org/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48DA1-E46C-77C7-08A6-3533C13AD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/>
          </a:bodyPr>
          <a:lstStyle/>
          <a:p>
            <a:r>
              <a:rPr lang="en-US" sz="2800" dirty="0"/>
              <a:t>SQLite is a C-language library that implements a small, fast, self-contained, high-reliability, full-featured, relational database engine</a:t>
            </a:r>
          </a:p>
          <a:p>
            <a:r>
              <a:rPr lang="en-US" sz="2800" dirty="0"/>
              <a:t>most used database engine in the world</a:t>
            </a:r>
          </a:p>
          <a:p>
            <a:pPr lvl="1"/>
            <a:r>
              <a:rPr lang="en-US" sz="2700" dirty="0"/>
              <a:t>built into mobile phones applications, bundled inside countless other applications</a:t>
            </a:r>
          </a:p>
          <a:p>
            <a:pPr lvl="1"/>
            <a:r>
              <a:rPr lang="en-US" sz="2700" dirty="0"/>
              <a:t>there are over 1 trillion SQLite databases in active us</a:t>
            </a:r>
            <a:r>
              <a:rPr lang="en-US" dirty="0"/>
              <a:t>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64250A-FDBB-53FC-F6DA-C71C10043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3241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25968-1CDE-940C-EFCC-FEE07CBFF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75092-6D2C-D7C2-D91E-1F73AF0CE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5" name="Content Placeholder 4" descr="SQLite Logo transparent PNG - StickPNG">
            <a:extLst>
              <a:ext uri="{FF2B5EF4-FFF2-40B4-BE49-F238E27FC236}">
                <a16:creationId xmlns:a16="http://schemas.microsoft.com/office/drawing/2014/main" id="{8291F5AB-0008-1853-B776-E6E5742086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437" y="2791619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71039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DD5D5-0574-859B-6429-00761C89B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A00AC-AA13-7876-C17E-121B58514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700" dirty="0"/>
              <a:t>SQLite source code is in the public-domain</a:t>
            </a:r>
          </a:p>
          <a:p>
            <a:r>
              <a:rPr lang="en-US" sz="2700" dirty="0"/>
              <a:t>free to everyone to use for any purpose</a:t>
            </a:r>
          </a:p>
          <a:p>
            <a:r>
              <a:rPr lang="en-US" sz="2700" dirty="0"/>
              <a:t>file format is stable, cross-platform, and backwards compatible </a:t>
            </a:r>
          </a:p>
          <a:p>
            <a:pPr lvl="1"/>
            <a:r>
              <a:rPr lang="en-US" sz="2300" dirty="0"/>
              <a:t>developers pledge to keep it that way through the year 2050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B208A-CF11-27E7-7153-1C2005F88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6964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21F0D-6A4D-DF44-C818-119B6C603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3941A-B05A-A91E-9657-FDB2A79DC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F619F-9566-668D-A6DB-AD67727ED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700" dirty="0"/>
              <a:t>a complete database is stored in a single cross-platform disk file, it is a </a:t>
            </a:r>
            <a:r>
              <a:rPr lang="en-US" sz="2700" b="1" i="1" dirty="0"/>
              <a:t>document database</a:t>
            </a:r>
          </a:p>
          <a:p>
            <a:r>
              <a:rPr lang="en-US" sz="2700" dirty="0"/>
              <a:t>zero-configuration - no setup or administration needed</a:t>
            </a:r>
          </a:p>
          <a:p>
            <a:r>
              <a:rPr lang="en-US" sz="2700" dirty="0"/>
              <a:t>full-featured SQL complaint relational database implementation with advanced capabilities like indexes, support for JSON, … </a:t>
            </a:r>
          </a:p>
          <a:p>
            <a:r>
              <a:rPr lang="en-US" sz="2700" dirty="0"/>
              <a:t>supports terabyte-sized databases and gigabyte-sized strings and blobs</a:t>
            </a:r>
          </a:p>
          <a:p>
            <a:r>
              <a:rPr lang="en-US" sz="2700" dirty="0"/>
              <a:t>small code footprint: less than 750KB fully configured or much less with optional features omitted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00432-B59A-4246-51A4-8DE092996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9611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BF30D-808E-0FD0-3E24-3A6CDC62F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67473-9CE3-EC57-FF72-D12124D5D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F62F1-CBBC-7B93-DD23-A49E64515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700" dirty="0"/>
              <a:t>written in ANSI-C - simple, easy to use API; bindings for dozens of other languages are available</a:t>
            </a:r>
          </a:p>
          <a:p>
            <a:r>
              <a:rPr lang="en-US" sz="2700" dirty="0"/>
              <a:t>self-contained: no external dependencies</a:t>
            </a:r>
          </a:p>
          <a:p>
            <a:r>
              <a:rPr lang="en-US" sz="2700" dirty="0"/>
              <a:t>cross-platform: Android, iOS, Linux, Mac, Solaris, and Windows are supported out of the box</a:t>
            </a:r>
          </a:p>
          <a:p>
            <a:r>
              <a:rPr lang="en-US" sz="2700" dirty="0"/>
              <a:t>fast: in some cases, SQLite is faster than direct filesystem I/O</a:t>
            </a:r>
          </a:p>
          <a:p>
            <a:r>
              <a:rPr lang="en-US" sz="2700" dirty="0"/>
              <a:t>transactions in SQLite are Atomic, Consistent, Isolated, and Durable (ACID) even after system crashes and power failures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E888A-C690-0F0B-9062-F2E1444D7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7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6A119-7F0C-46A7-0B8A-A649D8DC0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SQLite </a:t>
            </a:r>
            <a:br>
              <a:rPr lang="en-US" dirty="0"/>
            </a:br>
            <a:r>
              <a:rPr lang="en-US" dirty="0"/>
              <a:t>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14582-9093-D6D5-E4C3-0F046F354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love Apple Mac OS and Linux but we take into consideration that majority of students have Microsoft Windows operating system workstations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18D92-7E4A-0423-938F-41AD607BE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7037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40A7E-D767-2D50-C207-1411FD952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96DB5-BCF4-0702-1C1F-C486A5EF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SQLite </a:t>
            </a:r>
            <a:br>
              <a:rPr lang="en-US" dirty="0"/>
            </a:br>
            <a:r>
              <a:rPr lang="en-US" dirty="0"/>
              <a:t>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BF71E-DB35-CFD7-188B-70686BB52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SQLite does not have a separate server process like most other SQL databases – it is not a proper server</a:t>
            </a:r>
          </a:p>
          <a:p>
            <a:r>
              <a:rPr lang="en-US" sz="2800" dirty="0"/>
              <a:t>to install SQLite open download page </a:t>
            </a:r>
            <a:r>
              <a:rPr lang="en-US" sz="2800" dirty="0">
                <a:hlinkClick r:id="rId2"/>
              </a:rPr>
              <a:t>https://www.sqlite.org/download.html</a:t>
            </a:r>
            <a:endParaRPr lang="en-US" sz="2800" dirty="0"/>
          </a:p>
          <a:p>
            <a:r>
              <a:rPr lang="en-US" sz="2800" dirty="0"/>
              <a:t>then, download and extract the ZIP files with 64-bit DLL for SQLite - build products are named using following templates: sqlite-product-version.zip.</a:t>
            </a:r>
          </a:p>
          <a:p>
            <a:r>
              <a:rPr lang="en-US" sz="280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B951E-41E8-FD33-188F-A9493B41D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1283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A63F1-73D7-F322-CC16-C013ED27E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662D5-69C1-FDA5-937D-B5A326897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SQLite </a:t>
            </a:r>
            <a:br>
              <a:rPr lang="en-US" dirty="0"/>
            </a:br>
            <a:r>
              <a:rPr lang="en-US" dirty="0"/>
              <a:t>Installation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FC802-FF38-0A8A-0FAE-86BFA8CC2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5" name="Content Placeholder 4" descr="A close-up of a text&#10;&#10;AI-generated content may be incorrect.">
            <a:extLst>
              <a:ext uri="{FF2B5EF4-FFF2-40B4-BE49-F238E27FC236}">
                <a16:creationId xmlns:a16="http://schemas.microsoft.com/office/drawing/2014/main" id="{E12C9B67-B0EF-3C5A-D7D0-80C53F2A13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" y="1828797"/>
            <a:ext cx="9037494" cy="138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1671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FC42D-95CE-24BF-CB36-4A5E26EB8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A2F80-4E2F-662C-9FAA-FA7488D77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SQLite </a:t>
            </a:r>
            <a:br>
              <a:rPr lang="en-US" dirty="0"/>
            </a:br>
            <a:r>
              <a:rPr lang="en-US" dirty="0"/>
              <a:t>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EC7E9-7EEF-C9C7-20E1-C88459CE3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SQLite-dll-win-x64-3.50.0 ZIP file extraction, save following files </a:t>
            </a:r>
          </a:p>
          <a:p>
            <a:r>
              <a:rPr lang="en-US" sz="2800" dirty="0"/>
              <a:t>move SQLite files into an appropriate folder on your operating system and then add that folder to your operating system’s PATH variable in order to make the database globally accessible. </a:t>
            </a:r>
          </a:p>
          <a:p>
            <a:r>
              <a:rPr lang="en-US" sz="2800" dirty="0"/>
              <a:t>in C:\WINDOWS\system32 folder (or any other that is in your PATH); this folder contains important operating system files that Windows needs in order to function properly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C44E3-44CF-46E5-C4E3-17536FDC3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5714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1B24C-085B-686E-2D7B-D714D4F53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D4F2A-5D9D-4F34-4ACA-FEDF3A160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SQLite </a:t>
            </a:r>
            <a:br>
              <a:rPr lang="en-US" dirty="0"/>
            </a:br>
            <a:r>
              <a:rPr lang="en-US" dirty="0"/>
              <a:t>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FCE51-58D0-6158-CB0D-0A78D0166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move sqlite3.def and sqlite3.dll in in C:\WINDOWS\system32 folder 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0AAF4-CB72-58D1-2AD8-A6963D23A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93A414B-772F-4009-BE5F-E287D4AF3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2743200"/>
            <a:ext cx="8951609" cy="268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1995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CEE32-0BF7-74AD-9D88-FFD9AC479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58411-B5EF-D543-8608-23620F22B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many microdevices and Mac OS and Linux distributions come with SQLite preinstalled</a:t>
            </a:r>
          </a:p>
          <a:p>
            <a:r>
              <a:rPr lang="en-US" sz="2800" dirty="0"/>
              <a:t>always smart to check if it’s already installed</a:t>
            </a:r>
          </a:p>
          <a:p>
            <a:r>
              <a:rPr lang="en-US" sz="2800" dirty="0"/>
              <a:t>to verify SQLite on your local OS, simply issue the sqlite3 --version command in a terminal window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42551-44A6-2E2A-B856-F5EA023FC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7403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C2F36-E07B-C6DF-25EF-9BE5D6408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C6E429C-6D8B-DE1C-E1BA-46BF96163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FRONTEND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410C65E-3F84-5E61-9781-FC78850CA8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4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588AEF-6ECC-CEA4-7EDC-299675811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9876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E7422-7FDF-6E3D-2D31-3AA863ACC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Line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2CA3D-BA1B-6921-2564-C7CABCE8E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usually there are command line tools to interact with the database: sqlite3, </a:t>
            </a:r>
            <a:r>
              <a:rPr lang="en-US" sz="2800" dirty="0" err="1"/>
              <a:t>psql</a:t>
            </a:r>
            <a:r>
              <a:rPr lang="en-US" sz="2800" dirty="0"/>
              <a:t>, or other …</a:t>
            </a:r>
          </a:p>
          <a:p>
            <a:r>
              <a:rPr lang="en-US" sz="2800" dirty="0"/>
              <a:t>these tools can be used to enter SQL queries directly or execute them from a file</a:t>
            </a:r>
          </a:p>
          <a:p>
            <a:r>
              <a:rPr lang="en-US" sz="2800" dirty="0"/>
              <a:t>in addition, such tools provide several meta-commands and various shell-like features to facilitate writing and running scripts and automating a wide variety of tasks</a:t>
            </a:r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7CE5D-6308-10D6-D9A8-A772CA467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7346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793F1-C704-A722-75A0-23F2C7CB1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76064-5A98-65C7-D322-1BCD8360F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canonical database front end tools like </a:t>
            </a:r>
            <a:r>
              <a:rPr lang="en-US" sz="2800" u="sng" dirty="0" err="1">
                <a:hlinkClick r:id="rId2"/>
              </a:rPr>
              <a:t>pgAdmin</a:t>
            </a:r>
            <a:r>
              <a:rPr lang="en-US" sz="2800" u="sng" dirty="0">
                <a:hlinkClick r:id="rId2"/>
              </a:rPr>
              <a:t> - PostgreSQL Tools</a:t>
            </a:r>
            <a:r>
              <a:rPr lang="en-US" sz="2800" dirty="0"/>
              <a:t> </a:t>
            </a:r>
            <a:r>
              <a:rPr lang="en-US" sz="2800" u="sng" dirty="0">
                <a:hlinkClick r:id="rId2"/>
              </a:rPr>
              <a:t>https://www.pgadmin.org/</a:t>
            </a:r>
            <a:r>
              <a:rPr lang="en-US" sz="2800" dirty="0"/>
              <a:t> </a:t>
            </a:r>
          </a:p>
          <a:p>
            <a:r>
              <a:rPr lang="en-US" sz="2800" dirty="0"/>
              <a:t>free and open-source Graphical User Interface administration tool only for PostgreSQL, provided by the makers of </a:t>
            </a:r>
            <a:r>
              <a:rPr lang="en-US" sz="2800" dirty="0" err="1"/>
              <a:t>PostGreSQL</a:t>
            </a:r>
            <a:r>
              <a:rPr lang="en-US" sz="2800" dirty="0"/>
              <a:t>, which is supported on many computer platforms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EBC9B-76B8-396C-0E7B-9B1B1E607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9602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98FF5-F935-AAA6-C273-5AAC6A345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F9423-3DA0-E8C6-A607-34E1F0691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Autofit/>
          </a:bodyPr>
          <a:lstStyle/>
          <a:p>
            <a:r>
              <a:rPr lang="en-US" sz="2700" dirty="0"/>
              <a:t>works with many different </a:t>
            </a:r>
            <a:r>
              <a:rPr lang="en-US" sz="2700" dirty="0" err="1"/>
              <a:t>DataBase</a:t>
            </a:r>
            <a:r>
              <a:rPr lang="en-US" sz="2700" dirty="0"/>
              <a:t> Management Systems </a:t>
            </a:r>
          </a:p>
          <a:p>
            <a:r>
              <a:rPr lang="en-US" sz="2700" dirty="0"/>
              <a:t>for example, a very good one such tool is </a:t>
            </a:r>
            <a:r>
              <a:rPr lang="en-US" sz="2700" dirty="0" err="1">
                <a:hlinkClick r:id="rId2"/>
              </a:rPr>
              <a:t>DataGrip</a:t>
            </a:r>
            <a:r>
              <a:rPr lang="en-US" sz="2700" dirty="0">
                <a:hlinkClick r:id="rId2"/>
              </a:rPr>
              <a:t>: Cross-Platform IDE for Databases &amp; SQL by JetBrains</a:t>
            </a:r>
            <a:endParaRPr lang="en-US" sz="2700" dirty="0"/>
          </a:p>
          <a:p>
            <a:r>
              <a:rPr lang="en-US" sz="2700" dirty="0">
                <a:hlinkClick r:id="rId2"/>
              </a:rPr>
              <a:t>https://www.jetbrains.com/datagrip/</a:t>
            </a:r>
            <a:endParaRPr lang="en-US" sz="2700" dirty="0"/>
          </a:p>
          <a:p>
            <a:r>
              <a:rPr lang="en-US" sz="2700" dirty="0"/>
              <a:t>powerful cross-platform tool for relational and NoSQL databases</a:t>
            </a:r>
          </a:p>
          <a:p>
            <a:r>
              <a:rPr lang="en-US" sz="2700" dirty="0"/>
              <a:t>freely available in Student Pack for full-time students at accredited academic institutions in a program lasting at least one year based on university email address – could be renew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4D2EA0-E846-8DD2-4ECB-DD4D9632B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4045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868B7-7128-8A2D-B2B7-0331FE9CC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9C2FD-D218-9AE1-B11D-0581DD78F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recommend the use of </a:t>
            </a:r>
            <a:r>
              <a:rPr lang="en-US" sz="2800" dirty="0" err="1">
                <a:hlinkClick r:id="rId2"/>
              </a:rPr>
              <a:t>DBeaver</a:t>
            </a:r>
            <a:r>
              <a:rPr lang="en-US" sz="2800" dirty="0">
                <a:hlinkClick r:id="rId2"/>
              </a:rPr>
              <a:t> Community | Free Universal Database Tool https://dbeaver.io/</a:t>
            </a:r>
            <a:endParaRPr lang="en-US" sz="2800" dirty="0"/>
          </a:p>
          <a:p>
            <a:r>
              <a:rPr lang="en-US" sz="2800" dirty="0"/>
              <a:t>free cross-platform universal database tool for developers, database administrators, analysts, database managers and everyone working with data and databases</a:t>
            </a:r>
          </a:p>
          <a:p>
            <a:r>
              <a:rPr lang="en-US" sz="2800" dirty="0" err="1"/>
              <a:t>DBeaver</a:t>
            </a:r>
            <a:r>
              <a:rPr lang="en-US" sz="2800" dirty="0"/>
              <a:t> supports all popular SQL databases like PostgreSQL, SQLite, MySQL, MariaDB, SQL Server, Apache Family, and more.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B56D8-DBD2-481E-20D6-2DEC4D102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  <p:pic>
        <p:nvPicPr>
          <p:cNvPr id="5" name="Content Placeholder 4" descr="DBeaver - All Things Open 2024">
            <a:extLst>
              <a:ext uri="{FF2B5EF4-FFF2-40B4-BE49-F238E27FC236}">
                <a16:creationId xmlns:a16="http://schemas.microsoft.com/office/drawing/2014/main" id="{84B33151-2C43-6C33-DCFD-D48601BE46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598" y="274310"/>
            <a:ext cx="2266382" cy="12768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7396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6ACFE79-9781-4B4D-A2DA-F4FA9A3BE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F097C9-C762-4CB0-9AF9-0FCEA853D6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7FBDA5-E52F-4B0E-96A8-26BC5B364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8947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DD5C93F-03F5-17DF-B23A-F33B09D98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Best </a:t>
            </a:r>
            <a:r>
              <a:rPr lang="en-US" dirty="0" err="1"/>
              <a:t>DataBase</a:t>
            </a:r>
            <a:r>
              <a:rPr lang="en-US" dirty="0"/>
              <a:t> textbook?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8A23446-4668-940E-82C1-0CD427524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Past: An Introduction to Database Systems 1st Edition, by C. J. Date (Date, 1975) the father of </a:t>
            </a:r>
            <a:r>
              <a:rPr lang="en-US" dirty="0" err="1"/>
              <a:t>DataBase</a:t>
            </a:r>
            <a:r>
              <a:rPr lang="en-US" dirty="0"/>
              <a:t>, 8th Edition (Date C. , 2003)</a:t>
            </a:r>
          </a:p>
          <a:p>
            <a:r>
              <a:rPr lang="en-US" dirty="0"/>
              <a:t>Present: Database Management Systems, by Raghu Ramakrishnan and Johannes Gehrke (Gehrke, 2007).</a:t>
            </a:r>
          </a:p>
          <a:p>
            <a:r>
              <a:rPr lang="en-US" dirty="0"/>
              <a:t>Future: 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EBA74-DEA2-547C-3A48-3D76F2109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5274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391FE-CA41-0CE9-EF9E-47269A59B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future of data(base) education: Is the "cow book" dead?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0431D8-F1EF-55B9-8A5D-DE5B70B5E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C271861-99A7-A901-A89C-4D64E1BBDCB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463040"/>
            <a:ext cx="4059936" cy="5280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40114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90BF3-F676-882A-5D7A-F67FD68A2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39AA5-31B1-645A-2F5E-66F2B5EA0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Structured Query Language was presented using a simple star schema with Customers, Suppliers and Parts</a:t>
            </a:r>
          </a:p>
          <a:p>
            <a:r>
              <a:rPr lang="en-US" sz="2800" dirty="0"/>
              <a:t>in present times a database with Sailors, Boats and Reserves was used</a:t>
            </a:r>
          </a:p>
          <a:p>
            <a:endParaRPr lang="en-US" sz="2800" dirty="0"/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77139-F58A-8F4F-1DB2-0C2066E81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7686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42A0E-C43C-EDB5-80EB-4A176FD7F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F91C1-B064-CA58-B720-229E0FE89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draw our inspiration from</a:t>
            </a:r>
          </a:p>
          <a:p>
            <a:r>
              <a:rPr lang="en-US" dirty="0">
                <a:hlinkClick r:id="rId2"/>
              </a:rPr>
              <a:t>https://www.youtube.com/watch?v=FOt3oQ_k008</a:t>
            </a:r>
            <a:endParaRPr lang="en-US" dirty="0"/>
          </a:p>
          <a:p>
            <a:r>
              <a:rPr lang="en-US" dirty="0"/>
              <a:t>and All for Love </a:t>
            </a:r>
            <a:r>
              <a:rPr lang="en-US" dirty="0">
                <a:hlinkClick r:id="rId3"/>
              </a:rPr>
              <a:t>https://www.youtube.com/watch?v=ofA3URC1wyk</a:t>
            </a:r>
            <a:endParaRPr lang="en-US" dirty="0"/>
          </a:p>
          <a:p>
            <a:r>
              <a:rPr lang="en-US" dirty="0"/>
              <a:t>start database and </a:t>
            </a:r>
            <a:r>
              <a:rPr lang="en-US" dirty="0" err="1"/>
              <a:t>DBeaver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A1955-B25A-0A69-10F8-80557BA18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7081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6A191-A0B8-3449-1506-3EAFB7DE3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8E473-7341-FB8D-11A7-8DCDA7451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from the online on the book's webpage at </a:t>
            </a:r>
            <a:r>
              <a:rPr lang="en-US" sz="2800" u="sng" dirty="0">
                <a:hlinkClick r:id="rId2"/>
              </a:rPr>
              <a:t>http://www.cs.wisc.edu/-dbbook</a:t>
            </a:r>
            <a:endParaRPr lang="en-US" sz="2800" u="sng" dirty="0"/>
          </a:p>
          <a:p>
            <a:r>
              <a:rPr lang="en-US" sz="2800" dirty="0"/>
              <a:t>includes instructions on how to set up Oracle, IBM DB2, Microsoft SQL Server, and MySQL, and scripts for creating the example tables and queries.</a:t>
            </a:r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8B89B-8F99-7F13-7A3D-2BA0D7155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498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7B4F6-1806-A016-5BBF-06AFEF62A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528EF-514B-6037-1425-4FD3D35F9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52</a:t>
            </a:fld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84C3AF-56DD-B412-4851-EA70161559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" y="914400"/>
            <a:ext cx="8931948" cy="513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3240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EC138-9FF8-218F-9FF9-D623F030E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DBeaver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9AC6F-BE9D-6BA1-6878-B23DA956C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 – New – </a:t>
            </a:r>
            <a:r>
              <a:rPr lang="en-US" dirty="0" err="1"/>
              <a:t>DataBase</a:t>
            </a:r>
            <a:r>
              <a:rPr lang="en-US" dirty="0"/>
              <a:t> Connection </a:t>
            </a:r>
          </a:p>
          <a:p>
            <a:endParaRPr lang="en-US" dirty="0"/>
          </a:p>
          <a:p>
            <a:r>
              <a:rPr lang="en-US" dirty="0"/>
              <a:t>and Connect to SQLite </a:t>
            </a:r>
            <a:r>
              <a:rPr lang="en-US" dirty="0" err="1"/>
              <a:t>DataBase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9E85F-8F96-940C-055F-58B032EA0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53</a:t>
            </a:fld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21AF93-C3BA-9188-1A9F-0700E5D0A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3383280"/>
            <a:ext cx="3581400" cy="3379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3096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39FFA-6009-1A7B-2BAC-EB04E459C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A6719-028B-04A6-AAFA-4AA34C72F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Create a New </a:t>
            </a:r>
            <a:r>
              <a:rPr lang="en-US" sz="2800" dirty="0" err="1"/>
              <a:t>DataBase</a:t>
            </a:r>
            <a:r>
              <a:rPr lang="en-US" sz="2800" dirty="0"/>
              <a:t>; .</a:t>
            </a:r>
            <a:r>
              <a:rPr lang="en-US" sz="2800" dirty="0" err="1"/>
              <a:t>db</a:t>
            </a:r>
            <a:r>
              <a:rPr lang="en-US" sz="2800" dirty="0"/>
              <a:t> or .</a:t>
            </a:r>
            <a:r>
              <a:rPr lang="en-US" sz="2800" dirty="0" err="1"/>
              <a:t>sqlite</a:t>
            </a:r>
            <a:r>
              <a:rPr lang="en-US" sz="2800" dirty="0"/>
              <a:t> could be common extension names for a SQLite database. … 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09D85-9100-7FF5-17A7-8BBC0DFCB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54</a:t>
            </a:fld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D7F871-0CAF-7D89-00CB-21538DD20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43200"/>
            <a:ext cx="7593836" cy="3314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1326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8910-03D8-0F89-AD9D-96A42A983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B3EF5-9D5E-3054-0E64-1B59692DA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let’s open a new SQL script in newly created database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C0C3A-BA0F-5614-C027-012655FF4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55</a:t>
            </a:fld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747787F-5BE8-0585-BDB5-D49B11743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8057171" cy="379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0087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0789382-EDF3-FD0D-CCD8-966877689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FB43A7-E914-D344-779B-E6AD4D865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8600" y="274638"/>
            <a:ext cx="4267200" cy="5851525"/>
          </a:xfrm>
        </p:spPr>
        <p:txBody>
          <a:bodyPr>
            <a:noAutofit/>
          </a:bodyPr>
          <a:lstStyle/>
          <a:p>
            <a:r>
              <a:rPr lang="en-US" sz="1600" dirty="0"/>
              <a:t>CREATE TABLE  sailors  (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sid</a:t>
            </a:r>
            <a:r>
              <a:rPr lang="en-US" sz="1600" dirty="0"/>
              <a:t>  integer NOT NULL PRIMARY KEY,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sname</a:t>
            </a:r>
            <a:r>
              <a:rPr lang="en-US" sz="1600" dirty="0"/>
              <a:t>  varchar(50) NOT NULL,</a:t>
            </a:r>
          </a:p>
          <a:p>
            <a:r>
              <a:rPr lang="en-US" sz="1600" dirty="0"/>
              <a:t>    rating  integer NOT NULL,</a:t>
            </a:r>
          </a:p>
          <a:p>
            <a:r>
              <a:rPr lang="en-US" sz="1600" dirty="0"/>
              <a:t>    age  double NOT NULL	);</a:t>
            </a:r>
          </a:p>
          <a:p>
            <a:r>
              <a:rPr lang="en-US" sz="1600" dirty="0"/>
              <a:t>INSERT INTO sailors ( </a:t>
            </a:r>
            <a:r>
              <a:rPr lang="en-US" sz="1600" dirty="0" err="1"/>
              <a:t>sid</a:t>
            </a:r>
            <a:r>
              <a:rPr lang="en-US" sz="1600" dirty="0"/>
              <a:t>, </a:t>
            </a:r>
            <a:r>
              <a:rPr lang="en-US" sz="1600" dirty="0" err="1"/>
              <a:t>sname</a:t>
            </a:r>
            <a:r>
              <a:rPr lang="en-US" sz="1600" dirty="0"/>
              <a:t>, rating, age) </a:t>
            </a:r>
          </a:p>
          <a:p>
            <a:r>
              <a:rPr lang="en-US" sz="1600" dirty="0"/>
              <a:t>VALUES </a:t>
            </a:r>
          </a:p>
          <a:p>
            <a:r>
              <a:rPr lang="en-US" sz="1600" dirty="0"/>
              <a:t>( 22, 'Dustin', 7, 45.0),</a:t>
            </a:r>
          </a:p>
          <a:p>
            <a:r>
              <a:rPr lang="en-US" sz="1600" dirty="0"/>
              <a:t>( 29, 'Brutus', 1, 33.0),</a:t>
            </a:r>
          </a:p>
          <a:p>
            <a:r>
              <a:rPr lang="en-US" sz="1600" dirty="0"/>
              <a:t>( 31, 'Lubber', 8, 55.5),</a:t>
            </a:r>
          </a:p>
          <a:p>
            <a:r>
              <a:rPr lang="en-US" sz="1600" dirty="0"/>
              <a:t>( 32, 'Andy', 8, 25.5),</a:t>
            </a:r>
          </a:p>
          <a:p>
            <a:r>
              <a:rPr lang="en-US" sz="1600" dirty="0"/>
              <a:t>( 58, 'Rusty', 10, 35.0),</a:t>
            </a:r>
          </a:p>
          <a:p>
            <a:r>
              <a:rPr lang="en-US" sz="1600" dirty="0"/>
              <a:t>( 64, 'Horatio', 7, 35.0),</a:t>
            </a:r>
          </a:p>
          <a:p>
            <a:r>
              <a:rPr lang="en-US" sz="1600" dirty="0"/>
              <a:t>( 71, 'Zorba', 10, 16.0),</a:t>
            </a:r>
          </a:p>
          <a:p>
            <a:r>
              <a:rPr lang="en-US" sz="1600" dirty="0"/>
              <a:t>( 74, 'Horatio', 9, 35.0),</a:t>
            </a:r>
          </a:p>
          <a:p>
            <a:r>
              <a:rPr lang="en-US" sz="1600" dirty="0"/>
              <a:t>( 85, 'Art', 3, 25.5),</a:t>
            </a:r>
          </a:p>
          <a:p>
            <a:r>
              <a:rPr lang="en-US" sz="1600" dirty="0"/>
              <a:t>( 95, 'Bob', 3, 63.5);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FE2B88D-22E4-F7D7-B6D4-D90A9BD257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274638"/>
            <a:ext cx="4038600" cy="5851525"/>
          </a:xfrm>
        </p:spPr>
        <p:txBody>
          <a:bodyPr>
            <a:noAutofit/>
          </a:bodyPr>
          <a:lstStyle/>
          <a:p>
            <a:r>
              <a:rPr lang="en-US" sz="1600" dirty="0"/>
              <a:t>CREATE TABLE  boats  (</a:t>
            </a:r>
          </a:p>
          <a:p>
            <a:r>
              <a:rPr lang="en-US" sz="1600" dirty="0"/>
              <a:t>    bid  integer NOT NULL PRIMARY KEY,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bname</a:t>
            </a:r>
            <a:r>
              <a:rPr lang="en-US" sz="1600" dirty="0"/>
              <a:t>  varchar(50) NOT NULL,</a:t>
            </a:r>
          </a:p>
          <a:p>
            <a:r>
              <a:rPr lang="en-US" sz="1600" dirty="0"/>
              <a:t>    color  varchar(50) NOT NULL	);</a:t>
            </a:r>
          </a:p>
          <a:p>
            <a:r>
              <a:rPr lang="en-US" sz="1600" dirty="0"/>
              <a:t>INSERT INTO boats ( bid, </a:t>
            </a:r>
            <a:r>
              <a:rPr lang="en-US" sz="1600" dirty="0" err="1"/>
              <a:t>bname</a:t>
            </a:r>
            <a:r>
              <a:rPr lang="en-US" sz="1600" dirty="0"/>
              <a:t>, color) </a:t>
            </a:r>
          </a:p>
          <a:p>
            <a:r>
              <a:rPr lang="en-US" sz="1600" dirty="0"/>
              <a:t>VALUES </a:t>
            </a:r>
          </a:p>
          <a:p>
            <a:r>
              <a:rPr lang="en-US" sz="1600" dirty="0"/>
              <a:t>(101, 'Interlake', 'blue'),</a:t>
            </a:r>
          </a:p>
          <a:p>
            <a:r>
              <a:rPr lang="en-US" sz="1600" dirty="0"/>
              <a:t>(102, 'Interlake', 'red'),</a:t>
            </a:r>
          </a:p>
          <a:p>
            <a:r>
              <a:rPr lang="en-US" sz="1600" dirty="0"/>
              <a:t>(103, 'Clipper', 'green'),</a:t>
            </a:r>
          </a:p>
          <a:p>
            <a:r>
              <a:rPr lang="en-US" sz="1600" dirty="0"/>
              <a:t>(104, 'Marine', 'red');</a:t>
            </a:r>
          </a:p>
          <a:p>
            <a:r>
              <a:rPr lang="en-US" sz="1600" dirty="0"/>
              <a:t>CREATE TABLE  reserves  (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sid</a:t>
            </a:r>
            <a:r>
              <a:rPr lang="en-US" sz="1600" dirty="0"/>
              <a:t>  integer NOT NULL ,</a:t>
            </a:r>
          </a:p>
          <a:p>
            <a:r>
              <a:rPr lang="en-US" sz="1600" dirty="0"/>
              <a:t>    bid  integer NOT NULL ,</a:t>
            </a:r>
          </a:p>
          <a:p>
            <a:r>
              <a:rPr lang="en-US" sz="1600" dirty="0"/>
              <a:t>    day  integer NOT NULL ,</a:t>
            </a:r>
          </a:p>
          <a:p>
            <a:r>
              <a:rPr lang="en-US" sz="1600" dirty="0"/>
              <a:t>  FOREIGN KEY(</a:t>
            </a:r>
            <a:r>
              <a:rPr lang="en-US" sz="1600" dirty="0" err="1"/>
              <a:t>sid</a:t>
            </a:r>
            <a:r>
              <a:rPr lang="en-US" sz="1600" dirty="0"/>
              <a:t>) REFERENCES sailors(</a:t>
            </a:r>
            <a:r>
              <a:rPr lang="en-US" sz="1600" dirty="0" err="1"/>
              <a:t>sid</a:t>
            </a:r>
            <a:r>
              <a:rPr lang="en-US" sz="1600" dirty="0"/>
              <a:t>),</a:t>
            </a:r>
          </a:p>
          <a:p>
            <a:r>
              <a:rPr lang="en-US" sz="1600" dirty="0"/>
              <a:t>  FOREIGN KEY(bid) REFERENCES boats(bid),</a:t>
            </a:r>
          </a:p>
          <a:p>
            <a:r>
              <a:rPr lang="en-US" sz="1600" dirty="0"/>
              <a:t>  PRIMARY KEY (</a:t>
            </a:r>
            <a:r>
              <a:rPr lang="en-US" sz="1600" dirty="0" err="1"/>
              <a:t>sid</a:t>
            </a:r>
            <a:r>
              <a:rPr lang="en-US" sz="1600" dirty="0"/>
              <a:t>, bid, day)</a:t>
            </a:r>
          </a:p>
          <a:p>
            <a:r>
              <a:rPr lang="en-US" sz="1600" dirty="0"/>
              <a:t>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A489A-E900-0201-386D-3C91005B8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9966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9D844-064D-D901-FC29-A5EDBC3B0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7F6A9-77FB-7DDF-8FF9-1B845AE4F7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74638"/>
            <a:ext cx="4038600" cy="585152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INSERT INTO reserves ( </a:t>
            </a:r>
            <a:r>
              <a:rPr lang="en-US" dirty="0" err="1"/>
              <a:t>sid</a:t>
            </a:r>
            <a:r>
              <a:rPr lang="en-US" dirty="0"/>
              <a:t>, bid, day) </a:t>
            </a:r>
          </a:p>
          <a:p>
            <a:r>
              <a:rPr lang="en-US" dirty="0"/>
              <a:t>VALUES </a:t>
            </a:r>
          </a:p>
          <a:p>
            <a:r>
              <a:rPr lang="en-US" dirty="0"/>
              <a:t>( 22, 101, 1),</a:t>
            </a:r>
          </a:p>
          <a:p>
            <a:r>
              <a:rPr lang="en-US" dirty="0"/>
              <a:t>( 22, 102, 1),</a:t>
            </a:r>
          </a:p>
          <a:p>
            <a:r>
              <a:rPr lang="en-US" dirty="0"/>
              <a:t>( 22, 103, 2),</a:t>
            </a:r>
          </a:p>
          <a:p>
            <a:r>
              <a:rPr lang="en-US" dirty="0"/>
              <a:t>( 22, 104, 3),</a:t>
            </a:r>
          </a:p>
          <a:p>
            <a:r>
              <a:rPr lang="en-US" dirty="0"/>
              <a:t>( 31, 102, 4),</a:t>
            </a:r>
          </a:p>
          <a:p>
            <a:r>
              <a:rPr lang="en-US" dirty="0"/>
              <a:t>( 31, 103, 5),</a:t>
            </a:r>
          </a:p>
          <a:p>
            <a:r>
              <a:rPr lang="en-US" dirty="0"/>
              <a:t>( 31, 104, 6),</a:t>
            </a:r>
          </a:p>
          <a:p>
            <a:r>
              <a:rPr lang="en-US" dirty="0"/>
              <a:t>( 64, 101, 7),</a:t>
            </a:r>
          </a:p>
          <a:p>
            <a:r>
              <a:rPr lang="en-US" dirty="0"/>
              <a:t>( 64, 102, 8),</a:t>
            </a:r>
          </a:p>
          <a:p>
            <a:r>
              <a:rPr lang="en-US" dirty="0"/>
              <a:t>( 74, 103, 8);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03789D-967C-011E-917F-AB2843E5FB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6DD9B-075C-13B5-397F-0EEF946E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0282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76A64-2F30-84E6-9030-CFAE05363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 check that everything was all right can use the View Table option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19538-17B4-E79D-3A40-C6506A17C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58</a:t>
            </a:fld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6560D9D-206F-99B6-2597-CF4185CB7A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3027" y="1600200"/>
            <a:ext cx="7037946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8993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645A3-7643-F869-27C7-1B21DA8EC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8C0AA-87CE-3A49-0FB7-D5B162862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DataBase</a:t>
            </a:r>
            <a:r>
              <a:rPr lang="en-US" dirty="0"/>
              <a:t>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3B096-4268-DBDE-F0FB-DC3878A72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59</a:t>
            </a:fld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F071ECA-E3B1-7FE9-3F25-79F1A61D1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937" y="365761"/>
            <a:ext cx="4711397" cy="6043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41634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75BBF-CADE-F77A-D3FB-22CCE3F1B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6BFC9-48E8-330B-0DBE-6A40FE18E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dirty="0"/>
              <a:t>Structured Query Language (SQL) is the most widely used commercial relational database language</a:t>
            </a:r>
          </a:p>
          <a:p>
            <a:r>
              <a:rPr lang="en-US" sz="2800" dirty="0"/>
              <a:t>originally developed at IBM in the SEQUEL and System-R projects (1974-1977)</a:t>
            </a:r>
          </a:p>
          <a:p>
            <a:r>
              <a:rPr lang="en-US" sz="2800" dirty="0"/>
              <a:t>other vendors introduced relational DBMS products based on SQL, and it is now a de facto standard</a:t>
            </a:r>
          </a:p>
          <a:p>
            <a:r>
              <a:rPr lang="en-US" sz="2800" dirty="0"/>
              <a:t>current ANSI/ISO standard for SQL is called SQL:1999</a:t>
            </a:r>
          </a:p>
          <a:p>
            <a:endParaRPr lang="en-US" sz="2800" dirty="0"/>
          </a:p>
          <a:p>
            <a:r>
              <a:rPr lang="en-US" sz="2800" dirty="0"/>
              <a:t>while not all DBMS products support the full SQL:1999 standard yet, vendors are working toward this goal and most products already support the core features.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EBEF5C-4DCA-031C-D35C-F9518F1F1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94044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7B40D-C0EC-3EA6-ED38-EC4E29710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D296C-84EE-7685-4F18-6926F16A6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1BA6EF-9E45-50F6-7246-2804E5D89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98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D1F13D339BA04089B6530E3063BBB0" ma:contentTypeVersion="3" ma:contentTypeDescription="Create a new document." ma:contentTypeScope="" ma:versionID="53edffdedc90a5cc23417a2d239f45a4">
  <xsd:schema xmlns:xsd="http://www.w3.org/2001/XMLSchema" xmlns:xs="http://www.w3.org/2001/XMLSchema" xmlns:p="http://schemas.microsoft.com/office/2006/metadata/properties" xmlns:ns2="a1338ef3-f957-4fbb-b33a-3b606fe126b3" targetNamespace="http://schemas.microsoft.com/office/2006/metadata/properties" ma:root="true" ma:fieldsID="9f407ff9521a5dcbcc967750435157a3" ns2:_="">
    <xsd:import namespace="a1338ef3-f957-4fbb-b33a-3b606fe126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338ef3-f957-4fbb-b33a-3b606fe126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84E31FE-1A0E-4695-A268-DC55A3E4BD9F}"/>
</file>

<file path=customXml/itemProps2.xml><?xml version="1.0" encoding="utf-8"?>
<ds:datastoreItem xmlns:ds="http://schemas.openxmlformats.org/officeDocument/2006/customXml" ds:itemID="{741F4DA9-2280-4C26-B2B9-737FC6B3FDAB}"/>
</file>

<file path=customXml/itemProps3.xml><?xml version="1.0" encoding="utf-8"?>
<ds:datastoreItem xmlns:ds="http://schemas.openxmlformats.org/officeDocument/2006/customXml" ds:itemID="{B5AE15F8-0EF7-4092-9589-E9984176EE16}"/>
</file>

<file path=docProps/app.xml><?xml version="1.0" encoding="utf-8"?>
<Properties xmlns="http://schemas.openxmlformats.org/officeDocument/2006/extended-properties" xmlns:vt="http://schemas.openxmlformats.org/officeDocument/2006/docPropsVTypes">
  <TotalTime>980</TotalTime>
  <Words>2852</Words>
  <Application>Microsoft Office PowerPoint</Application>
  <PresentationFormat>On-screen Show (4:3)</PresentationFormat>
  <Paragraphs>335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Arial</vt:lpstr>
      <vt:lpstr>Calibri</vt:lpstr>
      <vt:lpstr>Office Theme</vt:lpstr>
      <vt:lpstr>Structured Query Language</vt:lpstr>
      <vt:lpstr>SQL is everywhere</vt:lpstr>
      <vt:lpstr>learning SQL ?</vt:lpstr>
      <vt:lpstr>PowerPoint Presentation</vt:lpstr>
      <vt:lpstr>Non Procedural, Declarative Programming Language</vt:lpstr>
      <vt:lpstr>SQL</vt:lpstr>
      <vt:lpstr>SQL operations</vt:lpstr>
      <vt:lpstr>PowerPoint Presentation</vt:lpstr>
      <vt:lpstr>Purpose of Database Systems: CRUDu, Daniela</vt:lpstr>
      <vt:lpstr>SQL - language for doing CRUD operations</vt:lpstr>
      <vt:lpstr>SELECT</vt:lpstr>
      <vt:lpstr>sqlzoo.net</vt:lpstr>
      <vt:lpstr>Why is it called SQLzoo?</vt:lpstr>
      <vt:lpstr>Who runs this site?</vt:lpstr>
      <vt:lpstr>Can I shake his hand? buy him a drink?</vt:lpstr>
      <vt:lpstr>Can I buy him a drink?</vt:lpstr>
      <vt:lpstr>Notes for teachers</vt:lpstr>
      <vt:lpstr>Acknowledgements</vt:lpstr>
      <vt:lpstr>Basic Concepts and Principles</vt:lpstr>
      <vt:lpstr>PowerPoint Presentation</vt:lpstr>
      <vt:lpstr>PowerPoint Presentation</vt:lpstr>
      <vt:lpstr>Terminology</vt:lpstr>
      <vt:lpstr>Terminology</vt:lpstr>
      <vt:lpstr>Star Wars</vt:lpstr>
      <vt:lpstr>PowerPoint Presentation</vt:lpstr>
      <vt:lpstr>DataBases</vt:lpstr>
      <vt:lpstr>DataBase Laboratory</vt:lpstr>
      <vt:lpstr>PowerPoint Presentation</vt:lpstr>
      <vt:lpstr>BackEND</vt:lpstr>
      <vt:lpstr>SQLite Home Page https://www.sqlite.org/</vt:lpstr>
      <vt:lpstr>PowerPoint Presentation</vt:lpstr>
      <vt:lpstr>SQLite</vt:lpstr>
      <vt:lpstr>SQLite</vt:lpstr>
      <vt:lpstr>SQLite</vt:lpstr>
      <vt:lpstr>SQLite  Installation</vt:lpstr>
      <vt:lpstr>SQLite  Installation</vt:lpstr>
      <vt:lpstr>SQLite  Installation</vt:lpstr>
      <vt:lpstr>SQLite  Installation</vt:lpstr>
      <vt:lpstr>SQLite  Installation</vt:lpstr>
      <vt:lpstr>PowerPoint Presentation</vt:lpstr>
      <vt:lpstr>FRONTEND</vt:lpstr>
      <vt:lpstr>Command Line </vt:lpstr>
      <vt:lpstr>Canonical</vt:lpstr>
      <vt:lpstr>Universal</vt:lpstr>
      <vt:lpstr>PowerPoint Presentation</vt:lpstr>
      <vt:lpstr>Example</vt:lpstr>
      <vt:lpstr>Best DataBase textbook?</vt:lpstr>
      <vt:lpstr>The future of data(base) education: Is the "cow book" dead?</vt:lpstr>
      <vt:lpstr>PowerPoint Presentation</vt:lpstr>
      <vt:lpstr>PowerPoint Presentation</vt:lpstr>
      <vt:lpstr>PowerPoint Presentation</vt:lpstr>
      <vt:lpstr>PowerPoint Presentation</vt:lpstr>
      <vt:lpstr>DBeaver</vt:lpstr>
      <vt:lpstr>PowerPoint Presentation</vt:lpstr>
      <vt:lpstr>PowerPoint Presentation</vt:lpstr>
      <vt:lpstr>PowerPoint Presentation</vt:lpstr>
      <vt:lpstr>PowerPoint Presentation</vt:lpstr>
      <vt:lpstr>To check that everything was all right can use the View Table option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Structured Query Language</dc:title>
  <dc:creator>User</dc:creator>
  <cp:lastModifiedBy>Calin Cenan</cp:lastModifiedBy>
  <cp:revision>108</cp:revision>
  <dcterms:created xsi:type="dcterms:W3CDTF">2006-08-16T00:00:00Z</dcterms:created>
  <dcterms:modified xsi:type="dcterms:W3CDTF">2025-07-19T21:24:21Z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2023-10-01T19:39:36Z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2454985f-5804-4626-9bb0-7c76d223e4a8</vt:lpwstr>
  </property>
  <property fmtid="{D5CDD505-2E9C-101B-9397-08002B2CF9AE}" pid="8" name="MSIP_Label_5b58b62f-6f94-46bd-8089-18e64b0a9abb_ContentBits">
    <vt:lpwstr>0</vt:lpwstr>
  </property>
  <property fmtid="{D5CDD505-2E9C-101B-9397-08002B2CF9AE}" pid="9" name="ContentTypeId">
    <vt:lpwstr>0x01010042D1F13D339BA04089B6530E3063BBB0</vt:lpwstr>
  </property>
</Properties>
</file>