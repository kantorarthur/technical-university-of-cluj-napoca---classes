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1"/>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1" r:id="rId49"/>
    <p:sldId id="300"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AB464E-050A-4181-8AE4-E67E0A71EDB1}" type="datetimeFigureOut">
              <a:rPr lang="en-US" smtClean="0"/>
              <a:t>11/10/2025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603562-5C36-47CF-9D79-6FB56F0C0D2A}" type="slidenum">
              <a:rPr lang="en-US" smtClean="0"/>
              <a:t>‹#›</a:t>
            </a:fld>
            <a:endParaRPr lang="en-US"/>
          </a:p>
        </p:txBody>
      </p:sp>
    </p:spTree>
    <p:extLst>
      <p:ext uri="{BB962C8B-B14F-4D97-AF65-F5344CB8AC3E}">
        <p14:creationId xmlns:p14="http://schemas.microsoft.com/office/powerpoint/2010/main" val="1109109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849FD-77E4-4E9B-8893-E013CD1629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22707DB-F031-4548-8935-B45E0C651B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14C0F02-9BC7-44AC-9D1A-41173DC15184}"/>
              </a:ext>
            </a:extLst>
          </p:cNvPr>
          <p:cNvSpPr>
            <a:spLocks noGrp="1"/>
          </p:cNvSpPr>
          <p:nvPr>
            <p:ph type="dt" sz="half" idx="10"/>
          </p:nvPr>
        </p:nvSpPr>
        <p:spPr/>
        <p:txBody>
          <a:bodyPr/>
          <a:lstStyle/>
          <a:p>
            <a:fld id="{FE06C6C4-4883-4053-B9C0-AC4DAD5F1E0B}" type="datetime1">
              <a:rPr lang="en-US" smtClean="0"/>
              <a:t>11/10/2025</a:t>
            </a:fld>
            <a:endParaRPr lang="en-US"/>
          </a:p>
        </p:txBody>
      </p:sp>
      <p:sp>
        <p:nvSpPr>
          <p:cNvPr id="5" name="Footer Placeholder 4">
            <a:extLst>
              <a:ext uri="{FF2B5EF4-FFF2-40B4-BE49-F238E27FC236}">
                <a16:creationId xmlns:a16="http://schemas.microsoft.com/office/drawing/2014/main" id="{EBCCF9A4-DAF3-4104-AEA2-A66ECA89762A}"/>
              </a:ext>
            </a:extLst>
          </p:cNvPr>
          <p:cNvSpPr>
            <a:spLocks noGrp="1"/>
          </p:cNvSpPr>
          <p:nvPr>
            <p:ph type="ftr" sz="quarter" idx="11"/>
          </p:nvPr>
        </p:nvSpPr>
        <p:spPr/>
        <p:txBody>
          <a:bodyPr/>
          <a:lstStyle/>
          <a:p>
            <a:r>
              <a:rPr lang="en-US"/>
              <a:t>DataBase with PostgreSQL</a:t>
            </a:r>
          </a:p>
        </p:txBody>
      </p:sp>
      <p:sp>
        <p:nvSpPr>
          <p:cNvPr id="6" name="Slide Number Placeholder 5">
            <a:extLst>
              <a:ext uri="{FF2B5EF4-FFF2-40B4-BE49-F238E27FC236}">
                <a16:creationId xmlns:a16="http://schemas.microsoft.com/office/drawing/2014/main" id="{B8D642CE-D3C4-4932-8653-6664D07FC2AF}"/>
              </a:ext>
            </a:extLst>
          </p:cNvPr>
          <p:cNvSpPr>
            <a:spLocks noGrp="1"/>
          </p:cNvSpPr>
          <p:nvPr>
            <p:ph type="sldNum" sz="quarter" idx="12"/>
          </p:nvPr>
        </p:nvSpPr>
        <p:spPr/>
        <p:txBody>
          <a:bodyPr/>
          <a:lstStyle/>
          <a:p>
            <a:fld id="{DF05C15E-1453-4D65-918E-7489EA0EFEBE}" type="slidenum">
              <a:rPr lang="en-US" smtClean="0"/>
              <a:t>‹#›</a:t>
            </a:fld>
            <a:endParaRPr lang="en-US"/>
          </a:p>
        </p:txBody>
      </p:sp>
    </p:spTree>
    <p:extLst>
      <p:ext uri="{BB962C8B-B14F-4D97-AF65-F5344CB8AC3E}">
        <p14:creationId xmlns:p14="http://schemas.microsoft.com/office/powerpoint/2010/main" val="218735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1EC4A-1947-4356-9E24-F0CAB7F5C4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5E776C-B61D-49F4-A1E0-318EBD4232D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BADD63-E58C-4794-841E-355FC5CC650B}"/>
              </a:ext>
            </a:extLst>
          </p:cNvPr>
          <p:cNvSpPr>
            <a:spLocks noGrp="1"/>
          </p:cNvSpPr>
          <p:nvPr>
            <p:ph type="dt" sz="half" idx="10"/>
          </p:nvPr>
        </p:nvSpPr>
        <p:spPr/>
        <p:txBody>
          <a:bodyPr/>
          <a:lstStyle/>
          <a:p>
            <a:fld id="{6E8DBF9D-1E04-4D6A-9707-D8B702013F98}" type="datetime1">
              <a:rPr lang="en-US" smtClean="0"/>
              <a:t>11/10/2025</a:t>
            </a:fld>
            <a:endParaRPr lang="en-US"/>
          </a:p>
        </p:txBody>
      </p:sp>
      <p:sp>
        <p:nvSpPr>
          <p:cNvPr id="5" name="Footer Placeholder 4">
            <a:extLst>
              <a:ext uri="{FF2B5EF4-FFF2-40B4-BE49-F238E27FC236}">
                <a16:creationId xmlns:a16="http://schemas.microsoft.com/office/drawing/2014/main" id="{D2EA469E-0CF4-44C7-8073-2CAB961C5EF9}"/>
              </a:ext>
            </a:extLst>
          </p:cNvPr>
          <p:cNvSpPr>
            <a:spLocks noGrp="1"/>
          </p:cNvSpPr>
          <p:nvPr>
            <p:ph type="ftr" sz="quarter" idx="11"/>
          </p:nvPr>
        </p:nvSpPr>
        <p:spPr/>
        <p:txBody>
          <a:bodyPr/>
          <a:lstStyle/>
          <a:p>
            <a:r>
              <a:rPr lang="en-US"/>
              <a:t>DataBase with PostgreSQL</a:t>
            </a:r>
          </a:p>
        </p:txBody>
      </p:sp>
      <p:sp>
        <p:nvSpPr>
          <p:cNvPr id="6" name="Slide Number Placeholder 5">
            <a:extLst>
              <a:ext uri="{FF2B5EF4-FFF2-40B4-BE49-F238E27FC236}">
                <a16:creationId xmlns:a16="http://schemas.microsoft.com/office/drawing/2014/main" id="{820B843D-5D96-4F7C-967C-DFC28263BAAB}"/>
              </a:ext>
            </a:extLst>
          </p:cNvPr>
          <p:cNvSpPr>
            <a:spLocks noGrp="1"/>
          </p:cNvSpPr>
          <p:nvPr>
            <p:ph type="sldNum" sz="quarter" idx="12"/>
          </p:nvPr>
        </p:nvSpPr>
        <p:spPr/>
        <p:txBody>
          <a:bodyPr/>
          <a:lstStyle/>
          <a:p>
            <a:fld id="{DF05C15E-1453-4D65-918E-7489EA0EFEBE}" type="slidenum">
              <a:rPr lang="en-US" smtClean="0"/>
              <a:t>‹#›</a:t>
            </a:fld>
            <a:endParaRPr lang="en-US"/>
          </a:p>
        </p:txBody>
      </p:sp>
    </p:spTree>
    <p:extLst>
      <p:ext uri="{BB962C8B-B14F-4D97-AF65-F5344CB8AC3E}">
        <p14:creationId xmlns:p14="http://schemas.microsoft.com/office/powerpoint/2010/main" val="234949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F3A51-BA7A-4DC0-915C-938D9CDA31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74DF73-5503-4BF3-99BE-CC12A62CAEE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B7B43C-7F0F-44BA-82D6-CB05D2FDC292}"/>
              </a:ext>
            </a:extLst>
          </p:cNvPr>
          <p:cNvSpPr>
            <a:spLocks noGrp="1"/>
          </p:cNvSpPr>
          <p:nvPr>
            <p:ph type="dt" sz="half" idx="10"/>
          </p:nvPr>
        </p:nvSpPr>
        <p:spPr/>
        <p:txBody>
          <a:bodyPr/>
          <a:lstStyle/>
          <a:p>
            <a:fld id="{633D503B-7CFC-497B-8040-822D84A8B948}" type="datetime1">
              <a:rPr lang="en-US" smtClean="0"/>
              <a:t>11/10/2025</a:t>
            </a:fld>
            <a:endParaRPr lang="en-US"/>
          </a:p>
        </p:txBody>
      </p:sp>
      <p:sp>
        <p:nvSpPr>
          <p:cNvPr id="5" name="Footer Placeholder 4">
            <a:extLst>
              <a:ext uri="{FF2B5EF4-FFF2-40B4-BE49-F238E27FC236}">
                <a16:creationId xmlns:a16="http://schemas.microsoft.com/office/drawing/2014/main" id="{C79C8233-9978-4BFE-B1C2-4D64239AEB2F}"/>
              </a:ext>
            </a:extLst>
          </p:cNvPr>
          <p:cNvSpPr>
            <a:spLocks noGrp="1"/>
          </p:cNvSpPr>
          <p:nvPr>
            <p:ph type="ftr" sz="quarter" idx="11"/>
          </p:nvPr>
        </p:nvSpPr>
        <p:spPr/>
        <p:txBody>
          <a:bodyPr/>
          <a:lstStyle/>
          <a:p>
            <a:r>
              <a:rPr lang="en-US"/>
              <a:t>DataBase with PostgreSQL</a:t>
            </a:r>
          </a:p>
        </p:txBody>
      </p:sp>
      <p:sp>
        <p:nvSpPr>
          <p:cNvPr id="6" name="Slide Number Placeholder 5">
            <a:extLst>
              <a:ext uri="{FF2B5EF4-FFF2-40B4-BE49-F238E27FC236}">
                <a16:creationId xmlns:a16="http://schemas.microsoft.com/office/drawing/2014/main" id="{3A5B56FC-A0A0-4AE8-A894-0CFB62EA5990}"/>
              </a:ext>
            </a:extLst>
          </p:cNvPr>
          <p:cNvSpPr>
            <a:spLocks noGrp="1"/>
          </p:cNvSpPr>
          <p:nvPr>
            <p:ph type="sldNum" sz="quarter" idx="12"/>
          </p:nvPr>
        </p:nvSpPr>
        <p:spPr/>
        <p:txBody>
          <a:bodyPr/>
          <a:lstStyle/>
          <a:p>
            <a:fld id="{DF05C15E-1453-4D65-918E-7489EA0EFEBE}" type="slidenum">
              <a:rPr lang="en-US" smtClean="0"/>
              <a:t>‹#›</a:t>
            </a:fld>
            <a:endParaRPr lang="en-US"/>
          </a:p>
        </p:txBody>
      </p:sp>
    </p:spTree>
    <p:extLst>
      <p:ext uri="{BB962C8B-B14F-4D97-AF65-F5344CB8AC3E}">
        <p14:creationId xmlns:p14="http://schemas.microsoft.com/office/powerpoint/2010/main" val="2950968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5DA5C-B1CB-4AE3-836C-D537CCA4BA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51FAEF-F899-4826-A733-9FA6142282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336C715-F0ED-416A-8148-E81361C2A18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520AF00-A0D4-4DA1-8989-5D190D364D70}"/>
              </a:ext>
            </a:extLst>
          </p:cNvPr>
          <p:cNvSpPr>
            <a:spLocks noGrp="1"/>
          </p:cNvSpPr>
          <p:nvPr>
            <p:ph type="dt" sz="half" idx="10"/>
          </p:nvPr>
        </p:nvSpPr>
        <p:spPr/>
        <p:txBody>
          <a:bodyPr/>
          <a:lstStyle/>
          <a:p>
            <a:fld id="{4FCB2404-B988-4B69-9A6B-51F7594026F9}" type="datetime1">
              <a:rPr lang="en-US" smtClean="0"/>
              <a:t>11/10/2025</a:t>
            </a:fld>
            <a:endParaRPr lang="en-US"/>
          </a:p>
        </p:txBody>
      </p:sp>
      <p:sp>
        <p:nvSpPr>
          <p:cNvPr id="6" name="Footer Placeholder 5">
            <a:extLst>
              <a:ext uri="{FF2B5EF4-FFF2-40B4-BE49-F238E27FC236}">
                <a16:creationId xmlns:a16="http://schemas.microsoft.com/office/drawing/2014/main" id="{E9CAF3F7-AF9E-4FB0-AFB9-5B7502FAC127}"/>
              </a:ext>
            </a:extLst>
          </p:cNvPr>
          <p:cNvSpPr>
            <a:spLocks noGrp="1"/>
          </p:cNvSpPr>
          <p:nvPr>
            <p:ph type="ftr" sz="quarter" idx="11"/>
          </p:nvPr>
        </p:nvSpPr>
        <p:spPr/>
        <p:txBody>
          <a:bodyPr/>
          <a:lstStyle/>
          <a:p>
            <a:r>
              <a:rPr lang="en-US"/>
              <a:t>DataBase with PostgreSQL</a:t>
            </a:r>
          </a:p>
        </p:txBody>
      </p:sp>
      <p:sp>
        <p:nvSpPr>
          <p:cNvPr id="7" name="Slide Number Placeholder 6">
            <a:extLst>
              <a:ext uri="{FF2B5EF4-FFF2-40B4-BE49-F238E27FC236}">
                <a16:creationId xmlns:a16="http://schemas.microsoft.com/office/drawing/2014/main" id="{0253F4ED-2583-49BB-8BED-EE33F611A201}"/>
              </a:ext>
            </a:extLst>
          </p:cNvPr>
          <p:cNvSpPr>
            <a:spLocks noGrp="1"/>
          </p:cNvSpPr>
          <p:nvPr>
            <p:ph type="sldNum" sz="quarter" idx="12"/>
          </p:nvPr>
        </p:nvSpPr>
        <p:spPr/>
        <p:txBody>
          <a:bodyPr/>
          <a:lstStyle/>
          <a:p>
            <a:fld id="{DF05C15E-1453-4D65-918E-7489EA0EFEBE}" type="slidenum">
              <a:rPr lang="en-US" smtClean="0"/>
              <a:t>‹#›</a:t>
            </a:fld>
            <a:endParaRPr lang="en-US"/>
          </a:p>
        </p:txBody>
      </p:sp>
    </p:spTree>
    <p:extLst>
      <p:ext uri="{BB962C8B-B14F-4D97-AF65-F5344CB8AC3E}">
        <p14:creationId xmlns:p14="http://schemas.microsoft.com/office/powerpoint/2010/main" val="3289067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4EAED-B1A1-465B-AE6C-46DF1C2E384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10DBBF8-5B38-4C09-8672-390A7E7977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0AC8A9-2955-4BA7-9A84-513443F7AC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B79D75-A10A-474F-AD49-529BCD6B1CD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30D27C-60B2-4B35-B67E-42B0DCA14A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3A2A82-3A5C-403E-951B-558BFD7C9387}"/>
              </a:ext>
            </a:extLst>
          </p:cNvPr>
          <p:cNvSpPr>
            <a:spLocks noGrp="1"/>
          </p:cNvSpPr>
          <p:nvPr>
            <p:ph type="dt" sz="half" idx="10"/>
          </p:nvPr>
        </p:nvSpPr>
        <p:spPr/>
        <p:txBody>
          <a:bodyPr/>
          <a:lstStyle/>
          <a:p>
            <a:fld id="{7AB57644-FC26-42CA-B0BF-C192FBCDDC42}" type="datetime1">
              <a:rPr lang="en-US" smtClean="0"/>
              <a:t>11/10/2025</a:t>
            </a:fld>
            <a:endParaRPr lang="en-US"/>
          </a:p>
        </p:txBody>
      </p:sp>
      <p:sp>
        <p:nvSpPr>
          <p:cNvPr id="8" name="Footer Placeholder 7">
            <a:extLst>
              <a:ext uri="{FF2B5EF4-FFF2-40B4-BE49-F238E27FC236}">
                <a16:creationId xmlns:a16="http://schemas.microsoft.com/office/drawing/2014/main" id="{D3DBE189-A2EE-4F54-A649-4FCF34E047D0}"/>
              </a:ext>
            </a:extLst>
          </p:cNvPr>
          <p:cNvSpPr>
            <a:spLocks noGrp="1"/>
          </p:cNvSpPr>
          <p:nvPr>
            <p:ph type="ftr" sz="quarter" idx="11"/>
          </p:nvPr>
        </p:nvSpPr>
        <p:spPr/>
        <p:txBody>
          <a:bodyPr/>
          <a:lstStyle/>
          <a:p>
            <a:r>
              <a:rPr lang="en-US"/>
              <a:t>DataBase with PostgreSQL</a:t>
            </a:r>
          </a:p>
        </p:txBody>
      </p:sp>
      <p:sp>
        <p:nvSpPr>
          <p:cNvPr id="9" name="Slide Number Placeholder 8">
            <a:extLst>
              <a:ext uri="{FF2B5EF4-FFF2-40B4-BE49-F238E27FC236}">
                <a16:creationId xmlns:a16="http://schemas.microsoft.com/office/drawing/2014/main" id="{D8B7F3EC-E10D-4334-BBD6-657625AE85C9}"/>
              </a:ext>
            </a:extLst>
          </p:cNvPr>
          <p:cNvSpPr>
            <a:spLocks noGrp="1"/>
          </p:cNvSpPr>
          <p:nvPr>
            <p:ph type="sldNum" sz="quarter" idx="12"/>
          </p:nvPr>
        </p:nvSpPr>
        <p:spPr/>
        <p:txBody>
          <a:bodyPr/>
          <a:lstStyle/>
          <a:p>
            <a:fld id="{DF05C15E-1453-4D65-918E-7489EA0EFEBE}" type="slidenum">
              <a:rPr lang="en-US" smtClean="0"/>
              <a:t>‹#›</a:t>
            </a:fld>
            <a:endParaRPr lang="en-US"/>
          </a:p>
        </p:txBody>
      </p:sp>
    </p:spTree>
    <p:extLst>
      <p:ext uri="{BB962C8B-B14F-4D97-AF65-F5344CB8AC3E}">
        <p14:creationId xmlns:p14="http://schemas.microsoft.com/office/powerpoint/2010/main" val="748782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523E1-28A2-443B-A2C3-7CA6A3859FA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F7F1B1-C678-4E19-B8D8-13CD1D1483C7}"/>
              </a:ext>
            </a:extLst>
          </p:cNvPr>
          <p:cNvSpPr>
            <a:spLocks noGrp="1"/>
          </p:cNvSpPr>
          <p:nvPr>
            <p:ph type="dt" sz="half" idx="10"/>
          </p:nvPr>
        </p:nvSpPr>
        <p:spPr/>
        <p:txBody>
          <a:bodyPr/>
          <a:lstStyle/>
          <a:p>
            <a:fld id="{89C7C325-3FD4-404F-816B-571AA9D8FFCD}" type="datetime1">
              <a:rPr lang="en-US" smtClean="0"/>
              <a:t>11/10/2025</a:t>
            </a:fld>
            <a:endParaRPr lang="en-US"/>
          </a:p>
        </p:txBody>
      </p:sp>
      <p:sp>
        <p:nvSpPr>
          <p:cNvPr id="4" name="Footer Placeholder 3">
            <a:extLst>
              <a:ext uri="{FF2B5EF4-FFF2-40B4-BE49-F238E27FC236}">
                <a16:creationId xmlns:a16="http://schemas.microsoft.com/office/drawing/2014/main" id="{1F83E5E7-1EC0-4A2A-A414-511E6D086329}"/>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E667034A-5B57-42EF-AB91-695CE19A6884}"/>
              </a:ext>
            </a:extLst>
          </p:cNvPr>
          <p:cNvSpPr>
            <a:spLocks noGrp="1"/>
          </p:cNvSpPr>
          <p:nvPr>
            <p:ph type="sldNum" sz="quarter" idx="12"/>
          </p:nvPr>
        </p:nvSpPr>
        <p:spPr/>
        <p:txBody>
          <a:bodyPr/>
          <a:lstStyle/>
          <a:p>
            <a:fld id="{DF05C15E-1453-4D65-918E-7489EA0EFEBE}" type="slidenum">
              <a:rPr lang="en-US" smtClean="0"/>
              <a:t>‹#›</a:t>
            </a:fld>
            <a:endParaRPr lang="en-US"/>
          </a:p>
        </p:txBody>
      </p:sp>
    </p:spTree>
    <p:extLst>
      <p:ext uri="{BB962C8B-B14F-4D97-AF65-F5344CB8AC3E}">
        <p14:creationId xmlns:p14="http://schemas.microsoft.com/office/powerpoint/2010/main" val="460657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93BF5BB-DC84-4FC9-AE26-E539E1318762}"/>
              </a:ext>
            </a:extLst>
          </p:cNvPr>
          <p:cNvSpPr>
            <a:spLocks noGrp="1"/>
          </p:cNvSpPr>
          <p:nvPr>
            <p:ph type="dt" sz="half" idx="10"/>
          </p:nvPr>
        </p:nvSpPr>
        <p:spPr/>
        <p:txBody>
          <a:bodyPr/>
          <a:lstStyle/>
          <a:p>
            <a:fld id="{FEF227DB-C459-41D4-A1E1-31543C434624}" type="datetime1">
              <a:rPr lang="en-US" smtClean="0"/>
              <a:t>11/10/2025</a:t>
            </a:fld>
            <a:endParaRPr lang="en-US"/>
          </a:p>
        </p:txBody>
      </p:sp>
      <p:sp>
        <p:nvSpPr>
          <p:cNvPr id="3" name="Footer Placeholder 2">
            <a:extLst>
              <a:ext uri="{FF2B5EF4-FFF2-40B4-BE49-F238E27FC236}">
                <a16:creationId xmlns:a16="http://schemas.microsoft.com/office/drawing/2014/main" id="{84B1E505-7DA2-470E-8E3C-2E5E5FC0FB94}"/>
              </a:ext>
            </a:extLst>
          </p:cNvPr>
          <p:cNvSpPr>
            <a:spLocks noGrp="1"/>
          </p:cNvSpPr>
          <p:nvPr>
            <p:ph type="ftr" sz="quarter" idx="11"/>
          </p:nvPr>
        </p:nvSpPr>
        <p:spPr/>
        <p:txBody>
          <a:bodyPr/>
          <a:lstStyle/>
          <a:p>
            <a:r>
              <a:rPr lang="en-US"/>
              <a:t>DataBase with PostgreSQL</a:t>
            </a:r>
          </a:p>
        </p:txBody>
      </p:sp>
      <p:sp>
        <p:nvSpPr>
          <p:cNvPr id="4" name="Slide Number Placeholder 3">
            <a:extLst>
              <a:ext uri="{FF2B5EF4-FFF2-40B4-BE49-F238E27FC236}">
                <a16:creationId xmlns:a16="http://schemas.microsoft.com/office/drawing/2014/main" id="{87A84F3A-8B63-4B56-9CCC-FA5066E88BE5}"/>
              </a:ext>
            </a:extLst>
          </p:cNvPr>
          <p:cNvSpPr>
            <a:spLocks noGrp="1"/>
          </p:cNvSpPr>
          <p:nvPr>
            <p:ph type="sldNum" sz="quarter" idx="12"/>
          </p:nvPr>
        </p:nvSpPr>
        <p:spPr/>
        <p:txBody>
          <a:bodyPr/>
          <a:lstStyle/>
          <a:p>
            <a:fld id="{DF05C15E-1453-4D65-918E-7489EA0EFEBE}" type="slidenum">
              <a:rPr lang="en-US" smtClean="0"/>
              <a:t>‹#›</a:t>
            </a:fld>
            <a:endParaRPr lang="en-US"/>
          </a:p>
        </p:txBody>
      </p:sp>
    </p:spTree>
    <p:extLst>
      <p:ext uri="{BB962C8B-B14F-4D97-AF65-F5344CB8AC3E}">
        <p14:creationId xmlns:p14="http://schemas.microsoft.com/office/powerpoint/2010/main" val="1782539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47734-87C7-40E5-9E63-6711F12EEC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C490AA5-0F16-43DA-9DE8-F80D278FFE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BC5F861-76F3-4AAF-8588-B5F8954812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B5A73C-3029-4BAE-B4CD-3F142ECEC786}"/>
              </a:ext>
            </a:extLst>
          </p:cNvPr>
          <p:cNvSpPr>
            <a:spLocks noGrp="1"/>
          </p:cNvSpPr>
          <p:nvPr>
            <p:ph type="dt" sz="half" idx="10"/>
          </p:nvPr>
        </p:nvSpPr>
        <p:spPr/>
        <p:txBody>
          <a:bodyPr/>
          <a:lstStyle/>
          <a:p>
            <a:fld id="{24A013DF-95AE-4DE6-9C9F-E4FABE0BEE26}" type="datetime1">
              <a:rPr lang="en-US" smtClean="0"/>
              <a:t>11/10/2025</a:t>
            </a:fld>
            <a:endParaRPr lang="en-US"/>
          </a:p>
        </p:txBody>
      </p:sp>
      <p:sp>
        <p:nvSpPr>
          <p:cNvPr id="6" name="Footer Placeholder 5">
            <a:extLst>
              <a:ext uri="{FF2B5EF4-FFF2-40B4-BE49-F238E27FC236}">
                <a16:creationId xmlns:a16="http://schemas.microsoft.com/office/drawing/2014/main" id="{0D5BD77E-A1FE-4C00-A8CD-201EB5ED9463}"/>
              </a:ext>
            </a:extLst>
          </p:cNvPr>
          <p:cNvSpPr>
            <a:spLocks noGrp="1"/>
          </p:cNvSpPr>
          <p:nvPr>
            <p:ph type="ftr" sz="quarter" idx="11"/>
          </p:nvPr>
        </p:nvSpPr>
        <p:spPr/>
        <p:txBody>
          <a:bodyPr/>
          <a:lstStyle/>
          <a:p>
            <a:r>
              <a:rPr lang="en-US"/>
              <a:t>DataBase with PostgreSQL</a:t>
            </a:r>
          </a:p>
        </p:txBody>
      </p:sp>
      <p:sp>
        <p:nvSpPr>
          <p:cNvPr id="7" name="Slide Number Placeholder 6">
            <a:extLst>
              <a:ext uri="{FF2B5EF4-FFF2-40B4-BE49-F238E27FC236}">
                <a16:creationId xmlns:a16="http://schemas.microsoft.com/office/drawing/2014/main" id="{DA416173-39A7-4472-BA5F-4BA02C20F85A}"/>
              </a:ext>
            </a:extLst>
          </p:cNvPr>
          <p:cNvSpPr>
            <a:spLocks noGrp="1"/>
          </p:cNvSpPr>
          <p:nvPr>
            <p:ph type="sldNum" sz="quarter" idx="12"/>
          </p:nvPr>
        </p:nvSpPr>
        <p:spPr/>
        <p:txBody>
          <a:bodyPr/>
          <a:lstStyle/>
          <a:p>
            <a:fld id="{DF05C15E-1453-4D65-918E-7489EA0EFEBE}" type="slidenum">
              <a:rPr lang="en-US" smtClean="0"/>
              <a:t>‹#›</a:t>
            </a:fld>
            <a:endParaRPr lang="en-US"/>
          </a:p>
        </p:txBody>
      </p:sp>
    </p:spTree>
    <p:extLst>
      <p:ext uri="{BB962C8B-B14F-4D97-AF65-F5344CB8AC3E}">
        <p14:creationId xmlns:p14="http://schemas.microsoft.com/office/powerpoint/2010/main" val="9469391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00085-A731-48B1-BC80-8F6A3897DD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1F37680-BFFA-4F95-809D-703F285298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3FA91AA-B857-4503-9E50-052EC023A5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47FC8B-270B-4DED-85B0-A19E40DD1090}"/>
              </a:ext>
            </a:extLst>
          </p:cNvPr>
          <p:cNvSpPr>
            <a:spLocks noGrp="1"/>
          </p:cNvSpPr>
          <p:nvPr>
            <p:ph type="dt" sz="half" idx="10"/>
          </p:nvPr>
        </p:nvSpPr>
        <p:spPr/>
        <p:txBody>
          <a:bodyPr/>
          <a:lstStyle/>
          <a:p>
            <a:fld id="{8D5FE786-B799-432C-B4CF-1266D06BDB14}" type="datetime1">
              <a:rPr lang="en-US" smtClean="0"/>
              <a:t>11/10/2025</a:t>
            </a:fld>
            <a:endParaRPr lang="en-US"/>
          </a:p>
        </p:txBody>
      </p:sp>
      <p:sp>
        <p:nvSpPr>
          <p:cNvPr id="6" name="Footer Placeholder 5">
            <a:extLst>
              <a:ext uri="{FF2B5EF4-FFF2-40B4-BE49-F238E27FC236}">
                <a16:creationId xmlns:a16="http://schemas.microsoft.com/office/drawing/2014/main" id="{8781644D-B272-467A-B111-503DD18EE05E}"/>
              </a:ext>
            </a:extLst>
          </p:cNvPr>
          <p:cNvSpPr>
            <a:spLocks noGrp="1"/>
          </p:cNvSpPr>
          <p:nvPr>
            <p:ph type="ftr" sz="quarter" idx="11"/>
          </p:nvPr>
        </p:nvSpPr>
        <p:spPr/>
        <p:txBody>
          <a:bodyPr/>
          <a:lstStyle/>
          <a:p>
            <a:r>
              <a:rPr lang="en-US"/>
              <a:t>DataBase with PostgreSQL</a:t>
            </a:r>
          </a:p>
        </p:txBody>
      </p:sp>
      <p:sp>
        <p:nvSpPr>
          <p:cNvPr id="7" name="Slide Number Placeholder 6">
            <a:extLst>
              <a:ext uri="{FF2B5EF4-FFF2-40B4-BE49-F238E27FC236}">
                <a16:creationId xmlns:a16="http://schemas.microsoft.com/office/drawing/2014/main" id="{69B8966D-23D0-4C6D-8066-F9979FD623E5}"/>
              </a:ext>
            </a:extLst>
          </p:cNvPr>
          <p:cNvSpPr>
            <a:spLocks noGrp="1"/>
          </p:cNvSpPr>
          <p:nvPr>
            <p:ph type="sldNum" sz="quarter" idx="12"/>
          </p:nvPr>
        </p:nvSpPr>
        <p:spPr/>
        <p:txBody>
          <a:bodyPr/>
          <a:lstStyle/>
          <a:p>
            <a:fld id="{DF05C15E-1453-4D65-918E-7489EA0EFEBE}" type="slidenum">
              <a:rPr lang="en-US" smtClean="0"/>
              <a:t>‹#›</a:t>
            </a:fld>
            <a:endParaRPr lang="en-US"/>
          </a:p>
        </p:txBody>
      </p:sp>
    </p:spTree>
    <p:extLst>
      <p:ext uri="{BB962C8B-B14F-4D97-AF65-F5344CB8AC3E}">
        <p14:creationId xmlns:p14="http://schemas.microsoft.com/office/powerpoint/2010/main" val="8068587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AAF0F-18D6-46A0-BF37-23CB450DF43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83F3CFC-ED23-4608-8F3E-8DF579BF86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A74BF5-81C0-4AC5-9100-A73A277E7625}"/>
              </a:ext>
            </a:extLst>
          </p:cNvPr>
          <p:cNvSpPr>
            <a:spLocks noGrp="1"/>
          </p:cNvSpPr>
          <p:nvPr>
            <p:ph type="dt" sz="half" idx="10"/>
          </p:nvPr>
        </p:nvSpPr>
        <p:spPr/>
        <p:txBody>
          <a:bodyPr/>
          <a:lstStyle/>
          <a:p>
            <a:fld id="{269E56B2-EA2E-42AE-BB33-59A6551EBDAF}" type="datetime1">
              <a:rPr lang="en-US" smtClean="0"/>
              <a:t>11/10/2025</a:t>
            </a:fld>
            <a:endParaRPr lang="en-US"/>
          </a:p>
        </p:txBody>
      </p:sp>
      <p:sp>
        <p:nvSpPr>
          <p:cNvPr id="5" name="Footer Placeholder 4">
            <a:extLst>
              <a:ext uri="{FF2B5EF4-FFF2-40B4-BE49-F238E27FC236}">
                <a16:creationId xmlns:a16="http://schemas.microsoft.com/office/drawing/2014/main" id="{4B53EBD4-BEA9-481D-95EC-8FEB5C2DDC02}"/>
              </a:ext>
            </a:extLst>
          </p:cNvPr>
          <p:cNvSpPr>
            <a:spLocks noGrp="1"/>
          </p:cNvSpPr>
          <p:nvPr>
            <p:ph type="ftr" sz="quarter" idx="11"/>
          </p:nvPr>
        </p:nvSpPr>
        <p:spPr/>
        <p:txBody>
          <a:bodyPr/>
          <a:lstStyle/>
          <a:p>
            <a:r>
              <a:rPr lang="en-US"/>
              <a:t>DataBase with PostgreSQL</a:t>
            </a:r>
          </a:p>
        </p:txBody>
      </p:sp>
      <p:sp>
        <p:nvSpPr>
          <p:cNvPr id="6" name="Slide Number Placeholder 5">
            <a:extLst>
              <a:ext uri="{FF2B5EF4-FFF2-40B4-BE49-F238E27FC236}">
                <a16:creationId xmlns:a16="http://schemas.microsoft.com/office/drawing/2014/main" id="{5D697EDE-12D0-4889-A270-E9AB42F4294D}"/>
              </a:ext>
            </a:extLst>
          </p:cNvPr>
          <p:cNvSpPr>
            <a:spLocks noGrp="1"/>
          </p:cNvSpPr>
          <p:nvPr>
            <p:ph type="sldNum" sz="quarter" idx="12"/>
          </p:nvPr>
        </p:nvSpPr>
        <p:spPr/>
        <p:txBody>
          <a:bodyPr/>
          <a:lstStyle/>
          <a:p>
            <a:fld id="{DF05C15E-1453-4D65-918E-7489EA0EFEBE}" type="slidenum">
              <a:rPr lang="en-US" smtClean="0"/>
              <a:t>‹#›</a:t>
            </a:fld>
            <a:endParaRPr lang="en-US"/>
          </a:p>
        </p:txBody>
      </p:sp>
    </p:spTree>
    <p:extLst>
      <p:ext uri="{BB962C8B-B14F-4D97-AF65-F5344CB8AC3E}">
        <p14:creationId xmlns:p14="http://schemas.microsoft.com/office/powerpoint/2010/main" val="3184189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B015C4-54C2-4494-B87E-AD7C8DC58D4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1BAC3A1-0E36-4E07-846E-F3431F8113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B95D0F-543B-4E2F-A2B7-D2023A342BB4}"/>
              </a:ext>
            </a:extLst>
          </p:cNvPr>
          <p:cNvSpPr>
            <a:spLocks noGrp="1"/>
          </p:cNvSpPr>
          <p:nvPr>
            <p:ph type="dt" sz="half" idx="10"/>
          </p:nvPr>
        </p:nvSpPr>
        <p:spPr/>
        <p:txBody>
          <a:bodyPr/>
          <a:lstStyle/>
          <a:p>
            <a:fld id="{FBE0850B-B8B3-4FA2-AB4E-2ADA9DA6995C}" type="datetime1">
              <a:rPr lang="en-US" smtClean="0"/>
              <a:t>11/10/2025</a:t>
            </a:fld>
            <a:endParaRPr lang="en-US"/>
          </a:p>
        </p:txBody>
      </p:sp>
      <p:sp>
        <p:nvSpPr>
          <p:cNvPr id="5" name="Footer Placeholder 4">
            <a:extLst>
              <a:ext uri="{FF2B5EF4-FFF2-40B4-BE49-F238E27FC236}">
                <a16:creationId xmlns:a16="http://schemas.microsoft.com/office/drawing/2014/main" id="{3ED60EF9-A966-4CC2-8DC3-D3D15B2C74A5}"/>
              </a:ext>
            </a:extLst>
          </p:cNvPr>
          <p:cNvSpPr>
            <a:spLocks noGrp="1"/>
          </p:cNvSpPr>
          <p:nvPr>
            <p:ph type="ftr" sz="quarter" idx="11"/>
          </p:nvPr>
        </p:nvSpPr>
        <p:spPr/>
        <p:txBody>
          <a:bodyPr/>
          <a:lstStyle/>
          <a:p>
            <a:r>
              <a:rPr lang="en-US"/>
              <a:t>DataBase with PostgreSQL</a:t>
            </a:r>
          </a:p>
        </p:txBody>
      </p:sp>
      <p:sp>
        <p:nvSpPr>
          <p:cNvPr id="6" name="Slide Number Placeholder 5">
            <a:extLst>
              <a:ext uri="{FF2B5EF4-FFF2-40B4-BE49-F238E27FC236}">
                <a16:creationId xmlns:a16="http://schemas.microsoft.com/office/drawing/2014/main" id="{C84B44B3-F45E-4429-B46C-72EC00462CE4}"/>
              </a:ext>
            </a:extLst>
          </p:cNvPr>
          <p:cNvSpPr>
            <a:spLocks noGrp="1"/>
          </p:cNvSpPr>
          <p:nvPr>
            <p:ph type="sldNum" sz="quarter" idx="12"/>
          </p:nvPr>
        </p:nvSpPr>
        <p:spPr/>
        <p:txBody>
          <a:bodyPr/>
          <a:lstStyle/>
          <a:p>
            <a:fld id="{DF05C15E-1453-4D65-918E-7489EA0EFEBE}" type="slidenum">
              <a:rPr lang="en-US" smtClean="0"/>
              <a:t>‹#›</a:t>
            </a:fld>
            <a:endParaRPr lang="en-US"/>
          </a:p>
        </p:txBody>
      </p:sp>
    </p:spTree>
    <p:extLst>
      <p:ext uri="{BB962C8B-B14F-4D97-AF65-F5344CB8AC3E}">
        <p14:creationId xmlns:p14="http://schemas.microsoft.com/office/powerpoint/2010/main" val="1220072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0FB411-DFD1-43F2-90C3-C4F163C2C5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87550AA-DA45-4F64-BF62-FFC4ACD889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1CAEAF-D36A-47F4-A250-0BD2168528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2267ED-2A3A-45B8-8A17-1D9CE00BDDED}" type="datetime1">
              <a:rPr lang="en-US" smtClean="0"/>
              <a:t>11/10/2025</a:t>
            </a:fld>
            <a:endParaRPr lang="en-US"/>
          </a:p>
        </p:txBody>
      </p:sp>
      <p:sp>
        <p:nvSpPr>
          <p:cNvPr id="5" name="Footer Placeholder 4">
            <a:extLst>
              <a:ext uri="{FF2B5EF4-FFF2-40B4-BE49-F238E27FC236}">
                <a16:creationId xmlns:a16="http://schemas.microsoft.com/office/drawing/2014/main" id="{93AE5F92-ECB9-4D91-997B-E89642D9DF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DataBase with PostgreSQL</a:t>
            </a:r>
          </a:p>
        </p:txBody>
      </p:sp>
      <p:sp>
        <p:nvSpPr>
          <p:cNvPr id="6" name="Slide Number Placeholder 5">
            <a:extLst>
              <a:ext uri="{FF2B5EF4-FFF2-40B4-BE49-F238E27FC236}">
                <a16:creationId xmlns:a16="http://schemas.microsoft.com/office/drawing/2014/main" id="{412CE1E6-2494-4652-B8AF-F4DCA8105D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05C15E-1453-4D65-918E-7489EA0EFEBE}" type="slidenum">
              <a:rPr lang="en-US" smtClean="0"/>
              <a:t>‹#›</a:t>
            </a:fld>
            <a:endParaRPr lang="en-US"/>
          </a:p>
        </p:txBody>
      </p:sp>
    </p:spTree>
    <p:extLst>
      <p:ext uri="{BB962C8B-B14F-4D97-AF65-F5344CB8AC3E}">
        <p14:creationId xmlns:p14="http://schemas.microsoft.com/office/powerpoint/2010/main" val="13383903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mockaroo.com/" TargetMode="External"/><Relationship Id="rId2" Type="http://schemas.openxmlformats.org/officeDocument/2006/relationships/hyperlink" Target="https://www.imdb.com/"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4D31E-5170-435D-A9A3-B24FFA08A428}"/>
              </a:ext>
            </a:extLst>
          </p:cNvPr>
          <p:cNvSpPr>
            <a:spLocks noGrp="1"/>
          </p:cNvSpPr>
          <p:nvPr>
            <p:ph type="ctrTitle"/>
          </p:nvPr>
        </p:nvSpPr>
        <p:spPr/>
        <p:txBody>
          <a:bodyPr/>
          <a:lstStyle/>
          <a:p>
            <a:r>
              <a:rPr lang="en-US" dirty="0" err="1"/>
              <a:t>DataBase</a:t>
            </a:r>
            <a:r>
              <a:rPr lang="en-US" dirty="0"/>
              <a:t> with PostgreSQL</a:t>
            </a:r>
          </a:p>
        </p:txBody>
      </p:sp>
      <p:sp>
        <p:nvSpPr>
          <p:cNvPr id="3" name="Subtitle 2">
            <a:extLst>
              <a:ext uri="{FF2B5EF4-FFF2-40B4-BE49-F238E27FC236}">
                <a16:creationId xmlns:a16="http://schemas.microsoft.com/office/drawing/2014/main" id="{5E00DCE4-ABCF-4F25-9BEC-E929FBC0FAE9}"/>
              </a:ext>
            </a:extLst>
          </p:cNvPr>
          <p:cNvSpPr>
            <a:spLocks noGrp="1"/>
          </p:cNvSpPr>
          <p:nvPr>
            <p:ph type="subTitle" idx="1"/>
          </p:nvPr>
        </p:nvSpPr>
        <p:spPr/>
        <p:txBody>
          <a:bodyPr/>
          <a:lstStyle/>
          <a:p>
            <a:endParaRPr lang="en-US"/>
          </a:p>
        </p:txBody>
      </p:sp>
      <p:sp>
        <p:nvSpPr>
          <p:cNvPr id="4" name="Footer Placeholder 3">
            <a:extLst>
              <a:ext uri="{FF2B5EF4-FFF2-40B4-BE49-F238E27FC236}">
                <a16:creationId xmlns:a16="http://schemas.microsoft.com/office/drawing/2014/main" id="{5839E0D3-E08A-456A-9209-7CB4B81D8B03}"/>
              </a:ext>
            </a:extLst>
          </p:cNvPr>
          <p:cNvSpPr>
            <a:spLocks noGrp="1"/>
          </p:cNvSpPr>
          <p:nvPr>
            <p:ph type="ftr" sz="quarter" idx="11"/>
          </p:nvPr>
        </p:nvSpPr>
        <p:spPr/>
        <p:txBody>
          <a:bodyPr/>
          <a:lstStyle/>
          <a:p>
            <a:r>
              <a:rPr lang="en-US" dirty="0" err="1"/>
              <a:t>DataBase</a:t>
            </a:r>
            <a:r>
              <a:rPr lang="en-US" dirty="0"/>
              <a:t> </a:t>
            </a:r>
            <a:r>
              <a:rPr lang="en-US"/>
              <a:t>with PostgreSQL</a:t>
            </a:r>
            <a:endParaRPr lang="en-US" dirty="0"/>
          </a:p>
        </p:txBody>
      </p:sp>
      <p:sp>
        <p:nvSpPr>
          <p:cNvPr id="5" name="Slide Number Placeholder 4">
            <a:extLst>
              <a:ext uri="{FF2B5EF4-FFF2-40B4-BE49-F238E27FC236}">
                <a16:creationId xmlns:a16="http://schemas.microsoft.com/office/drawing/2014/main" id="{980E8191-7F02-4630-A5E2-32B8D3F4F4CD}"/>
              </a:ext>
            </a:extLst>
          </p:cNvPr>
          <p:cNvSpPr>
            <a:spLocks noGrp="1"/>
          </p:cNvSpPr>
          <p:nvPr>
            <p:ph type="sldNum" sz="quarter" idx="12"/>
          </p:nvPr>
        </p:nvSpPr>
        <p:spPr/>
        <p:txBody>
          <a:bodyPr/>
          <a:lstStyle/>
          <a:p>
            <a:fld id="{DF05C15E-1453-4D65-918E-7489EA0EFEBE}" type="slidenum">
              <a:rPr lang="en-US" smtClean="0"/>
              <a:t>1</a:t>
            </a:fld>
            <a:endParaRPr lang="en-US"/>
          </a:p>
        </p:txBody>
      </p:sp>
    </p:spTree>
    <p:extLst>
      <p:ext uri="{BB962C8B-B14F-4D97-AF65-F5344CB8AC3E}">
        <p14:creationId xmlns:p14="http://schemas.microsoft.com/office/powerpoint/2010/main" val="5324281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8DC16-2DDB-1E2E-E628-C40371CC2A0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7B6C99D-11D1-830C-9E93-231127372D7D}"/>
              </a:ext>
            </a:extLst>
          </p:cNvPr>
          <p:cNvSpPr>
            <a:spLocks noGrp="1"/>
          </p:cNvSpPr>
          <p:nvPr>
            <p:ph idx="1"/>
          </p:nvPr>
        </p:nvSpPr>
        <p:spPr/>
        <p:txBody>
          <a:bodyPr/>
          <a:lstStyle/>
          <a:p>
            <a:r>
              <a:rPr lang="en-US" dirty="0"/>
              <a:t>1</a:t>
            </a:r>
            <a:r>
              <a:rPr lang="en-US" baseline="30000" dirty="0"/>
              <a:t>st</a:t>
            </a:r>
            <a:r>
              <a:rPr lang="en-US" dirty="0"/>
              <a:t> first quality of database is to permit storage of good data, data which are needed for application program</a:t>
            </a:r>
          </a:p>
          <a:p>
            <a:r>
              <a:rPr lang="en-US" dirty="0"/>
              <a:t>2</a:t>
            </a:r>
            <a:r>
              <a:rPr lang="en-US" baseline="30000" dirty="0"/>
              <a:t>nd</a:t>
            </a:r>
            <a:r>
              <a:rPr lang="en-US" dirty="0"/>
              <a:t> second quality of database is to do not permit storage of bad data</a:t>
            </a:r>
          </a:p>
          <a:p>
            <a:endParaRPr lang="en-US" dirty="0"/>
          </a:p>
        </p:txBody>
      </p:sp>
      <p:sp>
        <p:nvSpPr>
          <p:cNvPr id="4" name="Footer Placeholder 3">
            <a:extLst>
              <a:ext uri="{FF2B5EF4-FFF2-40B4-BE49-F238E27FC236}">
                <a16:creationId xmlns:a16="http://schemas.microsoft.com/office/drawing/2014/main" id="{6A9042F7-AB10-33DA-B1D3-ECCD39181DCC}"/>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9F76AF2C-64DC-C182-F7DD-7C3D76720098}"/>
              </a:ext>
            </a:extLst>
          </p:cNvPr>
          <p:cNvSpPr>
            <a:spLocks noGrp="1"/>
          </p:cNvSpPr>
          <p:nvPr>
            <p:ph type="sldNum" sz="quarter" idx="12"/>
          </p:nvPr>
        </p:nvSpPr>
        <p:spPr/>
        <p:txBody>
          <a:bodyPr/>
          <a:lstStyle/>
          <a:p>
            <a:fld id="{DF05C15E-1453-4D65-918E-7489EA0EFEBE}" type="slidenum">
              <a:rPr lang="en-US" smtClean="0"/>
              <a:t>2</a:t>
            </a:fld>
            <a:endParaRPr lang="en-US"/>
          </a:p>
        </p:txBody>
      </p:sp>
    </p:spTree>
    <p:extLst>
      <p:ext uri="{BB962C8B-B14F-4D97-AF65-F5344CB8AC3E}">
        <p14:creationId xmlns:p14="http://schemas.microsoft.com/office/powerpoint/2010/main" val="7527823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7F118-6D20-E308-BA4A-7094178AF2E7}"/>
              </a:ext>
            </a:extLst>
          </p:cNvPr>
          <p:cNvSpPr>
            <a:spLocks noGrp="1"/>
          </p:cNvSpPr>
          <p:nvPr>
            <p:ph type="title"/>
          </p:nvPr>
        </p:nvSpPr>
        <p:spPr/>
        <p:txBody>
          <a:bodyPr/>
          <a:lstStyle/>
          <a:p>
            <a:r>
              <a:rPr lang="en-US" dirty="0"/>
              <a:t>Constraint!</a:t>
            </a:r>
          </a:p>
        </p:txBody>
      </p:sp>
      <p:sp>
        <p:nvSpPr>
          <p:cNvPr id="3" name="Content Placeholder 2">
            <a:extLst>
              <a:ext uri="{FF2B5EF4-FFF2-40B4-BE49-F238E27FC236}">
                <a16:creationId xmlns:a16="http://schemas.microsoft.com/office/drawing/2014/main" id="{3DC005F5-49E8-801E-EB86-93C45F900531}"/>
              </a:ext>
            </a:extLst>
          </p:cNvPr>
          <p:cNvSpPr>
            <a:spLocks noGrp="1"/>
          </p:cNvSpPr>
          <p:nvPr>
            <p:ph idx="1"/>
          </p:nvPr>
        </p:nvSpPr>
        <p:spPr/>
        <p:txBody>
          <a:bodyPr/>
          <a:lstStyle/>
          <a:p>
            <a:r>
              <a:rPr lang="en-US" b="1" dirty="0"/>
              <a:t>Integrity Constraint</a:t>
            </a:r>
            <a:r>
              <a:rPr lang="en-US" dirty="0"/>
              <a:t> is a condition specified on a database schema and restricts the data that can be stored in an instance of the database.</a:t>
            </a:r>
          </a:p>
          <a:p>
            <a:r>
              <a:rPr lang="en-US" dirty="0"/>
              <a:t>specified when we define database schema, database structure</a:t>
            </a:r>
          </a:p>
          <a:p>
            <a:r>
              <a:rPr lang="en-US" dirty="0"/>
              <a:t>enforced when update data, </a:t>
            </a:r>
            <a:r>
              <a:rPr lang="en-US" dirty="0" err="1"/>
              <a:t>DataBase</a:t>
            </a:r>
            <a:r>
              <a:rPr lang="en-US" dirty="0"/>
              <a:t> Management System checks for violations and disallows changes to data that violates constraints specified </a:t>
            </a:r>
          </a:p>
        </p:txBody>
      </p:sp>
      <p:sp>
        <p:nvSpPr>
          <p:cNvPr id="4" name="Footer Placeholder 3">
            <a:extLst>
              <a:ext uri="{FF2B5EF4-FFF2-40B4-BE49-F238E27FC236}">
                <a16:creationId xmlns:a16="http://schemas.microsoft.com/office/drawing/2014/main" id="{128A1A0D-C42D-FC1E-6762-32208B1B77D4}"/>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2236FBC3-2647-8A9D-A5DA-D3207B98E341}"/>
              </a:ext>
            </a:extLst>
          </p:cNvPr>
          <p:cNvSpPr>
            <a:spLocks noGrp="1"/>
          </p:cNvSpPr>
          <p:nvPr>
            <p:ph type="sldNum" sz="quarter" idx="12"/>
          </p:nvPr>
        </p:nvSpPr>
        <p:spPr/>
        <p:txBody>
          <a:bodyPr/>
          <a:lstStyle/>
          <a:p>
            <a:fld id="{DF05C15E-1453-4D65-918E-7489EA0EFEBE}" type="slidenum">
              <a:rPr lang="en-US" smtClean="0"/>
              <a:t>3</a:t>
            </a:fld>
            <a:endParaRPr lang="en-US"/>
          </a:p>
        </p:txBody>
      </p:sp>
    </p:spTree>
    <p:extLst>
      <p:ext uri="{BB962C8B-B14F-4D97-AF65-F5344CB8AC3E}">
        <p14:creationId xmlns:p14="http://schemas.microsoft.com/office/powerpoint/2010/main" val="219843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8B38E-FFC9-1626-25D1-742F08C0824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4CBAD44-5997-C4D3-320E-9E65C7C0B9BB}"/>
              </a:ext>
            </a:extLst>
          </p:cNvPr>
          <p:cNvSpPr>
            <a:spLocks noGrp="1"/>
          </p:cNvSpPr>
          <p:nvPr>
            <p:ph idx="1"/>
          </p:nvPr>
        </p:nvSpPr>
        <p:spPr/>
        <p:txBody>
          <a:bodyPr>
            <a:normAutofit/>
          </a:bodyPr>
          <a:lstStyle/>
          <a:p>
            <a:r>
              <a:rPr lang="en-US" sz="2700" dirty="0"/>
              <a:t>In some situations, rather than disallow change (RESTRICT), the DBMS might make some compensating changes to data to ensure that database instance satisfies all integrity constraints</a:t>
            </a:r>
          </a:p>
          <a:p>
            <a:r>
              <a:rPr lang="en-US" sz="2700" dirty="0"/>
              <a:t>changes to database are not allowed to create instance that violates any constraint</a:t>
            </a:r>
          </a:p>
        </p:txBody>
      </p:sp>
      <p:sp>
        <p:nvSpPr>
          <p:cNvPr id="4" name="Footer Placeholder 3">
            <a:extLst>
              <a:ext uri="{FF2B5EF4-FFF2-40B4-BE49-F238E27FC236}">
                <a16:creationId xmlns:a16="http://schemas.microsoft.com/office/drawing/2014/main" id="{19FC5DCE-6A94-A26B-F8CD-05D6D1ED108C}"/>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5B1DD58A-A5C9-8E58-CD6C-338E7112914B}"/>
              </a:ext>
            </a:extLst>
          </p:cNvPr>
          <p:cNvSpPr>
            <a:spLocks noGrp="1"/>
          </p:cNvSpPr>
          <p:nvPr>
            <p:ph type="sldNum" sz="quarter" idx="12"/>
          </p:nvPr>
        </p:nvSpPr>
        <p:spPr/>
        <p:txBody>
          <a:bodyPr/>
          <a:lstStyle/>
          <a:p>
            <a:fld id="{DF05C15E-1453-4D65-918E-7489EA0EFEBE}" type="slidenum">
              <a:rPr lang="en-US" smtClean="0"/>
              <a:t>4</a:t>
            </a:fld>
            <a:endParaRPr lang="en-US"/>
          </a:p>
        </p:txBody>
      </p:sp>
    </p:spTree>
    <p:extLst>
      <p:ext uri="{BB962C8B-B14F-4D97-AF65-F5344CB8AC3E}">
        <p14:creationId xmlns:p14="http://schemas.microsoft.com/office/powerpoint/2010/main" val="380946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D19A4-2FF8-70A0-E0D1-596F33D4A210}"/>
              </a:ext>
            </a:extLst>
          </p:cNvPr>
          <p:cNvSpPr>
            <a:spLocks noGrp="1"/>
          </p:cNvSpPr>
          <p:nvPr>
            <p:ph type="title"/>
          </p:nvPr>
        </p:nvSpPr>
        <p:spPr/>
        <p:txBody>
          <a:bodyPr/>
          <a:lstStyle/>
          <a:p>
            <a:r>
              <a:rPr lang="en-US" dirty="0"/>
              <a:t>Declarative</a:t>
            </a:r>
          </a:p>
        </p:txBody>
      </p:sp>
      <p:sp>
        <p:nvSpPr>
          <p:cNvPr id="3" name="Content Placeholder 2">
            <a:extLst>
              <a:ext uri="{FF2B5EF4-FFF2-40B4-BE49-F238E27FC236}">
                <a16:creationId xmlns:a16="http://schemas.microsoft.com/office/drawing/2014/main" id="{6445744A-B5A3-359E-487B-472573C79A55}"/>
              </a:ext>
            </a:extLst>
          </p:cNvPr>
          <p:cNvSpPr>
            <a:spLocks noGrp="1"/>
          </p:cNvSpPr>
          <p:nvPr>
            <p:ph idx="1"/>
          </p:nvPr>
        </p:nvSpPr>
        <p:spPr/>
        <p:txBody>
          <a:bodyPr/>
          <a:lstStyle/>
          <a:p>
            <a:r>
              <a:rPr lang="en-US" dirty="0"/>
              <a:t>integrity constraint can be arbitrary predicate pertaining to database</a:t>
            </a:r>
          </a:p>
        </p:txBody>
      </p:sp>
      <p:sp>
        <p:nvSpPr>
          <p:cNvPr id="4" name="Footer Placeholder 3">
            <a:extLst>
              <a:ext uri="{FF2B5EF4-FFF2-40B4-BE49-F238E27FC236}">
                <a16:creationId xmlns:a16="http://schemas.microsoft.com/office/drawing/2014/main" id="{9EE6710D-506A-D0F5-898C-D1AA740008EE}"/>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709984B4-EC4D-5C8C-6158-97C7C1B960A9}"/>
              </a:ext>
            </a:extLst>
          </p:cNvPr>
          <p:cNvSpPr>
            <a:spLocks noGrp="1"/>
          </p:cNvSpPr>
          <p:nvPr>
            <p:ph type="sldNum" sz="quarter" idx="12"/>
          </p:nvPr>
        </p:nvSpPr>
        <p:spPr/>
        <p:txBody>
          <a:bodyPr/>
          <a:lstStyle/>
          <a:p>
            <a:fld id="{DF05C15E-1453-4D65-918E-7489EA0EFEBE}" type="slidenum">
              <a:rPr lang="en-US" smtClean="0"/>
              <a:t>5</a:t>
            </a:fld>
            <a:endParaRPr lang="en-US"/>
          </a:p>
        </p:txBody>
      </p:sp>
    </p:spTree>
    <p:extLst>
      <p:ext uri="{BB962C8B-B14F-4D97-AF65-F5344CB8AC3E}">
        <p14:creationId xmlns:p14="http://schemas.microsoft.com/office/powerpoint/2010/main" val="3639500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95D7C-2EB9-9DD9-2083-6F6395917C3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5A8899A-CBD5-168D-46A6-9B45B0C208EE}"/>
              </a:ext>
            </a:extLst>
          </p:cNvPr>
          <p:cNvSpPr>
            <a:spLocks noGrp="1"/>
          </p:cNvSpPr>
          <p:nvPr>
            <p:ph idx="1"/>
          </p:nvPr>
        </p:nvSpPr>
        <p:spPr/>
        <p:txBody>
          <a:bodyPr/>
          <a:lstStyle/>
          <a:p>
            <a:r>
              <a:rPr lang="en-US" dirty="0"/>
              <a:t>part of database schema design process and declared as part of </a:t>
            </a:r>
            <a:r>
              <a:rPr lang="en-US" i="1" dirty="0"/>
              <a:t>create table</a:t>
            </a:r>
            <a:r>
              <a:rPr lang="en-US" dirty="0"/>
              <a:t> / alter table</a:t>
            </a:r>
          </a:p>
        </p:txBody>
      </p:sp>
      <p:sp>
        <p:nvSpPr>
          <p:cNvPr id="4" name="Footer Placeholder 3">
            <a:extLst>
              <a:ext uri="{FF2B5EF4-FFF2-40B4-BE49-F238E27FC236}">
                <a16:creationId xmlns:a16="http://schemas.microsoft.com/office/drawing/2014/main" id="{1E566822-2E8C-A0B6-5383-014C63571C5C}"/>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440154B6-F800-8C1F-5DB6-CA850B06707E}"/>
              </a:ext>
            </a:extLst>
          </p:cNvPr>
          <p:cNvSpPr>
            <a:spLocks noGrp="1"/>
          </p:cNvSpPr>
          <p:nvPr>
            <p:ph type="sldNum" sz="quarter" idx="12"/>
          </p:nvPr>
        </p:nvSpPr>
        <p:spPr/>
        <p:txBody>
          <a:bodyPr/>
          <a:lstStyle/>
          <a:p>
            <a:fld id="{DF05C15E-1453-4D65-918E-7489EA0EFEBE}" type="slidenum">
              <a:rPr lang="en-US" smtClean="0"/>
              <a:t>6</a:t>
            </a:fld>
            <a:endParaRPr lang="en-US"/>
          </a:p>
        </p:txBody>
      </p:sp>
    </p:spTree>
    <p:extLst>
      <p:ext uri="{BB962C8B-B14F-4D97-AF65-F5344CB8AC3E}">
        <p14:creationId xmlns:p14="http://schemas.microsoft.com/office/powerpoint/2010/main" val="1965574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79950-5532-D157-40C1-B9395F4E5EEC}"/>
              </a:ext>
            </a:extLst>
          </p:cNvPr>
          <p:cNvSpPr>
            <a:spLocks noGrp="1"/>
          </p:cNvSpPr>
          <p:nvPr>
            <p:ph type="title"/>
          </p:nvPr>
        </p:nvSpPr>
        <p:spPr/>
        <p:txBody>
          <a:bodyPr>
            <a:normAutofit/>
          </a:bodyPr>
          <a:lstStyle/>
          <a:p>
            <a:r>
              <a:rPr lang="en-US" sz="4800" b="1" dirty="0"/>
              <a:t>Constraints on a Single Relation</a:t>
            </a:r>
          </a:p>
        </p:txBody>
      </p:sp>
      <p:sp>
        <p:nvSpPr>
          <p:cNvPr id="3" name="Content Placeholder 2">
            <a:extLst>
              <a:ext uri="{FF2B5EF4-FFF2-40B4-BE49-F238E27FC236}">
                <a16:creationId xmlns:a16="http://schemas.microsoft.com/office/drawing/2014/main" id="{B772BC0F-BCDC-73C5-7827-70C488147BFA}"/>
              </a:ext>
            </a:extLst>
          </p:cNvPr>
          <p:cNvSpPr>
            <a:spLocks noGrp="1"/>
          </p:cNvSpPr>
          <p:nvPr>
            <p:ph idx="1"/>
          </p:nvPr>
        </p:nvSpPr>
        <p:spPr/>
        <p:txBody>
          <a:bodyPr/>
          <a:lstStyle/>
          <a:p>
            <a:r>
              <a:rPr lang="en-US" dirty="0"/>
              <a:t>Primary Key</a:t>
            </a:r>
          </a:p>
          <a:p>
            <a:pPr lvl="0"/>
            <a:r>
              <a:rPr lang="en-US" dirty="0"/>
              <a:t>not null</a:t>
            </a:r>
          </a:p>
          <a:p>
            <a:pPr lvl="0"/>
            <a:r>
              <a:rPr lang="en-US" dirty="0"/>
              <a:t>unique</a:t>
            </a:r>
          </a:p>
          <a:p>
            <a:pPr lvl="0"/>
            <a:r>
              <a:rPr lang="en-US" dirty="0"/>
              <a:t>check(&lt;predicate&gt;)</a:t>
            </a:r>
          </a:p>
          <a:p>
            <a:endParaRPr lang="en-US" dirty="0"/>
          </a:p>
        </p:txBody>
      </p:sp>
      <p:sp>
        <p:nvSpPr>
          <p:cNvPr id="4" name="Footer Placeholder 3">
            <a:extLst>
              <a:ext uri="{FF2B5EF4-FFF2-40B4-BE49-F238E27FC236}">
                <a16:creationId xmlns:a16="http://schemas.microsoft.com/office/drawing/2014/main" id="{EBB3A1F2-1B91-0203-6D88-1B131FC71956}"/>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43CA34AB-E115-AB99-AB10-589CF094CD42}"/>
              </a:ext>
            </a:extLst>
          </p:cNvPr>
          <p:cNvSpPr>
            <a:spLocks noGrp="1"/>
          </p:cNvSpPr>
          <p:nvPr>
            <p:ph type="sldNum" sz="quarter" idx="12"/>
          </p:nvPr>
        </p:nvSpPr>
        <p:spPr/>
        <p:txBody>
          <a:bodyPr/>
          <a:lstStyle/>
          <a:p>
            <a:fld id="{DF05C15E-1453-4D65-918E-7489EA0EFEBE}" type="slidenum">
              <a:rPr lang="en-US" smtClean="0"/>
              <a:t>7</a:t>
            </a:fld>
            <a:endParaRPr lang="en-US"/>
          </a:p>
        </p:txBody>
      </p:sp>
    </p:spTree>
    <p:extLst>
      <p:ext uri="{BB962C8B-B14F-4D97-AF65-F5344CB8AC3E}">
        <p14:creationId xmlns:p14="http://schemas.microsoft.com/office/powerpoint/2010/main" val="1625510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456A1-BD18-1C83-A155-6FBC031256F0}"/>
              </a:ext>
            </a:extLst>
          </p:cNvPr>
          <p:cNvSpPr>
            <a:spLocks noGrp="1"/>
          </p:cNvSpPr>
          <p:nvPr>
            <p:ph type="title"/>
          </p:nvPr>
        </p:nvSpPr>
        <p:spPr/>
        <p:txBody>
          <a:bodyPr/>
          <a:lstStyle/>
          <a:p>
            <a:r>
              <a:rPr lang="en-US" dirty="0"/>
              <a:t>Not NULL Constraint</a:t>
            </a:r>
          </a:p>
        </p:txBody>
      </p:sp>
      <p:sp>
        <p:nvSpPr>
          <p:cNvPr id="3" name="Content Placeholder 2">
            <a:extLst>
              <a:ext uri="{FF2B5EF4-FFF2-40B4-BE49-F238E27FC236}">
                <a16:creationId xmlns:a16="http://schemas.microsoft.com/office/drawing/2014/main" id="{A0183C85-43E9-B2AD-45D8-6C9EE5D09A85}"/>
              </a:ext>
            </a:extLst>
          </p:cNvPr>
          <p:cNvSpPr>
            <a:spLocks noGrp="1"/>
          </p:cNvSpPr>
          <p:nvPr>
            <p:ph idx="1"/>
          </p:nvPr>
        </p:nvSpPr>
        <p:spPr/>
        <p:txBody>
          <a:bodyPr/>
          <a:lstStyle/>
          <a:p>
            <a:r>
              <a:rPr lang="en-US" dirty="0"/>
              <a:t>restrict the domain of attributes to exclude null values, by declaring it</a:t>
            </a:r>
          </a:p>
          <a:p>
            <a:r>
              <a:rPr lang="en-US" dirty="0"/>
              <a:t>for example,</a:t>
            </a:r>
          </a:p>
          <a:p>
            <a:r>
              <a:rPr lang="en-US" dirty="0">
                <a:latin typeface="Courier New" panose="02070309020205020404" pitchFamily="49" charset="0"/>
                <a:cs typeface="Courier New" panose="02070309020205020404" pitchFamily="49" charset="0"/>
              </a:rPr>
              <a:t>name varchar(50) not null</a:t>
            </a:r>
          </a:p>
          <a:p>
            <a:r>
              <a:rPr lang="en-US" dirty="0"/>
              <a:t> </a:t>
            </a:r>
          </a:p>
          <a:p>
            <a:endParaRPr lang="en-US" dirty="0"/>
          </a:p>
        </p:txBody>
      </p:sp>
      <p:sp>
        <p:nvSpPr>
          <p:cNvPr id="4" name="Footer Placeholder 3">
            <a:extLst>
              <a:ext uri="{FF2B5EF4-FFF2-40B4-BE49-F238E27FC236}">
                <a16:creationId xmlns:a16="http://schemas.microsoft.com/office/drawing/2014/main" id="{DED0D324-F1EC-2456-1344-25E60665460D}"/>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4BDAA922-D0FF-BE91-7870-CFC8DE8FB009}"/>
              </a:ext>
            </a:extLst>
          </p:cNvPr>
          <p:cNvSpPr>
            <a:spLocks noGrp="1"/>
          </p:cNvSpPr>
          <p:nvPr>
            <p:ph type="sldNum" sz="quarter" idx="12"/>
          </p:nvPr>
        </p:nvSpPr>
        <p:spPr/>
        <p:txBody>
          <a:bodyPr/>
          <a:lstStyle/>
          <a:p>
            <a:fld id="{DF05C15E-1453-4D65-918E-7489EA0EFEBE}" type="slidenum">
              <a:rPr lang="en-US" smtClean="0"/>
              <a:t>8</a:t>
            </a:fld>
            <a:endParaRPr lang="en-US"/>
          </a:p>
        </p:txBody>
      </p:sp>
    </p:spTree>
    <p:extLst>
      <p:ext uri="{BB962C8B-B14F-4D97-AF65-F5344CB8AC3E}">
        <p14:creationId xmlns:p14="http://schemas.microsoft.com/office/powerpoint/2010/main" val="1080726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261BD-9344-73F9-4D2C-71020407DC00}"/>
              </a:ext>
            </a:extLst>
          </p:cNvPr>
          <p:cNvSpPr>
            <a:spLocks noGrp="1"/>
          </p:cNvSpPr>
          <p:nvPr>
            <p:ph type="title"/>
          </p:nvPr>
        </p:nvSpPr>
        <p:spPr/>
        <p:txBody>
          <a:bodyPr/>
          <a:lstStyle/>
          <a:p>
            <a:r>
              <a:rPr lang="en-US" dirty="0"/>
              <a:t>Unique Constraint</a:t>
            </a:r>
          </a:p>
        </p:txBody>
      </p:sp>
      <p:sp>
        <p:nvSpPr>
          <p:cNvPr id="3" name="Content Placeholder 2">
            <a:extLst>
              <a:ext uri="{FF2B5EF4-FFF2-40B4-BE49-F238E27FC236}">
                <a16:creationId xmlns:a16="http://schemas.microsoft.com/office/drawing/2014/main" id="{9FCD1430-50B2-3229-28BF-32579B33E2A3}"/>
              </a:ext>
            </a:extLst>
          </p:cNvPr>
          <p:cNvSpPr>
            <a:spLocks noGrp="1"/>
          </p:cNvSpPr>
          <p:nvPr>
            <p:ph idx="1"/>
          </p:nvPr>
        </p:nvSpPr>
        <p:spPr/>
        <p:txBody>
          <a:bodyPr/>
          <a:lstStyle/>
          <a:p>
            <a:r>
              <a:rPr lang="en-US" dirty="0"/>
              <a:t>SQL supports a </a:t>
            </a:r>
            <a:r>
              <a:rPr lang="en-US" b="1" dirty="0"/>
              <a:t>unique</a:t>
            </a:r>
            <a:r>
              <a:rPr lang="en-US" dirty="0"/>
              <a:t> integrity constraint: </a:t>
            </a:r>
            <a:r>
              <a:rPr lang="en-US" i="1" dirty="0">
                <a:latin typeface="Courier New" panose="02070309020205020404" pitchFamily="49" charset="0"/>
                <a:cs typeface="Courier New" panose="02070309020205020404" pitchFamily="49" charset="0"/>
              </a:rPr>
              <a:t>unique (A</a:t>
            </a:r>
            <a:r>
              <a:rPr lang="en-US" i="1" baseline="-25000" dirty="0">
                <a:latin typeface="Courier New" panose="02070309020205020404" pitchFamily="49" charset="0"/>
                <a:cs typeface="Courier New" panose="02070309020205020404" pitchFamily="49" charset="0"/>
              </a:rPr>
              <a:t>j1</a:t>
            </a:r>
            <a:r>
              <a:rPr lang="en-US" i="1" dirty="0">
                <a:latin typeface="Courier New" panose="02070309020205020404" pitchFamily="49" charset="0"/>
                <a:cs typeface="Courier New" panose="02070309020205020404" pitchFamily="49" charset="0"/>
              </a:rPr>
              <a:t>, A</a:t>
            </a:r>
            <a:r>
              <a:rPr lang="en-US" i="1" baseline="-25000" dirty="0">
                <a:latin typeface="Courier New" panose="02070309020205020404" pitchFamily="49" charset="0"/>
                <a:cs typeface="Courier New" panose="02070309020205020404" pitchFamily="49" charset="0"/>
              </a:rPr>
              <a:t>j2</a:t>
            </a:r>
            <a:r>
              <a:rPr lang="en-US" i="1" dirty="0">
                <a:latin typeface="Courier New" panose="02070309020205020404" pitchFamily="49" charset="0"/>
                <a:cs typeface="Courier New" panose="02070309020205020404" pitchFamily="49" charset="0"/>
              </a:rPr>
              <a:t>, … </a:t>
            </a:r>
            <a:r>
              <a:rPr lang="en-US" i="1" dirty="0" err="1">
                <a:latin typeface="Courier New" panose="02070309020205020404" pitchFamily="49" charset="0"/>
                <a:cs typeface="Courier New" panose="02070309020205020404" pitchFamily="49" charset="0"/>
              </a:rPr>
              <a:t>A</a:t>
            </a:r>
            <a:r>
              <a:rPr lang="en-US" i="1" baseline="-25000" dirty="0" err="1">
                <a:latin typeface="Courier New" panose="02070309020205020404" pitchFamily="49" charset="0"/>
                <a:cs typeface="Courier New" panose="02070309020205020404" pitchFamily="49" charset="0"/>
              </a:rPr>
              <a:t>jm</a:t>
            </a:r>
            <a:r>
              <a:rPr lang="en-US" i="1" dirty="0">
                <a:latin typeface="Courier New" panose="02070309020205020404" pitchFamily="49" charset="0"/>
                <a:cs typeface="Courier New" panose="02070309020205020404" pitchFamily="49" charset="0"/>
              </a:rPr>
              <a:t>)</a:t>
            </a:r>
            <a:r>
              <a:rPr lang="en-US" dirty="0"/>
              <a:t>specification says that attributes </a:t>
            </a:r>
            <a:r>
              <a:rPr lang="en-US" i="1" dirty="0"/>
              <a:t>A</a:t>
            </a:r>
            <a:r>
              <a:rPr lang="en-US" i="1" baseline="-25000" dirty="0"/>
              <a:t>j1</a:t>
            </a:r>
            <a:r>
              <a:rPr lang="en-US" i="1" dirty="0"/>
              <a:t>, A</a:t>
            </a:r>
            <a:r>
              <a:rPr lang="en-US" i="1" baseline="-25000" dirty="0"/>
              <a:t>j2</a:t>
            </a:r>
            <a:r>
              <a:rPr lang="en-US" i="1" dirty="0"/>
              <a:t>, … </a:t>
            </a:r>
            <a:r>
              <a:rPr lang="en-US" i="1" dirty="0" err="1"/>
              <a:t>A</a:t>
            </a:r>
            <a:r>
              <a:rPr lang="en-US" i="1" baseline="-25000" dirty="0" err="1"/>
              <a:t>jm</a:t>
            </a:r>
            <a:r>
              <a:rPr lang="en-US" dirty="0"/>
              <a:t> form a </a:t>
            </a:r>
            <a:r>
              <a:rPr lang="en-US" dirty="0" err="1"/>
              <a:t>superkey</a:t>
            </a:r>
            <a:r>
              <a:rPr lang="en-US" dirty="0"/>
              <a:t>, that is, no two tuples in relation can be equal on all listed attributes</a:t>
            </a:r>
          </a:p>
          <a:p>
            <a:r>
              <a:rPr lang="en-US" dirty="0"/>
              <a:t>attributes declared as unique are permitted to be null unless they have explicitly been declared to be not null</a:t>
            </a:r>
          </a:p>
          <a:p>
            <a:pPr lvl="1"/>
            <a:r>
              <a:rPr lang="en-US" sz="2700" dirty="0"/>
              <a:t>recall that null value does not equal any other value</a:t>
            </a:r>
          </a:p>
          <a:p>
            <a:endParaRPr lang="en-US" dirty="0"/>
          </a:p>
        </p:txBody>
      </p:sp>
      <p:sp>
        <p:nvSpPr>
          <p:cNvPr id="4" name="Footer Placeholder 3">
            <a:extLst>
              <a:ext uri="{FF2B5EF4-FFF2-40B4-BE49-F238E27FC236}">
                <a16:creationId xmlns:a16="http://schemas.microsoft.com/office/drawing/2014/main" id="{A4D64981-A230-6A3B-F4A1-09EFC067284D}"/>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506DF69B-89BD-8A41-FB32-F724382AA970}"/>
              </a:ext>
            </a:extLst>
          </p:cNvPr>
          <p:cNvSpPr>
            <a:spLocks noGrp="1"/>
          </p:cNvSpPr>
          <p:nvPr>
            <p:ph type="sldNum" sz="quarter" idx="12"/>
          </p:nvPr>
        </p:nvSpPr>
        <p:spPr/>
        <p:txBody>
          <a:bodyPr/>
          <a:lstStyle/>
          <a:p>
            <a:fld id="{DF05C15E-1453-4D65-918E-7489EA0EFEBE}" type="slidenum">
              <a:rPr lang="en-US" smtClean="0"/>
              <a:t>9</a:t>
            </a:fld>
            <a:endParaRPr lang="en-US"/>
          </a:p>
        </p:txBody>
      </p:sp>
    </p:spTree>
    <p:extLst>
      <p:ext uri="{BB962C8B-B14F-4D97-AF65-F5344CB8AC3E}">
        <p14:creationId xmlns:p14="http://schemas.microsoft.com/office/powerpoint/2010/main" val="3487672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41554-FC48-6E99-52C1-B9D505179CD0}"/>
              </a:ext>
            </a:extLst>
          </p:cNvPr>
          <p:cNvSpPr>
            <a:spLocks noGrp="1"/>
          </p:cNvSpPr>
          <p:nvPr>
            <p:ph type="title"/>
          </p:nvPr>
        </p:nvSpPr>
        <p:spPr/>
        <p:txBody>
          <a:bodyPr/>
          <a:lstStyle/>
          <a:p>
            <a:r>
              <a:rPr lang="en-US" dirty="0"/>
              <a:t>Check Constraint</a:t>
            </a:r>
          </a:p>
        </p:txBody>
      </p:sp>
      <p:sp>
        <p:nvSpPr>
          <p:cNvPr id="3" name="Content Placeholder 2">
            <a:extLst>
              <a:ext uri="{FF2B5EF4-FFF2-40B4-BE49-F238E27FC236}">
                <a16:creationId xmlns:a16="http://schemas.microsoft.com/office/drawing/2014/main" id="{DB194D4C-67A7-E500-8B71-5C3CE2E68C7B}"/>
              </a:ext>
            </a:extLst>
          </p:cNvPr>
          <p:cNvSpPr>
            <a:spLocks noGrp="1"/>
          </p:cNvSpPr>
          <p:nvPr>
            <p:ph idx="1"/>
          </p:nvPr>
        </p:nvSpPr>
        <p:spPr/>
        <p:txBody>
          <a:bodyPr>
            <a:normAutofit/>
          </a:bodyPr>
          <a:lstStyle/>
          <a:p>
            <a:r>
              <a:rPr lang="en-US" dirty="0"/>
              <a:t>clause </a:t>
            </a:r>
            <a:r>
              <a:rPr lang="en-US" i="1" dirty="0"/>
              <a:t>check(P)</a:t>
            </a:r>
            <a:r>
              <a:rPr lang="en-US" dirty="0"/>
              <a:t> specifies a predicate </a:t>
            </a:r>
            <a:r>
              <a:rPr lang="en-US" i="1" dirty="0"/>
              <a:t>P</a:t>
            </a:r>
            <a:r>
              <a:rPr lang="en-US" dirty="0"/>
              <a:t> that must be satisfied by every tuple in relation – row in table</a:t>
            </a:r>
          </a:p>
          <a:p>
            <a:r>
              <a:rPr lang="en-US" dirty="0"/>
              <a:t>for example, clause </a:t>
            </a:r>
            <a:r>
              <a:rPr lang="en-US" dirty="0">
                <a:latin typeface="Courier New" panose="02070309020205020404" pitchFamily="49" charset="0"/>
                <a:cs typeface="Courier New" panose="02070309020205020404" pitchFamily="49" charset="0"/>
              </a:rPr>
              <a:t>check(price &gt; 0)</a:t>
            </a:r>
            <a:r>
              <a:rPr lang="en-US" dirty="0"/>
              <a:t> in create table command for relation / table would ensure that the value of </a:t>
            </a:r>
            <a:r>
              <a:rPr lang="en-US" i="1" dirty="0"/>
              <a:t>price</a:t>
            </a:r>
            <a:r>
              <a:rPr lang="en-US" dirty="0"/>
              <a:t> is nonnegative</a:t>
            </a:r>
          </a:p>
          <a:p>
            <a:r>
              <a:rPr lang="en-US" dirty="0">
                <a:latin typeface="Courier New" panose="02070309020205020404" pitchFamily="49" charset="0"/>
                <a:cs typeface="Courier New" panose="02070309020205020404" pitchFamily="49" charset="0"/>
              </a:rPr>
              <a:t>check (season in ('Fall', 'Winter', 'Spring', 'Summer'))</a:t>
            </a:r>
          </a:p>
          <a:p>
            <a:r>
              <a:rPr lang="en-US" dirty="0"/>
              <a:t>check clause constraint permits attribute domains to be restricted in powerful ways that most programming language data type systems do not permit</a:t>
            </a:r>
          </a:p>
          <a:p>
            <a:endParaRPr lang="en-US" dirty="0"/>
          </a:p>
        </p:txBody>
      </p:sp>
      <p:sp>
        <p:nvSpPr>
          <p:cNvPr id="4" name="Footer Placeholder 3">
            <a:extLst>
              <a:ext uri="{FF2B5EF4-FFF2-40B4-BE49-F238E27FC236}">
                <a16:creationId xmlns:a16="http://schemas.microsoft.com/office/drawing/2014/main" id="{37F3FDF2-14C4-7100-C21D-98261C2E0B1D}"/>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C1A8D27C-579A-CCDB-DFCB-C8C5D40C8305}"/>
              </a:ext>
            </a:extLst>
          </p:cNvPr>
          <p:cNvSpPr>
            <a:spLocks noGrp="1"/>
          </p:cNvSpPr>
          <p:nvPr>
            <p:ph type="sldNum" sz="quarter" idx="12"/>
          </p:nvPr>
        </p:nvSpPr>
        <p:spPr/>
        <p:txBody>
          <a:bodyPr/>
          <a:lstStyle/>
          <a:p>
            <a:fld id="{DF05C15E-1453-4D65-918E-7489EA0EFEBE}" type="slidenum">
              <a:rPr lang="en-US" smtClean="0"/>
              <a:t>10</a:t>
            </a:fld>
            <a:endParaRPr lang="en-US"/>
          </a:p>
        </p:txBody>
      </p:sp>
    </p:spTree>
    <p:extLst>
      <p:ext uri="{BB962C8B-B14F-4D97-AF65-F5344CB8AC3E}">
        <p14:creationId xmlns:p14="http://schemas.microsoft.com/office/powerpoint/2010/main" val="39639135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1B2D6-4F64-0A28-BE7D-9A39F744D20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E0088F4-80E9-B121-E07A-D538C37FC67D}"/>
              </a:ext>
            </a:extLst>
          </p:cNvPr>
          <p:cNvSpPr>
            <a:spLocks noGrp="1"/>
          </p:cNvSpPr>
          <p:nvPr>
            <p:ph idx="1"/>
          </p:nvPr>
        </p:nvSpPr>
        <p:spPr/>
        <p:txBody>
          <a:bodyPr/>
          <a:lstStyle/>
          <a:p>
            <a:r>
              <a:rPr lang="en-US" dirty="0"/>
              <a:t>constraints may appear on its own or as part of declaration of an attribute</a:t>
            </a:r>
          </a:p>
          <a:p>
            <a:r>
              <a:rPr lang="en-US" dirty="0"/>
              <a:t>constraints on value of single attribute are listed with that attribute, while more complex clauses are listed separately at the end of a create table statement</a:t>
            </a:r>
          </a:p>
        </p:txBody>
      </p:sp>
      <p:sp>
        <p:nvSpPr>
          <p:cNvPr id="4" name="Footer Placeholder 3">
            <a:extLst>
              <a:ext uri="{FF2B5EF4-FFF2-40B4-BE49-F238E27FC236}">
                <a16:creationId xmlns:a16="http://schemas.microsoft.com/office/drawing/2014/main" id="{FF26C936-ACB5-188A-47DE-02AC5CB8DA59}"/>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5CF150E2-563C-1363-CB4A-390E041235E1}"/>
              </a:ext>
            </a:extLst>
          </p:cNvPr>
          <p:cNvSpPr>
            <a:spLocks noGrp="1"/>
          </p:cNvSpPr>
          <p:nvPr>
            <p:ph type="sldNum" sz="quarter" idx="12"/>
          </p:nvPr>
        </p:nvSpPr>
        <p:spPr/>
        <p:txBody>
          <a:bodyPr/>
          <a:lstStyle/>
          <a:p>
            <a:fld id="{DF05C15E-1453-4D65-918E-7489EA0EFEBE}" type="slidenum">
              <a:rPr lang="en-US" smtClean="0"/>
              <a:t>11</a:t>
            </a:fld>
            <a:endParaRPr lang="en-US"/>
          </a:p>
        </p:txBody>
      </p:sp>
    </p:spTree>
    <p:extLst>
      <p:ext uri="{BB962C8B-B14F-4D97-AF65-F5344CB8AC3E}">
        <p14:creationId xmlns:p14="http://schemas.microsoft.com/office/powerpoint/2010/main" val="10715844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7FFC5-0869-F27F-1A31-6EF7050EB1DF}"/>
              </a:ext>
            </a:extLst>
          </p:cNvPr>
          <p:cNvSpPr>
            <a:spLocks noGrp="1"/>
          </p:cNvSpPr>
          <p:nvPr>
            <p:ph type="title"/>
          </p:nvPr>
        </p:nvSpPr>
        <p:spPr/>
        <p:txBody>
          <a:bodyPr/>
          <a:lstStyle/>
          <a:p>
            <a:r>
              <a:rPr lang="en-US" b="1" dirty="0"/>
              <a:t>Referential Integrity</a:t>
            </a:r>
            <a:endParaRPr lang="en-US" dirty="0"/>
          </a:p>
        </p:txBody>
      </p:sp>
      <p:sp>
        <p:nvSpPr>
          <p:cNvPr id="3" name="Content Placeholder 2">
            <a:extLst>
              <a:ext uri="{FF2B5EF4-FFF2-40B4-BE49-F238E27FC236}">
                <a16:creationId xmlns:a16="http://schemas.microsoft.com/office/drawing/2014/main" id="{B6A76FCB-3A46-DAC0-003B-EAAE23DC5969}"/>
              </a:ext>
            </a:extLst>
          </p:cNvPr>
          <p:cNvSpPr>
            <a:spLocks noGrp="1"/>
          </p:cNvSpPr>
          <p:nvPr>
            <p:ph idx="1"/>
          </p:nvPr>
        </p:nvSpPr>
        <p:spPr/>
        <p:txBody>
          <a:bodyPr/>
          <a:lstStyle/>
          <a:p>
            <a:r>
              <a:rPr lang="en-US" dirty="0"/>
              <a:t>ensure that a value that appears in one relation (the referencing relation) for given set of attributes also appears for certain set of attributes in another relation (the referenced relation)</a:t>
            </a:r>
          </a:p>
          <a:p>
            <a:r>
              <a:rPr lang="en-US" dirty="0"/>
              <a:t>referential integrity constraints, Foreign Keys are a form of a referential integrity constraint where referenced attributes form a Primary Key of the referenced relation</a:t>
            </a:r>
          </a:p>
          <a:p>
            <a:endParaRPr lang="en-US" dirty="0"/>
          </a:p>
        </p:txBody>
      </p:sp>
      <p:sp>
        <p:nvSpPr>
          <p:cNvPr id="4" name="Footer Placeholder 3">
            <a:extLst>
              <a:ext uri="{FF2B5EF4-FFF2-40B4-BE49-F238E27FC236}">
                <a16:creationId xmlns:a16="http://schemas.microsoft.com/office/drawing/2014/main" id="{753BA878-2AEC-40B8-83AD-52ED25622B26}"/>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34D9267E-0515-AC69-AD36-DAC1D2AF3BFE}"/>
              </a:ext>
            </a:extLst>
          </p:cNvPr>
          <p:cNvSpPr>
            <a:spLocks noGrp="1"/>
          </p:cNvSpPr>
          <p:nvPr>
            <p:ph type="sldNum" sz="quarter" idx="12"/>
          </p:nvPr>
        </p:nvSpPr>
        <p:spPr/>
        <p:txBody>
          <a:bodyPr/>
          <a:lstStyle/>
          <a:p>
            <a:fld id="{DF05C15E-1453-4D65-918E-7489EA0EFEBE}" type="slidenum">
              <a:rPr lang="en-US" smtClean="0"/>
              <a:t>12</a:t>
            </a:fld>
            <a:endParaRPr lang="en-US"/>
          </a:p>
        </p:txBody>
      </p:sp>
    </p:spTree>
    <p:extLst>
      <p:ext uri="{BB962C8B-B14F-4D97-AF65-F5344CB8AC3E}">
        <p14:creationId xmlns:p14="http://schemas.microsoft.com/office/powerpoint/2010/main" val="801211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BEF4E-FE54-80CA-BAAA-A4C959F9876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BA2267F-6FE1-115C-415F-499F13F4F376}"/>
              </a:ext>
            </a:extLst>
          </p:cNvPr>
          <p:cNvSpPr>
            <a:spLocks noGrp="1"/>
          </p:cNvSpPr>
          <p:nvPr>
            <p:ph idx="1"/>
          </p:nvPr>
        </p:nvSpPr>
        <p:spPr/>
        <p:txBody>
          <a:bodyPr/>
          <a:lstStyle/>
          <a:p>
            <a:r>
              <a:rPr lang="en-US" dirty="0"/>
              <a:t>SQL also supports a version of the references clause where a list of attributes of the referenced relation can be specified explicitly; the specified list of attributes must, however, be declared as a super-key of the referenced relation, using a unique constraint</a:t>
            </a:r>
          </a:p>
          <a:p>
            <a:r>
              <a:rPr lang="en-US" dirty="0"/>
              <a:t>Foreign Key must reference a compatible set of attributes, that is, the number of attributes must be the same and the data types of corresponding attributes must be compatible</a:t>
            </a:r>
          </a:p>
        </p:txBody>
      </p:sp>
      <p:sp>
        <p:nvSpPr>
          <p:cNvPr id="4" name="Footer Placeholder 3">
            <a:extLst>
              <a:ext uri="{FF2B5EF4-FFF2-40B4-BE49-F238E27FC236}">
                <a16:creationId xmlns:a16="http://schemas.microsoft.com/office/drawing/2014/main" id="{E3F905F9-462F-486A-3CC7-08C2DED00894}"/>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FA6F5F5E-69BD-7663-DF52-CFD05C0C09D0}"/>
              </a:ext>
            </a:extLst>
          </p:cNvPr>
          <p:cNvSpPr>
            <a:spLocks noGrp="1"/>
          </p:cNvSpPr>
          <p:nvPr>
            <p:ph type="sldNum" sz="quarter" idx="12"/>
          </p:nvPr>
        </p:nvSpPr>
        <p:spPr/>
        <p:txBody>
          <a:bodyPr/>
          <a:lstStyle/>
          <a:p>
            <a:fld id="{DF05C15E-1453-4D65-918E-7489EA0EFEBE}" type="slidenum">
              <a:rPr lang="en-US" smtClean="0"/>
              <a:t>13</a:t>
            </a:fld>
            <a:endParaRPr lang="en-US"/>
          </a:p>
        </p:txBody>
      </p:sp>
    </p:spTree>
    <p:extLst>
      <p:ext uri="{BB962C8B-B14F-4D97-AF65-F5344CB8AC3E}">
        <p14:creationId xmlns:p14="http://schemas.microsoft.com/office/powerpoint/2010/main" val="1466863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C93B0-087D-A956-74E6-2AD21D08001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F3136FA-7278-7195-15A5-998362C24F51}"/>
              </a:ext>
            </a:extLst>
          </p:cNvPr>
          <p:cNvSpPr>
            <a:spLocks noGrp="1"/>
          </p:cNvSpPr>
          <p:nvPr>
            <p:ph idx="1"/>
          </p:nvPr>
        </p:nvSpPr>
        <p:spPr/>
        <p:txBody>
          <a:bodyPr/>
          <a:lstStyle/>
          <a:p>
            <a:r>
              <a:rPr lang="en-US" dirty="0"/>
              <a:t>when a referential-integrity constraint is violated, normal procedure is to reject – RESTRICT - the action that caused the violation</a:t>
            </a:r>
          </a:p>
          <a:p>
            <a:r>
              <a:rPr lang="en-US" dirty="0"/>
              <a:t>a Foreign Key clause can specify that if delete or update action on the referenced relation violates the constraint, then, instead of rejecting action, system must take steps to change the tuple in referencing relation to restore the constraint</a:t>
            </a:r>
          </a:p>
          <a:p>
            <a:endParaRPr lang="en-US" dirty="0"/>
          </a:p>
        </p:txBody>
      </p:sp>
      <p:sp>
        <p:nvSpPr>
          <p:cNvPr id="4" name="Footer Placeholder 3">
            <a:extLst>
              <a:ext uri="{FF2B5EF4-FFF2-40B4-BE49-F238E27FC236}">
                <a16:creationId xmlns:a16="http://schemas.microsoft.com/office/drawing/2014/main" id="{F5EA5C94-98DE-0FCD-3BAF-105ABFB9C644}"/>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5EE2FBF9-693D-000E-0D9E-B908F7167035}"/>
              </a:ext>
            </a:extLst>
          </p:cNvPr>
          <p:cNvSpPr>
            <a:spLocks noGrp="1"/>
          </p:cNvSpPr>
          <p:nvPr>
            <p:ph type="sldNum" sz="quarter" idx="12"/>
          </p:nvPr>
        </p:nvSpPr>
        <p:spPr/>
        <p:txBody>
          <a:bodyPr/>
          <a:lstStyle/>
          <a:p>
            <a:fld id="{DF05C15E-1453-4D65-918E-7489EA0EFEBE}" type="slidenum">
              <a:rPr lang="en-US" smtClean="0"/>
              <a:t>14</a:t>
            </a:fld>
            <a:endParaRPr lang="en-US"/>
          </a:p>
        </p:txBody>
      </p:sp>
    </p:spTree>
    <p:extLst>
      <p:ext uri="{BB962C8B-B14F-4D97-AF65-F5344CB8AC3E}">
        <p14:creationId xmlns:p14="http://schemas.microsoft.com/office/powerpoint/2010/main" val="42638271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C9587A6-F8EB-5078-3E8C-712593D885FA}"/>
              </a:ext>
            </a:extLst>
          </p:cNvPr>
          <p:cNvSpPr>
            <a:spLocks noGrp="1"/>
          </p:cNvSpPr>
          <p:nvPr>
            <p:ph type="title"/>
          </p:nvPr>
        </p:nvSpPr>
        <p:spPr/>
        <p:txBody>
          <a:bodyPr/>
          <a:lstStyle/>
          <a:p>
            <a:endParaRPr lang="en-US"/>
          </a:p>
        </p:txBody>
      </p:sp>
      <p:sp>
        <p:nvSpPr>
          <p:cNvPr id="7" name="Content Placeholder 6">
            <a:extLst>
              <a:ext uri="{FF2B5EF4-FFF2-40B4-BE49-F238E27FC236}">
                <a16:creationId xmlns:a16="http://schemas.microsoft.com/office/drawing/2014/main" id="{ADD1F805-FDD2-37BB-4C26-DA19136F6A58}"/>
              </a:ext>
            </a:extLst>
          </p:cNvPr>
          <p:cNvSpPr>
            <a:spLocks noGrp="1"/>
          </p:cNvSpPr>
          <p:nvPr>
            <p:ph sz="half" idx="1"/>
          </p:nvPr>
        </p:nvSpPr>
        <p:spPr>
          <a:xfrm>
            <a:off x="570271" y="1825625"/>
            <a:ext cx="5250426" cy="4351338"/>
          </a:xfrm>
        </p:spPr>
        <p:txBody>
          <a:bodyPr>
            <a:normAutofit/>
          </a:bodyPr>
          <a:lstStyle/>
          <a:p>
            <a:r>
              <a:rPr lang="en-US" sz="2300" dirty="0">
                <a:latin typeface="Courier New" panose="02070309020205020404" pitchFamily="49" charset="0"/>
                <a:cs typeface="Courier New" panose="02070309020205020404" pitchFamily="49" charset="0"/>
              </a:rPr>
              <a:t>create table </a:t>
            </a:r>
            <a:r>
              <a:rPr lang="en-US" sz="2300" i="1" dirty="0">
                <a:latin typeface="Courier New" panose="02070309020205020404" pitchFamily="49" charset="0"/>
                <a:cs typeface="Courier New" panose="02070309020205020404" pitchFamily="49" charset="0"/>
              </a:rPr>
              <a:t>department (</a:t>
            </a:r>
            <a:endParaRPr lang="en-US" sz="2300" dirty="0">
              <a:latin typeface="Courier New" panose="02070309020205020404" pitchFamily="49" charset="0"/>
              <a:cs typeface="Courier New" panose="02070309020205020404" pitchFamily="49" charset="0"/>
            </a:endParaRPr>
          </a:p>
          <a:p>
            <a:r>
              <a:rPr lang="en-US" sz="2300" dirty="0">
                <a:latin typeface="Courier New" panose="02070309020205020404" pitchFamily="49" charset="0"/>
                <a:cs typeface="Courier New" panose="02070309020205020404" pitchFamily="49" charset="0"/>
              </a:rPr>
              <a:t>    </a:t>
            </a:r>
            <a:r>
              <a:rPr lang="en-US" sz="2300" i="1" dirty="0" err="1">
                <a:latin typeface="Courier New" panose="02070309020205020404" pitchFamily="49" charset="0"/>
                <a:cs typeface="Courier New" panose="02070309020205020404" pitchFamily="49" charset="0"/>
              </a:rPr>
              <a:t>dept_name</a:t>
            </a:r>
            <a:r>
              <a:rPr lang="en-US" sz="2300" i="1" dirty="0">
                <a:latin typeface="Courier New" panose="02070309020205020404" pitchFamily="49" charset="0"/>
                <a:cs typeface="Courier New" panose="02070309020205020404" pitchFamily="49" charset="0"/>
              </a:rPr>
              <a:t> </a:t>
            </a:r>
            <a:r>
              <a:rPr lang="en-US" sz="2300" dirty="0">
                <a:latin typeface="Courier New" panose="02070309020205020404" pitchFamily="49" charset="0"/>
                <a:cs typeface="Courier New" panose="02070309020205020404" pitchFamily="49" charset="0"/>
              </a:rPr>
              <a:t>varchar (20),</a:t>
            </a:r>
          </a:p>
          <a:p>
            <a:r>
              <a:rPr lang="en-US" sz="2300" i="1" dirty="0">
                <a:latin typeface="Courier New" panose="02070309020205020404" pitchFamily="49" charset="0"/>
                <a:cs typeface="Courier New" panose="02070309020205020404" pitchFamily="49" charset="0"/>
              </a:rPr>
              <a:t>    building </a:t>
            </a:r>
            <a:r>
              <a:rPr lang="en-US" sz="2300" dirty="0">
                <a:latin typeface="Courier New" panose="02070309020205020404" pitchFamily="49" charset="0"/>
                <a:cs typeface="Courier New" panose="02070309020205020404" pitchFamily="49" charset="0"/>
              </a:rPr>
              <a:t>varchar (15),</a:t>
            </a:r>
          </a:p>
          <a:p>
            <a:r>
              <a:rPr lang="en-US" sz="2300" i="1" dirty="0">
                <a:latin typeface="Courier New" panose="02070309020205020404" pitchFamily="49" charset="0"/>
                <a:cs typeface="Courier New" panose="02070309020205020404" pitchFamily="49" charset="0"/>
              </a:rPr>
              <a:t>    budget </a:t>
            </a:r>
            <a:r>
              <a:rPr lang="en-US" sz="2300" dirty="0">
                <a:latin typeface="Courier New" panose="02070309020205020404" pitchFamily="49" charset="0"/>
                <a:cs typeface="Courier New" panose="02070309020205020404" pitchFamily="49" charset="0"/>
              </a:rPr>
              <a:t>numeric (12,2) check (</a:t>
            </a:r>
            <a:r>
              <a:rPr lang="en-US" sz="2300" i="1" dirty="0">
                <a:latin typeface="Courier New" panose="02070309020205020404" pitchFamily="49" charset="0"/>
                <a:cs typeface="Courier New" panose="02070309020205020404" pitchFamily="49" charset="0"/>
              </a:rPr>
              <a:t>budget </a:t>
            </a:r>
            <a:r>
              <a:rPr lang="en-US" sz="2300" dirty="0">
                <a:latin typeface="Courier New" panose="02070309020205020404" pitchFamily="49" charset="0"/>
                <a:cs typeface="Courier New" panose="02070309020205020404" pitchFamily="49" charset="0"/>
              </a:rPr>
              <a:t>&gt; 0),</a:t>
            </a:r>
          </a:p>
          <a:p>
            <a:r>
              <a:rPr lang="en-US" sz="2300" dirty="0">
                <a:latin typeface="Courier New" panose="02070309020205020404" pitchFamily="49" charset="0"/>
                <a:cs typeface="Courier New" panose="02070309020205020404" pitchFamily="49" charset="0"/>
              </a:rPr>
              <a:t>    primary key (</a:t>
            </a:r>
            <a:r>
              <a:rPr lang="en-US" sz="2300" i="1" dirty="0" err="1">
                <a:latin typeface="Courier New" panose="02070309020205020404" pitchFamily="49" charset="0"/>
                <a:cs typeface="Courier New" panose="02070309020205020404" pitchFamily="49" charset="0"/>
              </a:rPr>
              <a:t>dept_name</a:t>
            </a:r>
            <a:r>
              <a:rPr lang="en-US" sz="2300" dirty="0">
                <a:latin typeface="Courier New" panose="02070309020205020404" pitchFamily="49" charset="0"/>
                <a:cs typeface="Courier New" panose="02070309020205020404" pitchFamily="49" charset="0"/>
              </a:rPr>
              <a:t>));</a:t>
            </a:r>
          </a:p>
          <a:p>
            <a:endParaRPr lang="en-US" sz="2300" dirty="0">
              <a:latin typeface="Courier New" panose="02070309020205020404" pitchFamily="49" charset="0"/>
              <a:cs typeface="Courier New" panose="02070309020205020404" pitchFamily="49" charset="0"/>
            </a:endParaRPr>
          </a:p>
        </p:txBody>
      </p:sp>
      <p:sp>
        <p:nvSpPr>
          <p:cNvPr id="8" name="Content Placeholder 7">
            <a:extLst>
              <a:ext uri="{FF2B5EF4-FFF2-40B4-BE49-F238E27FC236}">
                <a16:creationId xmlns:a16="http://schemas.microsoft.com/office/drawing/2014/main" id="{E810AA80-C584-68CA-2955-C4E5F2EF6416}"/>
              </a:ext>
            </a:extLst>
          </p:cNvPr>
          <p:cNvSpPr>
            <a:spLocks noGrp="1"/>
          </p:cNvSpPr>
          <p:nvPr>
            <p:ph sz="half" idx="2"/>
          </p:nvPr>
        </p:nvSpPr>
        <p:spPr>
          <a:xfrm>
            <a:off x="5407742" y="1825625"/>
            <a:ext cx="5946058" cy="4351338"/>
          </a:xfrm>
        </p:spPr>
        <p:txBody>
          <a:bodyPr>
            <a:noAutofit/>
          </a:bodyPr>
          <a:lstStyle/>
          <a:p>
            <a:r>
              <a:rPr lang="en-US" sz="2300" dirty="0">
                <a:latin typeface="Courier New" panose="02070309020205020404" pitchFamily="49" charset="0"/>
                <a:cs typeface="Courier New" panose="02070309020205020404" pitchFamily="49" charset="0"/>
              </a:rPr>
              <a:t>create table </a:t>
            </a:r>
            <a:r>
              <a:rPr lang="en-US" sz="2300" i="1" dirty="0">
                <a:latin typeface="Courier New" panose="02070309020205020404" pitchFamily="49" charset="0"/>
                <a:cs typeface="Courier New" panose="02070309020205020404" pitchFamily="49" charset="0"/>
              </a:rPr>
              <a:t>course (</a:t>
            </a:r>
            <a:endParaRPr lang="en-US" sz="2300" dirty="0">
              <a:latin typeface="Courier New" panose="02070309020205020404" pitchFamily="49" charset="0"/>
              <a:cs typeface="Courier New" panose="02070309020205020404" pitchFamily="49" charset="0"/>
            </a:endParaRPr>
          </a:p>
          <a:p>
            <a:r>
              <a:rPr lang="en-US" sz="2300" dirty="0">
                <a:latin typeface="Courier New" panose="02070309020205020404" pitchFamily="49" charset="0"/>
                <a:cs typeface="Courier New" panose="02070309020205020404" pitchFamily="49" charset="0"/>
              </a:rPr>
              <a:t>    </a:t>
            </a:r>
            <a:r>
              <a:rPr lang="en-US" sz="2300" i="1" dirty="0" err="1">
                <a:latin typeface="Courier New" panose="02070309020205020404" pitchFamily="49" charset="0"/>
                <a:cs typeface="Courier New" panose="02070309020205020404" pitchFamily="49" charset="0"/>
              </a:rPr>
              <a:t>course_id</a:t>
            </a:r>
            <a:r>
              <a:rPr lang="en-US" sz="2300" i="1" dirty="0">
                <a:latin typeface="Courier New" panose="02070309020205020404" pitchFamily="49" charset="0"/>
                <a:cs typeface="Courier New" panose="02070309020205020404" pitchFamily="49" charset="0"/>
              </a:rPr>
              <a:t> </a:t>
            </a:r>
            <a:r>
              <a:rPr lang="en-US" sz="2300" dirty="0">
                <a:latin typeface="Courier New" panose="02070309020205020404" pitchFamily="49" charset="0"/>
                <a:cs typeface="Courier New" panose="02070309020205020404" pitchFamily="49" charset="0"/>
              </a:rPr>
              <a:t>varchar (8),</a:t>
            </a:r>
          </a:p>
          <a:p>
            <a:r>
              <a:rPr lang="en-US" sz="2300" dirty="0">
                <a:latin typeface="Courier New" panose="02070309020205020404" pitchFamily="49" charset="0"/>
                <a:cs typeface="Courier New" panose="02070309020205020404" pitchFamily="49" charset="0"/>
              </a:rPr>
              <a:t>    </a:t>
            </a:r>
            <a:r>
              <a:rPr lang="en-US" sz="2300" i="1" dirty="0">
                <a:latin typeface="Courier New" panose="02070309020205020404" pitchFamily="49" charset="0"/>
                <a:cs typeface="Courier New" panose="02070309020205020404" pitchFamily="49" charset="0"/>
              </a:rPr>
              <a:t>title </a:t>
            </a:r>
            <a:r>
              <a:rPr lang="en-US" sz="2300" dirty="0">
                <a:latin typeface="Courier New" panose="02070309020205020404" pitchFamily="49" charset="0"/>
                <a:cs typeface="Courier New" panose="02070309020205020404" pitchFamily="49" charset="0"/>
              </a:rPr>
              <a:t>varchar (50),</a:t>
            </a:r>
          </a:p>
          <a:p>
            <a:r>
              <a:rPr lang="en-US" sz="2300" dirty="0">
                <a:latin typeface="Courier New" panose="02070309020205020404" pitchFamily="49" charset="0"/>
                <a:cs typeface="Courier New" panose="02070309020205020404" pitchFamily="49" charset="0"/>
              </a:rPr>
              <a:t>    </a:t>
            </a:r>
            <a:r>
              <a:rPr lang="en-US" sz="2300" i="1" dirty="0" err="1">
                <a:latin typeface="Courier New" panose="02070309020205020404" pitchFamily="49" charset="0"/>
                <a:cs typeface="Courier New" panose="02070309020205020404" pitchFamily="49" charset="0"/>
              </a:rPr>
              <a:t>dept_name</a:t>
            </a:r>
            <a:r>
              <a:rPr lang="en-US" sz="2300" i="1" dirty="0">
                <a:latin typeface="Courier New" panose="02070309020205020404" pitchFamily="49" charset="0"/>
                <a:cs typeface="Courier New" panose="02070309020205020404" pitchFamily="49" charset="0"/>
              </a:rPr>
              <a:t> </a:t>
            </a:r>
            <a:r>
              <a:rPr lang="en-US" sz="2300" dirty="0">
                <a:latin typeface="Courier New" panose="02070309020205020404" pitchFamily="49" charset="0"/>
                <a:cs typeface="Courier New" panose="02070309020205020404" pitchFamily="49" charset="0"/>
              </a:rPr>
              <a:t>varchar (20),</a:t>
            </a:r>
          </a:p>
          <a:p>
            <a:r>
              <a:rPr lang="en-US" sz="2300" dirty="0">
                <a:latin typeface="Courier New" panose="02070309020205020404" pitchFamily="49" charset="0"/>
                <a:cs typeface="Courier New" panose="02070309020205020404" pitchFamily="49" charset="0"/>
              </a:rPr>
              <a:t>    </a:t>
            </a:r>
            <a:r>
              <a:rPr lang="en-US" sz="2300" i="1" dirty="0">
                <a:latin typeface="Courier New" panose="02070309020205020404" pitchFamily="49" charset="0"/>
                <a:cs typeface="Courier New" panose="02070309020205020404" pitchFamily="49" charset="0"/>
              </a:rPr>
              <a:t>credits </a:t>
            </a:r>
            <a:r>
              <a:rPr lang="en-US" sz="2300" dirty="0">
                <a:latin typeface="Courier New" panose="02070309020205020404" pitchFamily="49" charset="0"/>
                <a:cs typeface="Courier New" panose="02070309020205020404" pitchFamily="49" charset="0"/>
              </a:rPr>
              <a:t>numeric (2,0) check (</a:t>
            </a:r>
            <a:r>
              <a:rPr lang="en-US" sz="2300" i="1" dirty="0">
                <a:latin typeface="Courier New" panose="02070309020205020404" pitchFamily="49" charset="0"/>
                <a:cs typeface="Courier New" panose="02070309020205020404" pitchFamily="49" charset="0"/>
              </a:rPr>
              <a:t>credits </a:t>
            </a:r>
            <a:r>
              <a:rPr lang="en-US" sz="2300" dirty="0">
                <a:latin typeface="Courier New" panose="02070309020205020404" pitchFamily="49" charset="0"/>
                <a:cs typeface="Courier New" panose="02070309020205020404" pitchFamily="49" charset="0"/>
              </a:rPr>
              <a:t>&gt; 0),</a:t>
            </a:r>
          </a:p>
          <a:p>
            <a:r>
              <a:rPr lang="en-US" sz="2300" dirty="0">
                <a:latin typeface="Courier New" panose="02070309020205020404" pitchFamily="49" charset="0"/>
                <a:cs typeface="Courier New" panose="02070309020205020404" pitchFamily="49" charset="0"/>
              </a:rPr>
              <a:t>    primary key (</a:t>
            </a:r>
            <a:r>
              <a:rPr lang="en-US" sz="2300" i="1" dirty="0" err="1">
                <a:latin typeface="Courier New" panose="02070309020205020404" pitchFamily="49" charset="0"/>
                <a:cs typeface="Courier New" panose="02070309020205020404" pitchFamily="49" charset="0"/>
              </a:rPr>
              <a:t>course_id</a:t>
            </a:r>
            <a:r>
              <a:rPr lang="en-US" sz="2300" dirty="0">
                <a:latin typeface="Courier New" panose="02070309020205020404" pitchFamily="49" charset="0"/>
                <a:cs typeface="Courier New" panose="02070309020205020404" pitchFamily="49" charset="0"/>
              </a:rPr>
              <a:t>),</a:t>
            </a:r>
          </a:p>
          <a:p>
            <a:r>
              <a:rPr lang="en-US" sz="2300" dirty="0">
                <a:latin typeface="Courier New" panose="02070309020205020404" pitchFamily="49" charset="0"/>
                <a:cs typeface="Courier New" panose="02070309020205020404" pitchFamily="49" charset="0"/>
              </a:rPr>
              <a:t>    foreign key (</a:t>
            </a:r>
            <a:r>
              <a:rPr lang="en-US" sz="2300" dirty="0" err="1">
                <a:latin typeface="Courier New" panose="02070309020205020404" pitchFamily="49" charset="0"/>
                <a:cs typeface="Courier New" panose="02070309020205020404" pitchFamily="49" charset="0"/>
              </a:rPr>
              <a:t>dept_name</a:t>
            </a:r>
            <a:r>
              <a:rPr lang="en-US" sz="2300" dirty="0">
                <a:latin typeface="Courier New" panose="02070309020205020404" pitchFamily="49" charset="0"/>
                <a:cs typeface="Courier New" panose="02070309020205020404" pitchFamily="49" charset="0"/>
              </a:rPr>
              <a:t>) references department</a:t>
            </a:r>
          </a:p>
          <a:p>
            <a:r>
              <a:rPr lang="en-US" sz="2300" dirty="0">
                <a:latin typeface="Courier New" panose="02070309020205020404" pitchFamily="49" charset="0"/>
                <a:cs typeface="Courier New" panose="02070309020205020404" pitchFamily="49" charset="0"/>
              </a:rPr>
              <a:t>        on delete cascade</a:t>
            </a:r>
          </a:p>
          <a:p>
            <a:r>
              <a:rPr lang="en-US" sz="2300" dirty="0">
                <a:latin typeface="Courier New" panose="02070309020205020404" pitchFamily="49" charset="0"/>
                <a:cs typeface="Courier New" panose="02070309020205020404" pitchFamily="49" charset="0"/>
              </a:rPr>
              <a:t>        on update cascade );</a:t>
            </a:r>
          </a:p>
        </p:txBody>
      </p:sp>
      <p:sp>
        <p:nvSpPr>
          <p:cNvPr id="4" name="Footer Placeholder 3">
            <a:extLst>
              <a:ext uri="{FF2B5EF4-FFF2-40B4-BE49-F238E27FC236}">
                <a16:creationId xmlns:a16="http://schemas.microsoft.com/office/drawing/2014/main" id="{082F59F2-F1AC-CA24-F9B6-1BC84E37BE47}"/>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E0ECD9AB-F1E8-F26A-C74E-E2FFB32D8CCB}"/>
              </a:ext>
            </a:extLst>
          </p:cNvPr>
          <p:cNvSpPr>
            <a:spLocks noGrp="1"/>
          </p:cNvSpPr>
          <p:nvPr>
            <p:ph type="sldNum" sz="quarter" idx="12"/>
          </p:nvPr>
        </p:nvSpPr>
        <p:spPr/>
        <p:txBody>
          <a:bodyPr/>
          <a:lstStyle/>
          <a:p>
            <a:fld id="{DF05C15E-1453-4D65-918E-7489EA0EFEBE}" type="slidenum">
              <a:rPr lang="en-US" smtClean="0"/>
              <a:t>15</a:t>
            </a:fld>
            <a:endParaRPr lang="en-US"/>
          </a:p>
        </p:txBody>
      </p:sp>
    </p:spTree>
    <p:extLst>
      <p:ext uri="{BB962C8B-B14F-4D97-AF65-F5344CB8AC3E}">
        <p14:creationId xmlns:p14="http://schemas.microsoft.com/office/powerpoint/2010/main" val="1082774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36F0E-0E0E-480F-2C87-EAE106EDC9DE}"/>
              </a:ext>
            </a:extLst>
          </p:cNvPr>
          <p:cNvSpPr>
            <a:spLocks noGrp="1"/>
          </p:cNvSpPr>
          <p:nvPr>
            <p:ph type="title"/>
          </p:nvPr>
        </p:nvSpPr>
        <p:spPr/>
        <p:txBody>
          <a:bodyPr/>
          <a:lstStyle/>
          <a:p>
            <a:r>
              <a:rPr lang="en-US" b="1" dirty="0"/>
              <a:t>CHECK Constraint</a:t>
            </a:r>
            <a:endParaRPr lang="en-US" dirty="0"/>
          </a:p>
        </p:txBody>
      </p:sp>
      <p:sp>
        <p:nvSpPr>
          <p:cNvPr id="3" name="Content Placeholder 2">
            <a:extLst>
              <a:ext uri="{FF2B5EF4-FFF2-40B4-BE49-F238E27FC236}">
                <a16:creationId xmlns:a16="http://schemas.microsoft.com/office/drawing/2014/main" id="{203969EF-F458-2AF2-D5FA-A475C17249A6}"/>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261AD7CF-4E1D-4373-5E47-7F4110A8A50E}"/>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8AF8F919-6253-CA64-3D38-71C52625F213}"/>
              </a:ext>
            </a:extLst>
          </p:cNvPr>
          <p:cNvSpPr>
            <a:spLocks noGrp="1"/>
          </p:cNvSpPr>
          <p:nvPr>
            <p:ph type="sldNum" sz="quarter" idx="12"/>
          </p:nvPr>
        </p:nvSpPr>
        <p:spPr/>
        <p:txBody>
          <a:bodyPr/>
          <a:lstStyle/>
          <a:p>
            <a:fld id="{DF05C15E-1453-4D65-918E-7489EA0EFEBE}" type="slidenum">
              <a:rPr lang="en-US" smtClean="0"/>
              <a:t>16</a:t>
            </a:fld>
            <a:endParaRPr lang="en-US"/>
          </a:p>
        </p:txBody>
      </p:sp>
    </p:spTree>
    <p:extLst>
      <p:ext uri="{BB962C8B-B14F-4D97-AF65-F5344CB8AC3E}">
        <p14:creationId xmlns:p14="http://schemas.microsoft.com/office/powerpoint/2010/main" val="27025926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6A4B9-953D-F841-29C6-6D14910DEC8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83FB22B-6742-9EF7-B472-C1C7AAAC5C1D}"/>
              </a:ext>
            </a:extLst>
          </p:cNvPr>
          <p:cNvSpPr>
            <a:spLocks noGrp="1"/>
          </p:cNvSpPr>
          <p:nvPr>
            <p:ph idx="1"/>
          </p:nvPr>
        </p:nvSpPr>
        <p:spPr/>
        <p:txBody>
          <a:bodyPr/>
          <a:lstStyle/>
          <a:p>
            <a:r>
              <a:rPr lang="en-US" dirty="0"/>
              <a:t>in </a:t>
            </a:r>
            <a:r>
              <a:rPr lang="en-US" dirty="0" err="1"/>
              <a:t>DBeaver</a:t>
            </a:r>
            <a:r>
              <a:rPr lang="en-US" dirty="0"/>
              <a:t> right-click on table and then you can activate the option to Generate SQL for table’s DDL Data Definition Language</a:t>
            </a:r>
          </a:p>
          <a:p>
            <a:endParaRPr lang="en-US" dirty="0"/>
          </a:p>
        </p:txBody>
      </p:sp>
      <p:sp>
        <p:nvSpPr>
          <p:cNvPr id="4" name="Footer Placeholder 3">
            <a:extLst>
              <a:ext uri="{FF2B5EF4-FFF2-40B4-BE49-F238E27FC236}">
                <a16:creationId xmlns:a16="http://schemas.microsoft.com/office/drawing/2014/main" id="{66F8BFAF-F9E9-84AE-CFB3-9CD472777DE0}"/>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1EBA2E4C-05F4-737F-5BE3-4E88F7F5733E}"/>
              </a:ext>
            </a:extLst>
          </p:cNvPr>
          <p:cNvSpPr>
            <a:spLocks noGrp="1"/>
          </p:cNvSpPr>
          <p:nvPr>
            <p:ph type="sldNum" sz="quarter" idx="12"/>
          </p:nvPr>
        </p:nvSpPr>
        <p:spPr/>
        <p:txBody>
          <a:bodyPr/>
          <a:lstStyle/>
          <a:p>
            <a:fld id="{DF05C15E-1453-4D65-918E-7489EA0EFEBE}" type="slidenum">
              <a:rPr lang="en-US" smtClean="0"/>
              <a:t>17</a:t>
            </a:fld>
            <a:endParaRPr lang="en-US"/>
          </a:p>
        </p:txBody>
      </p:sp>
    </p:spTree>
    <p:extLst>
      <p:ext uri="{BB962C8B-B14F-4D97-AF65-F5344CB8AC3E}">
        <p14:creationId xmlns:p14="http://schemas.microsoft.com/office/powerpoint/2010/main" val="2279804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123C4-AA02-41D6-D52C-755F2267DAA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EC5ED0A-EB9F-88CA-F39D-A6A43BEC9831}"/>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69AFC470-CEEF-E931-7E73-8E0203860575}"/>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6D10B316-D12F-7384-57C3-5DA0D896E70C}"/>
              </a:ext>
            </a:extLst>
          </p:cNvPr>
          <p:cNvSpPr>
            <a:spLocks noGrp="1"/>
          </p:cNvSpPr>
          <p:nvPr>
            <p:ph type="sldNum" sz="quarter" idx="12"/>
          </p:nvPr>
        </p:nvSpPr>
        <p:spPr/>
        <p:txBody>
          <a:bodyPr/>
          <a:lstStyle/>
          <a:p>
            <a:fld id="{DF05C15E-1453-4D65-918E-7489EA0EFEBE}" type="slidenum">
              <a:rPr lang="en-US" smtClean="0"/>
              <a:t>18</a:t>
            </a:fld>
            <a:endParaRPr lang="en-US"/>
          </a:p>
        </p:txBody>
      </p:sp>
      <p:pic>
        <p:nvPicPr>
          <p:cNvPr id="6" name="Picture 5" descr="A screenshot of a computer&#10;&#10;AI-generated content may be incorrect.">
            <a:extLst>
              <a:ext uri="{FF2B5EF4-FFF2-40B4-BE49-F238E27FC236}">
                <a16:creationId xmlns:a16="http://schemas.microsoft.com/office/drawing/2014/main" id="{ECC7ACE8-25DD-3D4D-14AF-54AFE6D39CCA}"/>
              </a:ext>
            </a:extLst>
          </p:cNvPr>
          <p:cNvPicPr>
            <a:picLocks noChangeAspect="1"/>
          </p:cNvPicPr>
          <p:nvPr/>
        </p:nvPicPr>
        <p:blipFill>
          <a:blip r:embed="rId2"/>
          <a:stretch>
            <a:fillRect/>
          </a:stretch>
        </p:blipFill>
        <p:spPr>
          <a:xfrm>
            <a:off x="2286000" y="1188720"/>
            <a:ext cx="8179789" cy="4965394"/>
          </a:xfrm>
          <a:prstGeom prst="rect">
            <a:avLst/>
          </a:prstGeom>
        </p:spPr>
      </p:pic>
    </p:spTree>
    <p:extLst>
      <p:ext uri="{BB962C8B-B14F-4D97-AF65-F5344CB8AC3E}">
        <p14:creationId xmlns:p14="http://schemas.microsoft.com/office/powerpoint/2010/main" val="33859114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57899-CCF9-3F2B-7402-FAF1ED164EC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6887874-4D32-FCA2-AEB1-A91E7A68EB64}"/>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919859C4-0964-5FD9-457F-D9372801DD37}"/>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8735A8D2-B2F7-2E83-F038-9A563F9E5DA1}"/>
              </a:ext>
            </a:extLst>
          </p:cNvPr>
          <p:cNvSpPr>
            <a:spLocks noGrp="1"/>
          </p:cNvSpPr>
          <p:nvPr>
            <p:ph type="sldNum" sz="quarter" idx="12"/>
          </p:nvPr>
        </p:nvSpPr>
        <p:spPr/>
        <p:txBody>
          <a:bodyPr/>
          <a:lstStyle/>
          <a:p>
            <a:fld id="{DF05C15E-1453-4D65-918E-7489EA0EFEBE}" type="slidenum">
              <a:rPr lang="en-US" smtClean="0"/>
              <a:t>19</a:t>
            </a:fld>
            <a:endParaRPr lang="en-US"/>
          </a:p>
        </p:txBody>
      </p:sp>
      <p:pic>
        <p:nvPicPr>
          <p:cNvPr id="6" name="Picture 5" descr="A screenshot of a computer&#10;&#10;AI-generated content may be incorrect.">
            <a:extLst>
              <a:ext uri="{FF2B5EF4-FFF2-40B4-BE49-F238E27FC236}">
                <a16:creationId xmlns:a16="http://schemas.microsoft.com/office/drawing/2014/main" id="{6D386164-6907-4587-DAF9-2851CFBF4F33}"/>
              </a:ext>
            </a:extLst>
          </p:cNvPr>
          <p:cNvPicPr>
            <a:picLocks noChangeAspect="1"/>
          </p:cNvPicPr>
          <p:nvPr/>
        </p:nvPicPr>
        <p:blipFill>
          <a:blip r:embed="rId2"/>
          <a:stretch>
            <a:fillRect/>
          </a:stretch>
        </p:blipFill>
        <p:spPr>
          <a:xfrm>
            <a:off x="3383280" y="1554480"/>
            <a:ext cx="4703167" cy="4686249"/>
          </a:xfrm>
          <a:prstGeom prst="rect">
            <a:avLst/>
          </a:prstGeom>
        </p:spPr>
      </p:pic>
    </p:spTree>
    <p:extLst>
      <p:ext uri="{BB962C8B-B14F-4D97-AF65-F5344CB8AC3E}">
        <p14:creationId xmlns:p14="http://schemas.microsoft.com/office/powerpoint/2010/main" val="1008833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6A7FE-2FB0-503B-89DB-9EA83D989AB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5EBB853-C687-40D7-5B3D-E1141ACF6C9F}"/>
              </a:ext>
            </a:extLst>
          </p:cNvPr>
          <p:cNvSpPr>
            <a:spLocks noGrp="1"/>
          </p:cNvSpPr>
          <p:nvPr>
            <p:ph idx="1"/>
          </p:nvPr>
        </p:nvSpPr>
        <p:spPr/>
        <p:txBody>
          <a:bodyPr>
            <a:normAutofit/>
          </a:bodyPr>
          <a:lstStyle/>
          <a:p>
            <a:r>
              <a:rPr lang="en-US" b="1" dirty="0"/>
              <a:t>CREATE</a:t>
            </a:r>
            <a:r>
              <a:rPr lang="en-US" dirty="0"/>
              <a:t> </a:t>
            </a:r>
            <a:r>
              <a:rPr lang="en-US" b="1" dirty="0"/>
              <a:t>TABLE</a:t>
            </a:r>
            <a:r>
              <a:rPr lang="en-US" dirty="0"/>
              <a:t> </a:t>
            </a:r>
            <a:r>
              <a:rPr lang="en-US" dirty="0" err="1"/>
              <a:t>public.shippers</a:t>
            </a:r>
            <a:r>
              <a:rPr lang="en-US" dirty="0"/>
              <a:t> (</a:t>
            </a:r>
          </a:p>
          <a:p>
            <a:r>
              <a:rPr lang="en-US" dirty="0"/>
              <a:t> 	</a:t>
            </a:r>
            <a:r>
              <a:rPr lang="en-US" dirty="0" err="1"/>
              <a:t>shipper_id</a:t>
            </a:r>
            <a:r>
              <a:rPr lang="en-US" dirty="0"/>
              <a:t> </a:t>
            </a:r>
            <a:r>
              <a:rPr lang="en-US" b="1" dirty="0"/>
              <a:t>int2</a:t>
            </a:r>
            <a:r>
              <a:rPr lang="en-US" dirty="0"/>
              <a:t> </a:t>
            </a:r>
            <a:r>
              <a:rPr lang="en-US" b="1" dirty="0"/>
              <a:t>NOT</a:t>
            </a:r>
            <a:r>
              <a:rPr lang="en-US" dirty="0"/>
              <a:t> </a:t>
            </a:r>
            <a:r>
              <a:rPr lang="en-US" b="1" dirty="0"/>
              <a:t>NULL</a:t>
            </a:r>
            <a:r>
              <a:rPr lang="en-US" dirty="0"/>
              <a:t>,</a:t>
            </a:r>
          </a:p>
          <a:p>
            <a:r>
              <a:rPr lang="en-US" dirty="0"/>
              <a:t> 	</a:t>
            </a:r>
            <a:r>
              <a:rPr lang="en-US" dirty="0" err="1"/>
              <a:t>company_name</a:t>
            </a:r>
            <a:r>
              <a:rPr lang="en-US" dirty="0"/>
              <a:t> </a:t>
            </a:r>
            <a:r>
              <a:rPr lang="en-US" b="1" dirty="0"/>
              <a:t>varchar</a:t>
            </a:r>
            <a:r>
              <a:rPr lang="en-US" dirty="0"/>
              <a:t>(40) </a:t>
            </a:r>
            <a:r>
              <a:rPr lang="en-US" b="1" dirty="0"/>
              <a:t>NOT</a:t>
            </a:r>
            <a:r>
              <a:rPr lang="en-US" dirty="0"/>
              <a:t> </a:t>
            </a:r>
            <a:r>
              <a:rPr lang="en-US" b="1" dirty="0"/>
              <a:t>NULL</a:t>
            </a:r>
            <a:r>
              <a:rPr lang="en-US" dirty="0"/>
              <a:t>,</a:t>
            </a:r>
          </a:p>
          <a:p>
            <a:r>
              <a:rPr lang="en-US" dirty="0"/>
              <a:t> 	phone </a:t>
            </a:r>
            <a:r>
              <a:rPr lang="en-US" b="1" dirty="0"/>
              <a:t>varchar</a:t>
            </a:r>
            <a:r>
              <a:rPr lang="en-US" dirty="0"/>
              <a:t>(24) </a:t>
            </a:r>
            <a:r>
              <a:rPr lang="en-US" b="1" dirty="0"/>
              <a:t>NULL</a:t>
            </a:r>
            <a:r>
              <a:rPr lang="en-US" dirty="0"/>
              <a:t>,</a:t>
            </a:r>
          </a:p>
          <a:p>
            <a:r>
              <a:rPr lang="en-US" b="1" dirty="0"/>
              <a:t> 	CONSTRAINT</a:t>
            </a:r>
            <a:r>
              <a:rPr lang="en-US" dirty="0"/>
              <a:t> </a:t>
            </a:r>
            <a:r>
              <a:rPr lang="en-US" dirty="0" err="1"/>
              <a:t>pk_shippers</a:t>
            </a:r>
            <a:r>
              <a:rPr lang="en-US" dirty="0"/>
              <a:t> </a:t>
            </a:r>
            <a:r>
              <a:rPr lang="en-US" b="1" dirty="0"/>
              <a:t>PRIMARY</a:t>
            </a:r>
            <a:r>
              <a:rPr lang="en-US" dirty="0"/>
              <a:t> </a:t>
            </a:r>
            <a:r>
              <a:rPr lang="en-US" b="1" dirty="0"/>
              <a:t>KEY</a:t>
            </a:r>
            <a:r>
              <a:rPr lang="en-US" dirty="0"/>
              <a:t> (</a:t>
            </a:r>
            <a:r>
              <a:rPr lang="en-US" dirty="0" err="1"/>
              <a:t>shipper_id</a:t>
            </a:r>
            <a:r>
              <a:rPr lang="en-US" dirty="0"/>
              <a:t>));</a:t>
            </a:r>
          </a:p>
          <a:p>
            <a:endParaRPr lang="en-US" sz="2700" dirty="0"/>
          </a:p>
          <a:p>
            <a:r>
              <a:rPr lang="en-US" sz="2700" dirty="0"/>
              <a:t>attribute </a:t>
            </a:r>
            <a:r>
              <a:rPr lang="en-US" sz="2700" i="1" dirty="0" err="1"/>
              <a:t>company_name</a:t>
            </a:r>
            <a:r>
              <a:rPr lang="en-US" sz="2700" dirty="0"/>
              <a:t> is NOT NULL – no reason to store information about unknown shipping company and </a:t>
            </a:r>
            <a:r>
              <a:rPr lang="en-US" sz="2700" i="1" dirty="0"/>
              <a:t>phone</a:t>
            </a:r>
            <a:r>
              <a:rPr lang="en-US" sz="2700" dirty="0"/>
              <a:t> is character string () and NULL – because it is possible to do not know the phone number</a:t>
            </a:r>
          </a:p>
          <a:p>
            <a:pPr marL="0" indent="0">
              <a:buNone/>
            </a:pPr>
            <a:endParaRPr lang="en-US" sz="2700" dirty="0"/>
          </a:p>
        </p:txBody>
      </p:sp>
      <p:sp>
        <p:nvSpPr>
          <p:cNvPr id="4" name="Footer Placeholder 3">
            <a:extLst>
              <a:ext uri="{FF2B5EF4-FFF2-40B4-BE49-F238E27FC236}">
                <a16:creationId xmlns:a16="http://schemas.microsoft.com/office/drawing/2014/main" id="{40D0B23E-56FB-D766-3F16-95F23005077F}"/>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33CC1667-D2C4-5ECC-CBCC-28AF7EBF1530}"/>
              </a:ext>
            </a:extLst>
          </p:cNvPr>
          <p:cNvSpPr>
            <a:spLocks noGrp="1"/>
          </p:cNvSpPr>
          <p:nvPr>
            <p:ph type="sldNum" sz="quarter" idx="12"/>
          </p:nvPr>
        </p:nvSpPr>
        <p:spPr/>
        <p:txBody>
          <a:bodyPr/>
          <a:lstStyle/>
          <a:p>
            <a:fld id="{DF05C15E-1453-4D65-918E-7489EA0EFEBE}" type="slidenum">
              <a:rPr lang="en-US" smtClean="0"/>
              <a:t>20</a:t>
            </a:fld>
            <a:endParaRPr lang="en-US"/>
          </a:p>
        </p:txBody>
      </p:sp>
    </p:spTree>
    <p:extLst>
      <p:ext uri="{BB962C8B-B14F-4D97-AF65-F5344CB8AC3E}">
        <p14:creationId xmlns:p14="http://schemas.microsoft.com/office/powerpoint/2010/main" val="19483416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FB463-4DE9-ADDC-4C0C-9AC240DF645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7B133C2-CDDA-BADA-B210-F87D09A6C719}"/>
              </a:ext>
            </a:extLst>
          </p:cNvPr>
          <p:cNvSpPr>
            <a:spLocks noGrp="1"/>
          </p:cNvSpPr>
          <p:nvPr>
            <p:ph idx="1"/>
          </p:nvPr>
        </p:nvSpPr>
        <p:spPr/>
        <p:txBody>
          <a:bodyPr/>
          <a:lstStyle/>
          <a:p>
            <a:r>
              <a:rPr lang="en-US" dirty="0"/>
              <a:t>improvement maybe, can enforce the uniqueness of </a:t>
            </a:r>
            <a:r>
              <a:rPr lang="en-US" i="1" dirty="0" err="1"/>
              <a:t>company_name</a:t>
            </a:r>
            <a:r>
              <a:rPr lang="en-US" dirty="0"/>
              <a:t> in relation </a:t>
            </a:r>
            <a:r>
              <a:rPr lang="en-US" i="1" dirty="0"/>
              <a:t>shippers</a:t>
            </a:r>
          </a:p>
          <a:p>
            <a:r>
              <a:rPr lang="en-US" dirty="0"/>
              <a:t>after the table is already created, possible to add unique constraint to an existing column or group of columns by creating a unique index based on column or group of columns</a:t>
            </a:r>
          </a:p>
        </p:txBody>
      </p:sp>
      <p:sp>
        <p:nvSpPr>
          <p:cNvPr id="4" name="Footer Placeholder 3">
            <a:extLst>
              <a:ext uri="{FF2B5EF4-FFF2-40B4-BE49-F238E27FC236}">
                <a16:creationId xmlns:a16="http://schemas.microsoft.com/office/drawing/2014/main" id="{C671E1D6-AAAA-4CFD-C688-5A43050308F4}"/>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DD73144D-70EA-2289-4E7E-4AB6AC8252C9}"/>
              </a:ext>
            </a:extLst>
          </p:cNvPr>
          <p:cNvSpPr>
            <a:spLocks noGrp="1"/>
          </p:cNvSpPr>
          <p:nvPr>
            <p:ph type="sldNum" sz="quarter" idx="12"/>
          </p:nvPr>
        </p:nvSpPr>
        <p:spPr/>
        <p:txBody>
          <a:bodyPr/>
          <a:lstStyle/>
          <a:p>
            <a:fld id="{DF05C15E-1453-4D65-918E-7489EA0EFEBE}" type="slidenum">
              <a:rPr lang="en-US" smtClean="0"/>
              <a:t>21</a:t>
            </a:fld>
            <a:endParaRPr lang="en-US"/>
          </a:p>
        </p:txBody>
      </p:sp>
    </p:spTree>
    <p:extLst>
      <p:ext uri="{BB962C8B-B14F-4D97-AF65-F5344CB8AC3E}">
        <p14:creationId xmlns:p14="http://schemas.microsoft.com/office/powerpoint/2010/main" val="26748935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09583-4446-DED8-899B-A2A1ECF5399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383EFBB-5DF4-5D48-25AD-6B28AB0CDD67}"/>
              </a:ext>
            </a:extLst>
          </p:cNvPr>
          <p:cNvSpPr>
            <a:spLocks noGrp="1"/>
          </p:cNvSpPr>
          <p:nvPr>
            <p:ph idx="1"/>
          </p:nvPr>
        </p:nvSpPr>
        <p:spPr/>
        <p:txBody>
          <a:bodyPr/>
          <a:lstStyle/>
          <a:p>
            <a:r>
              <a:rPr lang="en-US" dirty="0">
                <a:latin typeface="Courier New" panose="02070309020205020404" pitchFamily="49" charset="0"/>
                <a:cs typeface="Courier New" panose="02070309020205020404" pitchFamily="49" charset="0"/>
              </a:rPr>
              <a:t>update products set </a:t>
            </a:r>
            <a:r>
              <a:rPr lang="en-US" dirty="0" err="1">
                <a:latin typeface="Courier New" panose="02070309020205020404" pitchFamily="49" charset="0"/>
                <a:cs typeface="Courier New" panose="02070309020205020404" pitchFamily="49" charset="0"/>
              </a:rPr>
              <a:t>unit_price</a:t>
            </a:r>
            <a:r>
              <a:rPr lang="en-US" dirty="0">
                <a:latin typeface="Courier New" panose="02070309020205020404" pitchFamily="49" charset="0"/>
                <a:cs typeface="Courier New" panose="02070309020205020404" pitchFamily="49" charset="0"/>
              </a:rPr>
              <a:t> = -21 where </a:t>
            </a:r>
            <a:r>
              <a:rPr lang="en-US" dirty="0" err="1">
                <a:latin typeface="Courier New" panose="02070309020205020404" pitchFamily="49" charset="0"/>
                <a:cs typeface="Courier New" panose="02070309020205020404" pitchFamily="49" charset="0"/>
              </a:rPr>
              <a:t>product_id</a:t>
            </a:r>
            <a:r>
              <a:rPr lang="en-US" dirty="0">
                <a:latin typeface="Courier New" panose="02070309020205020404" pitchFamily="49" charset="0"/>
                <a:cs typeface="Courier New" panose="02070309020205020404" pitchFamily="49" charset="0"/>
              </a:rPr>
              <a:t> = 2</a:t>
            </a:r>
          </a:p>
          <a:p>
            <a:r>
              <a:rPr lang="en-US" dirty="0"/>
              <a:t>we like to be customer of such e-commerce company</a:t>
            </a:r>
          </a:p>
          <a:p>
            <a:r>
              <a:rPr lang="en-US" dirty="0"/>
              <a:t>we do not like to be teacher who sign on database topic of engineer who allows this</a:t>
            </a:r>
          </a:p>
          <a:p>
            <a:r>
              <a:rPr lang="en-US" dirty="0"/>
              <a:t>data type enforced by DBMS is numeric - clearly the domain of attribute it is positive numbers</a:t>
            </a:r>
          </a:p>
        </p:txBody>
      </p:sp>
      <p:sp>
        <p:nvSpPr>
          <p:cNvPr id="4" name="Footer Placeholder 3">
            <a:extLst>
              <a:ext uri="{FF2B5EF4-FFF2-40B4-BE49-F238E27FC236}">
                <a16:creationId xmlns:a16="http://schemas.microsoft.com/office/drawing/2014/main" id="{6A330978-E39A-95FA-5915-855F0BCB4D5D}"/>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EF4D88EC-F5C9-4EDA-00DC-7BF5415F0C7E}"/>
              </a:ext>
            </a:extLst>
          </p:cNvPr>
          <p:cNvSpPr>
            <a:spLocks noGrp="1"/>
          </p:cNvSpPr>
          <p:nvPr>
            <p:ph type="sldNum" sz="quarter" idx="12"/>
          </p:nvPr>
        </p:nvSpPr>
        <p:spPr/>
        <p:txBody>
          <a:bodyPr/>
          <a:lstStyle/>
          <a:p>
            <a:fld id="{DF05C15E-1453-4D65-918E-7489EA0EFEBE}" type="slidenum">
              <a:rPr lang="en-US" smtClean="0"/>
              <a:t>22</a:t>
            </a:fld>
            <a:endParaRPr lang="en-US"/>
          </a:p>
        </p:txBody>
      </p:sp>
    </p:spTree>
    <p:extLst>
      <p:ext uri="{BB962C8B-B14F-4D97-AF65-F5344CB8AC3E}">
        <p14:creationId xmlns:p14="http://schemas.microsoft.com/office/powerpoint/2010/main" val="4414971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D1414-C747-AE3F-DE5F-955F6221CF3E}"/>
              </a:ext>
            </a:extLst>
          </p:cNvPr>
          <p:cNvSpPr>
            <a:spLocks noGrp="1"/>
          </p:cNvSpPr>
          <p:nvPr>
            <p:ph type="title"/>
          </p:nvPr>
        </p:nvSpPr>
        <p:spPr/>
        <p:txBody>
          <a:bodyPr/>
          <a:lstStyle/>
          <a:p>
            <a:endParaRPr lang="en-US"/>
          </a:p>
        </p:txBody>
      </p:sp>
      <p:sp>
        <p:nvSpPr>
          <p:cNvPr id="4" name="Footer Placeholder 3">
            <a:extLst>
              <a:ext uri="{FF2B5EF4-FFF2-40B4-BE49-F238E27FC236}">
                <a16:creationId xmlns:a16="http://schemas.microsoft.com/office/drawing/2014/main" id="{4E8436FD-648F-76F7-B07B-EE4E80494A47}"/>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7D78D6B1-61A1-40D4-7B10-ECCC19E9742E}"/>
              </a:ext>
            </a:extLst>
          </p:cNvPr>
          <p:cNvSpPr>
            <a:spLocks noGrp="1"/>
          </p:cNvSpPr>
          <p:nvPr>
            <p:ph type="sldNum" sz="quarter" idx="12"/>
          </p:nvPr>
        </p:nvSpPr>
        <p:spPr/>
        <p:txBody>
          <a:bodyPr/>
          <a:lstStyle/>
          <a:p>
            <a:fld id="{DF05C15E-1453-4D65-918E-7489EA0EFEBE}" type="slidenum">
              <a:rPr lang="en-US" smtClean="0"/>
              <a:t>23</a:t>
            </a:fld>
            <a:endParaRPr lang="en-US"/>
          </a:p>
        </p:txBody>
      </p:sp>
      <p:pic>
        <p:nvPicPr>
          <p:cNvPr id="6" name="Content Placeholder 5" descr="A screenshot of a computer&#10;&#10;AI-generated content may be incorrect.">
            <a:extLst>
              <a:ext uri="{FF2B5EF4-FFF2-40B4-BE49-F238E27FC236}">
                <a16:creationId xmlns:a16="http://schemas.microsoft.com/office/drawing/2014/main" id="{6751AE3C-53F6-093D-F6EC-05071D602597}"/>
              </a:ext>
            </a:extLst>
          </p:cNvPr>
          <p:cNvPicPr>
            <a:picLocks noGrp="1" noChangeAspect="1"/>
          </p:cNvPicPr>
          <p:nvPr>
            <p:ph idx="1"/>
          </p:nvPr>
        </p:nvPicPr>
        <p:blipFill>
          <a:blip r:embed="rId2"/>
          <a:stretch>
            <a:fillRect/>
          </a:stretch>
        </p:blipFill>
        <p:spPr>
          <a:xfrm>
            <a:off x="2286000" y="731520"/>
            <a:ext cx="7933413" cy="5460660"/>
          </a:xfrm>
          <a:prstGeom prst="rect">
            <a:avLst/>
          </a:prstGeom>
        </p:spPr>
      </p:pic>
    </p:spTree>
    <p:extLst>
      <p:ext uri="{BB962C8B-B14F-4D97-AF65-F5344CB8AC3E}">
        <p14:creationId xmlns:p14="http://schemas.microsoft.com/office/powerpoint/2010/main" val="19377360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32275-30DA-0038-0827-A743AE6156F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BDC306A-B37D-3AFA-E34F-BE4654AF1D14}"/>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52A5AD92-FAC7-136E-EA14-6D5CC6998E00}"/>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9794C85E-A210-FC65-6D10-84856C3CE7BA}"/>
              </a:ext>
            </a:extLst>
          </p:cNvPr>
          <p:cNvSpPr>
            <a:spLocks noGrp="1"/>
          </p:cNvSpPr>
          <p:nvPr>
            <p:ph type="sldNum" sz="quarter" idx="12"/>
          </p:nvPr>
        </p:nvSpPr>
        <p:spPr/>
        <p:txBody>
          <a:bodyPr/>
          <a:lstStyle/>
          <a:p>
            <a:fld id="{DF05C15E-1453-4D65-918E-7489EA0EFEBE}" type="slidenum">
              <a:rPr lang="en-US" smtClean="0"/>
              <a:t>24</a:t>
            </a:fld>
            <a:endParaRPr lang="en-US"/>
          </a:p>
        </p:txBody>
      </p:sp>
      <p:pic>
        <p:nvPicPr>
          <p:cNvPr id="6" name="Picture 5" descr="A screenshot of a computer&#10;&#10;AI-generated content may be incorrect.">
            <a:extLst>
              <a:ext uri="{FF2B5EF4-FFF2-40B4-BE49-F238E27FC236}">
                <a16:creationId xmlns:a16="http://schemas.microsoft.com/office/drawing/2014/main" id="{56D09630-A1F9-2D39-586C-D30F1AAE3D0C}"/>
              </a:ext>
            </a:extLst>
          </p:cNvPr>
          <p:cNvPicPr>
            <a:picLocks noChangeAspect="1"/>
          </p:cNvPicPr>
          <p:nvPr/>
        </p:nvPicPr>
        <p:blipFill>
          <a:blip r:embed="rId2"/>
          <a:stretch>
            <a:fillRect/>
          </a:stretch>
        </p:blipFill>
        <p:spPr>
          <a:xfrm>
            <a:off x="3657600" y="1554480"/>
            <a:ext cx="5811287" cy="4762380"/>
          </a:xfrm>
          <a:prstGeom prst="rect">
            <a:avLst/>
          </a:prstGeom>
        </p:spPr>
      </p:pic>
    </p:spTree>
    <p:extLst>
      <p:ext uri="{BB962C8B-B14F-4D97-AF65-F5344CB8AC3E}">
        <p14:creationId xmlns:p14="http://schemas.microsoft.com/office/powerpoint/2010/main" val="18750360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9B1B0-FA3B-8BF7-6811-4308225C1F5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1838764-732D-2B51-5277-65C2E8CE4917}"/>
              </a:ext>
            </a:extLst>
          </p:cNvPr>
          <p:cNvSpPr>
            <a:spLocks noGrp="1"/>
          </p:cNvSpPr>
          <p:nvPr>
            <p:ph idx="1"/>
          </p:nvPr>
        </p:nvSpPr>
        <p:spPr/>
        <p:txBody>
          <a:bodyPr/>
          <a:lstStyle/>
          <a:p>
            <a:r>
              <a:rPr lang="en-US" dirty="0">
                <a:latin typeface="Courier New" panose="02070309020205020404" pitchFamily="49" charset="0"/>
                <a:cs typeface="Courier New" panose="02070309020205020404" pitchFamily="49" charset="0"/>
              </a:rPr>
              <a:t>ALTER TABLE </a:t>
            </a:r>
            <a:r>
              <a:rPr lang="en-US" dirty="0" err="1">
                <a:latin typeface="Courier New" panose="02070309020205020404" pitchFamily="49" charset="0"/>
                <a:cs typeface="Courier New" panose="02070309020205020404" pitchFamily="49" charset="0"/>
              </a:rPr>
              <a:t>public.products</a:t>
            </a:r>
            <a:r>
              <a:rPr lang="en-US" dirty="0">
                <a:latin typeface="Courier New" panose="02070309020205020404" pitchFamily="49" charset="0"/>
                <a:cs typeface="Courier New" panose="02070309020205020404" pitchFamily="49" charset="0"/>
              </a:rPr>
              <a:t> ADD CONSTRAINT </a:t>
            </a:r>
            <a:r>
              <a:rPr lang="en-US" dirty="0" err="1">
                <a:latin typeface="Courier New" panose="02070309020205020404" pitchFamily="49" charset="0"/>
                <a:cs typeface="Courier New" panose="02070309020205020404" pitchFamily="49" charset="0"/>
              </a:rPr>
              <a:t>products_check</a:t>
            </a:r>
            <a:r>
              <a:rPr lang="en-US" dirty="0">
                <a:latin typeface="Courier New" panose="02070309020205020404" pitchFamily="49" charset="0"/>
                <a:cs typeface="Courier New" panose="02070309020205020404" pitchFamily="49" charset="0"/>
              </a:rPr>
              <a:t> CHECK (</a:t>
            </a:r>
            <a:r>
              <a:rPr lang="en-US" dirty="0" err="1">
                <a:latin typeface="Courier New" panose="02070309020205020404" pitchFamily="49" charset="0"/>
                <a:cs typeface="Courier New" panose="02070309020205020404" pitchFamily="49" charset="0"/>
              </a:rPr>
              <a:t>unit_price</a:t>
            </a:r>
            <a:r>
              <a:rPr lang="en-US" dirty="0">
                <a:latin typeface="Courier New" panose="02070309020205020404" pitchFamily="49" charset="0"/>
                <a:cs typeface="Courier New" panose="02070309020205020404" pitchFamily="49" charset="0"/>
              </a:rPr>
              <a:t> &gt; 1);</a:t>
            </a:r>
          </a:p>
          <a:p>
            <a:endParaRPr lang="en-US" dirty="0"/>
          </a:p>
        </p:txBody>
      </p:sp>
      <p:sp>
        <p:nvSpPr>
          <p:cNvPr id="4" name="Footer Placeholder 3">
            <a:extLst>
              <a:ext uri="{FF2B5EF4-FFF2-40B4-BE49-F238E27FC236}">
                <a16:creationId xmlns:a16="http://schemas.microsoft.com/office/drawing/2014/main" id="{87ED52C4-32A3-C35E-882F-A195E620E779}"/>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A1EAFD8B-DF0C-5F3C-CDD7-B17C6A185327}"/>
              </a:ext>
            </a:extLst>
          </p:cNvPr>
          <p:cNvSpPr>
            <a:spLocks noGrp="1"/>
          </p:cNvSpPr>
          <p:nvPr>
            <p:ph type="sldNum" sz="quarter" idx="12"/>
          </p:nvPr>
        </p:nvSpPr>
        <p:spPr/>
        <p:txBody>
          <a:bodyPr/>
          <a:lstStyle/>
          <a:p>
            <a:fld id="{DF05C15E-1453-4D65-918E-7489EA0EFEBE}" type="slidenum">
              <a:rPr lang="en-US" smtClean="0"/>
              <a:t>25</a:t>
            </a:fld>
            <a:endParaRPr lang="en-US"/>
          </a:p>
        </p:txBody>
      </p:sp>
    </p:spTree>
    <p:extLst>
      <p:ext uri="{BB962C8B-B14F-4D97-AF65-F5344CB8AC3E}">
        <p14:creationId xmlns:p14="http://schemas.microsoft.com/office/powerpoint/2010/main" val="1249790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42AA3-A568-B4FA-F17B-C73A6DFF444B}"/>
              </a:ext>
            </a:extLst>
          </p:cNvPr>
          <p:cNvSpPr>
            <a:spLocks noGrp="1"/>
          </p:cNvSpPr>
          <p:nvPr>
            <p:ph type="title"/>
          </p:nvPr>
        </p:nvSpPr>
        <p:spPr/>
        <p:txBody>
          <a:bodyPr/>
          <a:lstStyle/>
          <a:p>
            <a:r>
              <a:rPr lang="en-US" b="1" dirty="0"/>
              <a:t>Working with images</a:t>
            </a:r>
            <a:endParaRPr lang="en-US" dirty="0"/>
          </a:p>
        </p:txBody>
      </p:sp>
      <p:sp>
        <p:nvSpPr>
          <p:cNvPr id="3" name="Content Placeholder 2">
            <a:extLst>
              <a:ext uri="{FF2B5EF4-FFF2-40B4-BE49-F238E27FC236}">
                <a16:creationId xmlns:a16="http://schemas.microsoft.com/office/drawing/2014/main" id="{5652B630-62A4-FF80-0976-DB543D241B2F}"/>
              </a:ext>
            </a:extLst>
          </p:cNvPr>
          <p:cNvSpPr>
            <a:spLocks noGrp="1"/>
          </p:cNvSpPr>
          <p:nvPr>
            <p:ph idx="1"/>
          </p:nvPr>
        </p:nvSpPr>
        <p:spPr/>
        <p:txBody>
          <a:bodyPr/>
          <a:lstStyle/>
          <a:p>
            <a:r>
              <a:rPr lang="en-US" dirty="0"/>
              <a:t>table </a:t>
            </a:r>
            <a:r>
              <a:rPr lang="en-US" i="1" dirty="0"/>
              <a:t>categories</a:t>
            </a:r>
            <a:r>
              <a:rPr lang="en-US" dirty="0"/>
              <a:t> have a </a:t>
            </a:r>
            <a:r>
              <a:rPr lang="en-US" i="1" dirty="0" err="1"/>
              <a:t>category_id</a:t>
            </a:r>
            <a:r>
              <a:rPr lang="en-US" dirty="0"/>
              <a:t> attribute, a </a:t>
            </a:r>
            <a:r>
              <a:rPr lang="en-US" i="1" dirty="0"/>
              <a:t>category</a:t>
            </a:r>
            <a:r>
              <a:rPr lang="en-US" dirty="0"/>
              <a:t> name and </a:t>
            </a:r>
            <a:r>
              <a:rPr lang="en-US" i="1" dirty="0"/>
              <a:t>description</a:t>
            </a:r>
            <a:r>
              <a:rPr lang="en-US" dirty="0"/>
              <a:t> and the last attribute is the </a:t>
            </a:r>
            <a:r>
              <a:rPr lang="en-US" i="1" dirty="0"/>
              <a:t>picture</a:t>
            </a:r>
          </a:p>
          <a:p>
            <a:r>
              <a:rPr lang="en-US" dirty="0"/>
              <a:t>in the </a:t>
            </a:r>
            <a:r>
              <a:rPr lang="en-US" i="1" dirty="0"/>
              <a:t>picture</a:t>
            </a:r>
            <a:r>
              <a:rPr lang="en-US" dirty="0"/>
              <a:t> column right-click Edit and then Load from file</a:t>
            </a:r>
          </a:p>
          <a:p>
            <a:pPr marL="0" indent="0">
              <a:buNone/>
            </a:pPr>
            <a:endParaRPr lang="en-US" dirty="0"/>
          </a:p>
        </p:txBody>
      </p:sp>
      <p:sp>
        <p:nvSpPr>
          <p:cNvPr id="4" name="Footer Placeholder 3">
            <a:extLst>
              <a:ext uri="{FF2B5EF4-FFF2-40B4-BE49-F238E27FC236}">
                <a16:creationId xmlns:a16="http://schemas.microsoft.com/office/drawing/2014/main" id="{51202DD1-9BEC-906C-CA7A-3AD2BF0213B7}"/>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4A2F3DAF-82D9-628E-88C3-C8BC205BD70F}"/>
              </a:ext>
            </a:extLst>
          </p:cNvPr>
          <p:cNvSpPr>
            <a:spLocks noGrp="1"/>
          </p:cNvSpPr>
          <p:nvPr>
            <p:ph type="sldNum" sz="quarter" idx="12"/>
          </p:nvPr>
        </p:nvSpPr>
        <p:spPr/>
        <p:txBody>
          <a:bodyPr/>
          <a:lstStyle/>
          <a:p>
            <a:fld id="{DF05C15E-1453-4D65-918E-7489EA0EFEBE}" type="slidenum">
              <a:rPr lang="en-US" smtClean="0"/>
              <a:t>26</a:t>
            </a:fld>
            <a:endParaRPr lang="en-US"/>
          </a:p>
        </p:txBody>
      </p:sp>
    </p:spTree>
    <p:extLst>
      <p:ext uri="{BB962C8B-B14F-4D97-AF65-F5344CB8AC3E}">
        <p14:creationId xmlns:p14="http://schemas.microsoft.com/office/powerpoint/2010/main" val="31993561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9E4EF-932B-9367-1EF5-A4628FEAE5CE}"/>
              </a:ext>
            </a:extLst>
          </p:cNvPr>
          <p:cNvSpPr>
            <a:spLocks noGrp="1"/>
          </p:cNvSpPr>
          <p:nvPr>
            <p:ph type="title"/>
          </p:nvPr>
        </p:nvSpPr>
        <p:spPr/>
        <p:txBody>
          <a:bodyPr/>
          <a:lstStyle/>
          <a:p>
            <a:endParaRPr lang="en-US"/>
          </a:p>
        </p:txBody>
      </p:sp>
      <p:sp>
        <p:nvSpPr>
          <p:cNvPr id="4" name="Footer Placeholder 3">
            <a:extLst>
              <a:ext uri="{FF2B5EF4-FFF2-40B4-BE49-F238E27FC236}">
                <a16:creationId xmlns:a16="http://schemas.microsoft.com/office/drawing/2014/main" id="{790BE9F9-B06C-45CC-3226-EC0633C726DD}"/>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0F4E1AF0-251F-9604-B041-D75F1A612C6E}"/>
              </a:ext>
            </a:extLst>
          </p:cNvPr>
          <p:cNvSpPr>
            <a:spLocks noGrp="1"/>
          </p:cNvSpPr>
          <p:nvPr>
            <p:ph type="sldNum" sz="quarter" idx="12"/>
          </p:nvPr>
        </p:nvSpPr>
        <p:spPr/>
        <p:txBody>
          <a:bodyPr/>
          <a:lstStyle/>
          <a:p>
            <a:fld id="{DF05C15E-1453-4D65-918E-7489EA0EFEBE}" type="slidenum">
              <a:rPr lang="en-US" smtClean="0"/>
              <a:t>27</a:t>
            </a:fld>
            <a:endParaRPr lang="en-US"/>
          </a:p>
        </p:txBody>
      </p:sp>
      <p:pic>
        <p:nvPicPr>
          <p:cNvPr id="6" name="Content Placeholder 5" descr="A screenshot of a computer&#10;&#10;AI-generated content may be incorrect.">
            <a:extLst>
              <a:ext uri="{FF2B5EF4-FFF2-40B4-BE49-F238E27FC236}">
                <a16:creationId xmlns:a16="http://schemas.microsoft.com/office/drawing/2014/main" id="{AFCE5E7B-DBB3-3C51-6B4E-1A29B4CF669F}"/>
              </a:ext>
            </a:extLst>
          </p:cNvPr>
          <p:cNvPicPr>
            <a:picLocks noGrp="1" noChangeAspect="1"/>
          </p:cNvPicPr>
          <p:nvPr>
            <p:ph idx="1"/>
          </p:nvPr>
        </p:nvPicPr>
        <p:blipFill>
          <a:blip r:embed="rId2"/>
          <a:stretch>
            <a:fillRect/>
          </a:stretch>
        </p:blipFill>
        <p:spPr>
          <a:xfrm>
            <a:off x="1188720" y="274320"/>
            <a:ext cx="10133802" cy="6081973"/>
          </a:xfrm>
          <a:prstGeom prst="rect">
            <a:avLst/>
          </a:prstGeom>
        </p:spPr>
      </p:pic>
    </p:spTree>
    <p:extLst>
      <p:ext uri="{BB962C8B-B14F-4D97-AF65-F5344CB8AC3E}">
        <p14:creationId xmlns:p14="http://schemas.microsoft.com/office/powerpoint/2010/main" val="39922123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2FA3C-F0C6-7CD8-19F2-854AF3FB21CC}"/>
              </a:ext>
            </a:extLst>
          </p:cNvPr>
          <p:cNvSpPr>
            <a:spLocks noGrp="1"/>
          </p:cNvSpPr>
          <p:nvPr>
            <p:ph type="title"/>
          </p:nvPr>
        </p:nvSpPr>
        <p:spPr/>
        <p:txBody>
          <a:bodyPr/>
          <a:lstStyle/>
          <a:p>
            <a:r>
              <a:rPr lang="en-US" dirty="0"/>
              <a:t>browse and select file</a:t>
            </a:r>
          </a:p>
        </p:txBody>
      </p:sp>
      <p:sp>
        <p:nvSpPr>
          <p:cNvPr id="3" name="Content Placeholder 2">
            <a:extLst>
              <a:ext uri="{FF2B5EF4-FFF2-40B4-BE49-F238E27FC236}">
                <a16:creationId xmlns:a16="http://schemas.microsoft.com/office/drawing/2014/main" id="{2977C141-FEC4-E3CB-55A8-6E5ABD54C1F5}"/>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B6634415-9C26-ECD7-B1B2-880ABD59AF51}"/>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AC3EDE18-90CF-BBE5-592E-BED7007A4752}"/>
              </a:ext>
            </a:extLst>
          </p:cNvPr>
          <p:cNvSpPr>
            <a:spLocks noGrp="1"/>
          </p:cNvSpPr>
          <p:nvPr>
            <p:ph type="sldNum" sz="quarter" idx="12"/>
          </p:nvPr>
        </p:nvSpPr>
        <p:spPr/>
        <p:txBody>
          <a:bodyPr/>
          <a:lstStyle/>
          <a:p>
            <a:fld id="{DF05C15E-1453-4D65-918E-7489EA0EFEBE}" type="slidenum">
              <a:rPr lang="en-US" smtClean="0"/>
              <a:t>28</a:t>
            </a:fld>
            <a:endParaRPr lang="en-US"/>
          </a:p>
        </p:txBody>
      </p:sp>
      <p:pic>
        <p:nvPicPr>
          <p:cNvPr id="6" name="Picture 5" descr="A screenshot of a computer&#10;&#10;AI-generated content may be incorrect.">
            <a:extLst>
              <a:ext uri="{FF2B5EF4-FFF2-40B4-BE49-F238E27FC236}">
                <a16:creationId xmlns:a16="http://schemas.microsoft.com/office/drawing/2014/main" id="{AF580A7D-5787-A3D8-6D1C-2D4199118C2F}"/>
              </a:ext>
            </a:extLst>
          </p:cNvPr>
          <p:cNvPicPr>
            <a:picLocks noChangeAspect="1"/>
          </p:cNvPicPr>
          <p:nvPr/>
        </p:nvPicPr>
        <p:blipFill>
          <a:blip r:embed="rId2"/>
          <a:stretch>
            <a:fillRect/>
          </a:stretch>
        </p:blipFill>
        <p:spPr>
          <a:xfrm>
            <a:off x="3017520" y="1825625"/>
            <a:ext cx="6437705" cy="4455343"/>
          </a:xfrm>
          <a:prstGeom prst="rect">
            <a:avLst/>
          </a:prstGeom>
        </p:spPr>
      </p:pic>
    </p:spTree>
    <p:extLst>
      <p:ext uri="{BB962C8B-B14F-4D97-AF65-F5344CB8AC3E}">
        <p14:creationId xmlns:p14="http://schemas.microsoft.com/office/powerpoint/2010/main" val="34169085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7A0A1-454F-147B-66EF-4F1F5CE5AF88}"/>
              </a:ext>
            </a:extLst>
          </p:cNvPr>
          <p:cNvSpPr>
            <a:spLocks noGrp="1"/>
          </p:cNvSpPr>
          <p:nvPr>
            <p:ph type="title"/>
          </p:nvPr>
        </p:nvSpPr>
        <p:spPr/>
        <p:txBody>
          <a:bodyPr/>
          <a:lstStyle/>
          <a:p>
            <a:r>
              <a:rPr lang="en-US" dirty="0"/>
              <a:t>Save</a:t>
            </a:r>
          </a:p>
        </p:txBody>
      </p:sp>
      <p:sp>
        <p:nvSpPr>
          <p:cNvPr id="4" name="Footer Placeholder 3">
            <a:extLst>
              <a:ext uri="{FF2B5EF4-FFF2-40B4-BE49-F238E27FC236}">
                <a16:creationId xmlns:a16="http://schemas.microsoft.com/office/drawing/2014/main" id="{A7C3F17E-5B2C-438D-95C8-74A8FA1AC683}"/>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8F88E840-7B4B-2868-B088-34627D65C1B9}"/>
              </a:ext>
            </a:extLst>
          </p:cNvPr>
          <p:cNvSpPr>
            <a:spLocks noGrp="1"/>
          </p:cNvSpPr>
          <p:nvPr>
            <p:ph type="sldNum" sz="quarter" idx="12"/>
          </p:nvPr>
        </p:nvSpPr>
        <p:spPr/>
        <p:txBody>
          <a:bodyPr/>
          <a:lstStyle/>
          <a:p>
            <a:fld id="{DF05C15E-1453-4D65-918E-7489EA0EFEBE}" type="slidenum">
              <a:rPr lang="en-US" smtClean="0"/>
              <a:t>29</a:t>
            </a:fld>
            <a:endParaRPr lang="en-US"/>
          </a:p>
        </p:txBody>
      </p:sp>
      <p:pic>
        <p:nvPicPr>
          <p:cNvPr id="6" name="Content Placeholder 5" descr="A screenshot of a computer&#10;&#10;AI-generated content may be incorrect.">
            <a:extLst>
              <a:ext uri="{FF2B5EF4-FFF2-40B4-BE49-F238E27FC236}">
                <a16:creationId xmlns:a16="http://schemas.microsoft.com/office/drawing/2014/main" id="{9425B606-B7DF-FF1E-F1A0-150F8E5EFAF1}"/>
              </a:ext>
            </a:extLst>
          </p:cNvPr>
          <p:cNvPicPr>
            <a:picLocks noGrp="1" noChangeAspect="1"/>
          </p:cNvPicPr>
          <p:nvPr>
            <p:ph idx="1"/>
          </p:nvPr>
        </p:nvPicPr>
        <p:blipFill>
          <a:blip r:embed="rId2"/>
          <a:stretch>
            <a:fillRect/>
          </a:stretch>
        </p:blipFill>
        <p:spPr>
          <a:xfrm>
            <a:off x="2286000" y="457200"/>
            <a:ext cx="8002151" cy="5819746"/>
          </a:xfrm>
          <a:prstGeom prst="rect">
            <a:avLst/>
          </a:prstGeom>
        </p:spPr>
      </p:pic>
    </p:spTree>
    <p:extLst>
      <p:ext uri="{BB962C8B-B14F-4D97-AF65-F5344CB8AC3E}">
        <p14:creationId xmlns:p14="http://schemas.microsoft.com/office/powerpoint/2010/main" val="16211844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BA536-AD84-501C-F174-EBDC8BAEC8B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8503A18-2116-95DA-024B-818997EAAC53}"/>
              </a:ext>
            </a:extLst>
          </p:cNvPr>
          <p:cNvSpPr>
            <a:spLocks noGrp="1"/>
          </p:cNvSpPr>
          <p:nvPr>
            <p:ph idx="1"/>
          </p:nvPr>
        </p:nvSpPr>
        <p:spPr/>
        <p:txBody>
          <a:bodyPr>
            <a:normAutofit fontScale="92500" lnSpcReduction="20000"/>
          </a:bodyPr>
          <a:lstStyle/>
          <a:p>
            <a:r>
              <a:rPr lang="en-US" dirty="0"/>
              <a:t>in addition to general data formats, </a:t>
            </a:r>
            <a:r>
              <a:rPr lang="en-US" dirty="0" err="1"/>
              <a:t>DBeaver</a:t>
            </a:r>
            <a:r>
              <a:rPr lang="en-US" dirty="0"/>
              <a:t> offers specialized support for large text and Binary Large </a:t>
            </a:r>
            <a:r>
              <a:rPr lang="en-US" dirty="0" err="1"/>
              <a:t>OBject</a:t>
            </a:r>
            <a:r>
              <a:rPr lang="en-US" dirty="0"/>
              <a:t> BLOB data types</a:t>
            </a:r>
          </a:p>
          <a:p>
            <a:r>
              <a:rPr lang="en-US" dirty="0"/>
              <a:t>Edit CLOB/BLOB data: Editing cells containing CLOB/BLOB data in the Cell Editor opens the content in a new tab, allowing for comprehensive editing, particularly useful for large data objects</a:t>
            </a:r>
          </a:p>
          <a:p>
            <a:r>
              <a:rPr lang="en-US" dirty="0"/>
              <a:t>Saving/Loading BLOB values: Users can save and load BLOB values to and from external files, aiding management of binary data like images and large text files</a:t>
            </a:r>
          </a:p>
          <a:p>
            <a:r>
              <a:rPr lang="en-US" dirty="0"/>
              <a:t>Image display in BLOB Columns: </a:t>
            </a:r>
            <a:r>
              <a:rPr lang="en-US" dirty="0" err="1"/>
              <a:t>DBeaver</a:t>
            </a:r>
            <a:r>
              <a:rPr lang="en-US" dirty="0"/>
              <a:t> automatically renders images stored in BLOB columns (formats like gif, </a:t>
            </a:r>
            <a:r>
              <a:rPr lang="en-US" dirty="0" err="1"/>
              <a:t>png</a:t>
            </a:r>
            <a:r>
              <a:rPr lang="en-US" dirty="0"/>
              <a:t>, jpeg, bmp) within the interface, streamlining the process of viewing image data</a:t>
            </a:r>
          </a:p>
          <a:p>
            <a:r>
              <a:rPr lang="en-US" dirty="0"/>
              <a:t>Value View panel: To efficiently browse images in BLOB columns, users can activate the value view panel by pressing F7</a:t>
            </a:r>
          </a:p>
        </p:txBody>
      </p:sp>
      <p:sp>
        <p:nvSpPr>
          <p:cNvPr id="4" name="Footer Placeholder 3">
            <a:extLst>
              <a:ext uri="{FF2B5EF4-FFF2-40B4-BE49-F238E27FC236}">
                <a16:creationId xmlns:a16="http://schemas.microsoft.com/office/drawing/2014/main" id="{7D2E6B42-9120-98DE-BEA1-8C6A65023046}"/>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F0087486-E2C3-CCA7-494B-5517BFC62A4B}"/>
              </a:ext>
            </a:extLst>
          </p:cNvPr>
          <p:cNvSpPr>
            <a:spLocks noGrp="1"/>
          </p:cNvSpPr>
          <p:nvPr>
            <p:ph type="sldNum" sz="quarter" idx="12"/>
          </p:nvPr>
        </p:nvSpPr>
        <p:spPr/>
        <p:txBody>
          <a:bodyPr/>
          <a:lstStyle/>
          <a:p>
            <a:fld id="{DF05C15E-1453-4D65-918E-7489EA0EFEBE}" type="slidenum">
              <a:rPr lang="en-US" smtClean="0"/>
              <a:t>30</a:t>
            </a:fld>
            <a:endParaRPr lang="en-US"/>
          </a:p>
        </p:txBody>
      </p:sp>
    </p:spTree>
    <p:extLst>
      <p:ext uri="{BB962C8B-B14F-4D97-AF65-F5344CB8AC3E}">
        <p14:creationId xmlns:p14="http://schemas.microsoft.com/office/powerpoint/2010/main" val="27948161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E5AF9-3255-20FD-211B-16C678489EAA}"/>
              </a:ext>
            </a:extLst>
          </p:cNvPr>
          <p:cNvSpPr>
            <a:spLocks noGrp="1"/>
          </p:cNvSpPr>
          <p:nvPr>
            <p:ph type="title"/>
          </p:nvPr>
        </p:nvSpPr>
        <p:spPr/>
        <p:txBody>
          <a:bodyPr/>
          <a:lstStyle/>
          <a:p>
            <a:endParaRPr lang="en-US"/>
          </a:p>
        </p:txBody>
      </p:sp>
      <p:sp>
        <p:nvSpPr>
          <p:cNvPr id="4" name="Footer Placeholder 3">
            <a:extLst>
              <a:ext uri="{FF2B5EF4-FFF2-40B4-BE49-F238E27FC236}">
                <a16:creationId xmlns:a16="http://schemas.microsoft.com/office/drawing/2014/main" id="{17C518B3-3BB5-5E27-11F3-70DB2F15AB99}"/>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8C410A12-61AF-676D-C727-9DFA98639A25}"/>
              </a:ext>
            </a:extLst>
          </p:cNvPr>
          <p:cNvSpPr>
            <a:spLocks noGrp="1"/>
          </p:cNvSpPr>
          <p:nvPr>
            <p:ph type="sldNum" sz="quarter" idx="12"/>
          </p:nvPr>
        </p:nvSpPr>
        <p:spPr/>
        <p:txBody>
          <a:bodyPr/>
          <a:lstStyle/>
          <a:p>
            <a:fld id="{DF05C15E-1453-4D65-918E-7489EA0EFEBE}" type="slidenum">
              <a:rPr lang="en-US" smtClean="0"/>
              <a:t>31</a:t>
            </a:fld>
            <a:endParaRPr lang="en-US"/>
          </a:p>
        </p:txBody>
      </p:sp>
      <p:pic>
        <p:nvPicPr>
          <p:cNvPr id="6" name="Content Placeholder 5" descr="A screenshot of a computer&#10;&#10;AI-generated content may be incorrect.">
            <a:extLst>
              <a:ext uri="{FF2B5EF4-FFF2-40B4-BE49-F238E27FC236}">
                <a16:creationId xmlns:a16="http://schemas.microsoft.com/office/drawing/2014/main" id="{5FEF0915-C2AC-ABA8-419A-D85B73341DBA}"/>
              </a:ext>
            </a:extLst>
          </p:cNvPr>
          <p:cNvPicPr>
            <a:picLocks noGrp="1" noChangeAspect="1"/>
          </p:cNvPicPr>
          <p:nvPr>
            <p:ph idx="1"/>
          </p:nvPr>
        </p:nvPicPr>
        <p:blipFill>
          <a:blip r:embed="rId2"/>
          <a:stretch>
            <a:fillRect/>
          </a:stretch>
        </p:blipFill>
        <p:spPr>
          <a:xfrm>
            <a:off x="1371600" y="914400"/>
            <a:ext cx="9518205" cy="5281118"/>
          </a:xfrm>
          <a:prstGeom prst="rect">
            <a:avLst/>
          </a:prstGeom>
        </p:spPr>
      </p:pic>
    </p:spTree>
    <p:extLst>
      <p:ext uri="{BB962C8B-B14F-4D97-AF65-F5344CB8AC3E}">
        <p14:creationId xmlns:p14="http://schemas.microsoft.com/office/powerpoint/2010/main" val="13368611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E640C-EF61-40A7-F621-4E60FAE2DD06}"/>
              </a:ext>
            </a:extLst>
          </p:cNvPr>
          <p:cNvSpPr>
            <a:spLocks noGrp="1"/>
          </p:cNvSpPr>
          <p:nvPr>
            <p:ph type="title"/>
          </p:nvPr>
        </p:nvSpPr>
        <p:spPr/>
        <p:txBody>
          <a:bodyPr/>
          <a:lstStyle/>
          <a:p>
            <a:r>
              <a:rPr lang="en-US" dirty="0"/>
              <a:t>Tool bar</a:t>
            </a:r>
          </a:p>
        </p:txBody>
      </p:sp>
      <p:sp>
        <p:nvSpPr>
          <p:cNvPr id="3" name="Content Placeholder 2">
            <a:extLst>
              <a:ext uri="{FF2B5EF4-FFF2-40B4-BE49-F238E27FC236}">
                <a16:creationId xmlns:a16="http://schemas.microsoft.com/office/drawing/2014/main" id="{7CE2133A-9B23-DBAD-2276-6D82561EA38A}"/>
              </a:ext>
            </a:extLst>
          </p:cNvPr>
          <p:cNvSpPr>
            <a:spLocks noGrp="1"/>
          </p:cNvSpPr>
          <p:nvPr>
            <p:ph idx="1"/>
          </p:nvPr>
        </p:nvSpPr>
        <p:spPr/>
        <p:txBody>
          <a:bodyPr/>
          <a:lstStyle/>
          <a:p>
            <a:r>
              <a:rPr lang="en-US" dirty="0"/>
              <a:t>Content viewer settings:</a:t>
            </a:r>
          </a:p>
          <a:p>
            <a:endParaRPr lang="en-US" dirty="0"/>
          </a:p>
        </p:txBody>
      </p:sp>
      <p:sp>
        <p:nvSpPr>
          <p:cNvPr id="4" name="Footer Placeholder 3">
            <a:extLst>
              <a:ext uri="{FF2B5EF4-FFF2-40B4-BE49-F238E27FC236}">
                <a16:creationId xmlns:a16="http://schemas.microsoft.com/office/drawing/2014/main" id="{60043751-2D5F-F991-AC3B-4D884956FC83}"/>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64D547D2-5E1D-38C7-78B6-0961B33F2A73}"/>
              </a:ext>
            </a:extLst>
          </p:cNvPr>
          <p:cNvSpPr>
            <a:spLocks noGrp="1"/>
          </p:cNvSpPr>
          <p:nvPr>
            <p:ph type="sldNum" sz="quarter" idx="12"/>
          </p:nvPr>
        </p:nvSpPr>
        <p:spPr/>
        <p:txBody>
          <a:bodyPr/>
          <a:lstStyle/>
          <a:p>
            <a:fld id="{DF05C15E-1453-4D65-918E-7489EA0EFEBE}" type="slidenum">
              <a:rPr lang="en-US" smtClean="0"/>
              <a:t>32</a:t>
            </a:fld>
            <a:endParaRPr lang="en-US"/>
          </a:p>
        </p:txBody>
      </p:sp>
      <p:pic>
        <p:nvPicPr>
          <p:cNvPr id="6" name="Picture 5">
            <a:extLst>
              <a:ext uri="{FF2B5EF4-FFF2-40B4-BE49-F238E27FC236}">
                <a16:creationId xmlns:a16="http://schemas.microsoft.com/office/drawing/2014/main" id="{F2EF3502-D7CA-FB02-4E4D-8F9931894750}"/>
              </a:ext>
            </a:extLst>
          </p:cNvPr>
          <p:cNvPicPr>
            <a:picLocks noChangeAspect="1"/>
          </p:cNvPicPr>
          <p:nvPr/>
        </p:nvPicPr>
        <p:blipFill>
          <a:blip r:embed="rId2"/>
          <a:stretch>
            <a:fillRect/>
          </a:stretch>
        </p:blipFill>
        <p:spPr>
          <a:xfrm>
            <a:off x="3840480" y="731520"/>
            <a:ext cx="5692632" cy="617274"/>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9F7ACE84-A6F1-D27E-A29D-EF60AFEEB828}"/>
              </a:ext>
            </a:extLst>
          </p:cNvPr>
          <p:cNvPicPr>
            <a:picLocks noChangeAspect="1"/>
          </p:cNvPicPr>
          <p:nvPr/>
        </p:nvPicPr>
        <p:blipFill>
          <a:blip r:embed="rId3"/>
          <a:stretch>
            <a:fillRect/>
          </a:stretch>
        </p:blipFill>
        <p:spPr>
          <a:xfrm>
            <a:off x="4754880" y="2743200"/>
            <a:ext cx="5258256" cy="2621508"/>
          </a:xfrm>
          <a:prstGeom prst="rect">
            <a:avLst/>
          </a:prstGeom>
        </p:spPr>
      </p:pic>
    </p:spTree>
    <p:extLst>
      <p:ext uri="{BB962C8B-B14F-4D97-AF65-F5344CB8AC3E}">
        <p14:creationId xmlns:p14="http://schemas.microsoft.com/office/powerpoint/2010/main" val="31136915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46E6F-857F-72E1-1ED5-CC1BA7CCC41B}"/>
              </a:ext>
            </a:extLst>
          </p:cNvPr>
          <p:cNvSpPr>
            <a:spLocks noGrp="1"/>
          </p:cNvSpPr>
          <p:nvPr>
            <p:ph type="title"/>
          </p:nvPr>
        </p:nvSpPr>
        <p:spPr/>
        <p:txBody>
          <a:bodyPr/>
          <a:lstStyle/>
          <a:p>
            <a:r>
              <a:rPr lang="en-US" dirty="0"/>
              <a:t>Transform into a serial</a:t>
            </a:r>
          </a:p>
        </p:txBody>
      </p:sp>
      <p:sp>
        <p:nvSpPr>
          <p:cNvPr id="3" name="Content Placeholder 2">
            <a:extLst>
              <a:ext uri="{FF2B5EF4-FFF2-40B4-BE49-F238E27FC236}">
                <a16:creationId xmlns:a16="http://schemas.microsoft.com/office/drawing/2014/main" id="{893D993F-3742-726B-F739-7D95700B1595}"/>
              </a:ext>
            </a:extLst>
          </p:cNvPr>
          <p:cNvSpPr>
            <a:spLocks noGrp="1"/>
          </p:cNvSpPr>
          <p:nvPr>
            <p:ph idx="1"/>
          </p:nvPr>
        </p:nvSpPr>
        <p:spPr/>
        <p:txBody>
          <a:bodyPr/>
          <a:lstStyle/>
          <a:p>
            <a:r>
              <a:rPr lang="en-US" dirty="0"/>
              <a:t>Postgres database table with integer ID field (Primary Key) which currently contains unique sequential integers starting at 1 into a 'serial'</a:t>
            </a:r>
          </a:p>
          <a:p>
            <a:endParaRPr lang="en-US" dirty="0"/>
          </a:p>
          <a:p>
            <a:endParaRPr lang="en-US" dirty="0"/>
          </a:p>
        </p:txBody>
      </p:sp>
      <p:sp>
        <p:nvSpPr>
          <p:cNvPr id="4" name="Footer Placeholder 3">
            <a:extLst>
              <a:ext uri="{FF2B5EF4-FFF2-40B4-BE49-F238E27FC236}">
                <a16:creationId xmlns:a16="http://schemas.microsoft.com/office/drawing/2014/main" id="{5D631828-2965-739E-C318-5AA2F92DECF0}"/>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7DBFA06B-0110-2CCB-6F13-325D9D102677}"/>
              </a:ext>
            </a:extLst>
          </p:cNvPr>
          <p:cNvSpPr>
            <a:spLocks noGrp="1"/>
          </p:cNvSpPr>
          <p:nvPr>
            <p:ph type="sldNum" sz="quarter" idx="12"/>
          </p:nvPr>
        </p:nvSpPr>
        <p:spPr/>
        <p:txBody>
          <a:bodyPr/>
          <a:lstStyle/>
          <a:p>
            <a:fld id="{DF05C15E-1453-4D65-918E-7489EA0EFEBE}" type="slidenum">
              <a:rPr lang="en-US" smtClean="0"/>
              <a:t>33</a:t>
            </a:fld>
            <a:endParaRPr lang="en-US"/>
          </a:p>
        </p:txBody>
      </p:sp>
    </p:spTree>
    <p:extLst>
      <p:ext uri="{BB962C8B-B14F-4D97-AF65-F5344CB8AC3E}">
        <p14:creationId xmlns:p14="http://schemas.microsoft.com/office/powerpoint/2010/main" val="30665313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2F1D8-49D6-8A4F-0144-FA1F9D5644F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C11E4B4-5082-EC73-341D-94F6AEC9DE8B}"/>
              </a:ext>
            </a:extLst>
          </p:cNvPr>
          <p:cNvSpPr>
            <a:spLocks noGrp="1"/>
          </p:cNvSpPr>
          <p:nvPr>
            <p:ph idx="1"/>
          </p:nvPr>
        </p:nvSpPr>
        <p:spPr>
          <a:xfrm>
            <a:off x="838200" y="530942"/>
            <a:ext cx="10515600" cy="5646021"/>
          </a:xfrm>
        </p:spPr>
        <p:txBody>
          <a:bodyPr>
            <a:noAutofit/>
          </a:bodyPr>
          <a:lstStyle/>
          <a:p>
            <a:r>
              <a:rPr lang="en-US" sz="2700" dirty="0">
                <a:latin typeface="Courier New" panose="02070309020205020404" pitchFamily="49" charset="0"/>
                <a:cs typeface="Courier New" panose="02070309020205020404" pitchFamily="49" charset="0"/>
              </a:rPr>
              <a:t>select * from region r; </a:t>
            </a:r>
          </a:p>
          <a:p>
            <a:r>
              <a:rPr lang="en-US" sz="2700" dirty="0">
                <a:latin typeface="Courier New" panose="02070309020205020404" pitchFamily="49" charset="0"/>
                <a:cs typeface="Courier New" panose="02070309020205020404" pitchFamily="49" charset="0"/>
              </a:rPr>
              <a:t>CREATE SEQUENCE </a:t>
            </a:r>
            <a:r>
              <a:rPr lang="en-US" sz="2700" dirty="0" err="1">
                <a:latin typeface="Courier New" panose="02070309020205020404" pitchFamily="49" charset="0"/>
                <a:cs typeface="Courier New" panose="02070309020205020404" pitchFamily="49" charset="0"/>
              </a:rPr>
              <a:t>region_region_id_seq</a:t>
            </a:r>
            <a:r>
              <a:rPr lang="en-US" sz="2700" dirty="0">
                <a:latin typeface="Courier New" panose="02070309020205020404" pitchFamily="49" charset="0"/>
                <a:cs typeface="Courier New" panose="02070309020205020404" pitchFamily="49" charset="0"/>
              </a:rPr>
              <a:t>;</a:t>
            </a:r>
          </a:p>
          <a:p>
            <a:r>
              <a:rPr lang="en-US" sz="2700" dirty="0">
                <a:latin typeface="Courier New" panose="02070309020205020404" pitchFamily="49" charset="0"/>
                <a:cs typeface="Courier New" panose="02070309020205020404" pitchFamily="49" charset="0"/>
              </a:rPr>
              <a:t>ALTER TABLE region ALTER COLUMN </a:t>
            </a:r>
            <a:r>
              <a:rPr lang="en-US" sz="2700" dirty="0" err="1">
                <a:latin typeface="Courier New" panose="02070309020205020404" pitchFamily="49" charset="0"/>
                <a:cs typeface="Courier New" panose="02070309020205020404" pitchFamily="49" charset="0"/>
              </a:rPr>
              <a:t>region_id</a:t>
            </a:r>
            <a:r>
              <a:rPr lang="en-US" sz="2700" dirty="0">
                <a:latin typeface="Courier New" panose="02070309020205020404" pitchFamily="49" charset="0"/>
                <a:cs typeface="Courier New" panose="02070309020205020404" pitchFamily="49" charset="0"/>
              </a:rPr>
              <a:t> SET DEFAULT </a:t>
            </a:r>
            <a:r>
              <a:rPr lang="en-US" sz="2700" dirty="0" err="1">
                <a:latin typeface="Courier New" panose="02070309020205020404" pitchFamily="49" charset="0"/>
                <a:cs typeface="Courier New" panose="02070309020205020404" pitchFamily="49" charset="0"/>
              </a:rPr>
              <a:t>nextval</a:t>
            </a:r>
            <a:r>
              <a:rPr lang="en-US" sz="2700" dirty="0">
                <a:latin typeface="Courier New" panose="02070309020205020404" pitchFamily="49" charset="0"/>
                <a:cs typeface="Courier New" panose="02070309020205020404" pitchFamily="49" charset="0"/>
              </a:rPr>
              <a:t>('</a:t>
            </a:r>
            <a:r>
              <a:rPr lang="en-US" sz="2700" dirty="0" err="1">
                <a:latin typeface="Courier New" panose="02070309020205020404" pitchFamily="49" charset="0"/>
                <a:cs typeface="Courier New" panose="02070309020205020404" pitchFamily="49" charset="0"/>
              </a:rPr>
              <a:t>region_region_id_seq</a:t>
            </a:r>
            <a:r>
              <a:rPr lang="en-US" sz="2700" dirty="0">
                <a:latin typeface="Courier New" panose="02070309020205020404" pitchFamily="49" charset="0"/>
                <a:cs typeface="Courier New" panose="02070309020205020404" pitchFamily="49" charset="0"/>
              </a:rPr>
              <a:t>');</a:t>
            </a:r>
          </a:p>
          <a:p>
            <a:r>
              <a:rPr lang="en-US" sz="2700" dirty="0">
                <a:latin typeface="Courier New" panose="02070309020205020404" pitchFamily="49" charset="0"/>
                <a:cs typeface="Courier New" panose="02070309020205020404" pitchFamily="49" charset="0"/>
              </a:rPr>
              <a:t>ALTER SEQUENCE </a:t>
            </a:r>
            <a:r>
              <a:rPr lang="en-US" sz="2700" dirty="0" err="1">
                <a:latin typeface="Courier New" panose="02070309020205020404" pitchFamily="49" charset="0"/>
                <a:cs typeface="Courier New" panose="02070309020205020404" pitchFamily="49" charset="0"/>
              </a:rPr>
              <a:t>region_region_id_seq</a:t>
            </a:r>
            <a:r>
              <a:rPr lang="en-US" sz="2700" dirty="0">
                <a:latin typeface="Courier New" panose="02070309020205020404" pitchFamily="49" charset="0"/>
                <a:cs typeface="Courier New" panose="02070309020205020404" pitchFamily="49" charset="0"/>
              </a:rPr>
              <a:t> OWNED BY </a:t>
            </a:r>
            <a:r>
              <a:rPr lang="en-US" sz="2700" dirty="0" err="1">
                <a:latin typeface="Courier New" panose="02070309020205020404" pitchFamily="49" charset="0"/>
                <a:cs typeface="Courier New" panose="02070309020205020404" pitchFamily="49" charset="0"/>
              </a:rPr>
              <a:t>region.region_id</a:t>
            </a:r>
            <a:r>
              <a:rPr lang="en-US" sz="2700" dirty="0">
                <a:latin typeface="Courier New" panose="02070309020205020404" pitchFamily="49" charset="0"/>
                <a:cs typeface="Courier New" panose="02070309020205020404" pitchFamily="49" charset="0"/>
              </a:rPr>
              <a:t>;</a:t>
            </a:r>
          </a:p>
          <a:p>
            <a:r>
              <a:rPr lang="en-US" sz="2700" dirty="0">
                <a:latin typeface="Courier New" panose="02070309020205020404" pitchFamily="49" charset="0"/>
                <a:cs typeface="Courier New" panose="02070309020205020404" pitchFamily="49" charset="0"/>
              </a:rPr>
              <a:t>SELECT MAX(</a:t>
            </a:r>
            <a:r>
              <a:rPr lang="en-US" sz="2700" dirty="0" err="1">
                <a:latin typeface="Courier New" panose="02070309020205020404" pitchFamily="49" charset="0"/>
                <a:cs typeface="Courier New" panose="02070309020205020404" pitchFamily="49" charset="0"/>
              </a:rPr>
              <a:t>region_id</a:t>
            </a:r>
            <a:r>
              <a:rPr lang="en-US" sz="2700" dirty="0">
                <a:latin typeface="Courier New" panose="02070309020205020404" pitchFamily="49" charset="0"/>
                <a:cs typeface="Courier New" panose="02070309020205020404" pitchFamily="49" charset="0"/>
              </a:rPr>
              <a:t>) FROM region</a:t>
            </a:r>
          </a:p>
          <a:p>
            <a:r>
              <a:rPr lang="en-US" sz="2700" dirty="0">
                <a:latin typeface="Courier New" panose="02070309020205020404" pitchFamily="49" charset="0"/>
                <a:cs typeface="Courier New" panose="02070309020205020404" pitchFamily="49" charset="0"/>
              </a:rPr>
              <a:t>SELECT </a:t>
            </a:r>
            <a:r>
              <a:rPr lang="en-US" sz="2700" dirty="0" err="1">
                <a:latin typeface="Courier New" panose="02070309020205020404" pitchFamily="49" charset="0"/>
                <a:cs typeface="Courier New" panose="02070309020205020404" pitchFamily="49" charset="0"/>
              </a:rPr>
              <a:t>setval</a:t>
            </a:r>
            <a:r>
              <a:rPr lang="en-US" sz="2700" dirty="0">
                <a:latin typeface="Courier New" panose="02070309020205020404" pitchFamily="49" charset="0"/>
                <a:cs typeface="Courier New" panose="02070309020205020404" pitchFamily="49" charset="0"/>
              </a:rPr>
              <a:t>('</a:t>
            </a:r>
            <a:r>
              <a:rPr lang="en-US" sz="2700" dirty="0" err="1">
                <a:latin typeface="Courier New" panose="02070309020205020404" pitchFamily="49" charset="0"/>
                <a:cs typeface="Courier New" panose="02070309020205020404" pitchFamily="49" charset="0"/>
              </a:rPr>
              <a:t>region_region_id_seq</a:t>
            </a:r>
            <a:r>
              <a:rPr lang="en-US" sz="2700" dirty="0">
                <a:latin typeface="Courier New" panose="02070309020205020404" pitchFamily="49" charset="0"/>
                <a:cs typeface="Courier New" panose="02070309020205020404" pitchFamily="49" charset="0"/>
              </a:rPr>
              <a:t>', 4); -- 4 was the result returned by SELECT MAX(</a:t>
            </a:r>
            <a:r>
              <a:rPr lang="en-US" sz="2700" dirty="0" err="1">
                <a:latin typeface="Courier New" panose="02070309020205020404" pitchFamily="49" charset="0"/>
                <a:cs typeface="Courier New" panose="02070309020205020404" pitchFamily="49" charset="0"/>
              </a:rPr>
              <a:t>region_id</a:t>
            </a:r>
            <a:r>
              <a:rPr lang="en-US" sz="2700" dirty="0">
                <a:latin typeface="Courier New" panose="02070309020205020404" pitchFamily="49" charset="0"/>
                <a:cs typeface="Courier New" panose="02070309020205020404" pitchFamily="49" charset="0"/>
              </a:rPr>
              <a:t>) FROM region</a:t>
            </a:r>
          </a:p>
          <a:p>
            <a:r>
              <a:rPr lang="en-US" sz="2700" dirty="0">
                <a:latin typeface="Courier New" panose="02070309020205020404" pitchFamily="49" charset="0"/>
                <a:cs typeface="Courier New" panose="02070309020205020404" pitchFamily="49" charset="0"/>
              </a:rPr>
              <a:t>-- testing</a:t>
            </a:r>
          </a:p>
          <a:p>
            <a:r>
              <a:rPr lang="en-US" sz="2700" dirty="0">
                <a:latin typeface="Courier New" panose="02070309020205020404" pitchFamily="49" charset="0"/>
                <a:cs typeface="Courier New" panose="02070309020205020404" pitchFamily="49" charset="0"/>
              </a:rPr>
              <a:t>INSERT INTO region (</a:t>
            </a:r>
            <a:r>
              <a:rPr lang="en-US" sz="2700" dirty="0" err="1">
                <a:latin typeface="Courier New" panose="02070309020205020404" pitchFamily="49" charset="0"/>
                <a:cs typeface="Courier New" panose="02070309020205020404" pitchFamily="49" charset="0"/>
              </a:rPr>
              <a:t>region_description</a:t>
            </a:r>
            <a:r>
              <a:rPr lang="en-US" sz="2700" dirty="0">
                <a:latin typeface="Courier New" panose="02070309020205020404" pitchFamily="49" charset="0"/>
                <a:cs typeface="Courier New" panose="02070309020205020404" pitchFamily="49" charset="0"/>
              </a:rPr>
              <a:t>) VALUES('My New Region');</a:t>
            </a:r>
          </a:p>
          <a:p>
            <a:endParaRPr lang="en-US" sz="2700" dirty="0">
              <a:latin typeface="Courier New" panose="02070309020205020404" pitchFamily="49" charset="0"/>
              <a:cs typeface="Courier New" panose="02070309020205020404" pitchFamily="49" charset="0"/>
            </a:endParaRPr>
          </a:p>
        </p:txBody>
      </p:sp>
      <p:sp>
        <p:nvSpPr>
          <p:cNvPr id="4" name="Footer Placeholder 3">
            <a:extLst>
              <a:ext uri="{FF2B5EF4-FFF2-40B4-BE49-F238E27FC236}">
                <a16:creationId xmlns:a16="http://schemas.microsoft.com/office/drawing/2014/main" id="{C548D405-D1F8-B83F-9FFD-65AB37A61583}"/>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7692273F-1FA4-A7A3-BC1D-E264609955B6}"/>
              </a:ext>
            </a:extLst>
          </p:cNvPr>
          <p:cNvSpPr>
            <a:spLocks noGrp="1"/>
          </p:cNvSpPr>
          <p:nvPr>
            <p:ph type="sldNum" sz="quarter" idx="12"/>
          </p:nvPr>
        </p:nvSpPr>
        <p:spPr/>
        <p:txBody>
          <a:bodyPr/>
          <a:lstStyle/>
          <a:p>
            <a:fld id="{DF05C15E-1453-4D65-918E-7489EA0EFEBE}" type="slidenum">
              <a:rPr lang="en-US" smtClean="0"/>
              <a:t>34</a:t>
            </a:fld>
            <a:endParaRPr lang="en-US"/>
          </a:p>
        </p:txBody>
      </p:sp>
    </p:spTree>
    <p:extLst>
      <p:ext uri="{BB962C8B-B14F-4D97-AF65-F5344CB8AC3E}">
        <p14:creationId xmlns:p14="http://schemas.microsoft.com/office/powerpoint/2010/main" val="37608391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A4A2A-FDAF-C715-B511-65860B1711A2}"/>
              </a:ext>
            </a:extLst>
          </p:cNvPr>
          <p:cNvSpPr>
            <a:spLocks noGrp="1"/>
          </p:cNvSpPr>
          <p:nvPr>
            <p:ph type="title"/>
          </p:nvPr>
        </p:nvSpPr>
        <p:spPr/>
        <p:txBody>
          <a:bodyPr/>
          <a:lstStyle/>
          <a:p>
            <a:r>
              <a:rPr lang="en-US" dirty="0"/>
              <a:t>Self Join</a:t>
            </a:r>
          </a:p>
        </p:txBody>
      </p:sp>
      <p:sp>
        <p:nvSpPr>
          <p:cNvPr id="3" name="Content Placeholder 2">
            <a:extLst>
              <a:ext uri="{FF2B5EF4-FFF2-40B4-BE49-F238E27FC236}">
                <a16:creationId xmlns:a16="http://schemas.microsoft.com/office/drawing/2014/main" id="{2511AE47-F013-4E20-9DAF-1FF2BCDB4AE5}"/>
              </a:ext>
            </a:extLst>
          </p:cNvPr>
          <p:cNvSpPr>
            <a:spLocks noGrp="1"/>
          </p:cNvSpPr>
          <p:nvPr>
            <p:ph idx="1"/>
          </p:nvPr>
        </p:nvSpPr>
        <p:spPr/>
        <p:txBody>
          <a:bodyPr/>
          <a:lstStyle/>
          <a:p>
            <a:r>
              <a:rPr lang="en-US" dirty="0"/>
              <a:t>self-join is a regular join, but the table is joined with itself:</a:t>
            </a:r>
          </a:p>
          <a:p>
            <a:r>
              <a:rPr lang="en-US" i="1" dirty="0"/>
              <a:t>SELECT </a:t>
            </a:r>
            <a:r>
              <a:rPr lang="en-US" i="1" dirty="0" err="1"/>
              <a:t>column_name</a:t>
            </a:r>
            <a:r>
              <a:rPr lang="en-US" i="1" dirty="0"/>
              <a:t>(s)</a:t>
            </a:r>
          </a:p>
          <a:p>
            <a:r>
              <a:rPr lang="en-US" i="1" dirty="0"/>
              <a:t>FROM table1 T1, table1 T2</a:t>
            </a:r>
          </a:p>
          <a:p>
            <a:r>
              <a:rPr lang="en-US" i="1" dirty="0"/>
              <a:t>WHERE condition;</a:t>
            </a:r>
          </a:p>
          <a:p>
            <a:r>
              <a:rPr lang="en-US" dirty="0"/>
              <a:t>table </a:t>
            </a:r>
            <a:r>
              <a:rPr lang="en-US" i="1" dirty="0"/>
              <a:t>employees</a:t>
            </a:r>
            <a:r>
              <a:rPr lang="en-US" dirty="0"/>
              <a:t> have a </a:t>
            </a:r>
            <a:r>
              <a:rPr lang="en-US" i="1" dirty="0" err="1"/>
              <a:t>report_to</a:t>
            </a:r>
            <a:r>
              <a:rPr lang="en-US" dirty="0"/>
              <a:t> attribute, a Foreign Key matching the Primary Key </a:t>
            </a:r>
            <a:r>
              <a:rPr lang="en-US" i="1" dirty="0" err="1"/>
              <a:t>employee_id</a:t>
            </a:r>
            <a:r>
              <a:rPr lang="en-US" dirty="0"/>
              <a:t> from the same table</a:t>
            </a:r>
          </a:p>
          <a:p>
            <a:endParaRPr lang="en-US" dirty="0"/>
          </a:p>
        </p:txBody>
      </p:sp>
      <p:sp>
        <p:nvSpPr>
          <p:cNvPr id="4" name="Footer Placeholder 3">
            <a:extLst>
              <a:ext uri="{FF2B5EF4-FFF2-40B4-BE49-F238E27FC236}">
                <a16:creationId xmlns:a16="http://schemas.microsoft.com/office/drawing/2014/main" id="{DA671759-6E9F-C673-3759-DCBA7BD862A1}"/>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60D5A601-E001-19FE-F591-97EB48F65EEF}"/>
              </a:ext>
            </a:extLst>
          </p:cNvPr>
          <p:cNvSpPr>
            <a:spLocks noGrp="1"/>
          </p:cNvSpPr>
          <p:nvPr>
            <p:ph type="sldNum" sz="quarter" idx="12"/>
          </p:nvPr>
        </p:nvSpPr>
        <p:spPr/>
        <p:txBody>
          <a:bodyPr/>
          <a:lstStyle/>
          <a:p>
            <a:fld id="{DF05C15E-1453-4D65-918E-7489EA0EFEBE}" type="slidenum">
              <a:rPr lang="en-US" smtClean="0"/>
              <a:t>35</a:t>
            </a:fld>
            <a:endParaRPr lang="en-US"/>
          </a:p>
        </p:txBody>
      </p:sp>
    </p:spTree>
    <p:extLst>
      <p:ext uri="{BB962C8B-B14F-4D97-AF65-F5344CB8AC3E}">
        <p14:creationId xmlns:p14="http://schemas.microsoft.com/office/powerpoint/2010/main" val="261950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1571B-89F6-4AE0-1432-E249272FAA1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E2B0023-3460-A1A7-CE1B-84206594A9FD}"/>
              </a:ext>
            </a:extLst>
          </p:cNvPr>
          <p:cNvSpPr>
            <a:spLocks noGrp="1"/>
          </p:cNvSpPr>
          <p:nvPr>
            <p:ph idx="1"/>
          </p:nvPr>
        </p:nvSpPr>
        <p:spPr>
          <a:xfrm>
            <a:off x="838200" y="1278194"/>
            <a:ext cx="10515600" cy="4898769"/>
          </a:xfrm>
        </p:spPr>
        <p:txBody>
          <a:bodyPr>
            <a:normAutofit lnSpcReduction="10000"/>
          </a:bodyPr>
          <a:lstStyle/>
          <a:p>
            <a:r>
              <a:rPr lang="en-US" sz="2700" dirty="0">
                <a:latin typeface="Courier New" panose="02070309020205020404" pitchFamily="49" charset="0"/>
                <a:cs typeface="Courier New" panose="02070309020205020404" pitchFamily="49" charset="0"/>
              </a:rPr>
              <a:t>select </a:t>
            </a:r>
          </a:p>
          <a:p>
            <a:r>
              <a:rPr lang="en-US" sz="2700" i="1" dirty="0" err="1">
                <a:latin typeface="Courier New" panose="02070309020205020404" pitchFamily="49" charset="0"/>
                <a:cs typeface="Courier New" panose="02070309020205020404" pitchFamily="49" charset="0"/>
              </a:rPr>
              <a:t>e</a:t>
            </a:r>
            <a:r>
              <a:rPr lang="en-US" sz="2700" dirty="0" err="1">
                <a:latin typeface="Courier New" panose="02070309020205020404" pitchFamily="49" charset="0"/>
                <a:cs typeface="Courier New" panose="02070309020205020404" pitchFamily="49" charset="0"/>
              </a:rPr>
              <a:t>.employee_id</a:t>
            </a:r>
            <a:r>
              <a:rPr lang="en-US" sz="2700" dirty="0">
                <a:latin typeface="Courier New" panose="02070309020205020404" pitchFamily="49" charset="0"/>
                <a:cs typeface="Courier New" panose="02070309020205020404" pitchFamily="49" charset="0"/>
              </a:rPr>
              <a:t>, </a:t>
            </a:r>
            <a:r>
              <a:rPr lang="en-US" sz="2700" i="1" dirty="0" err="1">
                <a:latin typeface="Courier New" panose="02070309020205020404" pitchFamily="49" charset="0"/>
                <a:cs typeface="Courier New" panose="02070309020205020404" pitchFamily="49" charset="0"/>
              </a:rPr>
              <a:t>e</a:t>
            </a:r>
            <a:r>
              <a:rPr lang="en-US" sz="2700" dirty="0" err="1">
                <a:latin typeface="Courier New" panose="02070309020205020404" pitchFamily="49" charset="0"/>
                <a:cs typeface="Courier New" panose="02070309020205020404" pitchFamily="49" charset="0"/>
              </a:rPr>
              <a:t>.title_of_courtesy</a:t>
            </a:r>
            <a:r>
              <a:rPr lang="en-US" sz="2700" dirty="0">
                <a:latin typeface="Courier New" panose="02070309020205020404" pitchFamily="49" charset="0"/>
                <a:cs typeface="Courier New" panose="02070309020205020404" pitchFamily="49" charset="0"/>
              </a:rPr>
              <a:t>, </a:t>
            </a:r>
            <a:r>
              <a:rPr lang="en-US" sz="2700" i="1" dirty="0" err="1">
                <a:latin typeface="Courier New" panose="02070309020205020404" pitchFamily="49" charset="0"/>
                <a:cs typeface="Courier New" panose="02070309020205020404" pitchFamily="49" charset="0"/>
              </a:rPr>
              <a:t>e</a:t>
            </a:r>
            <a:r>
              <a:rPr lang="en-US" sz="2700" dirty="0" err="1">
                <a:latin typeface="Courier New" panose="02070309020205020404" pitchFamily="49" charset="0"/>
                <a:cs typeface="Courier New" panose="02070309020205020404" pitchFamily="49" charset="0"/>
              </a:rPr>
              <a:t>.first_name</a:t>
            </a:r>
            <a:r>
              <a:rPr lang="en-US" sz="2700" dirty="0">
                <a:latin typeface="Courier New" panose="02070309020205020404" pitchFamily="49" charset="0"/>
                <a:cs typeface="Courier New" panose="02070309020205020404" pitchFamily="49" charset="0"/>
              </a:rPr>
              <a:t>, </a:t>
            </a:r>
            <a:r>
              <a:rPr lang="en-US" sz="2700" i="1" dirty="0" err="1">
                <a:latin typeface="Courier New" panose="02070309020205020404" pitchFamily="49" charset="0"/>
                <a:cs typeface="Courier New" panose="02070309020205020404" pitchFamily="49" charset="0"/>
              </a:rPr>
              <a:t>e</a:t>
            </a:r>
            <a:r>
              <a:rPr lang="en-US" sz="2700" dirty="0" err="1">
                <a:latin typeface="Courier New" panose="02070309020205020404" pitchFamily="49" charset="0"/>
                <a:cs typeface="Courier New" panose="02070309020205020404" pitchFamily="49" charset="0"/>
              </a:rPr>
              <a:t>.last_name</a:t>
            </a:r>
            <a:r>
              <a:rPr lang="en-US" sz="2700" dirty="0">
                <a:latin typeface="Courier New" panose="02070309020205020404" pitchFamily="49" charset="0"/>
                <a:cs typeface="Courier New" panose="02070309020205020404" pitchFamily="49" charset="0"/>
              </a:rPr>
              <a:t>, </a:t>
            </a:r>
            <a:r>
              <a:rPr lang="en-US" sz="2700" i="1" dirty="0" err="1">
                <a:latin typeface="Courier New" panose="02070309020205020404" pitchFamily="49" charset="0"/>
                <a:cs typeface="Courier New" panose="02070309020205020404" pitchFamily="49" charset="0"/>
              </a:rPr>
              <a:t>e</a:t>
            </a:r>
            <a:r>
              <a:rPr lang="en-US" sz="2700" dirty="0" err="1">
                <a:latin typeface="Courier New" panose="02070309020205020404" pitchFamily="49" charset="0"/>
                <a:cs typeface="Courier New" panose="02070309020205020404" pitchFamily="49" charset="0"/>
              </a:rPr>
              <a:t>.title</a:t>
            </a:r>
            <a:r>
              <a:rPr lang="en-US" sz="2700" dirty="0">
                <a:latin typeface="Courier New" panose="02070309020205020404" pitchFamily="49" charset="0"/>
                <a:cs typeface="Courier New" panose="02070309020205020404" pitchFamily="49" charset="0"/>
              </a:rPr>
              <a:t>,</a:t>
            </a:r>
          </a:p>
          <a:p>
            <a:r>
              <a:rPr lang="en-US" sz="2700" i="1" dirty="0" err="1">
                <a:latin typeface="Courier New" panose="02070309020205020404" pitchFamily="49" charset="0"/>
                <a:cs typeface="Courier New" panose="02070309020205020404" pitchFamily="49" charset="0"/>
              </a:rPr>
              <a:t>m</a:t>
            </a:r>
            <a:r>
              <a:rPr lang="en-US" sz="2700" dirty="0" err="1">
                <a:latin typeface="Courier New" panose="02070309020205020404" pitchFamily="49" charset="0"/>
                <a:cs typeface="Courier New" panose="02070309020205020404" pitchFamily="49" charset="0"/>
              </a:rPr>
              <a:t>.employee_id</a:t>
            </a:r>
            <a:r>
              <a:rPr lang="en-US" sz="2700" dirty="0">
                <a:latin typeface="Courier New" panose="02070309020205020404" pitchFamily="49" charset="0"/>
                <a:cs typeface="Courier New" panose="02070309020205020404" pitchFamily="49" charset="0"/>
              </a:rPr>
              <a:t> as </a:t>
            </a:r>
            <a:r>
              <a:rPr lang="en-US" sz="2700" i="1" dirty="0" err="1">
                <a:latin typeface="Courier New" panose="02070309020205020404" pitchFamily="49" charset="0"/>
                <a:cs typeface="Courier New" panose="02070309020205020404" pitchFamily="49" charset="0"/>
              </a:rPr>
              <a:t>manager_empoyee_id</a:t>
            </a:r>
            <a:r>
              <a:rPr lang="en-US" sz="2700" dirty="0">
                <a:latin typeface="Courier New" panose="02070309020205020404" pitchFamily="49" charset="0"/>
                <a:cs typeface="Courier New" panose="02070309020205020404" pitchFamily="49" charset="0"/>
              </a:rPr>
              <a:t>, </a:t>
            </a:r>
            <a:r>
              <a:rPr lang="en-US" sz="2700" i="1" dirty="0" err="1">
                <a:latin typeface="Courier New" panose="02070309020205020404" pitchFamily="49" charset="0"/>
                <a:cs typeface="Courier New" panose="02070309020205020404" pitchFamily="49" charset="0"/>
              </a:rPr>
              <a:t>m</a:t>
            </a:r>
            <a:r>
              <a:rPr lang="en-US" sz="2700" dirty="0" err="1">
                <a:latin typeface="Courier New" panose="02070309020205020404" pitchFamily="49" charset="0"/>
                <a:cs typeface="Courier New" panose="02070309020205020404" pitchFamily="49" charset="0"/>
              </a:rPr>
              <a:t>.title_of_courtesy</a:t>
            </a:r>
            <a:r>
              <a:rPr lang="en-US" sz="2700" dirty="0">
                <a:latin typeface="Courier New" panose="02070309020205020404" pitchFamily="49" charset="0"/>
                <a:cs typeface="Courier New" panose="02070309020205020404" pitchFamily="49" charset="0"/>
              </a:rPr>
              <a:t> as </a:t>
            </a:r>
            <a:r>
              <a:rPr lang="en-US" sz="2700" i="1" dirty="0" err="1">
                <a:latin typeface="Courier New" panose="02070309020205020404" pitchFamily="49" charset="0"/>
                <a:cs typeface="Courier New" panose="02070309020205020404" pitchFamily="49" charset="0"/>
              </a:rPr>
              <a:t>manager_title_of_courtesy</a:t>
            </a:r>
            <a:r>
              <a:rPr lang="en-US" sz="2700" dirty="0">
                <a:latin typeface="Courier New" panose="02070309020205020404" pitchFamily="49" charset="0"/>
                <a:cs typeface="Courier New" panose="02070309020205020404" pitchFamily="49" charset="0"/>
              </a:rPr>
              <a:t>, </a:t>
            </a:r>
          </a:p>
          <a:p>
            <a:r>
              <a:rPr lang="en-US" sz="2700" i="1" dirty="0" err="1">
                <a:latin typeface="Courier New" panose="02070309020205020404" pitchFamily="49" charset="0"/>
                <a:cs typeface="Courier New" panose="02070309020205020404" pitchFamily="49" charset="0"/>
              </a:rPr>
              <a:t>m</a:t>
            </a:r>
            <a:r>
              <a:rPr lang="en-US" sz="2700" dirty="0" err="1">
                <a:latin typeface="Courier New" panose="02070309020205020404" pitchFamily="49" charset="0"/>
                <a:cs typeface="Courier New" panose="02070309020205020404" pitchFamily="49" charset="0"/>
              </a:rPr>
              <a:t>.first_name</a:t>
            </a:r>
            <a:r>
              <a:rPr lang="en-US" sz="2700" dirty="0">
                <a:latin typeface="Courier New" panose="02070309020205020404" pitchFamily="49" charset="0"/>
                <a:cs typeface="Courier New" panose="02070309020205020404" pitchFamily="49" charset="0"/>
              </a:rPr>
              <a:t> as </a:t>
            </a:r>
            <a:r>
              <a:rPr lang="en-US" sz="2700" i="1" dirty="0" err="1">
                <a:latin typeface="Courier New" panose="02070309020205020404" pitchFamily="49" charset="0"/>
                <a:cs typeface="Courier New" panose="02070309020205020404" pitchFamily="49" charset="0"/>
              </a:rPr>
              <a:t>manager_first_name</a:t>
            </a:r>
            <a:r>
              <a:rPr lang="en-US" sz="2700" dirty="0">
                <a:latin typeface="Courier New" panose="02070309020205020404" pitchFamily="49" charset="0"/>
                <a:cs typeface="Courier New" panose="02070309020205020404" pitchFamily="49" charset="0"/>
              </a:rPr>
              <a:t>, </a:t>
            </a:r>
            <a:r>
              <a:rPr lang="en-US" sz="2700" i="1" dirty="0" err="1">
                <a:latin typeface="Courier New" panose="02070309020205020404" pitchFamily="49" charset="0"/>
                <a:cs typeface="Courier New" panose="02070309020205020404" pitchFamily="49" charset="0"/>
              </a:rPr>
              <a:t>m</a:t>
            </a:r>
            <a:r>
              <a:rPr lang="en-US" sz="2700" dirty="0" err="1">
                <a:latin typeface="Courier New" panose="02070309020205020404" pitchFamily="49" charset="0"/>
                <a:cs typeface="Courier New" panose="02070309020205020404" pitchFamily="49" charset="0"/>
              </a:rPr>
              <a:t>.last_name</a:t>
            </a:r>
            <a:r>
              <a:rPr lang="en-US" sz="2700" dirty="0">
                <a:latin typeface="Courier New" panose="02070309020205020404" pitchFamily="49" charset="0"/>
                <a:cs typeface="Courier New" panose="02070309020205020404" pitchFamily="49" charset="0"/>
              </a:rPr>
              <a:t> as </a:t>
            </a:r>
            <a:r>
              <a:rPr lang="en-US" sz="2700" i="1" dirty="0" err="1">
                <a:latin typeface="Courier New" panose="02070309020205020404" pitchFamily="49" charset="0"/>
                <a:cs typeface="Courier New" panose="02070309020205020404" pitchFamily="49" charset="0"/>
              </a:rPr>
              <a:t>manager_last_name</a:t>
            </a:r>
            <a:r>
              <a:rPr lang="en-US" sz="2700" dirty="0">
                <a:latin typeface="Courier New" panose="02070309020205020404" pitchFamily="49" charset="0"/>
                <a:cs typeface="Courier New" panose="02070309020205020404" pitchFamily="49" charset="0"/>
              </a:rPr>
              <a:t>, </a:t>
            </a:r>
            <a:r>
              <a:rPr lang="en-US" sz="2700" i="1" dirty="0" err="1">
                <a:latin typeface="Courier New" panose="02070309020205020404" pitchFamily="49" charset="0"/>
                <a:cs typeface="Courier New" panose="02070309020205020404" pitchFamily="49" charset="0"/>
              </a:rPr>
              <a:t>e</a:t>
            </a:r>
            <a:r>
              <a:rPr lang="en-US" sz="2700" dirty="0" err="1">
                <a:latin typeface="Courier New" panose="02070309020205020404" pitchFamily="49" charset="0"/>
                <a:cs typeface="Courier New" panose="02070309020205020404" pitchFamily="49" charset="0"/>
              </a:rPr>
              <a:t>.title</a:t>
            </a:r>
            <a:r>
              <a:rPr lang="en-US" sz="2700" dirty="0">
                <a:latin typeface="Courier New" panose="02070309020205020404" pitchFamily="49" charset="0"/>
                <a:cs typeface="Courier New" panose="02070309020205020404" pitchFamily="49" charset="0"/>
              </a:rPr>
              <a:t> as </a:t>
            </a:r>
            <a:r>
              <a:rPr lang="en-US" sz="2700" i="1" dirty="0" err="1">
                <a:latin typeface="Courier New" panose="02070309020205020404" pitchFamily="49" charset="0"/>
                <a:cs typeface="Courier New" panose="02070309020205020404" pitchFamily="49" charset="0"/>
              </a:rPr>
              <a:t>manager_title</a:t>
            </a:r>
            <a:endParaRPr lang="en-US" sz="2700" dirty="0">
              <a:latin typeface="Courier New" panose="02070309020205020404" pitchFamily="49" charset="0"/>
              <a:cs typeface="Courier New" panose="02070309020205020404" pitchFamily="49" charset="0"/>
            </a:endParaRPr>
          </a:p>
          <a:p>
            <a:r>
              <a:rPr lang="en-US" sz="2700" dirty="0">
                <a:latin typeface="Courier New" panose="02070309020205020404" pitchFamily="49" charset="0"/>
                <a:cs typeface="Courier New" panose="02070309020205020404" pitchFamily="49" charset="0"/>
              </a:rPr>
              <a:t>from employees	</a:t>
            </a:r>
            <a:r>
              <a:rPr lang="en-US" sz="2700" i="1" dirty="0">
                <a:latin typeface="Courier New" panose="02070309020205020404" pitchFamily="49" charset="0"/>
                <a:cs typeface="Courier New" panose="02070309020205020404" pitchFamily="49" charset="0"/>
              </a:rPr>
              <a:t>e</a:t>
            </a:r>
            <a:r>
              <a:rPr lang="en-US" sz="2700" dirty="0">
                <a:latin typeface="Courier New" panose="02070309020205020404" pitchFamily="49" charset="0"/>
                <a:cs typeface="Courier New" panose="02070309020205020404" pitchFamily="49" charset="0"/>
              </a:rPr>
              <a:t> left outer join employees </a:t>
            </a:r>
            <a:r>
              <a:rPr lang="en-US" sz="2700" i="1" dirty="0">
                <a:latin typeface="Courier New" panose="02070309020205020404" pitchFamily="49" charset="0"/>
                <a:cs typeface="Courier New" panose="02070309020205020404" pitchFamily="49" charset="0"/>
              </a:rPr>
              <a:t>m</a:t>
            </a:r>
            <a:endParaRPr lang="en-US" sz="2700" dirty="0">
              <a:latin typeface="Courier New" panose="02070309020205020404" pitchFamily="49" charset="0"/>
              <a:cs typeface="Courier New" panose="02070309020205020404" pitchFamily="49" charset="0"/>
            </a:endParaRPr>
          </a:p>
          <a:p>
            <a:r>
              <a:rPr lang="en-US" sz="2700" dirty="0">
                <a:latin typeface="Courier New" panose="02070309020205020404" pitchFamily="49" charset="0"/>
                <a:cs typeface="Courier New" panose="02070309020205020404" pitchFamily="49" charset="0"/>
              </a:rPr>
              <a:t>on </a:t>
            </a:r>
            <a:r>
              <a:rPr lang="en-US" sz="2700" i="1" dirty="0" err="1">
                <a:latin typeface="Courier New" panose="02070309020205020404" pitchFamily="49" charset="0"/>
                <a:cs typeface="Courier New" panose="02070309020205020404" pitchFamily="49" charset="0"/>
              </a:rPr>
              <a:t>e</a:t>
            </a:r>
            <a:r>
              <a:rPr lang="en-US" sz="2700" dirty="0" err="1">
                <a:latin typeface="Courier New" panose="02070309020205020404" pitchFamily="49" charset="0"/>
                <a:cs typeface="Courier New" panose="02070309020205020404" pitchFamily="49" charset="0"/>
              </a:rPr>
              <a:t>.reports_to</a:t>
            </a:r>
            <a:r>
              <a:rPr lang="en-US" sz="2700" dirty="0">
                <a:latin typeface="Courier New" panose="02070309020205020404" pitchFamily="49" charset="0"/>
                <a:cs typeface="Courier New" panose="02070309020205020404" pitchFamily="49" charset="0"/>
              </a:rPr>
              <a:t> = </a:t>
            </a:r>
            <a:r>
              <a:rPr lang="en-US" sz="2700" i="1" dirty="0" err="1">
                <a:latin typeface="Courier New" panose="02070309020205020404" pitchFamily="49" charset="0"/>
                <a:cs typeface="Courier New" panose="02070309020205020404" pitchFamily="49" charset="0"/>
              </a:rPr>
              <a:t>m</a:t>
            </a:r>
            <a:r>
              <a:rPr lang="en-US" sz="2700" dirty="0" err="1">
                <a:latin typeface="Courier New" panose="02070309020205020404" pitchFamily="49" charset="0"/>
                <a:cs typeface="Courier New" panose="02070309020205020404" pitchFamily="49" charset="0"/>
              </a:rPr>
              <a:t>.employee_id</a:t>
            </a:r>
            <a:endParaRPr lang="en-US" sz="2700" dirty="0">
              <a:latin typeface="Courier New" panose="02070309020205020404" pitchFamily="49" charset="0"/>
              <a:cs typeface="Courier New" panose="02070309020205020404" pitchFamily="49" charset="0"/>
            </a:endParaRPr>
          </a:p>
          <a:p>
            <a:r>
              <a:rPr lang="en-US" dirty="0"/>
              <a:t>Dr. Andrew Fuller Vice President, Sales has no other employee to report to – It’s good to be a king!</a:t>
            </a:r>
          </a:p>
          <a:p>
            <a:endParaRPr lang="en-US" dirty="0"/>
          </a:p>
        </p:txBody>
      </p:sp>
      <p:sp>
        <p:nvSpPr>
          <p:cNvPr id="4" name="Footer Placeholder 3">
            <a:extLst>
              <a:ext uri="{FF2B5EF4-FFF2-40B4-BE49-F238E27FC236}">
                <a16:creationId xmlns:a16="http://schemas.microsoft.com/office/drawing/2014/main" id="{C0D15814-1541-C583-5644-0047E52CA83C}"/>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5F7AD048-673D-0F52-ED8E-ECF620B78C19}"/>
              </a:ext>
            </a:extLst>
          </p:cNvPr>
          <p:cNvSpPr>
            <a:spLocks noGrp="1"/>
          </p:cNvSpPr>
          <p:nvPr>
            <p:ph type="sldNum" sz="quarter" idx="12"/>
          </p:nvPr>
        </p:nvSpPr>
        <p:spPr/>
        <p:txBody>
          <a:bodyPr/>
          <a:lstStyle/>
          <a:p>
            <a:fld id="{DF05C15E-1453-4D65-918E-7489EA0EFEBE}" type="slidenum">
              <a:rPr lang="en-US" smtClean="0"/>
              <a:t>36</a:t>
            </a:fld>
            <a:endParaRPr lang="en-US"/>
          </a:p>
        </p:txBody>
      </p:sp>
    </p:spTree>
    <p:extLst>
      <p:ext uri="{BB962C8B-B14F-4D97-AF65-F5344CB8AC3E}">
        <p14:creationId xmlns:p14="http://schemas.microsoft.com/office/powerpoint/2010/main" val="40035793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3E0AC-6F14-CF6A-A9E4-E7D4F78B1B15}"/>
              </a:ext>
            </a:extLst>
          </p:cNvPr>
          <p:cNvSpPr>
            <a:spLocks noGrp="1"/>
          </p:cNvSpPr>
          <p:nvPr>
            <p:ph type="title"/>
          </p:nvPr>
        </p:nvSpPr>
        <p:spPr/>
        <p:txBody>
          <a:bodyPr/>
          <a:lstStyle/>
          <a:p>
            <a:r>
              <a:rPr lang="en-US" dirty="0"/>
              <a:t>Views</a:t>
            </a:r>
          </a:p>
        </p:txBody>
      </p:sp>
      <p:sp>
        <p:nvSpPr>
          <p:cNvPr id="3" name="Content Placeholder 2">
            <a:extLst>
              <a:ext uri="{FF2B5EF4-FFF2-40B4-BE49-F238E27FC236}">
                <a16:creationId xmlns:a16="http://schemas.microsoft.com/office/drawing/2014/main" id="{7C033096-3726-C176-6BC8-2E10FC094C0F}"/>
              </a:ext>
            </a:extLst>
          </p:cNvPr>
          <p:cNvSpPr>
            <a:spLocks noGrp="1"/>
          </p:cNvSpPr>
          <p:nvPr>
            <p:ph idx="1"/>
          </p:nvPr>
        </p:nvSpPr>
        <p:spPr/>
        <p:txBody>
          <a:bodyPr/>
          <a:lstStyle/>
          <a:p>
            <a:r>
              <a:rPr lang="en-US" b="1" dirty="0"/>
              <a:t>i</a:t>
            </a:r>
            <a:r>
              <a:rPr lang="en-US" dirty="0"/>
              <a:t>t is not always desirable for all users to see the entire set of relations in the database</a:t>
            </a:r>
          </a:p>
          <a:p>
            <a:r>
              <a:rPr lang="en-US" dirty="0"/>
              <a:t>security system of a </a:t>
            </a:r>
            <a:r>
              <a:rPr lang="en-US" dirty="0" err="1"/>
              <a:t>DataBase</a:t>
            </a:r>
            <a:r>
              <a:rPr lang="en-US" dirty="0"/>
              <a:t> Management System based on SQL authorization mechanism can restrict access to relations</a:t>
            </a:r>
          </a:p>
          <a:p>
            <a:r>
              <a:rPr lang="en-US" dirty="0"/>
              <a:t>security considerations may require that only certain data in a relation be hidden from a user</a:t>
            </a:r>
          </a:p>
          <a:p>
            <a:endParaRPr lang="en-US" dirty="0"/>
          </a:p>
          <a:p>
            <a:r>
              <a:rPr lang="en-US" dirty="0"/>
              <a:t>Always build Views!</a:t>
            </a:r>
          </a:p>
        </p:txBody>
      </p:sp>
      <p:sp>
        <p:nvSpPr>
          <p:cNvPr id="4" name="Footer Placeholder 3">
            <a:extLst>
              <a:ext uri="{FF2B5EF4-FFF2-40B4-BE49-F238E27FC236}">
                <a16:creationId xmlns:a16="http://schemas.microsoft.com/office/drawing/2014/main" id="{2674604A-6E13-0432-F3B2-C94F65E8B96D}"/>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6B7A577D-1921-2059-FEBB-62967FF84FA4}"/>
              </a:ext>
            </a:extLst>
          </p:cNvPr>
          <p:cNvSpPr>
            <a:spLocks noGrp="1"/>
          </p:cNvSpPr>
          <p:nvPr>
            <p:ph type="sldNum" sz="quarter" idx="12"/>
          </p:nvPr>
        </p:nvSpPr>
        <p:spPr/>
        <p:txBody>
          <a:bodyPr/>
          <a:lstStyle/>
          <a:p>
            <a:fld id="{DF05C15E-1453-4D65-918E-7489EA0EFEBE}" type="slidenum">
              <a:rPr lang="en-US" smtClean="0"/>
              <a:t>37</a:t>
            </a:fld>
            <a:endParaRPr lang="en-US"/>
          </a:p>
        </p:txBody>
      </p:sp>
    </p:spTree>
    <p:extLst>
      <p:ext uri="{BB962C8B-B14F-4D97-AF65-F5344CB8AC3E}">
        <p14:creationId xmlns:p14="http://schemas.microsoft.com/office/powerpoint/2010/main" val="10708239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C238F-86A1-D271-84E4-80A175041C3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F46C378-B554-CC07-047B-8CB68EE65D8C}"/>
              </a:ext>
            </a:extLst>
          </p:cNvPr>
          <p:cNvSpPr>
            <a:spLocks noGrp="1"/>
          </p:cNvSpPr>
          <p:nvPr>
            <p:ph idx="1"/>
          </p:nvPr>
        </p:nvSpPr>
        <p:spPr/>
        <p:txBody>
          <a:bodyPr/>
          <a:lstStyle/>
          <a:p>
            <a:r>
              <a:rPr lang="en-US" dirty="0"/>
              <a:t>SQL allows a “virtual relation” to be defined by a query, and the relation conceptually contains the result of the query</a:t>
            </a:r>
          </a:p>
          <a:p>
            <a:r>
              <a:rPr lang="en-US" dirty="0"/>
              <a:t>virtual relation is not precomputed and stored but instead is stored precompiled, </a:t>
            </a:r>
            <a:r>
              <a:rPr lang="en-US" b="1" i="1" dirty="0"/>
              <a:t>optimized</a:t>
            </a:r>
            <a:r>
              <a:rPr lang="en-US" dirty="0"/>
              <a:t> and computed by executing query whenever the virtual relation is used</a:t>
            </a:r>
          </a:p>
        </p:txBody>
      </p:sp>
      <p:sp>
        <p:nvSpPr>
          <p:cNvPr id="4" name="Footer Placeholder 3">
            <a:extLst>
              <a:ext uri="{FF2B5EF4-FFF2-40B4-BE49-F238E27FC236}">
                <a16:creationId xmlns:a16="http://schemas.microsoft.com/office/drawing/2014/main" id="{7D13399D-4610-6999-2108-11C0A9B9A28B}"/>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44F62CE3-C6C3-D702-2370-AC3A514E66EC}"/>
              </a:ext>
            </a:extLst>
          </p:cNvPr>
          <p:cNvSpPr>
            <a:spLocks noGrp="1"/>
          </p:cNvSpPr>
          <p:nvPr>
            <p:ph type="sldNum" sz="quarter" idx="12"/>
          </p:nvPr>
        </p:nvSpPr>
        <p:spPr/>
        <p:txBody>
          <a:bodyPr/>
          <a:lstStyle/>
          <a:p>
            <a:fld id="{DF05C15E-1453-4D65-918E-7489EA0EFEBE}" type="slidenum">
              <a:rPr lang="en-US" smtClean="0"/>
              <a:t>38</a:t>
            </a:fld>
            <a:endParaRPr lang="en-US"/>
          </a:p>
        </p:txBody>
      </p:sp>
    </p:spTree>
    <p:extLst>
      <p:ext uri="{BB962C8B-B14F-4D97-AF65-F5344CB8AC3E}">
        <p14:creationId xmlns:p14="http://schemas.microsoft.com/office/powerpoint/2010/main" val="2855989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AC4E5-4434-8313-962D-C1FE5597309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B0A93EA-DC4D-D157-F8FC-07989BE1FC4C}"/>
              </a:ext>
            </a:extLst>
          </p:cNvPr>
          <p:cNvSpPr>
            <a:spLocks noGrp="1"/>
          </p:cNvSpPr>
          <p:nvPr>
            <p:ph idx="1"/>
          </p:nvPr>
        </p:nvSpPr>
        <p:spPr>
          <a:xfrm>
            <a:off x="838200" y="1297858"/>
            <a:ext cx="10515600" cy="4879105"/>
          </a:xfrm>
        </p:spPr>
        <p:txBody>
          <a:bodyPr>
            <a:normAutofit lnSpcReduction="10000"/>
          </a:bodyPr>
          <a:lstStyle/>
          <a:p>
            <a:r>
              <a:rPr lang="en-US" dirty="0">
                <a:latin typeface="Courier New" panose="02070309020205020404" pitchFamily="49" charset="0"/>
                <a:cs typeface="Courier New" panose="02070309020205020404" pitchFamily="49" charset="0"/>
              </a:rPr>
              <a:t>create view </a:t>
            </a:r>
            <a:r>
              <a:rPr lang="en-US" dirty="0" err="1">
                <a:latin typeface="Courier New" panose="02070309020205020404" pitchFamily="49" charset="0"/>
                <a:cs typeface="Courier New" panose="02070309020205020404" pitchFamily="49" charset="0"/>
              </a:rPr>
              <a:t>employees_with_managers</a:t>
            </a:r>
            <a:r>
              <a:rPr lang="en-US" dirty="0">
                <a:latin typeface="Courier New" panose="02070309020205020404" pitchFamily="49" charset="0"/>
                <a:cs typeface="Courier New" panose="02070309020205020404" pitchFamily="49" charset="0"/>
              </a:rPr>
              <a:t> as</a:t>
            </a:r>
          </a:p>
          <a:p>
            <a:r>
              <a:rPr lang="en-US" dirty="0">
                <a:latin typeface="Courier New" panose="02070309020205020404" pitchFamily="49" charset="0"/>
                <a:cs typeface="Courier New" panose="02070309020205020404" pitchFamily="49" charset="0"/>
              </a:rPr>
              <a:t>select </a:t>
            </a:r>
            <a:r>
              <a:rPr lang="en-US" dirty="0" err="1">
                <a:latin typeface="Courier New" panose="02070309020205020404" pitchFamily="49" charset="0"/>
                <a:cs typeface="Courier New" panose="02070309020205020404" pitchFamily="49" charset="0"/>
              </a:rPr>
              <a:t>e.employee_id</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e.title_of_courtesy</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e.first_name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e.last_name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e.title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e.birth_date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e.hire_date</a:t>
            </a:r>
            <a:r>
              <a:rPr lang="en-US" dirty="0">
                <a:latin typeface="Courier New" panose="02070309020205020404" pitchFamily="49" charset="0"/>
                <a:cs typeface="Courier New" panose="02070309020205020404" pitchFamily="49" charset="0"/>
              </a:rPr>
              <a:t>, </a:t>
            </a:r>
          </a:p>
          <a:p>
            <a:r>
              <a:rPr lang="en-US" dirty="0" err="1">
                <a:latin typeface="Courier New" panose="02070309020205020404" pitchFamily="49" charset="0"/>
                <a:cs typeface="Courier New" panose="02070309020205020404" pitchFamily="49" charset="0"/>
              </a:rPr>
              <a:t>e.address</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e.city</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e.region</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e.postal_code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e.country</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e.home_phone</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e."extension</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e.photo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e.photo_path</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e.notes</a:t>
            </a:r>
            <a:r>
              <a:rPr lang="en-US" dirty="0">
                <a:latin typeface="Courier New" panose="02070309020205020404" pitchFamily="49" charset="0"/>
                <a:cs typeface="Courier New" panose="02070309020205020404" pitchFamily="49" charset="0"/>
              </a:rPr>
              <a:t>, </a:t>
            </a:r>
          </a:p>
          <a:p>
            <a:r>
              <a:rPr lang="en-US" dirty="0" err="1">
                <a:latin typeface="Courier New" panose="02070309020205020404" pitchFamily="49" charset="0"/>
                <a:cs typeface="Courier New" panose="02070309020205020404" pitchFamily="49" charset="0"/>
              </a:rPr>
              <a:t>e.reports_to</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m.first_name</a:t>
            </a:r>
            <a:r>
              <a:rPr lang="en-US" dirty="0">
                <a:latin typeface="Courier New" panose="02070309020205020404" pitchFamily="49" charset="0"/>
                <a:cs typeface="Courier New" panose="02070309020205020404" pitchFamily="49" charset="0"/>
              </a:rPr>
              <a:t> || ' ' || </a:t>
            </a:r>
            <a:r>
              <a:rPr lang="en-US" dirty="0" err="1">
                <a:latin typeface="Courier New" panose="02070309020205020404" pitchFamily="49" charset="0"/>
                <a:cs typeface="Courier New" panose="02070309020205020404" pitchFamily="49" charset="0"/>
              </a:rPr>
              <a:t>m.last_name</a:t>
            </a:r>
            <a:r>
              <a:rPr lang="en-US" dirty="0">
                <a:latin typeface="Courier New" panose="02070309020205020404" pitchFamily="49" charset="0"/>
                <a:cs typeface="Courier New" panose="02070309020205020404" pitchFamily="49" charset="0"/>
              </a:rPr>
              <a:t> as manager</a:t>
            </a:r>
          </a:p>
          <a:p>
            <a:r>
              <a:rPr lang="en-US" dirty="0">
                <a:latin typeface="Courier New" panose="02070309020205020404" pitchFamily="49" charset="0"/>
                <a:cs typeface="Courier New" panose="02070309020205020404" pitchFamily="49" charset="0"/>
              </a:rPr>
              <a:t>from employees	e left outer join employees m</a:t>
            </a:r>
          </a:p>
          <a:p>
            <a:r>
              <a:rPr lang="en-US" dirty="0">
                <a:latin typeface="Courier New" panose="02070309020205020404" pitchFamily="49" charset="0"/>
                <a:cs typeface="Courier New" panose="02070309020205020404" pitchFamily="49" charset="0"/>
              </a:rPr>
              <a:t>on </a:t>
            </a:r>
            <a:r>
              <a:rPr lang="en-US" dirty="0" err="1">
                <a:latin typeface="Courier New" panose="02070309020205020404" pitchFamily="49" charset="0"/>
                <a:cs typeface="Courier New" panose="02070309020205020404" pitchFamily="49" charset="0"/>
              </a:rPr>
              <a:t>e.reports_to</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m.employee_id</a:t>
            </a:r>
            <a:r>
              <a:rPr lang="en-US" dirty="0">
                <a:latin typeface="Courier New" panose="02070309020205020404" pitchFamily="49" charset="0"/>
                <a:cs typeface="Courier New" panose="02070309020205020404" pitchFamily="49" charset="0"/>
              </a:rPr>
              <a:t>;</a:t>
            </a:r>
          </a:p>
        </p:txBody>
      </p:sp>
      <p:sp>
        <p:nvSpPr>
          <p:cNvPr id="4" name="Footer Placeholder 3">
            <a:extLst>
              <a:ext uri="{FF2B5EF4-FFF2-40B4-BE49-F238E27FC236}">
                <a16:creationId xmlns:a16="http://schemas.microsoft.com/office/drawing/2014/main" id="{8F3DA060-2C07-1D38-F8E5-CFDFA851A021}"/>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CD5C384C-EBBF-108B-AE7D-94F4E2FCC838}"/>
              </a:ext>
            </a:extLst>
          </p:cNvPr>
          <p:cNvSpPr>
            <a:spLocks noGrp="1"/>
          </p:cNvSpPr>
          <p:nvPr>
            <p:ph type="sldNum" sz="quarter" idx="12"/>
          </p:nvPr>
        </p:nvSpPr>
        <p:spPr/>
        <p:txBody>
          <a:bodyPr/>
          <a:lstStyle/>
          <a:p>
            <a:fld id="{DF05C15E-1453-4D65-918E-7489EA0EFEBE}" type="slidenum">
              <a:rPr lang="en-US" smtClean="0"/>
              <a:t>39</a:t>
            </a:fld>
            <a:endParaRPr lang="en-US"/>
          </a:p>
        </p:txBody>
      </p:sp>
    </p:spTree>
    <p:extLst>
      <p:ext uri="{BB962C8B-B14F-4D97-AF65-F5344CB8AC3E}">
        <p14:creationId xmlns:p14="http://schemas.microsoft.com/office/powerpoint/2010/main" val="11443677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26C9B-7583-3B00-7BB8-3685D9AB5B5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99087EB-B941-8DB5-AD91-CAE6496B96E3}"/>
              </a:ext>
            </a:extLst>
          </p:cNvPr>
          <p:cNvSpPr>
            <a:spLocks noGrp="1"/>
          </p:cNvSpPr>
          <p:nvPr>
            <p:ph idx="1"/>
          </p:nvPr>
        </p:nvSpPr>
        <p:spPr/>
        <p:txBody>
          <a:bodyPr/>
          <a:lstStyle/>
          <a:p>
            <a:r>
              <a:rPr lang="en-US" dirty="0">
                <a:latin typeface="Courier New" panose="02070309020205020404" pitchFamily="49" charset="0"/>
                <a:cs typeface="Courier New" panose="02070309020205020404" pitchFamily="49" charset="0"/>
              </a:rPr>
              <a:t>select * from </a:t>
            </a:r>
            <a:r>
              <a:rPr lang="en-US" dirty="0" err="1">
                <a:latin typeface="Courier New" panose="02070309020205020404" pitchFamily="49" charset="0"/>
                <a:cs typeface="Courier New" panose="02070309020205020404" pitchFamily="49" charset="0"/>
              </a:rPr>
              <a:t>employees_with_managers</a:t>
            </a:r>
            <a:endParaRPr lang="en-US" dirty="0">
              <a:latin typeface="Courier New" panose="02070309020205020404" pitchFamily="49" charset="0"/>
              <a:cs typeface="Courier New" panose="02070309020205020404" pitchFamily="49" charset="0"/>
            </a:endParaRPr>
          </a:p>
          <a:p>
            <a:r>
              <a:rPr lang="en-US" dirty="0"/>
              <a:t>CRUD operations made on </a:t>
            </a:r>
            <a:r>
              <a:rPr lang="en-US" i="1" dirty="0"/>
              <a:t>employees</a:t>
            </a:r>
            <a:r>
              <a:rPr lang="en-US" dirty="0"/>
              <a:t> relation table will be automatically reflected in the </a:t>
            </a:r>
            <a:r>
              <a:rPr lang="en-US" i="1" dirty="0" err="1"/>
              <a:t>employees_with_managers</a:t>
            </a:r>
            <a:r>
              <a:rPr lang="en-US" dirty="0"/>
              <a:t> view</a:t>
            </a:r>
          </a:p>
          <a:p>
            <a:r>
              <a:rPr lang="en-US" dirty="0"/>
              <a:t>View names may appear in query any place where relation table name may appear</a:t>
            </a:r>
          </a:p>
          <a:p>
            <a:endParaRPr lang="en-US" dirty="0"/>
          </a:p>
        </p:txBody>
      </p:sp>
      <p:sp>
        <p:nvSpPr>
          <p:cNvPr id="4" name="Footer Placeholder 3">
            <a:extLst>
              <a:ext uri="{FF2B5EF4-FFF2-40B4-BE49-F238E27FC236}">
                <a16:creationId xmlns:a16="http://schemas.microsoft.com/office/drawing/2014/main" id="{975CFAD1-D0B1-03CB-E5BA-67E52E345CF9}"/>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FAFF5730-CFEC-27A6-B77B-D703CD19FB51}"/>
              </a:ext>
            </a:extLst>
          </p:cNvPr>
          <p:cNvSpPr>
            <a:spLocks noGrp="1"/>
          </p:cNvSpPr>
          <p:nvPr>
            <p:ph type="sldNum" sz="quarter" idx="12"/>
          </p:nvPr>
        </p:nvSpPr>
        <p:spPr/>
        <p:txBody>
          <a:bodyPr/>
          <a:lstStyle/>
          <a:p>
            <a:fld id="{DF05C15E-1453-4D65-918E-7489EA0EFEBE}" type="slidenum">
              <a:rPr lang="en-US" smtClean="0"/>
              <a:t>40</a:t>
            </a:fld>
            <a:endParaRPr lang="en-US"/>
          </a:p>
        </p:txBody>
      </p:sp>
    </p:spTree>
    <p:extLst>
      <p:ext uri="{BB962C8B-B14F-4D97-AF65-F5344CB8AC3E}">
        <p14:creationId xmlns:p14="http://schemas.microsoft.com/office/powerpoint/2010/main" val="19498109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A390B-C5B5-430D-706A-A6E13B4D367B}"/>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32D97B6F-65C9-D546-D131-B51CE98D1F9D}"/>
              </a:ext>
            </a:extLst>
          </p:cNvPr>
          <p:cNvSpPr>
            <a:spLocks noGrp="1"/>
          </p:cNvSpPr>
          <p:nvPr>
            <p:ph idx="1"/>
          </p:nvPr>
        </p:nvSpPr>
        <p:spPr/>
        <p:txBody>
          <a:bodyPr/>
          <a:lstStyle/>
          <a:p>
            <a:r>
              <a:rPr lang="en-US" dirty="0"/>
              <a:t>improve the Northwind database by adding constraints and checking these constraints</a:t>
            </a:r>
          </a:p>
          <a:p>
            <a:r>
              <a:rPr lang="en-US" dirty="0"/>
              <a:t>improve the Northwind database by adding views and testing these views</a:t>
            </a:r>
          </a:p>
          <a:p>
            <a:endParaRPr lang="en-US" dirty="0"/>
          </a:p>
        </p:txBody>
      </p:sp>
      <p:sp>
        <p:nvSpPr>
          <p:cNvPr id="4" name="Footer Placeholder 3">
            <a:extLst>
              <a:ext uri="{FF2B5EF4-FFF2-40B4-BE49-F238E27FC236}">
                <a16:creationId xmlns:a16="http://schemas.microsoft.com/office/drawing/2014/main" id="{96132D4C-EB2D-D67A-81C9-52C21CC93A53}"/>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10B1C4AD-8F59-B0AF-5535-2FDF297A8823}"/>
              </a:ext>
            </a:extLst>
          </p:cNvPr>
          <p:cNvSpPr>
            <a:spLocks noGrp="1"/>
          </p:cNvSpPr>
          <p:nvPr>
            <p:ph type="sldNum" sz="quarter" idx="12"/>
          </p:nvPr>
        </p:nvSpPr>
        <p:spPr/>
        <p:txBody>
          <a:bodyPr/>
          <a:lstStyle/>
          <a:p>
            <a:fld id="{DF05C15E-1453-4D65-918E-7489EA0EFEBE}" type="slidenum">
              <a:rPr lang="en-US" smtClean="0"/>
              <a:t>41</a:t>
            </a:fld>
            <a:endParaRPr lang="en-US"/>
          </a:p>
        </p:txBody>
      </p:sp>
    </p:spTree>
    <p:extLst>
      <p:ext uri="{BB962C8B-B14F-4D97-AF65-F5344CB8AC3E}">
        <p14:creationId xmlns:p14="http://schemas.microsoft.com/office/powerpoint/2010/main" val="9280681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331A5-549B-CADE-80E0-BF07033D653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54BB928-CC3E-FE36-BCB9-C6A39337A3BE}"/>
              </a:ext>
            </a:extLst>
          </p:cNvPr>
          <p:cNvSpPr>
            <a:spLocks noGrp="1"/>
          </p:cNvSpPr>
          <p:nvPr>
            <p:ph idx="1"/>
          </p:nvPr>
        </p:nvSpPr>
        <p:spPr/>
        <p:txBody>
          <a:bodyPr/>
          <a:lstStyle/>
          <a:p>
            <a:r>
              <a:rPr lang="en-US" dirty="0"/>
              <a:t>implement a database about movies similar to </a:t>
            </a:r>
            <a:r>
              <a:rPr lang="en-US" dirty="0">
                <a:hlinkClick r:id="rId2"/>
              </a:rPr>
              <a:t>IMDb</a:t>
            </a:r>
            <a:r>
              <a:rPr lang="en-US" dirty="0"/>
              <a:t> </a:t>
            </a:r>
          </a:p>
          <a:p>
            <a:r>
              <a:rPr lang="en-US" dirty="0">
                <a:hlinkClick r:id="rId2"/>
              </a:rPr>
              <a:t>https://www.imdb.com/</a:t>
            </a:r>
            <a:endParaRPr lang="en-US" dirty="0"/>
          </a:p>
          <a:p>
            <a:endParaRPr lang="en-US" dirty="0"/>
          </a:p>
          <a:p>
            <a:r>
              <a:rPr lang="en-US" dirty="0"/>
              <a:t>fill the database with data – use </a:t>
            </a:r>
            <a:r>
              <a:rPr lang="en-US" dirty="0" err="1">
                <a:hlinkClick r:id="rId3"/>
              </a:rPr>
              <a:t>Mockaroo</a:t>
            </a:r>
            <a:r>
              <a:rPr lang="en-US" dirty="0">
                <a:hlinkClick r:id="rId3"/>
              </a:rPr>
              <a:t> - Random Data Generator and API Mocking Tool | JSON / CSV / SQL / Excel</a:t>
            </a:r>
            <a:endParaRPr lang="en-US" dirty="0"/>
          </a:p>
          <a:p>
            <a:r>
              <a:rPr lang="en-US" dirty="0">
                <a:hlinkClick r:id="rId3"/>
              </a:rPr>
              <a:t>https://mockaroo.com/</a:t>
            </a:r>
            <a:endParaRPr lang="en-US" dirty="0"/>
          </a:p>
          <a:p>
            <a:endParaRPr lang="en-US" dirty="0"/>
          </a:p>
        </p:txBody>
      </p:sp>
      <p:sp>
        <p:nvSpPr>
          <p:cNvPr id="4" name="Footer Placeholder 3">
            <a:extLst>
              <a:ext uri="{FF2B5EF4-FFF2-40B4-BE49-F238E27FC236}">
                <a16:creationId xmlns:a16="http://schemas.microsoft.com/office/drawing/2014/main" id="{453BEE59-B8EA-C5E8-4608-741E34F21A7F}"/>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3BC8EBBF-66AE-D301-7EBC-EF9C12F8C202}"/>
              </a:ext>
            </a:extLst>
          </p:cNvPr>
          <p:cNvSpPr>
            <a:spLocks noGrp="1"/>
          </p:cNvSpPr>
          <p:nvPr>
            <p:ph type="sldNum" sz="quarter" idx="12"/>
          </p:nvPr>
        </p:nvSpPr>
        <p:spPr/>
        <p:txBody>
          <a:bodyPr/>
          <a:lstStyle/>
          <a:p>
            <a:fld id="{DF05C15E-1453-4D65-918E-7489EA0EFEBE}" type="slidenum">
              <a:rPr lang="en-US" smtClean="0"/>
              <a:t>42</a:t>
            </a:fld>
            <a:endParaRPr lang="en-US"/>
          </a:p>
        </p:txBody>
      </p:sp>
    </p:spTree>
    <p:extLst>
      <p:ext uri="{BB962C8B-B14F-4D97-AF65-F5344CB8AC3E}">
        <p14:creationId xmlns:p14="http://schemas.microsoft.com/office/powerpoint/2010/main" val="33443689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01CCD-62F7-5ADC-17EB-43B7CB8F5E5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C41B6CA-017D-BEC0-93E5-8E0BE1C8AA28}"/>
              </a:ext>
            </a:extLst>
          </p:cNvPr>
          <p:cNvSpPr>
            <a:spLocks noGrp="1"/>
          </p:cNvSpPr>
          <p:nvPr>
            <p:ph idx="1"/>
          </p:nvPr>
        </p:nvSpPr>
        <p:spPr/>
        <p:txBody>
          <a:bodyPr/>
          <a:lstStyle/>
          <a:p>
            <a:endParaRPr lang="en-US" dirty="0"/>
          </a:p>
          <a:p>
            <a:r>
              <a:rPr lang="en-US" dirty="0"/>
              <a:t>there were 42 slides in presentation so far …</a:t>
            </a:r>
          </a:p>
          <a:p>
            <a:endParaRPr lang="en-US" dirty="0"/>
          </a:p>
        </p:txBody>
      </p:sp>
      <p:sp>
        <p:nvSpPr>
          <p:cNvPr id="4" name="Footer Placeholder 3">
            <a:extLst>
              <a:ext uri="{FF2B5EF4-FFF2-40B4-BE49-F238E27FC236}">
                <a16:creationId xmlns:a16="http://schemas.microsoft.com/office/drawing/2014/main" id="{54F77B0A-EAB7-E8D3-2584-D8419A8BC723}"/>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0F7FD1ED-AF3E-377D-D5ED-35B2E85CA521}"/>
              </a:ext>
            </a:extLst>
          </p:cNvPr>
          <p:cNvSpPr>
            <a:spLocks noGrp="1"/>
          </p:cNvSpPr>
          <p:nvPr>
            <p:ph type="sldNum" sz="quarter" idx="12"/>
          </p:nvPr>
        </p:nvSpPr>
        <p:spPr/>
        <p:txBody>
          <a:bodyPr/>
          <a:lstStyle/>
          <a:p>
            <a:fld id="{DF05C15E-1453-4D65-918E-7489EA0EFEBE}" type="slidenum">
              <a:rPr lang="en-US" smtClean="0"/>
              <a:t>43</a:t>
            </a:fld>
            <a:endParaRPr lang="en-US"/>
          </a:p>
        </p:txBody>
      </p:sp>
    </p:spTree>
    <p:extLst>
      <p:ext uri="{BB962C8B-B14F-4D97-AF65-F5344CB8AC3E}">
        <p14:creationId xmlns:p14="http://schemas.microsoft.com/office/powerpoint/2010/main" val="21842562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CEF5D-D152-92B7-BA07-66C1B8EC1775}"/>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F73DE72E-8D46-1E52-7FBF-32F0A54D0AC1}"/>
              </a:ext>
            </a:extLst>
          </p:cNvPr>
          <p:cNvSpPr>
            <a:spLocks noGrp="1"/>
          </p:cNvSpPr>
          <p:nvPr>
            <p:ph idx="1"/>
          </p:nvPr>
        </p:nvSpPr>
        <p:spPr/>
        <p:txBody>
          <a:bodyPr>
            <a:normAutofit/>
          </a:bodyPr>
          <a:lstStyle/>
          <a:p>
            <a:endParaRPr lang="en-US" sz="3200" dirty="0"/>
          </a:p>
          <a:p>
            <a:r>
              <a:rPr lang="en-US" sz="3200" dirty="0"/>
              <a:t>The Answer to </a:t>
            </a:r>
          </a:p>
          <a:p>
            <a:r>
              <a:rPr lang="en-US" sz="3200" dirty="0"/>
              <a:t>Ultimate Question of Life, the Universe, and Everything?</a:t>
            </a:r>
          </a:p>
        </p:txBody>
      </p:sp>
      <p:sp>
        <p:nvSpPr>
          <p:cNvPr id="4" name="Footer Placeholder 3">
            <a:extLst>
              <a:ext uri="{FF2B5EF4-FFF2-40B4-BE49-F238E27FC236}">
                <a16:creationId xmlns:a16="http://schemas.microsoft.com/office/drawing/2014/main" id="{8838F104-7035-EF5F-F2B9-5DAFA96250CB}"/>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0CE55FBA-C0ED-CA83-BCE5-2A09FD07C3BB}"/>
              </a:ext>
            </a:extLst>
          </p:cNvPr>
          <p:cNvSpPr>
            <a:spLocks noGrp="1"/>
          </p:cNvSpPr>
          <p:nvPr>
            <p:ph type="sldNum" sz="quarter" idx="12"/>
          </p:nvPr>
        </p:nvSpPr>
        <p:spPr/>
        <p:txBody>
          <a:bodyPr/>
          <a:lstStyle/>
          <a:p>
            <a:fld id="{DF05C15E-1453-4D65-918E-7489EA0EFEBE}" type="slidenum">
              <a:rPr lang="en-US" smtClean="0"/>
              <a:t>44</a:t>
            </a:fld>
            <a:endParaRPr lang="en-US"/>
          </a:p>
        </p:txBody>
      </p:sp>
    </p:spTree>
    <p:extLst>
      <p:ext uri="{BB962C8B-B14F-4D97-AF65-F5344CB8AC3E}">
        <p14:creationId xmlns:p14="http://schemas.microsoft.com/office/powerpoint/2010/main" val="4061513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BE6E9-0116-47F7-3F1D-A8FA40708D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90E5A1E-6124-EB46-D736-2A7F04911A93}"/>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9B8CA75A-11F2-4F4E-9274-7BA4DB7F35AE}"/>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AD99518A-8196-EA35-48E7-FA84B9087C1B}"/>
              </a:ext>
            </a:extLst>
          </p:cNvPr>
          <p:cNvSpPr>
            <a:spLocks noGrp="1"/>
          </p:cNvSpPr>
          <p:nvPr>
            <p:ph type="sldNum" sz="quarter" idx="12"/>
          </p:nvPr>
        </p:nvSpPr>
        <p:spPr/>
        <p:txBody>
          <a:bodyPr/>
          <a:lstStyle/>
          <a:p>
            <a:fld id="{DF05C15E-1453-4D65-918E-7489EA0EFEBE}" type="slidenum">
              <a:rPr lang="en-US" smtClean="0"/>
              <a:t>45</a:t>
            </a:fld>
            <a:endParaRPr lang="en-US"/>
          </a:p>
        </p:txBody>
      </p:sp>
      <p:pic>
        <p:nvPicPr>
          <p:cNvPr id="2050" name="Picture 2" descr="Allen Iverson Haircut">
            <a:extLst>
              <a:ext uri="{FF2B5EF4-FFF2-40B4-BE49-F238E27FC236}">
                <a16:creationId xmlns:a16="http://schemas.microsoft.com/office/drawing/2014/main" id="{8FA0EEF4-84B5-DA1A-AC13-5F68754CAE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2050" y="0"/>
            <a:ext cx="98679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52710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125D2-E008-27F3-379B-EF03E6CFC7E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5C401BA-E67A-F171-F374-99BDD3A4619C}"/>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64EE5107-EBC9-3363-0AC6-377FE6662920}"/>
              </a:ext>
            </a:extLst>
          </p:cNvPr>
          <p:cNvSpPr>
            <a:spLocks noGrp="1"/>
          </p:cNvSpPr>
          <p:nvPr>
            <p:ph type="ftr" sz="quarter" idx="11"/>
          </p:nvPr>
        </p:nvSpPr>
        <p:spPr/>
        <p:txBody>
          <a:bodyPr/>
          <a:lstStyle/>
          <a:p>
            <a:r>
              <a:rPr lang="en-US"/>
              <a:t>DataBase with PostgreSQL</a:t>
            </a:r>
          </a:p>
        </p:txBody>
      </p:sp>
      <p:sp>
        <p:nvSpPr>
          <p:cNvPr id="5" name="Slide Number Placeholder 4">
            <a:extLst>
              <a:ext uri="{FF2B5EF4-FFF2-40B4-BE49-F238E27FC236}">
                <a16:creationId xmlns:a16="http://schemas.microsoft.com/office/drawing/2014/main" id="{FB6226AB-550F-0491-8FCF-8A20EA81F441}"/>
              </a:ext>
            </a:extLst>
          </p:cNvPr>
          <p:cNvSpPr>
            <a:spLocks noGrp="1"/>
          </p:cNvSpPr>
          <p:nvPr>
            <p:ph type="sldNum" sz="quarter" idx="12"/>
          </p:nvPr>
        </p:nvSpPr>
        <p:spPr/>
        <p:txBody>
          <a:bodyPr/>
          <a:lstStyle/>
          <a:p>
            <a:fld id="{DF05C15E-1453-4D65-918E-7489EA0EFEBE}" type="slidenum">
              <a:rPr lang="en-US" smtClean="0"/>
              <a:t>46</a:t>
            </a:fld>
            <a:endParaRPr lang="en-US"/>
          </a:p>
        </p:txBody>
      </p:sp>
      <p:pic>
        <p:nvPicPr>
          <p:cNvPr id="1026" name="Picture 2" descr="Allen Iverson Height: How Tall Is The NBA Legend?">
            <a:extLst>
              <a:ext uri="{FF2B5EF4-FFF2-40B4-BE49-F238E27FC236}">
                <a16:creationId xmlns:a16="http://schemas.microsoft.com/office/drawing/2014/main" id="{D9373F29-86E5-5484-58B5-257E88967E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0480" y="-91440"/>
            <a:ext cx="5760720" cy="7200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3600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2D1F13D339BA04089B6530E3063BBB0" ma:contentTypeVersion="3" ma:contentTypeDescription="Create a new document." ma:contentTypeScope="" ma:versionID="53edffdedc90a5cc23417a2d239f45a4">
  <xsd:schema xmlns:xsd="http://www.w3.org/2001/XMLSchema" xmlns:xs="http://www.w3.org/2001/XMLSchema" xmlns:p="http://schemas.microsoft.com/office/2006/metadata/properties" xmlns:ns2="a1338ef3-f957-4fbb-b33a-3b606fe126b3" targetNamespace="http://schemas.microsoft.com/office/2006/metadata/properties" ma:root="true" ma:fieldsID="9f407ff9521a5dcbcc967750435157a3" ns2:_="">
    <xsd:import namespace="a1338ef3-f957-4fbb-b33a-3b606fe126b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338ef3-f957-4fbb-b33a-3b606fe126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E8BF8D4-D863-4E50-BA6A-34888A9F0E78}">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D3A54FFE-5E8B-4E9C-99EA-714907EC7F4C}">
  <ds:schemaRefs>
    <ds:schemaRef ds:uri="http://schemas.microsoft.com/sharepoint/v3/contenttype/forms"/>
  </ds:schemaRefs>
</ds:datastoreItem>
</file>

<file path=customXml/itemProps3.xml><?xml version="1.0" encoding="utf-8"?>
<ds:datastoreItem xmlns:ds="http://schemas.openxmlformats.org/officeDocument/2006/customXml" ds:itemID="{D27D5E48-E654-4521-A3E1-26753B153786}"/>
</file>

<file path=docProps/app.xml><?xml version="1.0" encoding="utf-8"?>
<Properties xmlns="http://schemas.openxmlformats.org/officeDocument/2006/extended-properties" xmlns:vt="http://schemas.openxmlformats.org/officeDocument/2006/docPropsVTypes">
  <TotalTime>1587</TotalTime>
  <Words>2018</Words>
  <Application>Microsoft Office PowerPoint</Application>
  <PresentationFormat>Widescreen</PresentationFormat>
  <Paragraphs>227</Paragraphs>
  <Slides>46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Arial</vt:lpstr>
      <vt:lpstr>Calibri</vt:lpstr>
      <vt:lpstr>Calibri Light</vt:lpstr>
      <vt:lpstr>Courier New</vt:lpstr>
      <vt:lpstr>Office Theme</vt:lpstr>
      <vt:lpstr>DataBase with PostgreSQL</vt:lpstr>
      <vt:lpstr>PowerPoint Presentation</vt:lpstr>
      <vt:lpstr>Constraint!</vt:lpstr>
      <vt:lpstr>PowerPoint Presentation</vt:lpstr>
      <vt:lpstr>Declarative</vt:lpstr>
      <vt:lpstr>PowerPoint Presentation</vt:lpstr>
      <vt:lpstr>Constraints on a Single Relation</vt:lpstr>
      <vt:lpstr>Not NULL Constraint</vt:lpstr>
      <vt:lpstr>Unique Constraint</vt:lpstr>
      <vt:lpstr>Check Constraint</vt:lpstr>
      <vt:lpstr>PowerPoint Presentation</vt:lpstr>
      <vt:lpstr>Referential Integrity</vt:lpstr>
      <vt:lpstr>PowerPoint Presentation</vt:lpstr>
      <vt:lpstr>PowerPoint Presentation</vt:lpstr>
      <vt:lpstr>PowerPoint Presentation</vt:lpstr>
      <vt:lpstr>CHECK Constraint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Working with images</vt:lpstr>
      <vt:lpstr>PowerPoint Presentation</vt:lpstr>
      <vt:lpstr>browse and select file</vt:lpstr>
      <vt:lpstr>Save</vt:lpstr>
      <vt:lpstr>PowerPoint Presentation</vt:lpstr>
      <vt:lpstr>PowerPoint Presentation</vt:lpstr>
      <vt:lpstr>Tool bar</vt:lpstr>
      <vt:lpstr>Transform into a serial</vt:lpstr>
      <vt:lpstr>PowerPoint Presentation</vt:lpstr>
      <vt:lpstr>Self Join</vt:lpstr>
      <vt:lpstr>PowerPoint Presentation</vt:lpstr>
      <vt:lpstr>Views</vt:lpstr>
      <vt:lpstr>PowerPoint Presentation</vt:lpstr>
      <vt:lpstr>PowerPoint Presentation</vt:lpstr>
      <vt:lpstr>PowerPoint Presentation</vt:lpstr>
      <vt:lpstr>Exercise</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with PostgreSQL</dc:title>
  <dc:creator>Calin Cenan</dc:creator>
  <cp:lastModifiedBy>Calin Cenan</cp:lastModifiedBy>
  <cp:revision>91</cp:revision>
  <dcterms:created xsi:type="dcterms:W3CDTF">2021-01-09T16:08:19Z</dcterms:created>
  <dcterms:modified xsi:type="dcterms:W3CDTF">2025-11-10T15:22:26Z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0x01010042D1F13D339BA04089B6530E3063BBB0</vt:lpwstr>
  </property>
  <property fmtid="{D5CDD505-2E9C-101B-9397-08002B2CF9AE}" pid="3" name="MSIP_Label_5b58b62f-6f94-46bd-8089-18e64b0a9abb_Enabled">
    <vt:lpwstr>true</vt:lpwstr>
  </property>
  <property fmtid="{D5CDD505-2E9C-101B-9397-08002B2CF9AE}" pid="4" name="MSIP_Label_5b58b62f-6f94-46bd-8089-18e64b0a9abb_SetDate">
    <vt:lpwstr>2023-11-06T09:28:51Z</vt:lpwstr>
  </property>
  <property fmtid="{D5CDD505-2E9C-101B-9397-08002B2CF9AE}" pid="5" name="MSIP_Label_5b58b62f-6f94-46bd-8089-18e64b0a9abb_Method">
    <vt:lpwstr>Standard</vt:lpwstr>
  </property>
  <property fmtid="{D5CDD505-2E9C-101B-9397-08002B2CF9AE}" pid="6" name="MSIP_Label_5b58b62f-6f94-46bd-8089-18e64b0a9abb_Name">
    <vt:lpwstr>defa4170-0d19-0005-0004-bc88714345d2</vt:lpwstr>
  </property>
  <property fmtid="{D5CDD505-2E9C-101B-9397-08002B2CF9AE}" pid="7" name="MSIP_Label_5b58b62f-6f94-46bd-8089-18e64b0a9abb_SiteId">
    <vt:lpwstr>a6eb79fa-c4a9-4cce-818d-b85274d15305</vt:lpwstr>
  </property>
  <property fmtid="{D5CDD505-2E9C-101B-9397-08002B2CF9AE}" pid="8" name="MSIP_Label_5b58b62f-6f94-46bd-8089-18e64b0a9abb_ActionId">
    <vt:lpwstr>e50ec3d3-af3b-4635-bffd-235a209df665</vt:lpwstr>
  </property>
  <property fmtid="{D5CDD505-2E9C-101B-9397-08002B2CF9AE}" pid="9" name="MSIP_Label_5b58b62f-6f94-46bd-8089-18e64b0a9abb_ContentBits">
    <vt:lpwstr>0</vt:lpwstr>
  </property>
</Properties>
</file>