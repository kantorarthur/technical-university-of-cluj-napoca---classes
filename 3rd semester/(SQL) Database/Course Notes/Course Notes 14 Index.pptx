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56" r:id="rId2"/>
    <p:sldId id="257" r:id="rId3"/>
    <p:sldId id="259" r:id="rId4"/>
    <p:sldId id="260" r:id="rId5"/>
    <p:sldId id="261" r:id="rId6"/>
    <p:sldId id="262" r:id="rId7"/>
    <p:sldId id="263" r:id="rId8"/>
    <p:sldId id="264" r:id="rId9"/>
    <p:sldId id="265" r:id="rId10"/>
    <p:sldId id="266" r:id="rId11"/>
    <p:sldId id="269"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294" r:id="rId40"/>
    <p:sldId id="296" r:id="rId41"/>
    <p:sldId id="297" r:id="rId42"/>
    <p:sldId id="298" r:id="rId43"/>
    <p:sldId id="302" r:id="rId44"/>
    <p:sldId id="303" r:id="rId45"/>
    <p:sldId id="304" r:id="rId46"/>
    <p:sldId id="305" r:id="rId47"/>
    <p:sldId id="306" r:id="rId48"/>
    <p:sldId id="307" r:id="rId49"/>
    <p:sldId id="308" r:id="rId50"/>
    <p:sldId id="309" r:id="rId51"/>
    <p:sldId id="310" r:id="rId52"/>
    <p:sldId id="311" r:id="rId53"/>
    <p:sldId id="312" r:id="rId54"/>
    <p:sldId id="301" r:id="rId55"/>
    <p:sldId id="299" r:id="rId56"/>
    <p:sldId id="300" r:id="rId57"/>
    <p:sldId id="313" r:id="rId58"/>
    <p:sldId id="314" r:id="rId59"/>
    <p:sldId id="315" r:id="rId60"/>
    <p:sldId id="316" r:id="rId61"/>
    <p:sldId id="317" r:id="rId62"/>
    <p:sldId id="402" r:id="rId63"/>
    <p:sldId id="403" r:id="rId64"/>
    <p:sldId id="404" r:id="rId65"/>
    <p:sldId id="405" r:id="rId66"/>
    <p:sldId id="406" r:id="rId67"/>
    <p:sldId id="407" r:id="rId68"/>
    <p:sldId id="408" r:id="rId69"/>
    <p:sldId id="409" r:id="rId70"/>
    <p:sldId id="410" r:id="rId71"/>
    <p:sldId id="411" r:id="rId72"/>
    <p:sldId id="418" r:id="rId73"/>
    <p:sldId id="412" r:id="rId74"/>
    <p:sldId id="413" r:id="rId75"/>
    <p:sldId id="414" r:id="rId76"/>
    <p:sldId id="415" r:id="rId77"/>
    <p:sldId id="416" r:id="rId78"/>
    <p:sldId id="417" r:id="rId79"/>
    <p:sldId id="420" r:id="rId80"/>
    <p:sldId id="419" r:id="rId81"/>
    <p:sldId id="421" r:id="rId82"/>
    <p:sldId id="422" r:id="rId83"/>
    <p:sldId id="423" r:id="rId84"/>
    <p:sldId id="424"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E877D6D6-046D-4B67-8F87-A45D6DD0F7AD}" type="datetime1">
              <a:rPr lang="en-US" smtClean="0"/>
              <a:t>1/7/2026</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05D6575C-E365-4DE2-BBCE-001BE23571D5}" type="datetime1">
              <a:rPr lang="en-US" smtClean="0"/>
              <a:t>1/7/2026</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B8AFD193-D25A-4EE3-A976-93FF34BEF813}" type="datetime1">
              <a:rPr lang="en-US" smtClean="0"/>
              <a:t>1/7/2026</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DBAC4C9B-090C-4C66-9EB1-2F446FC69F6E}" type="datetime1">
              <a:rPr lang="en-US" smtClean="0"/>
              <a:t>1/7/2026</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E1377D18-EEC6-4CF8-A2B8-0FFD268EA730}" type="datetime1">
              <a:rPr lang="en-US" smtClean="0"/>
              <a:t>1/7/2026</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634BA337-DB4A-4284-97A1-68F9553B32D7}" type="datetime1">
              <a:rPr lang="en-US" smtClean="0"/>
              <a:t>1/7/2026</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DDF5211C-D049-4C28-BEE9-F4AD810BF74B}" type="datetime1">
              <a:rPr lang="en-US" smtClean="0"/>
              <a:t>1/7/2026</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EF2CB13D-2A93-43D8-A284-FFE97C6C06BC}" type="datetime1">
              <a:rPr lang="en-US" smtClean="0"/>
              <a:t>1/7/2026</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69D43C1A-5B59-4C85-AACE-4D970855F0DC}" type="datetime1">
              <a:rPr lang="en-US" smtClean="0"/>
              <a:t>1/7/2026</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B3A51C3C-907E-4368-BE24-1EBBFBCFCFC4}" type="datetime1">
              <a:rPr lang="en-US" smtClean="0"/>
              <a:t>1/7/2026</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127FE9C8-2BE6-44FD-B385-1FA30829E222}" type="datetime1">
              <a:rPr lang="en-US" smtClean="0"/>
              <a:t>1/7/2026</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9E9F90-655B-41D5-9327-82B980415701}" type="datetime1">
              <a:rPr lang="en-US" smtClean="0"/>
              <a:t>1/7/2026</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s://www.youtube.com/watch?v=3JWTaaS7L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B2C80-9FD9-EF84-AA9E-F999B4B5F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4C62C-0C1C-AA5D-C342-D3FEFC2861A1}"/>
              </a:ext>
            </a:extLst>
          </p:cNvPr>
          <p:cNvSpPr>
            <a:spLocks noGrp="1"/>
          </p:cNvSpPr>
          <p:nvPr>
            <p:ph type="ctrTitle"/>
          </p:nvPr>
        </p:nvSpPr>
        <p:spPr/>
        <p:txBody>
          <a:bodyPr/>
          <a:lstStyle/>
          <a:p>
            <a:r>
              <a:rPr lang="en-US" dirty="0" err="1"/>
              <a:t>DataBase</a:t>
            </a:r>
            <a:r>
              <a:rPr lang="en-US" dirty="0"/>
              <a:t> Design </a:t>
            </a:r>
          </a:p>
        </p:txBody>
      </p:sp>
      <p:sp>
        <p:nvSpPr>
          <p:cNvPr id="3" name="Subtitle 2">
            <a:extLst>
              <a:ext uri="{FF2B5EF4-FFF2-40B4-BE49-F238E27FC236}">
                <a16:creationId xmlns:a16="http://schemas.microsoft.com/office/drawing/2014/main" id="{FEF81BAB-2277-111D-30A9-7BC0984575BA}"/>
              </a:ext>
            </a:extLst>
          </p:cNvPr>
          <p:cNvSpPr>
            <a:spLocks noGrp="1"/>
          </p:cNvSpPr>
          <p:nvPr>
            <p:ph type="subTitle" idx="1"/>
          </p:nvPr>
        </p:nvSpPr>
        <p:spPr/>
        <p:txBody>
          <a:bodyPr>
            <a:normAutofit/>
          </a:bodyPr>
          <a:lstStyle/>
          <a:p>
            <a:r>
              <a:rPr lang="en-US" sz="3600" b="1" dirty="0"/>
              <a:t>Index</a:t>
            </a:r>
            <a:endParaRPr lang="en-US" sz="3600" dirty="0"/>
          </a:p>
        </p:txBody>
      </p:sp>
      <p:sp>
        <p:nvSpPr>
          <p:cNvPr id="4" name="Slide Number Placeholder 3">
            <a:extLst>
              <a:ext uri="{FF2B5EF4-FFF2-40B4-BE49-F238E27FC236}">
                <a16:creationId xmlns:a16="http://schemas.microsoft.com/office/drawing/2014/main" id="{5CC32E51-21AB-E06B-DF4E-89A4006AAB49}"/>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137935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CA5DA-52F7-B10D-77B0-1A3F19CCCB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8B67FD-ACA4-A767-C83C-189F355E3E7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95C0439-160B-0861-5B1B-DD2268F4F1AD}"/>
              </a:ext>
            </a:extLst>
          </p:cNvPr>
          <p:cNvSpPr>
            <a:spLocks noGrp="1"/>
          </p:cNvSpPr>
          <p:nvPr>
            <p:ph type="sldNum" sz="quarter" idx="12"/>
          </p:nvPr>
        </p:nvSpPr>
        <p:spPr/>
        <p:txBody>
          <a:bodyPr/>
          <a:lstStyle/>
          <a:p>
            <a:fld id="{6264BDCF-5269-49AC-A246-ED26C2B980E3}" type="slidenum">
              <a:rPr lang="en-US" smtClean="0"/>
              <a:t>3</a:t>
            </a:fld>
            <a:endParaRPr lang="en-US"/>
          </a:p>
        </p:txBody>
      </p:sp>
      <p:pic>
        <p:nvPicPr>
          <p:cNvPr id="1026" name="Picture 2" descr="Detail from The Creation of Adam, a fresco painting by Michelangelo">
            <a:extLst>
              <a:ext uri="{FF2B5EF4-FFF2-40B4-BE49-F238E27FC236}">
                <a16:creationId xmlns:a16="http://schemas.microsoft.com/office/drawing/2014/main" id="{94AC2828-84E4-9836-8F2E-8F8A4B350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6080" y="1097269"/>
            <a:ext cx="7527798" cy="4948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987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CAB1-CB8C-202C-CB60-6DC1DE161A92}"/>
              </a:ext>
            </a:extLst>
          </p:cNvPr>
          <p:cNvSpPr>
            <a:spLocks noGrp="1"/>
          </p:cNvSpPr>
          <p:nvPr>
            <p:ph type="title"/>
          </p:nvPr>
        </p:nvSpPr>
        <p:spPr/>
        <p:txBody>
          <a:bodyPr/>
          <a:lstStyle/>
          <a:p>
            <a:r>
              <a:rPr lang="en-US" dirty="0"/>
              <a:t>Indexing</a:t>
            </a:r>
          </a:p>
        </p:txBody>
      </p:sp>
      <p:sp>
        <p:nvSpPr>
          <p:cNvPr id="3" name="Content Placeholder 2">
            <a:extLst>
              <a:ext uri="{FF2B5EF4-FFF2-40B4-BE49-F238E27FC236}">
                <a16:creationId xmlns:a16="http://schemas.microsoft.com/office/drawing/2014/main" id="{93FC6E31-A3B5-E5C4-E1A3-62A1AF2416C0}"/>
              </a:ext>
            </a:extLst>
          </p:cNvPr>
          <p:cNvSpPr>
            <a:spLocks noGrp="1"/>
          </p:cNvSpPr>
          <p:nvPr>
            <p:ph idx="1"/>
          </p:nvPr>
        </p:nvSpPr>
        <p:spPr/>
        <p:txBody>
          <a:bodyPr>
            <a:normAutofit/>
          </a:bodyPr>
          <a:lstStyle/>
          <a:p>
            <a:r>
              <a:rPr lang="en-US" dirty="0"/>
              <a:t>many queries reference only small proportion of records / rows in file / table</a:t>
            </a:r>
          </a:p>
          <a:p>
            <a:r>
              <a:rPr lang="en-US" dirty="0"/>
              <a:t>inefficient for database system to read every tuple in relation, database system should be able to locate records directly</a:t>
            </a:r>
          </a:p>
          <a:p>
            <a:r>
              <a:rPr lang="en-US" dirty="0"/>
              <a:t>to allow these forms of access, to speed up queries, we design additional structures that we associate with tables</a:t>
            </a:r>
          </a:p>
        </p:txBody>
      </p:sp>
      <p:sp>
        <p:nvSpPr>
          <p:cNvPr id="4" name="Slide Number Placeholder 3">
            <a:extLst>
              <a:ext uri="{FF2B5EF4-FFF2-40B4-BE49-F238E27FC236}">
                <a16:creationId xmlns:a16="http://schemas.microsoft.com/office/drawing/2014/main" id="{8207742F-8927-7F88-A9F3-8159E657D569}"/>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3930725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2E94-2CDC-0860-A9A1-B79285E0A17F}"/>
              </a:ext>
            </a:extLst>
          </p:cNvPr>
          <p:cNvSpPr>
            <a:spLocks noGrp="1"/>
          </p:cNvSpPr>
          <p:nvPr>
            <p:ph type="title"/>
          </p:nvPr>
        </p:nvSpPr>
        <p:spPr/>
        <p:txBody>
          <a:bodyPr/>
          <a:lstStyle/>
          <a:p>
            <a:r>
              <a:rPr lang="en-US" dirty="0"/>
              <a:t>Indexing</a:t>
            </a:r>
          </a:p>
        </p:txBody>
      </p:sp>
      <p:sp>
        <p:nvSpPr>
          <p:cNvPr id="3" name="Content Placeholder 2">
            <a:extLst>
              <a:ext uri="{FF2B5EF4-FFF2-40B4-BE49-F238E27FC236}">
                <a16:creationId xmlns:a16="http://schemas.microsoft.com/office/drawing/2014/main" id="{F9EFA04C-E3BF-86F9-9CDD-A2C9CAF59DD8}"/>
              </a:ext>
            </a:extLst>
          </p:cNvPr>
          <p:cNvSpPr>
            <a:spLocks noGrp="1"/>
          </p:cNvSpPr>
          <p:nvPr>
            <p:ph idx="1"/>
          </p:nvPr>
        </p:nvSpPr>
        <p:spPr/>
        <p:txBody>
          <a:bodyPr>
            <a:normAutofit/>
          </a:bodyPr>
          <a:lstStyle/>
          <a:p>
            <a:r>
              <a:rPr lang="en-US" dirty="0"/>
              <a:t>index for a file in database system works in much the same way as index in a textbook</a:t>
            </a:r>
          </a:p>
          <a:p>
            <a:r>
              <a:rPr lang="en-US" dirty="0"/>
              <a:t>search for topic in index at the back of the book, find pages where it occurs, and then read pages to find information which we are looking</a:t>
            </a:r>
          </a:p>
          <a:p>
            <a:r>
              <a:rPr lang="en-US" dirty="0"/>
              <a:t>words in the index are in sorted order, making it easy to find the word we want; index is much smaller than the book, further reducing effort</a:t>
            </a:r>
          </a:p>
        </p:txBody>
      </p:sp>
      <p:sp>
        <p:nvSpPr>
          <p:cNvPr id="4" name="Slide Number Placeholder 3">
            <a:extLst>
              <a:ext uri="{FF2B5EF4-FFF2-40B4-BE49-F238E27FC236}">
                <a16:creationId xmlns:a16="http://schemas.microsoft.com/office/drawing/2014/main" id="{B1AE0179-1A8A-0612-0EAE-C57ADEBED5DA}"/>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494917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6615D-A922-B62D-7AF4-55B8113E2A8D}"/>
              </a:ext>
            </a:extLst>
          </p:cNvPr>
          <p:cNvSpPr>
            <a:spLocks noGrp="1"/>
          </p:cNvSpPr>
          <p:nvPr>
            <p:ph type="title"/>
          </p:nvPr>
        </p:nvSpPr>
        <p:spPr/>
        <p:txBody>
          <a:bodyPr/>
          <a:lstStyle/>
          <a:p>
            <a:r>
              <a:rPr lang="en-US" dirty="0"/>
              <a:t>two basic kinds of indexes</a:t>
            </a:r>
          </a:p>
        </p:txBody>
      </p:sp>
      <p:sp>
        <p:nvSpPr>
          <p:cNvPr id="3" name="Content Placeholder 2">
            <a:extLst>
              <a:ext uri="{FF2B5EF4-FFF2-40B4-BE49-F238E27FC236}">
                <a16:creationId xmlns:a16="http://schemas.microsoft.com/office/drawing/2014/main" id="{16004E39-3DBA-B4F9-D90F-8F612F3E3BEB}"/>
              </a:ext>
            </a:extLst>
          </p:cNvPr>
          <p:cNvSpPr>
            <a:spLocks noGrp="1"/>
          </p:cNvSpPr>
          <p:nvPr>
            <p:ph idx="1"/>
          </p:nvPr>
        </p:nvSpPr>
        <p:spPr/>
        <p:txBody>
          <a:bodyPr/>
          <a:lstStyle/>
          <a:p>
            <a:pPr marL="514350" indent="-514350">
              <a:buFont typeface="+mj-lt"/>
              <a:buAutoNum type="arabicPeriod"/>
            </a:pPr>
            <a:r>
              <a:rPr lang="en-US" dirty="0"/>
              <a:t>Ordered indexes - based on a sorted ordering of the values</a:t>
            </a:r>
          </a:p>
          <a:p>
            <a:pPr marL="514350" indent="-514350">
              <a:buFont typeface="+mj-lt"/>
              <a:buAutoNum type="arabicPeriod"/>
            </a:pPr>
            <a:r>
              <a:rPr lang="en-US" dirty="0"/>
              <a:t>Hash indexes - based on a uniform distribution of values across a range of buckets; the bucket to which a value is assigned is determined by a </a:t>
            </a:r>
            <a:r>
              <a:rPr lang="en-US" i="1" dirty="0"/>
              <a:t>hash function</a:t>
            </a:r>
            <a:endParaRPr lang="en-US" dirty="0"/>
          </a:p>
        </p:txBody>
      </p:sp>
      <p:sp>
        <p:nvSpPr>
          <p:cNvPr id="4" name="Slide Number Placeholder 3">
            <a:extLst>
              <a:ext uri="{FF2B5EF4-FFF2-40B4-BE49-F238E27FC236}">
                <a16:creationId xmlns:a16="http://schemas.microsoft.com/office/drawing/2014/main" id="{8948A40E-1DCF-E743-D8B9-E0637DE846C3}"/>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1900364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7112F-8AA6-B331-688C-19DD7934BFED}"/>
              </a:ext>
            </a:extLst>
          </p:cNvPr>
          <p:cNvSpPr>
            <a:spLocks noGrp="1"/>
          </p:cNvSpPr>
          <p:nvPr>
            <p:ph type="title"/>
          </p:nvPr>
        </p:nvSpPr>
        <p:spPr/>
        <p:txBody>
          <a:bodyPr/>
          <a:lstStyle/>
          <a:p>
            <a:r>
              <a:rPr lang="en-US" dirty="0"/>
              <a:t>Search key</a:t>
            </a:r>
          </a:p>
        </p:txBody>
      </p:sp>
      <p:sp>
        <p:nvSpPr>
          <p:cNvPr id="3" name="Content Placeholder 2">
            <a:extLst>
              <a:ext uri="{FF2B5EF4-FFF2-40B4-BE49-F238E27FC236}">
                <a16:creationId xmlns:a16="http://schemas.microsoft.com/office/drawing/2014/main" id="{0FA7EB65-F096-6261-2347-949211D9F857}"/>
              </a:ext>
            </a:extLst>
          </p:cNvPr>
          <p:cNvSpPr>
            <a:spLocks noGrp="1"/>
          </p:cNvSpPr>
          <p:nvPr>
            <p:ph idx="1"/>
          </p:nvPr>
        </p:nvSpPr>
        <p:spPr/>
        <p:txBody>
          <a:bodyPr>
            <a:normAutofit/>
          </a:bodyPr>
          <a:lstStyle/>
          <a:p>
            <a:r>
              <a:rPr lang="en-US" dirty="0"/>
              <a:t>often want to have more than one index for a file</a:t>
            </a:r>
          </a:p>
          <a:p>
            <a:r>
              <a:rPr lang="en-US" dirty="0"/>
              <a:t>for example, we may wish to search for book by author, by subject, or by title</a:t>
            </a:r>
          </a:p>
          <a:p>
            <a:r>
              <a:rPr lang="en-US" dirty="0"/>
              <a:t>attribute or set of attributes used to look up records in a file is called </a:t>
            </a:r>
            <a:r>
              <a:rPr lang="en-US" i="1" dirty="0"/>
              <a:t>search key</a:t>
            </a:r>
            <a:r>
              <a:rPr lang="en-US" dirty="0"/>
              <a:t>; definition of </a:t>
            </a:r>
            <a:r>
              <a:rPr lang="en-US" i="1" dirty="0"/>
              <a:t>key </a:t>
            </a:r>
            <a:r>
              <a:rPr lang="en-US" dirty="0"/>
              <a:t>differs from that used in </a:t>
            </a:r>
            <a:r>
              <a:rPr lang="en-US" i="1" dirty="0"/>
              <a:t>primary key, candidate key, </a:t>
            </a:r>
            <a:r>
              <a:rPr lang="en-US" dirty="0"/>
              <a:t>and </a:t>
            </a:r>
            <a:r>
              <a:rPr lang="en-US" i="1" dirty="0" err="1"/>
              <a:t>superkey</a:t>
            </a:r>
            <a:r>
              <a:rPr lang="en-US" i="1" dirty="0"/>
              <a:t> - </a:t>
            </a:r>
          </a:p>
          <a:p>
            <a:r>
              <a:rPr lang="en-US" dirty="0"/>
              <a:t>if there are several indexes on a file, there are several search keys</a:t>
            </a:r>
          </a:p>
        </p:txBody>
      </p:sp>
      <p:sp>
        <p:nvSpPr>
          <p:cNvPr id="4" name="Slide Number Placeholder 3">
            <a:extLst>
              <a:ext uri="{FF2B5EF4-FFF2-40B4-BE49-F238E27FC236}">
                <a16:creationId xmlns:a16="http://schemas.microsoft.com/office/drawing/2014/main" id="{68FA7E47-4A20-E10F-8588-C692F3462963}"/>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3711501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9CBCB-CFCA-0A27-40E6-E564904E3420}"/>
              </a:ext>
            </a:extLst>
          </p:cNvPr>
          <p:cNvSpPr>
            <a:spLocks noGrp="1"/>
          </p:cNvSpPr>
          <p:nvPr>
            <p:ph type="title"/>
          </p:nvPr>
        </p:nvSpPr>
        <p:spPr/>
        <p:txBody>
          <a:bodyPr/>
          <a:lstStyle/>
          <a:p>
            <a:r>
              <a:rPr lang="en-US" dirty="0"/>
              <a:t>Ordered indexes</a:t>
            </a:r>
          </a:p>
        </p:txBody>
      </p:sp>
      <p:sp>
        <p:nvSpPr>
          <p:cNvPr id="3" name="Content Placeholder 2">
            <a:extLst>
              <a:ext uri="{FF2B5EF4-FFF2-40B4-BE49-F238E27FC236}">
                <a16:creationId xmlns:a16="http://schemas.microsoft.com/office/drawing/2014/main" id="{7CB14D34-31EA-CC15-383B-CA01E51432C3}"/>
              </a:ext>
            </a:extLst>
          </p:cNvPr>
          <p:cNvSpPr>
            <a:spLocks noGrp="1"/>
          </p:cNvSpPr>
          <p:nvPr>
            <p:ph idx="1"/>
          </p:nvPr>
        </p:nvSpPr>
        <p:spPr>
          <a:xfrm>
            <a:off x="838200" y="1258529"/>
            <a:ext cx="10515600" cy="4918434"/>
          </a:xfrm>
        </p:spPr>
        <p:txBody>
          <a:bodyPr>
            <a:normAutofit lnSpcReduction="10000"/>
          </a:bodyPr>
          <a:lstStyle/>
          <a:p>
            <a:r>
              <a:rPr lang="en-US" dirty="0"/>
              <a:t>stores values of search keys in sorted order and associates with each search key the records that contain it</a:t>
            </a:r>
          </a:p>
          <a:p>
            <a:r>
              <a:rPr lang="en-US" dirty="0"/>
              <a:t>if file containing records is sequentially ordered, a </a:t>
            </a:r>
            <a:r>
              <a:rPr lang="en-US" i="1" dirty="0"/>
              <a:t>clustering index</a:t>
            </a:r>
            <a:r>
              <a:rPr lang="en-US" b="1" dirty="0"/>
              <a:t> </a:t>
            </a:r>
            <a:r>
              <a:rPr lang="en-US" dirty="0"/>
              <a:t>is an index whose search key also defines the sequential order of file</a:t>
            </a:r>
          </a:p>
          <a:p>
            <a:r>
              <a:rPr lang="en-US" dirty="0"/>
              <a:t>clustering indexes are also called </a:t>
            </a:r>
            <a:r>
              <a:rPr lang="en-US" i="1" dirty="0"/>
              <a:t>primary indexes</a:t>
            </a:r>
            <a:r>
              <a:rPr lang="en-US" dirty="0"/>
              <a:t>; the term primary index may appear to denote index on primary key, but such indexes can in fact be built on any search key - search key of clustering index is often the primary key, although that is not necessarily so</a:t>
            </a:r>
          </a:p>
          <a:p>
            <a:r>
              <a:rPr lang="en-US" dirty="0"/>
              <a:t>indexes whose search key specifies an order different from sequential order of the file are called non-clustering indexes, or secondary indexes</a:t>
            </a:r>
          </a:p>
          <a:p>
            <a:r>
              <a:rPr lang="en-US" dirty="0"/>
              <a:t>files with clustering index are called </a:t>
            </a:r>
            <a:r>
              <a:rPr lang="en-US" i="1" dirty="0"/>
              <a:t>index-sequential files</a:t>
            </a:r>
          </a:p>
        </p:txBody>
      </p:sp>
      <p:sp>
        <p:nvSpPr>
          <p:cNvPr id="4" name="Slide Number Placeholder 3">
            <a:extLst>
              <a:ext uri="{FF2B5EF4-FFF2-40B4-BE49-F238E27FC236}">
                <a16:creationId xmlns:a16="http://schemas.microsoft.com/office/drawing/2014/main" id="{29342A7E-0CE4-BE92-34A2-0D336CC3C200}"/>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1868471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3D5E2-734A-22B7-FFD1-A830A3BC3D5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55F04FF-7A11-DDD0-E00E-4205C00D4F4D}"/>
              </a:ext>
            </a:extLst>
          </p:cNvPr>
          <p:cNvSpPr>
            <a:spLocks noGrp="1"/>
          </p:cNvSpPr>
          <p:nvPr>
            <p:ph idx="1"/>
          </p:nvPr>
        </p:nvSpPr>
        <p:spPr/>
        <p:txBody>
          <a:bodyPr>
            <a:normAutofit/>
          </a:bodyPr>
          <a:lstStyle/>
          <a:p>
            <a:r>
              <a:rPr lang="en-US" dirty="0"/>
              <a:t>index entry, or index record, consists of a search-key value and pointers to one or more records with that value as their search-key value</a:t>
            </a:r>
          </a:p>
          <a:p>
            <a:r>
              <a:rPr lang="en-US" dirty="0"/>
              <a:t>pointer to record consists of identifier of a disk block and an offset within disk block to identify record within block</a:t>
            </a:r>
          </a:p>
        </p:txBody>
      </p:sp>
      <p:sp>
        <p:nvSpPr>
          <p:cNvPr id="4" name="Slide Number Placeholder 3">
            <a:extLst>
              <a:ext uri="{FF2B5EF4-FFF2-40B4-BE49-F238E27FC236}">
                <a16:creationId xmlns:a16="http://schemas.microsoft.com/office/drawing/2014/main" id="{36AC637B-6D02-9F3F-F97B-776056365375}"/>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3862591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79A17-551E-CC2F-CACD-1467E6B424A1}"/>
              </a:ext>
            </a:extLst>
          </p:cNvPr>
          <p:cNvSpPr>
            <a:spLocks noGrp="1"/>
          </p:cNvSpPr>
          <p:nvPr>
            <p:ph type="title"/>
          </p:nvPr>
        </p:nvSpPr>
        <p:spPr/>
        <p:txBody>
          <a:bodyPr/>
          <a:lstStyle/>
          <a:p>
            <a:r>
              <a:rPr lang="en-US" dirty="0"/>
              <a:t>Dense and Sparse indexes</a:t>
            </a:r>
          </a:p>
        </p:txBody>
      </p:sp>
      <p:sp>
        <p:nvSpPr>
          <p:cNvPr id="3" name="Content Placeholder 2">
            <a:extLst>
              <a:ext uri="{FF2B5EF4-FFF2-40B4-BE49-F238E27FC236}">
                <a16:creationId xmlns:a16="http://schemas.microsoft.com/office/drawing/2014/main" id="{6876581B-EDD0-01EE-1A1B-9B6073BCC4FA}"/>
              </a:ext>
            </a:extLst>
          </p:cNvPr>
          <p:cNvSpPr>
            <a:spLocks noGrp="1"/>
          </p:cNvSpPr>
          <p:nvPr>
            <p:ph idx="1"/>
          </p:nvPr>
        </p:nvSpPr>
        <p:spPr/>
        <p:txBody>
          <a:bodyPr>
            <a:noAutofit/>
          </a:bodyPr>
          <a:lstStyle/>
          <a:p>
            <a:r>
              <a:rPr lang="en-US" dirty="0"/>
              <a:t>dense index - index entry appears for every search-key value in file</a:t>
            </a:r>
          </a:p>
          <a:p>
            <a:pPr lvl="1"/>
            <a:r>
              <a:rPr lang="en-US" sz="2600" dirty="0"/>
              <a:t>dense clustering index, index record contains search-key value and pointer to first data record with that search-key value; rest of the records with same search-key value would be stored sequentially after </a:t>
            </a:r>
          </a:p>
          <a:p>
            <a:pPr lvl="1"/>
            <a:r>
              <a:rPr lang="en-US" sz="2600" dirty="0"/>
              <a:t>dense non-clustering index, index must store a list of pointers to all records with same search-key value</a:t>
            </a:r>
          </a:p>
          <a:p>
            <a:r>
              <a:rPr lang="en-US" dirty="0"/>
              <a:t>sparse index - index entry appears for only some of search-key values; can be used only if relation is stored in sorted order of </a:t>
            </a:r>
            <a:r>
              <a:rPr lang="en-US" dirty="0" err="1"/>
              <a:t>earch</a:t>
            </a:r>
            <a:r>
              <a:rPr lang="en-US" dirty="0"/>
              <a:t> key; that is, if the index is a clustering index</a:t>
            </a:r>
          </a:p>
        </p:txBody>
      </p:sp>
      <p:sp>
        <p:nvSpPr>
          <p:cNvPr id="4" name="Slide Number Placeholder 3">
            <a:extLst>
              <a:ext uri="{FF2B5EF4-FFF2-40B4-BE49-F238E27FC236}">
                <a16:creationId xmlns:a16="http://schemas.microsoft.com/office/drawing/2014/main" id="{0141923A-AC23-57AE-50B8-32D94CFB78AA}"/>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4200030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025820-3457-A4FE-283B-62C7E0D04666}"/>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B8575FFA-D132-90CC-7159-1BEB4E80896B}"/>
              </a:ext>
            </a:extLst>
          </p:cNvPr>
          <p:cNvSpPr>
            <a:spLocks noGrp="1"/>
          </p:cNvSpPr>
          <p:nvPr>
            <p:ph type="body" idx="1"/>
          </p:nvPr>
        </p:nvSpPr>
        <p:spPr/>
        <p:txBody>
          <a:bodyPr/>
          <a:lstStyle/>
          <a:p>
            <a:r>
              <a:rPr lang="en-US" b="0" dirty="0"/>
              <a:t>Dense index</a:t>
            </a:r>
            <a:endParaRPr lang="en-US" dirty="0"/>
          </a:p>
        </p:txBody>
      </p:sp>
      <p:sp>
        <p:nvSpPr>
          <p:cNvPr id="7" name="Content Placeholder 6">
            <a:extLst>
              <a:ext uri="{FF2B5EF4-FFF2-40B4-BE49-F238E27FC236}">
                <a16:creationId xmlns:a16="http://schemas.microsoft.com/office/drawing/2014/main" id="{BC8AEDC5-9653-E04D-46EB-F255A240F6AF}"/>
              </a:ext>
            </a:extLst>
          </p:cNvPr>
          <p:cNvSpPr>
            <a:spLocks noGrp="1"/>
          </p:cNvSpPr>
          <p:nvPr>
            <p:ph sz="half" idx="2"/>
          </p:nvPr>
        </p:nvSpPr>
        <p:spPr/>
        <p:txBody>
          <a:bodyPr/>
          <a:lstStyle/>
          <a:p>
            <a:endParaRPr lang="en-US"/>
          </a:p>
        </p:txBody>
      </p:sp>
      <p:sp>
        <p:nvSpPr>
          <p:cNvPr id="8" name="Text Placeholder 7">
            <a:extLst>
              <a:ext uri="{FF2B5EF4-FFF2-40B4-BE49-F238E27FC236}">
                <a16:creationId xmlns:a16="http://schemas.microsoft.com/office/drawing/2014/main" id="{7A5595BA-A1E3-04D2-125E-5686399E0105}"/>
              </a:ext>
            </a:extLst>
          </p:cNvPr>
          <p:cNvSpPr>
            <a:spLocks noGrp="1"/>
          </p:cNvSpPr>
          <p:nvPr>
            <p:ph type="body" sz="quarter" idx="3"/>
          </p:nvPr>
        </p:nvSpPr>
        <p:spPr/>
        <p:txBody>
          <a:bodyPr/>
          <a:lstStyle/>
          <a:p>
            <a:r>
              <a:rPr lang="en-US" b="0" dirty="0"/>
              <a:t>Sparse in</a:t>
            </a:r>
            <a:endParaRPr lang="en-US" dirty="0"/>
          </a:p>
        </p:txBody>
      </p:sp>
      <p:sp>
        <p:nvSpPr>
          <p:cNvPr id="9" name="Content Placeholder 8">
            <a:extLst>
              <a:ext uri="{FF2B5EF4-FFF2-40B4-BE49-F238E27FC236}">
                <a16:creationId xmlns:a16="http://schemas.microsoft.com/office/drawing/2014/main" id="{D5FB9D32-E0BA-56F3-71FE-0EACEBB46ED9}"/>
              </a:ext>
            </a:extLst>
          </p:cNvPr>
          <p:cNvSpPr>
            <a:spLocks noGrp="1"/>
          </p:cNvSpPr>
          <p:nvPr>
            <p:ph sz="quarter" idx="4"/>
          </p:nvPr>
        </p:nvSpPr>
        <p:spPr/>
        <p:txBody>
          <a:bodyPr/>
          <a:lstStyle/>
          <a:p>
            <a:endParaRPr lang="en-US" dirty="0"/>
          </a:p>
        </p:txBody>
      </p:sp>
      <p:sp>
        <p:nvSpPr>
          <p:cNvPr id="4" name="Slide Number Placeholder 3">
            <a:extLst>
              <a:ext uri="{FF2B5EF4-FFF2-40B4-BE49-F238E27FC236}">
                <a16:creationId xmlns:a16="http://schemas.microsoft.com/office/drawing/2014/main" id="{25C9EA34-EC72-BF05-F48C-3B8C95AD14BE}"/>
              </a:ext>
            </a:extLst>
          </p:cNvPr>
          <p:cNvSpPr>
            <a:spLocks noGrp="1"/>
          </p:cNvSpPr>
          <p:nvPr>
            <p:ph type="sldNum" sz="quarter" idx="12"/>
          </p:nvPr>
        </p:nvSpPr>
        <p:spPr/>
        <p:txBody>
          <a:bodyPr/>
          <a:lstStyle/>
          <a:p>
            <a:fld id="{6264BDCF-5269-49AC-A246-ED26C2B980E3}" type="slidenum">
              <a:rPr lang="en-US" smtClean="0"/>
              <a:t>11</a:t>
            </a:fld>
            <a:endParaRPr lang="en-US"/>
          </a:p>
        </p:txBody>
      </p:sp>
      <p:pic>
        <p:nvPicPr>
          <p:cNvPr id="11" name="Picture 10">
            <a:extLst>
              <a:ext uri="{FF2B5EF4-FFF2-40B4-BE49-F238E27FC236}">
                <a16:creationId xmlns:a16="http://schemas.microsoft.com/office/drawing/2014/main" id="{563621D3-FBAE-38CA-2209-EA64822C98AA}"/>
              </a:ext>
            </a:extLst>
          </p:cNvPr>
          <p:cNvPicPr>
            <a:picLocks noChangeAspect="1"/>
          </p:cNvPicPr>
          <p:nvPr/>
        </p:nvPicPr>
        <p:blipFill>
          <a:blip r:embed="rId2"/>
          <a:stretch>
            <a:fillRect/>
          </a:stretch>
        </p:blipFill>
        <p:spPr>
          <a:xfrm>
            <a:off x="1097280" y="2743200"/>
            <a:ext cx="5081488" cy="2466562"/>
          </a:xfrm>
          <a:prstGeom prst="rect">
            <a:avLst/>
          </a:prstGeom>
        </p:spPr>
      </p:pic>
      <p:pic>
        <p:nvPicPr>
          <p:cNvPr id="13" name="Picture 12">
            <a:extLst>
              <a:ext uri="{FF2B5EF4-FFF2-40B4-BE49-F238E27FC236}">
                <a16:creationId xmlns:a16="http://schemas.microsoft.com/office/drawing/2014/main" id="{2A4F2D18-B3F3-C053-F1E8-F803C128858E}"/>
              </a:ext>
            </a:extLst>
          </p:cNvPr>
          <p:cNvPicPr>
            <a:picLocks noChangeAspect="1"/>
          </p:cNvPicPr>
          <p:nvPr/>
        </p:nvPicPr>
        <p:blipFill>
          <a:blip r:embed="rId3"/>
          <a:stretch>
            <a:fillRect/>
          </a:stretch>
        </p:blipFill>
        <p:spPr>
          <a:xfrm>
            <a:off x="6309360" y="2743200"/>
            <a:ext cx="5081488" cy="2336743"/>
          </a:xfrm>
          <a:prstGeom prst="rect">
            <a:avLst/>
          </a:prstGeom>
        </p:spPr>
      </p:pic>
    </p:spTree>
    <p:extLst>
      <p:ext uri="{BB962C8B-B14F-4D97-AF65-F5344CB8AC3E}">
        <p14:creationId xmlns:p14="http://schemas.microsoft.com/office/powerpoint/2010/main" val="209439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5028EE-DCC3-17E1-2FFE-E1DB918811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104791-2A05-42BB-8141-547471A1E862}"/>
              </a:ext>
            </a:extLst>
          </p:cNvPr>
          <p:cNvSpPr>
            <a:spLocks noGrp="1"/>
          </p:cNvSpPr>
          <p:nvPr>
            <p:ph sz="half" idx="1"/>
          </p:nvPr>
        </p:nvSpPr>
        <p:spPr/>
        <p:txBody>
          <a:bodyPr>
            <a:normAutofit/>
          </a:bodyPr>
          <a:lstStyle/>
          <a:p>
            <a:r>
              <a:rPr lang="en-US" dirty="0"/>
              <a:t>search-key value is not a primary key</a:t>
            </a:r>
          </a:p>
          <a:p>
            <a:r>
              <a:rPr lang="en-US" dirty="0"/>
              <a:t>dense clustering index for search key being </a:t>
            </a:r>
            <a:r>
              <a:rPr lang="en-US" i="1" dirty="0" err="1"/>
              <a:t>dept_name</a:t>
            </a:r>
            <a:endParaRPr lang="en-US" i="1" dirty="0"/>
          </a:p>
        </p:txBody>
      </p:sp>
      <p:pic>
        <p:nvPicPr>
          <p:cNvPr id="8" name="Content Placeholder 7">
            <a:extLst>
              <a:ext uri="{FF2B5EF4-FFF2-40B4-BE49-F238E27FC236}">
                <a16:creationId xmlns:a16="http://schemas.microsoft.com/office/drawing/2014/main" id="{A583D2A5-B770-4871-2E39-CB71A9B77C72}"/>
              </a:ext>
            </a:extLst>
          </p:cNvPr>
          <p:cNvPicPr>
            <a:picLocks noGrp="1" noChangeAspect="1"/>
          </p:cNvPicPr>
          <p:nvPr>
            <p:ph sz="half" idx="2"/>
          </p:nvPr>
        </p:nvPicPr>
        <p:blipFill>
          <a:blip r:embed="rId2"/>
          <a:stretch>
            <a:fillRect/>
          </a:stretch>
        </p:blipFill>
        <p:spPr>
          <a:xfrm>
            <a:off x="6309360" y="2286000"/>
            <a:ext cx="5081488" cy="2104923"/>
          </a:xfrm>
          <a:prstGeom prst="rect">
            <a:avLst/>
          </a:prstGeom>
        </p:spPr>
      </p:pic>
      <p:sp>
        <p:nvSpPr>
          <p:cNvPr id="4" name="Slide Number Placeholder 3">
            <a:extLst>
              <a:ext uri="{FF2B5EF4-FFF2-40B4-BE49-F238E27FC236}">
                <a16:creationId xmlns:a16="http://schemas.microsoft.com/office/drawing/2014/main" id="{27187F5D-D0FA-F30D-1785-10691BC17A1A}"/>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2509792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9AA7E-E964-CAA5-10DA-B747E28BF4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8B0CDE-CC4B-323E-6F95-4766FB75859E}"/>
              </a:ext>
            </a:extLst>
          </p:cNvPr>
          <p:cNvSpPr>
            <a:spLocks noGrp="1"/>
          </p:cNvSpPr>
          <p:nvPr>
            <p:ph idx="1"/>
          </p:nvPr>
        </p:nvSpPr>
        <p:spPr/>
        <p:txBody>
          <a:bodyPr/>
          <a:lstStyle/>
          <a:p>
            <a:r>
              <a:rPr lang="en-US" dirty="0"/>
              <a:t>generally faster to locate a record if we have dense index rather than sparse index</a:t>
            </a:r>
          </a:p>
          <a:p>
            <a:r>
              <a:rPr lang="en-US" dirty="0"/>
              <a:t>sparse indexes have advantages over dense indexes in that they require less space and they impose less maintenance overhead for insertions and deletions</a:t>
            </a:r>
          </a:p>
          <a:p>
            <a:endParaRPr lang="en-US" dirty="0"/>
          </a:p>
        </p:txBody>
      </p:sp>
      <p:sp>
        <p:nvSpPr>
          <p:cNvPr id="4" name="Slide Number Placeholder 3">
            <a:extLst>
              <a:ext uri="{FF2B5EF4-FFF2-40B4-BE49-F238E27FC236}">
                <a16:creationId xmlns:a16="http://schemas.microsoft.com/office/drawing/2014/main" id="{275290D5-075F-1F95-7D14-D22B4DDE7B76}"/>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1069268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E4EE5-ED1E-F745-A745-1FEDAFDB0A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7A79F2-4C00-B2DE-E771-7F4EB8A6B4D3}"/>
              </a:ext>
            </a:extLst>
          </p:cNvPr>
          <p:cNvSpPr>
            <a:spLocks noGrp="1"/>
          </p:cNvSpPr>
          <p:nvPr>
            <p:ph idx="1"/>
          </p:nvPr>
        </p:nvSpPr>
        <p:spPr/>
        <p:txBody>
          <a:bodyPr>
            <a:normAutofit/>
          </a:bodyPr>
          <a:lstStyle/>
          <a:p>
            <a:r>
              <a:rPr lang="en-US" dirty="0"/>
              <a:t>if index is small enough to be kept entirely in main memory, search time to find an entry is low </a:t>
            </a:r>
          </a:p>
          <a:p>
            <a:r>
              <a:rPr lang="en-US" dirty="0"/>
              <a:t>if index is so large that not all of it can be kept in memory, index blocks must be fetched from disk when required</a:t>
            </a:r>
          </a:p>
          <a:p>
            <a:r>
              <a:rPr lang="en-US" dirty="0"/>
              <a:t>it may not be possible to keep entire index in memory - search for an entry in index then requires several disk-block reads</a:t>
            </a:r>
          </a:p>
          <a:p>
            <a:r>
              <a:rPr lang="en-US" dirty="0"/>
              <a:t>to deal with this problem, we treat index just as we would treat any other sequential file, and we construct sparse outer index on original index, which we now call the inner index</a:t>
            </a:r>
          </a:p>
        </p:txBody>
      </p:sp>
      <p:sp>
        <p:nvSpPr>
          <p:cNvPr id="4" name="Slide Number Placeholder 3">
            <a:extLst>
              <a:ext uri="{FF2B5EF4-FFF2-40B4-BE49-F238E27FC236}">
                <a16:creationId xmlns:a16="http://schemas.microsoft.com/office/drawing/2014/main" id="{C183D294-4238-AF09-748D-DF55E03BD9CF}"/>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2989137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8410C-EBF6-0680-9F71-D41291E67F24}"/>
              </a:ext>
            </a:extLst>
          </p:cNvPr>
          <p:cNvSpPr>
            <a:spLocks noGrp="1"/>
          </p:cNvSpPr>
          <p:nvPr>
            <p:ph type="title"/>
          </p:nvPr>
        </p:nvSpPr>
        <p:spPr/>
        <p:txBody>
          <a:bodyPr/>
          <a:lstStyle/>
          <a:p>
            <a:r>
              <a:rPr lang="en-US" dirty="0"/>
              <a:t>Two-level sparse index</a:t>
            </a:r>
          </a:p>
        </p:txBody>
      </p:sp>
      <p:pic>
        <p:nvPicPr>
          <p:cNvPr id="6" name="Content Placeholder 5">
            <a:extLst>
              <a:ext uri="{FF2B5EF4-FFF2-40B4-BE49-F238E27FC236}">
                <a16:creationId xmlns:a16="http://schemas.microsoft.com/office/drawing/2014/main" id="{0B02CD08-6EE6-B752-3EBA-0992C2691EF8}"/>
              </a:ext>
            </a:extLst>
          </p:cNvPr>
          <p:cNvPicPr>
            <a:picLocks noGrp="1" noChangeAspect="1"/>
          </p:cNvPicPr>
          <p:nvPr>
            <p:ph idx="1"/>
          </p:nvPr>
        </p:nvPicPr>
        <p:blipFill>
          <a:blip r:embed="rId2"/>
          <a:stretch>
            <a:fillRect/>
          </a:stretch>
        </p:blipFill>
        <p:spPr>
          <a:xfrm>
            <a:off x="6858000" y="274320"/>
            <a:ext cx="5032034" cy="6061313"/>
          </a:xfrm>
          <a:prstGeom prst="rect">
            <a:avLst/>
          </a:prstGeom>
        </p:spPr>
      </p:pic>
      <p:sp>
        <p:nvSpPr>
          <p:cNvPr id="4" name="Slide Number Placeholder 3">
            <a:extLst>
              <a:ext uri="{FF2B5EF4-FFF2-40B4-BE49-F238E27FC236}">
                <a16:creationId xmlns:a16="http://schemas.microsoft.com/office/drawing/2014/main" id="{F65FABD1-8FBB-BB7E-DF36-7E8FDC56BD08}"/>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3597518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DDA37-DB7E-EC6D-55A8-AF35FAAC090A}"/>
              </a:ext>
            </a:extLst>
          </p:cNvPr>
          <p:cNvSpPr>
            <a:spLocks noGrp="1"/>
          </p:cNvSpPr>
          <p:nvPr>
            <p:ph type="title"/>
          </p:nvPr>
        </p:nvSpPr>
        <p:spPr/>
        <p:txBody>
          <a:bodyPr/>
          <a:lstStyle/>
          <a:p>
            <a:r>
              <a:rPr lang="en-US" b="1" dirty="0"/>
              <a:t>multilevel indexes</a:t>
            </a:r>
            <a:endParaRPr lang="en-US" dirty="0"/>
          </a:p>
        </p:txBody>
      </p:sp>
      <p:sp>
        <p:nvSpPr>
          <p:cNvPr id="3" name="Content Placeholder 2">
            <a:extLst>
              <a:ext uri="{FF2B5EF4-FFF2-40B4-BE49-F238E27FC236}">
                <a16:creationId xmlns:a16="http://schemas.microsoft.com/office/drawing/2014/main" id="{0C03C153-29C6-DE0A-819B-2CB38076BFAE}"/>
              </a:ext>
            </a:extLst>
          </p:cNvPr>
          <p:cNvSpPr>
            <a:spLocks noGrp="1"/>
          </p:cNvSpPr>
          <p:nvPr>
            <p:ph idx="1"/>
          </p:nvPr>
        </p:nvSpPr>
        <p:spPr/>
        <p:txBody>
          <a:bodyPr/>
          <a:lstStyle/>
          <a:p>
            <a:r>
              <a:rPr lang="en-US" dirty="0"/>
              <a:t>indexes with two or more levels are called multilevel</a:t>
            </a:r>
          </a:p>
          <a:p>
            <a:r>
              <a:rPr lang="en-US" dirty="0"/>
              <a:t>searching for records with multilevel index requires significantly fewer I/O operations than does searching for records by binary search</a:t>
            </a:r>
          </a:p>
          <a:p>
            <a:r>
              <a:rPr lang="en-US" dirty="0"/>
              <a:t>multilevel indexes are closely related to tree structures</a:t>
            </a:r>
          </a:p>
        </p:txBody>
      </p:sp>
      <p:sp>
        <p:nvSpPr>
          <p:cNvPr id="4" name="Slide Number Placeholder 3">
            <a:extLst>
              <a:ext uri="{FF2B5EF4-FFF2-40B4-BE49-F238E27FC236}">
                <a16:creationId xmlns:a16="http://schemas.microsoft.com/office/drawing/2014/main" id="{4223B057-336B-7CED-A31F-4F24611B322D}"/>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451312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99CC-BFEC-0DE0-0819-00005494903E}"/>
              </a:ext>
            </a:extLst>
          </p:cNvPr>
          <p:cNvSpPr>
            <a:spLocks noGrp="1"/>
          </p:cNvSpPr>
          <p:nvPr>
            <p:ph type="title"/>
          </p:nvPr>
        </p:nvSpPr>
        <p:spPr/>
        <p:txBody>
          <a:bodyPr/>
          <a:lstStyle/>
          <a:p>
            <a:r>
              <a:rPr lang="en-US" b="1" dirty="0"/>
              <a:t>Index Update</a:t>
            </a:r>
            <a:endParaRPr lang="en-US" dirty="0"/>
          </a:p>
        </p:txBody>
      </p:sp>
      <p:sp>
        <p:nvSpPr>
          <p:cNvPr id="3" name="Content Placeholder 2">
            <a:extLst>
              <a:ext uri="{FF2B5EF4-FFF2-40B4-BE49-F238E27FC236}">
                <a16:creationId xmlns:a16="http://schemas.microsoft.com/office/drawing/2014/main" id="{0DEE83A7-A132-3906-D823-9E4E81DBBD68}"/>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204A6599-BAB6-CAED-F4AC-B92189CCF4EF}"/>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3366304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6D715-66E3-A534-8E67-5324B29C5BE1}"/>
              </a:ext>
            </a:extLst>
          </p:cNvPr>
          <p:cNvSpPr>
            <a:spLocks noGrp="1"/>
          </p:cNvSpPr>
          <p:nvPr>
            <p:ph type="title"/>
          </p:nvPr>
        </p:nvSpPr>
        <p:spPr/>
        <p:txBody>
          <a:bodyPr/>
          <a:lstStyle/>
          <a:p>
            <a:r>
              <a:rPr lang="en-US" dirty="0"/>
              <a:t>Secondary indexes</a:t>
            </a:r>
          </a:p>
        </p:txBody>
      </p:sp>
      <p:sp>
        <p:nvSpPr>
          <p:cNvPr id="3" name="Content Placeholder 2">
            <a:extLst>
              <a:ext uri="{FF2B5EF4-FFF2-40B4-BE49-F238E27FC236}">
                <a16:creationId xmlns:a16="http://schemas.microsoft.com/office/drawing/2014/main" id="{1CD26C06-7167-0835-4D6F-BBA550C9072F}"/>
              </a:ext>
            </a:extLst>
          </p:cNvPr>
          <p:cNvSpPr>
            <a:spLocks noGrp="1"/>
          </p:cNvSpPr>
          <p:nvPr>
            <p:ph idx="1"/>
          </p:nvPr>
        </p:nvSpPr>
        <p:spPr/>
        <p:txBody>
          <a:bodyPr>
            <a:normAutofit/>
          </a:bodyPr>
          <a:lstStyle/>
          <a:p>
            <a:r>
              <a:rPr lang="en-US" dirty="0"/>
              <a:t>must be dense, with index entry for every search-key value, and pointer to every record in file</a:t>
            </a:r>
          </a:p>
          <a:p>
            <a:endParaRPr lang="en-US" dirty="0"/>
          </a:p>
          <a:p>
            <a:r>
              <a:rPr lang="en-US" dirty="0"/>
              <a:t>clustering index may be sparse, storing only some of search-key values, since it is always possible to find records with intermediate search-key values by sequential access to part of file</a:t>
            </a:r>
          </a:p>
          <a:p>
            <a:r>
              <a:rPr lang="en-US" dirty="0"/>
              <a:t>if secondary index stores only some of search-key values, records with intermediate search-key values may be anywhere in the file</a:t>
            </a:r>
          </a:p>
        </p:txBody>
      </p:sp>
      <p:sp>
        <p:nvSpPr>
          <p:cNvPr id="4" name="Slide Number Placeholder 3">
            <a:extLst>
              <a:ext uri="{FF2B5EF4-FFF2-40B4-BE49-F238E27FC236}">
                <a16:creationId xmlns:a16="http://schemas.microsoft.com/office/drawing/2014/main" id="{EBC446F0-836F-0A42-49C7-1C8EFDBF5E20}"/>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781019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08032-8404-8BA7-27ED-E691518EB45F}"/>
              </a:ext>
            </a:extLst>
          </p:cNvPr>
          <p:cNvSpPr>
            <a:spLocks noGrp="1"/>
          </p:cNvSpPr>
          <p:nvPr>
            <p:ph type="title"/>
          </p:nvPr>
        </p:nvSpPr>
        <p:spPr/>
        <p:txBody>
          <a:bodyPr/>
          <a:lstStyle/>
          <a:p>
            <a:r>
              <a:rPr lang="en-US" dirty="0"/>
              <a:t>Secondary Index</a:t>
            </a:r>
          </a:p>
        </p:txBody>
      </p:sp>
      <p:sp>
        <p:nvSpPr>
          <p:cNvPr id="3" name="Content Placeholder 2">
            <a:extLst>
              <a:ext uri="{FF2B5EF4-FFF2-40B4-BE49-F238E27FC236}">
                <a16:creationId xmlns:a16="http://schemas.microsoft.com/office/drawing/2014/main" id="{192716EB-2E68-4FFB-4820-3FE9262C237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DA14363-55B2-F452-D420-0D08BE9417B6}"/>
              </a:ext>
            </a:extLst>
          </p:cNvPr>
          <p:cNvSpPr>
            <a:spLocks noGrp="1"/>
          </p:cNvSpPr>
          <p:nvPr>
            <p:ph type="sldNum" sz="quarter" idx="12"/>
          </p:nvPr>
        </p:nvSpPr>
        <p:spPr/>
        <p:txBody>
          <a:bodyPr/>
          <a:lstStyle/>
          <a:p>
            <a:fld id="{6264BDCF-5269-49AC-A246-ED26C2B980E3}" type="slidenum">
              <a:rPr lang="en-US" smtClean="0"/>
              <a:t>19</a:t>
            </a:fld>
            <a:endParaRPr lang="en-US"/>
          </a:p>
        </p:txBody>
      </p:sp>
      <p:pic>
        <p:nvPicPr>
          <p:cNvPr id="6" name="Picture 5">
            <a:extLst>
              <a:ext uri="{FF2B5EF4-FFF2-40B4-BE49-F238E27FC236}">
                <a16:creationId xmlns:a16="http://schemas.microsoft.com/office/drawing/2014/main" id="{442F73CB-77B7-A015-CC45-E42C5F9993FD}"/>
              </a:ext>
            </a:extLst>
          </p:cNvPr>
          <p:cNvPicPr>
            <a:picLocks noChangeAspect="1"/>
          </p:cNvPicPr>
          <p:nvPr/>
        </p:nvPicPr>
        <p:blipFill>
          <a:blip r:embed="rId2"/>
          <a:stretch>
            <a:fillRect/>
          </a:stretch>
        </p:blipFill>
        <p:spPr>
          <a:xfrm>
            <a:off x="2743200" y="1828800"/>
            <a:ext cx="6137813" cy="2590070"/>
          </a:xfrm>
          <a:prstGeom prst="rect">
            <a:avLst/>
          </a:prstGeom>
        </p:spPr>
      </p:pic>
    </p:spTree>
    <p:extLst>
      <p:ext uri="{BB962C8B-B14F-4D97-AF65-F5344CB8AC3E}">
        <p14:creationId xmlns:p14="http://schemas.microsoft.com/office/powerpoint/2010/main" val="2608103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2EFF5-E620-38C3-C800-62C6F6E5D6EA}"/>
              </a:ext>
            </a:extLst>
          </p:cNvPr>
          <p:cNvSpPr>
            <a:spLocks noGrp="1"/>
          </p:cNvSpPr>
          <p:nvPr>
            <p:ph type="title"/>
          </p:nvPr>
        </p:nvSpPr>
        <p:spPr/>
        <p:txBody>
          <a:bodyPr/>
          <a:lstStyle/>
          <a:p>
            <a:r>
              <a:rPr lang="en-US" dirty="0"/>
              <a:t>indexes on Multiple Keys</a:t>
            </a:r>
          </a:p>
        </p:txBody>
      </p:sp>
      <p:sp>
        <p:nvSpPr>
          <p:cNvPr id="3" name="Content Placeholder 2">
            <a:extLst>
              <a:ext uri="{FF2B5EF4-FFF2-40B4-BE49-F238E27FC236}">
                <a16:creationId xmlns:a16="http://schemas.microsoft.com/office/drawing/2014/main" id="{C7C32877-C6D1-001C-5570-958D033F7113}"/>
              </a:ext>
            </a:extLst>
          </p:cNvPr>
          <p:cNvSpPr>
            <a:spLocks noGrp="1"/>
          </p:cNvSpPr>
          <p:nvPr>
            <p:ph idx="1"/>
          </p:nvPr>
        </p:nvSpPr>
        <p:spPr/>
        <p:txBody>
          <a:bodyPr>
            <a:normAutofit/>
          </a:bodyPr>
          <a:lstStyle/>
          <a:p>
            <a:r>
              <a:rPr lang="en-US" dirty="0"/>
              <a:t>search key containing more than one attribute is referred to as a composite search key</a:t>
            </a:r>
          </a:p>
          <a:p>
            <a:r>
              <a:rPr lang="en-US" dirty="0"/>
              <a:t>search key can be represented as a tuple of values, of the form (</a:t>
            </a:r>
            <a:r>
              <a:rPr lang="en-US" i="1" dirty="0"/>
              <a:t>a</a:t>
            </a:r>
            <a:r>
              <a:rPr lang="en-US" baseline="-25000" dirty="0"/>
              <a:t>1</a:t>
            </a:r>
            <a:r>
              <a:rPr lang="en-US" dirty="0"/>
              <a:t>,..., a</a:t>
            </a:r>
            <a:r>
              <a:rPr lang="en-US" i="1" baseline="-25000" dirty="0"/>
              <a:t>n</a:t>
            </a:r>
            <a:r>
              <a:rPr lang="en-US" dirty="0"/>
              <a:t>), where the indexed attributes are </a:t>
            </a:r>
            <a:r>
              <a:rPr lang="en-US" i="1" dirty="0"/>
              <a:t>A</a:t>
            </a:r>
            <a:r>
              <a:rPr lang="en-US" baseline="-25000" dirty="0"/>
              <a:t>1</a:t>
            </a:r>
            <a:r>
              <a:rPr lang="en-US" dirty="0"/>
              <a:t>,..., A</a:t>
            </a:r>
            <a:r>
              <a:rPr lang="en-US" i="1" baseline="-25000" dirty="0"/>
              <a:t>n</a:t>
            </a:r>
            <a:endParaRPr lang="en-US" dirty="0"/>
          </a:p>
          <a:p>
            <a:r>
              <a:rPr lang="en-US" dirty="0"/>
              <a:t>ordering of search-key values is the </a:t>
            </a:r>
            <a:r>
              <a:rPr lang="en-US" i="1" dirty="0"/>
              <a:t>lexicographic ordering, </a:t>
            </a:r>
            <a:r>
              <a:rPr lang="en-US" dirty="0"/>
              <a:t>basically, same as alphabetic ordering of words</a:t>
            </a:r>
          </a:p>
        </p:txBody>
      </p:sp>
      <p:sp>
        <p:nvSpPr>
          <p:cNvPr id="4" name="Slide Number Placeholder 3">
            <a:extLst>
              <a:ext uri="{FF2B5EF4-FFF2-40B4-BE49-F238E27FC236}">
                <a16:creationId xmlns:a16="http://schemas.microsoft.com/office/drawing/2014/main" id="{B6497F5C-0916-7514-85DC-78576E568D63}"/>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726437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61EA-C3D3-2E2A-B589-C7D6ADF3C1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A2481B-0652-FDC1-9631-E081B23CFB70}"/>
              </a:ext>
            </a:extLst>
          </p:cNvPr>
          <p:cNvSpPr>
            <a:spLocks noGrp="1"/>
          </p:cNvSpPr>
          <p:nvPr>
            <p:ph idx="1"/>
          </p:nvPr>
        </p:nvSpPr>
        <p:spPr/>
        <p:txBody>
          <a:bodyPr/>
          <a:lstStyle/>
          <a:p>
            <a:r>
              <a:rPr lang="en-US" dirty="0"/>
              <a:t>main disadvantage of the index-sequential file organization is that performance degrades as file grows, both for index lookups and for sequential scans through the data - degradation can be remedied by reorganization of the file - frequent reorganizations are undesirable</a:t>
            </a:r>
          </a:p>
        </p:txBody>
      </p:sp>
      <p:sp>
        <p:nvSpPr>
          <p:cNvPr id="4" name="Slide Number Placeholder 3">
            <a:extLst>
              <a:ext uri="{FF2B5EF4-FFF2-40B4-BE49-F238E27FC236}">
                <a16:creationId xmlns:a16="http://schemas.microsoft.com/office/drawing/2014/main" id="{BAD97CE2-17AD-DE4A-EED6-5D42D7422BAB}"/>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2888404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AB37D59-481F-E6D2-BB17-BA7DD7A413E4}"/>
              </a:ext>
            </a:extLst>
          </p:cNvPr>
          <p:cNvSpPr>
            <a:spLocks noGrp="1"/>
          </p:cNvSpPr>
          <p:nvPr>
            <p:ph type="title"/>
          </p:nvPr>
        </p:nvSpPr>
        <p:spPr/>
        <p:txBody>
          <a:bodyPr/>
          <a:lstStyle/>
          <a:p>
            <a:r>
              <a:rPr lang="en-US" dirty="0"/>
              <a:t>B-Tree</a:t>
            </a:r>
          </a:p>
        </p:txBody>
      </p:sp>
      <p:sp>
        <p:nvSpPr>
          <p:cNvPr id="6" name="Text Placeholder 5">
            <a:extLst>
              <a:ext uri="{FF2B5EF4-FFF2-40B4-BE49-F238E27FC236}">
                <a16:creationId xmlns:a16="http://schemas.microsoft.com/office/drawing/2014/main" id="{4B901316-2A4D-4C2A-C2B1-31215374F0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67163C-58D4-90BA-D4D0-B47469992DBB}"/>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2830917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D1FD6-2E89-3E03-80B7-7DF3CEB7C5AB}"/>
              </a:ext>
            </a:extLst>
          </p:cNvPr>
          <p:cNvSpPr>
            <a:spLocks noGrp="1"/>
          </p:cNvSpPr>
          <p:nvPr>
            <p:ph type="title"/>
          </p:nvPr>
        </p:nvSpPr>
        <p:spPr/>
        <p:txBody>
          <a:bodyPr/>
          <a:lstStyle/>
          <a:p>
            <a:r>
              <a:rPr lang="en-US" dirty="0"/>
              <a:t>B-tree</a:t>
            </a:r>
          </a:p>
        </p:txBody>
      </p:sp>
      <p:sp>
        <p:nvSpPr>
          <p:cNvPr id="3" name="Content Placeholder 2">
            <a:extLst>
              <a:ext uri="{FF2B5EF4-FFF2-40B4-BE49-F238E27FC236}">
                <a16:creationId xmlns:a16="http://schemas.microsoft.com/office/drawing/2014/main" id="{E349EF75-574F-C144-288A-4525425D8DA0}"/>
              </a:ext>
            </a:extLst>
          </p:cNvPr>
          <p:cNvSpPr>
            <a:spLocks noGrp="1"/>
          </p:cNvSpPr>
          <p:nvPr>
            <p:ph idx="1"/>
          </p:nvPr>
        </p:nvSpPr>
        <p:spPr/>
        <p:txBody>
          <a:bodyPr>
            <a:normAutofit/>
          </a:bodyPr>
          <a:lstStyle/>
          <a:p>
            <a:r>
              <a:rPr lang="en-US" dirty="0"/>
              <a:t>is a self-balancing tree data structure that maintains sorted data and allows searches, sequential access, insertions, and deletions in logarithmic time</a:t>
            </a:r>
          </a:p>
          <a:p>
            <a:r>
              <a:rPr lang="en-US" dirty="0"/>
              <a:t>generalizes the binary search tree, allowing nodes to have more than two children</a:t>
            </a:r>
          </a:p>
          <a:p>
            <a:r>
              <a:rPr lang="en-US" dirty="0"/>
              <a:t>reduces the height of the tree and puts the data in fewer separate blocks</a:t>
            </a:r>
          </a:p>
          <a:p>
            <a:r>
              <a:rPr lang="en-US" dirty="0"/>
              <a:t>used in databases and file systems</a:t>
            </a:r>
          </a:p>
        </p:txBody>
      </p:sp>
      <p:sp>
        <p:nvSpPr>
          <p:cNvPr id="4" name="Slide Number Placeholder 3">
            <a:extLst>
              <a:ext uri="{FF2B5EF4-FFF2-40B4-BE49-F238E27FC236}">
                <a16:creationId xmlns:a16="http://schemas.microsoft.com/office/drawing/2014/main" id="{9C05D868-DF91-2EE2-6FA6-E3EF5CA50E99}"/>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340950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BA744-A676-BCDB-1433-E653A0A5F358}"/>
              </a:ext>
            </a:extLst>
          </p:cNvPr>
          <p:cNvSpPr>
            <a:spLocks noGrp="1"/>
          </p:cNvSpPr>
          <p:nvPr>
            <p:ph type="title"/>
          </p:nvPr>
        </p:nvSpPr>
        <p:spPr/>
        <p:txBody>
          <a:bodyPr/>
          <a:lstStyle/>
          <a:p>
            <a:r>
              <a:rPr lang="en-US" dirty="0"/>
              <a:t>B</a:t>
            </a:r>
            <a:r>
              <a:rPr lang="en-US" baseline="30000" dirty="0"/>
              <a:t>+</a:t>
            </a:r>
            <a:r>
              <a:rPr lang="en-US" dirty="0"/>
              <a:t>-tree index</a:t>
            </a:r>
          </a:p>
        </p:txBody>
      </p:sp>
      <p:sp>
        <p:nvSpPr>
          <p:cNvPr id="3" name="Content Placeholder 2">
            <a:extLst>
              <a:ext uri="{FF2B5EF4-FFF2-40B4-BE49-F238E27FC236}">
                <a16:creationId xmlns:a16="http://schemas.microsoft.com/office/drawing/2014/main" id="{3BCF349F-CA6A-2BA0-9584-F7DE8A3068D9}"/>
              </a:ext>
            </a:extLst>
          </p:cNvPr>
          <p:cNvSpPr>
            <a:spLocks noGrp="1"/>
          </p:cNvSpPr>
          <p:nvPr>
            <p:ph idx="1"/>
          </p:nvPr>
        </p:nvSpPr>
        <p:spPr/>
        <p:txBody>
          <a:bodyPr>
            <a:normAutofit lnSpcReduction="10000"/>
          </a:bodyPr>
          <a:lstStyle/>
          <a:p>
            <a:r>
              <a:rPr lang="en-US" dirty="0"/>
              <a:t>B</a:t>
            </a:r>
            <a:r>
              <a:rPr lang="en-US" baseline="30000" dirty="0"/>
              <a:t>+</a:t>
            </a:r>
            <a:r>
              <a:rPr lang="en-US" dirty="0"/>
              <a:t>-tree index structure is the most widely used of several index structures that maintain their efficiency despite insertion and deletion of data</a:t>
            </a:r>
          </a:p>
          <a:p>
            <a:r>
              <a:rPr lang="en-US" dirty="0"/>
              <a:t>B</a:t>
            </a:r>
            <a:r>
              <a:rPr lang="en-US" baseline="30000" dirty="0"/>
              <a:t>+</a:t>
            </a:r>
            <a:r>
              <a:rPr lang="en-US" dirty="0"/>
              <a:t>-tree index takes the form of a </a:t>
            </a:r>
            <a:r>
              <a:rPr lang="en-US" i="1" dirty="0"/>
              <a:t>balanced tree</a:t>
            </a:r>
            <a:r>
              <a:rPr lang="en-US" b="1" dirty="0"/>
              <a:t> </a:t>
            </a:r>
            <a:r>
              <a:rPr lang="en-US" dirty="0"/>
              <a:t>in which every path from the root of the tree to a leaf of the tree is of the same length; each non leaf node in tree, other than root, has between ⌈</a:t>
            </a:r>
            <a:r>
              <a:rPr lang="en-US" i="1" dirty="0"/>
              <a:t>n/2</a:t>
            </a:r>
            <a:r>
              <a:rPr lang="en-US" dirty="0"/>
              <a:t>⌉ and </a:t>
            </a:r>
            <a:r>
              <a:rPr lang="en-US" i="1" dirty="0"/>
              <a:t>n </a:t>
            </a:r>
            <a:r>
              <a:rPr lang="en-US" dirty="0"/>
              <a:t>children, where </a:t>
            </a:r>
            <a:r>
              <a:rPr lang="en-US" i="1" dirty="0"/>
              <a:t>n </a:t>
            </a:r>
            <a:r>
              <a:rPr lang="en-US" dirty="0"/>
              <a:t>is fixed for a particular tree; the root has between 2 and </a:t>
            </a:r>
            <a:r>
              <a:rPr lang="en-US" i="1" dirty="0"/>
              <a:t>n </a:t>
            </a:r>
            <a:r>
              <a:rPr lang="en-US" dirty="0"/>
              <a:t>children</a:t>
            </a:r>
          </a:p>
          <a:p>
            <a:r>
              <a:rPr lang="en-US" dirty="0"/>
              <a:t>imposes performance overhead on insertion and deletion and adds space overhead - overhead is acceptable even for frequently modified files, since the cost of file reorganization is avoided</a:t>
            </a:r>
          </a:p>
        </p:txBody>
      </p:sp>
      <p:sp>
        <p:nvSpPr>
          <p:cNvPr id="4" name="Slide Number Placeholder 3">
            <a:extLst>
              <a:ext uri="{FF2B5EF4-FFF2-40B4-BE49-F238E27FC236}">
                <a16:creationId xmlns:a16="http://schemas.microsoft.com/office/drawing/2014/main" id="{11B2EB49-3B2D-06DE-3C19-2A513C19CDB3}"/>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1621854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AB44A-F780-0376-AE93-ABD3E00DA893}"/>
              </a:ext>
            </a:extLst>
          </p:cNvPr>
          <p:cNvSpPr>
            <a:spLocks noGrp="1"/>
          </p:cNvSpPr>
          <p:nvPr>
            <p:ph type="title"/>
          </p:nvPr>
        </p:nvSpPr>
        <p:spPr/>
        <p:txBody>
          <a:bodyPr/>
          <a:lstStyle/>
          <a:p>
            <a:r>
              <a:rPr lang="en-US" dirty="0"/>
              <a:t>B-tree of order 5 (Knuth 1998).</a:t>
            </a:r>
          </a:p>
        </p:txBody>
      </p:sp>
      <p:sp>
        <p:nvSpPr>
          <p:cNvPr id="4" name="Slide Number Placeholder 3">
            <a:extLst>
              <a:ext uri="{FF2B5EF4-FFF2-40B4-BE49-F238E27FC236}">
                <a16:creationId xmlns:a16="http://schemas.microsoft.com/office/drawing/2014/main" id="{D00FDE91-1668-5B9C-AA8D-9B8CE87AA0E9}"/>
              </a:ext>
            </a:extLst>
          </p:cNvPr>
          <p:cNvSpPr>
            <a:spLocks noGrp="1"/>
          </p:cNvSpPr>
          <p:nvPr>
            <p:ph type="sldNum" sz="quarter" idx="12"/>
          </p:nvPr>
        </p:nvSpPr>
        <p:spPr/>
        <p:txBody>
          <a:bodyPr/>
          <a:lstStyle/>
          <a:p>
            <a:fld id="{6264BDCF-5269-49AC-A246-ED26C2B980E3}" type="slidenum">
              <a:rPr lang="en-US" smtClean="0"/>
              <a:t>25</a:t>
            </a:fld>
            <a:endParaRPr lang="en-US"/>
          </a:p>
        </p:txBody>
      </p:sp>
      <p:pic>
        <p:nvPicPr>
          <p:cNvPr id="1026" name="Picture 2" descr="undefined">
            <a:extLst>
              <a:ext uri="{FF2B5EF4-FFF2-40B4-BE49-F238E27FC236}">
                <a16:creationId xmlns:a16="http://schemas.microsoft.com/office/drawing/2014/main" id="{48AEF542-6FE2-D299-3EF1-D439F459D69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538968"/>
            <a:ext cx="10515600" cy="2924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401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9EBF-1CB0-308E-8977-8C8F5E3423B9}"/>
              </a:ext>
            </a:extLst>
          </p:cNvPr>
          <p:cNvSpPr>
            <a:spLocks noGrp="1"/>
          </p:cNvSpPr>
          <p:nvPr>
            <p:ph type="title"/>
          </p:nvPr>
        </p:nvSpPr>
        <p:spPr>
          <a:xfrm>
            <a:off x="838200" y="365125"/>
            <a:ext cx="11059048" cy="1895754"/>
          </a:xfrm>
        </p:spPr>
        <p:txBody>
          <a:bodyPr>
            <a:noAutofit/>
          </a:bodyPr>
          <a:lstStyle/>
          <a:p>
            <a:r>
              <a:rPr lang="en-US" sz="3600" dirty="0"/>
              <a:t>B</a:t>
            </a:r>
            <a:r>
              <a:rPr lang="en-US" sz="3600" baseline="30000" dirty="0"/>
              <a:t>+</a:t>
            </a:r>
            <a:r>
              <a:rPr lang="en-US" sz="3600" dirty="0"/>
              <a:t> tree example linking keys 1–7 to data values d1-d7</a:t>
            </a:r>
            <a:br>
              <a:rPr lang="en-US" sz="3600" dirty="0"/>
            </a:br>
            <a:r>
              <a:rPr lang="en-US" sz="3600" dirty="0"/>
              <a:t>linked list (red) allows rapid in-order traversal</a:t>
            </a:r>
            <a:br>
              <a:rPr lang="en-US" sz="3600" dirty="0"/>
            </a:br>
            <a:r>
              <a:rPr lang="en-US" sz="3600" dirty="0"/>
              <a:t>tree's branching factor is </a:t>
            </a:r>
            <a:r>
              <a:rPr lang="en-US" sz="3600" i="1" dirty="0"/>
              <a:t>b</a:t>
            </a:r>
            <a:r>
              <a:rPr lang="en-US" sz="3600" dirty="0"/>
              <a:t> = 4</a:t>
            </a:r>
            <a:br>
              <a:rPr lang="en-US" sz="3600" dirty="0"/>
            </a:br>
            <a:r>
              <a:rPr lang="en-US" sz="3600" dirty="0"/>
              <a:t>both keys in leaf and internal nodes are colored gray</a:t>
            </a:r>
          </a:p>
        </p:txBody>
      </p:sp>
      <p:sp>
        <p:nvSpPr>
          <p:cNvPr id="4" name="Slide Number Placeholder 3">
            <a:extLst>
              <a:ext uri="{FF2B5EF4-FFF2-40B4-BE49-F238E27FC236}">
                <a16:creationId xmlns:a16="http://schemas.microsoft.com/office/drawing/2014/main" id="{B8E93237-CEA5-1778-E9F3-0567D9F73C33}"/>
              </a:ext>
            </a:extLst>
          </p:cNvPr>
          <p:cNvSpPr>
            <a:spLocks noGrp="1"/>
          </p:cNvSpPr>
          <p:nvPr>
            <p:ph type="sldNum" sz="quarter" idx="12"/>
          </p:nvPr>
        </p:nvSpPr>
        <p:spPr/>
        <p:txBody>
          <a:bodyPr/>
          <a:lstStyle/>
          <a:p>
            <a:fld id="{6264BDCF-5269-49AC-A246-ED26C2B980E3}" type="slidenum">
              <a:rPr lang="en-US" smtClean="0"/>
              <a:t>26</a:t>
            </a:fld>
            <a:endParaRPr lang="en-US"/>
          </a:p>
        </p:txBody>
      </p:sp>
      <p:pic>
        <p:nvPicPr>
          <p:cNvPr id="2050" name="Picture 2" descr="undefined">
            <a:extLst>
              <a:ext uri="{FF2B5EF4-FFF2-40B4-BE49-F238E27FC236}">
                <a16:creationId xmlns:a16="http://schemas.microsoft.com/office/drawing/2014/main" id="{9260D690-3EF3-C25E-B659-A1587F2067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3444" y="2186522"/>
            <a:ext cx="7885112" cy="3629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410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2A96-574B-8CDF-8D34-F394798413D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026383B-3642-F981-F070-DEADB5050641}"/>
              </a:ext>
            </a:extLst>
          </p:cNvPr>
          <p:cNvSpPr>
            <a:spLocks noGrp="1"/>
          </p:cNvSpPr>
          <p:nvPr>
            <p:ph idx="1"/>
          </p:nvPr>
        </p:nvSpPr>
        <p:spPr/>
        <p:txBody>
          <a:bodyPr>
            <a:normAutofit/>
          </a:bodyPr>
          <a:lstStyle/>
          <a:p>
            <a:r>
              <a:rPr lang="en-US" dirty="0"/>
              <a:t>assume for now that there are no duplicate search key values</a:t>
            </a:r>
          </a:p>
          <a:p>
            <a:r>
              <a:rPr lang="en-US" dirty="0"/>
              <a:t>typical node of a B</a:t>
            </a:r>
            <a:r>
              <a:rPr lang="en-US" baseline="30000" dirty="0"/>
              <a:t>+</a:t>
            </a:r>
            <a:r>
              <a:rPr lang="en-US" dirty="0"/>
              <a:t>-tree contains up to </a:t>
            </a:r>
            <a:r>
              <a:rPr lang="en-US" i="1" dirty="0"/>
              <a:t>n − </a:t>
            </a:r>
            <a:r>
              <a:rPr lang="en-US" dirty="0"/>
              <a:t>1 search-key values </a:t>
            </a:r>
            <a:r>
              <a:rPr lang="en-US" i="1" dirty="0"/>
              <a:t>K</a:t>
            </a:r>
            <a:r>
              <a:rPr lang="en-US" baseline="-25000" dirty="0"/>
              <a:t>1</a:t>
            </a:r>
            <a:r>
              <a:rPr lang="en-US" dirty="0"/>
              <a:t>, </a:t>
            </a:r>
            <a:r>
              <a:rPr lang="en-US" i="1" dirty="0"/>
              <a:t>K</a:t>
            </a:r>
            <a:r>
              <a:rPr lang="en-US" baseline="-25000" dirty="0"/>
              <a:t>2</a:t>
            </a:r>
            <a:r>
              <a:rPr lang="en-US" dirty="0"/>
              <a:t>,..., K</a:t>
            </a:r>
            <a:r>
              <a:rPr lang="en-US" i="1" baseline="-25000" dirty="0"/>
              <a:t>n</a:t>
            </a:r>
            <a:r>
              <a:rPr lang="en-US" baseline="-25000" dirty="0"/>
              <a:t>−1</a:t>
            </a:r>
            <a:r>
              <a:rPr lang="en-US" dirty="0"/>
              <a:t>, and </a:t>
            </a:r>
            <a:r>
              <a:rPr lang="en-US" i="1" dirty="0"/>
              <a:t>n </a:t>
            </a:r>
            <a:r>
              <a:rPr lang="en-US" dirty="0"/>
              <a:t>pointers </a:t>
            </a:r>
            <a:r>
              <a:rPr lang="en-US" i="1" dirty="0"/>
              <a:t>P</a:t>
            </a:r>
            <a:r>
              <a:rPr lang="en-US" baseline="-25000" dirty="0"/>
              <a:t>1</a:t>
            </a:r>
            <a:r>
              <a:rPr lang="en-US" dirty="0"/>
              <a:t>, </a:t>
            </a:r>
            <a:r>
              <a:rPr lang="en-US" i="1" dirty="0"/>
              <a:t>P</a:t>
            </a:r>
            <a:r>
              <a:rPr lang="en-US" baseline="-25000" dirty="0"/>
              <a:t>2</a:t>
            </a:r>
            <a:r>
              <a:rPr lang="en-US" dirty="0"/>
              <a:t>,..., </a:t>
            </a:r>
            <a:r>
              <a:rPr lang="en-US" dirty="0" err="1"/>
              <a:t>P</a:t>
            </a:r>
            <a:r>
              <a:rPr lang="en-US" baseline="-25000" dirty="0" err="1"/>
              <a:t>n</a:t>
            </a:r>
            <a:r>
              <a:rPr lang="en-US" dirty="0"/>
              <a:t> </a:t>
            </a:r>
          </a:p>
          <a:p>
            <a:r>
              <a:rPr lang="en-US" dirty="0"/>
              <a:t>search-key values within node are kept in sorted order; thus, if </a:t>
            </a:r>
            <a:r>
              <a:rPr lang="en-US" i="1" dirty="0" err="1"/>
              <a:t>i</a:t>
            </a:r>
            <a:r>
              <a:rPr lang="en-US" i="1" dirty="0"/>
              <a:t> &lt; j, </a:t>
            </a:r>
            <a:r>
              <a:rPr lang="en-US" dirty="0"/>
              <a:t>then K</a:t>
            </a:r>
            <a:r>
              <a:rPr lang="en-US" baseline="-25000" dirty="0"/>
              <a:t>i</a:t>
            </a:r>
            <a:r>
              <a:rPr lang="en-US" i="1" dirty="0"/>
              <a:t> </a:t>
            </a:r>
            <a:r>
              <a:rPr lang="en-US" dirty="0"/>
              <a:t>&lt; </a:t>
            </a:r>
            <a:r>
              <a:rPr lang="en-US" dirty="0" err="1"/>
              <a:t>K</a:t>
            </a:r>
            <a:r>
              <a:rPr lang="en-US" baseline="-25000" dirty="0" err="1"/>
              <a:t>j</a:t>
            </a:r>
            <a:endParaRPr lang="en-US" baseline="-25000" dirty="0"/>
          </a:p>
          <a:p>
            <a:r>
              <a:rPr lang="nn-NO" dirty="0"/>
              <a:t>for </a:t>
            </a:r>
            <a:r>
              <a:rPr lang="nn-NO" i="1" dirty="0"/>
              <a:t>i = </a:t>
            </a:r>
            <a:r>
              <a:rPr lang="nn-NO" dirty="0"/>
              <a:t>1,2,..., </a:t>
            </a:r>
            <a:r>
              <a:rPr lang="nn-NO" i="1" dirty="0"/>
              <a:t>n − </a:t>
            </a:r>
            <a:r>
              <a:rPr lang="nn-NO" dirty="0"/>
              <a:t>1, </a:t>
            </a:r>
            <a:r>
              <a:rPr lang="en-US" dirty="0"/>
              <a:t>pointer P</a:t>
            </a:r>
            <a:r>
              <a:rPr lang="en-US" i="1" baseline="-25000" dirty="0"/>
              <a:t>i</a:t>
            </a:r>
            <a:r>
              <a:rPr lang="en-US" i="1" dirty="0"/>
              <a:t> </a:t>
            </a:r>
            <a:r>
              <a:rPr lang="en-US" dirty="0"/>
              <a:t>points to a file record with search-key value K</a:t>
            </a:r>
            <a:r>
              <a:rPr lang="en-US" i="1" baseline="-25000" dirty="0"/>
              <a:t>i </a:t>
            </a:r>
            <a:r>
              <a:rPr lang="en-US" dirty="0"/>
              <a:t>; pointer </a:t>
            </a:r>
            <a:r>
              <a:rPr lang="en-US" dirty="0" err="1"/>
              <a:t>P</a:t>
            </a:r>
            <a:r>
              <a:rPr lang="en-US" i="1" baseline="-25000" dirty="0" err="1"/>
              <a:t>n</a:t>
            </a:r>
            <a:r>
              <a:rPr lang="en-US" i="1" dirty="0"/>
              <a:t> </a:t>
            </a:r>
            <a:r>
              <a:rPr lang="en-US" dirty="0"/>
              <a:t>has special purpose</a:t>
            </a:r>
          </a:p>
        </p:txBody>
      </p:sp>
      <p:sp>
        <p:nvSpPr>
          <p:cNvPr id="4" name="Slide Number Placeholder 3">
            <a:extLst>
              <a:ext uri="{FF2B5EF4-FFF2-40B4-BE49-F238E27FC236}">
                <a16:creationId xmlns:a16="http://schemas.microsoft.com/office/drawing/2014/main" id="{8C1E419E-92C8-7E5A-802E-39F2B61782D4}"/>
              </a:ext>
            </a:extLst>
          </p:cNvPr>
          <p:cNvSpPr>
            <a:spLocks noGrp="1"/>
          </p:cNvSpPr>
          <p:nvPr>
            <p:ph type="sldNum" sz="quarter" idx="12"/>
          </p:nvPr>
        </p:nvSpPr>
        <p:spPr/>
        <p:txBody>
          <a:bodyPr/>
          <a:lstStyle/>
          <a:p>
            <a:fld id="{6264BDCF-5269-49AC-A246-ED26C2B980E3}" type="slidenum">
              <a:rPr lang="en-US" smtClean="0"/>
              <a:t>27</a:t>
            </a:fld>
            <a:endParaRPr lang="en-US"/>
          </a:p>
        </p:txBody>
      </p:sp>
      <p:pic>
        <p:nvPicPr>
          <p:cNvPr id="7" name="Picture 6">
            <a:extLst>
              <a:ext uri="{FF2B5EF4-FFF2-40B4-BE49-F238E27FC236}">
                <a16:creationId xmlns:a16="http://schemas.microsoft.com/office/drawing/2014/main" id="{0EC36C75-9A12-799F-98E2-B9601D2D15E2}"/>
              </a:ext>
            </a:extLst>
          </p:cNvPr>
          <p:cNvPicPr>
            <a:picLocks noChangeAspect="1"/>
          </p:cNvPicPr>
          <p:nvPr/>
        </p:nvPicPr>
        <p:blipFill>
          <a:blip r:embed="rId2"/>
          <a:stretch>
            <a:fillRect/>
          </a:stretch>
        </p:blipFill>
        <p:spPr>
          <a:xfrm>
            <a:off x="914400" y="457200"/>
            <a:ext cx="10555783" cy="813879"/>
          </a:xfrm>
          <a:prstGeom prst="rect">
            <a:avLst/>
          </a:prstGeom>
        </p:spPr>
      </p:pic>
    </p:spTree>
    <p:extLst>
      <p:ext uri="{BB962C8B-B14F-4D97-AF65-F5344CB8AC3E}">
        <p14:creationId xmlns:p14="http://schemas.microsoft.com/office/powerpoint/2010/main" val="1787239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F5BC4-1B8D-5266-EACA-F28B77AB714E}"/>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76982A27-0740-5EEC-BB09-C8820B6890F1}"/>
              </a:ext>
            </a:extLst>
          </p:cNvPr>
          <p:cNvPicPr>
            <a:picLocks noGrp="1" noChangeAspect="1"/>
          </p:cNvPicPr>
          <p:nvPr>
            <p:ph idx="1"/>
          </p:nvPr>
        </p:nvPicPr>
        <p:blipFill>
          <a:blip r:embed="rId2"/>
          <a:stretch>
            <a:fillRect/>
          </a:stretch>
        </p:blipFill>
        <p:spPr>
          <a:xfrm>
            <a:off x="1371600" y="1371600"/>
            <a:ext cx="9297516" cy="5390582"/>
          </a:xfrm>
          <a:prstGeom prst="rect">
            <a:avLst/>
          </a:prstGeom>
        </p:spPr>
      </p:pic>
      <p:sp>
        <p:nvSpPr>
          <p:cNvPr id="4" name="Slide Number Placeholder 3">
            <a:extLst>
              <a:ext uri="{FF2B5EF4-FFF2-40B4-BE49-F238E27FC236}">
                <a16:creationId xmlns:a16="http://schemas.microsoft.com/office/drawing/2014/main" id="{6D34232F-4AED-0337-07E4-53C5B12FC02A}"/>
              </a:ext>
            </a:extLst>
          </p:cNvPr>
          <p:cNvSpPr>
            <a:spLocks noGrp="1"/>
          </p:cNvSpPr>
          <p:nvPr>
            <p:ph type="sldNum" sz="quarter" idx="12"/>
          </p:nvPr>
        </p:nvSpPr>
        <p:spPr/>
        <p:txBody>
          <a:bodyPr/>
          <a:lstStyle/>
          <a:p>
            <a:fld id="{6264BDCF-5269-49AC-A246-ED26C2B980E3}" type="slidenum">
              <a:rPr lang="en-US" smtClean="0"/>
              <a:t>28</a:t>
            </a:fld>
            <a:endParaRPr lang="en-US"/>
          </a:p>
        </p:txBody>
      </p:sp>
    </p:spTree>
    <p:extLst>
      <p:ext uri="{BB962C8B-B14F-4D97-AF65-F5344CB8AC3E}">
        <p14:creationId xmlns:p14="http://schemas.microsoft.com/office/powerpoint/2010/main" val="3121700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7373D-7111-A871-8E47-22ED65AD19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7FDACC-887F-2F47-870F-4497CBB6AD71}"/>
              </a:ext>
            </a:extLst>
          </p:cNvPr>
          <p:cNvSpPr>
            <a:spLocks noGrp="1"/>
          </p:cNvSpPr>
          <p:nvPr>
            <p:ph idx="1"/>
          </p:nvPr>
        </p:nvSpPr>
        <p:spPr>
          <a:xfrm>
            <a:off x="838200" y="1232452"/>
            <a:ext cx="10515600" cy="4944511"/>
          </a:xfrm>
        </p:spPr>
        <p:txBody>
          <a:bodyPr>
            <a:normAutofit/>
          </a:bodyPr>
          <a:lstStyle/>
          <a:p>
            <a:r>
              <a:rPr lang="en-US" dirty="0"/>
              <a:t>each leaf can hold up to </a:t>
            </a:r>
            <a:r>
              <a:rPr lang="en-US" i="1" dirty="0"/>
              <a:t>n − </a:t>
            </a:r>
            <a:r>
              <a:rPr lang="en-US" dirty="0"/>
              <a:t>1 values</a:t>
            </a:r>
          </a:p>
          <a:p>
            <a:r>
              <a:rPr lang="en-US" dirty="0"/>
              <a:t>allow leaf nodes to contain as few as ⌈(</a:t>
            </a:r>
            <a:r>
              <a:rPr lang="en-US" i="1" dirty="0"/>
              <a:t>n </a:t>
            </a:r>
            <a:r>
              <a:rPr lang="en-US" dirty="0"/>
              <a:t>−1)/2⌉ values</a:t>
            </a:r>
          </a:p>
          <a:p>
            <a:r>
              <a:rPr lang="en-US" dirty="0"/>
              <a:t>with </a:t>
            </a:r>
            <a:r>
              <a:rPr lang="en-US" i="1" dirty="0"/>
              <a:t>n = </a:t>
            </a:r>
            <a:r>
              <a:rPr lang="en-US" dirty="0"/>
              <a:t>4 in our example B</a:t>
            </a:r>
            <a:r>
              <a:rPr lang="en-US" baseline="30000" dirty="0"/>
              <a:t>+</a:t>
            </a:r>
            <a:r>
              <a:rPr lang="en-US" dirty="0"/>
              <a:t>-tree, each leaf must contain at least two values, and at most three values</a:t>
            </a:r>
          </a:p>
          <a:p>
            <a:r>
              <a:rPr lang="en-US" dirty="0"/>
              <a:t>use </a:t>
            </a:r>
            <a:r>
              <a:rPr lang="en-US" dirty="0" err="1"/>
              <a:t>P</a:t>
            </a:r>
            <a:r>
              <a:rPr lang="en-US" i="1" baseline="-25000" dirty="0" err="1"/>
              <a:t>n</a:t>
            </a:r>
            <a:r>
              <a:rPr lang="en-US" i="1" dirty="0"/>
              <a:t> </a:t>
            </a:r>
            <a:r>
              <a:rPr lang="en-US" dirty="0"/>
              <a:t>to chain together the leaf nodes in search-key order; ordering allows for efficient sequential processing of file</a:t>
            </a:r>
          </a:p>
          <a:p>
            <a:r>
              <a:rPr lang="en-US" i="1" dirty="0"/>
              <a:t>non-leaf nodes </a:t>
            </a:r>
            <a:r>
              <a:rPr lang="en-US" dirty="0"/>
              <a:t>form a multilevel (sparse) index on leaf nodes</a:t>
            </a:r>
          </a:p>
          <a:p>
            <a:r>
              <a:rPr lang="en-US" dirty="0"/>
              <a:t>structure of non-leaf nodes is the same as that for leaf nodes, except that all pointers are pointers to tree nodes</a:t>
            </a:r>
          </a:p>
          <a:p>
            <a:r>
              <a:rPr lang="en-US" dirty="0"/>
              <a:t>non-leaf nodes are also referred to as </a:t>
            </a:r>
            <a:r>
              <a:rPr lang="en-US" i="1" dirty="0"/>
              <a:t>internal nodes</a:t>
            </a:r>
            <a:endParaRPr lang="en-US" dirty="0"/>
          </a:p>
          <a:p>
            <a:endParaRPr lang="en-US" dirty="0"/>
          </a:p>
        </p:txBody>
      </p:sp>
      <p:sp>
        <p:nvSpPr>
          <p:cNvPr id="4" name="Slide Number Placeholder 3">
            <a:extLst>
              <a:ext uri="{FF2B5EF4-FFF2-40B4-BE49-F238E27FC236}">
                <a16:creationId xmlns:a16="http://schemas.microsoft.com/office/drawing/2014/main" id="{35A33F05-A41C-FB41-10C6-607AEA7215D5}"/>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2848499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7B2FC-E074-BBB1-0885-734CE6A3B6BE}"/>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E067ABB1-9BC4-5194-6C3B-6EA98EAA9713}"/>
              </a:ext>
            </a:extLst>
          </p:cNvPr>
          <p:cNvPicPr>
            <a:picLocks noGrp="1" noChangeAspect="1"/>
          </p:cNvPicPr>
          <p:nvPr>
            <p:ph idx="1"/>
          </p:nvPr>
        </p:nvPicPr>
        <p:blipFill>
          <a:blip r:embed="rId2"/>
          <a:stretch>
            <a:fillRect/>
          </a:stretch>
        </p:blipFill>
        <p:spPr>
          <a:xfrm>
            <a:off x="914400" y="457200"/>
            <a:ext cx="10459705" cy="5878947"/>
          </a:xfrm>
          <a:prstGeom prst="rect">
            <a:avLst/>
          </a:prstGeom>
        </p:spPr>
      </p:pic>
      <p:sp>
        <p:nvSpPr>
          <p:cNvPr id="4" name="Slide Number Placeholder 3">
            <a:extLst>
              <a:ext uri="{FF2B5EF4-FFF2-40B4-BE49-F238E27FC236}">
                <a16:creationId xmlns:a16="http://schemas.microsoft.com/office/drawing/2014/main" id="{DE1EFFE8-82EF-3328-C11B-4902FFEC9917}"/>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1177631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019CB-F40F-E324-CA5A-562B8079E5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46FD05-EA5D-E885-D6D3-096CE0D1595F}"/>
              </a:ext>
            </a:extLst>
          </p:cNvPr>
          <p:cNvSpPr>
            <a:spLocks noGrp="1"/>
          </p:cNvSpPr>
          <p:nvPr>
            <p:ph idx="1"/>
          </p:nvPr>
        </p:nvSpPr>
        <p:spPr/>
        <p:txBody>
          <a:bodyPr/>
          <a:lstStyle/>
          <a:p>
            <a:r>
              <a:rPr lang="en-US" dirty="0"/>
              <a:t>B</a:t>
            </a:r>
            <a:r>
              <a:rPr lang="en-US" baseline="30000" dirty="0"/>
              <a:t>+</a:t>
            </a:r>
            <a:r>
              <a:rPr lang="en-US" dirty="0"/>
              <a:t>-tree for </a:t>
            </a:r>
            <a:r>
              <a:rPr lang="en-US" i="1" dirty="0"/>
              <a:t>instructor </a:t>
            </a:r>
            <a:r>
              <a:rPr lang="en-US" dirty="0"/>
              <a:t>file (</a:t>
            </a:r>
            <a:r>
              <a:rPr lang="en-US" i="1" dirty="0"/>
              <a:t>n </a:t>
            </a:r>
            <a:r>
              <a:rPr lang="en-US" dirty="0"/>
              <a:t>= 4)</a:t>
            </a:r>
          </a:p>
          <a:p>
            <a:r>
              <a:rPr lang="en-US" dirty="0"/>
              <a:t>another B</a:t>
            </a:r>
            <a:r>
              <a:rPr lang="en-US" baseline="30000" dirty="0"/>
              <a:t>+</a:t>
            </a:r>
            <a:r>
              <a:rPr lang="en-US" dirty="0"/>
              <a:t>-tree for </a:t>
            </a:r>
            <a:r>
              <a:rPr lang="en-US" i="1" dirty="0"/>
              <a:t>instructor </a:t>
            </a:r>
            <a:r>
              <a:rPr lang="en-US" dirty="0"/>
              <a:t>file (</a:t>
            </a:r>
            <a:r>
              <a:rPr lang="en-US" i="1" dirty="0"/>
              <a:t>n = </a:t>
            </a:r>
            <a:r>
              <a:rPr lang="en-US" dirty="0"/>
              <a:t>6)</a:t>
            </a:r>
          </a:p>
        </p:txBody>
      </p:sp>
      <p:sp>
        <p:nvSpPr>
          <p:cNvPr id="4" name="Slide Number Placeholder 3">
            <a:extLst>
              <a:ext uri="{FF2B5EF4-FFF2-40B4-BE49-F238E27FC236}">
                <a16:creationId xmlns:a16="http://schemas.microsoft.com/office/drawing/2014/main" id="{9883AED3-92BA-6EE0-484F-137367BCC213}"/>
              </a:ext>
            </a:extLst>
          </p:cNvPr>
          <p:cNvSpPr>
            <a:spLocks noGrp="1"/>
          </p:cNvSpPr>
          <p:nvPr>
            <p:ph type="sldNum" sz="quarter" idx="12"/>
          </p:nvPr>
        </p:nvSpPr>
        <p:spPr/>
        <p:txBody>
          <a:bodyPr/>
          <a:lstStyle/>
          <a:p>
            <a:fld id="{6264BDCF-5269-49AC-A246-ED26C2B980E3}" type="slidenum">
              <a:rPr lang="en-US" smtClean="0"/>
              <a:t>31</a:t>
            </a:fld>
            <a:endParaRPr lang="en-US"/>
          </a:p>
        </p:txBody>
      </p:sp>
      <p:pic>
        <p:nvPicPr>
          <p:cNvPr id="6" name="Picture 5">
            <a:extLst>
              <a:ext uri="{FF2B5EF4-FFF2-40B4-BE49-F238E27FC236}">
                <a16:creationId xmlns:a16="http://schemas.microsoft.com/office/drawing/2014/main" id="{54BD2D48-BB65-A387-5959-5D650440FD08}"/>
              </a:ext>
            </a:extLst>
          </p:cNvPr>
          <p:cNvPicPr>
            <a:picLocks noChangeAspect="1"/>
          </p:cNvPicPr>
          <p:nvPr/>
        </p:nvPicPr>
        <p:blipFill>
          <a:blip r:embed="rId2"/>
          <a:stretch>
            <a:fillRect/>
          </a:stretch>
        </p:blipFill>
        <p:spPr>
          <a:xfrm>
            <a:off x="1188720" y="3017520"/>
            <a:ext cx="9643700" cy="1298192"/>
          </a:xfrm>
          <a:prstGeom prst="rect">
            <a:avLst/>
          </a:prstGeom>
        </p:spPr>
      </p:pic>
    </p:spTree>
    <p:extLst>
      <p:ext uri="{BB962C8B-B14F-4D97-AF65-F5344CB8AC3E}">
        <p14:creationId xmlns:p14="http://schemas.microsoft.com/office/powerpoint/2010/main" val="4132511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5C5BD-6371-447C-A91D-B76785037C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8D3847-7037-2A68-F297-56C22D0EDE98}"/>
              </a:ext>
            </a:extLst>
          </p:cNvPr>
          <p:cNvSpPr>
            <a:spLocks noGrp="1"/>
          </p:cNvSpPr>
          <p:nvPr>
            <p:ph idx="1"/>
          </p:nvPr>
        </p:nvSpPr>
        <p:spPr/>
        <p:txBody>
          <a:bodyPr/>
          <a:lstStyle/>
          <a:p>
            <a:r>
              <a:rPr lang="en-US" dirty="0"/>
              <a:t>B</a:t>
            </a:r>
            <a:r>
              <a:rPr lang="en-US" baseline="30000" dirty="0"/>
              <a:t>+</a:t>
            </a:r>
            <a:r>
              <a:rPr lang="en-US" dirty="0"/>
              <a:t>-trees are all balanced – length of every path from root to leaf node is the same - requirement for B</a:t>
            </a:r>
            <a:r>
              <a:rPr lang="en-US" baseline="30000" dirty="0"/>
              <a:t>+</a:t>
            </a:r>
            <a:r>
              <a:rPr lang="en-US" dirty="0"/>
              <a:t>-tree - the “B” in B</a:t>
            </a:r>
            <a:r>
              <a:rPr lang="en-US" baseline="30000" dirty="0"/>
              <a:t>+</a:t>
            </a:r>
            <a:r>
              <a:rPr lang="en-US" dirty="0"/>
              <a:t>-tree stands for “Balanced” </a:t>
            </a:r>
          </a:p>
          <a:p>
            <a:r>
              <a:rPr lang="en-US" dirty="0"/>
              <a:t>balance property of B</a:t>
            </a:r>
            <a:r>
              <a:rPr lang="en-US" baseline="30000" dirty="0"/>
              <a:t>+</a:t>
            </a:r>
            <a:r>
              <a:rPr lang="en-US" dirty="0"/>
              <a:t>-trees ensures good performance for lookup, insertion, and deletion</a:t>
            </a:r>
          </a:p>
        </p:txBody>
      </p:sp>
      <p:sp>
        <p:nvSpPr>
          <p:cNvPr id="4" name="Slide Number Placeholder 3">
            <a:extLst>
              <a:ext uri="{FF2B5EF4-FFF2-40B4-BE49-F238E27FC236}">
                <a16:creationId xmlns:a16="http://schemas.microsoft.com/office/drawing/2014/main" id="{99B7BEF4-6686-7BC7-2101-5C31F1440D74}"/>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1208146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0FA7A-A3B3-18B7-22FF-7D725ED54F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4D2590-30A6-9F20-945C-04A024BD444A}"/>
              </a:ext>
            </a:extLst>
          </p:cNvPr>
          <p:cNvSpPr>
            <a:spLocks noGrp="1"/>
          </p:cNvSpPr>
          <p:nvPr>
            <p:ph idx="1"/>
          </p:nvPr>
        </p:nvSpPr>
        <p:spPr/>
        <p:txBody>
          <a:bodyPr/>
          <a:lstStyle/>
          <a:p>
            <a:r>
              <a:rPr lang="en-US" dirty="0"/>
              <a:t>most database implementations make search keys unique as follows:</a:t>
            </a:r>
          </a:p>
          <a:p>
            <a:r>
              <a:rPr lang="en-US" dirty="0"/>
              <a:t>desired search key attribute </a:t>
            </a:r>
            <a:r>
              <a:rPr lang="en-US" i="1" dirty="0"/>
              <a:t>a</a:t>
            </a:r>
            <a:r>
              <a:rPr lang="en-US" i="1" baseline="-25000" dirty="0"/>
              <a:t>i</a:t>
            </a:r>
            <a:r>
              <a:rPr lang="en-US" i="1" dirty="0"/>
              <a:t> </a:t>
            </a:r>
            <a:r>
              <a:rPr lang="en-US" dirty="0"/>
              <a:t>of relation </a:t>
            </a:r>
            <a:r>
              <a:rPr lang="en-US" i="1" dirty="0"/>
              <a:t>r </a:t>
            </a:r>
            <a:r>
              <a:rPr lang="en-US" dirty="0"/>
              <a:t>is nonunique; let </a:t>
            </a:r>
            <a:r>
              <a:rPr lang="en-US" i="1" dirty="0"/>
              <a:t>A</a:t>
            </a:r>
            <a:r>
              <a:rPr lang="en-US" i="1" baseline="-25000" dirty="0"/>
              <a:t>p</a:t>
            </a:r>
            <a:r>
              <a:rPr lang="en-US" i="1" dirty="0"/>
              <a:t> </a:t>
            </a:r>
            <a:r>
              <a:rPr lang="en-US" dirty="0"/>
              <a:t>be the primary key of </a:t>
            </a:r>
            <a:r>
              <a:rPr lang="en-US" i="1" dirty="0"/>
              <a:t>r - </a:t>
            </a:r>
            <a:r>
              <a:rPr lang="en-US" dirty="0"/>
              <a:t>then unique composite search key (</a:t>
            </a:r>
            <a:r>
              <a:rPr lang="en-US" i="1" dirty="0"/>
              <a:t>a</a:t>
            </a:r>
            <a:r>
              <a:rPr lang="en-US" i="1" baseline="-25000" dirty="0"/>
              <a:t>i</a:t>
            </a:r>
            <a:r>
              <a:rPr lang="en-US" dirty="0"/>
              <a:t>, </a:t>
            </a:r>
            <a:r>
              <a:rPr lang="en-US" i="1" dirty="0"/>
              <a:t>A</a:t>
            </a:r>
            <a:r>
              <a:rPr lang="en-US" i="1" baseline="-25000" dirty="0"/>
              <a:t>p</a:t>
            </a:r>
            <a:r>
              <a:rPr lang="en-US" dirty="0"/>
              <a:t>) is used instead of </a:t>
            </a:r>
            <a:r>
              <a:rPr lang="en-US" i="1" dirty="0"/>
              <a:t>a</a:t>
            </a:r>
            <a:r>
              <a:rPr lang="en-US" i="1" baseline="-25000" dirty="0"/>
              <a:t>i</a:t>
            </a:r>
            <a:r>
              <a:rPr lang="en-US" i="1" dirty="0"/>
              <a:t> </a:t>
            </a:r>
            <a:r>
              <a:rPr lang="en-US" dirty="0"/>
              <a:t>when building the index</a:t>
            </a:r>
          </a:p>
        </p:txBody>
      </p:sp>
      <p:sp>
        <p:nvSpPr>
          <p:cNvPr id="4" name="Slide Number Placeholder 3">
            <a:extLst>
              <a:ext uri="{FF2B5EF4-FFF2-40B4-BE49-F238E27FC236}">
                <a16:creationId xmlns:a16="http://schemas.microsoft.com/office/drawing/2014/main" id="{B9F4F5BF-4D59-497B-9F47-B1AD7D215EC9}"/>
              </a:ext>
            </a:extLst>
          </p:cNvPr>
          <p:cNvSpPr>
            <a:spLocks noGrp="1"/>
          </p:cNvSpPr>
          <p:nvPr>
            <p:ph type="sldNum" sz="quarter" idx="12"/>
          </p:nvPr>
        </p:nvSpPr>
        <p:spPr/>
        <p:txBody>
          <a:bodyPr/>
          <a:lstStyle/>
          <a:p>
            <a:fld id="{6264BDCF-5269-49AC-A246-ED26C2B980E3}" type="slidenum">
              <a:rPr lang="en-US" smtClean="0"/>
              <a:t>33</a:t>
            </a:fld>
            <a:endParaRPr lang="en-US"/>
          </a:p>
        </p:txBody>
      </p:sp>
    </p:spTree>
    <p:extLst>
      <p:ext uri="{BB962C8B-B14F-4D97-AF65-F5344CB8AC3E}">
        <p14:creationId xmlns:p14="http://schemas.microsoft.com/office/powerpoint/2010/main" val="2268212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81F37-3DF7-08D0-1647-DB0EB5D41999}"/>
              </a:ext>
            </a:extLst>
          </p:cNvPr>
          <p:cNvSpPr>
            <a:spLocks noGrp="1"/>
          </p:cNvSpPr>
          <p:nvPr>
            <p:ph type="title"/>
          </p:nvPr>
        </p:nvSpPr>
        <p:spPr/>
        <p:txBody>
          <a:bodyPr/>
          <a:lstStyle/>
          <a:p>
            <a:r>
              <a:rPr lang="en-US" dirty="0"/>
              <a:t>Queries on B</a:t>
            </a:r>
            <a:r>
              <a:rPr lang="en-US" baseline="30000" dirty="0"/>
              <a:t>+</a:t>
            </a:r>
            <a:r>
              <a:rPr lang="en-US" dirty="0"/>
              <a:t>-Trees</a:t>
            </a:r>
          </a:p>
        </p:txBody>
      </p:sp>
      <p:sp>
        <p:nvSpPr>
          <p:cNvPr id="3" name="Content Placeholder 2">
            <a:extLst>
              <a:ext uri="{FF2B5EF4-FFF2-40B4-BE49-F238E27FC236}">
                <a16:creationId xmlns:a16="http://schemas.microsoft.com/office/drawing/2014/main" id="{F457711F-2B22-B62D-CFED-FDB6EE5BFE14}"/>
              </a:ext>
            </a:extLst>
          </p:cNvPr>
          <p:cNvSpPr>
            <a:spLocks noGrp="1"/>
          </p:cNvSpPr>
          <p:nvPr>
            <p:ph idx="1"/>
          </p:nvPr>
        </p:nvSpPr>
        <p:spPr/>
        <p:txBody>
          <a:bodyPr/>
          <a:lstStyle/>
          <a:p>
            <a:endParaRPr lang="en-US" dirty="0"/>
          </a:p>
          <a:p>
            <a:r>
              <a:rPr lang="en-US" dirty="0"/>
              <a:t>range queries</a:t>
            </a:r>
          </a:p>
        </p:txBody>
      </p:sp>
      <p:sp>
        <p:nvSpPr>
          <p:cNvPr id="4" name="Slide Number Placeholder 3">
            <a:extLst>
              <a:ext uri="{FF2B5EF4-FFF2-40B4-BE49-F238E27FC236}">
                <a16:creationId xmlns:a16="http://schemas.microsoft.com/office/drawing/2014/main" id="{106B5458-C9F8-1755-1D7A-17208744E79C}"/>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1865301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C2EF4-6490-4E38-BD9E-23AC8AEECF07}"/>
              </a:ext>
            </a:extLst>
          </p:cNvPr>
          <p:cNvSpPr>
            <a:spLocks noGrp="1"/>
          </p:cNvSpPr>
          <p:nvPr>
            <p:ph type="title"/>
          </p:nvPr>
        </p:nvSpPr>
        <p:spPr/>
        <p:txBody>
          <a:bodyPr/>
          <a:lstStyle/>
          <a:p>
            <a:r>
              <a:rPr lang="en-US" dirty="0"/>
              <a:t>Updates on B</a:t>
            </a:r>
            <a:r>
              <a:rPr lang="en-US" baseline="30000" dirty="0"/>
              <a:t>+</a:t>
            </a:r>
            <a:r>
              <a:rPr lang="en-US" dirty="0"/>
              <a:t>-Trees</a:t>
            </a:r>
          </a:p>
        </p:txBody>
      </p:sp>
      <p:sp>
        <p:nvSpPr>
          <p:cNvPr id="3" name="Content Placeholder 2">
            <a:extLst>
              <a:ext uri="{FF2B5EF4-FFF2-40B4-BE49-F238E27FC236}">
                <a16:creationId xmlns:a16="http://schemas.microsoft.com/office/drawing/2014/main" id="{7043DB64-F1A2-919E-6A9D-16E45EF0345C}"/>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02AACF58-393C-ED73-D27F-C16C51EA0F9C}"/>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3655747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A77F-ACBE-CBC6-0A4B-D280AF90DA38}"/>
              </a:ext>
            </a:extLst>
          </p:cNvPr>
          <p:cNvSpPr>
            <a:spLocks noGrp="1"/>
          </p:cNvSpPr>
          <p:nvPr>
            <p:ph type="title"/>
          </p:nvPr>
        </p:nvSpPr>
        <p:spPr/>
        <p:txBody>
          <a:bodyPr/>
          <a:lstStyle/>
          <a:p>
            <a:r>
              <a:rPr lang="en-US" dirty="0"/>
              <a:t>B-Tree Index Files</a:t>
            </a:r>
          </a:p>
        </p:txBody>
      </p:sp>
      <p:sp>
        <p:nvSpPr>
          <p:cNvPr id="3" name="Content Placeholder 2">
            <a:extLst>
              <a:ext uri="{FF2B5EF4-FFF2-40B4-BE49-F238E27FC236}">
                <a16:creationId xmlns:a16="http://schemas.microsoft.com/office/drawing/2014/main" id="{ADDA8E5E-2014-BB15-0EDD-C9D8EEBFF06C}"/>
              </a:ext>
            </a:extLst>
          </p:cNvPr>
          <p:cNvSpPr>
            <a:spLocks noGrp="1"/>
          </p:cNvSpPr>
          <p:nvPr>
            <p:ph idx="1"/>
          </p:nvPr>
        </p:nvSpPr>
        <p:spPr/>
        <p:txBody>
          <a:bodyPr/>
          <a:lstStyle/>
          <a:p>
            <a:r>
              <a:rPr lang="en-US" dirty="0"/>
              <a:t>are similar to B</a:t>
            </a:r>
            <a:r>
              <a:rPr lang="en-US" baseline="30000" dirty="0"/>
              <a:t>+</a:t>
            </a:r>
            <a:r>
              <a:rPr lang="en-US" dirty="0"/>
              <a:t>-tree indexes, distinction between the two approaches is that a B-tree eliminates the redundant storage of search-key values</a:t>
            </a:r>
          </a:p>
        </p:txBody>
      </p:sp>
      <p:sp>
        <p:nvSpPr>
          <p:cNvPr id="4" name="Slide Number Placeholder 3">
            <a:extLst>
              <a:ext uri="{FF2B5EF4-FFF2-40B4-BE49-F238E27FC236}">
                <a16:creationId xmlns:a16="http://schemas.microsoft.com/office/drawing/2014/main" id="{78B93DA1-1983-AAEA-9BF6-9E244558C8D5}"/>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1182900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80447-3992-F53E-3907-FA62A40BAC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03A5B67-CEFA-48B1-7C97-88E00C03ED5C}"/>
              </a:ext>
            </a:extLst>
          </p:cNvPr>
          <p:cNvSpPr>
            <a:spLocks noGrp="1"/>
          </p:cNvSpPr>
          <p:nvPr>
            <p:ph type="title"/>
          </p:nvPr>
        </p:nvSpPr>
        <p:spPr/>
        <p:txBody>
          <a:bodyPr/>
          <a:lstStyle/>
          <a:p>
            <a:r>
              <a:rPr lang="en-US" dirty="0"/>
              <a:t>Hash</a:t>
            </a:r>
          </a:p>
        </p:txBody>
      </p:sp>
      <p:sp>
        <p:nvSpPr>
          <p:cNvPr id="6" name="Text Placeholder 5">
            <a:extLst>
              <a:ext uri="{FF2B5EF4-FFF2-40B4-BE49-F238E27FC236}">
                <a16:creationId xmlns:a16="http://schemas.microsoft.com/office/drawing/2014/main" id="{3C8CEDDF-5548-4498-A293-6A4F33B680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6AB3F8-DA7B-4352-4DA5-F9C91A634A9F}"/>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3379487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3A168B-F553-C052-7B0D-140C039400EF}"/>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E007A68D-F75C-A8EF-1E6D-28C1F9BB7FE6}"/>
              </a:ext>
            </a:extLst>
          </p:cNvPr>
          <p:cNvSpPr>
            <a:spLocks noGrp="1"/>
          </p:cNvSpPr>
          <p:nvPr>
            <p:ph idx="1"/>
          </p:nvPr>
        </p:nvSpPr>
        <p:spPr/>
        <p:txBody>
          <a:bodyPr/>
          <a:lstStyle/>
          <a:p>
            <a:r>
              <a:rPr lang="en-US" dirty="0"/>
              <a:t>Hashing algorithms are mathematical functions that convert data of any size into a fixed-length string of characters (a hash or digest) in a one-way, irreversible process, used to verify data integrity, secure passwords, and efficiently store/retrieve data in hash tables</a:t>
            </a:r>
          </a:p>
          <a:p>
            <a:r>
              <a:rPr lang="en-US" dirty="0"/>
              <a:t>must be fast, deterministic (same input always yields same output), and collision-resistant (different inputs rarely yield the same output), exhibiting the "avalanche effect" where tiny input changes drastically alter the output</a:t>
            </a:r>
          </a:p>
        </p:txBody>
      </p:sp>
      <p:sp>
        <p:nvSpPr>
          <p:cNvPr id="4" name="Slide Number Placeholder 3">
            <a:extLst>
              <a:ext uri="{FF2B5EF4-FFF2-40B4-BE49-F238E27FC236}">
                <a16:creationId xmlns:a16="http://schemas.microsoft.com/office/drawing/2014/main" id="{045B600B-4BBA-F5AD-FCE0-F45634B2DD91}"/>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3553322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5D8C91-7412-19B4-8CC7-5F07D56FE526}"/>
              </a:ext>
            </a:extLst>
          </p:cNvPr>
          <p:cNvSpPr>
            <a:spLocks noGrp="1"/>
          </p:cNvSpPr>
          <p:nvPr>
            <p:ph type="title"/>
          </p:nvPr>
        </p:nvSpPr>
        <p:spPr/>
        <p:txBody>
          <a:bodyPr/>
          <a:lstStyle/>
          <a:p>
            <a:r>
              <a:rPr lang="en-US" dirty="0"/>
              <a:t>Hash indexes</a:t>
            </a:r>
          </a:p>
        </p:txBody>
      </p:sp>
      <p:sp>
        <p:nvSpPr>
          <p:cNvPr id="6" name="Content Placeholder 5">
            <a:extLst>
              <a:ext uri="{FF2B5EF4-FFF2-40B4-BE49-F238E27FC236}">
                <a16:creationId xmlns:a16="http://schemas.microsoft.com/office/drawing/2014/main" id="{08238255-C68C-DCC9-EFB7-782E63002308}"/>
              </a:ext>
            </a:extLst>
          </p:cNvPr>
          <p:cNvSpPr>
            <a:spLocks noGrp="1"/>
          </p:cNvSpPr>
          <p:nvPr>
            <p:ph idx="1"/>
          </p:nvPr>
        </p:nvSpPr>
        <p:spPr/>
        <p:txBody>
          <a:bodyPr>
            <a:normAutofit/>
          </a:bodyPr>
          <a:lstStyle/>
          <a:p>
            <a:r>
              <a:rPr lang="en-US" dirty="0"/>
              <a:t>Hashing is a widely used technique for building indexes; such indexes may be transiently created to process join operation or may be permanent structure</a:t>
            </a:r>
          </a:p>
          <a:p>
            <a:r>
              <a:rPr lang="en-US" dirty="0"/>
              <a:t>Hashing has also been used as a way of organizing records in file</a:t>
            </a:r>
          </a:p>
        </p:txBody>
      </p:sp>
      <p:sp>
        <p:nvSpPr>
          <p:cNvPr id="4" name="Slide Number Placeholder 3">
            <a:extLst>
              <a:ext uri="{FF2B5EF4-FFF2-40B4-BE49-F238E27FC236}">
                <a16:creationId xmlns:a16="http://schemas.microsoft.com/office/drawing/2014/main" id="{BD6ED97C-1ECE-13FF-0602-1B3D1E6EE48C}"/>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3926639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84C2E-9C83-C5E2-0E84-B1415381B9EE}"/>
              </a:ext>
            </a:extLst>
          </p:cNvPr>
          <p:cNvSpPr>
            <a:spLocks noGrp="1"/>
          </p:cNvSpPr>
          <p:nvPr>
            <p:ph type="title"/>
          </p:nvPr>
        </p:nvSpPr>
        <p:spPr/>
        <p:txBody>
          <a:bodyPr/>
          <a:lstStyle/>
          <a:p>
            <a:r>
              <a:rPr lang="en-US" dirty="0"/>
              <a:t>bucket</a:t>
            </a:r>
          </a:p>
        </p:txBody>
      </p:sp>
      <p:sp>
        <p:nvSpPr>
          <p:cNvPr id="3" name="Content Placeholder 2">
            <a:extLst>
              <a:ext uri="{FF2B5EF4-FFF2-40B4-BE49-F238E27FC236}">
                <a16:creationId xmlns:a16="http://schemas.microsoft.com/office/drawing/2014/main" id="{A3A8AD27-901C-84B0-1D3D-33F9E9DD155D}"/>
              </a:ext>
            </a:extLst>
          </p:cNvPr>
          <p:cNvSpPr>
            <a:spLocks noGrp="1"/>
          </p:cNvSpPr>
          <p:nvPr>
            <p:ph idx="1"/>
          </p:nvPr>
        </p:nvSpPr>
        <p:spPr>
          <a:xfrm>
            <a:off x="838200" y="1825625"/>
            <a:ext cx="10675374" cy="4351338"/>
          </a:xfrm>
        </p:spPr>
        <p:txBody>
          <a:bodyPr>
            <a:normAutofit/>
          </a:bodyPr>
          <a:lstStyle/>
          <a:p>
            <a:r>
              <a:rPr lang="en-US" dirty="0"/>
              <a:t>unit of storage that can store records</a:t>
            </a:r>
          </a:p>
          <a:p>
            <a:r>
              <a:rPr lang="en-US" dirty="0"/>
              <a:t>a linked list of disk blocks</a:t>
            </a:r>
          </a:p>
          <a:p>
            <a:r>
              <a:rPr lang="en-US" dirty="0"/>
              <a:t>in hash file organization, instead of record pointers, buckets store the actual records; such structures only make sense with disk-resident data</a:t>
            </a:r>
          </a:p>
        </p:txBody>
      </p:sp>
      <p:sp>
        <p:nvSpPr>
          <p:cNvPr id="4" name="Slide Number Placeholder 3">
            <a:extLst>
              <a:ext uri="{FF2B5EF4-FFF2-40B4-BE49-F238E27FC236}">
                <a16:creationId xmlns:a16="http://schemas.microsoft.com/office/drawing/2014/main" id="{5FC10F13-69B4-4876-3E17-70547E409B48}"/>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2521414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4EDD-69FD-DFDB-C8DB-E773624CF2C4}"/>
              </a:ext>
            </a:extLst>
          </p:cNvPr>
          <p:cNvSpPr>
            <a:spLocks noGrp="1"/>
          </p:cNvSpPr>
          <p:nvPr>
            <p:ph type="title"/>
          </p:nvPr>
        </p:nvSpPr>
        <p:spPr/>
        <p:txBody>
          <a:bodyPr/>
          <a:lstStyle/>
          <a:p>
            <a:r>
              <a:rPr lang="en-US" dirty="0"/>
              <a:t>hash function</a:t>
            </a:r>
          </a:p>
        </p:txBody>
      </p:sp>
      <p:sp>
        <p:nvSpPr>
          <p:cNvPr id="3" name="Content Placeholder 2">
            <a:extLst>
              <a:ext uri="{FF2B5EF4-FFF2-40B4-BE49-F238E27FC236}">
                <a16:creationId xmlns:a16="http://schemas.microsoft.com/office/drawing/2014/main" id="{A9732CF1-1DF1-8C5F-34E6-0A4E192A852A}"/>
              </a:ext>
            </a:extLst>
          </p:cNvPr>
          <p:cNvSpPr>
            <a:spLocks noGrp="1"/>
          </p:cNvSpPr>
          <p:nvPr>
            <p:ph idx="1"/>
          </p:nvPr>
        </p:nvSpPr>
        <p:spPr/>
        <p:txBody>
          <a:bodyPr/>
          <a:lstStyle/>
          <a:p>
            <a:r>
              <a:rPr lang="en-US" dirty="0"/>
              <a:t>let </a:t>
            </a:r>
            <a:r>
              <a:rPr lang="en-US" i="1" dirty="0"/>
              <a:t>K </a:t>
            </a:r>
            <a:r>
              <a:rPr lang="en-US" dirty="0"/>
              <a:t>denote set of all search-key values</a:t>
            </a:r>
          </a:p>
          <a:p>
            <a:r>
              <a:rPr lang="en-US" dirty="0"/>
              <a:t>let </a:t>
            </a:r>
            <a:r>
              <a:rPr lang="en-US" i="1" dirty="0"/>
              <a:t>B </a:t>
            </a:r>
            <a:r>
              <a:rPr lang="en-US" dirty="0"/>
              <a:t>denote set of all bucket addresses</a:t>
            </a:r>
          </a:p>
          <a:p>
            <a:r>
              <a:rPr lang="en-US" dirty="0"/>
              <a:t>let </a:t>
            </a:r>
            <a:r>
              <a:rPr lang="en-US" i="1" dirty="0"/>
              <a:t>h </a:t>
            </a:r>
            <a:r>
              <a:rPr lang="en-US" dirty="0"/>
              <a:t>denote a hash function - hash function</a:t>
            </a:r>
            <a:r>
              <a:rPr lang="en-US" b="1" dirty="0"/>
              <a:t> </a:t>
            </a:r>
            <a:r>
              <a:rPr lang="en-US" i="1" dirty="0"/>
              <a:t>h </a:t>
            </a:r>
            <a:r>
              <a:rPr lang="en-US" dirty="0"/>
              <a:t>is function from </a:t>
            </a:r>
            <a:r>
              <a:rPr lang="en-US" i="1" dirty="0"/>
              <a:t>K </a:t>
            </a:r>
            <a:r>
              <a:rPr lang="en-US" dirty="0"/>
              <a:t>to </a:t>
            </a:r>
            <a:r>
              <a:rPr lang="en-US" i="1" dirty="0"/>
              <a:t>B</a:t>
            </a:r>
          </a:p>
          <a:p>
            <a:r>
              <a:rPr lang="en-US" dirty="0"/>
              <a:t>to insert record with search key </a:t>
            </a:r>
            <a:r>
              <a:rPr lang="en-US" i="1" dirty="0"/>
              <a:t>K</a:t>
            </a:r>
            <a:r>
              <a:rPr lang="en-US" i="1" baseline="-25000" dirty="0"/>
              <a:t>i</a:t>
            </a:r>
            <a:r>
              <a:rPr lang="en-US" dirty="0"/>
              <a:t>, we compute </a:t>
            </a:r>
            <a:r>
              <a:rPr lang="en-US" i="1" dirty="0"/>
              <a:t>h</a:t>
            </a:r>
            <a:r>
              <a:rPr lang="en-US" dirty="0"/>
              <a:t>(</a:t>
            </a:r>
            <a:r>
              <a:rPr lang="en-US" i="1" dirty="0"/>
              <a:t>K</a:t>
            </a:r>
            <a:r>
              <a:rPr lang="en-US" i="1" baseline="-25000" dirty="0"/>
              <a:t>i</a:t>
            </a:r>
            <a:r>
              <a:rPr lang="en-US" dirty="0"/>
              <a:t>)</a:t>
            </a:r>
            <a:r>
              <a:rPr lang="en-US" i="1" dirty="0"/>
              <a:t>, </a:t>
            </a:r>
            <a:r>
              <a:rPr lang="en-US" dirty="0"/>
              <a:t>which gives the address of bucket for that record</a:t>
            </a:r>
          </a:p>
          <a:p>
            <a:r>
              <a:rPr lang="en-US" dirty="0"/>
              <a:t>hash indexes efficiently support equality queries on search keys</a:t>
            </a:r>
          </a:p>
          <a:p>
            <a:r>
              <a:rPr lang="en-US" dirty="0"/>
              <a:t>unlike B</a:t>
            </a:r>
            <a:r>
              <a:rPr lang="en-US" baseline="30000" dirty="0"/>
              <a:t>+</a:t>
            </a:r>
            <a:r>
              <a:rPr lang="en-US" dirty="0"/>
              <a:t>-tree indexes, hash indexes do not support range queries</a:t>
            </a:r>
          </a:p>
        </p:txBody>
      </p:sp>
      <p:sp>
        <p:nvSpPr>
          <p:cNvPr id="4" name="Slide Number Placeholder 3">
            <a:extLst>
              <a:ext uri="{FF2B5EF4-FFF2-40B4-BE49-F238E27FC236}">
                <a16:creationId xmlns:a16="http://schemas.microsoft.com/office/drawing/2014/main" id="{8899BE48-6718-3F99-C1AF-1F8FEE07A6EA}"/>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19960706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61BC64-8171-4384-9EEE-B6CB61960087}"/>
              </a:ext>
            </a:extLst>
          </p:cNvPr>
          <p:cNvSpPr>
            <a:spLocks noGrp="1"/>
          </p:cNvSpPr>
          <p:nvPr>
            <p:ph type="title"/>
          </p:nvPr>
        </p:nvSpPr>
        <p:spPr/>
        <p:txBody>
          <a:bodyPr/>
          <a:lstStyle/>
          <a:p>
            <a:r>
              <a:rPr lang="en-US" dirty="0"/>
              <a:t>Bitmap</a:t>
            </a:r>
          </a:p>
        </p:txBody>
      </p:sp>
      <p:sp>
        <p:nvSpPr>
          <p:cNvPr id="6" name="Text Placeholder 5">
            <a:extLst>
              <a:ext uri="{FF2B5EF4-FFF2-40B4-BE49-F238E27FC236}">
                <a16:creationId xmlns:a16="http://schemas.microsoft.com/office/drawing/2014/main" id="{40962E25-963B-127C-8830-FA4F25730B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568F5D-4C88-723F-8018-6579161EBC31}"/>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2624991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477D64-82B5-E864-D514-56458EA60214}"/>
              </a:ext>
            </a:extLst>
          </p:cNvPr>
          <p:cNvSpPr>
            <a:spLocks noGrp="1"/>
          </p:cNvSpPr>
          <p:nvPr>
            <p:ph type="title"/>
          </p:nvPr>
        </p:nvSpPr>
        <p:spPr/>
        <p:txBody>
          <a:bodyPr/>
          <a:lstStyle/>
          <a:p>
            <a:r>
              <a:rPr lang="en-US" dirty="0"/>
              <a:t>Bitmap indexes</a:t>
            </a:r>
          </a:p>
        </p:txBody>
      </p:sp>
      <p:sp>
        <p:nvSpPr>
          <p:cNvPr id="6" name="Content Placeholder 5">
            <a:extLst>
              <a:ext uri="{FF2B5EF4-FFF2-40B4-BE49-F238E27FC236}">
                <a16:creationId xmlns:a16="http://schemas.microsoft.com/office/drawing/2014/main" id="{4D37AF6F-94F4-4EFB-4408-F2EFBCE666DD}"/>
              </a:ext>
            </a:extLst>
          </p:cNvPr>
          <p:cNvSpPr>
            <a:spLocks noGrp="1"/>
          </p:cNvSpPr>
          <p:nvPr>
            <p:ph idx="1"/>
          </p:nvPr>
        </p:nvSpPr>
        <p:spPr/>
        <p:txBody>
          <a:bodyPr/>
          <a:lstStyle/>
          <a:p>
            <a:r>
              <a:rPr lang="en-US" dirty="0"/>
              <a:t>bitmap indexes are a specialized type of index designed for easy querying on multiple keys, although each bitmap index is built on a single key</a:t>
            </a:r>
          </a:p>
          <a:p>
            <a:endParaRPr lang="en-US" dirty="0"/>
          </a:p>
        </p:txBody>
      </p:sp>
      <p:sp>
        <p:nvSpPr>
          <p:cNvPr id="4" name="Slide Number Placeholder 3">
            <a:extLst>
              <a:ext uri="{FF2B5EF4-FFF2-40B4-BE49-F238E27FC236}">
                <a16:creationId xmlns:a16="http://schemas.microsoft.com/office/drawing/2014/main" id="{631EF390-9BD4-7BED-9B54-06A74E0EB87D}"/>
              </a:ext>
            </a:extLst>
          </p:cNvPr>
          <p:cNvSpPr>
            <a:spLocks noGrp="1"/>
          </p:cNvSpPr>
          <p:nvPr>
            <p:ph type="sldNum" sz="quarter" idx="12"/>
          </p:nvPr>
        </p:nvSpPr>
        <p:spPr/>
        <p:txBody>
          <a:bodyPr/>
          <a:lstStyle/>
          <a:p>
            <a:fld id="{6264BDCF-5269-49AC-A246-ED26C2B980E3}" type="slidenum">
              <a:rPr lang="en-US" smtClean="0"/>
              <a:t>43</a:t>
            </a:fld>
            <a:endParaRPr lang="en-US"/>
          </a:p>
        </p:txBody>
      </p:sp>
    </p:spTree>
    <p:extLst>
      <p:ext uri="{BB962C8B-B14F-4D97-AF65-F5344CB8AC3E}">
        <p14:creationId xmlns:p14="http://schemas.microsoft.com/office/powerpoint/2010/main" val="1719539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DF51-AD98-CB6E-CF92-8F8BFEA506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E56151-96CC-F99A-F04C-A30CF73B30C8}"/>
              </a:ext>
            </a:extLst>
          </p:cNvPr>
          <p:cNvSpPr>
            <a:spLocks noGrp="1"/>
          </p:cNvSpPr>
          <p:nvPr>
            <p:ph idx="1"/>
          </p:nvPr>
        </p:nvSpPr>
        <p:spPr/>
        <p:txBody>
          <a:bodyPr>
            <a:noAutofit/>
          </a:bodyPr>
          <a:lstStyle/>
          <a:p>
            <a:r>
              <a:rPr lang="en-US" dirty="0"/>
              <a:t>for bitmap indexes to be used, records in relation must be numbered sequentially - given a number </a:t>
            </a:r>
            <a:r>
              <a:rPr lang="en-US" i="1" dirty="0"/>
              <a:t>n</a:t>
            </a:r>
            <a:r>
              <a:rPr lang="en-US" dirty="0"/>
              <a:t>, it must be easy to retrieve record numbered </a:t>
            </a:r>
            <a:r>
              <a:rPr lang="en-US" i="1" dirty="0"/>
              <a:t>n - </a:t>
            </a:r>
            <a:r>
              <a:rPr lang="en-US" dirty="0"/>
              <a:t>achieved when records are fixed in size and allocated on consecutive blocks of file</a:t>
            </a:r>
          </a:p>
        </p:txBody>
      </p:sp>
      <p:sp>
        <p:nvSpPr>
          <p:cNvPr id="4" name="Slide Number Placeholder 3">
            <a:extLst>
              <a:ext uri="{FF2B5EF4-FFF2-40B4-BE49-F238E27FC236}">
                <a16:creationId xmlns:a16="http://schemas.microsoft.com/office/drawing/2014/main" id="{490C16F9-FAA2-8E39-D518-11E48F278B79}"/>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3976657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27F6-60B0-551A-FC18-DE58266AC1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730860-F3D6-1083-7146-0B3C2D61B4DC}"/>
              </a:ext>
            </a:extLst>
          </p:cNvPr>
          <p:cNvSpPr>
            <a:spLocks noGrp="1"/>
          </p:cNvSpPr>
          <p:nvPr>
            <p:ph idx="1"/>
          </p:nvPr>
        </p:nvSpPr>
        <p:spPr/>
        <p:txBody>
          <a:bodyPr>
            <a:normAutofit/>
          </a:bodyPr>
          <a:lstStyle/>
          <a:p>
            <a:r>
              <a:rPr lang="en-US" dirty="0"/>
              <a:t>consider relation </a:t>
            </a:r>
            <a:r>
              <a:rPr lang="en-US" i="1" dirty="0"/>
              <a:t>instructor, </a:t>
            </a:r>
            <a:r>
              <a:rPr lang="en-US" dirty="0"/>
              <a:t>which has (in addition to ID attribute) an attribute </a:t>
            </a:r>
          </a:p>
          <a:p>
            <a:r>
              <a:rPr lang="en-US" i="1" dirty="0"/>
              <a:t>gender, </a:t>
            </a:r>
            <a:r>
              <a:rPr lang="en-US" dirty="0"/>
              <a:t>which can take on only one of a small number (e.g., 2 to 20) of values (male) or (female)</a:t>
            </a:r>
          </a:p>
          <a:p>
            <a:r>
              <a:rPr lang="en-US" i="1" dirty="0" err="1"/>
              <a:t>income_level</a:t>
            </a:r>
            <a:r>
              <a:rPr lang="en-US" i="1" dirty="0"/>
              <a:t>, </a:t>
            </a:r>
            <a:r>
              <a:rPr lang="en-US" dirty="0"/>
              <a:t>which </a:t>
            </a:r>
            <a:r>
              <a:rPr lang="en-US" dirty="0" err="1"/>
              <a:t>which</a:t>
            </a:r>
            <a:r>
              <a:rPr lang="en-US" dirty="0"/>
              <a:t> can take on only one of a small number (e.g., 2 to 20) of values broken up into five levels: </a:t>
            </a:r>
            <a:r>
              <a:rPr lang="en-US" i="1" dirty="0"/>
              <a:t>L1</a:t>
            </a:r>
            <a:r>
              <a:rPr lang="en-US" dirty="0"/>
              <a:t>: 0 - 9999, </a:t>
            </a:r>
            <a:r>
              <a:rPr lang="en-US" i="1" dirty="0"/>
              <a:t>L</a:t>
            </a:r>
            <a:r>
              <a:rPr lang="en-US" dirty="0"/>
              <a:t>2: 10,000 - 19, 999, </a:t>
            </a:r>
            <a:r>
              <a:rPr lang="en-US" i="1" dirty="0"/>
              <a:t>L</a:t>
            </a:r>
            <a:r>
              <a:rPr lang="en-US" dirty="0"/>
              <a:t>3: 20,000 - 39, 999, </a:t>
            </a:r>
            <a:r>
              <a:rPr lang="en-US" i="1" dirty="0"/>
              <a:t>L</a:t>
            </a:r>
            <a:r>
              <a:rPr lang="en-US" dirty="0"/>
              <a:t>4: 40,000 - 74, 999, and </a:t>
            </a:r>
            <a:r>
              <a:rPr lang="en-US" i="1" dirty="0"/>
              <a:t>L</a:t>
            </a:r>
            <a:r>
              <a:rPr lang="en-US" dirty="0"/>
              <a:t>5: 75,000 - ∞</a:t>
            </a:r>
          </a:p>
          <a:p>
            <a:pPr lvl="1"/>
            <a:r>
              <a:rPr lang="en-US" sz="2700" dirty="0"/>
              <a:t>raw data can take on many values, but data analyst has split the values into a small number of ranges to simplify analysis of the data</a:t>
            </a:r>
          </a:p>
        </p:txBody>
      </p:sp>
      <p:sp>
        <p:nvSpPr>
          <p:cNvPr id="4" name="Slide Number Placeholder 3">
            <a:extLst>
              <a:ext uri="{FF2B5EF4-FFF2-40B4-BE49-F238E27FC236}">
                <a16:creationId xmlns:a16="http://schemas.microsoft.com/office/drawing/2014/main" id="{5B5F7FE4-8ECA-F341-2346-AB8AE31ECE1A}"/>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5339089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4E60A-E526-A22B-C119-AEBEDB32DEE9}"/>
              </a:ext>
            </a:extLst>
          </p:cNvPr>
          <p:cNvSpPr>
            <a:spLocks noGrp="1"/>
          </p:cNvSpPr>
          <p:nvPr>
            <p:ph type="title"/>
          </p:nvPr>
        </p:nvSpPr>
        <p:spPr/>
        <p:txBody>
          <a:bodyPr/>
          <a:lstStyle/>
          <a:p>
            <a:r>
              <a:rPr lang="en-US" dirty="0"/>
              <a:t>Bitmap indexes on relation </a:t>
            </a:r>
            <a:r>
              <a:rPr lang="en-US" i="1" dirty="0" err="1"/>
              <a:t>instructor_info</a:t>
            </a:r>
            <a:r>
              <a:rPr lang="en-US" i="1" dirty="0"/>
              <a:t>.</a:t>
            </a:r>
            <a:endParaRPr lang="en-US" dirty="0"/>
          </a:p>
        </p:txBody>
      </p:sp>
      <p:sp>
        <p:nvSpPr>
          <p:cNvPr id="3" name="Content Placeholder 2">
            <a:extLst>
              <a:ext uri="{FF2B5EF4-FFF2-40B4-BE49-F238E27FC236}">
                <a16:creationId xmlns:a16="http://schemas.microsoft.com/office/drawing/2014/main" id="{9F75C034-FC68-D5E6-D197-3858C8230F1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F818EE2-6177-DEF7-931C-79E08C118984}"/>
              </a:ext>
            </a:extLst>
          </p:cNvPr>
          <p:cNvSpPr>
            <a:spLocks noGrp="1"/>
          </p:cNvSpPr>
          <p:nvPr>
            <p:ph type="sldNum" sz="quarter" idx="12"/>
          </p:nvPr>
        </p:nvSpPr>
        <p:spPr/>
        <p:txBody>
          <a:bodyPr/>
          <a:lstStyle/>
          <a:p>
            <a:fld id="{6264BDCF-5269-49AC-A246-ED26C2B980E3}" type="slidenum">
              <a:rPr lang="en-US" smtClean="0"/>
              <a:t>46</a:t>
            </a:fld>
            <a:endParaRPr lang="en-US"/>
          </a:p>
        </p:txBody>
      </p:sp>
      <p:pic>
        <p:nvPicPr>
          <p:cNvPr id="6" name="Picture 5">
            <a:extLst>
              <a:ext uri="{FF2B5EF4-FFF2-40B4-BE49-F238E27FC236}">
                <a16:creationId xmlns:a16="http://schemas.microsoft.com/office/drawing/2014/main" id="{F3111608-69B7-CA2C-2FC8-746AF29D9660}"/>
              </a:ext>
            </a:extLst>
          </p:cNvPr>
          <p:cNvPicPr>
            <a:picLocks noChangeAspect="1"/>
          </p:cNvPicPr>
          <p:nvPr/>
        </p:nvPicPr>
        <p:blipFill>
          <a:blip r:embed="rId2"/>
          <a:stretch>
            <a:fillRect/>
          </a:stretch>
        </p:blipFill>
        <p:spPr>
          <a:xfrm>
            <a:off x="1097280" y="1825625"/>
            <a:ext cx="10063759" cy="4351338"/>
          </a:xfrm>
          <a:prstGeom prst="rect">
            <a:avLst/>
          </a:prstGeom>
        </p:spPr>
      </p:pic>
    </p:spTree>
    <p:extLst>
      <p:ext uri="{BB962C8B-B14F-4D97-AF65-F5344CB8AC3E}">
        <p14:creationId xmlns:p14="http://schemas.microsoft.com/office/powerpoint/2010/main" val="29966048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A2B2-F92B-CE71-5E46-D50297E2B63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DE4F5F2-2969-A00E-9B6F-45505933D526}"/>
              </a:ext>
            </a:extLst>
          </p:cNvPr>
          <p:cNvSpPr>
            <a:spLocks noGrp="1"/>
          </p:cNvSpPr>
          <p:nvPr>
            <p:ph idx="1"/>
          </p:nvPr>
        </p:nvSpPr>
        <p:spPr/>
        <p:txBody>
          <a:bodyPr>
            <a:normAutofit/>
          </a:bodyPr>
          <a:lstStyle/>
          <a:p>
            <a:r>
              <a:rPr lang="en-US" dirty="0"/>
              <a:t>bitmap - an array of bits</a:t>
            </a:r>
          </a:p>
          <a:p>
            <a:r>
              <a:rPr lang="en-US" dirty="0"/>
              <a:t>bitmap index - on attribute </a:t>
            </a:r>
            <a:r>
              <a:rPr lang="en-US" i="1" dirty="0"/>
              <a:t>A </a:t>
            </a:r>
            <a:r>
              <a:rPr lang="en-US" dirty="0"/>
              <a:t>of relation </a:t>
            </a:r>
            <a:r>
              <a:rPr lang="en-US" i="1" dirty="0"/>
              <a:t>r </a:t>
            </a:r>
            <a:r>
              <a:rPr lang="en-US" dirty="0"/>
              <a:t>consists of one bitmap for each value that </a:t>
            </a:r>
            <a:r>
              <a:rPr lang="en-US" i="1" dirty="0"/>
              <a:t>A </a:t>
            </a:r>
            <a:r>
              <a:rPr lang="en-US" dirty="0"/>
              <a:t>can take</a:t>
            </a:r>
          </a:p>
          <a:p>
            <a:r>
              <a:rPr lang="en-US" dirty="0"/>
              <a:t>each bitmap has as many bits as the number of records in relation</a:t>
            </a:r>
          </a:p>
          <a:p>
            <a:r>
              <a:rPr lang="en-US" dirty="0"/>
              <a:t>the </a:t>
            </a:r>
            <a:r>
              <a:rPr lang="en-US" i="1" dirty="0" err="1"/>
              <a:t>i</a:t>
            </a:r>
            <a:r>
              <a:rPr lang="en-US" baseline="30000" dirty="0" err="1"/>
              <a:t>th</a:t>
            </a:r>
            <a:r>
              <a:rPr lang="en-US" dirty="0"/>
              <a:t> bit of bitmap for value </a:t>
            </a:r>
            <a:r>
              <a:rPr lang="en-US" dirty="0" err="1"/>
              <a:t>v</a:t>
            </a:r>
            <a:r>
              <a:rPr lang="en-US" i="1" baseline="-25000" dirty="0" err="1"/>
              <a:t>j</a:t>
            </a:r>
            <a:r>
              <a:rPr lang="en-US" i="1" dirty="0"/>
              <a:t> </a:t>
            </a:r>
            <a:r>
              <a:rPr lang="en-US" dirty="0"/>
              <a:t>is set to 1 if record numbered </a:t>
            </a:r>
            <a:r>
              <a:rPr lang="en-US" i="1" dirty="0" err="1"/>
              <a:t>i</a:t>
            </a:r>
            <a:r>
              <a:rPr lang="en-US" i="1" dirty="0"/>
              <a:t> </a:t>
            </a:r>
            <a:r>
              <a:rPr lang="en-US" dirty="0"/>
              <a:t>has the value </a:t>
            </a:r>
            <a:r>
              <a:rPr lang="en-US" dirty="0" err="1"/>
              <a:t>v</a:t>
            </a:r>
            <a:r>
              <a:rPr lang="en-US" i="1" baseline="-25000" dirty="0" err="1"/>
              <a:t>j</a:t>
            </a:r>
            <a:r>
              <a:rPr lang="en-US" i="1" dirty="0"/>
              <a:t> </a:t>
            </a:r>
            <a:r>
              <a:rPr lang="en-US" dirty="0"/>
              <a:t>for attribute </a:t>
            </a:r>
            <a:r>
              <a:rPr lang="en-US" i="1" dirty="0"/>
              <a:t>A; </a:t>
            </a:r>
            <a:r>
              <a:rPr lang="en-US" dirty="0"/>
              <a:t>all other bits of the bitmap are set to 0</a:t>
            </a:r>
          </a:p>
        </p:txBody>
      </p:sp>
      <p:sp>
        <p:nvSpPr>
          <p:cNvPr id="4" name="Slide Number Placeholder 3">
            <a:extLst>
              <a:ext uri="{FF2B5EF4-FFF2-40B4-BE49-F238E27FC236}">
                <a16:creationId xmlns:a16="http://schemas.microsoft.com/office/drawing/2014/main" id="{DE8358DF-8067-8FC0-B985-F85C430E66C6}"/>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42381118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50DCF-4B79-BA31-1B5B-293FAC03EB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86F159-F39A-0655-CC0A-53F338742583}"/>
              </a:ext>
            </a:extLst>
          </p:cNvPr>
          <p:cNvSpPr>
            <a:spLocks noGrp="1"/>
          </p:cNvSpPr>
          <p:nvPr>
            <p:ph idx="1"/>
          </p:nvPr>
        </p:nvSpPr>
        <p:spPr>
          <a:xfrm>
            <a:off x="838200" y="1238865"/>
            <a:ext cx="10515600" cy="4938098"/>
          </a:xfrm>
        </p:spPr>
        <p:txBody>
          <a:bodyPr>
            <a:normAutofit/>
          </a:bodyPr>
          <a:lstStyle/>
          <a:p>
            <a:r>
              <a:rPr lang="en-US" dirty="0"/>
              <a:t>simplest way of retrieving all records with value m (or value f) would be to simply read all records of relation and select those records with value m (or f, respectively)</a:t>
            </a:r>
          </a:p>
          <a:p>
            <a:r>
              <a:rPr lang="en-US" dirty="0"/>
              <a:t>bitmap index doesn’t really help to speed up such a selection</a:t>
            </a:r>
          </a:p>
          <a:p>
            <a:r>
              <a:rPr lang="en-US" dirty="0"/>
              <a:t>bitmap indexes are useful for selections mainly when there are selections on multiple keys</a:t>
            </a:r>
          </a:p>
          <a:p>
            <a:r>
              <a:rPr lang="en-US" dirty="0"/>
              <a:t>query that selects women with income in range 10,000 to 19,999</a:t>
            </a:r>
          </a:p>
          <a:p>
            <a:r>
              <a:rPr lang="en-US" b="1" dirty="0"/>
              <a:t>select </a:t>
            </a:r>
            <a:r>
              <a:rPr lang="en-US" dirty="0"/>
              <a:t>*</a:t>
            </a:r>
          </a:p>
          <a:p>
            <a:r>
              <a:rPr lang="en-US" b="1" dirty="0"/>
              <a:t>from </a:t>
            </a:r>
            <a:r>
              <a:rPr lang="en-US" i="1" dirty="0" err="1"/>
              <a:t>instructor_info</a:t>
            </a:r>
            <a:endParaRPr lang="en-US" i="1" dirty="0"/>
          </a:p>
          <a:p>
            <a:r>
              <a:rPr lang="en-US" b="1" dirty="0"/>
              <a:t>where </a:t>
            </a:r>
            <a:r>
              <a:rPr lang="en-US" i="1" dirty="0"/>
              <a:t>gender </a:t>
            </a:r>
            <a:r>
              <a:rPr lang="en-US" dirty="0"/>
              <a:t>= 'f </a:t>
            </a:r>
            <a:r>
              <a:rPr lang="en-US" b="1" dirty="0"/>
              <a:t>and </a:t>
            </a:r>
            <a:r>
              <a:rPr lang="en-US" i="1" dirty="0" err="1"/>
              <a:t>income_level</a:t>
            </a:r>
            <a:r>
              <a:rPr lang="en-US" i="1" dirty="0"/>
              <a:t> </a:t>
            </a:r>
            <a:r>
              <a:rPr lang="en-US" dirty="0"/>
              <a:t>= 'L2';</a:t>
            </a:r>
          </a:p>
        </p:txBody>
      </p:sp>
      <p:sp>
        <p:nvSpPr>
          <p:cNvPr id="4" name="Slide Number Placeholder 3">
            <a:extLst>
              <a:ext uri="{FF2B5EF4-FFF2-40B4-BE49-F238E27FC236}">
                <a16:creationId xmlns:a16="http://schemas.microsoft.com/office/drawing/2014/main" id="{87E0F08F-ECD1-5917-48B3-4C38786436FD}"/>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12449611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482D6-D864-5B6F-A57B-FF92FB7EE9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67655D-DD27-5E21-5FD9-24B72A95B460}"/>
              </a:ext>
            </a:extLst>
          </p:cNvPr>
          <p:cNvSpPr>
            <a:spLocks noGrp="1"/>
          </p:cNvSpPr>
          <p:nvPr>
            <p:ph idx="1"/>
          </p:nvPr>
        </p:nvSpPr>
        <p:spPr/>
        <p:txBody>
          <a:bodyPr>
            <a:normAutofit/>
          </a:bodyPr>
          <a:lstStyle/>
          <a:p>
            <a:r>
              <a:rPr lang="en-US" dirty="0"/>
              <a:t>fetch bitmaps for </a:t>
            </a:r>
            <a:r>
              <a:rPr lang="en-US" i="1" dirty="0"/>
              <a:t>gender </a:t>
            </a:r>
            <a:r>
              <a:rPr lang="en-US" dirty="0"/>
              <a:t>value f and bitmap for </a:t>
            </a:r>
            <a:r>
              <a:rPr lang="en-US" i="1" dirty="0" err="1"/>
              <a:t>income_level</a:t>
            </a:r>
            <a:r>
              <a:rPr lang="en-US" i="1" dirty="0"/>
              <a:t> </a:t>
            </a:r>
            <a:r>
              <a:rPr lang="en-US" dirty="0"/>
              <a:t>value </a:t>
            </a:r>
            <a:r>
              <a:rPr lang="en-US" i="1" dirty="0"/>
              <a:t>L</a:t>
            </a:r>
            <a:r>
              <a:rPr lang="en-US" dirty="0"/>
              <a:t>2, and perform intersection</a:t>
            </a:r>
            <a:r>
              <a:rPr lang="en-US" b="1" dirty="0"/>
              <a:t> </a:t>
            </a:r>
            <a:r>
              <a:rPr lang="en-US" dirty="0"/>
              <a:t>(logical and) of two bitmaps</a:t>
            </a:r>
          </a:p>
        </p:txBody>
      </p:sp>
      <p:sp>
        <p:nvSpPr>
          <p:cNvPr id="4" name="Slide Number Placeholder 3">
            <a:extLst>
              <a:ext uri="{FF2B5EF4-FFF2-40B4-BE49-F238E27FC236}">
                <a16:creationId xmlns:a16="http://schemas.microsoft.com/office/drawing/2014/main" id="{00BD1E86-49BC-5B4B-8F73-B1096C7ECFD3}"/>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24507340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4DF4A-2434-C4E3-3584-7C86742416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FDAE4C4-F802-FD45-A67E-58E49F01BE63}"/>
              </a:ext>
            </a:extLst>
          </p:cNvPr>
          <p:cNvSpPr>
            <a:spLocks noGrp="1"/>
          </p:cNvSpPr>
          <p:nvPr>
            <p:ph type="title"/>
          </p:nvPr>
        </p:nvSpPr>
        <p:spPr/>
        <p:txBody>
          <a:bodyPr>
            <a:normAutofit/>
          </a:bodyPr>
          <a:lstStyle/>
          <a:p>
            <a:r>
              <a:rPr lang="en-US" sz="5400" dirty="0"/>
              <a:t>Index of Spatial and Temporal Data</a:t>
            </a:r>
          </a:p>
        </p:txBody>
      </p:sp>
      <p:sp>
        <p:nvSpPr>
          <p:cNvPr id="6" name="Text Placeholder 5">
            <a:extLst>
              <a:ext uri="{FF2B5EF4-FFF2-40B4-BE49-F238E27FC236}">
                <a16:creationId xmlns:a16="http://schemas.microsoft.com/office/drawing/2014/main" id="{A54A81EB-6622-80CF-4421-4901430F93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5F420A-8169-3EEC-6B5E-D33A7B32FE78}"/>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20536586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DAE7A0-BBA9-2390-EE75-950330D84B46}"/>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3933D18D-004D-EDF7-A032-752B01E4AF56}"/>
              </a:ext>
            </a:extLst>
          </p:cNvPr>
          <p:cNvSpPr>
            <a:spLocks noGrp="1"/>
          </p:cNvSpPr>
          <p:nvPr>
            <p:ph idx="1"/>
          </p:nvPr>
        </p:nvSpPr>
        <p:spPr/>
        <p:txBody>
          <a:bodyPr/>
          <a:lstStyle/>
          <a:p>
            <a:r>
              <a:rPr lang="en-US" dirty="0"/>
              <a:t>traditional index structures, such as hash indexes and B</a:t>
            </a:r>
            <a:r>
              <a:rPr lang="en-US" baseline="30000" dirty="0"/>
              <a:t>+</a:t>
            </a:r>
            <a:r>
              <a:rPr lang="en-US" dirty="0"/>
              <a:t>-trees, are not suitable for indexing of spatial data, which are typically of two or more dimensions</a:t>
            </a:r>
          </a:p>
          <a:p>
            <a:r>
              <a:rPr lang="en-US" dirty="0"/>
              <a:t>when tuples have temporal intervals associated with them, and queries may specify time points or time intervals, the traditional index structures may result in poor performance</a:t>
            </a:r>
          </a:p>
        </p:txBody>
      </p:sp>
      <p:sp>
        <p:nvSpPr>
          <p:cNvPr id="4" name="Slide Number Placeholder 3">
            <a:extLst>
              <a:ext uri="{FF2B5EF4-FFF2-40B4-BE49-F238E27FC236}">
                <a16:creationId xmlns:a16="http://schemas.microsoft.com/office/drawing/2014/main" id="{919BE162-9A7E-8F29-FDC8-76BCCCBDA90F}"/>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248441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012F7-B8C5-AF2E-FEC9-867BE5AFA0AE}"/>
              </a:ext>
            </a:extLst>
          </p:cNvPr>
          <p:cNvSpPr>
            <a:spLocks noGrp="1"/>
          </p:cNvSpPr>
          <p:nvPr>
            <p:ph type="title"/>
          </p:nvPr>
        </p:nvSpPr>
        <p:spPr/>
        <p:txBody>
          <a:bodyPr/>
          <a:lstStyle/>
          <a:p>
            <a:r>
              <a:rPr lang="en-US" dirty="0"/>
              <a:t>spatial data</a:t>
            </a:r>
          </a:p>
        </p:txBody>
      </p:sp>
      <p:sp>
        <p:nvSpPr>
          <p:cNvPr id="3" name="Content Placeholder 2">
            <a:extLst>
              <a:ext uri="{FF2B5EF4-FFF2-40B4-BE49-F238E27FC236}">
                <a16:creationId xmlns:a16="http://schemas.microsoft.com/office/drawing/2014/main" id="{420929D6-ED1F-A627-6F94-68B4AD968DD2}"/>
              </a:ext>
            </a:extLst>
          </p:cNvPr>
          <p:cNvSpPr>
            <a:spLocks noGrp="1"/>
          </p:cNvSpPr>
          <p:nvPr>
            <p:ph idx="1"/>
          </p:nvPr>
        </p:nvSpPr>
        <p:spPr>
          <a:xfrm>
            <a:off x="838199" y="1825625"/>
            <a:ext cx="10783529" cy="4351338"/>
          </a:xfrm>
        </p:spPr>
        <p:txBody>
          <a:bodyPr>
            <a:normAutofit/>
          </a:bodyPr>
          <a:lstStyle/>
          <a:p>
            <a:r>
              <a:rPr lang="en-US" dirty="0"/>
              <a:t>query that asks for </a:t>
            </a:r>
            <a:r>
              <a:rPr lang="en-US" dirty="0" err="1"/>
              <a:t>cârciumă</a:t>
            </a:r>
            <a:r>
              <a:rPr lang="en-US" dirty="0"/>
              <a:t> at a precisely specified (latitude, longitude) pair can be answered by creating B</a:t>
            </a:r>
            <a:r>
              <a:rPr lang="en-US" baseline="30000" dirty="0"/>
              <a:t>+</a:t>
            </a:r>
            <a:r>
              <a:rPr lang="en-US" dirty="0"/>
              <a:t>-tree on composite attribute (latitude, longitude)</a:t>
            </a:r>
          </a:p>
          <a:p>
            <a:r>
              <a:rPr lang="en-US" dirty="0"/>
              <a:t>B</a:t>
            </a:r>
            <a:r>
              <a:rPr lang="en-US" baseline="30000" dirty="0"/>
              <a:t>+</a:t>
            </a:r>
            <a:r>
              <a:rPr lang="en-US" dirty="0"/>
              <a:t>-tree index cannot efficiently answer query that asks for all </a:t>
            </a:r>
            <a:r>
              <a:rPr lang="en-US" dirty="0" err="1"/>
              <a:t>cârciumă</a:t>
            </a:r>
            <a:r>
              <a:rPr lang="en-US" dirty="0"/>
              <a:t> that are within a 500-meter radius of a user’s location, which is identified by a (latitude, longitude) pair or are within a region of interest</a:t>
            </a:r>
          </a:p>
          <a:p>
            <a:r>
              <a:rPr lang="en-US" dirty="0"/>
              <a:t>range queries an example of a nearest neighbor query</a:t>
            </a:r>
          </a:p>
        </p:txBody>
      </p:sp>
      <p:sp>
        <p:nvSpPr>
          <p:cNvPr id="4" name="Slide Number Placeholder 3">
            <a:extLst>
              <a:ext uri="{FF2B5EF4-FFF2-40B4-BE49-F238E27FC236}">
                <a16:creationId xmlns:a16="http://schemas.microsoft.com/office/drawing/2014/main" id="{2E1D111C-5FFF-B079-92B1-94F8420D8324}"/>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41740694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BB3F-0CB7-680C-7A25-56EFF9547434}"/>
              </a:ext>
            </a:extLst>
          </p:cNvPr>
          <p:cNvSpPr>
            <a:spLocks noGrp="1"/>
          </p:cNvSpPr>
          <p:nvPr>
            <p:ph type="title"/>
          </p:nvPr>
        </p:nvSpPr>
        <p:spPr/>
        <p:txBody>
          <a:bodyPr/>
          <a:lstStyle/>
          <a:p>
            <a:r>
              <a:rPr lang="en-US" dirty="0"/>
              <a:t>temporal data</a:t>
            </a:r>
          </a:p>
        </p:txBody>
      </p:sp>
      <p:sp>
        <p:nvSpPr>
          <p:cNvPr id="3" name="Content Placeholder 2">
            <a:extLst>
              <a:ext uri="{FF2B5EF4-FFF2-40B4-BE49-F238E27FC236}">
                <a16:creationId xmlns:a16="http://schemas.microsoft.com/office/drawing/2014/main" id="{E6CA3D5E-0AED-1680-D0F3-87691A8A7052}"/>
              </a:ext>
            </a:extLst>
          </p:cNvPr>
          <p:cNvSpPr>
            <a:spLocks noGrp="1"/>
          </p:cNvSpPr>
          <p:nvPr>
            <p:ph idx="1"/>
          </p:nvPr>
        </p:nvSpPr>
        <p:spPr/>
        <p:txBody>
          <a:bodyPr>
            <a:normAutofit/>
          </a:bodyPr>
          <a:lstStyle/>
          <a:p>
            <a:r>
              <a:rPr lang="en-US" dirty="0"/>
              <a:t>refers to data that has an associated time period, valid time interval</a:t>
            </a:r>
          </a:p>
          <a:p>
            <a:r>
              <a:rPr lang="en-US" dirty="0"/>
              <a:t>a time interval has a start time and an end time; interval is open or closed at  start / end time</a:t>
            </a:r>
          </a:p>
          <a:p>
            <a:r>
              <a:rPr lang="en-US" dirty="0"/>
              <a:t>to represent the fact that tuple is valid currently, until it is next updated, the end time is conceptually set to infinity (which can be represented by a suitably large time, such as midnight of 9999-12-31)</a:t>
            </a:r>
          </a:p>
          <a:p>
            <a:endParaRPr lang="en-US" dirty="0"/>
          </a:p>
          <a:p>
            <a:r>
              <a:rPr lang="en-US" b="1" i="1" dirty="0"/>
              <a:t>any valid period can be represented by multiple intervals</a:t>
            </a:r>
          </a:p>
          <a:p>
            <a:endParaRPr lang="en-US" dirty="0"/>
          </a:p>
        </p:txBody>
      </p:sp>
      <p:sp>
        <p:nvSpPr>
          <p:cNvPr id="4" name="Slide Number Placeholder 3">
            <a:extLst>
              <a:ext uri="{FF2B5EF4-FFF2-40B4-BE49-F238E27FC236}">
                <a16:creationId xmlns:a16="http://schemas.microsoft.com/office/drawing/2014/main" id="{C9A7D3C1-8BB0-1204-C564-ABB6281511AB}"/>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17892571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D14A8-8727-AC3D-F9CC-DC28D01E4B8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FBEA5FB-FA75-4E49-44F5-7E6556586F7F}"/>
              </a:ext>
            </a:extLst>
          </p:cNvPr>
          <p:cNvSpPr>
            <a:spLocks noGrp="1"/>
          </p:cNvSpPr>
          <p:nvPr>
            <p:ph type="title"/>
          </p:nvPr>
        </p:nvSpPr>
        <p:spPr/>
        <p:txBody>
          <a:bodyPr/>
          <a:lstStyle/>
          <a:p>
            <a:r>
              <a:rPr lang="en-US" dirty="0"/>
              <a:t>CREATE INDEX</a:t>
            </a:r>
          </a:p>
        </p:txBody>
      </p:sp>
      <p:sp>
        <p:nvSpPr>
          <p:cNvPr id="6" name="Text Placeholder 5">
            <a:extLst>
              <a:ext uri="{FF2B5EF4-FFF2-40B4-BE49-F238E27FC236}">
                <a16:creationId xmlns:a16="http://schemas.microsoft.com/office/drawing/2014/main" id="{AB7A2C28-4380-4D92-68DE-80FC38C3B8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5D2EDF-5EC4-0EA5-0167-CC497BE8C551}"/>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11155617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83C5F-1321-77FE-1816-E34DFDE8FD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335628-42CB-4F1B-881C-EC460B2F6E42}"/>
              </a:ext>
            </a:extLst>
          </p:cNvPr>
          <p:cNvSpPr>
            <a:spLocks noGrp="1"/>
          </p:cNvSpPr>
          <p:nvPr>
            <p:ph idx="1"/>
          </p:nvPr>
        </p:nvSpPr>
        <p:spPr>
          <a:xfrm>
            <a:off x="838200" y="1219200"/>
            <a:ext cx="10813026" cy="4957763"/>
          </a:xfrm>
        </p:spPr>
        <p:txBody>
          <a:bodyPr>
            <a:normAutofit/>
          </a:bodyPr>
          <a:lstStyle/>
          <a:p>
            <a:r>
              <a:rPr lang="en-US" dirty="0"/>
              <a:t>most databases support SQL commands to create and drop indexes</a:t>
            </a:r>
          </a:p>
          <a:p>
            <a:r>
              <a:rPr lang="en-US" b="1" dirty="0"/>
              <a:t>create index </a:t>
            </a:r>
            <a:r>
              <a:rPr lang="en-US" i="1" dirty="0"/>
              <a:t>&lt;</a:t>
            </a:r>
            <a:r>
              <a:rPr lang="en-US" dirty="0"/>
              <a:t>index-name</a:t>
            </a:r>
            <a:r>
              <a:rPr lang="en-US" i="1" dirty="0"/>
              <a:t>&gt; </a:t>
            </a:r>
            <a:r>
              <a:rPr lang="en-US" b="1" dirty="0"/>
              <a:t>on </a:t>
            </a:r>
            <a:r>
              <a:rPr lang="en-US" i="1" dirty="0"/>
              <a:t>&lt;</a:t>
            </a:r>
            <a:r>
              <a:rPr lang="en-US" dirty="0"/>
              <a:t>relation-name</a:t>
            </a:r>
            <a:r>
              <a:rPr lang="en-US" i="1" dirty="0"/>
              <a:t>&gt; </a:t>
            </a:r>
            <a:r>
              <a:rPr lang="en-US" dirty="0"/>
              <a:t>(</a:t>
            </a:r>
            <a:r>
              <a:rPr lang="en-US" i="1" dirty="0"/>
              <a:t>&lt;</a:t>
            </a:r>
            <a:r>
              <a:rPr lang="en-US" dirty="0"/>
              <a:t>attribute-list</a:t>
            </a:r>
            <a:r>
              <a:rPr lang="en-US" i="1" dirty="0"/>
              <a:t>&gt;</a:t>
            </a:r>
            <a:r>
              <a:rPr lang="en-US" dirty="0"/>
              <a:t>);</a:t>
            </a:r>
          </a:p>
          <a:p>
            <a:r>
              <a:rPr lang="en-US" i="1" dirty="0"/>
              <a:t>attribute-list </a:t>
            </a:r>
            <a:r>
              <a:rPr lang="en-US" dirty="0"/>
              <a:t>is the list of attributes of relation that form the search key for index</a:t>
            </a:r>
          </a:p>
          <a:p>
            <a:r>
              <a:rPr lang="en-US" dirty="0"/>
              <a:t>indexes can be dropped using</a:t>
            </a:r>
          </a:p>
          <a:p>
            <a:r>
              <a:rPr lang="en-US" b="1" dirty="0"/>
              <a:t>drop index </a:t>
            </a:r>
            <a:r>
              <a:rPr lang="en-US" i="1" dirty="0"/>
              <a:t>&lt;</a:t>
            </a:r>
            <a:r>
              <a:rPr lang="en-US" dirty="0"/>
              <a:t>index-name</a:t>
            </a:r>
            <a:r>
              <a:rPr lang="en-US" i="1" dirty="0"/>
              <a:t>&gt;</a:t>
            </a:r>
            <a:r>
              <a:rPr lang="en-US" dirty="0"/>
              <a:t>;</a:t>
            </a:r>
          </a:p>
          <a:p>
            <a:endParaRPr lang="en-US" sz="1600" dirty="0"/>
          </a:p>
          <a:p>
            <a:r>
              <a:rPr lang="en-US" dirty="0"/>
              <a:t>to declare that attribute or set of attributes is candidate key, use syntax </a:t>
            </a:r>
          </a:p>
          <a:p>
            <a:r>
              <a:rPr lang="en-US" b="1" dirty="0"/>
              <a:t>create unique index </a:t>
            </a:r>
            <a:r>
              <a:rPr lang="en-US" dirty="0"/>
              <a:t>in place of </a:t>
            </a:r>
            <a:r>
              <a:rPr lang="en-US" b="1" dirty="0"/>
              <a:t>create index </a:t>
            </a:r>
            <a:r>
              <a:rPr lang="en-US" dirty="0"/>
              <a:t>above</a:t>
            </a:r>
          </a:p>
        </p:txBody>
      </p:sp>
      <p:sp>
        <p:nvSpPr>
          <p:cNvPr id="4" name="Slide Number Placeholder 3">
            <a:extLst>
              <a:ext uri="{FF2B5EF4-FFF2-40B4-BE49-F238E27FC236}">
                <a16:creationId xmlns:a16="http://schemas.microsoft.com/office/drawing/2014/main" id="{B99ACA42-6B06-6466-F1D2-21FD41C7B936}"/>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37744325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CEC12-3475-67E8-138C-7DC9CD887B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E0B4C7-7556-A9EB-8D06-8A258C909E78}"/>
              </a:ext>
            </a:extLst>
          </p:cNvPr>
          <p:cNvSpPr>
            <a:spLocks noGrp="1"/>
          </p:cNvSpPr>
          <p:nvPr>
            <p:ph idx="1"/>
          </p:nvPr>
        </p:nvSpPr>
        <p:spPr/>
        <p:txBody>
          <a:bodyPr/>
          <a:lstStyle/>
          <a:p>
            <a:r>
              <a:rPr lang="en-US" dirty="0"/>
              <a:t>when user submits SQL query that can benefit from using an index, the SQL query processor automatically uses the index</a:t>
            </a:r>
          </a:p>
          <a:p>
            <a:r>
              <a:rPr lang="en-US" dirty="0"/>
              <a:t>indexes can be very useful on attributes that participate in selection conditions or join conditions of queries, since they can reduce the cost of queries significantly</a:t>
            </a:r>
            <a:r>
              <a:rPr lang="en-US" b="1" dirty="0"/>
              <a:t> Bitmap indexes</a:t>
            </a:r>
            <a:endParaRPr lang="en-US" dirty="0"/>
          </a:p>
        </p:txBody>
      </p:sp>
      <p:sp>
        <p:nvSpPr>
          <p:cNvPr id="4" name="Slide Number Placeholder 3">
            <a:extLst>
              <a:ext uri="{FF2B5EF4-FFF2-40B4-BE49-F238E27FC236}">
                <a16:creationId xmlns:a16="http://schemas.microsoft.com/office/drawing/2014/main" id="{5943CDBF-9CB5-507B-2DA3-EFAF19F471BA}"/>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39074592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210E3-E0F4-77C2-AEAB-D4B70A0D70C8}"/>
              </a:ext>
            </a:extLst>
          </p:cNvPr>
          <p:cNvSpPr>
            <a:spLocks noGrp="1"/>
          </p:cNvSpPr>
          <p:nvPr>
            <p:ph type="title"/>
          </p:nvPr>
        </p:nvSpPr>
        <p:spPr/>
        <p:txBody>
          <a:bodyPr>
            <a:normAutofit/>
          </a:bodyPr>
          <a:lstStyle/>
          <a:p>
            <a:r>
              <a:rPr lang="en-US" sz="4800" dirty="0"/>
              <a:t>what index are needed</a:t>
            </a:r>
          </a:p>
        </p:txBody>
      </p:sp>
      <p:sp>
        <p:nvSpPr>
          <p:cNvPr id="3" name="Content Placeholder 2">
            <a:extLst>
              <a:ext uri="{FF2B5EF4-FFF2-40B4-BE49-F238E27FC236}">
                <a16:creationId xmlns:a16="http://schemas.microsoft.com/office/drawing/2014/main" id="{F9A357B9-000D-05EB-379E-DBA803D47A82}"/>
              </a:ext>
            </a:extLst>
          </p:cNvPr>
          <p:cNvSpPr>
            <a:spLocks noGrp="1"/>
          </p:cNvSpPr>
          <p:nvPr>
            <p:ph idx="1"/>
          </p:nvPr>
        </p:nvSpPr>
        <p:spPr/>
        <p:txBody>
          <a:bodyPr>
            <a:noAutofit/>
          </a:bodyPr>
          <a:lstStyle/>
          <a:p>
            <a:r>
              <a:rPr lang="en-US" dirty="0"/>
              <a:t>to determine which indexes are needed for a database, you must evaluate your query patterns and data integrity requirements</a:t>
            </a:r>
          </a:p>
        </p:txBody>
      </p:sp>
      <p:sp>
        <p:nvSpPr>
          <p:cNvPr id="4" name="Slide Number Placeholder 3">
            <a:extLst>
              <a:ext uri="{FF2B5EF4-FFF2-40B4-BE49-F238E27FC236}">
                <a16:creationId xmlns:a16="http://schemas.microsoft.com/office/drawing/2014/main" id="{296CD956-4D40-1197-046A-9E7EDC1B877B}"/>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2946262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D0D67-9159-4D7A-DB6E-6F2AD14DD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3CF51-CB90-3F9A-B26A-DF925BCF4A8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03D428E-0150-4D5C-5D6F-5D298CEF0DC6}"/>
              </a:ext>
            </a:extLst>
          </p:cNvPr>
          <p:cNvSpPr>
            <a:spLocks noGrp="1"/>
          </p:cNvSpPr>
          <p:nvPr>
            <p:ph idx="1"/>
          </p:nvPr>
        </p:nvSpPr>
        <p:spPr>
          <a:xfrm>
            <a:off x="838200" y="1219200"/>
            <a:ext cx="10515600" cy="4957763"/>
          </a:xfrm>
        </p:spPr>
        <p:txBody>
          <a:bodyPr>
            <a:noAutofit/>
          </a:bodyPr>
          <a:lstStyle/>
          <a:p>
            <a:r>
              <a:rPr lang="en-US" dirty="0"/>
              <a:t>Primary Key Index: essential for every table to uniquely identify records; it is typically created automatically by the database system</a:t>
            </a:r>
          </a:p>
          <a:p>
            <a:r>
              <a:rPr lang="en-US" dirty="0"/>
              <a:t>Unique Index: required on columns that must contain unique values (e.g., email addresses or names) to prevent duplicate entries and maintain data integrity</a:t>
            </a:r>
          </a:p>
          <a:p>
            <a:r>
              <a:rPr lang="en-US" dirty="0"/>
              <a:t>Secondary Indexes: needed for any columns frequently used in WHERE clauses, JOIN conditions, or search criteria to speed up data retrieval</a:t>
            </a:r>
          </a:p>
          <a:p>
            <a:r>
              <a:rPr lang="en-US" dirty="0"/>
              <a:t>Composite Index: necessary when queries regularly filter or sort by multiple columns simultaneously (e.g., searching by both </a:t>
            </a:r>
            <a:r>
              <a:rPr lang="en-US" dirty="0" err="1"/>
              <a:t>Last_Name</a:t>
            </a:r>
            <a:r>
              <a:rPr lang="en-US" dirty="0"/>
              <a:t> and </a:t>
            </a:r>
            <a:r>
              <a:rPr lang="en-US" dirty="0" err="1"/>
              <a:t>First_Name</a:t>
            </a:r>
            <a:r>
              <a:rPr lang="en-US" dirty="0"/>
              <a:t>)</a:t>
            </a:r>
          </a:p>
        </p:txBody>
      </p:sp>
      <p:sp>
        <p:nvSpPr>
          <p:cNvPr id="4" name="Slide Number Placeholder 3">
            <a:extLst>
              <a:ext uri="{FF2B5EF4-FFF2-40B4-BE49-F238E27FC236}">
                <a16:creationId xmlns:a16="http://schemas.microsoft.com/office/drawing/2014/main" id="{454CB029-5785-5077-382A-E19C9C03C88B}"/>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17611526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D15A5-D137-067C-D7A4-72B31B6AF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1CFBD-A870-BC8C-072F-CE383BB0386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5412757-61B9-15B0-31B6-0CB1534C9616}"/>
              </a:ext>
            </a:extLst>
          </p:cNvPr>
          <p:cNvSpPr>
            <a:spLocks noGrp="1"/>
          </p:cNvSpPr>
          <p:nvPr>
            <p:ph idx="1"/>
          </p:nvPr>
        </p:nvSpPr>
        <p:spPr>
          <a:xfrm>
            <a:off x="838200" y="1229032"/>
            <a:ext cx="10515600" cy="4947931"/>
          </a:xfrm>
        </p:spPr>
        <p:txBody>
          <a:bodyPr>
            <a:noAutofit/>
          </a:bodyPr>
          <a:lstStyle/>
          <a:p>
            <a:r>
              <a:rPr lang="en-US" dirty="0"/>
              <a:t>Full-Text Index: required for performing advanced word searches within large character string data or text-heavy columns</a:t>
            </a:r>
          </a:p>
          <a:p>
            <a:r>
              <a:rPr lang="en-US" dirty="0"/>
              <a:t>Spatial Index: for applications dealing with geographic or geometric data types to perform spatial operations efficiently</a:t>
            </a:r>
          </a:p>
          <a:p>
            <a:r>
              <a:rPr lang="en-US" dirty="0"/>
              <a:t>Hash Index: suited for equality comparisons (e.g., column = 'value') rather than range searches, providing high-speed lookups in specific data structures</a:t>
            </a:r>
          </a:p>
          <a:p>
            <a:r>
              <a:rPr lang="en-US" dirty="0" err="1"/>
              <a:t>Columnstore</a:t>
            </a:r>
            <a:r>
              <a:rPr lang="en-US" dirty="0"/>
              <a:t> Index: primarily used in data warehousing environments to optimize performance of analytical queries on massive datasets. </a:t>
            </a:r>
          </a:p>
        </p:txBody>
      </p:sp>
      <p:sp>
        <p:nvSpPr>
          <p:cNvPr id="4" name="Slide Number Placeholder 3">
            <a:extLst>
              <a:ext uri="{FF2B5EF4-FFF2-40B4-BE49-F238E27FC236}">
                <a16:creationId xmlns:a16="http://schemas.microsoft.com/office/drawing/2014/main" id="{588617E7-8B08-E293-87FA-0E102D1F34DC}"/>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14118103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CB335-83D5-D1DD-15E0-8AFE891B4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10103-32DC-B184-49A6-C1B3EFEB8429}"/>
              </a:ext>
            </a:extLst>
          </p:cNvPr>
          <p:cNvSpPr>
            <a:spLocks noGrp="1"/>
          </p:cNvSpPr>
          <p:nvPr>
            <p:ph type="title"/>
          </p:nvPr>
        </p:nvSpPr>
        <p:spPr/>
        <p:txBody>
          <a:bodyPr/>
          <a:lstStyle/>
          <a:p>
            <a:r>
              <a:rPr lang="en-US" dirty="0"/>
              <a:t>Best Practices for Index Selection</a:t>
            </a:r>
          </a:p>
        </p:txBody>
      </p:sp>
      <p:sp>
        <p:nvSpPr>
          <p:cNvPr id="3" name="Content Placeholder 2">
            <a:extLst>
              <a:ext uri="{FF2B5EF4-FFF2-40B4-BE49-F238E27FC236}">
                <a16:creationId xmlns:a16="http://schemas.microsoft.com/office/drawing/2014/main" id="{F010B6AB-3E1C-B0B8-0466-60EE99EC91CD}"/>
              </a:ext>
            </a:extLst>
          </p:cNvPr>
          <p:cNvSpPr>
            <a:spLocks noGrp="1"/>
          </p:cNvSpPr>
          <p:nvPr>
            <p:ph idx="1"/>
          </p:nvPr>
        </p:nvSpPr>
        <p:spPr/>
        <p:txBody>
          <a:bodyPr>
            <a:noAutofit/>
          </a:bodyPr>
          <a:lstStyle/>
          <a:p>
            <a:r>
              <a:rPr lang="en-US" dirty="0"/>
              <a:t>Usefulness Rule: only create index if it significantly speeds up specific queries, as every additional index slows down write operations</a:t>
            </a:r>
          </a:p>
          <a:p>
            <a:r>
              <a:rPr lang="en-US" dirty="0"/>
              <a:t>Clustering: aim to group records that are likely to be accessed together to minimize physical disk I/O</a:t>
            </a:r>
          </a:p>
          <a:p>
            <a:r>
              <a:rPr lang="en-US" dirty="0"/>
              <a:t>Avoid Over-Indexing: large numbers of indexes (more then 5 maybe …) can lead to performance degradation during data modification; prioritize indexes that cover the most frequent or critical queries</a:t>
            </a:r>
          </a:p>
        </p:txBody>
      </p:sp>
      <p:sp>
        <p:nvSpPr>
          <p:cNvPr id="4" name="Slide Number Placeholder 3">
            <a:extLst>
              <a:ext uri="{FF2B5EF4-FFF2-40B4-BE49-F238E27FC236}">
                <a16:creationId xmlns:a16="http://schemas.microsoft.com/office/drawing/2014/main" id="{A22F5D5E-76FD-188C-3B48-22F1BB158570}"/>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1550902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886E197-F126-C68B-A762-52D94E50E9EE}"/>
              </a:ext>
            </a:extLst>
          </p:cNvPr>
          <p:cNvSpPr>
            <a:spLocks noGrp="1"/>
          </p:cNvSpPr>
          <p:nvPr>
            <p:ph type="title"/>
          </p:nvPr>
        </p:nvSpPr>
        <p:spPr/>
        <p:txBody>
          <a:bodyPr/>
          <a:lstStyle/>
          <a:p>
            <a:r>
              <a:rPr lang="en-US" dirty="0" err="1"/>
              <a:t>PostGreSQL</a:t>
            </a:r>
            <a:endParaRPr lang="en-US" dirty="0"/>
          </a:p>
        </p:txBody>
      </p:sp>
      <p:sp>
        <p:nvSpPr>
          <p:cNvPr id="12" name="Text Placeholder 11">
            <a:extLst>
              <a:ext uri="{FF2B5EF4-FFF2-40B4-BE49-F238E27FC236}">
                <a16:creationId xmlns:a16="http://schemas.microsoft.com/office/drawing/2014/main" id="{8ACE4FCB-E3A7-B5F0-34B9-533CDA5BC2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F96230-5386-50C7-E017-98ABDB70BBA7}"/>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30352468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C736C-A584-8C04-BAA6-946D1796237A}"/>
              </a:ext>
            </a:extLst>
          </p:cNvPr>
          <p:cNvSpPr>
            <a:spLocks noGrp="1"/>
          </p:cNvSpPr>
          <p:nvPr>
            <p:ph type="title"/>
          </p:nvPr>
        </p:nvSpPr>
        <p:spPr/>
        <p:txBody>
          <a:bodyPr/>
          <a:lstStyle/>
          <a:p>
            <a:r>
              <a:rPr lang="en-US" dirty="0"/>
              <a:t>Indexes</a:t>
            </a:r>
          </a:p>
        </p:txBody>
      </p:sp>
      <p:sp>
        <p:nvSpPr>
          <p:cNvPr id="3" name="Content Placeholder 2">
            <a:extLst>
              <a:ext uri="{FF2B5EF4-FFF2-40B4-BE49-F238E27FC236}">
                <a16:creationId xmlns:a16="http://schemas.microsoft.com/office/drawing/2014/main" id="{0682955E-0AC9-9B6C-D70C-07D05999F001}"/>
              </a:ext>
            </a:extLst>
          </p:cNvPr>
          <p:cNvSpPr>
            <a:spLocks noGrp="1"/>
          </p:cNvSpPr>
          <p:nvPr>
            <p:ph idx="1"/>
          </p:nvPr>
        </p:nvSpPr>
        <p:spPr/>
        <p:txBody>
          <a:bodyPr>
            <a:normAutofit/>
          </a:bodyPr>
          <a:lstStyle/>
          <a:p>
            <a:r>
              <a:rPr lang="en-US" dirty="0"/>
              <a:t>B-Tree</a:t>
            </a:r>
          </a:p>
          <a:p>
            <a:r>
              <a:rPr lang="en-US" dirty="0"/>
              <a:t>BRIN</a:t>
            </a:r>
          </a:p>
          <a:p>
            <a:r>
              <a:rPr lang="en-US" dirty="0" err="1"/>
              <a:t>GiST</a:t>
            </a:r>
            <a:endParaRPr lang="en-US" dirty="0"/>
          </a:p>
          <a:p>
            <a:r>
              <a:rPr lang="en-US" dirty="0"/>
              <a:t>GIN</a:t>
            </a:r>
          </a:p>
          <a:p>
            <a:r>
              <a:rPr lang="en-US" dirty="0"/>
              <a:t>hash</a:t>
            </a:r>
          </a:p>
        </p:txBody>
      </p:sp>
      <p:sp>
        <p:nvSpPr>
          <p:cNvPr id="5" name="Slide Number Placeholder 4">
            <a:extLst>
              <a:ext uri="{FF2B5EF4-FFF2-40B4-BE49-F238E27FC236}">
                <a16:creationId xmlns:a16="http://schemas.microsoft.com/office/drawing/2014/main" id="{878FA413-6A82-323F-2697-E00A9D554C89}"/>
              </a:ext>
            </a:extLst>
          </p:cNvPr>
          <p:cNvSpPr>
            <a:spLocks noGrp="1"/>
          </p:cNvSpPr>
          <p:nvPr>
            <p:ph type="sldNum" sz="quarter" idx="12"/>
          </p:nvPr>
        </p:nvSpPr>
        <p:spPr/>
        <p:txBody>
          <a:bodyPr/>
          <a:lstStyle/>
          <a:p>
            <a:fld id="{DF05C15E-1453-4D65-918E-7489EA0EFEBE}" type="slidenum">
              <a:rPr lang="en-US" smtClean="0"/>
              <a:t>62</a:t>
            </a:fld>
            <a:endParaRPr lang="en-US"/>
          </a:p>
        </p:txBody>
      </p:sp>
    </p:spTree>
    <p:extLst>
      <p:ext uri="{BB962C8B-B14F-4D97-AF65-F5344CB8AC3E}">
        <p14:creationId xmlns:p14="http://schemas.microsoft.com/office/powerpoint/2010/main" val="14395334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32E5D-F45A-D341-C152-B7E9D9065A20}"/>
              </a:ext>
            </a:extLst>
          </p:cNvPr>
          <p:cNvSpPr>
            <a:spLocks noGrp="1"/>
          </p:cNvSpPr>
          <p:nvPr>
            <p:ph type="title"/>
          </p:nvPr>
        </p:nvSpPr>
        <p:spPr/>
        <p:txBody>
          <a:bodyPr/>
          <a:lstStyle/>
          <a:p>
            <a:r>
              <a:rPr lang="en-US" dirty="0"/>
              <a:t>Index B-Tree</a:t>
            </a:r>
          </a:p>
        </p:txBody>
      </p:sp>
      <p:sp>
        <p:nvSpPr>
          <p:cNvPr id="3" name="Content Placeholder 2">
            <a:extLst>
              <a:ext uri="{FF2B5EF4-FFF2-40B4-BE49-F238E27FC236}">
                <a16:creationId xmlns:a16="http://schemas.microsoft.com/office/drawing/2014/main" id="{F93545EA-C886-76D6-ED19-C95C71689998}"/>
              </a:ext>
            </a:extLst>
          </p:cNvPr>
          <p:cNvSpPr>
            <a:spLocks noGrp="1"/>
          </p:cNvSpPr>
          <p:nvPr>
            <p:ph idx="1"/>
          </p:nvPr>
        </p:nvSpPr>
        <p:spPr/>
        <p:txBody>
          <a:bodyPr>
            <a:noAutofit/>
          </a:bodyPr>
          <a:lstStyle/>
          <a:p>
            <a:pPr algn="l"/>
            <a:r>
              <a:rPr lang="en-US" b="0" i="0" u="none" strike="noStrike" baseline="0" dirty="0"/>
              <a:t>is a general-purpose index common in relational databases</a:t>
            </a:r>
          </a:p>
          <a:p>
            <a:pPr algn="l"/>
            <a:r>
              <a:rPr lang="en-US" b="0" i="0" u="none" strike="noStrike" baseline="0" dirty="0"/>
              <a:t>can usually get by with B-Tree alone </a:t>
            </a:r>
            <a:r>
              <a:rPr lang="en-US" sz="2400" b="0" i="0" u="none" strike="noStrike" baseline="0" dirty="0"/>
              <a:t>if you don’t want to experiment</a:t>
            </a:r>
          </a:p>
          <a:p>
            <a:pPr algn="l"/>
            <a:r>
              <a:rPr lang="en-US" b="0" i="0" u="none" strike="noStrike" baseline="0" dirty="0"/>
              <a:t>if PostgreSQL automatically creates an index or don’t bother specifying index method, B-Tree will be chosen method</a:t>
            </a:r>
          </a:p>
          <a:p>
            <a:pPr algn="l"/>
            <a:r>
              <a:rPr lang="en-US" b="0" i="0" u="none" strike="noStrike" baseline="0" dirty="0"/>
              <a:t>only indexing method for Primary Keys and Unique keys</a:t>
            </a:r>
          </a:p>
          <a:p>
            <a:pPr algn="l"/>
            <a:endParaRPr lang="en-US" dirty="0"/>
          </a:p>
        </p:txBody>
      </p:sp>
      <p:sp>
        <p:nvSpPr>
          <p:cNvPr id="5" name="Slide Number Placeholder 4">
            <a:extLst>
              <a:ext uri="{FF2B5EF4-FFF2-40B4-BE49-F238E27FC236}">
                <a16:creationId xmlns:a16="http://schemas.microsoft.com/office/drawing/2014/main" id="{A9A40DB3-770B-ACA9-3BAF-FB425E8FFF24}"/>
              </a:ext>
            </a:extLst>
          </p:cNvPr>
          <p:cNvSpPr>
            <a:spLocks noGrp="1"/>
          </p:cNvSpPr>
          <p:nvPr>
            <p:ph type="sldNum" sz="quarter" idx="12"/>
          </p:nvPr>
        </p:nvSpPr>
        <p:spPr/>
        <p:txBody>
          <a:bodyPr/>
          <a:lstStyle/>
          <a:p>
            <a:fld id="{DF05C15E-1453-4D65-918E-7489EA0EFEBE}" type="slidenum">
              <a:rPr lang="en-US" smtClean="0"/>
              <a:t>63</a:t>
            </a:fld>
            <a:endParaRPr lang="en-US"/>
          </a:p>
        </p:txBody>
      </p:sp>
    </p:spTree>
    <p:extLst>
      <p:ext uri="{BB962C8B-B14F-4D97-AF65-F5344CB8AC3E}">
        <p14:creationId xmlns:p14="http://schemas.microsoft.com/office/powerpoint/2010/main" val="20006227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C886D-B674-16D4-5582-1EADAA51DD26}"/>
              </a:ext>
            </a:extLst>
          </p:cNvPr>
          <p:cNvSpPr>
            <a:spLocks noGrp="1"/>
          </p:cNvSpPr>
          <p:nvPr>
            <p:ph type="title"/>
          </p:nvPr>
        </p:nvSpPr>
        <p:spPr/>
        <p:txBody>
          <a:bodyPr/>
          <a:lstStyle/>
          <a:p>
            <a:r>
              <a:rPr lang="en-US" dirty="0"/>
              <a:t>Index BRIN</a:t>
            </a:r>
          </a:p>
        </p:txBody>
      </p:sp>
      <p:sp>
        <p:nvSpPr>
          <p:cNvPr id="3" name="Content Placeholder 2">
            <a:extLst>
              <a:ext uri="{FF2B5EF4-FFF2-40B4-BE49-F238E27FC236}">
                <a16:creationId xmlns:a16="http://schemas.microsoft.com/office/drawing/2014/main" id="{36D4FC0E-3970-9D10-D73D-F16F6BCE766E}"/>
              </a:ext>
            </a:extLst>
          </p:cNvPr>
          <p:cNvSpPr>
            <a:spLocks noGrp="1"/>
          </p:cNvSpPr>
          <p:nvPr>
            <p:ph idx="1"/>
          </p:nvPr>
        </p:nvSpPr>
        <p:spPr/>
        <p:txBody>
          <a:bodyPr>
            <a:noAutofit/>
          </a:bodyPr>
          <a:lstStyle/>
          <a:p>
            <a:r>
              <a:rPr lang="en-US" dirty="0"/>
              <a:t>Block Range </a:t>
            </a:r>
            <a:r>
              <a:rPr lang="en-US" dirty="0" err="1"/>
              <a:t>INdex</a:t>
            </a:r>
            <a:r>
              <a:rPr lang="en-US" dirty="0"/>
              <a:t> (BRIN) designed specifically for very large tables where using index such as B-Tree would take up too much space and not fit in memory</a:t>
            </a:r>
          </a:p>
          <a:p>
            <a:r>
              <a:rPr lang="en-US" dirty="0"/>
              <a:t>approach of BRIN is to treat a range of pages as one unit</a:t>
            </a:r>
          </a:p>
          <a:p>
            <a:r>
              <a:rPr lang="en-US" dirty="0"/>
              <a:t>BRIN indexes are much smaller than B-Tree and other indexes and faster to build; but they are slower to use and can’t be used for certain situations</a:t>
            </a:r>
          </a:p>
        </p:txBody>
      </p:sp>
      <p:sp>
        <p:nvSpPr>
          <p:cNvPr id="5" name="Slide Number Placeholder 4">
            <a:extLst>
              <a:ext uri="{FF2B5EF4-FFF2-40B4-BE49-F238E27FC236}">
                <a16:creationId xmlns:a16="http://schemas.microsoft.com/office/drawing/2014/main" id="{7F971B6C-F5A3-E6A2-EC19-CE4F156F4A02}"/>
              </a:ext>
            </a:extLst>
          </p:cNvPr>
          <p:cNvSpPr>
            <a:spLocks noGrp="1"/>
          </p:cNvSpPr>
          <p:nvPr>
            <p:ph type="sldNum" sz="quarter" idx="12"/>
          </p:nvPr>
        </p:nvSpPr>
        <p:spPr/>
        <p:txBody>
          <a:bodyPr/>
          <a:lstStyle/>
          <a:p>
            <a:fld id="{DF05C15E-1453-4D65-918E-7489EA0EFEBE}" type="slidenum">
              <a:rPr lang="en-US" smtClean="0"/>
              <a:t>64</a:t>
            </a:fld>
            <a:endParaRPr lang="en-US"/>
          </a:p>
        </p:txBody>
      </p:sp>
    </p:spTree>
    <p:extLst>
      <p:ext uri="{BB962C8B-B14F-4D97-AF65-F5344CB8AC3E}">
        <p14:creationId xmlns:p14="http://schemas.microsoft.com/office/powerpoint/2010/main" val="19738503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2F36F-A87B-888C-CD9A-EEA26C10306D}"/>
              </a:ext>
            </a:extLst>
          </p:cNvPr>
          <p:cNvSpPr>
            <a:spLocks noGrp="1"/>
          </p:cNvSpPr>
          <p:nvPr>
            <p:ph type="title"/>
          </p:nvPr>
        </p:nvSpPr>
        <p:spPr/>
        <p:txBody>
          <a:bodyPr/>
          <a:lstStyle/>
          <a:p>
            <a:r>
              <a:rPr lang="en-US" dirty="0"/>
              <a:t>Index </a:t>
            </a:r>
            <a:r>
              <a:rPr lang="en-US" dirty="0" err="1"/>
              <a:t>GiST</a:t>
            </a:r>
            <a:endParaRPr lang="en-US" dirty="0"/>
          </a:p>
        </p:txBody>
      </p:sp>
      <p:sp>
        <p:nvSpPr>
          <p:cNvPr id="3" name="Content Placeholder 2">
            <a:extLst>
              <a:ext uri="{FF2B5EF4-FFF2-40B4-BE49-F238E27FC236}">
                <a16:creationId xmlns:a16="http://schemas.microsoft.com/office/drawing/2014/main" id="{5D289DB2-C3ED-5905-4207-31F0EE67789E}"/>
              </a:ext>
            </a:extLst>
          </p:cNvPr>
          <p:cNvSpPr>
            <a:spLocks noGrp="1"/>
          </p:cNvSpPr>
          <p:nvPr>
            <p:ph idx="1"/>
          </p:nvPr>
        </p:nvSpPr>
        <p:spPr/>
        <p:txBody>
          <a:bodyPr>
            <a:normAutofit/>
          </a:bodyPr>
          <a:lstStyle/>
          <a:p>
            <a:r>
              <a:rPr lang="en-US" dirty="0"/>
              <a:t>Generalized Search Tree (</a:t>
            </a:r>
            <a:r>
              <a:rPr lang="en-US" dirty="0" err="1"/>
              <a:t>GiST</a:t>
            </a:r>
            <a:r>
              <a:rPr lang="en-US" dirty="0"/>
              <a:t>) index optimized for FTS, spatial data, scientific data, unstructured data and hierarchical data</a:t>
            </a:r>
          </a:p>
          <a:p>
            <a:r>
              <a:rPr lang="en-US" dirty="0"/>
              <a:t>lossy index, in the sense that will not store the value of what it’s indexing, but merely a bounding value such as box for a polygon</a:t>
            </a:r>
          </a:p>
          <a:p>
            <a:pPr lvl="1"/>
            <a:r>
              <a:rPr lang="en-US" sz="2600" dirty="0"/>
              <a:t>this creates the need for an extra lookup step if you need to retrieve the value or do a more fine-tuned check</a:t>
            </a:r>
          </a:p>
        </p:txBody>
      </p:sp>
      <p:sp>
        <p:nvSpPr>
          <p:cNvPr id="5" name="Slide Number Placeholder 4">
            <a:extLst>
              <a:ext uri="{FF2B5EF4-FFF2-40B4-BE49-F238E27FC236}">
                <a16:creationId xmlns:a16="http://schemas.microsoft.com/office/drawing/2014/main" id="{AD6EF196-1758-6D2B-E750-5C7FD28E54F8}"/>
              </a:ext>
            </a:extLst>
          </p:cNvPr>
          <p:cNvSpPr>
            <a:spLocks noGrp="1"/>
          </p:cNvSpPr>
          <p:nvPr>
            <p:ph type="sldNum" sz="quarter" idx="12"/>
          </p:nvPr>
        </p:nvSpPr>
        <p:spPr/>
        <p:txBody>
          <a:bodyPr/>
          <a:lstStyle/>
          <a:p>
            <a:fld id="{DF05C15E-1453-4D65-918E-7489EA0EFEBE}" type="slidenum">
              <a:rPr lang="en-US" smtClean="0"/>
              <a:t>65</a:t>
            </a:fld>
            <a:endParaRPr lang="en-US"/>
          </a:p>
        </p:txBody>
      </p:sp>
    </p:spTree>
    <p:extLst>
      <p:ext uri="{BB962C8B-B14F-4D97-AF65-F5344CB8AC3E}">
        <p14:creationId xmlns:p14="http://schemas.microsoft.com/office/powerpoint/2010/main" val="40445189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D17F-AEB3-80FB-04A6-43339BAE3DD3}"/>
              </a:ext>
            </a:extLst>
          </p:cNvPr>
          <p:cNvSpPr>
            <a:spLocks noGrp="1"/>
          </p:cNvSpPr>
          <p:nvPr>
            <p:ph type="title"/>
          </p:nvPr>
        </p:nvSpPr>
        <p:spPr/>
        <p:txBody>
          <a:bodyPr/>
          <a:lstStyle/>
          <a:p>
            <a:r>
              <a:rPr lang="en-US" dirty="0"/>
              <a:t>Index GIN</a:t>
            </a:r>
          </a:p>
        </p:txBody>
      </p:sp>
      <p:sp>
        <p:nvSpPr>
          <p:cNvPr id="3" name="Content Placeholder 2">
            <a:extLst>
              <a:ext uri="{FF2B5EF4-FFF2-40B4-BE49-F238E27FC236}">
                <a16:creationId xmlns:a16="http://schemas.microsoft.com/office/drawing/2014/main" id="{D6891FB5-B4CC-1D74-4484-323B23372B24}"/>
              </a:ext>
            </a:extLst>
          </p:cNvPr>
          <p:cNvSpPr>
            <a:spLocks noGrp="1"/>
          </p:cNvSpPr>
          <p:nvPr>
            <p:ph idx="1"/>
          </p:nvPr>
        </p:nvSpPr>
        <p:spPr/>
        <p:txBody>
          <a:bodyPr>
            <a:noAutofit/>
          </a:bodyPr>
          <a:lstStyle/>
          <a:p>
            <a:pPr algn="l"/>
            <a:r>
              <a:rPr lang="en-US" b="0" i="0" u="none" strike="noStrike" baseline="0" dirty="0">
                <a:solidFill>
                  <a:srgbClr val="000000"/>
                </a:solidFill>
              </a:rPr>
              <a:t>Generalized Inverted Index (GIN) geared toward built-in </a:t>
            </a:r>
            <a:r>
              <a:rPr lang="en-US" b="0" i="0" u="none" strike="noStrike" baseline="0" dirty="0">
                <a:solidFill>
                  <a:srgbClr val="8F0012"/>
                </a:solidFill>
              </a:rPr>
              <a:t>full text search </a:t>
            </a:r>
            <a:r>
              <a:rPr lang="en-US" b="0" i="0" u="none" strike="noStrike" baseline="0" dirty="0">
                <a:solidFill>
                  <a:srgbClr val="000000"/>
                </a:solidFill>
              </a:rPr>
              <a:t>and binary JSON</a:t>
            </a:r>
          </a:p>
          <a:p>
            <a:pPr algn="l"/>
            <a:r>
              <a:rPr lang="en-US" b="0" i="0" u="none" strike="noStrike" baseline="0" dirty="0">
                <a:solidFill>
                  <a:srgbClr val="000000"/>
                </a:solidFill>
              </a:rPr>
              <a:t>descendent of </a:t>
            </a:r>
            <a:r>
              <a:rPr lang="en-US" b="0" i="0" u="none" strike="noStrike" baseline="0" dirty="0" err="1">
                <a:solidFill>
                  <a:srgbClr val="000000"/>
                </a:solidFill>
              </a:rPr>
              <a:t>GiST</a:t>
            </a:r>
            <a:r>
              <a:rPr lang="en-US" dirty="0">
                <a:solidFill>
                  <a:srgbClr val="000000"/>
                </a:solidFill>
              </a:rPr>
              <a:t> </a:t>
            </a:r>
            <a:r>
              <a:rPr lang="en-US" b="0" i="0" u="none" strike="noStrike" baseline="0" dirty="0">
                <a:solidFill>
                  <a:srgbClr val="000000"/>
                </a:solidFill>
              </a:rPr>
              <a:t>but without the </a:t>
            </a:r>
            <a:r>
              <a:rPr lang="en-US" b="0" i="0" u="none" strike="noStrike" baseline="0" dirty="0" err="1">
                <a:solidFill>
                  <a:srgbClr val="000000"/>
                </a:solidFill>
              </a:rPr>
              <a:t>lossiness</a:t>
            </a:r>
            <a:endParaRPr lang="en-US" b="0" i="0" u="none" strike="noStrike" baseline="0" dirty="0">
              <a:solidFill>
                <a:srgbClr val="000000"/>
              </a:solidFill>
            </a:endParaRPr>
          </a:p>
          <a:p>
            <a:pPr algn="l"/>
            <a:r>
              <a:rPr lang="en-US" b="0" i="0" u="none" strike="noStrike" baseline="0" dirty="0">
                <a:solidFill>
                  <a:srgbClr val="000000"/>
                </a:solidFill>
              </a:rPr>
              <a:t>will clone values in columns that are part of index</a:t>
            </a:r>
          </a:p>
          <a:p>
            <a:pPr algn="l"/>
            <a:r>
              <a:rPr lang="en-US" b="0" i="0" u="none" strike="noStrike" baseline="0" dirty="0">
                <a:solidFill>
                  <a:srgbClr val="000000"/>
                </a:solidFill>
              </a:rPr>
              <a:t>GIN is faster than </a:t>
            </a:r>
            <a:r>
              <a:rPr lang="en-US" b="0" i="0" u="none" strike="noStrike" baseline="0" dirty="0" err="1">
                <a:solidFill>
                  <a:srgbClr val="000000"/>
                </a:solidFill>
              </a:rPr>
              <a:t>GiST</a:t>
            </a:r>
            <a:r>
              <a:rPr lang="en-US" b="0" i="0" u="none" strike="noStrike" baseline="0" dirty="0">
                <a:solidFill>
                  <a:srgbClr val="000000"/>
                </a:solidFill>
              </a:rPr>
              <a:t>; larger and updating is slower </a:t>
            </a:r>
          </a:p>
          <a:p>
            <a:pPr algn="l"/>
            <a:r>
              <a:rPr lang="en-US" b="0" i="0" u="none" strike="noStrike" baseline="0" dirty="0">
                <a:solidFill>
                  <a:srgbClr val="000000"/>
                </a:solidFill>
              </a:rPr>
              <a:t>can’t use GIN to index large objects</a:t>
            </a:r>
            <a:endParaRPr lang="en-US" dirty="0"/>
          </a:p>
        </p:txBody>
      </p:sp>
      <p:sp>
        <p:nvSpPr>
          <p:cNvPr id="5" name="Slide Number Placeholder 4">
            <a:extLst>
              <a:ext uri="{FF2B5EF4-FFF2-40B4-BE49-F238E27FC236}">
                <a16:creationId xmlns:a16="http://schemas.microsoft.com/office/drawing/2014/main" id="{4672308D-F729-B637-274A-7AF2A4B32C50}"/>
              </a:ext>
            </a:extLst>
          </p:cNvPr>
          <p:cNvSpPr>
            <a:spLocks noGrp="1"/>
          </p:cNvSpPr>
          <p:nvPr>
            <p:ph type="sldNum" sz="quarter" idx="12"/>
          </p:nvPr>
        </p:nvSpPr>
        <p:spPr/>
        <p:txBody>
          <a:bodyPr/>
          <a:lstStyle/>
          <a:p>
            <a:fld id="{DF05C15E-1453-4D65-918E-7489EA0EFEBE}" type="slidenum">
              <a:rPr lang="en-US" smtClean="0"/>
              <a:t>66</a:t>
            </a:fld>
            <a:endParaRPr lang="en-US"/>
          </a:p>
        </p:txBody>
      </p:sp>
    </p:spTree>
    <p:extLst>
      <p:ext uri="{BB962C8B-B14F-4D97-AF65-F5344CB8AC3E}">
        <p14:creationId xmlns:p14="http://schemas.microsoft.com/office/powerpoint/2010/main" val="19525033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4FD3C-691C-787A-CDE2-DC300A40E1F7}"/>
              </a:ext>
            </a:extLst>
          </p:cNvPr>
          <p:cNvSpPr>
            <a:spLocks noGrp="1"/>
          </p:cNvSpPr>
          <p:nvPr>
            <p:ph type="title"/>
          </p:nvPr>
        </p:nvSpPr>
        <p:spPr/>
        <p:txBody>
          <a:bodyPr/>
          <a:lstStyle/>
          <a:p>
            <a:r>
              <a:rPr lang="en-US" dirty="0"/>
              <a:t>Index hash</a:t>
            </a:r>
          </a:p>
        </p:txBody>
      </p:sp>
      <p:sp>
        <p:nvSpPr>
          <p:cNvPr id="3" name="Content Placeholder 2">
            <a:extLst>
              <a:ext uri="{FF2B5EF4-FFF2-40B4-BE49-F238E27FC236}">
                <a16:creationId xmlns:a16="http://schemas.microsoft.com/office/drawing/2014/main" id="{8953E7B6-3AEA-87B8-0522-E0CCC61E8F34}"/>
              </a:ext>
            </a:extLst>
          </p:cNvPr>
          <p:cNvSpPr>
            <a:spLocks noGrp="1"/>
          </p:cNvSpPr>
          <p:nvPr>
            <p:ph idx="1"/>
          </p:nvPr>
        </p:nvSpPr>
        <p:spPr/>
        <p:txBody>
          <a:bodyPr>
            <a:normAutofit/>
          </a:bodyPr>
          <a:lstStyle/>
          <a:p>
            <a:pPr algn="l"/>
            <a:r>
              <a:rPr lang="en-US" b="0" i="0" u="none" strike="noStrike" baseline="0" dirty="0"/>
              <a:t>were popular prior to advent of </a:t>
            </a:r>
            <a:r>
              <a:rPr lang="en-US" b="0" i="0" u="none" strike="noStrike" baseline="0" dirty="0" err="1"/>
              <a:t>GiST</a:t>
            </a:r>
            <a:r>
              <a:rPr lang="en-US" b="0" i="0" u="none" strike="noStrike" baseline="0" dirty="0"/>
              <a:t> and GIN</a:t>
            </a:r>
          </a:p>
          <a:p>
            <a:pPr algn="l"/>
            <a:r>
              <a:rPr lang="en-US" b="0" i="0" u="none" strike="noStrike" baseline="0" dirty="0"/>
              <a:t>general consensus rates </a:t>
            </a:r>
            <a:r>
              <a:rPr lang="en-US" b="0" i="0" u="none" strike="noStrike" baseline="0" dirty="0" err="1"/>
              <a:t>GiST</a:t>
            </a:r>
            <a:r>
              <a:rPr lang="en-US" b="0" i="0" u="none" strike="noStrike" baseline="0" dirty="0"/>
              <a:t> and GIN above hash in terms of both performance and transaction safety</a:t>
            </a:r>
          </a:p>
          <a:p>
            <a:pPr algn="l"/>
            <a:r>
              <a:rPr lang="en-US" b="0" i="0" u="none" strike="noStrike" baseline="0" dirty="0"/>
              <a:t>hash indexes were relegated to legacy status</a:t>
            </a:r>
          </a:p>
          <a:p>
            <a:pPr algn="l"/>
            <a:r>
              <a:rPr lang="en-US" b="0" i="0" u="none" strike="noStrike" baseline="0" dirty="0"/>
              <a:t>gained transactional safety and some performance improvements that made them more efficient than B-Tree in some cases</a:t>
            </a:r>
            <a:endParaRPr lang="en-US" sz="4000" dirty="0"/>
          </a:p>
        </p:txBody>
      </p:sp>
      <p:sp>
        <p:nvSpPr>
          <p:cNvPr id="5" name="Slide Number Placeholder 4">
            <a:extLst>
              <a:ext uri="{FF2B5EF4-FFF2-40B4-BE49-F238E27FC236}">
                <a16:creationId xmlns:a16="http://schemas.microsoft.com/office/drawing/2014/main" id="{60F50504-1E54-4FBF-3E0B-4C1CC46ABB4E}"/>
              </a:ext>
            </a:extLst>
          </p:cNvPr>
          <p:cNvSpPr>
            <a:spLocks noGrp="1"/>
          </p:cNvSpPr>
          <p:nvPr>
            <p:ph type="sldNum" sz="quarter" idx="12"/>
          </p:nvPr>
        </p:nvSpPr>
        <p:spPr/>
        <p:txBody>
          <a:bodyPr/>
          <a:lstStyle/>
          <a:p>
            <a:fld id="{DF05C15E-1453-4D65-918E-7489EA0EFEBE}" type="slidenum">
              <a:rPr lang="en-US" smtClean="0"/>
              <a:t>67</a:t>
            </a:fld>
            <a:endParaRPr lang="en-US"/>
          </a:p>
        </p:txBody>
      </p:sp>
    </p:spTree>
    <p:extLst>
      <p:ext uri="{BB962C8B-B14F-4D97-AF65-F5344CB8AC3E}">
        <p14:creationId xmlns:p14="http://schemas.microsoft.com/office/powerpoint/2010/main" val="29207367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B1747-8CBF-1953-F632-A10614B019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8C53DE-69E8-A4A2-A74D-97825D6116B4}"/>
              </a:ext>
            </a:extLst>
          </p:cNvPr>
          <p:cNvSpPr>
            <a:spLocks noGrp="1"/>
          </p:cNvSpPr>
          <p:nvPr>
            <p:ph idx="1"/>
          </p:nvPr>
        </p:nvSpPr>
        <p:spPr/>
        <p:txBody>
          <a:bodyPr>
            <a:normAutofit/>
          </a:bodyPr>
          <a:lstStyle/>
          <a:p>
            <a:r>
              <a:rPr lang="en-US" b="0" i="0" u="none" strike="noStrike" baseline="0" dirty="0"/>
              <a:t>Partial Indexes</a:t>
            </a:r>
          </a:p>
          <a:p>
            <a:r>
              <a:rPr lang="en-US" b="0" i="0" u="none" strike="noStrike" baseline="0" dirty="0" err="1"/>
              <a:t>MultiColumn</a:t>
            </a:r>
            <a:r>
              <a:rPr lang="en-US" b="0" i="0" u="none" strike="noStrike" baseline="0" dirty="0"/>
              <a:t> Indexes</a:t>
            </a:r>
            <a:endParaRPr lang="en-US" sz="4000" dirty="0"/>
          </a:p>
        </p:txBody>
      </p:sp>
      <p:sp>
        <p:nvSpPr>
          <p:cNvPr id="5" name="Slide Number Placeholder 4">
            <a:extLst>
              <a:ext uri="{FF2B5EF4-FFF2-40B4-BE49-F238E27FC236}">
                <a16:creationId xmlns:a16="http://schemas.microsoft.com/office/drawing/2014/main" id="{BDAB67DB-FA24-AF68-43F5-50239103500C}"/>
              </a:ext>
            </a:extLst>
          </p:cNvPr>
          <p:cNvSpPr>
            <a:spLocks noGrp="1"/>
          </p:cNvSpPr>
          <p:nvPr>
            <p:ph type="sldNum" sz="quarter" idx="12"/>
          </p:nvPr>
        </p:nvSpPr>
        <p:spPr/>
        <p:txBody>
          <a:bodyPr/>
          <a:lstStyle/>
          <a:p>
            <a:fld id="{DF05C15E-1453-4D65-918E-7489EA0EFEBE}" type="slidenum">
              <a:rPr lang="en-US" smtClean="0"/>
              <a:t>68</a:t>
            </a:fld>
            <a:endParaRPr lang="en-US"/>
          </a:p>
        </p:txBody>
      </p:sp>
    </p:spTree>
    <p:extLst>
      <p:ext uri="{BB962C8B-B14F-4D97-AF65-F5344CB8AC3E}">
        <p14:creationId xmlns:p14="http://schemas.microsoft.com/office/powerpoint/2010/main" val="13601945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16066-08DE-C12C-7E52-7F2DE479AA5F}"/>
              </a:ext>
            </a:extLst>
          </p:cNvPr>
          <p:cNvSpPr>
            <a:spLocks noGrp="1"/>
          </p:cNvSpPr>
          <p:nvPr>
            <p:ph type="title"/>
          </p:nvPr>
        </p:nvSpPr>
        <p:spPr/>
        <p:txBody>
          <a:bodyPr/>
          <a:lstStyle/>
          <a:p>
            <a:r>
              <a:rPr lang="en-US" dirty="0" err="1"/>
              <a:t>DBeaver</a:t>
            </a:r>
            <a:r>
              <a:rPr lang="en-US" dirty="0"/>
              <a:t> with </a:t>
            </a:r>
            <a:r>
              <a:rPr lang="en-US" dirty="0" err="1"/>
              <a:t>PostGreSQL</a:t>
            </a:r>
            <a:r>
              <a:rPr lang="en-US" dirty="0"/>
              <a:t> </a:t>
            </a:r>
            <a:r>
              <a:rPr lang="en-US" dirty="0" err="1"/>
              <a:t>northwind</a:t>
            </a:r>
            <a:endParaRPr lang="en-US" dirty="0"/>
          </a:p>
        </p:txBody>
      </p:sp>
      <p:sp>
        <p:nvSpPr>
          <p:cNvPr id="3" name="Content Placeholder 2">
            <a:extLst>
              <a:ext uri="{FF2B5EF4-FFF2-40B4-BE49-F238E27FC236}">
                <a16:creationId xmlns:a16="http://schemas.microsoft.com/office/drawing/2014/main" id="{8E22003D-4049-BB47-F78A-89B285E93ABC}"/>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B0C51436-6445-2D2D-37F3-73F4F8C214CD}"/>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2193802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B81F-328C-720E-C056-417BA9D7BBE8}"/>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9B6F048F-5275-3ABF-2E92-A0FAF3D6E2CE}"/>
              </a:ext>
            </a:extLst>
          </p:cNvPr>
          <p:cNvPicPr>
            <a:picLocks noGrp="1" noChangeAspect="1"/>
          </p:cNvPicPr>
          <p:nvPr>
            <p:ph idx="1"/>
          </p:nvPr>
        </p:nvPicPr>
        <p:blipFill>
          <a:blip r:embed="rId2"/>
          <a:stretch>
            <a:fillRect/>
          </a:stretch>
        </p:blipFill>
        <p:spPr>
          <a:xfrm>
            <a:off x="457199" y="274319"/>
            <a:ext cx="10396943" cy="6286359"/>
          </a:xfrm>
          <a:prstGeom prst="rect">
            <a:avLst/>
          </a:prstGeom>
        </p:spPr>
      </p:pic>
      <p:sp>
        <p:nvSpPr>
          <p:cNvPr id="4" name="Slide Number Placeholder 3">
            <a:extLst>
              <a:ext uri="{FF2B5EF4-FFF2-40B4-BE49-F238E27FC236}">
                <a16:creationId xmlns:a16="http://schemas.microsoft.com/office/drawing/2014/main" id="{0EB29ADB-AAC8-A210-3305-EA06D1212165}"/>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25586165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CC775-C6C8-32BE-C738-E8A8CBF7B5B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5433F23-9DF2-B532-6E1A-9B7E0FC944A8}"/>
              </a:ext>
            </a:extLst>
          </p:cNvPr>
          <p:cNvSpPr>
            <a:spLocks noGrp="1"/>
          </p:cNvSpPr>
          <p:nvPr>
            <p:ph idx="1"/>
          </p:nvPr>
        </p:nvSpPr>
        <p:spPr>
          <a:xfrm>
            <a:off x="838200" y="1182757"/>
            <a:ext cx="10515600" cy="4994206"/>
          </a:xfrm>
        </p:spPr>
        <p:txBody>
          <a:bodyPr/>
          <a:lstStyle/>
          <a:p>
            <a:r>
              <a:rPr lang="en-US" dirty="0"/>
              <a:t>images in </a:t>
            </a:r>
            <a:r>
              <a:rPr lang="en-US" i="1" dirty="0"/>
              <a:t>categories</a:t>
            </a:r>
            <a:r>
              <a:rPr lang="en-US" dirty="0"/>
              <a:t> table makes the storage larger (</a:t>
            </a:r>
            <a:r>
              <a:rPr lang="en-US" dirty="0" err="1"/>
              <a:t>Mbits</a:t>
            </a:r>
            <a:r>
              <a:rPr lang="en-US" dirty="0"/>
              <a:t> …) instead of (Kbits …)</a:t>
            </a:r>
          </a:p>
          <a:p>
            <a:endParaRPr lang="en-US" dirty="0"/>
          </a:p>
          <a:p>
            <a:r>
              <a:rPr lang="en-US" dirty="0"/>
              <a:t>tries to estimate total size</a:t>
            </a:r>
          </a:p>
          <a:p>
            <a:pPr lvl="1"/>
            <a:r>
              <a:rPr lang="en-US" sz="2800" dirty="0"/>
              <a:t>table</a:t>
            </a:r>
          </a:p>
          <a:p>
            <a:pPr lvl="1"/>
            <a:r>
              <a:rPr lang="en-US" sz="2800" dirty="0"/>
              <a:t>index</a:t>
            </a:r>
          </a:p>
          <a:p>
            <a:pPr lvl="1"/>
            <a:r>
              <a:rPr lang="en-US" sz="2800" dirty="0"/>
              <a:t>…</a:t>
            </a:r>
          </a:p>
          <a:p>
            <a:endParaRPr lang="en-US" dirty="0"/>
          </a:p>
        </p:txBody>
      </p:sp>
      <p:sp>
        <p:nvSpPr>
          <p:cNvPr id="4" name="Slide Number Placeholder 3">
            <a:extLst>
              <a:ext uri="{FF2B5EF4-FFF2-40B4-BE49-F238E27FC236}">
                <a16:creationId xmlns:a16="http://schemas.microsoft.com/office/drawing/2014/main" id="{1C967E38-DCD2-1DB5-2367-5BF1B6DCDFA2}"/>
              </a:ext>
            </a:extLst>
          </p:cNvPr>
          <p:cNvSpPr>
            <a:spLocks noGrp="1"/>
          </p:cNvSpPr>
          <p:nvPr>
            <p:ph type="sldNum" sz="quarter" idx="12"/>
          </p:nvPr>
        </p:nvSpPr>
        <p:spPr/>
        <p:txBody>
          <a:bodyPr/>
          <a:lstStyle/>
          <a:p>
            <a:fld id="{6264BDCF-5269-49AC-A246-ED26C2B980E3}" type="slidenum">
              <a:rPr lang="en-US" smtClean="0"/>
              <a:t>71</a:t>
            </a:fld>
            <a:endParaRPr lang="en-US"/>
          </a:p>
        </p:txBody>
      </p:sp>
      <p:pic>
        <p:nvPicPr>
          <p:cNvPr id="6" name="Picture 5">
            <a:extLst>
              <a:ext uri="{FF2B5EF4-FFF2-40B4-BE49-F238E27FC236}">
                <a16:creationId xmlns:a16="http://schemas.microsoft.com/office/drawing/2014/main" id="{54ACB1A0-D8BC-C279-33DA-4F41FAF24CD9}"/>
              </a:ext>
            </a:extLst>
          </p:cNvPr>
          <p:cNvPicPr>
            <a:picLocks noChangeAspect="1"/>
          </p:cNvPicPr>
          <p:nvPr/>
        </p:nvPicPr>
        <p:blipFill>
          <a:blip r:embed="rId2"/>
          <a:stretch>
            <a:fillRect/>
          </a:stretch>
        </p:blipFill>
        <p:spPr>
          <a:xfrm>
            <a:off x="5394959" y="1737352"/>
            <a:ext cx="5370507" cy="4662168"/>
          </a:xfrm>
          <a:prstGeom prst="rect">
            <a:avLst/>
          </a:prstGeom>
        </p:spPr>
      </p:pic>
    </p:spTree>
    <p:extLst>
      <p:ext uri="{BB962C8B-B14F-4D97-AF65-F5344CB8AC3E}">
        <p14:creationId xmlns:p14="http://schemas.microsoft.com/office/powerpoint/2010/main" val="31459858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71D8F-53AA-1D7B-D235-7844F8F2ED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A2452F-C66C-9451-7DC6-64980E584D34}"/>
              </a:ext>
            </a:extLst>
          </p:cNvPr>
          <p:cNvSpPr>
            <a:spLocks noGrp="1"/>
          </p:cNvSpPr>
          <p:nvPr>
            <p:ph idx="1"/>
          </p:nvPr>
        </p:nvSpPr>
        <p:spPr>
          <a:xfrm>
            <a:off x="838200" y="1828799"/>
            <a:ext cx="10515600" cy="4348163"/>
          </a:xfrm>
        </p:spPr>
        <p:txBody>
          <a:bodyPr>
            <a:normAutofit fontScale="92500" lnSpcReduction="20000"/>
          </a:bodyPr>
          <a:lstStyle/>
          <a:p>
            <a:r>
              <a:rPr lang="en-US" b="1" dirty="0"/>
              <a:t>select</a:t>
            </a:r>
            <a:r>
              <a:rPr lang="en-US" dirty="0"/>
              <a:t> </a:t>
            </a:r>
            <a:r>
              <a:rPr lang="en-US" b="1" dirty="0" err="1"/>
              <a:t>pg_relation_size</a:t>
            </a:r>
            <a:r>
              <a:rPr lang="en-US" dirty="0"/>
              <a:t>('products');</a:t>
            </a:r>
          </a:p>
          <a:p>
            <a:r>
              <a:rPr lang="en-US" dirty="0"/>
              <a:t> 	8.192</a:t>
            </a:r>
            <a:r>
              <a:rPr lang="en-US" sz="2400" dirty="0"/>
              <a:t> (bytes)</a:t>
            </a:r>
          </a:p>
          <a:p>
            <a:endParaRPr lang="en-US" sz="1000" dirty="0"/>
          </a:p>
          <a:p>
            <a:r>
              <a:rPr lang="en-US" b="1" dirty="0"/>
              <a:t>select</a:t>
            </a:r>
            <a:r>
              <a:rPr lang="en-US" dirty="0"/>
              <a:t> </a:t>
            </a:r>
            <a:r>
              <a:rPr lang="en-US" b="1" dirty="0" err="1"/>
              <a:t>pg_relation_size</a:t>
            </a:r>
            <a:r>
              <a:rPr lang="en-US" dirty="0"/>
              <a:t>('employees');</a:t>
            </a:r>
          </a:p>
          <a:p>
            <a:r>
              <a:rPr lang="en-US" dirty="0"/>
              <a:t> 	8.192</a:t>
            </a:r>
            <a:r>
              <a:rPr lang="en-US" sz="2400" dirty="0"/>
              <a:t> (bytes)</a:t>
            </a:r>
          </a:p>
          <a:p>
            <a:endParaRPr lang="en-US" sz="1000" dirty="0"/>
          </a:p>
          <a:p>
            <a:r>
              <a:rPr lang="en-US" b="1" dirty="0"/>
              <a:t>select</a:t>
            </a:r>
            <a:r>
              <a:rPr lang="en-US" dirty="0"/>
              <a:t> </a:t>
            </a:r>
            <a:r>
              <a:rPr lang="en-US" b="1" dirty="0" err="1"/>
              <a:t>pg_relation_size</a:t>
            </a:r>
            <a:r>
              <a:rPr lang="en-US" dirty="0"/>
              <a:t>('customers');</a:t>
            </a:r>
          </a:p>
          <a:p>
            <a:r>
              <a:rPr lang="en-US" dirty="0"/>
              <a:t> 	16.384</a:t>
            </a:r>
            <a:r>
              <a:rPr lang="en-US" sz="2400" dirty="0"/>
              <a:t> (bytes)</a:t>
            </a:r>
          </a:p>
          <a:p>
            <a:endParaRPr lang="en-US" sz="1000" dirty="0"/>
          </a:p>
          <a:p>
            <a:endParaRPr lang="en-US" dirty="0"/>
          </a:p>
          <a:p>
            <a:r>
              <a:rPr lang="en-US" b="1" dirty="0"/>
              <a:t>select</a:t>
            </a:r>
            <a:r>
              <a:rPr lang="en-US" dirty="0"/>
              <a:t> </a:t>
            </a:r>
            <a:r>
              <a:rPr lang="en-US" b="1" dirty="0" err="1"/>
              <a:t>pg_relation_size</a:t>
            </a:r>
            <a:r>
              <a:rPr lang="en-US" dirty="0"/>
              <a:t>('categories');</a:t>
            </a:r>
          </a:p>
          <a:p>
            <a:r>
              <a:rPr lang="en-US" dirty="0"/>
              <a:t> 	8.192</a:t>
            </a:r>
            <a:r>
              <a:rPr lang="en-US" sz="2400" dirty="0"/>
              <a:t> (bytes)</a:t>
            </a:r>
          </a:p>
          <a:p>
            <a:endParaRPr lang="en-US" sz="1000" dirty="0"/>
          </a:p>
          <a:p>
            <a:endParaRPr lang="en-US" dirty="0"/>
          </a:p>
          <a:p>
            <a:endParaRPr lang="en-US" dirty="0"/>
          </a:p>
        </p:txBody>
      </p:sp>
      <p:sp>
        <p:nvSpPr>
          <p:cNvPr id="4" name="Slide Number Placeholder 3">
            <a:extLst>
              <a:ext uri="{FF2B5EF4-FFF2-40B4-BE49-F238E27FC236}">
                <a16:creationId xmlns:a16="http://schemas.microsoft.com/office/drawing/2014/main" id="{2FF860F3-3311-69B5-C1D6-C78DA729A06B}"/>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22983737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2CA0-F36E-80D4-F205-D30C1942ED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DC2457-AA8A-AED2-E3EE-3213EDAE06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902EE07-49F9-D9EA-0C19-A5ABEE12AEFA}"/>
              </a:ext>
            </a:extLst>
          </p:cNvPr>
          <p:cNvSpPr>
            <a:spLocks noGrp="1"/>
          </p:cNvSpPr>
          <p:nvPr>
            <p:ph type="sldNum" sz="quarter" idx="12"/>
          </p:nvPr>
        </p:nvSpPr>
        <p:spPr/>
        <p:txBody>
          <a:bodyPr/>
          <a:lstStyle/>
          <a:p>
            <a:fld id="{6264BDCF-5269-49AC-A246-ED26C2B980E3}" type="slidenum">
              <a:rPr lang="en-US" smtClean="0"/>
              <a:t>73</a:t>
            </a:fld>
            <a:endParaRPr lang="en-US"/>
          </a:p>
        </p:txBody>
      </p:sp>
      <p:pic>
        <p:nvPicPr>
          <p:cNvPr id="6" name="Picture 5">
            <a:extLst>
              <a:ext uri="{FF2B5EF4-FFF2-40B4-BE49-F238E27FC236}">
                <a16:creationId xmlns:a16="http://schemas.microsoft.com/office/drawing/2014/main" id="{6862A3A6-A887-2192-ED7F-CB84068DA0FC}"/>
              </a:ext>
            </a:extLst>
          </p:cNvPr>
          <p:cNvPicPr>
            <a:picLocks noChangeAspect="1"/>
          </p:cNvPicPr>
          <p:nvPr/>
        </p:nvPicPr>
        <p:blipFill>
          <a:blip r:embed="rId2"/>
          <a:stretch>
            <a:fillRect/>
          </a:stretch>
        </p:blipFill>
        <p:spPr>
          <a:xfrm>
            <a:off x="0" y="70590"/>
            <a:ext cx="12192000" cy="6716820"/>
          </a:xfrm>
          <a:prstGeom prst="rect">
            <a:avLst/>
          </a:prstGeom>
        </p:spPr>
      </p:pic>
    </p:spTree>
    <p:extLst>
      <p:ext uri="{BB962C8B-B14F-4D97-AF65-F5344CB8AC3E}">
        <p14:creationId xmlns:p14="http://schemas.microsoft.com/office/powerpoint/2010/main" val="29651976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C8AF-BE9B-B5C8-1E13-BFF97FC26C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DD8557-CE9E-3E7E-E7EF-298B2BD36F3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FD4104F-4A26-9C86-655A-03C512012DEB}"/>
              </a:ext>
            </a:extLst>
          </p:cNvPr>
          <p:cNvSpPr>
            <a:spLocks noGrp="1"/>
          </p:cNvSpPr>
          <p:nvPr>
            <p:ph type="sldNum" sz="quarter" idx="12"/>
          </p:nvPr>
        </p:nvSpPr>
        <p:spPr/>
        <p:txBody>
          <a:bodyPr/>
          <a:lstStyle/>
          <a:p>
            <a:fld id="{6264BDCF-5269-49AC-A246-ED26C2B980E3}" type="slidenum">
              <a:rPr lang="en-US" smtClean="0"/>
              <a:t>74</a:t>
            </a:fld>
            <a:endParaRPr lang="en-US"/>
          </a:p>
        </p:txBody>
      </p:sp>
      <p:pic>
        <p:nvPicPr>
          <p:cNvPr id="6" name="Picture 5">
            <a:extLst>
              <a:ext uri="{FF2B5EF4-FFF2-40B4-BE49-F238E27FC236}">
                <a16:creationId xmlns:a16="http://schemas.microsoft.com/office/drawing/2014/main" id="{861D90FE-DAD3-28EB-1318-4BF665AD468E}"/>
              </a:ext>
            </a:extLst>
          </p:cNvPr>
          <p:cNvPicPr>
            <a:picLocks noChangeAspect="1"/>
          </p:cNvPicPr>
          <p:nvPr/>
        </p:nvPicPr>
        <p:blipFill>
          <a:blip r:embed="rId2"/>
          <a:stretch>
            <a:fillRect/>
          </a:stretch>
        </p:blipFill>
        <p:spPr>
          <a:xfrm>
            <a:off x="0" y="84092"/>
            <a:ext cx="12192000" cy="6689815"/>
          </a:xfrm>
          <a:prstGeom prst="rect">
            <a:avLst/>
          </a:prstGeom>
        </p:spPr>
      </p:pic>
    </p:spTree>
    <p:extLst>
      <p:ext uri="{BB962C8B-B14F-4D97-AF65-F5344CB8AC3E}">
        <p14:creationId xmlns:p14="http://schemas.microsoft.com/office/powerpoint/2010/main" val="15155397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93EA2-98CB-7D85-531E-11FDDFDB4909}"/>
              </a:ext>
            </a:extLst>
          </p:cNvPr>
          <p:cNvSpPr>
            <a:spLocks noGrp="1"/>
          </p:cNvSpPr>
          <p:nvPr>
            <p:ph type="title"/>
          </p:nvPr>
        </p:nvSpPr>
        <p:spPr/>
        <p:txBody>
          <a:bodyPr/>
          <a:lstStyle/>
          <a:p>
            <a:r>
              <a:rPr lang="en-US" dirty="0"/>
              <a:t>cost</a:t>
            </a:r>
          </a:p>
        </p:txBody>
      </p:sp>
      <p:sp>
        <p:nvSpPr>
          <p:cNvPr id="4" name="Slide Number Placeholder 3">
            <a:extLst>
              <a:ext uri="{FF2B5EF4-FFF2-40B4-BE49-F238E27FC236}">
                <a16:creationId xmlns:a16="http://schemas.microsoft.com/office/drawing/2014/main" id="{7B91D6B8-8891-A928-F520-F02F7A92CE9F}"/>
              </a:ext>
            </a:extLst>
          </p:cNvPr>
          <p:cNvSpPr>
            <a:spLocks noGrp="1"/>
          </p:cNvSpPr>
          <p:nvPr>
            <p:ph type="sldNum" sz="quarter" idx="12"/>
          </p:nvPr>
        </p:nvSpPr>
        <p:spPr/>
        <p:txBody>
          <a:bodyPr/>
          <a:lstStyle/>
          <a:p>
            <a:fld id="{6264BDCF-5269-49AC-A246-ED26C2B980E3}" type="slidenum">
              <a:rPr lang="en-US" smtClean="0"/>
              <a:t>75</a:t>
            </a:fld>
            <a:endParaRPr lang="en-US"/>
          </a:p>
        </p:txBody>
      </p:sp>
      <p:sp>
        <p:nvSpPr>
          <p:cNvPr id="8" name="Content Placeholder 7">
            <a:extLst>
              <a:ext uri="{FF2B5EF4-FFF2-40B4-BE49-F238E27FC236}">
                <a16:creationId xmlns:a16="http://schemas.microsoft.com/office/drawing/2014/main" id="{C09896C3-4833-D435-6A8F-752176AA1502}"/>
              </a:ext>
            </a:extLst>
          </p:cNvPr>
          <p:cNvSpPr>
            <a:spLocks noGrp="1"/>
          </p:cNvSpPr>
          <p:nvPr>
            <p:ph idx="1"/>
          </p:nvPr>
        </p:nvSpPr>
        <p:spPr/>
        <p:txBody>
          <a:bodyPr>
            <a:normAutofit lnSpcReduction="10000"/>
          </a:bodyPr>
          <a:lstStyle/>
          <a:p>
            <a:r>
              <a:rPr lang="en-US" b="1" dirty="0"/>
              <a:t>select</a:t>
            </a:r>
            <a:r>
              <a:rPr lang="en-US" dirty="0"/>
              <a:t> * </a:t>
            </a:r>
            <a:r>
              <a:rPr lang="en-US" b="1" dirty="0"/>
              <a:t>from</a:t>
            </a:r>
            <a:r>
              <a:rPr lang="en-US" dirty="0"/>
              <a:t> </a:t>
            </a:r>
            <a:r>
              <a:rPr lang="en-US" dirty="0" err="1"/>
              <a:t>vorderdetails</a:t>
            </a:r>
            <a:r>
              <a:rPr lang="en-US" dirty="0"/>
              <a:t> v</a:t>
            </a:r>
          </a:p>
          <a:p>
            <a:r>
              <a:rPr lang="en-US" dirty="0"/>
              <a:t> 	(cost=39.45..90.59 rows=2155 width=53)</a:t>
            </a:r>
          </a:p>
          <a:p>
            <a:endParaRPr lang="en-US" sz="1200" b="1" dirty="0"/>
          </a:p>
          <a:p>
            <a:r>
              <a:rPr lang="en-US" b="1" dirty="0"/>
              <a:t>select</a:t>
            </a:r>
            <a:r>
              <a:rPr lang="en-US" dirty="0"/>
              <a:t> * </a:t>
            </a:r>
            <a:r>
              <a:rPr lang="en-US" b="1" dirty="0"/>
              <a:t>from</a:t>
            </a:r>
            <a:r>
              <a:rPr lang="en-US" dirty="0"/>
              <a:t> </a:t>
            </a:r>
            <a:r>
              <a:rPr lang="en-US" dirty="0" err="1"/>
              <a:t>vorderdetails</a:t>
            </a:r>
            <a:r>
              <a:rPr lang="en-US" dirty="0"/>
              <a:t> v </a:t>
            </a:r>
            <a:r>
              <a:rPr lang="en-US" b="1" dirty="0"/>
              <a:t>where</a:t>
            </a:r>
            <a:r>
              <a:rPr lang="en-US" dirty="0"/>
              <a:t> </a:t>
            </a:r>
            <a:r>
              <a:rPr lang="en-US" dirty="0" err="1"/>
              <a:t>company_name</a:t>
            </a:r>
            <a:r>
              <a:rPr lang="en-US" dirty="0"/>
              <a:t>= 'Vins et </a:t>
            </a:r>
            <a:r>
              <a:rPr lang="en-US" dirty="0" err="1"/>
              <a:t>alcools</a:t>
            </a:r>
            <a:r>
              <a:rPr lang="en-US" dirty="0"/>
              <a:t> Chevalier'</a:t>
            </a:r>
          </a:p>
          <a:p>
            <a:r>
              <a:rPr lang="en-US" dirty="0"/>
              <a:t> 	(cost=6.16..34.65 rows=23 width=53)</a:t>
            </a:r>
          </a:p>
          <a:p>
            <a:endParaRPr lang="en-US" sz="1200" dirty="0"/>
          </a:p>
          <a:p>
            <a:r>
              <a:rPr lang="en-US" b="1" dirty="0"/>
              <a:t>select</a:t>
            </a:r>
            <a:r>
              <a:rPr lang="en-US" dirty="0"/>
              <a:t> * </a:t>
            </a:r>
            <a:r>
              <a:rPr lang="en-US" b="1" dirty="0"/>
              <a:t>from</a:t>
            </a:r>
            <a:r>
              <a:rPr lang="en-US" dirty="0"/>
              <a:t> </a:t>
            </a:r>
            <a:r>
              <a:rPr lang="en-US" dirty="0" err="1"/>
              <a:t>vorderdetails</a:t>
            </a:r>
            <a:r>
              <a:rPr lang="en-US" dirty="0"/>
              <a:t> v </a:t>
            </a:r>
            <a:r>
              <a:rPr lang="en-US" b="1" dirty="0"/>
              <a:t>where</a:t>
            </a:r>
            <a:r>
              <a:rPr lang="en-US" dirty="0"/>
              <a:t> </a:t>
            </a:r>
            <a:r>
              <a:rPr lang="en-US" dirty="0" err="1"/>
              <a:t>company_name</a:t>
            </a:r>
            <a:r>
              <a:rPr lang="en-US" dirty="0"/>
              <a:t>= 'Toms </a:t>
            </a:r>
            <a:r>
              <a:rPr lang="en-US" dirty="0" err="1"/>
              <a:t>Spezialitäten</a:t>
            </a:r>
            <a:r>
              <a:rPr lang="en-US" dirty="0"/>
              <a:t>'</a:t>
            </a:r>
          </a:p>
          <a:p>
            <a:r>
              <a:rPr lang="en-US" dirty="0"/>
              <a:t> 	(cost=6.16..34.65 rows=23 width=53)</a:t>
            </a:r>
          </a:p>
          <a:p>
            <a:endParaRPr lang="en-US" dirty="0"/>
          </a:p>
        </p:txBody>
      </p:sp>
    </p:spTree>
    <p:extLst>
      <p:ext uri="{BB962C8B-B14F-4D97-AF65-F5344CB8AC3E}">
        <p14:creationId xmlns:p14="http://schemas.microsoft.com/office/powerpoint/2010/main" val="3475534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D3188-D92F-7E22-3F91-F7C08491D7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309CD7-992F-F811-31BE-7B118894663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307D639-56BA-45A6-0442-64BFDE91AF8B}"/>
              </a:ext>
            </a:extLst>
          </p:cNvPr>
          <p:cNvSpPr>
            <a:spLocks noGrp="1"/>
          </p:cNvSpPr>
          <p:nvPr>
            <p:ph type="sldNum" sz="quarter" idx="12"/>
          </p:nvPr>
        </p:nvSpPr>
        <p:spPr/>
        <p:txBody>
          <a:bodyPr/>
          <a:lstStyle/>
          <a:p>
            <a:fld id="{6264BDCF-5269-49AC-A246-ED26C2B980E3}" type="slidenum">
              <a:rPr lang="en-US" smtClean="0"/>
              <a:t>76</a:t>
            </a:fld>
            <a:endParaRPr lang="en-US"/>
          </a:p>
        </p:txBody>
      </p:sp>
      <p:pic>
        <p:nvPicPr>
          <p:cNvPr id="6" name="Picture 5">
            <a:extLst>
              <a:ext uri="{FF2B5EF4-FFF2-40B4-BE49-F238E27FC236}">
                <a16:creationId xmlns:a16="http://schemas.microsoft.com/office/drawing/2014/main" id="{10F4BA19-5989-8FB8-B83A-4804C39B59DA}"/>
              </a:ext>
            </a:extLst>
          </p:cNvPr>
          <p:cNvPicPr>
            <a:picLocks noChangeAspect="1"/>
          </p:cNvPicPr>
          <p:nvPr/>
        </p:nvPicPr>
        <p:blipFill>
          <a:blip r:embed="rId2"/>
          <a:stretch>
            <a:fillRect/>
          </a:stretch>
        </p:blipFill>
        <p:spPr>
          <a:xfrm>
            <a:off x="0" y="128092"/>
            <a:ext cx="12192000" cy="6601815"/>
          </a:xfrm>
          <a:prstGeom prst="rect">
            <a:avLst/>
          </a:prstGeom>
        </p:spPr>
      </p:pic>
    </p:spTree>
    <p:extLst>
      <p:ext uri="{BB962C8B-B14F-4D97-AF65-F5344CB8AC3E}">
        <p14:creationId xmlns:p14="http://schemas.microsoft.com/office/powerpoint/2010/main" val="23116969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DCF91-24AB-6F59-1D83-4F681CD90E1D}"/>
              </a:ext>
            </a:extLst>
          </p:cNvPr>
          <p:cNvSpPr>
            <a:spLocks noGrp="1"/>
          </p:cNvSpPr>
          <p:nvPr>
            <p:ph type="title"/>
          </p:nvPr>
        </p:nvSpPr>
        <p:spPr/>
        <p:txBody>
          <a:bodyPr/>
          <a:lstStyle/>
          <a:p>
            <a:r>
              <a:rPr lang="en-US" dirty="0"/>
              <a:t>Query Plan</a:t>
            </a:r>
          </a:p>
        </p:txBody>
      </p:sp>
      <p:sp>
        <p:nvSpPr>
          <p:cNvPr id="3" name="Content Placeholder 2">
            <a:extLst>
              <a:ext uri="{FF2B5EF4-FFF2-40B4-BE49-F238E27FC236}">
                <a16:creationId xmlns:a16="http://schemas.microsoft.com/office/drawing/2014/main" id="{49ECF478-E7DF-8914-519C-759925EF164B}"/>
              </a:ext>
            </a:extLst>
          </p:cNvPr>
          <p:cNvSpPr>
            <a:spLocks noGrp="1"/>
          </p:cNvSpPr>
          <p:nvPr>
            <p:ph idx="1"/>
          </p:nvPr>
        </p:nvSpPr>
        <p:spPr/>
        <p:txBody>
          <a:bodyPr>
            <a:normAutofit fontScale="62500" lnSpcReduction="20000"/>
          </a:bodyPr>
          <a:lstStyle/>
          <a:p>
            <a:r>
              <a:rPr lang="en-US" dirty="0"/>
              <a:t>Hash Join  (cost=6.16..34.65 rows=23 width=53)</a:t>
            </a:r>
          </a:p>
          <a:p>
            <a:r>
              <a:rPr lang="en-US" dirty="0"/>
              <a:t>  Hash Cond: (</a:t>
            </a:r>
            <a:r>
              <a:rPr lang="en-US" dirty="0" err="1"/>
              <a:t>od.product_id</a:t>
            </a:r>
            <a:r>
              <a:rPr lang="en-US" dirty="0"/>
              <a:t> = </a:t>
            </a:r>
            <a:r>
              <a:rPr lang="en-US" dirty="0" err="1"/>
              <a:t>p.product_id</a:t>
            </a:r>
            <a:r>
              <a:rPr lang="en-US" dirty="0"/>
              <a:t>)</a:t>
            </a:r>
          </a:p>
          <a:p>
            <a:r>
              <a:rPr lang="en-US" dirty="0"/>
              <a:t>  -&gt;  Nested Loop  (cost=3.43..31.86 rows=23 width=34)</a:t>
            </a:r>
          </a:p>
          <a:p>
            <a:r>
              <a:rPr lang="en-US" dirty="0"/>
              <a:t>        -&gt;  Hash Join  (cost=3.15..27.73 rows=9 width=26)</a:t>
            </a:r>
          </a:p>
          <a:p>
            <a:r>
              <a:rPr lang="en-US" dirty="0"/>
              <a:t>              Hash Cond: ((</a:t>
            </a:r>
            <a:r>
              <a:rPr lang="en-US" dirty="0" err="1"/>
              <a:t>o.customer_id</a:t>
            </a:r>
            <a:r>
              <a:rPr lang="en-US" dirty="0"/>
              <a:t>)::text = (</a:t>
            </a:r>
            <a:r>
              <a:rPr lang="en-US" dirty="0" err="1"/>
              <a:t>c.customer_id</a:t>
            </a:r>
            <a:r>
              <a:rPr lang="en-US" dirty="0"/>
              <a:t>)::text)</a:t>
            </a:r>
          </a:p>
          <a:p>
            <a:r>
              <a:rPr lang="en-US" dirty="0"/>
              <a:t>              -&gt;  Seq Scan on orders o  (cost=0.00..22.30 rows=830 width=12)</a:t>
            </a:r>
          </a:p>
          <a:p>
            <a:r>
              <a:rPr lang="en-US" dirty="0"/>
              <a:t>              -&gt;  Hash  (cost=3.14..3.14 rows=1 width=26)</a:t>
            </a:r>
          </a:p>
          <a:p>
            <a:r>
              <a:rPr lang="en-US" dirty="0"/>
              <a:t>                    -&gt;  Seq Scan on customers c  (cost=0.00..3.14 rows=1 width=26)</a:t>
            </a:r>
          </a:p>
          <a:p>
            <a:r>
              <a:rPr lang="en-US" dirty="0"/>
              <a:t>                          Filter: ((</a:t>
            </a:r>
            <a:r>
              <a:rPr lang="en-US" dirty="0" err="1"/>
              <a:t>company_name</a:t>
            </a:r>
            <a:r>
              <a:rPr lang="en-US" dirty="0"/>
              <a:t>)::text = 'Vins et </a:t>
            </a:r>
            <a:r>
              <a:rPr lang="en-US" dirty="0" err="1"/>
              <a:t>alcools</a:t>
            </a:r>
            <a:r>
              <a:rPr lang="en-US" dirty="0"/>
              <a:t> Chevalier'::text)</a:t>
            </a:r>
          </a:p>
          <a:p>
            <a:r>
              <a:rPr lang="en-US" dirty="0"/>
              <a:t>        -&gt;  Index Scan using </a:t>
            </a:r>
            <a:r>
              <a:rPr lang="en-US" dirty="0" err="1"/>
              <a:t>pk_order_details</a:t>
            </a:r>
            <a:r>
              <a:rPr lang="en-US" dirty="0"/>
              <a:t> on </a:t>
            </a:r>
            <a:r>
              <a:rPr lang="en-US" dirty="0" err="1"/>
              <a:t>order_details</a:t>
            </a:r>
            <a:r>
              <a:rPr lang="en-US" dirty="0"/>
              <a:t> od  (cost=0.28..0.43 rows=3 width=10)</a:t>
            </a:r>
          </a:p>
          <a:p>
            <a:r>
              <a:rPr lang="en-US" dirty="0"/>
              <a:t>              Index Cond: (</a:t>
            </a:r>
            <a:r>
              <a:rPr lang="en-US" dirty="0" err="1"/>
              <a:t>order_id</a:t>
            </a:r>
            <a:r>
              <a:rPr lang="en-US" dirty="0"/>
              <a:t> = </a:t>
            </a:r>
            <a:r>
              <a:rPr lang="en-US" dirty="0" err="1"/>
              <a:t>o.order_id</a:t>
            </a:r>
            <a:r>
              <a:rPr lang="en-US" dirty="0"/>
              <a:t>)</a:t>
            </a:r>
          </a:p>
          <a:p>
            <a:r>
              <a:rPr lang="en-US" dirty="0"/>
              <a:t>  -&gt;  Hash  (cost=1.77..1.77 rows=77 width=23)</a:t>
            </a:r>
          </a:p>
          <a:p>
            <a:r>
              <a:rPr lang="en-US" dirty="0"/>
              <a:t>        -&gt;  Seq Scan on products p  (cost=0.00..1.77 rows=77 width=23)</a:t>
            </a:r>
          </a:p>
        </p:txBody>
      </p:sp>
      <p:sp>
        <p:nvSpPr>
          <p:cNvPr id="4" name="Slide Number Placeholder 3">
            <a:extLst>
              <a:ext uri="{FF2B5EF4-FFF2-40B4-BE49-F238E27FC236}">
                <a16:creationId xmlns:a16="http://schemas.microsoft.com/office/drawing/2014/main" id="{B826217C-7FA3-4DE7-A9E5-C776626EB278}"/>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28754370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128C-7488-2CBE-F168-FAB43C0CA61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8A80D8E-1D7C-AFAF-DF7C-FD22442A6FBD}"/>
              </a:ext>
            </a:extLst>
          </p:cNvPr>
          <p:cNvSpPr>
            <a:spLocks noGrp="1"/>
          </p:cNvSpPr>
          <p:nvPr>
            <p:ph idx="1"/>
          </p:nvPr>
        </p:nvSpPr>
        <p:spPr>
          <a:xfrm>
            <a:off x="838200" y="365125"/>
            <a:ext cx="10515600" cy="5811838"/>
          </a:xfrm>
        </p:spPr>
        <p:txBody>
          <a:bodyPr>
            <a:normAutofit/>
          </a:bodyPr>
          <a:lstStyle/>
          <a:p>
            <a:r>
              <a:rPr lang="en-US" b="1" dirty="0"/>
              <a:t>explain</a:t>
            </a:r>
            <a:r>
              <a:rPr lang="en-US" dirty="0"/>
              <a:t> </a:t>
            </a:r>
            <a:r>
              <a:rPr lang="en-US" b="1" dirty="0"/>
              <a:t>analyze</a:t>
            </a:r>
            <a:r>
              <a:rPr lang="en-US" dirty="0"/>
              <a:t> </a:t>
            </a:r>
            <a:r>
              <a:rPr lang="en-US" b="1" dirty="0"/>
              <a:t>select</a:t>
            </a:r>
            <a:r>
              <a:rPr lang="en-US" dirty="0"/>
              <a:t> * </a:t>
            </a:r>
            <a:r>
              <a:rPr lang="en-US" b="1" dirty="0"/>
              <a:t>from</a:t>
            </a:r>
            <a:r>
              <a:rPr lang="en-US" dirty="0"/>
              <a:t> </a:t>
            </a:r>
            <a:r>
              <a:rPr lang="en-US" dirty="0" err="1"/>
              <a:t>vorderdetails</a:t>
            </a:r>
            <a:r>
              <a:rPr lang="en-US" dirty="0"/>
              <a:t> v </a:t>
            </a:r>
          </a:p>
          <a:p>
            <a:r>
              <a:rPr lang="en-US" dirty="0"/>
              <a:t>Hash Join (cost=39.45..90.59 rows=2155 width=53) (actual time=0.350..2.181 rows=2155.00 loops=1)</a:t>
            </a:r>
          </a:p>
          <a:p>
            <a:endParaRPr lang="en-US" sz="1200" dirty="0"/>
          </a:p>
          <a:p>
            <a:r>
              <a:rPr lang="en-US" b="1" dirty="0"/>
              <a:t>explain</a:t>
            </a:r>
            <a:r>
              <a:rPr lang="en-US" dirty="0"/>
              <a:t> </a:t>
            </a:r>
            <a:r>
              <a:rPr lang="en-US" b="1" dirty="0"/>
              <a:t>analyze</a:t>
            </a:r>
            <a:r>
              <a:rPr lang="en-US" dirty="0"/>
              <a:t> </a:t>
            </a:r>
            <a:r>
              <a:rPr lang="en-US" b="1" dirty="0"/>
              <a:t>select</a:t>
            </a:r>
            <a:r>
              <a:rPr lang="en-US" dirty="0"/>
              <a:t> * </a:t>
            </a:r>
            <a:r>
              <a:rPr lang="en-US" b="1" dirty="0"/>
              <a:t>from</a:t>
            </a:r>
            <a:r>
              <a:rPr lang="en-US" dirty="0"/>
              <a:t> </a:t>
            </a:r>
            <a:r>
              <a:rPr lang="en-US" dirty="0" err="1"/>
              <a:t>vorderdetails</a:t>
            </a:r>
            <a:r>
              <a:rPr lang="en-US" dirty="0"/>
              <a:t> v </a:t>
            </a:r>
            <a:r>
              <a:rPr lang="en-US" b="1" dirty="0"/>
              <a:t>where</a:t>
            </a:r>
            <a:r>
              <a:rPr lang="en-US" dirty="0"/>
              <a:t> </a:t>
            </a:r>
            <a:r>
              <a:rPr lang="en-US" dirty="0" err="1"/>
              <a:t>company_name</a:t>
            </a:r>
            <a:r>
              <a:rPr lang="en-US" dirty="0"/>
              <a:t>= 'Vins et </a:t>
            </a:r>
            <a:r>
              <a:rPr lang="en-US" dirty="0" err="1"/>
              <a:t>alcools</a:t>
            </a:r>
            <a:r>
              <a:rPr lang="en-US" dirty="0"/>
              <a:t> Chevalier'</a:t>
            </a:r>
          </a:p>
          <a:p>
            <a:r>
              <a:rPr lang="en-US" dirty="0"/>
              <a:t>Hash Join (cost=6.16..34.65 rows=23 width=53) (actual time=0.089..0.307 rows=10.00 loops=1)</a:t>
            </a:r>
          </a:p>
          <a:p>
            <a:endParaRPr lang="en-US" sz="1200" dirty="0"/>
          </a:p>
          <a:p>
            <a:r>
              <a:rPr lang="en-US" b="1" dirty="0"/>
              <a:t>explain</a:t>
            </a:r>
            <a:r>
              <a:rPr lang="en-US" dirty="0"/>
              <a:t> </a:t>
            </a:r>
            <a:r>
              <a:rPr lang="en-US" b="1" dirty="0"/>
              <a:t>analyze</a:t>
            </a:r>
            <a:r>
              <a:rPr lang="en-US" dirty="0"/>
              <a:t> </a:t>
            </a:r>
            <a:r>
              <a:rPr lang="en-US" b="1" dirty="0"/>
              <a:t>select</a:t>
            </a:r>
            <a:r>
              <a:rPr lang="en-US" dirty="0"/>
              <a:t> * </a:t>
            </a:r>
            <a:r>
              <a:rPr lang="en-US" b="1" dirty="0"/>
              <a:t>from</a:t>
            </a:r>
            <a:r>
              <a:rPr lang="en-US" dirty="0"/>
              <a:t> </a:t>
            </a:r>
            <a:r>
              <a:rPr lang="en-US" dirty="0" err="1"/>
              <a:t>vorderdetails</a:t>
            </a:r>
            <a:r>
              <a:rPr lang="en-US" dirty="0"/>
              <a:t> v </a:t>
            </a:r>
            <a:r>
              <a:rPr lang="en-US" b="1" dirty="0"/>
              <a:t>where</a:t>
            </a:r>
            <a:r>
              <a:rPr lang="en-US" dirty="0"/>
              <a:t> </a:t>
            </a:r>
            <a:r>
              <a:rPr lang="en-US" dirty="0" err="1"/>
              <a:t>company_name</a:t>
            </a:r>
            <a:r>
              <a:rPr lang="en-US" dirty="0"/>
              <a:t>= 'Toms </a:t>
            </a:r>
            <a:r>
              <a:rPr lang="en-US" dirty="0" err="1"/>
              <a:t>Spezialitäten</a:t>
            </a:r>
            <a:r>
              <a:rPr lang="en-US" dirty="0"/>
              <a:t>' </a:t>
            </a:r>
          </a:p>
          <a:p>
            <a:r>
              <a:rPr lang="en-US" dirty="0"/>
              <a:t>Hash Join (cost=6.16..34.65 rows=23 width=53) (actual time=0.068..0.287 rows=14.00 loops=1)</a:t>
            </a:r>
          </a:p>
          <a:p>
            <a:endParaRPr lang="en-US" dirty="0"/>
          </a:p>
          <a:p>
            <a:endParaRPr lang="en-US" sz="1200" dirty="0"/>
          </a:p>
          <a:p>
            <a:endParaRPr lang="en-US" dirty="0"/>
          </a:p>
        </p:txBody>
      </p:sp>
      <p:sp>
        <p:nvSpPr>
          <p:cNvPr id="4" name="Slide Number Placeholder 3">
            <a:extLst>
              <a:ext uri="{FF2B5EF4-FFF2-40B4-BE49-F238E27FC236}">
                <a16:creationId xmlns:a16="http://schemas.microsoft.com/office/drawing/2014/main" id="{44089239-0E7F-DBDF-4C5E-E776ED04AEE3}"/>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21666512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FB21-AA98-8E0A-A3B2-0FBC0FC14E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D7B2AD-B4AA-EE04-DE9E-58584CBD290A}"/>
              </a:ext>
            </a:extLst>
          </p:cNvPr>
          <p:cNvSpPr>
            <a:spLocks noGrp="1"/>
          </p:cNvSpPr>
          <p:nvPr>
            <p:ph idx="1"/>
          </p:nvPr>
        </p:nvSpPr>
        <p:spPr/>
        <p:txBody>
          <a:bodyPr/>
          <a:lstStyle/>
          <a:p>
            <a:endParaRPr lang="en-US" dirty="0"/>
          </a:p>
          <a:p>
            <a:endParaRPr lang="en-US" dirty="0"/>
          </a:p>
          <a:p>
            <a:r>
              <a:rPr lang="en-US" sz="3200" dirty="0"/>
              <a:t>Thank you! very much for your kind attention!</a:t>
            </a:r>
          </a:p>
          <a:p>
            <a:endParaRPr lang="en-US" dirty="0"/>
          </a:p>
        </p:txBody>
      </p:sp>
      <p:sp>
        <p:nvSpPr>
          <p:cNvPr id="4" name="Slide Number Placeholder 3">
            <a:extLst>
              <a:ext uri="{FF2B5EF4-FFF2-40B4-BE49-F238E27FC236}">
                <a16:creationId xmlns:a16="http://schemas.microsoft.com/office/drawing/2014/main" id="{9821EC81-4955-CAE0-3D54-CBA0514C5715}"/>
              </a:ext>
            </a:extLst>
          </p:cNvPr>
          <p:cNvSpPr>
            <a:spLocks noGrp="1"/>
          </p:cNvSpPr>
          <p:nvPr>
            <p:ph type="sldNum" sz="quarter" idx="12"/>
          </p:nvPr>
        </p:nvSpPr>
        <p:spPr/>
        <p:txBody>
          <a:bodyPr/>
          <a:lstStyle/>
          <a:p>
            <a:fld id="{6264BDCF-5269-49AC-A246-ED26C2B980E3}" type="slidenum">
              <a:rPr lang="en-US" smtClean="0"/>
              <a:t>79</a:t>
            </a:fld>
            <a:endParaRPr lang="en-US"/>
          </a:p>
        </p:txBody>
      </p:sp>
    </p:spTree>
    <p:extLst>
      <p:ext uri="{BB962C8B-B14F-4D97-AF65-F5344CB8AC3E}">
        <p14:creationId xmlns:p14="http://schemas.microsoft.com/office/powerpoint/2010/main" val="21729346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04697-F4A2-D55E-9E77-E2C382E668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631789-0508-51A9-1EF5-C42E2CE22563}"/>
              </a:ext>
            </a:extLst>
          </p:cNvPr>
          <p:cNvSpPr>
            <a:spLocks noGrp="1"/>
          </p:cNvSpPr>
          <p:nvPr>
            <p:ph idx="1"/>
          </p:nvPr>
        </p:nvSpPr>
        <p:spPr/>
        <p:txBody>
          <a:bodyPr/>
          <a:lstStyle/>
          <a:p>
            <a:endParaRPr lang="en-US" dirty="0"/>
          </a:p>
          <a:p>
            <a:endParaRPr lang="en-US" dirty="0"/>
          </a:p>
          <a:p>
            <a:r>
              <a:rPr lang="en-US" sz="3200" dirty="0"/>
              <a:t>Hope that you have at least half as much pleasure reading this as I had writing it!</a:t>
            </a:r>
          </a:p>
          <a:p>
            <a:endParaRPr lang="en-US" dirty="0"/>
          </a:p>
        </p:txBody>
      </p:sp>
      <p:sp>
        <p:nvSpPr>
          <p:cNvPr id="4" name="Slide Number Placeholder 3">
            <a:extLst>
              <a:ext uri="{FF2B5EF4-FFF2-40B4-BE49-F238E27FC236}">
                <a16:creationId xmlns:a16="http://schemas.microsoft.com/office/drawing/2014/main" id="{0AD1300A-C0E5-7289-797B-CBB5C8DB32C6}"/>
              </a:ext>
            </a:extLst>
          </p:cNvPr>
          <p:cNvSpPr>
            <a:spLocks noGrp="1"/>
          </p:cNvSpPr>
          <p:nvPr>
            <p:ph type="sldNum" sz="quarter" idx="12"/>
          </p:nvPr>
        </p:nvSpPr>
        <p:spPr/>
        <p:txBody>
          <a:bodyPr/>
          <a:lstStyle/>
          <a:p>
            <a:fld id="{6264BDCF-5269-49AC-A246-ED26C2B980E3}" type="slidenum">
              <a:rPr lang="en-US" smtClean="0"/>
              <a:t>80</a:t>
            </a:fld>
            <a:endParaRPr lang="en-US"/>
          </a:p>
        </p:txBody>
      </p:sp>
    </p:spTree>
    <p:extLst>
      <p:ext uri="{BB962C8B-B14F-4D97-AF65-F5344CB8AC3E}">
        <p14:creationId xmlns:p14="http://schemas.microsoft.com/office/powerpoint/2010/main" val="26440074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29AE2-995F-7F83-DA36-7D666CAE9B14}"/>
              </a:ext>
            </a:extLst>
          </p:cNvPr>
          <p:cNvSpPr>
            <a:spLocks noGrp="1"/>
          </p:cNvSpPr>
          <p:nvPr>
            <p:ph type="title"/>
          </p:nvPr>
        </p:nvSpPr>
        <p:spPr/>
        <p:txBody>
          <a:bodyPr/>
          <a:lstStyle/>
          <a:p>
            <a:r>
              <a:rPr lang="en-US" dirty="0"/>
              <a:t>Exam advice:</a:t>
            </a:r>
          </a:p>
        </p:txBody>
      </p:sp>
      <p:sp>
        <p:nvSpPr>
          <p:cNvPr id="3" name="Content Placeholder 2">
            <a:extLst>
              <a:ext uri="{FF2B5EF4-FFF2-40B4-BE49-F238E27FC236}">
                <a16:creationId xmlns:a16="http://schemas.microsoft.com/office/drawing/2014/main" id="{E2239CE6-1700-53EF-103A-5B6F78334944}"/>
              </a:ext>
            </a:extLst>
          </p:cNvPr>
          <p:cNvSpPr>
            <a:spLocks noGrp="1"/>
          </p:cNvSpPr>
          <p:nvPr>
            <p:ph idx="1"/>
          </p:nvPr>
        </p:nvSpPr>
        <p:spPr/>
        <p:txBody>
          <a:bodyPr/>
          <a:lstStyle/>
          <a:p>
            <a:endParaRPr lang="en-US" dirty="0"/>
          </a:p>
          <a:p>
            <a:endParaRPr lang="en-US" dirty="0"/>
          </a:p>
          <a:p>
            <a:r>
              <a:rPr lang="en-US" dirty="0"/>
              <a:t>The famous Henry Ford quote is: "</a:t>
            </a:r>
            <a:r>
              <a:rPr lang="en-US" sz="3200" dirty="0"/>
              <a:t>Whether you think you can, or you think you can't—you're right!" </a:t>
            </a:r>
            <a:endParaRPr lang="en-US" dirty="0"/>
          </a:p>
        </p:txBody>
      </p:sp>
      <p:sp>
        <p:nvSpPr>
          <p:cNvPr id="4" name="Slide Number Placeholder 3">
            <a:extLst>
              <a:ext uri="{FF2B5EF4-FFF2-40B4-BE49-F238E27FC236}">
                <a16:creationId xmlns:a16="http://schemas.microsoft.com/office/drawing/2014/main" id="{C958A414-6228-0783-CB3F-37C8BECDDDAB}"/>
              </a:ext>
            </a:extLst>
          </p:cNvPr>
          <p:cNvSpPr>
            <a:spLocks noGrp="1"/>
          </p:cNvSpPr>
          <p:nvPr>
            <p:ph type="sldNum" sz="quarter" idx="12"/>
          </p:nvPr>
        </p:nvSpPr>
        <p:spPr/>
        <p:txBody>
          <a:bodyPr/>
          <a:lstStyle/>
          <a:p>
            <a:fld id="{6264BDCF-5269-49AC-A246-ED26C2B980E3}" type="slidenum">
              <a:rPr lang="en-US" smtClean="0"/>
              <a:t>81</a:t>
            </a:fld>
            <a:endParaRPr lang="en-US"/>
          </a:p>
        </p:txBody>
      </p:sp>
    </p:spTree>
    <p:extLst>
      <p:ext uri="{BB962C8B-B14F-4D97-AF65-F5344CB8AC3E}">
        <p14:creationId xmlns:p14="http://schemas.microsoft.com/office/powerpoint/2010/main" val="30706998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24088-45FE-1FFB-79D9-E3102033A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E8F49-547B-3598-D354-282E7F60146C}"/>
              </a:ext>
            </a:extLst>
          </p:cNvPr>
          <p:cNvSpPr>
            <a:spLocks noGrp="1"/>
          </p:cNvSpPr>
          <p:nvPr>
            <p:ph type="title"/>
          </p:nvPr>
        </p:nvSpPr>
        <p:spPr/>
        <p:txBody>
          <a:bodyPr/>
          <a:lstStyle/>
          <a:p>
            <a:r>
              <a:rPr lang="en-US" dirty="0"/>
              <a:t>Whish you</a:t>
            </a:r>
          </a:p>
        </p:txBody>
      </p:sp>
      <p:sp>
        <p:nvSpPr>
          <p:cNvPr id="3" name="Content Placeholder 2">
            <a:extLst>
              <a:ext uri="{FF2B5EF4-FFF2-40B4-BE49-F238E27FC236}">
                <a16:creationId xmlns:a16="http://schemas.microsoft.com/office/drawing/2014/main" id="{013FC623-5ADD-1B80-0F28-EED629765256}"/>
              </a:ext>
            </a:extLst>
          </p:cNvPr>
          <p:cNvSpPr>
            <a:spLocks noGrp="1"/>
          </p:cNvSpPr>
          <p:nvPr>
            <p:ph idx="1"/>
          </p:nvPr>
        </p:nvSpPr>
        <p:spPr/>
        <p:txBody>
          <a:bodyPr/>
          <a:lstStyle/>
          <a:p>
            <a:endParaRPr lang="en-US" dirty="0"/>
          </a:p>
          <a:p>
            <a:endParaRPr lang="en-US" dirty="0"/>
          </a:p>
          <a:p>
            <a:r>
              <a:rPr lang="en-US" dirty="0"/>
              <a:t>The famous Henry Ford quote is: "</a:t>
            </a:r>
            <a:r>
              <a:rPr lang="en-US" sz="3200" dirty="0"/>
              <a:t>Whether you think you can, or you think you can't—you're right!" </a:t>
            </a:r>
            <a:endParaRPr lang="en-US" dirty="0"/>
          </a:p>
        </p:txBody>
      </p:sp>
      <p:sp>
        <p:nvSpPr>
          <p:cNvPr id="4" name="Slide Number Placeholder 3">
            <a:extLst>
              <a:ext uri="{FF2B5EF4-FFF2-40B4-BE49-F238E27FC236}">
                <a16:creationId xmlns:a16="http://schemas.microsoft.com/office/drawing/2014/main" id="{C7716BCC-9550-CBF3-025E-468AB691BB70}"/>
              </a:ext>
            </a:extLst>
          </p:cNvPr>
          <p:cNvSpPr>
            <a:spLocks noGrp="1"/>
          </p:cNvSpPr>
          <p:nvPr>
            <p:ph type="sldNum" sz="quarter" idx="12"/>
          </p:nvPr>
        </p:nvSpPr>
        <p:spPr/>
        <p:txBody>
          <a:bodyPr/>
          <a:lstStyle/>
          <a:p>
            <a:fld id="{6264BDCF-5269-49AC-A246-ED26C2B980E3}" type="slidenum">
              <a:rPr lang="en-US" smtClean="0"/>
              <a:t>82</a:t>
            </a:fld>
            <a:endParaRPr lang="en-US"/>
          </a:p>
        </p:txBody>
      </p:sp>
    </p:spTree>
    <p:extLst>
      <p:ext uri="{BB962C8B-B14F-4D97-AF65-F5344CB8AC3E}">
        <p14:creationId xmlns:p14="http://schemas.microsoft.com/office/powerpoint/2010/main" val="32927901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1DB2-1B3F-FD54-1A3A-65F1D4737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4E802-5BC8-A6E7-E6AF-6F34B9555D5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E787F45-5DCB-72E8-10E3-92BBA57973F1}"/>
              </a:ext>
            </a:extLst>
          </p:cNvPr>
          <p:cNvSpPr>
            <a:spLocks noGrp="1"/>
          </p:cNvSpPr>
          <p:nvPr>
            <p:ph idx="1"/>
          </p:nvPr>
        </p:nvSpPr>
        <p:spPr>
          <a:xfrm>
            <a:off x="838200" y="365125"/>
            <a:ext cx="10515600" cy="5811838"/>
          </a:xfrm>
        </p:spPr>
        <p:txBody>
          <a:bodyPr>
            <a:noAutofit/>
          </a:bodyPr>
          <a:lstStyle/>
          <a:p>
            <a:r>
              <a:rPr lang="en-US" sz="2700" dirty="0"/>
              <a:t>If I should stay</a:t>
            </a:r>
          </a:p>
          <a:p>
            <a:r>
              <a:rPr lang="en-US" sz="2700" dirty="0"/>
              <a:t>I would only be in your way</a:t>
            </a:r>
          </a:p>
          <a:p>
            <a:r>
              <a:rPr lang="en-US" sz="2700" dirty="0"/>
              <a:t>So I'll go, …</a:t>
            </a:r>
          </a:p>
          <a:p>
            <a:endParaRPr lang="en-US" sz="1200" dirty="0"/>
          </a:p>
          <a:p>
            <a:r>
              <a:rPr lang="en-US" sz="2700" dirty="0"/>
              <a:t>Bittersweet memories</a:t>
            </a:r>
          </a:p>
          <a:p>
            <a:r>
              <a:rPr lang="en-US" sz="2700" dirty="0"/>
              <a:t>That is all I'm taking with me</a:t>
            </a:r>
          </a:p>
          <a:p>
            <a:r>
              <a:rPr lang="en-US" sz="2700" dirty="0"/>
              <a:t>So goodbye, …</a:t>
            </a:r>
          </a:p>
          <a:p>
            <a:endParaRPr lang="en-US" sz="1200" dirty="0"/>
          </a:p>
          <a:p>
            <a:r>
              <a:rPr lang="en-US" sz="2700" dirty="0"/>
              <a:t>I hope life treats you kind</a:t>
            </a:r>
          </a:p>
          <a:p>
            <a:r>
              <a:rPr lang="en-US" sz="2700" dirty="0"/>
              <a:t>And I hope you have all you've dreamed of</a:t>
            </a:r>
          </a:p>
          <a:p>
            <a:r>
              <a:rPr lang="en-US" sz="2700" dirty="0"/>
              <a:t>And I wish to you joy and happiness</a:t>
            </a:r>
          </a:p>
          <a:p>
            <a:r>
              <a:rPr lang="en-US" sz="2700" dirty="0"/>
              <a:t>But above all this, I wish you love</a:t>
            </a:r>
          </a:p>
        </p:txBody>
      </p:sp>
      <p:sp>
        <p:nvSpPr>
          <p:cNvPr id="4" name="Slide Number Placeholder 3">
            <a:extLst>
              <a:ext uri="{FF2B5EF4-FFF2-40B4-BE49-F238E27FC236}">
                <a16:creationId xmlns:a16="http://schemas.microsoft.com/office/drawing/2014/main" id="{9746E699-377E-0C90-43FB-FD0BA699F414}"/>
              </a:ext>
            </a:extLst>
          </p:cNvPr>
          <p:cNvSpPr>
            <a:spLocks noGrp="1"/>
          </p:cNvSpPr>
          <p:nvPr>
            <p:ph type="sldNum" sz="quarter" idx="12"/>
          </p:nvPr>
        </p:nvSpPr>
        <p:spPr/>
        <p:txBody>
          <a:bodyPr/>
          <a:lstStyle/>
          <a:p>
            <a:fld id="{6264BDCF-5269-49AC-A246-ED26C2B980E3}" type="slidenum">
              <a:rPr lang="en-US" smtClean="0"/>
              <a:t>83</a:t>
            </a:fld>
            <a:endParaRPr lang="en-US"/>
          </a:p>
        </p:txBody>
      </p:sp>
    </p:spTree>
    <p:extLst>
      <p:ext uri="{BB962C8B-B14F-4D97-AF65-F5344CB8AC3E}">
        <p14:creationId xmlns:p14="http://schemas.microsoft.com/office/powerpoint/2010/main" val="18201934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5C6CC-B9B4-E5C4-F95B-C09E866E231D}"/>
              </a:ext>
            </a:extLst>
          </p:cNvPr>
          <p:cNvSpPr>
            <a:spLocks noGrp="1"/>
          </p:cNvSpPr>
          <p:nvPr>
            <p:ph type="title"/>
          </p:nvPr>
        </p:nvSpPr>
        <p:spPr/>
        <p:txBody>
          <a:bodyPr/>
          <a:lstStyle/>
          <a:p>
            <a:r>
              <a:rPr lang="en-US" dirty="0">
                <a:hlinkClick r:id="rId2"/>
              </a:rPr>
              <a:t>Whitney Houston</a:t>
            </a:r>
            <a:endParaRPr lang="en-US" dirty="0"/>
          </a:p>
        </p:txBody>
      </p:sp>
      <p:sp>
        <p:nvSpPr>
          <p:cNvPr id="3" name="Content Placeholder 2">
            <a:extLst>
              <a:ext uri="{FF2B5EF4-FFF2-40B4-BE49-F238E27FC236}">
                <a16:creationId xmlns:a16="http://schemas.microsoft.com/office/drawing/2014/main" id="{357DACFE-50C0-9CB9-A415-4B8BD77FAFA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B0B6F1B-6B27-CD6D-2A3B-E23AD71222D3}"/>
              </a:ext>
            </a:extLst>
          </p:cNvPr>
          <p:cNvSpPr>
            <a:spLocks noGrp="1"/>
          </p:cNvSpPr>
          <p:nvPr>
            <p:ph type="sldNum" sz="quarter" idx="12"/>
          </p:nvPr>
        </p:nvSpPr>
        <p:spPr/>
        <p:txBody>
          <a:bodyPr/>
          <a:lstStyle/>
          <a:p>
            <a:fld id="{6264BDCF-5269-49AC-A246-ED26C2B980E3}" type="slidenum">
              <a:rPr lang="en-US" smtClean="0"/>
              <a:t>84</a:t>
            </a:fld>
            <a:endParaRPr lang="en-US"/>
          </a:p>
        </p:txBody>
      </p:sp>
    </p:spTree>
    <p:extLst>
      <p:ext uri="{BB962C8B-B14F-4D97-AF65-F5344CB8AC3E}">
        <p14:creationId xmlns:p14="http://schemas.microsoft.com/office/powerpoint/2010/main" val="6229824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A3F9E4-4C36-47EF-9659-ACD8C17B3BFC}"/>
</file>

<file path=customXml/itemProps2.xml><?xml version="1.0" encoding="utf-8"?>
<ds:datastoreItem xmlns:ds="http://schemas.openxmlformats.org/officeDocument/2006/customXml" ds:itemID="{E0448055-32A0-4658-9E1F-FB9BE7F407BE}"/>
</file>

<file path=customXml/itemProps3.xml><?xml version="1.0" encoding="utf-8"?>
<ds:datastoreItem xmlns:ds="http://schemas.openxmlformats.org/officeDocument/2006/customXml" ds:itemID="{81B20C51-529B-47AA-81AF-8A0F48354665}"/>
</file>

<file path=docProps/app.xml><?xml version="1.0" encoding="utf-8"?>
<Properties xmlns="http://schemas.openxmlformats.org/officeDocument/2006/extended-properties" xmlns:vt="http://schemas.openxmlformats.org/officeDocument/2006/docPropsVTypes">
  <TotalTime>6081</TotalTime>
  <Words>3908</Words>
  <Application>Microsoft Office PowerPoint</Application>
  <PresentationFormat>Widescreen</PresentationFormat>
  <Paragraphs>366</Paragraphs>
  <Slides>84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84</vt:i4>
      </vt:variant>
    </vt:vector>
  </HeadingPairs>
  <TitlesOfParts>
    <vt:vector size="88" baseType="lpstr">
      <vt:lpstr>Arial</vt:lpstr>
      <vt:lpstr>Calibri</vt:lpstr>
      <vt:lpstr>Calibri Light</vt:lpstr>
      <vt:lpstr>Office Theme</vt:lpstr>
      <vt:lpstr>DataBase</vt:lpstr>
      <vt:lpstr>DataBase Design </vt:lpstr>
      <vt:lpstr>PowerPoint Presentation</vt:lpstr>
      <vt:lpstr>Indexing</vt:lpstr>
      <vt:lpstr>Indexing</vt:lpstr>
      <vt:lpstr>two basic kinds of indexes</vt:lpstr>
      <vt:lpstr>Search key</vt:lpstr>
      <vt:lpstr>Ordered indexes</vt:lpstr>
      <vt:lpstr>PowerPoint Presentation</vt:lpstr>
      <vt:lpstr>Dense and Sparse indexes</vt:lpstr>
      <vt:lpstr>PowerPoint Presentation</vt:lpstr>
      <vt:lpstr>PowerPoint Presentation</vt:lpstr>
      <vt:lpstr>PowerPoint Presentation</vt:lpstr>
      <vt:lpstr>PowerPoint Presentation</vt:lpstr>
      <vt:lpstr>Two-level sparse index</vt:lpstr>
      <vt:lpstr>multilevel indexes</vt:lpstr>
      <vt:lpstr>Index Update</vt:lpstr>
      <vt:lpstr>Secondary indexes</vt:lpstr>
      <vt:lpstr>Secondary Index</vt:lpstr>
      <vt:lpstr>indexes on Multiple Keys</vt:lpstr>
      <vt:lpstr>PowerPoint Presentation</vt:lpstr>
      <vt:lpstr>B-Tree</vt:lpstr>
      <vt:lpstr>B-tree</vt:lpstr>
      <vt:lpstr>B+-tree index</vt:lpstr>
      <vt:lpstr>B-tree of order 5 (Knuth 1998).</vt:lpstr>
      <vt:lpstr>B+ tree example linking keys 1–7 to data values d1-d7 linked list (red) allows rapid in-order traversal tree's branching factor is b = 4 both keys in leaf and internal nodes are colored gray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Queries on B+-Trees</vt:lpstr>
      <vt:lpstr>Updates on B+-Trees</vt:lpstr>
      <vt:lpstr>B-Tree Index Files</vt:lpstr>
      <vt:lpstr>Hash</vt:lpstr>
      <vt:lpstr>PowerPoint Presentation</vt:lpstr>
      <vt:lpstr>Hash indexes</vt:lpstr>
      <vt:lpstr>bucket</vt:lpstr>
      <vt:lpstr>hash function</vt:lpstr>
      <vt:lpstr>Bitmap</vt:lpstr>
      <vt:lpstr>Bitmap indexes</vt:lpstr>
      <vt:lpstr>PowerPoint Presentation</vt:lpstr>
      <vt:lpstr>PowerPoint Presentation</vt:lpstr>
      <vt:lpstr>Bitmap indexes on relation instructor_info.</vt:lpstr>
      <vt:lpstr>PowerPoint Presentation</vt:lpstr>
      <vt:lpstr>PowerPoint Presentation</vt:lpstr>
      <vt:lpstr>PowerPoint Presentation</vt:lpstr>
      <vt:lpstr>Index of Spatial and Temporal Data</vt:lpstr>
      <vt:lpstr>PowerPoint Presentation</vt:lpstr>
      <vt:lpstr>spatial data</vt:lpstr>
      <vt:lpstr>temporal data</vt:lpstr>
      <vt:lpstr>CREATE INDEX</vt:lpstr>
      <vt:lpstr>PowerPoint Presentation</vt:lpstr>
      <vt:lpstr>PowerPoint Presentation</vt:lpstr>
      <vt:lpstr>what index are needed</vt:lpstr>
      <vt:lpstr>PowerPoint Presentation</vt:lpstr>
      <vt:lpstr>PowerPoint Presentation</vt:lpstr>
      <vt:lpstr>Best Practices for Index Selection</vt:lpstr>
      <vt:lpstr>PostGreSQL</vt:lpstr>
      <vt:lpstr>Indexes</vt:lpstr>
      <vt:lpstr>Index B-Tree</vt:lpstr>
      <vt:lpstr>Index BRIN</vt:lpstr>
      <vt:lpstr>Index GiST</vt:lpstr>
      <vt:lpstr>Index GIN</vt:lpstr>
      <vt:lpstr>Index hash</vt:lpstr>
      <vt:lpstr>PowerPoint Presentation</vt:lpstr>
      <vt:lpstr>DBeaver with PostGreSQL northwind</vt:lpstr>
      <vt:lpstr>PowerPoint Presentation</vt:lpstr>
      <vt:lpstr>PowerPoint Presentation</vt:lpstr>
      <vt:lpstr>PowerPoint Presentation</vt:lpstr>
      <vt:lpstr>PowerPoint Presentation</vt:lpstr>
      <vt:lpstr>PowerPoint Presentation</vt:lpstr>
      <vt:lpstr>cost</vt:lpstr>
      <vt:lpstr>PowerPoint Presentation</vt:lpstr>
      <vt:lpstr>Query Plan</vt:lpstr>
      <vt:lpstr>PowerPoint Presentation</vt:lpstr>
      <vt:lpstr>PowerPoint Presentation</vt:lpstr>
      <vt:lpstr>PowerPoint Presentation</vt:lpstr>
      <vt:lpstr>Exam advice:</vt:lpstr>
      <vt:lpstr>Whish you</vt:lpstr>
      <vt:lpstr>PowerPoint Presentation</vt:lpstr>
      <vt:lpstr>Whitney Houston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143</cp:revision>
  <dcterms:created xsi:type="dcterms:W3CDTF">2023-08-06T12:55:35Z</dcterms:created>
  <dcterms:modified xsi:type="dcterms:W3CDTF">2026-01-07T10:35:24Z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