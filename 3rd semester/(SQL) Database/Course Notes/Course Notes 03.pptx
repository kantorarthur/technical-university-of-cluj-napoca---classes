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sldIdLst>
    <p:sldId id="256" r:id="rId2"/>
    <p:sldId id="257" r:id="rId3"/>
    <p:sldId id="258" r:id="rId4"/>
    <p:sldId id="259" r:id="rId5"/>
    <p:sldId id="260" r:id="rId6"/>
    <p:sldId id="261" r:id="rId7"/>
    <p:sldId id="262" r:id="rId8"/>
    <p:sldId id="263" r:id="rId9"/>
    <p:sldId id="264" r:id="rId10"/>
    <p:sldId id="266" r:id="rId11"/>
    <p:sldId id="265" r:id="rId12"/>
    <p:sldId id="268" r:id="rId13"/>
    <p:sldId id="267"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4" r:id="rId38"/>
    <p:sldId id="292" r:id="rId39"/>
    <p:sldId id="293"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22" r:id="rId65"/>
    <p:sldId id="323" r:id="rId66"/>
    <p:sldId id="320" r:id="rId67"/>
    <p:sldId id="319" r:id="rId68"/>
    <p:sldId id="324" r:id="rId69"/>
    <p:sldId id="321" r:id="rId70"/>
    <p:sldId id="325" r:id="rId71"/>
    <p:sldId id="326" r:id="rId72"/>
    <p:sldId id="327" r:id="rId73"/>
    <p:sldId id="328" r:id="rId74"/>
    <p:sldId id="331" r:id="rId75"/>
    <p:sldId id="330" r:id="rId76"/>
    <p:sldId id="333" r:id="rId77"/>
    <p:sldId id="332" r:id="rId78"/>
    <p:sldId id="334" r:id="rId79"/>
    <p:sldId id="335" r:id="rId80"/>
    <p:sldId id="336" r:id="rId81"/>
    <p:sldId id="329"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1" r:id="rId106"/>
    <p:sldId id="360" r:id="rId107"/>
    <p:sldId id="362" r:id="rId108"/>
    <p:sldId id="363" r:id="rId109"/>
    <p:sldId id="364" r:id="rId110"/>
    <p:sldId id="365" r:id="rId111"/>
    <p:sldId id="366" r:id="rId112"/>
    <p:sldId id="367" r:id="rId113"/>
    <p:sldId id="368" r:id="rId114"/>
    <p:sldId id="369" r:id="rId115"/>
    <p:sldId id="373" r:id="rId116"/>
    <p:sldId id="370" r:id="rId117"/>
    <p:sldId id="371" r:id="rId118"/>
    <p:sldId id="372"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customXml" Target="../customXml/item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7/31/2025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7/31/2025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7/31/2025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7/31/2025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7/31/2025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7/31/2025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7/31/2025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7/31/2025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7/31/2025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7/31/2025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7/31/2025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7/31/2025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Databas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Databas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Databas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Databas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sis-admin-staging.utcluj.app/" TargetMode="External"/><Relationship Id="rId2" Type="http://schemas.openxmlformats.org/officeDocument/2006/relationships/hyperlink" Target="https://websinu.utcluj.r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sis-admin-staging.utcluj.ap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rei.gov.ro/"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992E6-D880-ABA7-192D-077D00FD22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0079DB-A4BD-1C85-55AD-B9D4DB99C130}"/>
              </a:ext>
            </a:extLst>
          </p:cNvPr>
          <p:cNvSpPr>
            <a:spLocks noGrp="1"/>
          </p:cNvSpPr>
          <p:nvPr>
            <p:ph idx="1"/>
          </p:nvPr>
        </p:nvSpPr>
        <p:spPr/>
        <p:txBody>
          <a:bodyPr>
            <a:normAutofit/>
          </a:bodyPr>
          <a:lstStyle/>
          <a:p>
            <a:r>
              <a:rPr lang="en-US" dirty="0"/>
              <a:t>2</a:t>
            </a:r>
            <a:r>
              <a:rPr lang="en-US" baseline="30000" dirty="0"/>
              <a:t>nd</a:t>
            </a:r>
            <a:r>
              <a:rPr lang="en-US" dirty="0"/>
              <a:t> year </a:t>
            </a:r>
            <a:r>
              <a:rPr lang="en-US" dirty="0" err="1"/>
              <a:t>DataBase</a:t>
            </a:r>
            <a:r>
              <a:rPr lang="en-US" dirty="0"/>
              <a:t> course introduces fundamental concepts necessary for designing, using, and implementing database systems and database applications</a:t>
            </a:r>
          </a:p>
          <a:p>
            <a:endParaRPr lang="en-US" dirty="0"/>
          </a:p>
          <a:p>
            <a:r>
              <a:rPr lang="en-US" dirty="0"/>
              <a:t>present the most important aspects of database systems and applications, and related technologies</a:t>
            </a:r>
          </a:p>
          <a:p>
            <a:r>
              <a:rPr lang="en-US" dirty="0"/>
              <a:t>assume that students are familiar with mathematics, elementary programming and data-structuring concepts and that they have had some exposure to the basics of computer organizations IT</a:t>
            </a:r>
          </a:p>
        </p:txBody>
      </p:sp>
      <p:sp>
        <p:nvSpPr>
          <p:cNvPr id="4" name="Slide Number Placeholder 3">
            <a:extLst>
              <a:ext uri="{FF2B5EF4-FFF2-40B4-BE49-F238E27FC236}">
                <a16:creationId xmlns:a16="http://schemas.microsoft.com/office/drawing/2014/main" id="{B83CE9F1-0B09-D3D6-08E1-8177CAE5AEB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573072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44C05E-8BD9-6645-57D0-2D83D3B3FA6B}"/>
              </a:ext>
            </a:extLst>
          </p:cNvPr>
          <p:cNvSpPr>
            <a:spLocks noGrp="1"/>
          </p:cNvSpPr>
          <p:nvPr>
            <p:ph type="title"/>
          </p:nvPr>
        </p:nvSpPr>
        <p:spPr/>
        <p:txBody>
          <a:bodyPr/>
          <a:lstStyle/>
          <a:p>
            <a:r>
              <a:rPr lang="en-US" dirty="0"/>
              <a:t>Databases</a:t>
            </a:r>
          </a:p>
        </p:txBody>
      </p:sp>
      <p:sp>
        <p:nvSpPr>
          <p:cNvPr id="6" name="Text Placeholder 5">
            <a:extLst>
              <a:ext uri="{FF2B5EF4-FFF2-40B4-BE49-F238E27FC236}">
                <a16:creationId xmlns:a16="http://schemas.microsoft.com/office/drawing/2014/main" id="{225CD383-703B-5589-E4CE-BFC7BE5537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52A879-E2CF-4A57-A9DE-6C63F1646AF7}"/>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779289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1AF26-946E-FB35-3678-11F85E90C236}"/>
              </a:ext>
            </a:extLst>
          </p:cNvPr>
          <p:cNvSpPr>
            <a:spLocks noGrp="1"/>
          </p:cNvSpPr>
          <p:nvPr>
            <p:ph type="title"/>
          </p:nvPr>
        </p:nvSpPr>
        <p:spPr/>
        <p:txBody>
          <a:bodyPr>
            <a:normAutofit/>
          </a:bodyPr>
          <a:lstStyle/>
          <a:p>
            <a:r>
              <a:rPr lang="en-US" dirty="0">
                <a:hlinkClick r:id="rId2"/>
              </a:rPr>
              <a:t>Database – Wikipedia</a:t>
            </a:r>
            <a:r>
              <a:rPr lang="en-US" dirty="0"/>
              <a:t> </a:t>
            </a:r>
            <a:br>
              <a:rPr lang="en-US" dirty="0"/>
            </a:br>
            <a:r>
              <a:rPr lang="en-US" dirty="0">
                <a:hlinkClick r:id="rId2"/>
              </a:rPr>
              <a:t>https://en.wikipedia.org/wiki/Database</a:t>
            </a:r>
            <a:endParaRPr lang="en-US" dirty="0"/>
          </a:p>
        </p:txBody>
      </p:sp>
      <p:sp>
        <p:nvSpPr>
          <p:cNvPr id="3" name="Content Placeholder 2">
            <a:extLst>
              <a:ext uri="{FF2B5EF4-FFF2-40B4-BE49-F238E27FC236}">
                <a16:creationId xmlns:a16="http://schemas.microsoft.com/office/drawing/2014/main" id="{0C2FF029-5E31-51E6-9605-3A41F85CA457}"/>
              </a:ext>
            </a:extLst>
          </p:cNvPr>
          <p:cNvSpPr>
            <a:spLocks noGrp="1"/>
          </p:cNvSpPr>
          <p:nvPr>
            <p:ph idx="1"/>
          </p:nvPr>
        </p:nvSpPr>
        <p:spPr/>
        <p:txBody>
          <a:bodyPr>
            <a:normAutofit lnSpcReduction="10000"/>
          </a:bodyPr>
          <a:lstStyle/>
          <a:p>
            <a:r>
              <a:rPr lang="en-US" dirty="0"/>
              <a:t>in computing, </a:t>
            </a:r>
          </a:p>
          <a:p>
            <a:r>
              <a:rPr lang="en-US" dirty="0"/>
              <a:t>a database is an </a:t>
            </a:r>
            <a:r>
              <a:rPr lang="en-US" b="1" i="1" dirty="0"/>
              <a:t>organized</a:t>
            </a:r>
            <a:r>
              <a:rPr lang="en-US" dirty="0"/>
              <a:t> collection of data</a:t>
            </a:r>
          </a:p>
          <a:p>
            <a:r>
              <a:rPr lang="en-US" dirty="0"/>
              <a:t>or </a:t>
            </a:r>
          </a:p>
          <a:p>
            <a:r>
              <a:rPr lang="en-US" dirty="0"/>
              <a:t>a type of data store based on the use of a </a:t>
            </a:r>
            <a:r>
              <a:rPr lang="en-US" dirty="0" err="1"/>
              <a:t>DataBase</a:t>
            </a:r>
            <a:r>
              <a:rPr lang="en-US" dirty="0"/>
              <a:t> Management System (DBMS), the software that interacts with end users, applications, and the database itself to capture and analyze the data</a:t>
            </a:r>
          </a:p>
          <a:p>
            <a:r>
              <a:rPr lang="en-US" dirty="0"/>
              <a:t>sum total of the database, the DBMS and the associated applications can be referred to as a database system</a:t>
            </a:r>
          </a:p>
          <a:p>
            <a:r>
              <a:rPr lang="en-US" dirty="0"/>
              <a:t>often term "database" is also used loosely to refer to any of DBMS, database system or application associated with database</a:t>
            </a:r>
          </a:p>
        </p:txBody>
      </p:sp>
      <p:sp>
        <p:nvSpPr>
          <p:cNvPr id="4" name="Slide Number Placeholder 3">
            <a:extLst>
              <a:ext uri="{FF2B5EF4-FFF2-40B4-BE49-F238E27FC236}">
                <a16:creationId xmlns:a16="http://schemas.microsoft.com/office/drawing/2014/main" id="{2B548E51-0519-A95F-9589-AED15C166A65}"/>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218628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836D7-D527-9AFE-3960-7122F1068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0E7CF-AC0E-A25A-2862-7F428BF07FAE}"/>
              </a:ext>
            </a:extLst>
          </p:cNvPr>
          <p:cNvSpPr>
            <a:spLocks noGrp="1"/>
          </p:cNvSpPr>
          <p:nvPr>
            <p:ph type="title"/>
          </p:nvPr>
        </p:nvSpPr>
        <p:spPr/>
        <p:txBody>
          <a:bodyPr>
            <a:normAutofit/>
          </a:bodyPr>
          <a:lstStyle/>
          <a:p>
            <a:r>
              <a:rPr lang="en-US" dirty="0">
                <a:hlinkClick r:id="rId2"/>
              </a:rPr>
              <a:t>Database – Wikipedia</a:t>
            </a:r>
            <a:r>
              <a:rPr lang="en-US" dirty="0"/>
              <a:t> </a:t>
            </a:r>
            <a:br>
              <a:rPr lang="en-US" dirty="0"/>
            </a:br>
            <a:r>
              <a:rPr lang="en-US" dirty="0">
                <a:hlinkClick r:id="rId2"/>
              </a:rPr>
              <a:t>https://en.wikipedia.org/wiki/Database</a:t>
            </a:r>
            <a:endParaRPr lang="en-US" dirty="0"/>
          </a:p>
        </p:txBody>
      </p:sp>
      <p:sp>
        <p:nvSpPr>
          <p:cNvPr id="3" name="Content Placeholder 2">
            <a:extLst>
              <a:ext uri="{FF2B5EF4-FFF2-40B4-BE49-F238E27FC236}">
                <a16:creationId xmlns:a16="http://schemas.microsoft.com/office/drawing/2014/main" id="{08EE1892-5D3A-28AD-3139-9B9C5353157C}"/>
              </a:ext>
            </a:extLst>
          </p:cNvPr>
          <p:cNvSpPr>
            <a:spLocks noGrp="1"/>
          </p:cNvSpPr>
          <p:nvPr>
            <p:ph idx="1"/>
          </p:nvPr>
        </p:nvSpPr>
        <p:spPr/>
        <p:txBody>
          <a:bodyPr>
            <a:normAutofit/>
          </a:bodyPr>
          <a:lstStyle/>
          <a:p>
            <a:r>
              <a:rPr lang="en-US" dirty="0"/>
              <a:t>before digital storage and retrieval of data have become widespread, index cards were used for data storage in a wide range of applications and environments: </a:t>
            </a:r>
          </a:p>
          <a:p>
            <a:pPr lvl="1"/>
            <a:r>
              <a:rPr lang="en-US" sz="2500" dirty="0"/>
              <a:t>in the home to record and store recipes, shopping lists, contact information and other organizational data; </a:t>
            </a:r>
          </a:p>
          <a:p>
            <a:pPr lvl="1"/>
            <a:r>
              <a:rPr lang="en-US" sz="2500" dirty="0"/>
              <a:t>in business to record presentation notes, project research and notes, and contact information; </a:t>
            </a:r>
          </a:p>
          <a:p>
            <a:pPr lvl="1"/>
            <a:r>
              <a:rPr lang="en-US" sz="2500" dirty="0"/>
              <a:t>in schools as flash cards or other visual aids; </a:t>
            </a:r>
          </a:p>
          <a:p>
            <a:pPr lvl="1"/>
            <a:r>
              <a:rPr lang="en-US" sz="2500" dirty="0"/>
              <a:t>in academic research to hold data such as bibliographical citations or notes in a card file; professional book indexers used index cards in the creation of book indexes until they were replaced by indexing software</a:t>
            </a:r>
          </a:p>
        </p:txBody>
      </p:sp>
      <p:sp>
        <p:nvSpPr>
          <p:cNvPr id="4" name="Slide Number Placeholder 3">
            <a:extLst>
              <a:ext uri="{FF2B5EF4-FFF2-40B4-BE49-F238E27FC236}">
                <a16:creationId xmlns:a16="http://schemas.microsoft.com/office/drawing/2014/main" id="{DF4B2809-9E88-D6FB-911F-56DECE2C0ECA}"/>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57258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AD6D-EDB0-066B-EFB1-0B2ACEFB9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BB79F-9B08-1CF0-B82F-91AEFB6AD1ED}"/>
              </a:ext>
            </a:extLst>
          </p:cNvPr>
          <p:cNvSpPr>
            <a:spLocks noGrp="1"/>
          </p:cNvSpPr>
          <p:nvPr>
            <p:ph type="title"/>
          </p:nvPr>
        </p:nvSpPr>
        <p:spPr/>
        <p:txBody>
          <a:bodyPr>
            <a:normAutofit/>
          </a:bodyPr>
          <a:lstStyle/>
          <a:p>
            <a:r>
              <a:rPr lang="en-US" dirty="0">
                <a:hlinkClick r:id="rId2"/>
              </a:rPr>
              <a:t>Database – Wikipedia</a:t>
            </a:r>
            <a:r>
              <a:rPr lang="en-US" dirty="0"/>
              <a:t> </a:t>
            </a:r>
            <a:br>
              <a:rPr lang="en-US" dirty="0"/>
            </a:br>
            <a:r>
              <a:rPr lang="en-US" dirty="0">
                <a:hlinkClick r:id="rId2"/>
              </a:rPr>
              <a:t>https://en.wikipedia.org/wiki/Database</a:t>
            </a:r>
            <a:endParaRPr lang="en-US" dirty="0"/>
          </a:p>
        </p:txBody>
      </p:sp>
      <p:sp>
        <p:nvSpPr>
          <p:cNvPr id="3" name="Content Placeholder 2">
            <a:extLst>
              <a:ext uri="{FF2B5EF4-FFF2-40B4-BE49-F238E27FC236}">
                <a16:creationId xmlns:a16="http://schemas.microsoft.com/office/drawing/2014/main" id="{859A0FC7-51D8-F28D-1394-797ABA615F11}"/>
              </a:ext>
            </a:extLst>
          </p:cNvPr>
          <p:cNvSpPr>
            <a:spLocks noGrp="1"/>
          </p:cNvSpPr>
          <p:nvPr>
            <p:ph idx="1"/>
          </p:nvPr>
        </p:nvSpPr>
        <p:spPr/>
        <p:txBody>
          <a:bodyPr>
            <a:normAutofit/>
          </a:bodyPr>
          <a:lstStyle/>
          <a:p>
            <a:r>
              <a:rPr lang="en-US" dirty="0"/>
              <a:t>small databases can be stored on file system or document database</a:t>
            </a:r>
          </a:p>
          <a:p>
            <a:r>
              <a:rPr lang="en-US" dirty="0"/>
              <a:t>large databases are hosted on computer clusters or cloud storage</a:t>
            </a:r>
          </a:p>
          <a:p>
            <a:endParaRPr lang="en-US" dirty="0"/>
          </a:p>
          <a:p>
            <a:r>
              <a:rPr lang="en-US" dirty="0"/>
              <a:t>design of databases spans formal techniques and practical considerations, including data modeling, efficient data representation and storage, query languages, security and privacy of sensitive data, and distributed computing issues, including supporting concurrent access and fault tolerance</a:t>
            </a:r>
          </a:p>
        </p:txBody>
      </p:sp>
      <p:sp>
        <p:nvSpPr>
          <p:cNvPr id="4" name="Slide Number Placeholder 3">
            <a:extLst>
              <a:ext uri="{FF2B5EF4-FFF2-40B4-BE49-F238E27FC236}">
                <a16:creationId xmlns:a16="http://schemas.microsoft.com/office/drawing/2014/main" id="{C214C5E3-A544-8F6B-477E-BFAB9750980B}"/>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353435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91E5-F314-2089-392C-3E947CF18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AE514-4A8D-9A93-486B-993D1C8F4808}"/>
              </a:ext>
            </a:extLst>
          </p:cNvPr>
          <p:cNvSpPr>
            <a:spLocks noGrp="1"/>
          </p:cNvSpPr>
          <p:nvPr>
            <p:ph type="title"/>
          </p:nvPr>
        </p:nvSpPr>
        <p:spPr/>
        <p:txBody>
          <a:bodyPr>
            <a:normAutofit/>
          </a:bodyPr>
          <a:lstStyle/>
          <a:p>
            <a:r>
              <a:rPr lang="en-US" dirty="0">
                <a:hlinkClick r:id="rId2"/>
              </a:rPr>
              <a:t>Database – Wikipedia</a:t>
            </a:r>
            <a:r>
              <a:rPr lang="en-US" dirty="0"/>
              <a:t> </a:t>
            </a:r>
            <a:br>
              <a:rPr lang="en-US" dirty="0"/>
            </a:br>
            <a:r>
              <a:rPr lang="en-US" dirty="0">
                <a:hlinkClick r:id="rId2"/>
              </a:rPr>
              <a:t>https://en.wikipedia.org/wiki/Database</a:t>
            </a:r>
            <a:endParaRPr lang="en-US" dirty="0"/>
          </a:p>
        </p:txBody>
      </p:sp>
      <p:sp>
        <p:nvSpPr>
          <p:cNvPr id="3" name="Content Placeholder 2">
            <a:extLst>
              <a:ext uri="{FF2B5EF4-FFF2-40B4-BE49-F238E27FC236}">
                <a16:creationId xmlns:a16="http://schemas.microsoft.com/office/drawing/2014/main" id="{87C8E279-9B95-3B65-BC98-76389D858184}"/>
              </a:ext>
            </a:extLst>
          </p:cNvPr>
          <p:cNvSpPr>
            <a:spLocks noGrp="1"/>
          </p:cNvSpPr>
          <p:nvPr>
            <p:ph idx="1"/>
          </p:nvPr>
        </p:nvSpPr>
        <p:spPr/>
        <p:txBody>
          <a:bodyPr>
            <a:normAutofit/>
          </a:bodyPr>
          <a:lstStyle/>
          <a:p>
            <a:r>
              <a:rPr lang="en-US" dirty="0"/>
              <a:t>IT computer scientists may classify database management systems according to the database models that they support</a:t>
            </a:r>
          </a:p>
          <a:p>
            <a:r>
              <a:rPr lang="en-US" dirty="0"/>
              <a:t>Relational databases became dominant in the 1980s</a:t>
            </a:r>
          </a:p>
          <a:p>
            <a:pPr lvl="1"/>
            <a:r>
              <a:rPr lang="en-US" sz="2700" dirty="0"/>
              <a:t>these model data as rows and columns in a series of tables, and the vast majority use SQL for writing and querying data</a:t>
            </a:r>
          </a:p>
          <a:p>
            <a:r>
              <a:rPr lang="en-US" dirty="0"/>
              <a:t>Object Relational </a:t>
            </a:r>
            <a:r>
              <a:rPr lang="en-US" dirty="0" err="1"/>
              <a:t>DataBase</a:t>
            </a:r>
            <a:r>
              <a:rPr lang="en-US" dirty="0"/>
              <a:t> Management Systems </a:t>
            </a:r>
          </a:p>
          <a:p>
            <a:pPr lvl="1"/>
            <a:r>
              <a:rPr lang="en-US" sz="2700" dirty="0"/>
              <a:t>Oracle, SQL Server PostgreSQL</a:t>
            </a:r>
          </a:p>
          <a:p>
            <a:r>
              <a:rPr lang="en-US" dirty="0"/>
              <a:t>non-relational databases, referred to as NoSQL, became popular in the 2000s</a:t>
            </a:r>
          </a:p>
          <a:p>
            <a:endParaRPr lang="en-US" dirty="0"/>
          </a:p>
        </p:txBody>
      </p:sp>
      <p:sp>
        <p:nvSpPr>
          <p:cNvPr id="4" name="Slide Number Placeholder 3">
            <a:extLst>
              <a:ext uri="{FF2B5EF4-FFF2-40B4-BE49-F238E27FC236}">
                <a16:creationId xmlns:a16="http://schemas.microsoft.com/office/drawing/2014/main" id="{A04B8AB1-744A-3D08-2714-0034984BAB2B}"/>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2374157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25B3-E508-45CA-C875-D04CF9B1D0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262AFC-1EE9-D6FD-4645-C89B7C6B2A5E}"/>
              </a:ext>
            </a:extLst>
          </p:cNvPr>
          <p:cNvSpPr>
            <a:spLocks noGrp="1"/>
          </p:cNvSpPr>
          <p:nvPr>
            <p:ph idx="1"/>
          </p:nvPr>
        </p:nvSpPr>
        <p:spPr/>
        <p:txBody>
          <a:bodyPr>
            <a:normAutofit lnSpcReduction="10000"/>
          </a:bodyPr>
          <a:lstStyle/>
          <a:p>
            <a:r>
              <a:rPr lang="en-US" dirty="0"/>
              <a:t>databases and database systems are an essential component of life in modern society: most of us encounter several activities every day that involve some interaction with a database</a:t>
            </a:r>
          </a:p>
          <a:p>
            <a:r>
              <a:rPr lang="en-US" dirty="0"/>
              <a:t>for example, </a:t>
            </a:r>
          </a:p>
          <a:p>
            <a:pPr lvl="1"/>
            <a:r>
              <a:rPr lang="en-US" dirty="0"/>
              <a:t>if we go to the bank to deposit or withdraw funds</a:t>
            </a:r>
          </a:p>
          <a:p>
            <a:pPr lvl="1"/>
            <a:r>
              <a:rPr lang="en-US" dirty="0"/>
              <a:t>if we make a hotel or airline reservation</a:t>
            </a:r>
          </a:p>
          <a:p>
            <a:pPr lvl="1"/>
            <a:r>
              <a:rPr lang="en-US" dirty="0"/>
              <a:t>if we access a computerized library catalog to search for a bibliographic item</a:t>
            </a:r>
          </a:p>
          <a:p>
            <a:pPr lvl="1"/>
            <a:r>
              <a:rPr lang="en-US" dirty="0"/>
              <a:t>if we purchase something online, such as a book, toy, or computer</a:t>
            </a:r>
          </a:p>
          <a:p>
            <a:pPr lvl="1"/>
            <a:r>
              <a:rPr lang="en-US" dirty="0"/>
              <a:t>If we access SINU or SIS or RMU</a:t>
            </a:r>
          </a:p>
          <a:p>
            <a:r>
              <a:rPr lang="en-US" dirty="0"/>
              <a:t>chances are that our activities will involve someone or some computer program accessing a database</a:t>
            </a:r>
          </a:p>
        </p:txBody>
      </p:sp>
      <p:sp>
        <p:nvSpPr>
          <p:cNvPr id="4" name="Slide Number Placeholder 3">
            <a:extLst>
              <a:ext uri="{FF2B5EF4-FFF2-40B4-BE49-F238E27FC236}">
                <a16:creationId xmlns:a16="http://schemas.microsoft.com/office/drawing/2014/main" id="{42BFAEB1-27B7-D09A-62A5-1CB7C41EB06F}"/>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3025700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AC40-4809-2B9A-EB1B-AD3A2DCC1B1D}"/>
              </a:ext>
            </a:extLst>
          </p:cNvPr>
          <p:cNvSpPr>
            <a:spLocks noGrp="1"/>
          </p:cNvSpPr>
          <p:nvPr>
            <p:ph type="title"/>
          </p:nvPr>
        </p:nvSpPr>
        <p:spPr/>
        <p:txBody>
          <a:bodyPr/>
          <a:lstStyle/>
          <a:p>
            <a:r>
              <a:rPr lang="en-US" dirty="0"/>
              <a:t>we</a:t>
            </a:r>
          </a:p>
        </p:txBody>
      </p:sp>
      <p:sp>
        <p:nvSpPr>
          <p:cNvPr id="3" name="Content Placeholder 2">
            <a:extLst>
              <a:ext uri="{FF2B5EF4-FFF2-40B4-BE49-F238E27FC236}">
                <a16:creationId xmlns:a16="http://schemas.microsoft.com/office/drawing/2014/main" id="{7363618B-73C6-C157-A6A1-189F4400296E}"/>
              </a:ext>
            </a:extLst>
          </p:cNvPr>
          <p:cNvSpPr>
            <a:spLocks noGrp="1"/>
          </p:cNvSpPr>
          <p:nvPr>
            <p:ph idx="1"/>
          </p:nvPr>
        </p:nvSpPr>
        <p:spPr/>
        <p:txBody>
          <a:bodyPr/>
          <a:lstStyle/>
          <a:p>
            <a:r>
              <a:rPr lang="en-US" dirty="0" err="1">
                <a:hlinkClick r:id="rId2"/>
              </a:rPr>
              <a:t>Departamentul</a:t>
            </a:r>
            <a:r>
              <a:rPr lang="en-US" dirty="0">
                <a:hlinkClick r:id="rId2"/>
              </a:rPr>
              <a:t> Q de Informatica al UTCN</a:t>
            </a:r>
            <a:r>
              <a:rPr lang="en-US" dirty="0"/>
              <a:t>  </a:t>
            </a:r>
            <a:r>
              <a:rPr lang="en-US" dirty="0">
                <a:hlinkClick r:id="rId2"/>
              </a:rPr>
              <a:t>https://websinu.utcluj.ro/</a:t>
            </a:r>
            <a:endParaRPr lang="en-US" dirty="0"/>
          </a:p>
          <a:p>
            <a:r>
              <a:rPr lang="en-US" dirty="0" err="1">
                <a:hlinkClick r:id="rId3"/>
              </a:rPr>
              <a:t>Sistemul</a:t>
            </a:r>
            <a:r>
              <a:rPr lang="en-US" dirty="0">
                <a:hlinkClick r:id="rId3"/>
              </a:rPr>
              <a:t> informatic al </a:t>
            </a:r>
            <a:r>
              <a:rPr lang="en-US" dirty="0" err="1">
                <a:hlinkClick r:id="rId3"/>
              </a:rPr>
              <a:t>studenților</a:t>
            </a:r>
            <a:r>
              <a:rPr lang="en-US" dirty="0"/>
              <a:t> </a:t>
            </a:r>
            <a:r>
              <a:rPr lang="en-US" dirty="0">
                <a:hlinkClick r:id="rId3"/>
              </a:rPr>
              <a:t>https://sis-admin-staging.utcluj.app/</a:t>
            </a:r>
            <a:endParaRPr lang="en-US" dirty="0"/>
          </a:p>
          <a:p>
            <a:endParaRPr lang="en-US" dirty="0"/>
          </a:p>
        </p:txBody>
      </p:sp>
      <p:sp>
        <p:nvSpPr>
          <p:cNvPr id="4" name="Slide Number Placeholder 3">
            <a:extLst>
              <a:ext uri="{FF2B5EF4-FFF2-40B4-BE49-F238E27FC236}">
                <a16:creationId xmlns:a16="http://schemas.microsoft.com/office/drawing/2014/main" id="{3AD83B1F-42C9-2E6E-B58E-11FEAA48EC25}"/>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2330676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1ED3-0B00-1BEC-CEBD-792946277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AD3D4-ABC5-1FD2-FAB3-1A1AC0D875FD}"/>
              </a:ext>
            </a:extLst>
          </p:cNvPr>
          <p:cNvSpPr>
            <a:spLocks noGrp="1"/>
          </p:cNvSpPr>
          <p:nvPr>
            <p:ph type="title"/>
          </p:nvPr>
        </p:nvSpPr>
        <p:spPr/>
        <p:txBody>
          <a:bodyPr/>
          <a:lstStyle/>
          <a:p>
            <a:r>
              <a:rPr lang="en-US" dirty="0"/>
              <a:t>me</a:t>
            </a:r>
          </a:p>
        </p:txBody>
      </p:sp>
      <p:sp>
        <p:nvSpPr>
          <p:cNvPr id="3" name="Content Placeholder 2">
            <a:extLst>
              <a:ext uri="{FF2B5EF4-FFF2-40B4-BE49-F238E27FC236}">
                <a16:creationId xmlns:a16="http://schemas.microsoft.com/office/drawing/2014/main" id="{0BB7E6EE-2C92-0CA3-405E-295A253422B6}"/>
              </a:ext>
            </a:extLst>
          </p:cNvPr>
          <p:cNvSpPr>
            <a:spLocks noGrp="1"/>
          </p:cNvSpPr>
          <p:nvPr>
            <p:ph idx="1"/>
          </p:nvPr>
        </p:nvSpPr>
        <p:spPr/>
        <p:txBody>
          <a:bodyPr/>
          <a:lstStyle/>
          <a:p>
            <a:r>
              <a:rPr lang="en-US" dirty="0" err="1">
                <a:hlinkClick r:id="rId2"/>
              </a:rPr>
              <a:t>Sistemul</a:t>
            </a:r>
            <a:r>
              <a:rPr lang="en-US" dirty="0">
                <a:hlinkClick r:id="rId2"/>
              </a:rPr>
              <a:t> informatic al </a:t>
            </a:r>
            <a:r>
              <a:rPr lang="en-US" dirty="0" err="1">
                <a:hlinkClick r:id="rId2"/>
              </a:rPr>
              <a:t>studenților</a:t>
            </a:r>
            <a:r>
              <a:rPr lang="en-US" dirty="0"/>
              <a:t> </a:t>
            </a:r>
            <a:r>
              <a:rPr lang="en-US" dirty="0">
                <a:hlinkClick r:id="rId2"/>
              </a:rPr>
              <a:t>https://sis-admin-staging.utcluj.app/</a:t>
            </a:r>
            <a:endParaRPr lang="en-US" dirty="0"/>
          </a:p>
          <a:p>
            <a:endParaRPr lang="en-US" dirty="0"/>
          </a:p>
        </p:txBody>
      </p:sp>
      <p:sp>
        <p:nvSpPr>
          <p:cNvPr id="4" name="Slide Number Placeholder 3">
            <a:extLst>
              <a:ext uri="{FF2B5EF4-FFF2-40B4-BE49-F238E27FC236}">
                <a16:creationId xmlns:a16="http://schemas.microsoft.com/office/drawing/2014/main" id="{E551E683-5F6F-1987-69B6-86BAE7E7906E}"/>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56536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90E71-874A-1FF8-8FE2-175CF3E72022}"/>
              </a:ext>
            </a:extLst>
          </p:cNvPr>
          <p:cNvSpPr>
            <a:spLocks noGrp="1"/>
          </p:cNvSpPr>
          <p:nvPr>
            <p:ph type="title"/>
          </p:nvPr>
        </p:nvSpPr>
        <p:spPr/>
        <p:txBody>
          <a:bodyPr/>
          <a:lstStyle/>
          <a:p>
            <a:r>
              <a:rPr lang="en-US" dirty="0"/>
              <a:t>you</a:t>
            </a:r>
          </a:p>
        </p:txBody>
      </p:sp>
      <p:sp>
        <p:nvSpPr>
          <p:cNvPr id="3" name="Content Placeholder 2">
            <a:extLst>
              <a:ext uri="{FF2B5EF4-FFF2-40B4-BE49-F238E27FC236}">
                <a16:creationId xmlns:a16="http://schemas.microsoft.com/office/drawing/2014/main" id="{3C9A0EBE-8ADC-B553-B102-56B2B55C3D47}"/>
              </a:ext>
            </a:extLst>
          </p:cNvPr>
          <p:cNvSpPr>
            <a:spLocks noGrp="1"/>
          </p:cNvSpPr>
          <p:nvPr>
            <p:ph idx="1"/>
          </p:nvPr>
        </p:nvSpPr>
        <p:spPr/>
        <p:txBody>
          <a:bodyPr/>
          <a:lstStyle/>
          <a:p>
            <a:r>
              <a:rPr lang="en-US" dirty="0" err="1">
                <a:hlinkClick r:id="rId2"/>
              </a:rPr>
              <a:t>Platforma</a:t>
            </a:r>
            <a:r>
              <a:rPr lang="en-US" dirty="0">
                <a:hlinkClick r:id="rId2"/>
              </a:rPr>
              <a:t> REI </a:t>
            </a:r>
            <a:r>
              <a:rPr lang="en-US" dirty="0" err="1">
                <a:hlinkClick r:id="rId2"/>
              </a:rPr>
              <a:t>Registru</a:t>
            </a:r>
            <a:r>
              <a:rPr lang="en-US" dirty="0">
                <a:hlinkClick r:id="rId2"/>
              </a:rPr>
              <a:t> Educational </a:t>
            </a:r>
            <a:r>
              <a:rPr lang="en-US" dirty="0" err="1">
                <a:hlinkClick r:id="rId2"/>
              </a:rPr>
              <a:t>Integrat</a:t>
            </a:r>
            <a:r>
              <a:rPr lang="en-US" dirty="0"/>
              <a:t> </a:t>
            </a:r>
            <a:r>
              <a:rPr lang="en-US" dirty="0">
                <a:hlinkClick r:id="rId2"/>
              </a:rPr>
              <a:t>https://rei.gov.ro/</a:t>
            </a:r>
            <a:endParaRPr lang="en-US" dirty="0"/>
          </a:p>
          <a:p>
            <a:endParaRPr lang="en-US" dirty="0"/>
          </a:p>
        </p:txBody>
      </p:sp>
      <p:sp>
        <p:nvSpPr>
          <p:cNvPr id="4" name="Slide Number Placeholder 3">
            <a:extLst>
              <a:ext uri="{FF2B5EF4-FFF2-40B4-BE49-F238E27FC236}">
                <a16:creationId xmlns:a16="http://schemas.microsoft.com/office/drawing/2014/main" id="{ACEF7A57-DA61-F5C9-09D2-B62742640487}"/>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299505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E76F3-A9AD-D849-A361-3DEE384F3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C4443-7E94-8293-AAA3-62BD4904E8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6F9F42-88EF-2393-DBD1-2103B582ECB5}"/>
              </a:ext>
            </a:extLst>
          </p:cNvPr>
          <p:cNvSpPr>
            <a:spLocks noGrp="1"/>
          </p:cNvSpPr>
          <p:nvPr>
            <p:ph idx="1"/>
          </p:nvPr>
        </p:nvSpPr>
        <p:spPr/>
        <p:txBody>
          <a:bodyPr>
            <a:normAutofit lnSpcReduction="10000"/>
          </a:bodyPr>
          <a:lstStyle/>
          <a:p>
            <a:r>
              <a:rPr lang="en-US" dirty="0"/>
              <a:t>databases and database systems are an essential component of life in modern society: most of us encounter several activities every day that involve some interaction with a database</a:t>
            </a:r>
          </a:p>
          <a:p>
            <a:r>
              <a:rPr lang="en-US" dirty="0"/>
              <a:t>for example, </a:t>
            </a:r>
          </a:p>
          <a:p>
            <a:pPr lvl="1"/>
            <a:r>
              <a:rPr lang="en-US" dirty="0"/>
              <a:t>if we go to the bank to deposit or withdraw funds</a:t>
            </a:r>
          </a:p>
          <a:p>
            <a:pPr lvl="1"/>
            <a:r>
              <a:rPr lang="en-US" dirty="0"/>
              <a:t>if we make a hotel or airline reservation</a:t>
            </a:r>
          </a:p>
          <a:p>
            <a:pPr lvl="1"/>
            <a:r>
              <a:rPr lang="en-US" dirty="0"/>
              <a:t>if we access a computerized library catalog to search for a bibliographic item</a:t>
            </a:r>
          </a:p>
          <a:p>
            <a:pPr lvl="1"/>
            <a:r>
              <a:rPr lang="en-US" dirty="0"/>
              <a:t>if we purchase something online, such as a book, toy, or computer</a:t>
            </a:r>
          </a:p>
          <a:p>
            <a:pPr lvl="1"/>
            <a:r>
              <a:rPr lang="en-US" dirty="0"/>
              <a:t>If we access SINU or SIS or RMU</a:t>
            </a:r>
          </a:p>
          <a:p>
            <a:r>
              <a:rPr lang="en-US" dirty="0"/>
              <a:t>chances are that our activities will involve someone or some computer program accessing a database</a:t>
            </a:r>
          </a:p>
        </p:txBody>
      </p:sp>
      <p:sp>
        <p:nvSpPr>
          <p:cNvPr id="4" name="Slide Number Placeholder 3">
            <a:extLst>
              <a:ext uri="{FF2B5EF4-FFF2-40B4-BE49-F238E27FC236}">
                <a16:creationId xmlns:a16="http://schemas.microsoft.com/office/drawing/2014/main" id="{2CF01EDE-08A5-2906-4184-359A768E3E24}"/>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2975571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A0B69-62D7-24D0-B58C-71878082E7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3271A4-7F7D-8002-E6FA-B1E523F442F8}"/>
              </a:ext>
            </a:extLst>
          </p:cNvPr>
          <p:cNvSpPr>
            <a:spLocks noGrp="1"/>
          </p:cNvSpPr>
          <p:nvPr>
            <p:ph idx="1"/>
          </p:nvPr>
        </p:nvSpPr>
        <p:spPr/>
        <p:txBody>
          <a:bodyPr/>
          <a:lstStyle/>
          <a:p>
            <a:r>
              <a:rPr lang="en-US" dirty="0"/>
              <a:t>examples of what we may call </a:t>
            </a:r>
            <a:r>
              <a:rPr lang="en-US" b="1" dirty="0"/>
              <a:t>traditional database applications</a:t>
            </a:r>
            <a:r>
              <a:rPr lang="en-US" dirty="0"/>
              <a:t>, in which most of the information that is stored and accessed is structured, either textual or numeric</a:t>
            </a:r>
          </a:p>
        </p:txBody>
      </p:sp>
      <p:sp>
        <p:nvSpPr>
          <p:cNvPr id="4" name="Slide Number Placeholder 3">
            <a:extLst>
              <a:ext uri="{FF2B5EF4-FFF2-40B4-BE49-F238E27FC236}">
                <a16:creationId xmlns:a16="http://schemas.microsoft.com/office/drawing/2014/main" id="{EA7A9514-2139-2283-7179-5A9576B63B38}"/>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3507876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9731-BAF7-BBD0-C866-24568504DC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DAF0C2-A370-2547-39C5-8D112252F582}"/>
              </a:ext>
            </a:extLst>
          </p:cNvPr>
          <p:cNvSpPr>
            <a:spLocks noGrp="1"/>
          </p:cNvSpPr>
          <p:nvPr>
            <p:ph idx="1"/>
          </p:nvPr>
        </p:nvSpPr>
        <p:spPr/>
        <p:txBody>
          <a:bodyPr>
            <a:noAutofit/>
          </a:bodyPr>
          <a:lstStyle/>
          <a:p>
            <a:r>
              <a:rPr lang="en-US" sz="2700" dirty="0"/>
              <a:t>in the past few years, advances in technology have led to new applications of database systems: social media such as Facebook among many others, has required the creation of huge databases that store nontraditional data, such as posts, tweets, images, and video clips</a:t>
            </a:r>
          </a:p>
          <a:p>
            <a:r>
              <a:rPr lang="en-US" sz="2700" dirty="0"/>
              <a:t>new types of database systems, often referred to as </a:t>
            </a:r>
            <a:r>
              <a:rPr lang="en-US" sz="2700" b="1" dirty="0"/>
              <a:t>big data </a:t>
            </a:r>
            <a:r>
              <a:rPr lang="en-US" sz="2700" dirty="0"/>
              <a:t>storage systems, or </a:t>
            </a:r>
            <a:r>
              <a:rPr lang="en-US" sz="2700" b="1" dirty="0"/>
              <a:t>NOSQL systems</a:t>
            </a:r>
            <a:r>
              <a:rPr lang="en-US" sz="2700" dirty="0"/>
              <a:t>, have been created to manage less structured data for such applications</a:t>
            </a:r>
          </a:p>
          <a:p>
            <a:r>
              <a:rPr lang="en-US" sz="2700" dirty="0"/>
              <a:t>these types of systems are also used by companies such as Google, Amazon, and Yahoo, to manage the data required in their Web search engines, as well as to provide </a:t>
            </a:r>
            <a:r>
              <a:rPr lang="en-US" sz="2700" b="1" dirty="0"/>
              <a:t>cloud storage</a:t>
            </a:r>
            <a:r>
              <a:rPr lang="en-US" sz="2700" dirty="0"/>
              <a:t>, whereby users are provided with storage capabilities on the Web for managing all types of data including documents, programs, images, videos and emails</a:t>
            </a:r>
          </a:p>
        </p:txBody>
      </p:sp>
      <p:sp>
        <p:nvSpPr>
          <p:cNvPr id="4" name="Slide Number Placeholder 3">
            <a:extLst>
              <a:ext uri="{FF2B5EF4-FFF2-40B4-BE49-F238E27FC236}">
                <a16:creationId xmlns:a16="http://schemas.microsoft.com/office/drawing/2014/main" id="{1B68ACDF-E460-E11B-0E63-4FBBF590D545}"/>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1076786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62050-A95A-F664-25E4-7D5B1C2078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7B207D-7A13-A3AC-12A2-C8031D3659AF}"/>
              </a:ext>
            </a:extLst>
          </p:cNvPr>
          <p:cNvSpPr>
            <a:spLocks noGrp="1"/>
          </p:cNvSpPr>
          <p:nvPr>
            <p:ph idx="1"/>
          </p:nvPr>
        </p:nvSpPr>
        <p:spPr/>
        <p:txBody>
          <a:bodyPr>
            <a:noAutofit/>
          </a:bodyPr>
          <a:lstStyle/>
          <a:p>
            <a:r>
              <a:rPr lang="en-US" dirty="0"/>
              <a:t>wide availability of photo and video technology on mobile phones and devices has made it possible to store images, audio clips, and video streams digitally becoming important component of </a:t>
            </a:r>
            <a:r>
              <a:rPr lang="en-US" b="1" dirty="0"/>
              <a:t>multimedia databases</a:t>
            </a:r>
          </a:p>
          <a:p>
            <a:r>
              <a:rPr lang="en-US" b="1" dirty="0"/>
              <a:t>Geographic Information Systems (GISs) </a:t>
            </a:r>
            <a:r>
              <a:rPr lang="en-US" dirty="0"/>
              <a:t>can store and analyze maps, weather data, and satellite images</a:t>
            </a:r>
          </a:p>
          <a:p>
            <a:r>
              <a:rPr lang="en-US" b="1" dirty="0"/>
              <a:t>Data warehouses </a:t>
            </a:r>
            <a:r>
              <a:rPr lang="en-US" dirty="0"/>
              <a:t>and </a:t>
            </a:r>
            <a:r>
              <a:rPr lang="en-US" b="1" dirty="0" err="1"/>
              <a:t>OnLine</a:t>
            </a:r>
            <a:r>
              <a:rPr lang="en-US" b="1" dirty="0"/>
              <a:t> Analytical Processing (OLAP) </a:t>
            </a:r>
            <a:r>
              <a:rPr lang="en-US" dirty="0"/>
              <a:t>systems are used in many companies to extract and analyze useful business information from very large databases to support decision making</a:t>
            </a:r>
          </a:p>
        </p:txBody>
      </p:sp>
      <p:sp>
        <p:nvSpPr>
          <p:cNvPr id="4" name="Slide Number Placeholder 3">
            <a:extLst>
              <a:ext uri="{FF2B5EF4-FFF2-40B4-BE49-F238E27FC236}">
                <a16:creationId xmlns:a16="http://schemas.microsoft.com/office/drawing/2014/main" id="{46100D19-1E23-39E7-BAF4-D58ABE56102E}"/>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3085086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534B-1F8B-C724-BD9B-E240267016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16D144-DF02-5FEF-217A-65615BE18AA0}"/>
              </a:ext>
            </a:extLst>
          </p:cNvPr>
          <p:cNvSpPr>
            <a:spLocks noGrp="1"/>
          </p:cNvSpPr>
          <p:nvPr>
            <p:ph idx="1"/>
          </p:nvPr>
        </p:nvSpPr>
        <p:spPr/>
        <p:txBody>
          <a:bodyPr>
            <a:noAutofit/>
          </a:bodyPr>
          <a:lstStyle/>
          <a:p>
            <a:r>
              <a:rPr lang="en-US" b="1" dirty="0"/>
              <a:t>Real-time </a:t>
            </a:r>
            <a:r>
              <a:rPr lang="en-US" dirty="0"/>
              <a:t>and </a:t>
            </a:r>
            <a:r>
              <a:rPr lang="en-US" b="1" dirty="0"/>
              <a:t>active database technology </a:t>
            </a:r>
            <a:r>
              <a:rPr lang="en-US" dirty="0"/>
              <a:t>is used to control industrial and manufacturing processes</a:t>
            </a:r>
          </a:p>
          <a:p>
            <a:r>
              <a:rPr lang="en-US" dirty="0"/>
              <a:t>database </a:t>
            </a:r>
            <a:r>
              <a:rPr lang="en-US" b="1" dirty="0"/>
              <a:t>search techniques </a:t>
            </a:r>
            <a:r>
              <a:rPr lang="en-US" dirty="0"/>
              <a:t>are being applied to World Wide Web to improve the search for information that is needed by users browsing the Internet</a:t>
            </a:r>
          </a:p>
          <a:p>
            <a:endParaRPr lang="en-US" dirty="0"/>
          </a:p>
        </p:txBody>
      </p:sp>
      <p:sp>
        <p:nvSpPr>
          <p:cNvPr id="4" name="Slide Number Placeholder 3">
            <a:extLst>
              <a:ext uri="{FF2B5EF4-FFF2-40B4-BE49-F238E27FC236}">
                <a16:creationId xmlns:a16="http://schemas.microsoft.com/office/drawing/2014/main" id="{B8168291-DCCB-4F64-19B9-87CE2680A514}"/>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4181806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D6373-A80F-F6C8-B5E5-2CCBE20671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AE89A8-0E36-D8B0-7BCE-22EA35B1B916}"/>
              </a:ext>
            </a:extLst>
          </p:cNvPr>
          <p:cNvSpPr>
            <a:spLocks noGrp="1"/>
          </p:cNvSpPr>
          <p:nvPr>
            <p:ph idx="1"/>
          </p:nvPr>
        </p:nvSpPr>
        <p:spPr/>
        <p:txBody>
          <a:bodyPr>
            <a:normAutofit/>
          </a:bodyPr>
          <a:lstStyle/>
          <a:p>
            <a:r>
              <a:rPr lang="en-US" dirty="0"/>
              <a:t>to understand the fundamentals of database technology, must start from the basics of traditional database applications</a:t>
            </a:r>
          </a:p>
        </p:txBody>
      </p:sp>
      <p:sp>
        <p:nvSpPr>
          <p:cNvPr id="4" name="Slide Number Placeholder 3">
            <a:extLst>
              <a:ext uri="{FF2B5EF4-FFF2-40B4-BE49-F238E27FC236}">
                <a16:creationId xmlns:a16="http://schemas.microsoft.com/office/drawing/2014/main" id="{248FBC06-EB49-FEAE-89D5-79D7193B0C9F}"/>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4250563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966-4005-4748-D3A2-A6C20A4A5B3E}"/>
              </a:ext>
            </a:extLst>
          </p:cNvPr>
          <p:cNvSpPr>
            <a:spLocks noGrp="1"/>
          </p:cNvSpPr>
          <p:nvPr>
            <p:ph type="title"/>
          </p:nvPr>
        </p:nvSpPr>
        <p:spPr/>
        <p:txBody>
          <a:bodyPr/>
          <a:lstStyle/>
          <a:p>
            <a:r>
              <a:rPr lang="en-US" dirty="0"/>
              <a:t>database</a:t>
            </a:r>
          </a:p>
        </p:txBody>
      </p:sp>
      <p:sp>
        <p:nvSpPr>
          <p:cNvPr id="3" name="Content Placeholder 2">
            <a:extLst>
              <a:ext uri="{FF2B5EF4-FFF2-40B4-BE49-F238E27FC236}">
                <a16:creationId xmlns:a16="http://schemas.microsoft.com/office/drawing/2014/main" id="{C0E29654-1C17-A248-1F3B-81185354FFC2}"/>
              </a:ext>
            </a:extLst>
          </p:cNvPr>
          <p:cNvSpPr>
            <a:spLocks noGrp="1"/>
          </p:cNvSpPr>
          <p:nvPr>
            <p:ph idx="1"/>
          </p:nvPr>
        </p:nvSpPr>
        <p:spPr>
          <a:xfrm>
            <a:off x="838200" y="1825625"/>
            <a:ext cx="11284974" cy="4351338"/>
          </a:xfrm>
        </p:spPr>
        <p:txBody>
          <a:bodyPr>
            <a:noAutofit/>
          </a:bodyPr>
          <a:lstStyle/>
          <a:p>
            <a:r>
              <a:rPr lang="en-US" dirty="0"/>
              <a:t>a </a:t>
            </a:r>
            <a:r>
              <a:rPr lang="en-US" b="1" dirty="0"/>
              <a:t>database </a:t>
            </a:r>
            <a:r>
              <a:rPr lang="en-US" dirty="0"/>
              <a:t>is a collection of related data</a:t>
            </a:r>
          </a:p>
          <a:p>
            <a:r>
              <a:rPr lang="en-US" dirty="0"/>
              <a:t>by </a:t>
            </a:r>
            <a:r>
              <a:rPr lang="en-US" b="1" dirty="0"/>
              <a:t>data</a:t>
            </a:r>
            <a:r>
              <a:rPr lang="en-US" dirty="0"/>
              <a:t>, mean known facts that can be recorded and that have meaning</a:t>
            </a:r>
          </a:p>
          <a:p>
            <a:endParaRPr lang="en-US" sz="1600" dirty="0"/>
          </a:p>
          <a:p>
            <a:r>
              <a:rPr lang="en-US" dirty="0"/>
              <a:t>for example, consider the names, telephone numbers, and addresses of the people you know; data is typically stored in mobile devices, which have their own simple SQLite database software</a:t>
            </a:r>
          </a:p>
          <a:p>
            <a:r>
              <a:rPr lang="en-US" dirty="0"/>
              <a:t>data can also be recorded in indexed address book or stored on a document in a file system on hard drive, using personal computer and software such as Microsoft Access or Excel, FileMaker, SQLite, … document databases</a:t>
            </a:r>
          </a:p>
          <a:p>
            <a:r>
              <a:rPr lang="en-US" b="1" dirty="0"/>
              <a:t>collection of related data with an implicit meaning is a database</a:t>
            </a:r>
          </a:p>
        </p:txBody>
      </p:sp>
      <p:sp>
        <p:nvSpPr>
          <p:cNvPr id="4" name="Slide Number Placeholder 3">
            <a:extLst>
              <a:ext uri="{FF2B5EF4-FFF2-40B4-BE49-F238E27FC236}">
                <a16:creationId xmlns:a16="http://schemas.microsoft.com/office/drawing/2014/main" id="{1DBCE49A-BCB4-28FF-DABB-C4A27D5E8BD3}"/>
              </a:ext>
            </a:extLst>
          </p:cNvPr>
          <p:cNvSpPr>
            <a:spLocks noGrp="1"/>
          </p:cNvSpPr>
          <p:nvPr>
            <p:ph type="sldNum" sz="quarter" idx="12"/>
          </p:nvPr>
        </p:nvSpPr>
        <p:spPr/>
        <p:txBody>
          <a:bodyPr/>
          <a:lstStyle/>
          <a:p>
            <a:fld id="{6264BDCF-5269-49AC-A246-ED26C2B980E3}" type="slidenum">
              <a:rPr lang="en-US" smtClean="0"/>
              <a:t>18</a:t>
            </a:fld>
            <a:endParaRPr lang="en-US" dirty="0"/>
          </a:p>
        </p:txBody>
      </p:sp>
    </p:spTree>
    <p:extLst>
      <p:ext uri="{BB962C8B-B14F-4D97-AF65-F5344CB8AC3E}">
        <p14:creationId xmlns:p14="http://schemas.microsoft.com/office/powerpoint/2010/main" val="567070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F122-C58F-C95E-1F7A-291FD4166811}"/>
              </a:ext>
            </a:extLst>
          </p:cNvPr>
          <p:cNvSpPr>
            <a:spLocks noGrp="1"/>
          </p:cNvSpPr>
          <p:nvPr>
            <p:ph type="title"/>
          </p:nvPr>
        </p:nvSpPr>
        <p:spPr/>
        <p:txBody>
          <a:bodyPr/>
          <a:lstStyle/>
          <a:p>
            <a:r>
              <a:rPr lang="en-US" dirty="0"/>
              <a:t>database properties</a:t>
            </a:r>
          </a:p>
        </p:txBody>
      </p:sp>
      <p:sp>
        <p:nvSpPr>
          <p:cNvPr id="3" name="Content Placeholder 2">
            <a:extLst>
              <a:ext uri="{FF2B5EF4-FFF2-40B4-BE49-F238E27FC236}">
                <a16:creationId xmlns:a16="http://schemas.microsoft.com/office/drawing/2014/main" id="{6F9CACE8-0993-B6EF-FCF8-8D48D7ADB098}"/>
              </a:ext>
            </a:extLst>
          </p:cNvPr>
          <p:cNvSpPr>
            <a:spLocks noGrp="1"/>
          </p:cNvSpPr>
          <p:nvPr>
            <p:ph idx="1"/>
          </p:nvPr>
        </p:nvSpPr>
        <p:spPr/>
        <p:txBody>
          <a:bodyPr>
            <a:normAutofit/>
          </a:bodyPr>
          <a:lstStyle/>
          <a:p>
            <a:r>
              <a:rPr lang="en-US" dirty="0"/>
              <a:t>database represents some aspect of real world, sometimes called domain, </a:t>
            </a:r>
            <a:r>
              <a:rPr lang="en-US" dirty="0" err="1"/>
              <a:t>miniworld</a:t>
            </a:r>
            <a:r>
              <a:rPr lang="en-US" dirty="0"/>
              <a:t> or universe of discourse; changes to </a:t>
            </a:r>
            <a:r>
              <a:rPr lang="en-US" dirty="0" err="1"/>
              <a:t>miniworld</a:t>
            </a:r>
            <a:r>
              <a:rPr lang="en-US" dirty="0"/>
              <a:t> are reflected in the database</a:t>
            </a:r>
          </a:p>
          <a:p>
            <a:r>
              <a:rPr lang="en-US" dirty="0"/>
              <a:t>database is a logically coherent collection of data with some inherent meaning - random assortment of data cannot be referred to as database</a:t>
            </a:r>
          </a:p>
          <a:p>
            <a:r>
              <a:rPr lang="en-US" dirty="0"/>
              <a:t>database is designed, built, and loaded with data for specific purpose; has an intended group of users and some preconceived applications in which these users are interested</a:t>
            </a:r>
          </a:p>
        </p:txBody>
      </p:sp>
      <p:sp>
        <p:nvSpPr>
          <p:cNvPr id="4" name="Slide Number Placeholder 3">
            <a:extLst>
              <a:ext uri="{FF2B5EF4-FFF2-40B4-BE49-F238E27FC236}">
                <a16:creationId xmlns:a16="http://schemas.microsoft.com/office/drawing/2014/main" id="{7F7C4A21-A099-9458-6339-83A1AF03DEAF}"/>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2066777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71F3-F62B-DC6D-4ACE-8AAF7E8FBF80}"/>
              </a:ext>
            </a:extLst>
          </p:cNvPr>
          <p:cNvSpPr>
            <a:spLocks noGrp="1"/>
          </p:cNvSpPr>
          <p:nvPr>
            <p:ph type="title"/>
          </p:nvPr>
        </p:nvSpPr>
        <p:spPr/>
        <p:txBody>
          <a:bodyPr/>
          <a:lstStyle/>
          <a:p>
            <a:r>
              <a:rPr lang="en-US" dirty="0"/>
              <a:t>database has</a:t>
            </a:r>
          </a:p>
        </p:txBody>
      </p:sp>
      <p:sp>
        <p:nvSpPr>
          <p:cNvPr id="3" name="Content Placeholder 2">
            <a:extLst>
              <a:ext uri="{FF2B5EF4-FFF2-40B4-BE49-F238E27FC236}">
                <a16:creationId xmlns:a16="http://schemas.microsoft.com/office/drawing/2014/main" id="{13332010-8335-8985-37EE-2FCBD03022C2}"/>
              </a:ext>
            </a:extLst>
          </p:cNvPr>
          <p:cNvSpPr>
            <a:spLocks noGrp="1"/>
          </p:cNvSpPr>
          <p:nvPr>
            <p:ph idx="1"/>
          </p:nvPr>
        </p:nvSpPr>
        <p:spPr/>
        <p:txBody>
          <a:bodyPr>
            <a:normAutofit/>
          </a:bodyPr>
          <a:lstStyle/>
          <a:p>
            <a:r>
              <a:rPr lang="en-US" dirty="0"/>
              <a:t>some source from which data is derived</a:t>
            </a:r>
          </a:p>
          <a:p>
            <a:r>
              <a:rPr lang="en-US" dirty="0"/>
              <a:t>some degree of interaction with events in real world</a:t>
            </a:r>
          </a:p>
          <a:p>
            <a:r>
              <a:rPr lang="en-US" dirty="0"/>
              <a:t>audience that is actively interested in its contents</a:t>
            </a:r>
          </a:p>
          <a:p>
            <a:endParaRPr lang="en-US" sz="1700" dirty="0"/>
          </a:p>
          <a:p>
            <a:endParaRPr lang="en-US" sz="1700" dirty="0"/>
          </a:p>
          <a:p>
            <a:endParaRPr lang="en-US" sz="1700" dirty="0"/>
          </a:p>
          <a:p>
            <a:r>
              <a:rPr lang="en-US" dirty="0"/>
              <a:t>users of a database may perform business transactions</a:t>
            </a:r>
          </a:p>
          <a:p>
            <a:endParaRPr lang="en-US" sz="1600" dirty="0"/>
          </a:p>
          <a:p>
            <a:endParaRPr lang="en-US" sz="1600" dirty="0"/>
          </a:p>
          <a:p>
            <a:r>
              <a:rPr lang="en-US" dirty="0"/>
              <a:t>database can be of any size and complexity</a:t>
            </a:r>
          </a:p>
        </p:txBody>
      </p:sp>
      <p:sp>
        <p:nvSpPr>
          <p:cNvPr id="4" name="Slide Number Placeholder 3">
            <a:extLst>
              <a:ext uri="{FF2B5EF4-FFF2-40B4-BE49-F238E27FC236}">
                <a16:creationId xmlns:a16="http://schemas.microsoft.com/office/drawing/2014/main" id="{739C0523-5231-698A-268F-5EE6CEEC129C}"/>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27147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4A53B-8DD9-FEC5-C544-86C8F28CBD28}"/>
              </a:ext>
            </a:extLst>
          </p:cNvPr>
          <p:cNvSpPr>
            <a:spLocks noGrp="1"/>
          </p:cNvSpPr>
          <p:nvPr>
            <p:ph type="title"/>
          </p:nvPr>
        </p:nvSpPr>
        <p:spPr/>
        <p:txBody>
          <a:bodyPr/>
          <a:lstStyle/>
          <a:p>
            <a:r>
              <a:rPr lang="en-US" dirty="0"/>
              <a:t>database may be</a:t>
            </a:r>
          </a:p>
        </p:txBody>
      </p:sp>
      <p:sp>
        <p:nvSpPr>
          <p:cNvPr id="3" name="Content Placeholder 2">
            <a:extLst>
              <a:ext uri="{FF2B5EF4-FFF2-40B4-BE49-F238E27FC236}">
                <a16:creationId xmlns:a16="http://schemas.microsoft.com/office/drawing/2014/main" id="{0DE12BCD-3BF0-D217-2F17-13BAC2100E4B}"/>
              </a:ext>
            </a:extLst>
          </p:cNvPr>
          <p:cNvSpPr>
            <a:spLocks noGrp="1"/>
          </p:cNvSpPr>
          <p:nvPr>
            <p:ph idx="1"/>
          </p:nvPr>
        </p:nvSpPr>
        <p:spPr/>
        <p:txBody>
          <a:bodyPr/>
          <a:lstStyle/>
          <a:p>
            <a:r>
              <a:rPr lang="en-US" dirty="0"/>
              <a:t>generated and maintained manually by hand </a:t>
            </a:r>
          </a:p>
          <a:p>
            <a:r>
              <a:rPr lang="en-US" dirty="0"/>
              <a:t>or it may be computerized in file systems, Excel or a database server </a:t>
            </a:r>
          </a:p>
        </p:txBody>
      </p:sp>
      <p:sp>
        <p:nvSpPr>
          <p:cNvPr id="4" name="Slide Number Placeholder 3">
            <a:extLst>
              <a:ext uri="{FF2B5EF4-FFF2-40B4-BE49-F238E27FC236}">
                <a16:creationId xmlns:a16="http://schemas.microsoft.com/office/drawing/2014/main" id="{0F2DA324-A049-2BFF-BBA1-8DE16E904A6A}"/>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3285249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B4CE2-A371-0570-F3C4-2130B1684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3155C-028E-F620-3D20-A352A57EA9B2}"/>
              </a:ext>
            </a:extLst>
          </p:cNvPr>
          <p:cNvSpPr>
            <a:spLocks noGrp="1"/>
          </p:cNvSpPr>
          <p:nvPr>
            <p:ph type="title"/>
          </p:nvPr>
        </p:nvSpPr>
        <p:spPr/>
        <p:txBody>
          <a:bodyPr/>
          <a:lstStyle/>
          <a:p>
            <a:r>
              <a:rPr lang="en-US" dirty="0"/>
              <a:t>database</a:t>
            </a:r>
          </a:p>
        </p:txBody>
      </p:sp>
      <p:sp>
        <p:nvSpPr>
          <p:cNvPr id="3" name="Content Placeholder 2">
            <a:extLst>
              <a:ext uri="{FF2B5EF4-FFF2-40B4-BE49-F238E27FC236}">
                <a16:creationId xmlns:a16="http://schemas.microsoft.com/office/drawing/2014/main" id="{B04BB816-D3FB-FBF1-4696-C6DCD3339E48}"/>
              </a:ext>
            </a:extLst>
          </p:cNvPr>
          <p:cNvSpPr>
            <a:spLocks noGrp="1"/>
          </p:cNvSpPr>
          <p:nvPr>
            <p:ph idx="1"/>
          </p:nvPr>
        </p:nvSpPr>
        <p:spPr>
          <a:xfrm>
            <a:off x="838200" y="1825625"/>
            <a:ext cx="11284974" cy="4351338"/>
          </a:xfrm>
        </p:spPr>
        <p:txBody>
          <a:bodyPr>
            <a:noAutofit/>
          </a:bodyPr>
          <a:lstStyle/>
          <a:p>
            <a:r>
              <a:rPr lang="en-US" dirty="0"/>
              <a:t>a </a:t>
            </a:r>
            <a:r>
              <a:rPr lang="en-US" b="1" dirty="0"/>
              <a:t>database </a:t>
            </a:r>
            <a:r>
              <a:rPr lang="en-US" dirty="0"/>
              <a:t>is a collection of related data</a:t>
            </a:r>
          </a:p>
          <a:p>
            <a:r>
              <a:rPr lang="en-US" dirty="0"/>
              <a:t>by </a:t>
            </a:r>
            <a:r>
              <a:rPr lang="en-US" b="1" dirty="0"/>
              <a:t>data</a:t>
            </a:r>
            <a:r>
              <a:rPr lang="en-US" dirty="0"/>
              <a:t>, mean known facts that can be recorded and that have meaning</a:t>
            </a:r>
          </a:p>
          <a:p>
            <a:endParaRPr lang="en-US" sz="1600" dirty="0"/>
          </a:p>
          <a:p>
            <a:r>
              <a:rPr lang="en-US" dirty="0"/>
              <a:t>for example, consider the names, telephone numbers, and addresses of the people you know; data is typically stored in mobile devices, which have their own simple SQLite database software</a:t>
            </a:r>
          </a:p>
          <a:p>
            <a:r>
              <a:rPr lang="en-US" dirty="0"/>
              <a:t>data can also be recorded in indexed address book or stored on a document in a file system on hard drive, using personal computer and software such as Microsoft Access or Excel, FileMaker, SQLite, … document databases</a:t>
            </a:r>
          </a:p>
          <a:p>
            <a:r>
              <a:rPr lang="en-US" b="1" dirty="0"/>
              <a:t>collection of related data with an implicit meaning is a database</a:t>
            </a:r>
          </a:p>
        </p:txBody>
      </p:sp>
      <p:sp>
        <p:nvSpPr>
          <p:cNvPr id="4" name="Slide Number Placeholder 3">
            <a:extLst>
              <a:ext uri="{FF2B5EF4-FFF2-40B4-BE49-F238E27FC236}">
                <a16:creationId xmlns:a16="http://schemas.microsoft.com/office/drawing/2014/main" id="{B063048F-3B66-78EA-49B3-835590EE167F}"/>
              </a:ext>
            </a:extLst>
          </p:cNvPr>
          <p:cNvSpPr>
            <a:spLocks noGrp="1"/>
          </p:cNvSpPr>
          <p:nvPr>
            <p:ph type="sldNum" sz="quarter" idx="12"/>
          </p:nvPr>
        </p:nvSpPr>
        <p:spPr/>
        <p:txBody>
          <a:bodyPr/>
          <a:lstStyle/>
          <a:p>
            <a:fld id="{6264BDCF-5269-49AC-A246-ED26C2B980E3}" type="slidenum">
              <a:rPr lang="en-US" smtClean="0"/>
              <a:t>22</a:t>
            </a:fld>
            <a:endParaRPr lang="en-US" dirty="0"/>
          </a:p>
        </p:txBody>
      </p:sp>
    </p:spTree>
    <p:extLst>
      <p:ext uri="{BB962C8B-B14F-4D97-AF65-F5344CB8AC3E}">
        <p14:creationId xmlns:p14="http://schemas.microsoft.com/office/powerpoint/2010/main" val="2717735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B863-3186-FC73-2446-A9EBF696CAE9}"/>
              </a:ext>
            </a:extLst>
          </p:cNvPr>
          <p:cNvSpPr>
            <a:spLocks noGrp="1"/>
          </p:cNvSpPr>
          <p:nvPr>
            <p:ph type="title"/>
          </p:nvPr>
        </p:nvSpPr>
        <p:spPr/>
        <p:txBody>
          <a:bodyPr/>
          <a:lstStyle/>
          <a:p>
            <a:r>
              <a:rPr lang="en-US" dirty="0" err="1"/>
              <a:t>DataBase</a:t>
            </a:r>
            <a:r>
              <a:rPr lang="en-US" dirty="0"/>
              <a:t> Management System (DBMS)</a:t>
            </a:r>
          </a:p>
        </p:txBody>
      </p:sp>
      <p:sp>
        <p:nvSpPr>
          <p:cNvPr id="3" name="Content Placeholder 2">
            <a:extLst>
              <a:ext uri="{FF2B5EF4-FFF2-40B4-BE49-F238E27FC236}">
                <a16:creationId xmlns:a16="http://schemas.microsoft.com/office/drawing/2014/main" id="{25535E83-725D-639E-567A-40E2F7230F43}"/>
              </a:ext>
            </a:extLst>
          </p:cNvPr>
          <p:cNvSpPr>
            <a:spLocks noGrp="1"/>
          </p:cNvSpPr>
          <p:nvPr>
            <p:ph idx="1"/>
          </p:nvPr>
        </p:nvSpPr>
        <p:spPr/>
        <p:txBody>
          <a:bodyPr/>
          <a:lstStyle/>
          <a:p>
            <a:r>
              <a:rPr lang="en-US" dirty="0"/>
              <a:t>is a computerized system that enables users to create and maintain a database</a:t>
            </a:r>
          </a:p>
          <a:p>
            <a:r>
              <a:rPr lang="en-US" dirty="0"/>
              <a:t>software system that facilitates processes of </a:t>
            </a:r>
            <a:r>
              <a:rPr lang="en-US" i="1" dirty="0"/>
              <a:t>defining, constructing, manipulating, </a:t>
            </a:r>
            <a:r>
              <a:rPr lang="en-US" dirty="0"/>
              <a:t>and</a:t>
            </a:r>
            <a:r>
              <a:rPr lang="en-US" i="1" dirty="0"/>
              <a:t> sharing</a:t>
            </a:r>
            <a:r>
              <a:rPr lang="en-US" dirty="0"/>
              <a:t> databases among various users and applications</a:t>
            </a:r>
          </a:p>
        </p:txBody>
      </p:sp>
      <p:sp>
        <p:nvSpPr>
          <p:cNvPr id="4" name="Slide Number Placeholder 3">
            <a:extLst>
              <a:ext uri="{FF2B5EF4-FFF2-40B4-BE49-F238E27FC236}">
                <a16:creationId xmlns:a16="http://schemas.microsoft.com/office/drawing/2014/main" id="{8F12D2A4-35B0-4AD8-F051-DD748F544DDB}"/>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3477165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F170-5BED-0CB8-95A6-827751F93F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ADC678-9F2C-A123-ED3F-C9E39CC4A382}"/>
              </a:ext>
            </a:extLst>
          </p:cNvPr>
          <p:cNvSpPr>
            <a:spLocks noGrp="1"/>
          </p:cNvSpPr>
          <p:nvPr>
            <p:ph idx="1"/>
          </p:nvPr>
        </p:nvSpPr>
        <p:spPr/>
        <p:txBody>
          <a:bodyPr>
            <a:noAutofit/>
          </a:bodyPr>
          <a:lstStyle/>
          <a:p>
            <a:r>
              <a:rPr lang="en-US" sz="2700" b="1" dirty="0"/>
              <a:t>defining </a:t>
            </a:r>
            <a:r>
              <a:rPr lang="en-US" sz="2700" dirty="0"/>
              <a:t>database involves specifying data types, structures, and constraints of data to be stored in database - database definition or descriptive information is stored by </a:t>
            </a:r>
            <a:r>
              <a:rPr lang="en-US" sz="2700" dirty="0" err="1"/>
              <a:t>tDBMS</a:t>
            </a:r>
            <a:r>
              <a:rPr lang="en-US" sz="2700" dirty="0"/>
              <a:t> in the form of a database catalog or dictionary called </a:t>
            </a:r>
            <a:r>
              <a:rPr lang="en-US" sz="2700" i="1" dirty="0"/>
              <a:t>meta-data</a:t>
            </a:r>
          </a:p>
          <a:p>
            <a:r>
              <a:rPr lang="en-US" sz="2700" b="1" dirty="0"/>
              <a:t>constructing </a:t>
            </a:r>
            <a:r>
              <a:rPr lang="en-US" sz="2700" dirty="0"/>
              <a:t>database is the process of storing data on some storage medium that is controlled by DBMS</a:t>
            </a:r>
          </a:p>
          <a:p>
            <a:r>
              <a:rPr lang="en-US" sz="2700" b="1" dirty="0"/>
              <a:t>manipulating </a:t>
            </a:r>
            <a:r>
              <a:rPr lang="en-US" sz="2700" dirty="0"/>
              <a:t>database includes functions such as querying database to retrieve specific data, updating database to reflect changes in the </a:t>
            </a:r>
            <a:r>
              <a:rPr lang="en-US" sz="2700" dirty="0" err="1"/>
              <a:t>miniworld</a:t>
            </a:r>
            <a:r>
              <a:rPr lang="en-US" sz="2700" dirty="0"/>
              <a:t>, and generating reports from data</a:t>
            </a:r>
          </a:p>
          <a:p>
            <a:r>
              <a:rPr lang="en-US" sz="2700" b="1" dirty="0"/>
              <a:t>sharing </a:t>
            </a:r>
            <a:r>
              <a:rPr lang="en-US" sz="2700" dirty="0"/>
              <a:t>database allows multiple users and programs to access the database simultaneously</a:t>
            </a:r>
          </a:p>
        </p:txBody>
      </p:sp>
      <p:sp>
        <p:nvSpPr>
          <p:cNvPr id="4" name="Slide Number Placeholder 3">
            <a:extLst>
              <a:ext uri="{FF2B5EF4-FFF2-40B4-BE49-F238E27FC236}">
                <a16:creationId xmlns:a16="http://schemas.microsoft.com/office/drawing/2014/main" id="{FE68F32C-E106-1EFA-9221-C4663B7133CC}"/>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1207361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0BF8-8B58-3080-C069-0036A2D9A1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6380E0-195D-FAB8-B63C-07A7DEAEAB49}"/>
              </a:ext>
            </a:extLst>
          </p:cNvPr>
          <p:cNvSpPr>
            <a:spLocks noGrp="1"/>
          </p:cNvSpPr>
          <p:nvPr>
            <p:ph idx="1"/>
          </p:nvPr>
        </p:nvSpPr>
        <p:spPr/>
        <p:txBody>
          <a:bodyPr/>
          <a:lstStyle/>
          <a:p>
            <a:r>
              <a:rPr lang="en-US" dirty="0"/>
              <a:t>a database application program accesses database by sending queries or requests for data to the DBMS</a:t>
            </a:r>
          </a:p>
          <a:p>
            <a:r>
              <a:rPr lang="en-US" dirty="0"/>
              <a:t>query typically causes some data to be retrieved</a:t>
            </a:r>
          </a:p>
          <a:p>
            <a:r>
              <a:rPr lang="en-US" dirty="0"/>
              <a:t>transaction may cause some data to be read and some data to be written into database</a:t>
            </a:r>
          </a:p>
        </p:txBody>
      </p:sp>
      <p:sp>
        <p:nvSpPr>
          <p:cNvPr id="4" name="Slide Number Placeholder 3">
            <a:extLst>
              <a:ext uri="{FF2B5EF4-FFF2-40B4-BE49-F238E27FC236}">
                <a16:creationId xmlns:a16="http://schemas.microsoft.com/office/drawing/2014/main" id="{AECDC7C8-2B4C-B4B4-A0BE-C250CF58A60D}"/>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114964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8B02-6B0B-787C-FCEF-0F53EF3E3CEA}"/>
              </a:ext>
            </a:extLst>
          </p:cNvPr>
          <p:cNvSpPr>
            <a:spLocks noGrp="1"/>
          </p:cNvSpPr>
          <p:nvPr>
            <p:ph type="title"/>
          </p:nvPr>
        </p:nvSpPr>
        <p:spPr/>
        <p:txBody>
          <a:bodyPr/>
          <a:lstStyle/>
          <a:p>
            <a:r>
              <a:rPr lang="en-US" dirty="0"/>
              <a:t>Example University database</a:t>
            </a:r>
          </a:p>
        </p:txBody>
      </p:sp>
      <p:sp>
        <p:nvSpPr>
          <p:cNvPr id="3" name="Content Placeholder 2">
            <a:extLst>
              <a:ext uri="{FF2B5EF4-FFF2-40B4-BE49-F238E27FC236}">
                <a16:creationId xmlns:a16="http://schemas.microsoft.com/office/drawing/2014/main" id="{4455DF95-F100-5F73-2855-B93E3802E2E3}"/>
              </a:ext>
            </a:extLst>
          </p:cNvPr>
          <p:cNvSpPr>
            <a:spLocks noGrp="1"/>
          </p:cNvSpPr>
          <p:nvPr>
            <p:ph idx="1"/>
          </p:nvPr>
        </p:nvSpPr>
        <p:spPr/>
        <p:txBody>
          <a:bodyPr>
            <a:normAutofit/>
          </a:bodyPr>
          <a:lstStyle/>
          <a:p>
            <a:r>
              <a:rPr lang="en-US" dirty="0"/>
              <a:t>for maintaining information concerning students, courses, and grades in a university environment</a:t>
            </a:r>
          </a:p>
          <a:p>
            <a:r>
              <a:rPr lang="en-US" dirty="0"/>
              <a:t>database is organized as five files</a:t>
            </a:r>
          </a:p>
          <a:p>
            <a:pPr marL="971550" lvl="1" indent="-514350">
              <a:buFont typeface="+mj-lt"/>
              <a:buAutoNum type="arabicPeriod"/>
            </a:pPr>
            <a:r>
              <a:rPr lang="en-US" sz="2500" dirty="0"/>
              <a:t>STUDENT file stores data on each student</a:t>
            </a:r>
          </a:p>
          <a:p>
            <a:pPr marL="971550" lvl="1" indent="-514350">
              <a:buFont typeface="+mj-lt"/>
              <a:buAutoNum type="arabicPeriod"/>
            </a:pPr>
            <a:r>
              <a:rPr lang="en-US" sz="2500" dirty="0"/>
              <a:t>COURSE file stores data on each course (</a:t>
            </a:r>
            <a:r>
              <a:rPr lang="en-US" sz="2500" dirty="0" err="1"/>
              <a:t>DataBase</a:t>
            </a:r>
            <a:r>
              <a:rPr lang="en-US" sz="2500" dirty="0"/>
              <a:t> is course)</a:t>
            </a:r>
          </a:p>
          <a:p>
            <a:pPr marL="971550" lvl="1" indent="-514350">
              <a:buFont typeface="+mj-lt"/>
              <a:buAutoNum type="arabicPeriod"/>
            </a:pPr>
            <a:r>
              <a:rPr lang="en-US" sz="2500" dirty="0"/>
              <a:t>SECTION file stores data on each section of a course (</a:t>
            </a:r>
            <a:r>
              <a:rPr lang="en-US" sz="2500" dirty="0" err="1"/>
              <a:t>DataBase</a:t>
            </a:r>
            <a:r>
              <a:rPr lang="en-US" sz="2500" dirty="0"/>
              <a:t> English 1</a:t>
            </a:r>
            <a:r>
              <a:rPr lang="en-US" sz="2500" baseline="30000" dirty="0"/>
              <a:t>st</a:t>
            </a:r>
            <a:r>
              <a:rPr lang="en-US" sz="2500" dirty="0"/>
              <a:t> series and 2</a:t>
            </a:r>
            <a:r>
              <a:rPr lang="en-US" sz="2500" baseline="30000" dirty="0"/>
              <a:t>nd</a:t>
            </a:r>
            <a:r>
              <a:rPr lang="en-US" sz="2500" dirty="0"/>
              <a:t> series are section) </a:t>
            </a:r>
          </a:p>
          <a:p>
            <a:pPr marL="971550" lvl="1" indent="-514350">
              <a:buFont typeface="+mj-lt"/>
              <a:buAutoNum type="arabicPeriod"/>
            </a:pPr>
            <a:r>
              <a:rPr lang="en-US" sz="2500" dirty="0"/>
              <a:t>GRADE_REPORT file stores grades that students receive</a:t>
            </a:r>
          </a:p>
          <a:p>
            <a:pPr marL="971550" lvl="1" indent="-514350">
              <a:buFont typeface="+mj-lt"/>
              <a:buAutoNum type="arabicPeriod"/>
            </a:pPr>
            <a:r>
              <a:rPr lang="en-US" sz="2500" dirty="0"/>
              <a:t>PREREQUISITE stores the prerequisites of each course</a:t>
            </a:r>
          </a:p>
        </p:txBody>
      </p:sp>
      <p:sp>
        <p:nvSpPr>
          <p:cNvPr id="4" name="Slide Number Placeholder 3">
            <a:extLst>
              <a:ext uri="{FF2B5EF4-FFF2-40B4-BE49-F238E27FC236}">
                <a16:creationId xmlns:a16="http://schemas.microsoft.com/office/drawing/2014/main" id="{0EBA59A0-0058-3290-501A-8209B813D573}"/>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2190217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0106-CE08-C100-0665-E73147F36A1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9AA0BFEA-A893-83CD-6F2D-B64CA804065D}"/>
              </a:ext>
            </a:extLst>
          </p:cNvPr>
          <p:cNvPicPr>
            <a:picLocks noGrp="1" noChangeAspect="1"/>
          </p:cNvPicPr>
          <p:nvPr>
            <p:ph idx="1"/>
          </p:nvPr>
        </p:nvPicPr>
        <p:blipFill>
          <a:blip r:embed="rId2"/>
          <a:stretch>
            <a:fillRect/>
          </a:stretch>
        </p:blipFill>
        <p:spPr>
          <a:xfrm>
            <a:off x="838200" y="365124"/>
            <a:ext cx="10935153" cy="3063875"/>
          </a:xfrm>
        </p:spPr>
      </p:pic>
      <p:sp>
        <p:nvSpPr>
          <p:cNvPr id="4" name="Slide Number Placeholder 3">
            <a:extLst>
              <a:ext uri="{FF2B5EF4-FFF2-40B4-BE49-F238E27FC236}">
                <a16:creationId xmlns:a16="http://schemas.microsoft.com/office/drawing/2014/main" id="{83B55B5F-6CFC-B5B6-1986-CC14FD168E5C}"/>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3350262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462C-3BA1-56D2-E41F-997F56C84D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71BBCA-4CAB-F689-524B-250964761F9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BC26F06-6045-9BEA-2623-4D676B6D6B0A}"/>
              </a:ext>
            </a:extLst>
          </p:cNvPr>
          <p:cNvSpPr>
            <a:spLocks noGrp="1"/>
          </p:cNvSpPr>
          <p:nvPr>
            <p:ph type="sldNum" sz="quarter" idx="12"/>
          </p:nvPr>
        </p:nvSpPr>
        <p:spPr/>
        <p:txBody>
          <a:bodyPr/>
          <a:lstStyle/>
          <a:p>
            <a:fld id="{6264BDCF-5269-49AC-A246-ED26C2B980E3}" type="slidenum">
              <a:rPr lang="en-US" smtClean="0"/>
              <a:t>28</a:t>
            </a:fld>
            <a:endParaRPr lang="en-US"/>
          </a:p>
        </p:txBody>
      </p:sp>
      <p:pic>
        <p:nvPicPr>
          <p:cNvPr id="6" name="Picture 5">
            <a:extLst>
              <a:ext uri="{FF2B5EF4-FFF2-40B4-BE49-F238E27FC236}">
                <a16:creationId xmlns:a16="http://schemas.microsoft.com/office/drawing/2014/main" id="{4A174EFB-52E9-3A6D-6A51-F3BA8B07090C}"/>
              </a:ext>
            </a:extLst>
          </p:cNvPr>
          <p:cNvPicPr>
            <a:picLocks noChangeAspect="1"/>
          </p:cNvPicPr>
          <p:nvPr/>
        </p:nvPicPr>
        <p:blipFill>
          <a:blip r:embed="rId2"/>
          <a:stretch>
            <a:fillRect/>
          </a:stretch>
        </p:blipFill>
        <p:spPr>
          <a:xfrm>
            <a:off x="838200" y="365125"/>
            <a:ext cx="10693228" cy="3140075"/>
          </a:xfrm>
          <a:prstGeom prst="rect">
            <a:avLst/>
          </a:prstGeom>
        </p:spPr>
      </p:pic>
    </p:spTree>
    <p:extLst>
      <p:ext uri="{BB962C8B-B14F-4D97-AF65-F5344CB8AC3E}">
        <p14:creationId xmlns:p14="http://schemas.microsoft.com/office/powerpoint/2010/main" val="2880380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7E23F-00CE-5435-444A-BA7EBE246A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2D0C1-4611-6B82-98C0-4289EE55874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81033B5-F794-C2E7-F787-183174FED21F}"/>
              </a:ext>
            </a:extLst>
          </p:cNvPr>
          <p:cNvSpPr>
            <a:spLocks noGrp="1"/>
          </p:cNvSpPr>
          <p:nvPr>
            <p:ph type="sldNum" sz="quarter" idx="12"/>
          </p:nvPr>
        </p:nvSpPr>
        <p:spPr/>
        <p:txBody>
          <a:bodyPr/>
          <a:lstStyle/>
          <a:p>
            <a:fld id="{6264BDCF-5269-49AC-A246-ED26C2B980E3}" type="slidenum">
              <a:rPr lang="en-US" smtClean="0"/>
              <a:t>29</a:t>
            </a:fld>
            <a:endParaRPr lang="en-US"/>
          </a:p>
        </p:txBody>
      </p:sp>
      <p:pic>
        <p:nvPicPr>
          <p:cNvPr id="6" name="Picture 5">
            <a:extLst>
              <a:ext uri="{FF2B5EF4-FFF2-40B4-BE49-F238E27FC236}">
                <a16:creationId xmlns:a16="http://schemas.microsoft.com/office/drawing/2014/main" id="{77BCB014-4274-5F8A-FA96-D841C17E1841}"/>
              </a:ext>
            </a:extLst>
          </p:cNvPr>
          <p:cNvPicPr>
            <a:picLocks noChangeAspect="1"/>
          </p:cNvPicPr>
          <p:nvPr/>
        </p:nvPicPr>
        <p:blipFill>
          <a:blip r:embed="rId2"/>
          <a:stretch>
            <a:fillRect/>
          </a:stretch>
        </p:blipFill>
        <p:spPr>
          <a:xfrm>
            <a:off x="838199" y="365125"/>
            <a:ext cx="10595135" cy="4044315"/>
          </a:xfrm>
          <a:prstGeom prst="rect">
            <a:avLst/>
          </a:prstGeom>
        </p:spPr>
      </p:pic>
    </p:spTree>
    <p:extLst>
      <p:ext uri="{BB962C8B-B14F-4D97-AF65-F5344CB8AC3E}">
        <p14:creationId xmlns:p14="http://schemas.microsoft.com/office/powerpoint/2010/main" val="4274145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63CC-4F7D-0380-D5D1-D970FA9EA3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E11C29-4465-2F10-EE82-84011424434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352645A-D058-21E9-F77A-766BF1E08D45}"/>
              </a:ext>
            </a:extLst>
          </p:cNvPr>
          <p:cNvSpPr>
            <a:spLocks noGrp="1"/>
          </p:cNvSpPr>
          <p:nvPr>
            <p:ph type="sldNum" sz="quarter" idx="12"/>
          </p:nvPr>
        </p:nvSpPr>
        <p:spPr/>
        <p:txBody>
          <a:bodyPr/>
          <a:lstStyle/>
          <a:p>
            <a:fld id="{6264BDCF-5269-49AC-A246-ED26C2B980E3}" type="slidenum">
              <a:rPr lang="en-US" smtClean="0"/>
              <a:t>30</a:t>
            </a:fld>
            <a:endParaRPr lang="en-US"/>
          </a:p>
        </p:txBody>
      </p:sp>
      <p:pic>
        <p:nvPicPr>
          <p:cNvPr id="6" name="Picture 5">
            <a:extLst>
              <a:ext uri="{FF2B5EF4-FFF2-40B4-BE49-F238E27FC236}">
                <a16:creationId xmlns:a16="http://schemas.microsoft.com/office/drawing/2014/main" id="{C1C832F4-6D02-E591-A0C6-737ED31B6D67}"/>
              </a:ext>
            </a:extLst>
          </p:cNvPr>
          <p:cNvPicPr>
            <a:picLocks noChangeAspect="1"/>
          </p:cNvPicPr>
          <p:nvPr/>
        </p:nvPicPr>
        <p:blipFill>
          <a:blip r:embed="rId2"/>
          <a:stretch>
            <a:fillRect/>
          </a:stretch>
        </p:blipFill>
        <p:spPr>
          <a:xfrm>
            <a:off x="838200" y="365125"/>
            <a:ext cx="10601960" cy="5498533"/>
          </a:xfrm>
          <a:prstGeom prst="rect">
            <a:avLst/>
          </a:prstGeom>
        </p:spPr>
      </p:pic>
    </p:spTree>
    <p:extLst>
      <p:ext uri="{BB962C8B-B14F-4D97-AF65-F5344CB8AC3E}">
        <p14:creationId xmlns:p14="http://schemas.microsoft.com/office/powerpoint/2010/main" val="2618629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8744-F8B1-E659-8BE9-C387844BB90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7498B4CC-1BE0-DD26-4A77-99F35B07010E}"/>
              </a:ext>
            </a:extLst>
          </p:cNvPr>
          <p:cNvPicPr>
            <a:picLocks noGrp="1" noChangeAspect="1"/>
          </p:cNvPicPr>
          <p:nvPr>
            <p:ph idx="1"/>
          </p:nvPr>
        </p:nvPicPr>
        <p:blipFill>
          <a:blip r:embed="rId2"/>
          <a:stretch>
            <a:fillRect/>
          </a:stretch>
        </p:blipFill>
        <p:spPr>
          <a:xfrm>
            <a:off x="838200" y="365125"/>
            <a:ext cx="10866368" cy="4603115"/>
          </a:xfrm>
        </p:spPr>
      </p:pic>
      <p:sp>
        <p:nvSpPr>
          <p:cNvPr id="4" name="Slide Number Placeholder 3">
            <a:extLst>
              <a:ext uri="{FF2B5EF4-FFF2-40B4-BE49-F238E27FC236}">
                <a16:creationId xmlns:a16="http://schemas.microsoft.com/office/drawing/2014/main" id="{BA40A76A-F43C-108A-0338-CB5AA7EF010A}"/>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1203873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F2F92-4C43-1477-8465-D09A18F4A4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413DAE-5814-4245-A036-8709D1CFC7B9}"/>
              </a:ext>
            </a:extLst>
          </p:cNvPr>
          <p:cNvSpPr>
            <a:spLocks noGrp="1"/>
          </p:cNvSpPr>
          <p:nvPr>
            <p:ph idx="1"/>
          </p:nvPr>
        </p:nvSpPr>
        <p:spPr>
          <a:xfrm>
            <a:off x="838200" y="1815793"/>
            <a:ext cx="10515600" cy="4351338"/>
          </a:xfrm>
        </p:spPr>
        <p:txBody>
          <a:bodyPr>
            <a:normAutofit/>
          </a:bodyPr>
          <a:lstStyle/>
          <a:p>
            <a:r>
              <a:rPr lang="en-US" dirty="0"/>
              <a:t>store data to represent each student, course, section, grade report, and prerequisite as record in appropriate file</a:t>
            </a:r>
          </a:p>
          <a:p>
            <a:r>
              <a:rPr lang="en-US" dirty="0"/>
              <a:t>records in various files may be related; for example, the record for Smith in the STUDENT file is related to two records in the GRADE_REPORT file that specify Smith’s grades in two sections</a:t>
            </a:r>
          </a:p>
          <a:p>
            <a:r>
              <a:rPr lang="en-US" dirty="0"/>
              <a:t>most medium-size and large databases include many types of records and have many relationships among records</a:t>
            </a:r>
          </a:p>
        </p:txBody>
      </p:sp>
      <p:sp>
        <p:nvSpPr>
          <p:cNvPr id="4" name="Slide Number Placeholder 3">
            <a:extLst>
              <a:ext uri="{FF2B5EF4-FFF2-40B4-BE49-F238E27FC236}">
                <a16:creationId xmlns:a16="http://schemas.microsoft.com/office/drawing/2014/main" id="{20DC80D2-BEF5-0CD8-8CAC-FD25405B2BA7}"/>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3750651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E4F6E-5B15-26F4-B861-E56EC93C3798}"/>
              </a:ext>
            </a:extLst>
          </p:cNvPr>
          <p:cNvSpPr>
            <a:spLocks noGrp="1"/>
          </p:cNvSpPr>
          <p:nvPr>
            <p:ph type="title"/>
          </p:nvPr>
        </p:nvSpPr>
        <p:spPr/>
        <p:txBody>
          <a:bodyPr/>
          <a:lstStyle/>
          <a:p>
            <a:r>
              <a:rPr lang="en-US" dirty="0"/>
              <a:t>information system within an organization</a:t>
            </a:r>
            <a:br>
              <a:rPr lang="en-US" dirty="0"/>
            </a:br>
            <a:r>
              <a:rPr lang="en-US" sz="4000" dirty="0"/>
              <a:t>SINU, SIS, …</a:t>
            </a:r>
            <a:endParaRPr lang="en-US" dirty="0"/>
          </a:p>
        </p:txBody>
      </p:sp>
      <p:sp>
        <p:nvSpPr>
          <p:cNvPr id="3" name="Content Placeholder 2">
            <a:extLst>
              <a:ext uri="{FF2B5EF4-FFF2-40B4-BE49-F238E27FC236}">
                <a16:creationId xmlns:a16="http://schemas.microsoft.com/office/drawing/2014/main" id="{DE98CE01-2B48-ACF2-B9B3-20E22FBDD86F}"/>
              </a:ext>
            </a:extLst>
          </p:cNvPr>
          <p:cNvSpPr>
            <a:spLocks noGrp="1"/>
          </p:cNvSpPr>
          <p:nvPr>
            <p:ph idx="1"/>
          </p:nvPr>
        </p:nvSpPr>
        <p:spPr/>
        <p:txBody>
          <a:bodyPr>
            <a:normAutofit/>
          </a:bodyPr>
          <a:lstStyle/>
          <a:p>
            <a:r>
              <a:rPr lang="en-US" dirty="0"/>
              <a:t>analysis and requirements specification</a:t>
            </a:r>
          </a:p>
          <a:p>
            <a:r>
              <a:rPr lang="en-US" dirty="0"/>
              <a:t>conceptual design </a:t>
            </a:r>
          </a:p>
          <a:p>
            <a:r>
              <a:rPr lang="en-US" dirty="0"/>
              <a:t>logical design</a:t>
            </a:r>
          </a:p>
          <a:p>
            <a:r>
              <a:rPr lang="en-US" dirty="0"/>
              <a:t>physical design</a:t>
            </a:r>
          </a:p>
        </p:txBody>
      </p:sp>
      <p:sp>
        <p:nvSpPr>
          <p:cNvPr id="4" name="Slide Number Placeholder 3">
            <a:extLst>
              <a:ext uri="{FF2B5EF4-FFF2-40B4-BE49-F238E27FC236}">
                <a16:creationId xmlns:a16="http://schemas.microsoft.com/office/drawing/2014/main" id="{ABC3FB34-4992-8E24-89D6-6126437A6730}"/>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4220074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2E20-8DF6-AD33-F886-D5A9CD9D7EE3}"/>
              </a:ext>
            </a:extLst>
          </p:cNvPr>
          <p:cNvSpPr>
            <a:spLocks noGrp="1"/>
          </p:cNvSpPr>
          <p:nvPr>
            <p:ph type="title"/>
          </p:nvPr>
        </p:nvSpPr>
        <p:spPr/>
        <p:txBody>
          <a:bodyPr/>
          <a:lstStyle/>
          <a:p>
            <a:r>
              <a:rPr lang="en-US" dirty="0"/>
              <a:t>Database approach </a:t>
            </a:r>
            <a:br>
              <a:rPr lang="en-US" dirty="0"/>
            </a:br>
            <a:r>
              <a:rPr lang="en-US" dirty="0"/>
              <a:t>vs traditional file processing</a:t>
            </a:r>
          </a:p>
        </p:txBody>
      </p:sp>
      <p:sp>
        <p:nvSpPr>
          <p:cNvPr id="3" name="Content Placeholder 2">
            <a:extLst>
              <a:ext uri="{FF2B5EF4-FFF2-40B4-BE49-F238E27FC236}">
                <a16:creationId xmlns:a16="http://schemas.microsoft.com/office/drawing/2014/main" id="{CC0736A6-A74D-20B3-869C-2AE6295E4518}"/>
              </a:ext>
            </a:extLst>
          </p:cNvPr>
          <p:cNvSpPr>
            <a:spLocks noGrp="1"/>
          </p:cNvSpPr>
          <p:nvPr>
            <p:ph idx="1"/>
          </p:nvPr>
        </p:nvSpPr>
        <p:spPr/>
        <p:txBody>
          <a:bodyPr>
            <a:normAutofit/>
          </a:bodyPr>
          <a:lstStyle/>
          <a:p>
            <a:r>
              <a:rPr lang="en-US" dirty="0"/>
              <a:t>traditional </a:t>
            </a:r>
            <a:r>
              <a:rPr lang="en-US" b="1" dirty="0"/>
              <a:t>file processing</a:t>
            </a:r>
            <a:r>
              <a:rPr lang="en-US" dirty="0"/>
              <a:t>, each user defines and implements the files needed for a specific software application as part of programming the application</a:t>
            </a:r>
          </a:p>
          <a:p>
            <a:r>
              <a:rPr lang="en-US" dirty="0"/>
              <a:t>for example, the </a:t>
            </a:r>
            <a:r>
              <a:rPr lang="en-US" i="1" dirty="0"/>
              <a:t>grade reporting office </a:t>
            </a:r>
            <a:r>
              <a:rPr lang="en-US" dirty="0"/>
              <a:t>keep files on students and their grades; the </a:t>
            </a:r>
            <a:r>
              <a:rPr lang="en-US" i="1" dirty="0"/>
              <a:t>accounting office</a:t>
            </a:r>
            <a:r>
              <a:rPr lang="en-US" dirty="0"/>
              <a:t> keep track of students’ fees and their payments - although both users are interested in data about students, each user maintains separate files and programs to manipulate these files</a:t>
            </a:r>
          </a:p>
          <a:p>
            <a:r>
              <a:rPr lang="en-US" dirty="0"/>
              <a:t>redundancy in defining and storing data results in wasted storage space and in redundant efforts to maintain common up-to-date data</a:t>
            </a:r>
          </a:p>
        </p:txBody>
      </p:sp>
      <p:sp>
        <p:nvSpPr>
          <p:cNvPr id="4" name="Slide Number Placeholder 3">
            <a:extLst>
              <a:ext uri="{FF2B5EF4-FFF2-40B4-BE49-F238E27FC236}">
                <a16:creationId xmlns:a16="http://schemas.microsoft.com/office/drawing/2014/main" id="{7C7D7882-589E-9458-CF00-BDA2B5FA0B3B}"/>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3036044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ABDEA-A81A-B694-ACE2-1288010E4014}"/>
              </a:ext>
            </a:extLst>
          </p:cNvPr>
          <p:cNvSpPr>
            <a:spLocks noGrp="1"/>
          </p:cNvSpPr>
          <p:nvPr>
            <p:ph type="title"/>
          </p:nvPr>
        </p:nvSpPr>
        <p:spPr/>
        <p:txBody>
          <a:bodyPr/>
          <a:lstStyle/>
          <a:p>
            <a:r>
              <a:rPr lang="en-US" dirty="0"/>
              <a:t>Database approach</a:t>
            </a:r>
          </a:p>
        </p:txBody>
      </p:sp>
      <p:sp>
        <p:nvSpPr>
          <p:cNvPr id="3" name="Content Placeholder 2">
            <a:extLst>
              <a:ext uri="{FF2B5EF4-FFF2-40B4-BE49-F238E27FC236}">
                <a16:creationId xmlns:a16="http://schemas.microsoft.com/office/drawing/2014/main" id="{94F404D8-A59F-D938-D4E4-E924F6BC6C8A}"/>
              </a:ext>
            </a:extLst>
          </p:cNvPr>
          <p:cNvSpPr>
            <a:spLocks noGrp="1"/>
          </p:cNvSpPr>
          <p:nvPr>
            <p:ph idx="1"/>
          </p:nvPr>
        </p:nvSpPr>
        <p:spPr/>
        <p:txBody>
          <a:bodyPr>
            <a:normAutofit/>
          </a:bodyPr>
          <a:lstStyle/>
          <a:p>
            <a:r>
              <a:rPr lang="en-US" dirty="0"/>
              <a:t>single repository maintains data that is defined once and then accessed by various users repeatedly through queries, transactions, and application programs</a:t>
            </a:r>
          </a:p>
          <a:p>
            <a:r>
              <a:rPr lang="en-US" dirty="0"/>
              <a:t>main characteristics of the database approach versus file-processing </a:t>
            </a:r>
          </a:p>
          <a:p>
            <a:pPr lvl="1"/>
            <a:r>
              <a:rPr lang="en-US" sz="2800" dirty="0"/>
              <a:t>self-describing nature of a database system</a:t>
            </a:r>
          </a:p>
          <a:p>
            <a:pPr lvl="1"/>
            <a:r>
              <a:rPr lang="en-US" sz="2800" b="1" dirty="0"/>
              <a:t>data independence </a:t>
            </a:r>
            <a:r>
              <a:rPr lang="en-US" sz="2800" dirty="0"/>
              <a:t>- insulation between programs and data, and data abstraction </a:t>
            </a:r>
          </a:p>
          <a:p>
            <a:pPr lvl="1"/>
            <a:r>
              <a:rPr lang="en-US" sz="2800" dirty="0"/>
              <a:t>support of multiple views of the data</a:t>
            </a:r>
          </a:p>
          <a:p>
            <a:pPr lvl="1"/>
            <a:r>
              <a:rPr lang="en-US" sz="2800" dirty="0"/>
              <a:t>sharing of data and multiuser transaction processing</a:t>
            </a:r>
          </a:p>
        </p:txBody>
      </p:sp>
      <p:sp>
        <p:nvSpPr>
          <p:cNvPr id="4" name="Slide Number Placeholder 3">
            <a:extLst>
              <a:ext uri="{FF2B5EF4-FFF2-40B4-BE49-F238E27FC236}">
                <a16:creationId xmlns:a16="http://schemas.microsoft.com/office/drawing/2014/main" id="{32BEA158-DFF4-63CC-F18D-3CF0C573CF51}"/>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1325099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F8FD2-341F-A485-71C0-5692D4359970}"/>
              </a:ext>
            </a:extLst>
          </p:cNvPr>
          <p:cNvSpPr>
            <a:spLocks noGrp="1"/>
          </p:cNvSpPr>
          <p:nvPr>
            <p:ph type="title"/>
          </p:nvPr>
        </p:nvSpPr>
        <p:spPr/>
        <p:txBody>
          <a:bodyPr/>
          <a:lstStyle/>
          <a:p>
            <a:r>
              <a:rPr lang="en-US" dirty="0"/>
              <a:t>Self-Describing Nature of a Database System</a:t>
            </a:r>
          </a:p>
        </p:txBody>
      </p:sp>
      <p:sp>
        <p:nvSpPr>
          <p:cNvPr id="3" name="Content Placeholder 2">
            <a:extLst>
              <a:ext uri="{FF2B5EF4-FFF2-40B4-BE49-F238E27FC236}">
                <a16:creationId xmlns:a16="http://schemas.microsoft.com/office/drawing/2014/main" id="{C148C719-9F45-0F34-BCEB-77C1ED0AB9FC}"/>
              </a:ext>
            </a:extLst>
          </p:cNvPr>
          <p:cNvSpPr>
            <a:spLocks noGrp="1"/>
          </p:cNvSpPr>
          <p:nvPr>
            <p:ph idx="1"/>
          </p:nvPr>
        </p:nvSpPr>
        <p:spPr/>
        <p:txBody>
          <a:bodyPr>
            <a:noAutofit/>
          </a:bodyPr>
          <a:lstStyle/>
          <a:p>
            <a:r>
              <a:rPr lang="en-US" dirty="0"/>
              <a:t>definition is stored in DBMS catalog, which contains information such as the structure of each file, type and storage format of each data item, and various constraints on data; information stored in catalog is called </a:t>
            </a:r>
            <a:r>
              <a:rPr lang="en-US" b="1" i="1" dirty="0"/>
              <a:t>meta-data</a:t>
            </a:r>
          </a:p>
          <a:p>
            <a:r>
              <a:rPr lang="en-US" dirty="0"/>
              <a:t>in traditional file processing, data definition is typically part of application programs themselves; these programs are constrained to work with only </a:t>
            </a:r>
            <a:r>
              <a:rPr lang="en-US" i="1" dirty="0"/>
              <a:t>one specific database, </a:t>
            </a:r>
            <a:r>
              <a:rPr lang="en-US" dirty="0"/>
              <a:t>whose structure is declared in the application programs</a:t>
            </a:r>
          </a:p>
          <a:p>
            <a:endParaRPr lang="en-US" sz="1200" dirty="0"/>
          </a:p>
          <a:p>
            <a:r>
              <a:rPr lang="en-US" dirty="0"/>
              <a:t>NoSQL systems, do not require meta-data, rather the data is stored as self-describing data that includes the data item names and data values together in one structure</a:t>
            </a:r>
          </a:p>
        </p:txBody>
      </p:sp>
      <p:sp>
        <p:nvSpPr>
          <p:cNvPr id="4" name="Slide Number Placeholder 3">
            <a:extLst>
              <a:ext uri="{FF2B5EF4-FFF2-40B4-BE49-F238E27FC236}">
                <a16:creationId xmlns:a16="http://schemas.microsoft.com/office/drawing/2014/main" id="{F2FDE065-217F-84A3-1731-DF46E2FA51DB}"/>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3512514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E3BB-62D2-2FCC-9856-D8268B8BBE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DEF5B8-1C0E-BAB4-3ADD-5FCF4912CF5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63DB811-6964-0667-0671-FA19F1952AF5}"/>
              </a:ext>
            </a:extLst>
          </p:cNvPr>
          <p:cNvSpPr>
            <a:spLocks noGrp="1"/>
          </p:cNvSpPr>
          <p:nvPr>
            <p:ph type="sldNum" sz="quarter" idx="12"/>
          </p:nvPr>
        </p:nvSpPr>
        <p:spPr/>
        <p:txBody>
          <a:bodyPr/>
          <a:lstStyle/>
          <a:p>
            <a:fld id="{6264BDCF-5269-49AC-A246-ED26C2B980E3}" type="slidenum">
              <a:rPr lang="en-US" smtClean="0"/>
              <a:t>37</a:t>
            </a:fld>
            <a:endParaRPr lang="en-US"/>
          </a:p>
        </p:txBody>
      </p:sp>
      <p:pic>
        <p:nvPicPr>
          <p:cNvPr id="6" name="Picture 5">
            <a:extLst>
              <a:ext uri="{FF2B5EF4-FFF2-40B4-BE49-F238E27FC236}">
                <a16:creationId xmlns:a16="http://schemas.microsoft.com/office/drawing/2014/main" id="{E4A3C1AE-34A9-6E8E-A19C-1A5C88F1888E}"/>
              </a:ext>
            </a:extLst>
          </p:cNvPr>
          <p:cNvPicPr>
            <a:picLocks noChangeAspect="1"/>
          </p:cNvPicPr>
          <p:nvPr/>
        </p:nvPicPr>
        <p:blipFill>
          <a:blip r:embed="rId2"/>
          <a:stretch>
            <a:fillRect/>
          </a:stretch>
        </p:blipFill>
        <p:spPr>
          <a:xfrm>
            <a:off x="838203" y="365125"/>
            <a:ext cx="10047078" cy="6145299"/>
          </a:xfrm>
          <a:prstGeom prst="rect">
            <a:avLst/>
          </a:prstGeom>
        </p:spPr>
      </p:pic>
    </p:spTree>
    <p:extLst>
      <p:ext uri="{BB962C8B-B14F-4D97-AF65-F5344CB8AC3E}">
        <p14:creationId xmlns:p14="http://schemas.microsoft.com/office/powerpoint/2010/main" val="1584383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F041C-6390-AA2E-79A7-F02039A4D9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74D6C9-ED34-B04B-75F8-2C9B3FC15D8C}"/>
              </a:ext>
            </a:extLst>
          </p:cNvPr>
          <p:cNvSpPr>
            <a:spLocks noGrp="1"/>
          </p:cNvSpPr>
          <p:nvPr>
            <p:ph idx="1"/>
          </p:nvPr>
        </p:nvSpPr>
        <p:spPr/>
        <p:txBody>
          <a:bodyPr>
            <a:noAutofit/>
          </a:bodyPr>
          <a:lstStyle/>
          <a:p>
            <a:endParaRPr lang="en-US" dirty="0"/>
          </a:p>
        </p:txBody>
      </p:sp>
      <p:sp>
        <p:nvSpPr>
          <p:cNvPr id="4" name="Slide Number Placeholder 3">
            <a:extLst>
              <a:ext uri="{FF2B5EF4-FFF2-40B4-BE49-F238E27FC236}">
                <a16:creationId xmlns:a16="http://schemas.microsoft.com/office/drawing/2014/main" id="{5D925069-01ED-589C-50B9-E2D76F331F61}"/>
              </a:ext>
            </a:extLst>
          </p:cNvPr>
          <p:cNvSpPr>
            <a:spLocks noGrp="1"/>
          </p:cNvSpPr>
          <p:nvPr>
            <p:ph type="sldNum" sz="quarter" idx="12"/>
          </p:nvPr>
        </p:nvSpPr>
        <p:spPr/>
        <p:txBody>
          <a:bodyPr/>
          <a:lstStyle/>
          <a:p>
            <a:fld id="{6264BDCF-5269-49AC-A246-ED26C2B980E3}" type="slidenum">
              <a:rPr lang="en-US" smtClean="0"/>
              <a:t>38</a:t>
            </a:fld>
            <a:endParaRPr lang="en-US"/>
          </a:p>
        </p:txBody>
      </p:sp>
      <p:pic>
        <p:nvPicPr>
          <p:cNvPr id="6" name="Picture 5">
            <a:extLst>
              <a:ext uri="{FF2B5EF4-FFF2-40B4-BE49-F238E27FC236}">
                <a16:creationId xmlns:a16="http://schemas.microsoft.com/office/drawing/2014/main" id="{74F2658D-D0AE-6246-3A2D-50217F9650CB}"/>
              </a:ext>
            </a:extLst>
          </p:cNvPr>
          <p:cNvPicPr>
            <a:picLocks noChangeAspect="1"/>
          </p:cNvPicPr>
          <p:nvPr/>
        </p:nvPicPr>
        <p:blipFill>
          <a:blip r:embed="rId2"/>
          <a:stretch>
            <a:fillRect/>
          </a:stretch>
        </p:blipFill>
        <p:spPr>
          <a:xfrm>
            <a:off x="731520" y="182880"/>
            <a:ext cx="9942524" cy="6542489"/>
          </a:xfrm>
          <a:prstGeom prst="rect">
            <a:avLst/>
          </a:prstGeom>
        </p:spPr>
      </p:pic>
    </p:spTree>
    <p:extLst>
      <p:ext uri="{BB962C8B-B14F-4D97-AF65-F5344CB8AC3E}">
        <p14:creationId xmlns:p14="http://schemas.microsoft.com/office/powerpoint/2010/main" val="3554119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25972-DAB5-8EA8-BC0E-027FFE53156B}"/>
              </a:ext>
            </a:extLst>
          </p:cNvPr>
          <p:cNvSpPr>
            <a:spLocks noGrp="1"/>
          </p:cNvSpPr>
          <p:nvPr>
            <p:ph type="title"/>
          </p:nvPr>
        </p:nvSpPr>
        <p:spPr/>
        <p:txBody>
          <a:bodyPr>
            <a:normAutofit/>
          </a:bodyPr>
          <a:lstStyle/>
          <a:p>
            <a:r>
              <a:rPr lang="en-US" dirty="0"/>
              <a:t>Data Independence		Insulation between Programs and Data, and Data Abstraction</a:t>
            </a:r>
          </a:p>
        </p:txBody>
      </p:sp>
      <p:sp>
        <p:nvSpPr>
          <p:cNvPr id="3" name="Content Placeholder 2">
            <a:extLst>
              <a:ext uri="{FF2B5EF4-FFF2-40B4-BE49-F238E27FC236}">
                <a16:creationId xmlns:a16="http://schemas.microsoft.com/office/drawing/2014/main" id="{D3886C42-C340-BDDD-118F-9CBD30764BE6}"/>
              </a:ext>
            </a:extLst>
          </p:cNvPr>
          <p:cNvSpPr>
            <a:spLocks noGrp="1"/>
          </p:cNvSpPr>
          <p:nvPr>
            <p:ph idx="1"/>
          </p:nvPr>
        </p:nvSpPr>
        <p:spPr/>
        <p:txBody>
          <a:bodyPr>
            <a:normAutofit/>
          </a:bodyPr>
          <a:lstStyle/>
          <a:p>
            <a:r>
              <a:rPr lang="en-US" dirty="0"/>
              <a:t>in traditional file processing, structure of data files is embedded in application programs, so any changes to structure of file may require </a:t>
            </a:r>
            <a:r>
              <a:rPr lang="en-US" i="1" dirty="0"/>
              <a:t>changing all programs </a:t>
            </a:r>
            <a:r>
              <a:rPr lang="en-US" dirty="0"/>
              <a:t>that access that file</a:t>
            </a:r>
          </a:p>
          <a:p>
            <a:r>
              <a:rPr lang="en-US" dirty="0"/>
              <a:t>DBMS access programs do not require such changes in most cases</a:t>
            </a:r>
          </a:p>
          <a:p>
            <a:r>
              <a:rPr lang="en-US" dirty="0"/>
              <a:t>structure of data files is stored in DBMS catalog separately from the access programs</a:t>
            </a:r>
          </a:p>
        </p:txBody>
      </p:sp>
      <p:sp>
        <p:nvSpPr>
          <p:cNvPr id="4" name="Slide Number Placeholder 3">
            <a:extLst>
              <a:ext uri="{FF2B5EF4-FFF2-40B4-BE49-F238E27FC236}">
                <a16:creationId xmlns:a16="http://schemas.microsoft.com/office/drawing/2014/main" id="{FE1BC918-FAC4-D3A0-C1B7-714BEB3CB865}"/>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1684882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553D9-E244-B56E-C838-08B21946FD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1CBC67-1DCE-982B-0AC7-2CCAF3D8FACC}"/>
              </a:ext>
            </a:extLst>
          </p:cNvPr>
          <p:cNvSpPr>
            <a:spLocks noGrp="1"/>
          </p:cNvSpPr>
          <p:nvPr>
            <p:ph idx="1"/>
          </p:nvPr>
        </p:nvSpPr>
        <p:spPr/>
        <p:txBody>
          <a:bodyPr>
            <a:normAutofit/>
          </a:bodyPr>
          <a:lstStyle/>
          <a:p>
            <a:r>
              <a:rPr lang="en-US" dirty="0"/>
              <a:t>in some types of database systems, such as object-oriented and object-relational systems, users can define operations (also called a function or method) on data as part of database definitions; application programs can operate on data by invoking these operations</a:t>
            </a:r>
          </a:p>
        </p:txBody>
      </p:sp>
      <p:sp>
        <p:nvSpPr>
          <p:cNvPr id="4" name="Slide Number Placeholder 3">
            <a:extLst>
              <a:ext uri="{FF2B5EF4-FFF2-40B4-BE49-F238E27FC236}">
                <a16:creationId xmlns:a16="http://schemas.microsoft.com/office/drawing/2014/main" id="{5C187C88-31D2-7762-0636-ED8DE5460BB5}"/>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2023642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C929-D4C9-C895-9B0A-1867B659DC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07262F-D0F7-D244-5DBB-C4FF87D66B61}"/>
              </a:ext>
            </a:extLst>
          </p:cNvPr>
          <p:cNvSpPr>
            <a:spLocks noGrp="1"/>
          </p:cNvSpPr>
          <p:nvPr>
            <p:ph idx="1"/>
          </p:nvPr>
        </p:nvSpPr>
        <p:spPr/>
        <p:txBody>
          <a:bodyPr>
            <a:noAutofit/>
          </a:bodyPr>
          <a:lstStyle/>
          <a:p>
            <a:r>
              <a:rPr lang="en-US" dirty="0"/>
              <a:t>characteristic that allows program-data independence is called </a:t>
            </a:r>
            <a:r>
              <a:rPr lang="en-US" b="1" dirty="0"/>
              <a:t>data abstraction</a:t>
            </a:r>
          </a:p>
          <a:p>
            <a:r>
              <a:rPr lang="en-US" dirty="0"/>
              <a:t>DBMS provides users with a </a:t>
            </a:r>
            <a:r>
              <a:rPr lang="en-US" b="1" dirty="0"/>
              <a:t>conceptual representation </a:t>
            </a:r>
            <a:r>
              <a:rPr lang="en-US" dirty="0"/>
              <a:t>of data that does not include many of the details of how the data is stored or how the operations are implemented</a:t>
            </a:r>
          </a:p>
          <a:p>
            <a:r>
              <a:rPr lang="en-US" b="1" dirty="0"/>
              <a:t>data model </a:t>
            </a:r>
            <a:r>
              <a:rPr lang="en-US" dirty="0"/>
              <a:t>is a type of data abstraction that is used to provide this conceptual representation; uses logical concepts, such as objects, their properties, and their interrelationships, that may be easier for most users to understand than computer storage concepts</a:t>
            </a:r>
          </a:p>
          <a:p>
            <a:r>
              <a:rPr lang="en-US" dirty="0"/>
              <a:t>hence, data model </a:t>
            </a:r>
            <a:r>
              <a:rPr lang="en-US" i="1" dirty="0"/>
              <a:t>hides </a:t>
            </a:r>
            <a:r>
              <a:rPr lang="en-US" dirty="0"/>
              <a:t>storage and implementation details that are not of interest to most database users</a:t>
            </a:r>
          </a:p>
        </p:txBody>
      </p:sp>
      <p:sp>
        <p:nvSpPr>
          <p:cNvPr id="4" name="Slide Number Placeholder 3">
            <a:extLst>
              <a:ext uri="{FF2B5EF4-FFF2-40B4-BE49-F238E27FC236}">
                <a16:creationId xmlns:a16="http://schemas.microsoft.com/office/drawing/2014/main" id="{A05795CC-3B18-41D4-2763-EB686D967758}"/>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1366300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35348-EFEE-6388-3B49-A23A8F6160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B12BA6-A1DC-1B7B-D1EE-E9D7F7ED9E4B}"/>
              </a:ext>
            </a:extLst>
          </p:cNvPr>
          <p:cNvSpPr>
            <a:spLocks noGrp="1"/>
          </p:cNvSpPr>
          <p:nvPr>
            <p:ph idx="1"/>
          </p:nvPr>
        </p:nvSpPr>
        <p:spPr>
          <a:xfrm>
            <a:off x="838199" y="1825625"/>
            <a:ext cx="11176819" cy="4351338"/>
          </a:xfrm>
        </p:spPr>
        <p:txBody>
          <a:bodyPr/>
          <a:lstStyle/>
          <a:p>
            <a:r>
              <a:rPr lang="en-US" dirty="0"/>
              <a:t>internal storage format for a STUDENT record, based on database catalog</a:t>
            </a:r>
          </a:p>
        </p:txBody>
      </p:sp>
      <p:sp>
        <p:nvSpPr>
          <p:cNvPr id="4" name="Slide Number Placeholder 3">
            <a:extLst>
              <a:ext uri="{FF2B5EF4-FFF2-40B4-BE49-F238E27FC236}">
                <a16:creationId xmlns:a16="http://schemas.microsoft.com/office/drawing/2014/main" id="{D0789382-EB01-BC78-B3E0-6BC0BE9F1886}"/>
              </a:ext>
            </a:extLst>
          </p:cNvPr>
          <p:cNvSpPr>
            <a:spLocks noGrp="1"/>
          </p:cNvSpPr>
          <p:nvPr>
            <p:ph type="sldNum" sz="quarter" idx="12"/>
          </p:nvPr>
        </p:nvSpPr>
        <p:spPr/>
        <p:txBody>
          <a:bodyPr/>
          <a:lstStyle/>
          <a:p>
            <a:fld id="{6264BDCF-5269-49AC-A246-ED26C2B980E3}" type="slidenum">
              <a:rPr lang="en-US" smtClean="0"/>
              <a:t>42</a:t>
            </a:fld>
            <a:endParaRPr lang="en-US"/>
          </a:p>
        </p:txBody>
      </p:sp>
      <p:pic>
        <p:nvPicPr>
          <p:cNvPr id="6" name="Picture 5">
            <a:extLst>
              <a:ext uri="{FF2B5EF4-FFF2-40B4-BE49-F238E27FC236}">
                <a16:creationId xmlns:a16="http://schemas.microsoft.com/office/drawing/2014/main" id="{58CD34F5-466B-3CBD-3CBA-C8A98A032B88}"/>
              </a:ext>
            </a:extLst>
          </p:cNvPr>
          <p:cNvPicPr>
            <a:picLocks noChangeAspect="1"/>
          </p:cNvPicPr>
          <p:nvPr/>
        </p:nvPicPr>
        <p:blipFill>
          <a:blip r:embed="rId2"/>
          <a:stretch>
            <a:fillRect/>
          </a:stretch>
        </p:blipFill>
        <p:spPr>
          <a:xfrm>
            <a:off x="838199" y="2926080"/>
            <a:ext cx="10735019" cy="2449306"/>
          </a:xfrm>
          <a:prstGeom prst="rect">
            <a:avLst/>
          </a:prstGeom>
        </p:spPr>
      </p:pic>
    </p:spTree>
    <p:extLst>
      <p:ext uri="{BB962C8B-B14F-4D97-AF65-F5344CB8AC3E}">
        <p14:creationId xmlns:p14="http://schemas.microsoft.com/office/powerpoint/2010/main" val="1623969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999E-A3C8-0B3D-24C1-32B910F54801}"/>
              </a:ext>
            </a:extLst>
          </p:cNvPr>
          <p:cNvSpPr>
            <a:spLocks noGrp="1"/>
          </p:cNvSpPr>
          <p:nvPr>
            <p:ph type="title"/>
          </p:nvPr>
        </p:nvSpPr>
        <p:spPr/>
        <p:txBody>
          <a:bodyPr/>
          <a:lstStyle/>
          <a:p>
            <a:r>
              <a:rPr lang="en-US" dirty="0"/>
              <a:t>Support of Multiple Views of the Data</a:t>
            </a:r>
          </a:p>
        </p:txBody>
      </p:sp>
      <p:sp>
        <p:nvSpPr>
          <p:cNvPr id="3" name="Content Placeholder 2">
            <a:extLst>
              <a:ext uri="{FF2B5EF4-FFF2-40B4-BE49-F238E27FC236}">
                <a16:creationId xmlns:a16="http://schemas.microsoft.com/office/drawing/2014/main" id="{B5F4DD65-84EB-3212-63AE-7C4F463713CE}"/>
              </a:ext>
            </a:extLst>
          </p:cNvPr>
          <p:cNvSpPr>
            <a:spLocks noGrp="1"/>
          </p:cNvSpPr>
          <p:nvPr>
            <p:ph idx="1"/>
          </p:nvPr>
        </p:nvSpPr>
        <p:spPr/>
        <p:txBody>
          <a:bodyPr>
            <a:normAutofit/>
          </a:bodyPr>
          <a:lstStyle/>
          <a:p>
            <a:r>
              <a:rPr lang="en-US" dirty="0"/>
              <a:t>database typically has many types of users, each of whom may require different perspective or </a:t>
            </a:r>
            <a:r>
              <a:rPr lang="en-US" b="1" dirty="0"/>
              <a:t>view </a:t>
            </a:r>
            <a:r>
              <a:rPr lang="en-US" dirty="0"/>
              <a:t>of database; view may be subset of database or it may contain virtual data</a:t>
            </a:r>
            <a:r>
              <a:rPr lang="en-US" b="1" dirty="0"/>
              <a:t> </a:t>
            </a:r>
            <a:r>
              <a:rPr lang="en-US" dirty="0"/>
              <a:t>that is derived from database files but is not explicitly stored</a:t>
            </a:r>
          </a:p>
          <a:p>
            <a:r>
              <a:rPr lang="en-US" dirty="0"/>
              <a:t>users may not need to be aware of whether data they refer to is stored or derived</a:t>
            </a:r>
          </a:p>
        </p:txBody>
      </p:sp>
      <p:sp>
        <p:nvSpPr>
          <p:cNvPr id="4" name="Slide Number Placeholder 3">
            <a:extLst>
              <a:ext uri="{FF2B5EF4-FFF2-40B4-BE49-F238E27FC236}">
                <a16:creationId xmlns:a16="http://schemas.microsoft.com/office/drawing/2014/main" id="{01140DB5-39D1-5BF0-FB82-32BEA39FE7DB}"/>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9925068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EAB7-C757-CBF3-CAF9-BFCE091A4B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0AE340-CAEA-ABB9-EEB9-C4A29B9C2FB4}"/>
              </a:ext>
            </a:extLst>
          </p:cNvPr>
          <p:cNvSpPr>
            <a:spLocks noGrp="1"/>
          </p:cNvSpPr>
          <p:nvPr>
            <p:ph idx="1"/>
          </p:nvPr>
        </p:nvSpPr>
        <p:spPr/>
        <p:txBody>
          <a:bodyPr/>
          <a:lstStyle/>
          <a:p>
            <a:r>
              <a:rPr lang="en-US" dirty="0"/>
              <a:t>one user of database may be interested only in accessing the transcript of each student</a:t>
            </a:r>
          </a:p>
          <a:p>
            <a:endParaRPr lang="en-US" dirty="0"/>
          </a:p>
        </p:txBody>
      </p:sp>
      <p:sp>
        <p:nvSpPr>
          <p:cNvPr id="4" name="Slide Number Placeholder 3">
            <a:extLst>
              <a:ext uri="{FF2B5EF4-FFF2-40B4-BE49-F238E27FC236}">
                <a16:creationId xmlns:a16="http://schemas.microsoft.com/office/drawing/2014/main" id="{A5A1F06A-61EA-D196-4CE6-86F68B6B3AED}"/>
              </a:ext>
            </a:extLst>
          </p:cNvPr>
          <p:cNvSpPr>
            <a:spLocks noGrp="1"/>
          </p:cNvSpPr>
          <p:nvPr>
            <p:ph type="sldNum" sz="quarter" idx="12"/>
          </p:nvPr>
        </p:nvSpPr>
        <p:spPr/>
        <p:txBody>
          <a:bodyPr/>
          <a:lstStyle/>
          <a:p>
            <a:fld id="{6264BDCF-5269-49AC-A246-ED26C2B980E3}" type="slidenum">
              <a:rPr lang="en-US" smtClean="0"/>
              <a:t>44</a:t>
            </a:fld>
            <a:endParaRPr lang="en-US"/>
          </a:p>
        </p:txBody>
      </p:sp>
      <p:pic>
        <p:nvPicPr>
          <p:cNvPr id="6" name="Picture 5">
            <a:extLst>
              <a:ext uri="{FF2B5EF4-FFF2-40B4-BE49-F238E27FC236}">
                <a16:creationId xmlns:a16="http://schemas.microsoft.com/office/drawing/2014/main" id="{7E9C25AC-0A77-D758-58D2-710B2EB1735C}"/>
              </a:ext>
            </a:extLst>
          </p:cNvPr>
          <p:cNvPicPr>
            <a:picLocks noChangeAspect="1"/>
          </p:cNvPicPr>
          <p:nvPr/>
        </p:nvPicPr>
        <p:blipFill>
          <a:blip r:embed="rId2"/>
          <a:stretch>
            <a:fillRect/>
          </a:stretch>
        </p:blipFill>
        <p:spPr>
          <a:xfrm>
            <a:off x="838200" y="2856759"/>
            <a:ext cx="9897472" cy="3750518"/>
          </a:xfrm>
          <a:prstGeom prst="rect">
            <a:avLst/>
          </a:prstGeom>
        </p:spPr>
      </p:pic>
    </p:spTree>
    <p:extLst>
      <p:ext uri="{BB962C8B-B14F-4D97-AF65-F5344CB8AC3E}">
        <p14:creationId xmlns:p14="http://schemas.microsoft.com/office/powerpoint/2010/main" val="2550122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19C00-39B1-8650-EDBB-F9B375B2C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930FC-E95A-8DE2-2991-569E4D386B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B1ACA1-1EEA-C402-B6BB-B6F55EABCE89}"/>
              </a:ext>
            </a:extLst>
          </p:cNvPr>
          <p:cNvSpPr>
            <a:spLocks noGrp="1"/>
          </p:cNvSpPr>
          <p:nvPr>
            <p:ph idx="1"/>
          </p:nvPr>
        </p:nvSpPr>
        <p:spPr/>
        <p:txBody>
          <a:bodyPr/>
          <a:lstStyle/>
          <a:p>
            <a:r>
              <a:rPr lang="en-US" dirty="0"/>
              <a:t>other user is interested only in checking that students have taken all prerequisites of each course for which the student registers</a:t>
            </a:r>
          </a:p>
        </p:txBody>
      </p:sp>
      <p:sp>
        <p:nvSpPr>
          <p:cNvPr id="4" name="Slide Number Placeholder 3">
            <a:extLst>
              <a:ext uri="{FF2B5EF4-FFF2-40B4-BE49-F238E27FC236}">
                <a16:creationId xmlns:a16="http://schemas.microsoft.com/office/drawing/2014/main" id="{B5B2F48B-650B-D7C5-FE5D-8B5041D50E74}"/>
              </a:ext>
            </a:extLst>
          </p:cNvPr>
          <p:cNvSpPr>
            <a:spLocks noGrp="1"/>
          </p:cNvSpPr>
          <p:nvPr>
            <p:ph type="sldNum" sz="quarter" idx="12"/>
          </p:nvPr>
        </p:nvSpPr>
        <p:spPr/>
        <p:txBody>
          <a:bodyPr/>
          <a:lstStyle/>
          <a:p>
            <a:fld id="{6264BDCF-5269-49AC-A246-ED26C2B980E3}" type="slidenum">
              <a:rPr lang="en-US" smtClean="0"/>
              <a:t>45</a:t>
            </a:fld>
            <a:endParaRPr lang="en-US"/>
          </a:p>
        </p:txBody>
      </p:sp>
      <p:pic>
        <p:nvPicPr>
          <p:cNvPr id="6" name="Picture 5">
            <a:extLst>
              <a:ext uri="{FF2B5EF4-FFF2-40B4-BE49-F238E27FC236}">
                <a16:creationId xmlns:a16="http://schemas.microsoft.com/office/drawing/2014/main" id="{EBFA855A-1542-6755-DF95-A397B5D6AC11}"/>
              </a:ext>
            </a:extLst>
          </p:cNvPr>
          <p:cNvPicPr>
            <a:picLocks noChangeAspect="1"/>
          </p:cNvPicPr>
          <p:nvPr/>
        </p:nvPicPr>
        <p:blipFill>
          <a:blip r:embed="rId2"/>
          <a:stretch>
            <a:fillRect/>
          </a:stretch>
        </p:blipFill>
        <p:spPr>
          <a:xfrm>
            <a:off x="838199" y="2929447"/>
            <a:ext cx="10451661" cy="3563428"/>
          </a:xfrm>
          <a:prstGeom prst="rect">
            <a:avLst/>
          </a:prstGeom>
        </p:spPr>
      </p:pic>
    </p:spTree>
    <p:extLst>
      <p:ext uri="{BB962C8B-B14F-4D97-AF65-F5344CB8AC3E}">
        <p14:creationId xmlns:p14="http://schemas.microsoft.com/office/powerpoint/2010/main" val="4086474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643D-3339-45F4-D048-6D543A4A6943}"/>
              </a:ext>
            </a:extLst>
          </p:cNvPr>
          <p:cNvSpPr>
            <a:spLocks noGrp="1"/>
          </p:cNvSpPr>
          <p:nvPr>
            <p:ph type="title"/>
          </p:nvPr>
        </p:nvSpPr>
        <p:spPr/>
        <p:txBody>
          <a:bodyPr>
            <a:normAutofit/>
          </a:bodyPr>
          <a:lstStyle/>
          <a:p>
            <a:r>
              <a:rPr lang="en-US" dirty="0"/>
              <a:t>Sharing of Data </a:t>
            </a:r>
            <a:br>
              <a:rPr lang="en-US" dirty="0"/>
            </a:br>
            <a:r>
              <a:rPr lang="en-US" dirty="0"/>
              <a:t>and Multiuser Transaction Processing</a:t>
            </a:r>
          </a:p>
        </p:txBody>
      </p:sp>
      <p:sp>
        <p:nvSpPr>
          <p:cNvPr id="3" name="Content Placeholder 2">
            <a:extLst>
              <a:ext uri="{FF2B5EF4-FFF2-40B4-BE49-F238E27FC236}">
                <a16:creationId xmlns:a16="http://schemas.microsoft.com/office/drawing/2014/main" id="{9A7D618C-D6FD-582C-6FD2-7A493874A110}"/>
              </a:ext>
            </a:extLst>
          </p:cNvPr>
          <p:cNvSpPr>
            <a:spLocks noGrp="1"/>
          </p:cNvSpPr>
          <p:nvPr>
            <p:ph idx="1"/>
          </p:nvPr>
        </p:nvSpPr>
        <p:spPr/>
        <p:txBody>
          <a:bodyPr>
            <a:noAutofit/>
          </a:bodyPr>
          <a:lstStyle/>
          <a:p>
            <a:r>
              <a:rPr lang="en-US" dirty="0"/>
              <a:t>DBMS must allow multiple users to access database at same time</a:t>
            </a:r>
          </a:p>
          <a:p>
            <a:r>
              <a:rPr lang="en-US" dirty="0"/>
              <a:t>DBMS must include </a:t>
            </a:r>
            <a:r>
              <a:rPr lang="en-US" b="1" dirty="0"/>
              <a:t>concurrency control </a:t>
            </a:r>
            <a:r>
              <a:rPr lang="en-US" dirty="0"/>
              <a:t>software to ensure that several users trying to update same data do so in a controlled manner</a:t>
            </a:r>
          </a:p>
          <a:p>
            <a:r>
              <a:rPr lang="en-US" dirty="0"/>
              <a:t>DBMS software is to ensure that concurrent transactions operate correctly and efficiently</a:t>
            </a:r>
          </a:p>
          <a:p>
            <a:r>
              <a:rPr lang="en-US" b="1" dirty="0"/>
              <a:t>transaction</a:t>
            </a:r>
            <a:r>
              <a:rPr lang="en-US" dirty="0"/>
              <a:t> is an executing program or process that includes one or more database accesses, such as reading or updating of database records; each transaction is supposed to execute a logically correct database access if executed in its entirety without interference from other transactions</a:t>
            </a:r>
          </a:p>
        </p:txBody>
      </p:sp>
      <p:sp>
        <p:nvSpPr>
          <p:cNvPr id="4" name="Slide Number Placeholder 3">
            <a:extLst>
              <a:ext uri="{FF2B5EF4-FFF2-40B4-BE49-F238E27FC236}">
                <a16:creationId xmlns:a16="http://schemas.microsoft.com/office/drawing/2014/main" id="{0BF6E7C4-35D9-3A8F-4A42-20061BE052D2}"/>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28618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8A1C0-9D53-F725-D310-A0D85C2AF730}"/>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7A318E0D-12D1-7B81-F098-6D5B50A7EFEB}"/>
              </a:ext>
            </a:extLst>
          </p:cNvPr>
          <p:cNvSpPr>
            <a:spLocks noGrp="1"/>
          </p:cNvSpPr>
          <p:nvPr>
            <p:ph type="body" idx="1"/>
          </p:nvPr>
        </p:nvSpPr>
        <p:spPr/>
        <p:txBody>
          <a:bodyPr>
            <a:normAutofit/>
          </a:bodyPr>
          <a:lstStyle/>
          <a:p>
            <a:r>
              <a:rPr lang="en-US" sz="4000" dirty="0" err="1"/>
              <a:t>DataBase</a:t>
            </a:r>
            <a:r>
              <a:rPr lang="en-US" sz="4000" dirty="0"/>
              <a:t> Users</a:t>
            </a:r>
          </a:p>
        </p:txBody>
      </p:sp>
      <p:sp>
        <p:nvSpPr>
          <p:cNvPr id="4" name="Slide Number Placeholder 3">
            <a:extLst>
              <a:ext uri="{FF2B5EF4-FFF2-40B4-BE49-F238E27FC236}">
                <a16:creationId xmlns:a16="http://schemas.microsoft.com/office/drawing/2014/main" id="{615132D5-B0EA-34FD-7086-DD2A34D95C2D}"/>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259581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4B8D-98FD-C870-253E-74B0DC1A8223}"/>
              </a:ext>
            </a:extLst>
          </p:cNvPr>
          <p:cNvSpPr>
            <a:spLocks noGrp="1"/>
          </p:cNvSpPr>
          <p:nvPr>
            <p:ph type="title"/>
          </p:nvPr>
        </p:nvSpPr>
        <p:spPr/>
        <p:txBody>
          <a:bodyPr/>
          <a:lstStyle/>
          <a:p>
            <a:r>
              <a:rPr lang="en-US" dirty="0"/>
              <a:t>Database Administrators DBA</a:t>
            </a:r>
          </a:p>
        </p:txBody>
      </p:sp>
      <p:sp>
        <p:nvSpPr>
          <p:cNvPr id="3" name="Content Placeholder 2">
            <a:extLst>
              <a:ext uri="{FF2B5EF4-FFF2-40B4-BE49-F238E27FC236}">
                <a16:creationId xmlns:a16="http://schemas.microsoft.com/office/drawing/2014/main" id="{1327B593-BC81-9FF6-FA4F-1EF08827223C}"/>
              </a:ext>
            </a:extLst>
          </p:cNvPr>
          <p:cNvSpPr>
            <a:spLocks noGrp="1"/>
          </p:cNvSpPr>
          <p:nvPr>
            <p:ph idx="1"/>
          </p:nvPr>
        </p:nvSpPr>
        <p:spPr>
          <a:xfrm>
            <a:off x="838200" y="1825625"/>
            <a:ext cx="11196484" cy="4351338"/>
          </a:xfrm>
        </p:spPr>
        <p:txBody>
          <a:bodyPr>
            <a:normAutofit/>
          </a:bodyPr>
          <a:lstStyle/>
          <a:p>
            <a:r>
              <a:rPr lang="en-US" dirty="0"/>
              <a:t>chief administrator to oversee and manage these database resources</a:t>
            </a:r>
          </a:p>
          <a:p>
            <a:r>
              <a:rPr lang="en-US" dirty="0"/>
              <a:t>responsible for authorizing access to database, coordinating and monitoring its use, and acquiring software and hardware resources as needed</a:t>
            </a:r>
          </a:p>
          <a:p>
            <a:r>
              <a:rPr lang="en-US" dirty="0"/>
              <a:t>accountable for problems such as security and poor system response time</a:t>
            </a:r>
          </a:p>
        </p:txBody>
      </p:sp>
      <p:sp>
        <p:nvSpPr>
          <p:cNvPr id="4" name="Slide Number Placeholder 3">
            <a:extLst>
              <a:ext uri="{FF2B5EF4-FFF2-40B4-BE49-F238E27FC236}">
                <a16:creationId xmlns:a16="http://schemas.microsoft.com/office/drawing/2014/main" id="{A82C3C95-41AF-EDBB-CCD8-18B3684D792D}"/>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409134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034A-2508-E9EC-E03E-7CB748ED040F}"/>
              </a:ext>
            </a:extLst>
          </p:cNvPr>
          <p:cNvSpPr>
            <a:spLocks noGrp="1"/>
          </p:cNvSpPr>
          <p:nvPr>
            <p:ph type="title"/>
          </p:nvPr>
        </p:nvSpPr>
        <p:spPr/>
        <p:txBody>
          <a:bodyPr/>
          <a:lstStyle/>
          <a:p>
            <a:r>
              <a:rPr lang="en-US" dirty="0"/>
              <a:t>Database Designers</a:t>
            </a:r>
          </a:p>
        </p:txBody>
      </p:sp>
      <p:sp>
        <p:nvSpPr>
          <p:cNvPr id="3" name="Content Placeholder 2">
            <a:extLst>
              <a:ext uri="{FF2B5EF4-FFF2-40B4-BE49-F238E27FC236}">
                <a16:creationId xmlns:a16="http://schemas.microsoft.com/office/drawing/2014/main" id="{F81CE922-5A70-AA98-9100-32A4579EB8B4}"/>
              </a:ext>
            </a:extLst>
          </p:cNvPr>
          <p:cNvSpPr>
            <a:spLocks noGrp="1"/>
          </p:cNvSpPr>
          <p:nvPr>
            <p:ph idx="1"/>
          </p:nvPr>
        </p:nvSpPr>
        <p:spPr/>
        <p:txBody>
          <a:bodyPr>
            <a:normAutofit/>
          </a:bodyPr>
          <a:lstStyle/>
          <a:p>
            <a:r>
              <a:rPr lang="en-US" dirty="0"/>
              <a:t>responsible for identifying data to be stored in database and for choosing appropriate structures to represent this data</a:t>
            </a:r>
          </a:p>
          <a:p>
            <a:r>
              <a:rPr lang="en-US" dirty="0"/>
              <a:t>mostly undertaken before database is actually implemented and populated with data</a:t>
            </a:r>
          </a:p>
          <a:p>
            <a:r>
              <a:rPr lang="en-US" dirty="0"/>
              <a:t>communicate with all prospective users in order to understand their requirements and to create design that meets these requirements</a:t>
            </a:r>
          </a:p>
          <a:p>
            <a:r>
              <a:rPr lang="en-US" dirty="0"/>
              <a:t>interact with each potential group of users and develop views</a:t>
            </a:r>
            <a:r>
              <a:rPr lang="en-US" b="1" dirty="0"/>
              <a:t> </a:t>
            </a:r>
            <a:r>
              <a:rPr lang="en-US" dirty="0"/>
              <a:t>of database that meet data and processing requirements of these groups</a:t>
            </a:r>
          </a:p>
        </p:txBody>
      </p:sp>
      <p:sp>
        <p:nvSpPr>
          <p:cNvPr id="4" name="Slide Number Placeholder 3">
            <a:extLst>
              <a:ext uri="{FF2B5EF4-FFF2-40B4-BE49-F238E27FC236}">
                <a16:creationId xmlns:a16="http://schemas.microsoft.com/office/drawing/2014/main" id="{3D3A3ECC-F130-B1E3-496E-41642351E13F}"/>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521196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C2BF-BFFD-C107-1603-F7DCF3B6F23E}"/>
              </a:ext>
            </a:extLst>
          </p:cNvPr>
          <p:cNvSpPr>
            <a:spLocks noGrp="1"/>
          </p:cNvSpPr>
          <p:nvPr>
            <p:ph type="title"/>
          </p:nvPr>
        </p:nvSpPr>
        <p:spPr/>
        <p:txBody>
          <a:bodyPr/>
          <a:lstStyle/>
          <a:p>
            <a:r>
              <a:rPr lang="en-US" dirty="0"/>
              <a:t>End Users</a:t>
            </a:r>
          </a:p>
        </p:txBody>
      </p:sp>
      <p:sp>
        <p:nvSpPr>
          <p:cNvPr id="3" name="Content Placeholder 2">
            <a:extLst>
              <a:ext uri="{FF2B5EF4-FFF2-40B4-BE49-F238E27FC236}">
                <a16:creationId xmlns:a16="http://schemas.microsoft.com/office/drawing/2014/main" id="{AF884461-A420-A104-EF6F-A9E2DBAC126B}"/>
              </a:ext>
            </a:extLst>
          </p:cNvPr>
          <p:cNvSpPr>
            <a:spLocks noGrp="1"/>
          </p:cNvSpPr>
          <p:nvPr>
            <p:ph idx="1"/>
          </p:nvPr>
        </p:nvSpPr>
        <p:spPr/>
        <p:txBody>
          <a:bodyPr>
            <a:normAutofit/>
          </a:bodyPr>
          <a:lstStyle/>
          <a:p>
            <a:r>
              <a:rPr lang="en-US" dirty="0"/>
              <a:t>people whose jobs require access to database for querying, updating, and reports; the database primarily exists for their use</a:t>
            </a:r>
          </a:p>
          <a:p>
            <a:r>
              <a:rPr lang="en-US" dirty="0"/>
              <a:t>there are several categories of end users:</a:t>
            </a:r>
          </a:p>
          <a:p>
            <a:pPr lvl="1"/>
            <a:r>
              <a:rPr lang="en-US" sz="2800" dirty="0"/>
              <a:t>Casual End users</a:t>
            </a:r>
          </a:p>
          <a:p>
            <a:pPr lvl="1"/>
            <a:r>
              <a:rPr lang="en-US" sz="2800" dirty="0"/>
              <a:t>Naive or parametric End users</a:t>
            </a:r>
          </a:p>
          <a:p>
            <a:pPr lvl="1"/>
            <a:r>
              <a:rPr lang="en-US" sz="2800" dirty="0"/>
              <a:t>Sophisticated End users</a:t>
            </a:r>
          </a:p>
          <a:p>
            <a:endParaRPr lang="en-US" dirty="0"/>
          </a:p>
          <a:p>
            <a:endParaRPr lang="en-US" dirty="0"/>
          </a:p>
        </p:txBody>
      </p:sp>
      <p:sp>
        <p:nvSpPr>
          <p:cNvPr id="4" name="Slide Number Placeholder 3">
            <a:extLst>
              <a:ext uri="{FF2B5EF4-FFF2-40B4-BE49-F238E27FC236}">
                <a16:creationId xmlns:a16="http://schemas.microsoft.com/office/drawing/2014/main" id="{3B813DD9-560F-1B7C-DFD9-17CC383198B1}"/>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2519450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BC49-0739-E7AF-F6E0-A8DDE32C4C7E}"/>
              </a:ext>
            </a:extLst>
          </p:cNvPr>
          <p:cNvSpPr>
            <a:spLocks noGrp="1"/>
          </p:cNvSpPr>
          <p:nvPr>
            <p:ph type="title"/>
          </p:nvPr>
        </p:nvSpPr>
        <p:spPr/>
        <p:txBody>
          <a:bodyPr/>
          <a:lstStyle/>
          <a:p>
            <a:r>
              <a:rPr lang="en-US" dirty="0"/>
              <a:t>Casual End users</a:t>
            </a:r>
          </a:p>
        </p:txBody>
      </p:sp>
      <p:sp>
        <p:nvSpPr>
          <p:cNvPr id="3" name="Content Placeholder 2">
            <a:extLst>
              <a:ext uri="{FF2B5EF4-FFF2-40B4-BE49-F238E27FC236}">
                <a16:creationId xmlns:a16="http://schemas.microsoft.com/office/drawing/2014/main" id="{E3659D81-E834-FE9C-E42D-7BC89E81D7AF}"/>
              </a:ext>
            </a:extLst>
          </p:cNvPr>
          <p:cNvSpPr>
            <a:spLocks noGrp="1"/>
          </p:cNvSpPr>
          <p:nvPr>
            <p:ph idx="1"/>
          </p:nvPr>
        </p:nvSpPr>
        <p:spPr/>
        <p:txBody>
          <a:bodyPr/>
          <a:lstStyle/>
          <a:p>
            <a:r>
              <a:rPr lang="en-US" dirty="0"/>
              <a:t>occasionally access database, but they may need different information each time</a:t>
            </a:r>
          </a:p>
          <a:p>
            <a:r>
              <a:rPr lang="en-US" dirty="0"/>
              <a:t>use a sophisticated database query interface to specify their requests and are typically occasional browsers</a:t>
            </a:r>
          </a:p>
        </p:txBody>
      </p:sp>
      <p:sp>
        <p:nvSpPr>
          <p:cNvPr id="4" name="Slide Number Placeholder 3">
            <a:extLst>
              <a:ext uri="{FF2B5EF4-FFF2-40B4-BE49-F238E27FC236}">
                <a16:creationId xmlns:a16="http://schemas.microsoft.com/office/drawing/2014/main" id="{BA0B4A2F-09A6-A61E-B0BD-2FEC084E5FF1}"/>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2845522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71543-7775-CB30-CA35-FFAE6FFFD487}"/>
              </a:ext>
            </a:extLst>
          </p:cNvPr>
          <p:cNvSpPr>
            <a:spLocks noGrp="1"/>
          </p:cNvSpPr>
          <p:nvPr>
            <p:ph type="title"/>
          </p:nvPr>
        </p:nvSpPr>
        <p:spPr/>
        <p:txBody>
          <a:bodyPr/>
          <a:lstStyle/>
          <a:p>
            <a:r>
              <a:rPr lang="en-US" dirty="0"/>
              <a:t>Naive or parametric End users</a:t>
            </a:r>
          </a:p>
        </p:txBody>
      </p:sp>
      <p:sp>
        <p:nvSpPr>
          <p:cNvPr id="3" name="Content Placeholder 2">
            <a:extLst>
              <a:ext uri="{FF2B5EF4-FFF2-40B4-BE49-F238E27FC236}">
                <a16:creationId xmlns:a16="http://schemas.microsoft.com/office/drawing/2014/main" id="{06A5B6CC-C97D-A824-8763-5AC3B7940A77}"/>
              </a:ext>
            </a:extLst>
          </p:cNvPr>
          <p:cNvSpPr>
            <a:spLocks noGrp="1"/>
          </p:cNvSpPr>
          <p:nvPr>
            <p:ph idx="1"/>
          </p:nvPr>
        </p:nvSpPr>
        <p:spPr/>
        <p:txBody>
          <a:bodyPr>
            <a:noAutofit/>
          </a:bodyPr>
          <a:lstStyle/>
          <a:p>
            <a:r>
              <a:rPr lang="en-US" dirty="0"/>
              <a:t>main job function revolves around constantly querying and updating the database, using standard types of queries and updates called canned transactions that have been carefully programmed and tested</a:t>
            </a:r>
          </a:p>
        </p:txBody>
      </p:sp>
      <p:sp>
        <p:nvSpPr>
          <p:cNvPr id="4" name="Slide Number Placeholder 3">
            <a:extLst>
              <a:ext uri="{FF2B5EF4-FFF2-40B4-BE49-F238E27FC236}">
                <a16:creationId xmlns:a16="http://schemas.microsoft.com/office/drawing/2014/main" id="{2F96CB30-166D-31A7-F575-8B44E3D298B3}"/>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3099079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6BFA-17EF-5CAA-0419-952A150F53F2}"/>
              </a:ext>
            </a:extLst>
          </p:cNvPr>
          <p:cNvSpPr>
            <a:spLocks noGrp="1"/>
          </p:cNvSpPr>
          <p:nvPr>
            <p:ph type="title"/>
          </p:nvPr>
        </p:nvSpPr>
        <p:spPr/>
        <p:txBody>
          <a:bodyPr/>
          <a:lstStyle/>
          <a:p>
            <a:r>
              <a:rPr lang="en-US" dirty="0"/>
              <a:t>Sophisticated End users</a:t>
            </a:r>
          </a:p>
        </p:txBody>
      </p:sp>
      <p:sp>
        <p:nvSpPr>
          <p:cNvPr id="3" name="Content Placeholder 2">
            <a:extLst>
              <a:ext uri="{FF2B5EF4-FFF2-40B4-BE49-F238E27FC236}">
                <a16:creationId xmlns:a16="http://schemas.microsoft.com/office/drawing/2014/main" id="{EC6BD564-34A9-F62D-A74E-6CA612D7A246}"/>
              </a:ext>
            </a:extLst>
          </p:cNvPr>
          <p:cNvSpPr>
            <a:spLocks noGrp="1"/>
          </p:cNvSpPr>
          <p:nvPr>
            <p:ph idx="1"/>
          </p:nvPr>
        </p:nvSpPr>
        <p:spPr>
          <a:xfrm>
            <a:off x="838199" y="1825625"/>
            <a:ext cx="10704871" cy="4351338"/>
          </a:xfrm>
        </p:spPr>
        <p:txBody>
          <a:bodyPr>
            <a:normAutofit/>
          </a:bodyPr>
          <a:lstStyle/>
          <a:p>
            <a:r>
              <a:rPr lang="en-US" dirty="0"/>
              <a:t>include engineers, scientists, business analysts, and others who thoroughly familiarize themselves with facilities of DBMS in order to implement their own applications to meet their complex requirements</a:t>
            </a:r>
          </a:p>
        </p:txBody>
      </p:sp>
      <p:sp>
        <p:nvSpPr>
          <p:cNvPr id="4" name="Slide Number Placeholder 3">
            <a:extLst>
              <a:ext uri="{FF2B5EF4-FFF2-40B4-BE49-F238E27FC236}">
                <a16:creationId xmlns:a16="http://schemas.microsoft.com/office/drawing/2014/main" id="{0049D59F-98C0-5365-4A41-A3AFF4C85535}"/>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3418177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E259A-811B-E066-5ADE-22AF9E3FD3AD}"/>
              </a:ext>
            </a:extLst>
          </p:cNvPr>
          <p:cNvSpPr>
            <a:spLocks noGrp="1"/>
          </p:cNvSpPr>
          <p:nvPr>
            <p:ph type="title"/>
          </p:nvPr>
        </p:nvSpPr>
        <p:spPr/>
        <p:txBody>
          <a:bodyPr/>
          <a:lstStyle/>
          <a:p>
            <a:r>
              <a:rPr lang="en-US" dirty="0"/>
              <a:t>Standalone users</a:t>
            </a:r>
          </a:p>
        </p:txBody>
      </p:sp>
      <p:sp>
        <p:nvSpPr>
          <p:cNvPr id="3" name="Content Placeholder 2">
            <a:extLst>
              <a:ext uri="{FF2B5EF4-FFF2-40B4-BE49-F238E27FC236}">
                <a16:creationId xmlns:a16="http://schemas.microsoft.com/office/drawing/2014/main" id="{1E2A271C-7771-4CF5-F916-8C29CBDF0CCD}"/>
              </a:ext>
            </a:extLst>
          </p:cNvPr>
          <p:cNvSpPr>
            <a:spLocks noGrp="1"/>
          </p:cNvSpPr>
          <p:nvPr>
            <p:ph idx="1"/>
          </p:nvPr>
        </p:nvSpPr>
        <p:spPr/>
        <p:txBody>
          <a:bodyPr/>
          <a:lstStyle/>
          <a:p>
            <a:r>
              <a:rPr lang="en-US" dirty="0"/>
              <a:t>maintain personal databases by using ready-made program packages that provide easy-to-use menu-based or graphics-based interfaces</a:t>
            </a:r>
          </a:p>
          <a:p>
            <a:r>
              <a:rPr lang="en-US" dirty="0"/>
              <a:t>an example is the user of a financial software package that stores a variety of personal financial data</a:t>
            </a:r>
          </a:p>
        </p:txBody>
      </p:sp>
      <p:sp>
        <p:nvSpPr>
          <p:cNvPr id="4" name="Slide Number Placeholder 3">
            <a:extLst>
              <a:ext uri="{FF2B5EF4-FFF2-40B4-BE49-F238E27FC236}">
                <a16:creationId xmlns:a16="http://schemas.microsoft.com/office/drawing/2014/main" id="{B4EC05FD-3AA4-22F5-2BA6-AD8E6A114D27}"/>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163352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5F3D-B972-29E0-7B28-DE6A5A6E9C44}"/>
              </a:ext>
            </a:extLst>
          </p:cNvPr>
          <p:cNvSpPr>
            <a:spLocks noGrp="1"/>
          </p:cNvSpPr>
          <p:nvPr>
            <p:ph type="title"/>
          </p:nvPr>
        </p:nvSpPr>
        <p:spPr/>
        <p:txBody>
          <a:bodyPr>
            <a:normAutofit/>
          </a:bodyPr>
          <a:lstStyle/>
          <a:p>
            <a:r>
              <a:rPr lang="en-US" dirty="0"/>
              <a:t>System Analysts and Application Programmers</a:t>
            </a:r>
            <a:br>
              <a:rPr lang="en-US" dirty="0"/>
            </a:br>
            <a:r>
              <a:rPr lang="en-US" dirty="0"/>
              <a:t>(Software Engineers)</a:t>
            </a:r>
          </a:p>
        </p:txBody>
      </p:sp>
      <p:sp>
        <p:nvSpPr>
          <p:cNvPr id="3" name="Content Placeholder 2">
            <a:extLst>
              <a:ext uri="{FF2B5EF4-FFF2-40B4-BE49-F238E27FC236}">
                <a16:creationId xmlns:a16="http://schemas.microsoft.com/office/drawing/2014/main" id="{36C72F87-47C0-E3C0-3832-05AAF9DD55DE}"/>
              </a:ext>
            </a:extLst>
          </p:cNvPr>
          <p:cNvSpPr>
            <a:spLocks noGrp="1"/>
          </p:cNvSpPr>
          <p:nvPr>
            <p:ph idx="1"/>
          </p:nvPr>
        </p:nvSpPr>
        <p:spPr/>
        <p:txBody>
          <a:bodyPr>
            <a:normAutofit/>
          </a:bodyPr>
          <a:lstStyle/>
          <a:p>
            <a:r>
              <a:rPr lang="en-US" dirty="0"/>
              <a:t>system analysts determine the requirements of end users, especially naive and parametric end users, and develop specifications for standard canned transactions that meet these requirements</a:t>
            </a:r>
          </a:p>
          <a:p>
            <a:r>
              <a:rPr lang="en-US" dirty="0"/>
              <a:t>application programmers implement these specifications as programs; then they test, debug, document, and maintain these canned transactions</a:t>
            </a:r>
          </a:p>
          <a:p>
            <a:r>
              <a:rPr lang="en-US" dirty="0"/>
              <a:t>software developers or software engineers should be familiar with full range of capabilities provided by DBMS to accomplish their tasks</a:t>
            </a:r>
          </a:p>
        </p:txBody>
      </p:sp>
      <p:sp>
        <p:nvSpPr>
          <p:cNvPr id="4" name="Slide Number Placeholder 3">
            <a:extLst>
              <a:ext uri="{FF2B5EF4-FFF2-40B4-BE49-F238E27FC236}">
                <a16:creationId xmlns:a16="http://schemas.microsoft.com/office/drawing/2014/main" id="{74AB8B8F-47E5-5C01-F963-49DB59B1DC3F}"/>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404376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58973-AA7C-ABAD-4014-31EE1CD300CB}"/>
              </a:ext>
            </a:extLst>
          </p:cNvPr>
          <p:cNvSpPr>
            <a:spLocks noGrp="1"/>
          </p:cNvSpPr>
          <p:nvPr>
            <p:ph type="title"/>
          </p:nvPr>
        </p:nvSpPr>
        <p:spPr/>
        <p:txBody>
          <a:bodyPr/>
          <a:lstStyle/>
          <a:p>
            <a:r>
              <a:rPr lang="en-US" dirty="0"/>
              <a:t>DBMS system designers and implementers</a:t>
            </a:r>
          </a:p>
        </p:txBody>
      </p:sp>
      <p:sp>
        <p:nvSpPr>
          <p:cNvPr id="3" name="Content Placeholder 2">
            <a:extLst>
              <a:ext uri="{FF2B5EF4-FFF2-40B4-BE49-F238E27FC236}">
                <a16:creationId xmlns:a16="http://schemas.microsoft.com/office/drawing/2014/main" id="{B5648D2D-5D68-6D78-E63B-3B8E68A1D343}"/>
              </a:ext>
            </a:extLst>
          </p:cNvPr>
          <p:cNvSpPr>
            <a:spLocks noGrp="1"/>
          </p:cNvSpPr>
          <p:nvPr>
            <p:ph idx="1"/>
          </p:nvPr>
        </p:nvSpPr>
        <p:spPr/>
        <p:txBody>
          <a:bodyPr>
            <a:normAutofit/>
          </a:bodyPr>
          <a:lstStyle/>
          <a:p>
            <a:r>
              <a:rPr lang="en-US" dirty="0"/>
              <a:t>design and implement DBMS modules and interfaces as software package</a:t>
            </a:r>
          </a:p>
          <a:p>
            <a:r>
              <a:rPr lang="en-US" dirty="0"/>
              <a:t>complex software system that consists of many components, or modules</a:t>
            </a:r>
          </a:p>
          <a:p>
            <a:pPr lvl="1"/>
            <a:r>
              <a:rPr lang="en-US" sz="2700" dirty="0"/>
              <a:t>implementing the catalog, query language processing, interface processing, accessing and buffering data, controlling concurrency, and handling data recovery and security</a:t>
            </a:r>
          </a:p>
          <a:p>
            <a:pPr lvl="1"/>
            <a:r>
              <a:rPr lang="en-US" sz="2700" dirty="0"/>
              <a:t>DBMS must interface with other system software, such as the operating system and compilers for various programming languages</a:t>
            </a:r>
          </a:p>
        </p:txBody>
      </p:sp>
      <p:sp>
        <p:nvSpPr>
          <p:cNvPr id="4" name="Slide Number Placeholder 3">
            <a:extLst>
              <a:ext uri="{FF2B5EF4-FFF2-40B4-BE49-F238E27FC236}">
                <a16:creationId xmlns:a16="http://schemas.microsoft.com/office/drawing/2014/main" id="{FE9F8030-D5A2-6169-2245-4F61ED1435DB}"/>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1728512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6BB6-2BDF-7182-07DB-7A370DE44EFB}"/>
              </a:ext>
            </a:extLst>
          </p:cNvPr>
          <p:cNvSpPr>
            <a:spLocks noGrp="1"/>
          </p:cNvSpPr>
          <p:nvPr>
            <p:ph type="title"/>
          </p:nvPr>
        </p:nvSpPr>
        <p:spPr/>
        <p:txBody>
          <a:bodyPr/>
          <a:lstStyle/>
          <a:p>
            <a:r>
              <a:rPr lang="en-US" dirty="0"/>
              <a:t>Advantages of using DBMS</a:t>
            </a:r>
          </a:p>
        </p:txBody>
      </p:sp>
      <p:sp>
        <p:nvSpPr>
          <p:cNvPr id="3" name="Content Placeholder 2">
            <a:extLst>
              <a:ext uri="{FF2B5EF4-FFF2-40B4-BE49-F238E27FC236}">
                <a16:creationId xmlns:a16="http://schemas.microsoft.com/office/drawing/2014/main" id="{BA6EBA7F-610F-797E-4775-0E3515EF80E7}"/>
              </a:ext>
            </a:extLst>
          </p:cNvPr>
          <p:cNvSpPr>
            <a:spLocks noGrp="1"/>
          </p:cNvSpPr>
          <p:nvPr>
            <p:ph idx="1"/>
          </p:nvPr>
        </p:nvSpPr>
        <p:spPr/>
        <p:txBody>
          <a:bodyPr>
            <a:normAutofit lnSpcReduction="10000"/>
          </a:bodyPr>
          <a:lstStyle/>
          <a:p>
            <a:r>
              <a:rPr lang="en-US" dirty="0"/>
              <a:t>Controlling Redundancy</a:t>
            </a:r>
          </a:p>
          <a:p>
            <a:r>
              <a:rPr lang="en-US" dirty="0"/>
              <a:t>Restricting Unauthorized Access</a:t>
            </a:r>
          </a:p>
          <a:p>
            <a:r>
              <a:rPr lang="en-US" dirty="0"/>
              <a:t>Providing Persistent Storage for Program Objects</a:t>
            </a:r>
          </a:p>
          <a:p>
            <a:r>
              <a:rPr lang="en-US" dirty="0"/>
              <a:t>Providing Storage Structures and Search </a:t>
            </a:r>
            <a:r>
              <a:rPr lang="fr-FR" dirty="0"/>
              <a:t>Techniques for Efficient </a:t>
            </a:r>
            <a:r>
              <a:rPr lang="fr-FR" dirty="0" err="1"/>
              <a:t>Query</a:t>
            </a:r>
            <a:r>
              <a:rPr lang="fr-FR" dirty="0"/>
              <a:t> </a:t>
            </a:r>
            <a:r>
              <a:rPr lang="fr-FR" dirty="0" err="1"/>
              <a:t>Processing</a:t>
            </a:r>
            <a:endParaRPr lang="fr-FR" dirty="0"/>
          </a:p>
          <a:p>
            <a:r>
              <a:rPr lang="en-US" dirty="0"/>
              <a:t>Providing Backup and Recovery</a:t>
            </a:r>
          </a:p>
          <a:p>
            <a:r>
              <a:rPr lang="en-US" dirty="0"/>
              <a:t>Providing Multiple User Interfaces</a:t>
            </a:r>
          </a:p>
          <a:p>
            <a:r>
              <a:rPr lang="en-US" dirty="0"/>
              <a:t>Representing Complex Relationships among Data</a:t>
            </a:r>
          </a:p>
          <a:p>
            <a:r>
              <a:rPr lang="en-US" dirty="0"/>
              <a:t>Enforcing Integrity Constraints</a:t>
            </a:r>
          </a:p>
        </p:txBody>
      </p:sp>
      <p:sp>
        <p:nvSpPr>
          <p:cNvPr id="4" name="Slide Number Placeholder 3">
            <a:extLst>
              <a:ext uri="{FF2B5EF4-FFF2-40B4-BE49-F238E27FC236}">
                <a16:creationId xmlns:a16="http://schemas.microsoft.com/office/drawing/2014/main" id="{9EBDDC74-2BFA-2EF4-CA13-6DEA613EF6C5}"/>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2640786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2CA5-34F9-E20F-8B9F-4174647483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4F0D6F-ADE3-80F2-9558-6A0A093E6813}"/>
              </a:ext>
            </a:extLst>
          </p:cNvPr>
          <p:cNvSpPr>
            <a:spLocks noGrp="1"/>
          </p:cNvSpPr>
          <p:nvPr>
            <p:ph idx="1"/>
          </p:nvPr>
        </p:nvSpPr>
        <p:spPr/>
        <p:txBody>
          <a:bodyPr>
            <a:normAutofit/>
          </a:bodyPr>
          <a:lstStyle/>
          <a:p>
            <a:r>
              <a:rPr lang="en-US" dirty="0"/>
              <a:t>Potential for Enforcing Standards</a:t>
            </a:r>
          </a:p>
          <a:p>
            <a:r>
              <a:rPr lang="en-US" dirty="0"/>
              <a:t>Reduced Application Development Time</a:t>
            </a:r>
          </a:p>
          <a:p>
            <a:r>
              <a:rPr lang="en-US" dirty="0"/>
              <a:t>Flexibility</a:t>
            </a:r>
          </a:p>
          <a:p>
            <a:r>
              <a:rPr lang="en-US" dirty="0"/>
              <a:t>Availability of Up-to-Date Information</a:t>
            </a:r>
          </a:p>
          <a:p>
            <a:r>
              <a:rPr lang="en-US" dirty="0"/>
              <a:t>Economies of Scale</a:t>
            </a:r>
          </a:p>
        </p:txBody>
      </p:sp>
      <p:sp>
        <p:nvSpPr>
          <p:cNvPr id="4" name="Slide Number Placeholder 3">
            <a:extLst>
              <a:ext uri="{FF2B5EF4-FFF2-40B4-BE49-F238E27FC236}">
                <a16:creationId xmlns:a16="http://schemas.microsoft.com/office/drawing/2014/main" id="{53877C29-706D-C4A4-8164-FC76A450A6C0}"/>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875288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C8A1-9CF4-7730-42FF-7E0377AAFD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558425-7604-40D7-67A2-620631782AC2}"/>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B5E42E91-30C1-DBA0-DA79-E38F210A1260}"/>
              </a:ext>
            </a:extLst>
          </p:cNvPr>
          <p:cNvSpPr>
            <a:spLocks noGrp="1"/>
          </p:cNvSpPr>
          <p:nvPr>
            <p:ph type="body" idx="1"/>
          </p:nvPr>
        </p:nvSpPr>
        <p:spPr/>
        <p:txBody>
          <a:bodyPr>
            <a:normAutofit/>
          </a:bodyPr>
          <a:lstStyle/>
          <a:p>
            <a:r>
              <a:rPr lang="en-US" sz="4000" dirty="0"/>
              <a:t>History</a:t>
            </a:r>
          </a:p>
        </p:txBody>
      </p:sp>
      <p:sp>
        <p:nvSpPr>
          <p:cNvPr id="4" name="Slide Number Placeholder 3">
            <a:extLst>
              <a:ext uri="{FF2B5EF4-FFF2-40B4-BE49-F238E27FC236}">
                <a16:creationId xmlns:a16="http://schemas.microsoft.com/office/drawing/2014/main" id="{11BF21FE-6B8C-3BE5-AC7B-6289BC216A5C}"/>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2567883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4C7A1D-5E3B-8FF1-BAA3-DA47AE87AD5E}"/>
              </a:ext>
            </a:extLst>
          </p:cNvPr>
          <p:cNvSpPr>
            <a:spLocks noGrp="1"/>
          </p:cNvSpPr>
          <p:nvPr>
            <p:ph type="title"/>
          </p:nvPr>
        </p:nvSpPr>
        <p:spPr/>
        <p:txBody>
          <a:bodyPr>
            <a:normAutofit/>
          </a:bodyPr>
          <a:lstStyle/>
          <a:p>
            <a:r>
              <a:rPr lang="en-US" dirty="0"/>
              <a:t>Early Database Applications Using Hierarchical</a:t>
            </a:r>
            <a:br>
              <a:rPr lang="en-US" dirty="0"/>
            </a:br>
            <a:r>
              <a:rPr lang="en-US" dirty="0"/>
              <a:t>and Network Systems Data Models</a:t>
            </a:r>
          </a:p>
        </p:txBody>
      </p:sp>
      <p:sp>
        <p:nvSpPr>
          <p:cNvPr id="6" name="Content Placeholder 5">
            <a:extLst>
              <a:ext uri="{FF2B5EF4-FFF2-40B4-BE49-F238E27FC236}">
                <a16:creationId xmlns:a16="http://schemas.microsoft.com/office/drawing/2014/main" id="{7512ABDB-2579-7699-B408-E80947D129F5}"/>
              </a:ext>
            </a:extLst>
          </p:cNvPr>
          <p:cNvSpPr>
            <a:spLocks noGrp="1"/>
          </p:cNvSpPr>
          <p:nvPr>
            <p:ph idx="1"/>
          </p:nvPr>
        </p:nvSpPr>
        <p:spPr/>
        <p:txBody>
          <a:bodyPr>
            <a:normAutofit/>
          </a:bodyPr>
          <a:lstStyle/>
          <a:p>
            <a:r>
              <a:rPr lang="en-US" dirty="0"/>
              <a:t>many early database applications maintained records in large organizations such as corporations, universities, hospitals, and banks</a:t>
            </a:r>
          </a:p>
          <a:p>
            <a:r>
              <a:rPr lang="en-US" dirty="0"/>
              <a:t>there were large numbers of records of similar structure</a:t>
            </a:r>
          </a:p>
          <a:p>
            <a:r>
              <a:rPr lang="en-US" dirty="0"/>
              <a:t>there were also many types of records and many interrelationships among them</a:t>
            </a:r>
          </a:p>
          <a:p>
            <a:r>
              <a:rPr lang="en-US" dirty="0"/>
              <a:t>intermixing of conceptual relationships with the physical storage and placement of records on disk</a:t>
            </a:r>
          </a:p>
          <a:p>
            <a:r>
              <a:rPr lang="en-US" dirty="0"/>
              <a:t>systems did not provide sufficient </a:t>
            </a:r>
            <a:r>
              <a:rPr lang="en-US" i="1" dirty="0"/>
              <a:t>data abstraction </a:t>
            </a:r>
            <a:r>
              <a:rPr lang="en-US" dirty="0"/>
              <a:t>and </a:t>
            </a:r>
            <a:r>
              <a:rPr lang="en-US" i="1" dirty="0"/>
              <a:t>program-data independence </a:t>
            </a:r>
            <a:r>
              <a:rPr lang="en-US" dirty="0"/>
              <a:t>capabilities</a:t>
            </a:r>
          </a:p>
        </p:txBody>
      </p:sp>
      <p:sp>
        <p:nvSpPr>
          <p:cNvPr id="4" name="Slide Number Placeholder 3">
            <a:extLst>
              <a:ext uri="{FF2B5EF4-FFF2-40B4-BE49-F238E27FC236}">
                <a16:creationId xmlns:a16="http://schemas.microsoft.com/office/drawing/2014/main" id="{8018B5B2-A468-F57A-4FDE-5B6349AAE944}"/>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4231757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24C8-A364-86CD-8B86-65AD5B4F96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8691C8-2CAB-5E3E-B518-804A49C3C29E}"/>
              </a:ext>
            </a:extLst>
          </p:cNvPr>
          <p:cNvSpPr>
            <a:spLocks noGrp="1"/>
          </p:cNvSpPr>
          <p:nvPr>
            <p:ph idx="1"/>
          </p:nvPr>
        </p:nvSpPr>
        <p:spPr/>
        <p:txBody>
          <a:bodyPr>
            <a:normAutofit/>
          </a:bodyPr>
          <a:lstStyle/>
          <a:p>
            <a:r>
              <a:rPr lang="en-US" dirty="0"/>
              <a:t>provided only programming language interfaces</a:t>
            </a:r>
          </a:p>
          <a:p>
            <a:pPr lvl="1"/>
            <a:r>
              <a:rPr lang="en-US" sz="2800" dirty="0"/>
              <a:t>time-consuming and expensive to implement new queries and transactions</a:t>
            </a:r>
          </a:p>
          <a:p>
            <a:r>
              <a:rPr lang="en-US" dirty="0"/>
              <a:t>implemented on large and expensive mainframe computers</a:t>
            </a:r>
          </a:p>
          <a:p>
            <a:r>
              <a:rPr lang="en-US" dirty="0"/>
              <a:t>based on three main paradigms: </a:t>
            </a:r>
          </a:p>
          <a:p>
            <a:pPr marL="914400" lvl="1" indent="-457200">
              <a:buFont typeface="+mj-lt"/>
              <a:buAutoNum type="arabicPeriod"/>
            </a:pPr>
            <a:r>
              <a:rPr lang="en-US" sz="2800" dirty="0"/>
              <a:t>hierarchical systems</a:t>
            </a:r>
          </a:p>
          <a:p>
            <a:pPr marL="914400" lvl="1" indent="-457200">
              <a:buFont typeface="+mj-lt"/>
              <a:buAutoNum type="arabicPeriod"/>
            </a:pPr>
            <a:r>
              <a:rPr lang="en-US" sz="2800" dirty="0"/>
              <a:t>network model–based systems</a:t>
            </a:r>
          </a:p>
          <a:p>
            <a:pPr marL="914400" lvl="1" indent="-457200">
              <a:buFont typeface="+mj-lt"/>
              <a:buAutoNum type="arabicPeriod"/>
            </a:pPr>
            <a:r>
              <a:rPr lang="en-US" sz="2800" dirty="0"/>
              <a:t>inverted file systems</a:t>
            </a:r>
          </a:p>
        </p:txBody>
      </p:sp>
      <p:sp>
        <p:nvSpPr>
          <p:cNvPr id="4" name="Slide Number Placeholder 3">
            <a:extLst>
              <a:ext uri="{FF2B5EF4-FFF2-40B4-BE49-F238E27FC236}">
                <a16:creationId xmlns:a16="http://schemas.microsoft.com/office/drawing/2014/main" id="{8631F3F7-2E17-FC27-0C0B-7E21F63DE6C5}"/>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20575835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57EFE-8345-86EF-CA01-5DD759F33090}"/>
              </a:ext>
            </a:extLst>
          </p:cNvPr>
          <p:cNvSpPr>
            <a:spLocks noGrp="1"/>
          </p:cNvSpPr>
          <p:nvPr>
            <p:ph type="title"/>
          </p:nvPr>
        </p:nvSpPr>
        <p:spPr/>
        <p:txBody>
          <a:bodyPr>
            <a:normAutofit/>
          </a:bodyPr>
          <a:lstStyle/>
          <a:p>
            <a:r>
              <a:rPr lang="en-US" b="1" dirty="0"/>
              <a:t>Data Abstraction and Application Flexibility</a:t>
            </a:r>
            <a:br>
              <a:rPr lang="en-US" b="1" dirty="0"/>
            </a:br>
            <a:r>
              <a:rPr lang="en-US" b="1" dirty="0"/>
              <a:t>with Relational Databases</a:t>
            </a:r>
            <a:endParaRPr lang="en-US" dirty="0"/>
          </a:p>
        </p:txBody>
      </p:sp>
      <p:sp>
        <p:nvSpPr>
          <p:cNvPr id="3" name="Content Placeholder 2">
            <a:extLst>
              <a:ext uri="{FF2B5EF4-FFF2-40B4-BE49-F238E27FC236}">
                <a16:creationId xmlns:a16="http://schemas.microsoft.com/office/drawing/2014/main" id="{FF495379-9875-1049-B965-626D9234DB55}"/>
              </a:ext>
            </a:extLst>
          </p:cNvPr>
          <p:cNvSpPr>
            <a:spLocks noGrp="1"/>
          </p:cNvSpPr>
          <p:nvPr>
            <p:ph idx="1"/>
          </p:nvPr>
        </p:nvSpPr>
        <p:spPr/>
        <p:txBody>
          <a:bodyPr>
            <a:normAutofit/>
          </a:bodyPr>
          <a:lstStyle/>
          <a:p>
            <a:r>
              <a:rPr lang="en-US" dirty="0"/>
              <a:t>relational databases were originally proposed to separate physical storage of data from its conceptual representation and to provide sound mathematical foundation for data representation and querying</a:t>
            </a:r>
          </a:p>
          <a:p>
            <a:r>
              <a:rPr lang="en-US" dirty="0"/>
              <a:t>Introduced high-level query languages that provided an alternative to programming language interfaces, making it much faster to write new queries</a:t>
            </a:r>
          </a:p>
          <a:p>
            <a:r>
              <a:rPr lang="en-US" i="1" dirty="0"/>
              <a:t>data abstraction </a:t>
            </a:r>
            <a:r>
              <a:rPr lang="en-US" dirty="0"/>
              <a:t>and </a:t>
            </a:r>
            <a:r>
              <a:rPr lang="en-US" i="1" dirty="0"/>
              <a:t>program-data independence </a:t>
            </a:r>
            <a:r>
              <a:rPr lang="en-US" dirty="0"/>
              <a:t>were much improved when compared to earlier systems</a:t>
            </a:r>
          </a:p>
        </p:txBody>
      </p:sp>
      <p:sp>
        <p:nvSpPr>
          <p:cNvPr id="4" name="Slide Number Placeholder 3">
            <a:extLst>
              <a:ext uri="{FF2B5EF4-FFF2-40B4-BE49-F238E27FC236}">
                <a16:creationId xmlns:a16="http://schemas.microsoft.com/office/drawing/2014/main" id="{2524BB01-BB16-569D-DED2-E2DF139299B4}"/>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26372454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16F0-0ABB-E2DF-7D24-1F19237C4910}"/>
              </a:ext>
            </a:extLst>
          </p:cNvPr>
          <p:cNvSpPr>
            <a:spLocks noGrp="1"/>
          </p:cNvSpPr>
          <p:nvPr>
            <p:ph type="title"/>
          </p:nvPr>
        </p:nvSpPr>
        <p:spPr/>
        <p:txBody>
          <a:bodyPr/>
          <a:lstStyle/>
          <a:p>
            <a:r>
              <a:rPr lang="en-US" dirty="0"/>
              <a:t>1970: Birth of the Relational Model</a:t>
            </a:r>
          </a:p>
        </p:txBody>
      </p:sp>
      <p:sp>
        <p:nvSpPr>
          <p:cNvPr id="3" name="Content Placeholder 2">
            <a:extLst>
              <a:ext uri="{FF2B5EF4-FFF2-40B4-BE49-F238E27FC236}">
                <a16:creationId xmlns:a16="http://schemas.microsoft.com/office/drawing/2014/main" id="{BB2510A5-EC2B-8948-6B67-83856C4A3D4C}"/>
              </a:ext>
            </a:extLst>
          </p:cNvPr>
          <p:cNvSpPr>
            <a:spLocks noGrp="1"/>
          </p:cNvSpPr>
          <p:nvPr>
            <p:ph idx="1"/>
          </p:nvPr>
        </p:nvSpPr>
        <p:spPr/>
        <p:txBody>
          <a:bodyPr>
            <a:normAutofit lnSpcReduction="10000"/>
          </a:bodyPr>
          <a:lstStyle/>
          <a:p>
            <a:pPr fontAlgn="ctr"/>
            <a:r>
              <a:rPr lang="en-US" dirty="0"/>
              <a:t>concept of relational databases emerged in 1970 with Edgar F. Codd's groundbreaking paper, "A Relational Model of Data for Large Shared Data Banks," introducing a new way to model and manage data; model, which stores data in tables and uses SQL for queries, revolutionized data management by emphasizing data integrity and reducing redundancy</a:t>
            </a:r>
          </a:p>
          <a:p>
            <a:pPr fontAlgn="ctr"/>
            <a:r>
              <a:rPr lang="en-US" dirty="0"/>
              <a:t>E.F. Codd, a mathematician at IBM, proposed the relational model, which organized data into tables (relations) with rows (tuples) and columns (attributes). This model used relational algebra and calculus for data manipulation. Codd's work was a direct response to the limitations of earlier hierarchical and network database models, which were complex and difficult to query efficiently</a:t>
            </a:r>
          </a:p>
        </p:txBody>
      </p:sp>
      <p:sp>
        <p:nvSpPr>
          <p:cNvPr id="4" name="Slide Number Placeholder 3">
            <a:extLst>
              <a:ext uri="{FF2B5EF4-FFF2-40B4-BE49-F238E27FC236}">
                <a16:creationId xmlns:a16="http://schemas.microsoft.com/office/drawing/2014/main" id="{66314819-B4A7-9A67-6CC6-F52F59DE28FD}"/>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16830491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D2FF-3846-4E3E-65AA-0B095D312C66}"/>
              </a:ext>
            </a:extLst>
          </p:cNvPr>
          <p:cNvSpPr>
            <a:spLocks noGrp="1"/>
          </p:cNvSpPr>
          <p:nvPr>
            <p:ph type="title"/>
          </p:nvPr>
        </p:nvSpPr>
        <p:spPr/>
        <p:txBody>
          <a:bodyPr/>
          <a:lstStyle/>
          <a:p>
            <a:r>
              <a:rPr lang="en-US" dirty="0"/>
              <a:t>Early Implementations</a:t>
            </a:r>
          </a:p>
        </p:txBody>
      </p:sp>
      <p:sp>
        <p:nvSpPr>
          <p:cNvPr id="3" name="Content Placeholder 2">
            <a:extLst>
              <a:ext uri="{FF2B5EF4-FFF2-40B4-BE49-F238E27FC236}">
                <a16:creationId xmlns:a16="http://schemas.microsoft.com/office/drawing/2014/main" id="{D54E97B0-642A-ABDF-D45D-63FC36EB54AD}"/>
              </a:ext>
            </a:extLst>
          </p:cNvPr>
          <p:cNvSpPr>
            <a:spLocks noGrp="1"/>
          </p:cNvSpPr>
          <p:nvPr>
            <p:ph idx="1"/>
          </p:nvPr>
        </p:nvSpPr>
        <p:spPr/>
        <p:txBody>
          <a:bodyPr>
            <a:normAutofit/>
          </a:bodyPr>
          <a:lstStyle/>
          <a:p>
            <a:pPr fontAlgn="ctr"/>
            <a:r>
              <a:rPr lang="en-US" dirty="0"/>
              <a:t>while Codd's paper laid theoretical foundation, it took time to translate into practical systems; early prototypes were developed at IBM and other institutions, but the first commercial relational database, Oracle Version 2, wasn't released until 1979. </a:t>
            </a:r>
          </a:p>
        </p:txBody>
      </p:sp>
      <p:sp>
        <p:nvSpPr>
          <p:cNvPr id="4" name="Slide Number Placeholder 3">
            <a:extLst>
              <a:ext uri="{FF2B5EF4-FFF2-40B4-BE49-F238E27FC236}">
                <a16:creationId xmlns:a16="http://schemas.microsoft.com/office/drawing/2014/main" id="{66512EF9-D12C-A8CA-AEEB-50E97AD4F3F3}"/>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16882022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89F8-CAB6-DEDA-9948-CCEBBFDCD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1239D-606D-1B98-8924-90F07986ED23}"/>
              </a:ext>
            </a:extLst>
          </p:cNvPr>
          <p:cNvSpPr>
            <a:spLocks noGrp="1"/>
          </p:cNvSpPr>
          <p:nvPr>
            <p:ph type="title"/>
          </p:nvPr>
        </p:nvSpPr>
        <p:spPr/>
        <p:txBody>
          <a:bodyPr/>
          <a:lstStyle/>
          <a:p>
            <a:r>
              <a:rPr lang="en-US" dirty="0"/>
              <a:t>Rise of SQL</a:t>
            </a:r>
          </a:p>
        </p:txBody>
      </p:sp>
      <p:sp>
        <p:nvSpPr>
          <p:cNvPr id="3" name="Content Placeholder 2">
            <a:extLst>
              <a:ext uri="{FF2B5EF4-FFF2-40B4-BE49-F238E27FC236}">
                <a16:creationId xmlns:a16="http://schemas.microsoft.com/office/drawing/2014/main" id="{07A6F86A-1AE5-FE98-1D4B-B30029706653}"/>
              </a:ext>
            </a:extLst>
          </p:cNvPr>
          <p:cNvSpPr>
            <a:spLocks noGrp="1"/>
          </p:cNvSpPr>
          <p:nvPr>
            <p:ph idx="1"/>
          </p:nvPr>
        </p:nvSpPr>
        <p:spPr/>
        <p:txBody>
          <a:bodyPr>
            <a:normAutofit/>
          </a:bodyPr>
          <a:lstStyle/>
          <a:p>
            <a:r>
              <a:rPr lang="en-US" dirty="0"/>
              <a:t>Structured Query Language (SQL) emerged as the standard language for interacting with relational databases</a:t>
            </a:r>
          </a:p>
          <a:p>
            <a:r>
              <a:rPr lang="en-US" dirty="0"/>
              <a:t>SQL allowed users to retrieve, manipulate, and manage data through a declarative language, abstracting physical implementation details from the user</a:t>
            </a:r>
          </a:p>
        </p:txBody>
      </p:sp>
      <p:sp>
        <p:nvSpPr>
          <p:cNvPr id="4" name="Slide Number Placeholder 3">
            <a:extLst>
              <a:ext uri="{FF2B5EF4-FFF2-40B4-BE49-F238E27FC236}">
                <a16:creationId xmlns:a16="http://schemas.microsoft.com/office/drawing/2014/main" id="{BD8D0EB5-E11C-BBC4-4B44-72855C67C251}"/>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2839131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C118-8627-FB93-5E6B-AE2F57B0D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E84C9-482A-C1AA-18B7-7E2CA8C558D9}"/>
              </a:ext>
            </a:extLst>
          </p:cNvPr>
          <p:cNvSpPr>
            <a:spLocks noGrp="1"/>
          </p:cNvSpPr>
          <p:nvPr>
            <p:ph type="title"/>
          </p:nvPr>
        </p:nvSpPr>
        <p:spPr>
          <a:xfrm>
            <a:off x="838200" y="365125"/>
            <a:ext cx="11137490" cy="1325563"/>
          </a:xfrm>
        </p:spPr>
        <p:txBody>
          <a:bodyPr>
            <a:normAutofit fontScale="90000"/>
          </a:bodyPr>
          <a:lstStyle/>
          <a:p>
            <a:r>
              <a:rPr lang="en-US" dirty="0"/>
              <a:t>1980: Commercial </a:t>
            </a:r>
            <a:br>
              <a:rPr lang="en-US" dirty="0"/>
            </a:br>
            <a:r>
              <a:rPr lang="en-US" dirty="0"/>
              <a:t>Relational </a:t>
            </a:r>
            <a:r>
              <a:rPr lang="en-US" dirty="0" err="1"/>
              <a:t>DataBase</a:t>
            </a:r>
            <a:r>
              <a:rPr lang="en-US" dirty="0"/>
              <a:t> Management Systems (RDBMS) </a:t>
            </a:r>
          </a:p>
        </p:txBody>
      </p:sp>
      <p:sp>
        <p:nvSpPr>
          <p:cNvPr id="3" name="Content Placeholder 2">
            <a:extLst>
              <a:ext uri="{FF2B5EF4-FFF2-40B4-BE49-F238E27FC236}">
                <a16:creationId xmlns:a16="http://schemas.microsoft.com/office/drawing/2014/main" id="{FCB5EC4C-D252-49BA-1015-25D5B1BBEE27}"/>
              </a:ext>
            </a:extLst>
          </p:cNvPr>
          <p:cNvSpPr>
            <a:spLocks noGrp="1"/>
          </p:cNvSpPr>
          <p:nvPr>
            <p:ph idx="1"/>
          </p:nvPr>
        </p:nvSpPr>
        <p:spPr/>
        <p:txBody>
          <a:bodyPr>
            <a:normAutofit/>
          </a:bodyPr>
          <a:lstStyle/>
          <a:p>
            <a:pPr fontAlgn="ctr"/>
            <a:r>
              <a:rPr lang="en-US" dirty="0"/>
              <a:t>like Oracle and IBM DB2 gained popularity in the 1980s, solidifying the relational model's position as the standard for data management</a:t>
            </a:r>
          </a:p>
        </p:txBody>
      </p:sp>
      <p:sp>
        <p:nvSpPr>
          <p:cNvPr id="4" name="Slide Number Placeholder 3">
            <a:extLst>
              <a:ext uri="{FF2B5EF4-FFF2-40B4-BE49-F238E27FC236}">
                <a16:creationId xmlns:a16="http://schemas.microsoft.com/office/drawing/2014/main" id="{C9F85754-F223-53C2-0DFE-6D4FEFF4C49F}"/>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27762352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A508-BE20-120D-0E44-5E7F92500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13281-268E-3E80-29B6-C3F3A19E59AD}"/>
              </a:ext>
            </a:extLst>
          </p:cNvPr>
          <p:cNvSpPr>
            <a:spLocks noGrp="1"/>
          </p:cNvSpPr>
          <p:nvPr>
            <p:ph type="title"/>
          </p:nvPr>
        </p:nvSpPr>
        <p:spPr/>
        <p:txBody>
          <a:bodyPr/>
          <a:lstStyle/>
          <a:p>
            <a:r>
              <a:rPr lang="en-US" dirty="0"/>
              <a:t>Dominance in the 1980s and 90s</a:t>
            </a:r>
          </a:p>
        </p:txBody>
      </p:sp>
      <p:sp>
        <p:nvSpPr>
          <p:cNvPr id="3" name="Content Placeholder 2">
            <a:extLst>
              <a:ext uri="{FF2B5EF4-FFF2-40B4-BE49-F238E27FC236}">
                <a16:creationId xmlns:a16="http://schemas.microsoft.com/office/drawing/2014/main" id="{09DFB32E-B2CF-226B-F4BF-BF2EA334A6E0}"/>
              </a:ext>
            </a:extLst>
          </p:cNvPr>
          <p:cNvSpPr>
            <a:spLocks noGrp="1"/>
          </p:cNvSpPr>
          <p:nvPr>
            <p:ph idx="1"/>
          </p:nvPr>
        </p:nvSpPr>
        <p:spPr/>
        <p:txBody>
          <a:bodyPr>
            <a:normAutofit/>
          </a:bodyPr>
          <a:lstStyle/>
          <a:p>
            <a:pPr fontAlgn="ctr"/>
            <a:r>
              <a:rPr lang="en-US" dirty="0"/>
              <a:t>relational databases became increasingly popular due to their efficiency, ease of use, and ability to handle complex queries</a:t>
            </a:r>
          </a:p>
          <a:p>
            <a:pPr fontAlgn="ctr"/>
            <a:r>
              <a:rPr lang="en-US" dirty="0"/>
              <a:t>commercial systems like Oracle, IBM DB2, and Microsoft SQL Server gained widespread adoption, becoming the cornerstone of enterprise data management</a:t>
            </a:r>
          </a:p>
        </p:txBody>
      </p:sp>
      <p:sp>
        <p:nvSpPr>
          <p:cNvPr id="4" name="Slide Number Placeholder 3">
            <a:extLst>
              <a:ext uri="{FF2B5EF4-FFF2-40B4-BE49-F238E27FC236}">
                <a16:creationId xmlns:a16="http://schemas.microsoft.com/office/drawing/2014/main" id="{6F90B8E6-55A5-9475-5870-278E7E0C5773}"/>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3935148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ACE4-A83C-E8A4-7642-FAD97A843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FEC6D-5C0E-618F-7D59-EA25AA20A8C7}"/>
              </a:ext>
            </a:extLst>
          </p:cNvPr>
          <p:cNvSpPr>
            <a:spLocks noGrp="1"/>
          </p:cNvSpPr>
          <p:nvPr>
            <p:ph type="title"/>
          </p:nvPr>
        </p:nvSpPr>
        <p:spPr/>
        <p:txBody>
          <a:bodyPr/>
          <a:lstStyle/>
          <a:p>
            <a:r>
              <a:rPr lang="en-US" dirty="0"/>
              <a:t>Continued Evolution</a:t>
            </a:r>
          </a:p>
        </p:txBody>
      </p:sp>
      <p:sp>
        <p:nvSpPr>
          <p:cNvPr id="3" name="Content Placeholder 2">
            <a:extLst>
              <a:ext uri="{FF2B5EF4-FFF2-40B4-BE49-F238E27FC236}">
                <a16:creationId xmlns:a16="http://schemas.microsoft.com/office/drawing/2014/main" id="{3DAD568C-C0B6-A517-0D1C-BA575CB68182}"/>
              </a:ext>
            </a:extLst>
          </p:cNvPr>
          <p:cNvSpPr>
            <a:spLocks noGrp="1"/>
          </p:cNvSpPr>
          <p:nvPr>
            <p:ph idx="1"/>
          </p:nvPr>
        </p:nvSpPr>
        <p:spPr/>
        <p:txBody>
          <a:bodyPr>
            <a:normAutofit/>
          </a:bodyPr>
          <a:lstStyle/>
          <a:p>
            <a:pPr fontAlgn="ctr"/>
            <a:r>
              <a:rPr lang="en-US" dirty="0"/>
              <a:t>relational databases have continued to evolve, incorporating advancements in scalability, performance, and support for new data types</a:t>
            </a:r>
          </a:p>
          <a:p>
            <a:pPr fontAlgn="ctr"/>
            <a:r>
              <a:rPr lang="en-US" dirty="0"/>
              <a:t>even with the rise of other database models like NoSQL, relational databases remain a dominant force in the database landscape. </a:t>
            </a:r>
          </a:p>
          <a:p>
            <a:r>
              <a:rPr lang="en-US" dirty="0"/>
              <a:t>in essence, the relational database model, with its structured approach and the power of SQL, fundamentally changed how we store, access, and manage information, and it continues to be a vital technology in the modern world. </a:t>
            </a:r>
          </a:p>
          <a:p>
            <a:endParaRPr lang="en-US" dirty="0"/>
          </a:p>
        </p:txBody>
      </p:sp>
      <p:sp>
        <p:nvSpPr>
          <p:cNvPr id="4" name="Slide Number Placeholder 3">
            <a:extLst>
              <a:ext uri="{FF2B5EF4-FFF2-40B4-BE49-F238E27FC236}">
                <a16:creationId xmlns:a16="http://schemas.microsoft.com/office/drawing/2014/main" id="{34F8C9D9-BEEE-5815-1ACF-62D81EABAE3D}"/>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25670941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28C53-F69F-8504-62CF-B33C8D8FC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9EDB5-5BFB-452C-4996-3D2FFC3566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7302AC-A03D-6CCC-BA1C-D52CCD2C76B4}"/>
              </a:ext>
            </a:extLst>
          </p:cNvPr>
          <p:cNvSpPr>
            <a:spLocks noGrp="1"/>
          </p:cNvSpPr>
          <p:nvPr>
            <p:ph idx="1"/>
          </p:nvPr>
        </p:nvSpPr>
        <p:spPr/>
        <p:txBody>
          <a:bodyPr>
            <a:normAutofit/>
          </a:bodyPr>
          <a:lstStyle/>
          <a:p>
            <a:r>
              <a:rPr lang="en-US" dirty="0"/>
              <a:t>early experimental relational systems developed in late 1970s and commercial relational database management systems (RDBMS) introduced in early 1980s were quite slow; with development of new storage and indexing techniques and better query processing and optimization, their performance improved</a:t>
            </a:r>
          </a:p>
          <a:p>
            <a:r>
              <a:rPr lang="en-US" dirty="0"/>
              <a:t>eventually, relational databases became dominant type of database system for traditional database applications</a:t>
            </a:r>
          </a:p>
        </p:txBody>
      </p:sp>
      <p:sp>
        <p:nvSpPr>
          <p:cNvPr id="4" name="Slide Number Placeholder 3">
            <a:extLst>
              <a:ext uri="{FF2B5EF4-FFF2-40B4-BE49-F238E27FC236}">
                <a16:creationId xmlns:a16="http://schemas.microsoft.com/office/drawing/2014/main" id="{BE4F48B9-3D83-30B9-B845-C36DF171B322}"/>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16038304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3B5B-16E5-3AD3-690D-57257CC3F8ED}"/>
              </a:ext>
            </a:extLst>
          </p:cNvPr>
          <p:cNvSpPr>
            <a:spLocks noGrp="1"/>
          </p:cNvSpPr>
          <p:nvPr>
            <p:ph type="title"/>
          </p:nvPr>
        </p:nvSpPr>
        <p:spPr/>
        <p:txBody>
          <a:bodyPr>
            <a:normAutofit/>
          </a:bodyPr>
          <a:lstStyle/>
          <a:p>
            <a:r>
              <a:rPr lang="en-US" dirty="0"/>
              <a:t>Object-Oriented Applications and the Need</a:t>
            </a:r>
            <a:br>
              <a:rPr lang="en-US" dirty="0"/>
            </a:br>
            <a:r>
              <a:rPr lang="en-US" dirty="0"/>
              <a:t>for More Complex Databases</a:t>
            </a:r>
          </a:p>
        </p:txBody>
      </p:sp>
      <p:sp>
        <p:nvSpPr>
          <p:cNvPr id="3" name="Content Placeholder 2">
            <a:extLst>
              <a:ext uri="{FF2B5EF4-FFF2-40B4-BE49-F238E27FC236}">
                <a16:creationId xmlns:a16="http://schemas.microsoft.com/office/drawing/2014/main" id="{E507759C-C288-6166-6908-8B79B4ED24C6}"/>
              </a:ext>
            </a:extLst>
          </p:cNvPr>
          <p:cNvSpPr>
            <a:spLocks noGrp="1"/>
          </p:cNvSpPr>
          <p:nvPr>
            <p:ph idx="1"/>
          </p:nvPr>
        </p:nvSpPr>
        <p:spPr/>
        <p:txBody>
          <a:bodyPr>
            <a:noAutofit/>
          </a:bodyPr>
          <a:lstStyle/>
          <a:p>
            <a:r>
              <a:rPr lang="en-US" sz="2700" dirty="0"/>
              <a:t>emergence of object-oriented programming languages in the 1980s and the need to store and share complex, structured objects led to the development of object-oriented databases (OODBs)</a:t>
            </a:r>
          </a:p>
          <a:p>
            <a:r>
              <a:rPr lang="en-US" sz="2700" dirty="0"/>
              <a:t>initially, OODBs were considered a competitor to relational databases, since they provided more general data structures; also incorporated many of useful object-oriented paradigms, such as abstract data types, encapsulation of operations, inheritance, and object identity</a:t>
            </a:r>
          </a:p>
          <a:p>
            <a:r>
              <a:rPr lang="en-US" sz="2700" dirty="0"/>
              <a:t>complexity of the model and the lack of an early standard contributed to their limited use</a:t>
            </a:r>
          </a:p>
          <a:p>
            <a:r>
              <a:rPr lang="en-US" sz="2700" dirty="0"/>
              <a:t>now mainly used in specialized applications, such as engineering design, multimedia publishing, and manufacturing systems</a:t>
            </a:r>
          </a:p>
        </p:txBody>
      </p:sp>
      <p:sp>
        <p:nvSpPr>
          <p:cNvPr id="4" name="Slide Number Placeholder 3">
            <a:extLst>
              <a:ext uri="{FF2B5EF4-FFF2-40B4-BE49-F238E27FC236}">
                <a16:creationId xmlns:a16="http://schemas.microsoft.com/office/drawing/2014/main" id="{9668BF07-12E0-0210-4C2A-F9732D64E32C}"/>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2445797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15A8-3CD1-7C75-0C27-56E59795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CB869-692B-0CEE-04A0-3AF5690F4ADD}"/>
              </a:ext>
            </a:extLst>
          </p:cNvPr>
          <p:cNvSpPr>
            <a:spLocks noGrp="1"/>
          </p:cNvSpPr>
          <p:nvPr>
            <p:ph type="title"/>
          </p:nvPr>
        </p:nvSpPr>
        <p:spPr/>
        <p:txBody>
          <a:bodyPr>
            <a:normAutofit/>
          </a:bodyPr>
          <a:lstStyle/>
          <a:p>
            <a:r>
              <a:rPr lang="en-US" dirty="0"/>
              <a:t>Object-Oriented Applications and the Need</a:t>
            </a:r>
            <a:br>
              <a:rPr lang="en-US" dirty="0"/>
            </a:br>
            <a:r>
              <a:rPr lang="en-US" dirty="0"/>
              <a:t>for More Complex Databases</a:t>
            </a:r>
          </a:p>
        </p:txBody>
      </p:sp>
      <p:sp>
        <p:nvSpPr>
          <p:cNvPr id="3" name="Content Placeholder 2">
            <a:extLst>
              <a:ext uri="{FF2B5EF4-FFF2-40B4-BE49-F238E27FC236}">
                <a16:creationId xmlns:a16="http://schemas.microsoft.com/office/drawing/2014/main" id="{CF6D438B-957D-6662-FC53-6514EA639DF9}"/>
              </a:ext>
            </a:extLst>
          </p:cNvPr>
          <p:cNvSpPr>
            <a:spLocks noGrp="1"/>
          </p:cNvSpPr>
          <p:nvPr>
            <p:ph idx="1"/>
          </p:nvPr>
        </p:nvSpPr>
        <p:spPr/>
        <p:txBody>
          <a:bodyPr>
            <a:noAutofit/>
          </a:bodyPr>
          <a:lstStyle/>
          <a:p>
            <a:r>
              <a:rPr lang="en-US" dirty="0"/>
              <a:t>many object-oriented concepts were incorporated into newer versions of relational DBMSs, leading to Object-Relational </a:t>
            </a:r>
            <a:r>
              <a:rPr lang="en-US" dirty="0" err="1"/>
              <a:t>DataBase</a:t>
            </a:r>
            <a:r>
              <a:rPr lang="en-US" dirty="0"/>
              <a:t> Management Systems</a:t>
            </a:r>
          </a:p>
          <a:p>
            <a:r>
              <a:rPr lang="en-US" dirty="0"/>
              <a:t>Oracle – relational storage, Java integration and other programming languages …</a:t>
            </a:r>
          </a:p>
          <a:p>
            <a:r>
              <a:rPr lang="en-US" dirty="0"/>
              <a:t>SQL Server – relational storage, C# .NET integration and other programming languages …</a:t>
            </a:r>
          </a:p>
          <a:p>
            <a:r>
              <a:rPr lang="en-US" dirty="0"/>
              <a:t>PostgreSQL – relational storage, Python integration and other programming languages … </a:t>
            </a:r>
          </a:p>
          <a:p>
            <a:endParaRPr lang="en-US" dirty="0"/>
          </a:p>
        </p:txBody>
      </p:sp>
      <p:sp>
        <p:nvSpPr>
          <p:cNvPr id="4" name="Slide Number Placeholder 3">
            <a:extLst>
              <a:ext uri="{FF2B5EF4-FFF2-40B4-BE49-F238E27FC236}">
                <a16:creationId xmlns:a16="http://schemas.microsoft.com/office/drawing/2014/main" id="{ADE47EEF-3340-22F8-C3D5-416015E40917}"/>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1201676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D5E5-469C-1283-80DF-8B401D7241D5}"/>
              </a:ext>
            </a:extLst>
          </p:cNvPr>
          <p:cNvSpPr>
            <a:spLocks noGrp="1"/>
          </p:cNvSpPr>
          <p:nvPr>
            <p:ph type="title"/>
          </p:nvPr>
        </p:nvSpPr>
        <p:spPr/>
        <p:txBody>
          <a:bodyPr>
            <a:normAutofit/>
          </a:bodyPr>
          <a:lstStyle/>
          <a:p>
            <a:r>
              <a:rPr lang="en-US" dirty="0"/>
              <a:t>Interchanging Data on the Web Using XML</a:t>
            </a:r>
          </a:p>
        </p:txBody>
      </p:sp>
      <p:sp>
        <p:nvSpPr>
          <p:cNvPr id="3" name="Content Placeholder 2">
            <a:extLst>
              <a:ext uri="{FF2B5EF4-FFF2-40B4-BE49-F238E27FC236}">
                <a16:creationId xmlns:a16="http://schemas.microsoft.com/office/drawing/2014/main" id="{F0A904A9-08A4-89D7-E5A4-E29492D163F1}"/>
              </a:ext>
            </a:extLst>
          </p:cNvPr>
          <p:cNvSpPr>
            <a:spLocks noGrp="1"/>
          </p:cNvSpPr>
          <p:nvPr>
            <p:ph idx="1"/>
          </p:nvPr>
        </p:nvSpPr>
        <p:spPr/>
        <p:txBody>
          <a:bodyPr>
            <a:noAutofit/>
          </a:bodyPr>
          <a:lstStyle/>
          <a:p>
            <a:r>
              <a:rPr lang="en-US" dirty="0"/>
              <a:t>a variety of techniques were developed to allow the interchange of dynamically extracted data on the Web for display </a:t>
            </a:r>
          </a:p>
          <a:p>
            <a:r>
              <a:rPr lang="en-US" dirty="0"/>
              <a:t>the </a:t>
            </a:r>
            <a:r>
              <a:rPr lang="en-US" dirty="0" err="1"/>
              <a:t>eXtended</a:t>
            </a:r>
            <a:r>
              <a:rPr lang="en-US" dirty="0"/>
              <a:t> Markup Language (XML) is one standard for interchanging data among various types of databases and Web pages</a:t>
            </a:r>
          </a:p>
          <a:p>
            <a:r>
              <a:rPr lang="en-US" dirty="0"/>
              <a:t>XML combines concepts from the models used in document systems with database modeling concepts</a:t>
            </a:r>
          </a:p>
        </p:txBody>
      </p:sp>
      <p:sp>
        <p:nvSpPr>
          <p:cNvPr id="4" name="Slide Number Placeholder 3">
            <a:extLst>
              <a:ext uri="{FF2B5EF4-FFF2-40B4-BE49-F238E27FC236}">
                <a16:creationId xmlns:a16="http://schemas.microsoft.com/office/drawing/2014/main" id="{772389A3-0FFB-785D-3048-E1CE630099D8}"/>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33110310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74679-355B-FC7E-0AAA-C87B4C6F846B}"/>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3856B898-B2AC-F152-130C-14F57B643B24}"/>
              </a:ext>
            </a:extLst>
          </p:cNvPr>
          <p:cNvSpPr>
            <a:spLocks noGrp="1"/>
          </p:cNvSpPr>
          <p:nvPr>
            <p:ph idx="1"/>
          </p:nvPr>
        </p:nvSpPr>
        <p:spPr/>
        <p:txBody>
          <a:bodyPr>
            <a:normAutofit/>
          </a:bodyPr>
          <a:lstStyle/>
          <a:p>
            <a:r>
              <a:rPr lang="en-US" dirty="0"/>
              <a:t>such applications traditionally used their own specialized software and file and data structures</a:t>
            </a:r>
          </a:p>
          <a:p>
            <a:r>
              <a:rPr lang="en-US" dirty="0"/>
              <a:t>database systems now offer extensions to better support the specialized requirements for some of these applications</a:t>
            </a:r>
          </a:p>
        </p:txBody>
      </p:sp>
      <p:sp>
        <p:nvSpPr>
          <p:cNvPr id="4" name="Slide Number Placeholder 3">
            <a:extLst>
              <a:ext uri="{FF2B5EF4-FFF2-40B4-BE49-F238E27FC236}">
                <a16:creationId xmlns:a16="http://schemas.microsoft.com/office/drawing/2014/main" id="{BE9B8D26-BA62-3C43-1684-E66AE2B45F31}"/>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19252536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F5F5E-83CC-93E7-5268-00B9E3A30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18CE9-8EFD-AE61-C069-8639352DB6AC}"/>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98CA5230-FECC-8889-005F-1168767BD83E}"/>
              </a:ext>
            </a:extLst>
          </p:cNvPr>
          <p:cNvSpPr>
            <a:spLocks noGrp="1"/>
          </p:cNvSpPr>
          <p:nvPr>
            <p:ph idx="1"/>
          </p:nvPr>
        </p:nvSpPr>
        <p:spPr/>
        <p:txBody>
          <a:bodyPr>
            <a:noAutofit/>
          </a:bodyPr>
          <a:lstStyle/>
          <a:p>
            <a:r>
              <a:rPr lang="en-US" b="1" dirty="0"/>
              <a:t>Scientific </a:t>
            </a:r>
            <a:r>
              <a:rPr lang="en-US" dirty="0"/>
              <a:t>applications that store large amounts of data resulting from scientific experiments in areas such as high-energy physics, the mapping of the human genome, and the discovery of protein structures</a:t>
            </a:r>
          </a:p>
          <a:p>
            <a:r>
              <a:rPr lang="en-US" dirty="0"/>
              <a:t>storage and retrieval of images, including scanned news or personal photographs, satellite photographic images, and images from medical procedures such as x-rays and MRI (magnetic resonance imaging) tests</a:t>
            </a:r>
          </a:p>
          <a:p>
            <a:r>
              <a:rPr lang="en-US" dirty="0"/>
              <a:t>storage and retrieval of videos, such as movies, and video clips from news or personal digital cameras</a:t>
            </a:r>
          </a:p>
        </p:txBody>
      </p:sp>
      <p:sp>
        <p:nvSpPr>
          <p:cNvPr id="4" name="Slide Number Placeholder 3">
            <a:extLst>
              <a:ext uri="{FF2B5EF4-FFF2-40B4-BE49-F238E27FC236}">
                <a16:creationId xmlns:a16="http://schemas.microsoft.com/office/drawing/2014/main" id="{9960543E-1A2D-89F5-34AF-DAD951634FC8}"/>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13829753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11D4-F215-E501-2F81-438E19B80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68CA1-0FB8-68E4-36EC-334502EFC550}"/>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443EFBC7-792C-D740-0DDD-C428AB8C2239}"/>
              </a:ext>
            </a:extLst>
          </p:cNvPr>
          <p:cNvSpPr>
            <a:spLocks noGrp="1"/>
          </p:cNvSpPr>
          <p:nvPr>
            <p:ph idx="1"/>
          </p:nvPr>
        </p:nvSpPr>
        <p:spPr/>
        <p:txBody>
          <a:bodyPr>
            <a:noAutofit/>
          </a:bodyPr>
          <a:lstStyle/>
          <a:p>
            <a:r>
              <a:rPr lang="en-US" b="1" dirty="0"/>
              <a:t>Data mining </a:t>
            </a:r>
            <a:r>
              <a:rPr lang="en-US" dirty="0"/>
              <a:t>applications that analyze large amounts of data to search for the occurrences of specific patterns or relationships, and for identifying unusual patterns in areas such as credit card fraud detection</a:t>
            </a:r>
          </a:p>
        </p:txBody>
      </p:sp>
      <p:sp>
        <p:nvSpPr>
          <p:cNvPr id="4" name="Slide Number Placeholder 3">
            <a:extLst>
              <a:ext uri="{FF2B5EF4-FFF2-40B4-BE49-F238E27FC236}">
                <a16:creationId xmlns:a16="http://schemas.microsoft.com/office/drawing/2014/main" id="{ADDBF861-88F1-BB2C-07C8-36FDA4AB78EF}"/>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2730947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9C2A-2EF6-4D31-5F52-79D8F54EC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4C0CB-B74F-FC1F-2EC1-147D16F5473B}"/>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64AF79BD-0A96-AC96-6FDA-7A13E340EADD}"/>
              </a:ext>
            </a:extLst>
          </p:cNvPr>
          <p:cNvSpPr>
            <a:spLocks noGrp="1"/>
          </p:cNvSpPr>
          <p:nvPr>
            <p:ph idx="1"/>
          </p:nvPr>
        </p:nvSpPr>
        <p:spPr/>
        <p:txBody>
          <a:bodyPr>
            <a:noAutofit/>
          </a:bodyPr>
          <a:lstStyle/>
          <a:p>
            <a:r>
              <a:rPr lang="en-US" b="1" dirty="0"/>
              <a:t>Spatial </a:t>
            </a:r>
            <a:r>
              <a:rPr lang="en-US" dirty="0"/>
              <a:t>applications that store and analyze spatial locations of data, such as weather information, maps used in geographical information systems, and automobile navigational systems</a:t>
            </a:r>
          </a:p>
        </p:txBody>
      </p:sp>
      <p:sp>
        <p:nvSpPr>
          <p:cNvPr id="4" name="Slide Number Placeholder 3">
            <a:extLst>
              <a:ext uri="{FF2B5EF4-FFF2-40B4-BE49-F238E27FC236}">
                <a16:creationId xmlns:a16="http://schemas.microsoft.com/office/drawing/2014/main" id="{CD5F9260-1E4A-25EF-33F2-1E7D3D80170D}"/>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36761584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ACC2E-87B1-14B6-15E8-A81CAECBB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F81EB-504E-E77B-5C80-6763616E269E}"/>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8BC66484-977B-D662-AE24-B859CB14BD72}"/>
              </a:ext>
            </a:extLst>
          </p:cNvPr>
          <p:cNvSpPr>
            <a:spLocks noGrp="1"/>
          </p:cNvSpPr>
          <p:nvPr>
            <p:ph idx="1"/>
          </p:nvPr>
        </p:nvSpPr>
        <p:spPr/>
        <p:txBody>
          <a:bodyPr>
            <a:noAutofit/>
          </a:bodyPr>
          <a:lstStyle/>
          <a:p>
            <a:r>
              <a:rPr lang="en-US" b="1" dirty="0"/>
              <a:t>Time series </a:t>
            </a:r>
            <a:r>
              <a:rPr lang="en-US" dirty="0"/>
              <a:t>applications that store information such as economic data at regular points in time, such as daily sales and monthly gross national product figures</a:t>
            </a:r>
          </a:p>
        </p:txBody>
      </p:sp>
      <p:sp>
        <p:nvSpPr>
          <p:cNvPr id="4" name="Slide Number Placeholder 3">
            <a:extLst>
              <a:ext uri="{FF2B5EF4-FFF2-40B4-BE49-F238E27FC236}">
                <a16:creationId xmlns:a16="http://schemas.microsoft.com/office/drawing/2014/main" id="{B07ACF79-3EE5-15FD-6CF9-ABCFDECC9064}"/>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39952146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A4BA-3865-5971-0F30-F3D4D8BA6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93CC3-4A4B-9664-874E-E55827D8E2E7}"/>
              </a:ext>
            </a:extLst>
          </p:cNvPr>
          <p:cNvSpPr>
            <a:spLocks noGrp="1"/>
          </p:cNvSpPr>
          <p:nvPr>
            <p:ph type="title"/>
          </p:nvPr>
        </p:nvSpPr>
        <p:spPr/>
        <p:txBody>
          <a:bodyPr>
            <a:normAutofit/>
          </a:bodyPr>
          <a:lstStyle/>
          <a:p>
            <a:r>
              <a:rPr lang="en-US" dirty="0"/>
              <a:t>Extending Database Capabilities </a:t>
            </a:r>
            <a:br>
              <a:rPr lang="en-US" dirty="0"/>
            </a:br>
            <a:r>
              <a:rPr lang="en-US" dirty="0"/>
              <a:t>for New Applications</a:t>
            </a:r>
          </a:p>
        </p:txBody>
      </p:sp>
      <p:sp>
        <p:nvSpPr>
          <p:cNvPr id="3" name="Content Placeholder 2">
            <a:extLst>
              <a:ext uri="{FF2B5EF4-FFF2-40B4-BE49-F238E27FC236}">
                <a16:creationId xmlns:a16="http://schemas.microsoft.com/office/drawing/2014/main" id="{12F7D68F-3458-FFC7-2057-F1D07C49F7D7}"/>
              </a:ext>
            </a:extLst>
          </p:cNvPr>
          <p:cNvSpPr>
            <a:spLocks noGrp="1"/>
          </p:cNvSpPr>
          <p:nvPr>
            <p:ph idx="1"/>
          </p:nvPr>
        </p:nvSpPr>
        <p:spPr/>
        <p:txBody>
          <a:bodyPr>
            <a:noAutofit/>
          </a:bodyPr>
          <a:lstStyle/>
          <a:p>
            <a:r>
              <a:rPr lang="en-US" dirty="0"/>
              <a:t>it was quickly apparent that basic relational systems were not very suitable for many of these applications, usually for one or more of following reasons:</a:t>
            </a:r>
          </a:p>
          <a:p>
            <a:pPr lvl="1"/>
            <a:r>
              <a:rPr lang="en-US" sz="2500" dirty="0"/>
              <a:t>more complex data structures were needed for modeling application than simple relational representation</a:t>
            </a:r>
          </a:p>
          <a:p>
            <a:pPr lvl="1"/>
            <a:r>
              <a:rPr lang="en-US" sz="2500" dirty="0"/>
              <a:t>new data types were needed in addition to basic numeric and character string types</a:t>
            </a:r>
          </a:p>
          <a:p>
            <a:pPr lvl="1"/>
            <a:r>
              <a:rPr lang="en-US" sz="2500" dirty="0"/>
              <a:t>new operations and query language constructs were necessary to manipulate new data types</a:t>
            </a:r>
          </a:p>
          <a:p>
            <a:pPr lvl="1"/>
            <a:r>
              <a:rPr lang="en-US" sz="2500" dirty="0"/>
              <a:t>new storage and indexing structures were needed for efficient searching on new data types</a:t>
            </a:r>
          </a:p>
        </p:txBody>
      </p:sp>
      <p:sp>
        <p:nvSpPr>
          <p:cNvPr id="4" name="Slide Number Placeholder 3">
            <a:extLst>
              <a:ext uri="{FF2B5EF4-FFF2-40B4-BE49-F238E27FC236}">
                <a16:creationId xmlns:a16="http://schemas.microsoft.com/office/drawing/2014/main" id="{B076FD60-FA0D-B056-63E9-48D91730EB2E}"/>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1023317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26BCA-1822-F86C-9D50-54166B26A3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BAE306-1BF4-D8E6-AB45-2B08FC82B58B}"/>
              </a:ext>
            </a:extLst>
          </p:cNvPr>
          <p:cNvSpPr>
            <a:spLocks noGrp="1"/>
          </p:cNvSpPr>
          <p:nvPr>
            <p:ph idx="1"/>
          </p:nvPr>
        </p:nvSpPr>
        <p:spPr/>
        <p:txBody>
          <a:bodyPr>
            <a:normAutofit/>
          </a:bodyPr>
          <a:lstStyle/>
          <a:p>
            <a:r>
              <a:rPr lang="en-US" dirty="0"/>
              <a:t>this led DBMS developers to add functionality to their systems</a:t>
            </a:r>
          </a:p>
          <a:p>
            <a:r>
              <a:rPr lang="en-US" dirty="0"/>
              <a:t>some functionality was general purpose, such as incorporating concepts from object-oriented databases into relational systems</a:t>
            </a:r>
          </a:p>
          <a:p>
            <a:r>
              <a:rPr lang="en-US" dirty="0"/>
              <a:t>other functionality was special purpose, in the form of optional modules that could be used for specific applications</a:t>
            </a:r>
          </a:p>
          <a:p>
            <a:pPr lvl="1"/>
            <a:r>
              <a:rPr lang="en-US" sz="2600" dirty="0"/>
              <a:t>for example, users could incorporate a time series / GIS module to use with their relational DBMS for their time series / GIS application</a:t>
            </a:r>
          </a:p>
          <a:p>
            <a:endParaRPr lang="en-US" dirty="0"/>
          </a:p>
        </p:txBody>
      </p:sp>
      <p:sp>
        <p:nvSpPr>
          <p:cNvPr id="4" name="Slide Number Placeholder 3">
            <a:extLst>
              <a:ext uri="{FF2B5EF4-FFF2-40B4-BE49-F238E27FC236}">
                <a16:creationId xmlns:a16="http://schemas.microsoft.com/office/drawing/2014/main" id="{0C5B9D0F-48FD-BD5A-A2F6-233ADD4681C6}"/>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12143702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95BB-BFC5-0F98-C7F7-7CC938EE6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BECB6-AFB5-1F03-3667-85CE7D59A97F}"/>
              </a:ext>
            </a:extLst>
          </p:cNvPr>
          <p:cNvSpPr>
            <a:spLocks noGrp="1"/>
          </p:cNvSpPr>
          <p:nvPr>
            <p:ph type="title"/>
          </p:nvPr>
        </p:nvSpPr>
        <p:spPr/>
        <p:txBody>
          <a:bodyPr>
            <a:normAutofit/>
          </a:bodyPr>
          <a:lstStyle/>
          <a:p>
            <a:r>
              <a:rPr lang="en-US" dirty="0"/>
              <a:t>Emergence of Big Data Storage Systems</a:t>
            </a:r>
            <a:br>
              <a:rPr lang="en-US" dirty="0"/>
            </a:br>
            <a:r>
              <a:rPr lang="en-US" dirty="0"/>
              <a:t>and NOSQL Databases</a:t>
            </a:r>
          </a:p>
        </p:txBody>
      </p:sp>
      <p:sp>
        <p:nvSpPr>
          <p:cNvPr id="3" name="Content Placeholder 2">
            <a:extLst>
              <a:ext uri="{FF2B5EF4-FFF2-40B4-BE49-F238E27FC236}">
                <a16:creationId xmlns:a16="http://schemas.microsoft.com/office/drawing/2014/main" id="{A3DACFEA-2E0A-A23C-7733-249B77887FA9}"/>
              </a:ext>
            </a:extLst>
          </p:cNvPr>
          <p:cNvSpPr>
            <a:spLocks noGrp="1"/>
          </p:cNvSpPr>
          <p:nvPr>
            <p:ph idx="1"/>
          </p:nvPr>
        </p:nvSpPr>
        <p:spPr/>
        <p:txBody>
          <a:bodyPr>
            <a:normAutofit/>
          </a:bodyPr>
          <a:lstStyle/>
          <a:p>
            <a:r>
              <a:rPr lang="en-US" dirty="0"/>
              <a:t>first decade of twenty-first century, proliferation of applications and platforms such as social media Web sites, large e-commerce companies, Web search indexes, and cloud storage led to a surge in the amount of data stored on databases</a:t>
            </a:r>
          </a:p>
          <a:p>
            <a:r>
              <a:rPr lang="en-US" dirty="0"/>
              <a:t>new types of database systems were necessary to manage these huge databases - systems that would provide fast search and retrieval as well as reliable and safe storage of less structured data and nontraditional types of data, such as social media posts and tweets</a:t>
            </a:r>
          </a:p>
        </p:txBody>
      </p:sp>
      <p:sp>
        <p:nvSpPr>
          <p:cNvPr id="4" name="Slide Number Placeholder 3">
            <a:extLst>
              <a:ext uri="{FF2B5EF4-FFF2-40B4-BE49-F238E27FC236}">
                <a16:creationId xmlns:a16="http://schemas.microsoft.com/office/drawing/2014/main" id="{266464D1-141D-B821-60FE-9928AE8B51CB}"/>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1450810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EBBF8-6226-B042-F65E-5E5F6267C718}"/>
              </a:ext>
            </a:extLst>
          </p:cNvPr>
          <p:cNvSpPr>
            <a:spLocks noGrp="1"/>
          </p:cNvSpPr>
          <p:nvPr>
            <p:ph type="title"/>
          </p:nvPr>
        </p:nvSpPr>
        <p:spPr/>
        <p:txBody>
          <a:bodyPr>
            <a:normAutofit/>
          </a:bodyPr>
          <a:lstStyle/>
          <a:p>
            <a:r>
              <a:rPr lang="en-US" dirty="0"/>
              <a:t>Emergence of Big Data Storage Systems</a:t>
            </a:r>
            <a:br>
              <a:rPr lang="en-US" dirty="0"/>
            </a:br>
            <a:r>
              <a:rPr lang="en-US" dirty="0"/>
              <a:t>and NOSQL Databases</a:t>
            </a:r>
          </a:p>
        </p:txBody>
      </p:sp>
      <p:sp>
        <p:nvSpPr>
          <p:cNvPr id="3" name="Content Placeholder 2">
            <a:extLst>
              <a:ext uri="{FF2B5EF4-FFF2-40B4-BE49-F238E27FC236}">
                <a16:creationId xmlns:a16="http://schemas.microsoft.com/office/drawing/2014/main" id="{43F81019-BCCD-837F-19A5-303F837D8A4E}"/>
              </a:ext>
            </a:extLst>
          </p:cNvPr>
          <p:cNvSpPr>
            <a:spLocks noGrp="1"/>
          </p:cNvSpPr>
          <p:nvPr>
            <p:ph idx="1"/>
          </p:nvPr>
        </p:nvSpPr>
        <p:spPr/>
        <p:txBody>
          <a:bodyPr>
            <a:normAutofit/>
          </a:bodyPr>
          <a:lstStyle/>
          <a:p>
            <a:r>
              <a:rPr lang="en-US" dirty="0"/>
              <a:t>some of the requirements of these new systems were not compatible with SQL relational DBMSs </a:t>
            </a:r>
          </a:p>
          <a:p>
            <a:r>
              <a:rPr lang="en-US" dirty="0"/>
              <a:t>term </a:t>
            </a:r>
            <a:r>
              <a:rPr lang="en-US" i="1" dirty="0"/>
              <a:t>NOSQL </a:t>
            </a:r>
            <a:r>
              <a:rPr lang="en-US" dirty="0"/>
              <a:t>is generally interpreted as Not only SQL, meaning that in systems than manage large amounts of data, some of the data is stored using SQL systems, whereas other data would be stored using NoSQL, depending on the application requirements</a:t>
            </a:r>
          </a:p>
        </p:txBody>
      </p:sp>
      <p:sp>
        <p:nvSpPr>
          <p:cNvPr id="4" name="Slide Number Placeholder 3">
            <a:extLst>
              <a:ext uri="{FF2B5EF4-FFF2-40B4-BE49-F238E27FC236}">
                <a16:creationId xmlns:a16="http://schemas.microsoft.com/office/drawing/2014/main" id="{63D0DA1B-CF62-F898-B6B8-61A5690D9C15}"/>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40632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E7AF6C-2932-3728-5294-42D071BB7A7D}"/>
              </a:ext>
            </a:extLst>
          </p:cNvPr>
          <p:cNvSpPr>
            <a:spLocks noGrp="1"/>
          </p:cNvSpPr>
          <p:nvPr>
            <p:ph type="title"/>
          </p:nvPr>
        </p:nvSpPr>
        <p:spPr/>
        <p:txBody>
          <a:bodyPr/>
          <a:lstStyle/>
          <a:p>
            <a:r>
              <a:rPr lang="en-US" b="1" dirty="0"/>
              <a:t>Database System</a:t>
            </a:r>
            <a:endParaRPr lang="en-US" dirty="0"/>
          </a:p>
        </p:txBody>
      </p:sp>
      <p:sp>
        <p:nvSpPr>
          <p:cNvPr id="6" name="Text Placeholder 5">
            <a:extLst>
              <a:ext uri="{FF2B5EF4-FFF2-40B4-BE49-F238E27FC236}">
                <a16:creationId xmlns:a16="http://schemas.microsoft.com/office/drawing/2014/main" id="{B094F395-8C84-548C-6A72-9768C70EE0D8}"/>
              </a:ext>
            </a:extLst>
          </p:cNvPr>
          <p:cNvSpPr>
            <a:spLocks noGrp="1"/>
          </p:cNvSpPr>
          <p:nvPr>
            <p:ph type="body" idx="1"/>
          </p:nvPr>
        </p:nvSpPr>
        <p:spPr/>
        <p:txBody>
          <a:bodyPr>
            <a:normAutofit/>
          </a:bodyPr>
          <a:lstStyle/>
          <a:p>
            <a:r>
              <a:rPr lang="en-US" sz="4000" b="1" dirty="0"/>
              <a:t>Concepts and Architecture</a:t>
            </a:r>
            <a:endParaRPr lang="en-US" sz="4000" dirty="0"/>
          </a:p>
        </p:txBody>
      </p:sp>
      <p:sp>
        <p:nvSpPr>
          <p:cNvPr id="4" name="Slide Number Placeholder 3">
            <a:extLst>
              <a:ext uri="{FF2B5EF4-FFF2-40B4-BE49-F238E27FC236}">
                <a16:creationId xmlns:a16="http://schemas.microsoft.com/office/drawing/2014/main" id="{38798D75-6A4E-930A-DD61-10B21C9991B1}"/>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14933254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FEDF-EE96-9043-54B3-34E166D63105}"/>
              </a:ext>
            </a:extLst>
          </p:cNvPr>
          <p:cNvSpPr>
            <a:spLocks noGrp="1"/>
          </p:cNvSpPr>
          <p:nvPr>
            <p:ph type="title"/>
          </p:nvPr>
        </p:nvSpPr>
        <p:spPr/>
        <p:txBody>
          <a:bodyPr/>
          <a:lstStyle/>
          <a:p>
            <a:r>
              <a:rPr lang="en-US" dirty="0"/>
              <a:t>Data Abstraction</a:t>
            </a:r>
          </a:p>
        </p:txBody>
      </p:sp>
      <p:sp>
        <p:nvSpPr>
          <p:cNvPr id="3" name="Content Placeholder 2">
            <a:extLst>
              <a:ext uri="{FF2B5EF4-FFF2-40B4-BE49-F238E27FC236}">
                <a16:creationId xmlns:a16="http://schemas.microsoft.com/office/drawing/2014/main" id="{AB3DA9D9-2DFC-0F7F-10AA-E2EFCB78D3F3}"/>
              </a:ext>
            </a:extLst>
          </p:cNvPr>
          <p:cNvSpPr>
            <a:spLocks noGrp="1"/>
          </p:cNvSpPr>
          <p:nvPr>
            <p:ph idx="1"/>
          </p:nvPr>
        </p:nvSpPr>
        <p:spPr/>
        <p:txBody>
          <a:bodyPr/>
          <a:lstStyle/>
          <a:p>
            <a:r>
              <a:rPr lang="en-US" dirty="0"/>
              <a:t>refers to suppression of details of data organization and storage, and highlighting of essential features</a:t>
            </a:r>
          </a:p>
          <a:p>
            <a:r>
              <a:rPr lang="en-US" dirty="0"/>
              <a:t>so that different users can perceive data at their preferred level of detail</a:t>
            </a:r>
          </a:p>
        </p:txBody>
      </p:sp>
      <p:sp>
        <p:nvSpPr>
          <p:cNvPr id="4" name="Slide Number Placeholder 3">
            <a:extLst>
              <a:ext uri="{FF2B5EF4-FFF2-40B4-BE49-F238E27FC236}">
                <a16:creationId xmlns:a16="http://schemas.microsoft.com/office/drawing/2014/main" id="{EF5D2633-07EB-3DE5-C35D-08A806EC36BC}"/>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1553504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9670-2CDE-77E5-4403-9FDD0AD1BE3C}"/>
              </a:ext>
            </a:extLst>
          </p:cNvPr>
          <p:cNvSpPr>
            <a:spLocks noGrp="1"/>
          </p:cNvSpPr>
          <p:nvPr>
            <p:ph type="title"/>
          </p:nvPr>
        </p:nvSpPr>
        <p:spPr/>
        <p:txBody>
          <a:bodyPr/>
          <a:lstStyle/>
          <a:p>
            <a:r>
              <a:rPr lang="en-US" dirty="0"/>
              <a:t>Data Model</a:t>
            </a:r>
          </a:p>
        </p:txBody>
      </p:sp>
      <p:sp>
        <p:nvSpPr>
          <p:cNvPr id="3" name="Content Placeholder 2">
            <a:extLst>
              <a:ext uri="{FF2B5EF4-FFF2-40B4-BE49-F238E27FC236}">
                <a16:creationId xmlns:a16="http://schemas.microsoft.com/office/drawing/2014/main" id="{D910E1CD-2168-643B-4B11-D62C98BD1E54}"/>
              </a:ext>
            </a:extLst>
          </p:cNvPr>
          <p:cNvSpPr>
            <a:spLocks noGrp="1"/>
          </p:cNvSpPr>
          <p:nvPr>
            <p:ph idx="1"/>
          </p:nvPr>
        </p:nvSpPr>
        <p:spPr/>
        <p:txBody>
          <a:bodyPr/>
          <a:lstStyle/>
          <a:p>
            <a:r>
              <a:rPr lang="en-US" dirty="0"/>
              <a:t>collection of concepts that can be used to describe the structure of a database; provides necessary means to achieve this data abstraction</a:t>
            </a:r>
          </a:p>
          <a:p>
            <a:r>
              <a:rPr lang="en-US" dirty="0"/>
              <a:t>by </a:t>
            </a:r>
            <a:r>
              <a:rPr lang="en-US" i="1" dirty="0"/>
              <a:t>structure of database, </a:t>
            </a:r>
            <a:r>
              <a:rPr lang="en-US" dirty="0"/>
              <a:t>we mean data types, relationships, and constraints that apply to data</a:t>
            </a:r>
          </a:p>
          <a:p>
            <a:r>
              <a:rPr lang="en-US" dirty="0"/>
              <a:t>most data models also include a set of basic operations</a:t>
            </a:r>
            <a:r>
              <a:rPr lang="en-US" b="1" dirty="0"/>
              <a:t> </a:t>
            </a:r>
            <a:r>
              <a:rPr lang="en-US" dirty="0"/>
              <a:t>for specifying retrievals and updates on database</a:t>
            </a:r>
          </a:p>
        </p:txBody>
      </p:sp>
      <p:sp>
        <p:nvSpPr>
          <p:cNvPr id="4" name="Slide Number Placeholder 3">
            <a:extLst>
              <a:ext uri="{FF2B5EF4-FFF2-40B4-BE49-F238E27FC236}">
                <a16:creationId xmlns:a16="http://schemas.microsoft.com/office/drawing/2014/main" id="{20702478-1F4D-FE4B-06CE-3E5AD1F8254E}"/>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11917425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484E-D04F-A5CD-C1F0-095E28AFB9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774CC4-FF58-5995-F73B-2418A1A14658}"/>
              </a:ext>
            </a:extLst>
          </p:cNvPr>
          <p:cNvSpPr>
            <a:spLocks noGrp="1"/>
          </p:cNvSpPr>
          <p:nvPr>
            <p:ph idx="1"/>
          </p:nvPr>
        </p:nvSpPr>
        <p:spPr/>
        <p:txBody>
          <a:bodyPr>
            <a:normAutofit/>
          </a:bodyPr>
          <a:lstStyle/>
          <a:p>
            <a:r>
              <a:rPr lang="en-US" dirty="0"/>
              <a:t>high-level or conceptual data models provide concepts that are close to the way many users perceive data</a:t>
            </a:r>
          </a:p>
          <a:p>
            <a:r>
              <a:rPr lang="en-US" dirty="0"/>
              <a:t>low-level or physical data models provide concepts that describe the details of how data is stored on computer storage media</a:t>
            </a:r>
          </a:p>
          <a:p>
            <a:pPr lvl="1"/>
            <a:r>
              <a:rPr lang="en-US" sz="2700" dirty="0"/>
              <a:t>concepts meant for computer specialists, not for end users</a:t>
            </a:r>
          </a:p>
          <a:p>
            <a:r>
              <a:rPr lang="en-US" dirty="0"/>
              <a:t>between these two extremes is a class of representational (or implementation) data models ;hide many details of data storage on disk but can be implemented on computer system directly</a:t>
            </a:r>
          </a:p>
        </p:txBody>
      </p:sp>
      <p:sp>
        <p:nvSpPr>
          <p:cNvPr id="4" name="Slide Number Placeholder 3">
            <a:extLst>
              <a:ext uri="{FF2B5EF4-FFF2-40B4-BE49-F238E27FC236}">
                <a16:creationId xmlns:a16="http://schemas.microsoft.com/office/drawing/2014/main" id="{E045D402-81FF-0556-D50D-E180665D11BF}"/>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19330911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55D6B-79D0-6B4D-728F-479B5210B897}"/>
              </a:ext>
            </a:extLst>
          </p:cNvPr>
          <p:cNvSpPr>
            <a:spLocks noGrp="1"/>
          </p:cNvSpPr>
          <p:nvPr>
            <p:ph type="title"/>
          </p:nvPr>
        </p:nvSpPr>
        <p:spPr/>
        <p:txBody>
          <a:bodyPr/>
          <a:lstStyle/>
          <a:p>
            <a:r>
              <a:rPr lang="en-US" dirty="0"/>
              <a:t>Conceptual Data Models</a:t>
            </a:r>
          </a:p>
        </p:txBody>
      </p:sp>
      <p:sp>
        <p:nvSpPr>
          <p:cNvPr id="3" name="Content Placeholder 2">
            <a:extLst>
              <a:ext uri="{FF2B5EF4-FFF2-40B4-BE49-F238E27FC236}">
                <a16:creationId xmlns:a16="http://schemas.microsoft.com/office/drawing/2014/main" id="{9F58D51B-5860-B2AC-89B7-2062E78993AE}"/>
              </a:ext>
            </a:extLst>
          </p:cNvPr>
          <p:cNvSpPr>
            <a:spLocks noGrp="1"/>
          </p:cNvSpPr>
          <p:nvPr>
            <p:ph idx="1"/>
          </p:nvPr>
        </p:nvSpPr>
        <p:spPr/>
        <p:txBody>
          <a:bodyPr>
            <a:normAutofit/>
          </a:bodyPr>
          <a:lstStyle/>
          <a:p>
            <a:r>
              <a:rPr lang="en-US" dirty="0"/>
              <a:t>use concepts such as entities, attributes, and relationships</a:t>
            </a:r>
          </a:p>
          <a:p>
            <a:r>
              <a:rPr lang="en-US" dirty="0"/>
              <a:t>an </a:t>
            </a:r>
            <a:r>
              <a:rPr lang="en-US" b="1" dirty="0"/>
              <a:t>entity </a:t>
            </a:r>
            <a:r>
              <a:rPr lang="en-US" dirty="0"/>
              <a:t>represents a real-world object or event or concept, such as an employee or a project from the </a:t>
            </a:r>
            <a:r>
              <a:rPr lang="en-US" dirty="0" err="1"/>
              <a:t>miniworld</a:t>
            </a:r>
            <a:r>
              <a:rPr lang="en-US" dirty="0"/>
              <a:t> that is described in database</a:t>
            </a:r>
          </a:p>
          <a:p>
            <a:r>
              <a:rPr lang="en-US" dirty="0"/>
              <a:t>an </a:t>
            </a:r>
            <a:r>
              <a:rPr lang="en-US" b="1" dirty="0"/>
              <a:t>attribute </a:t>
            </a:r>
            <a:r>
              <a:rPr lang="en-US" dirty="0"/>
              <a:t>represents some property of interest that further describes an entity, such as the employee’s name or salary</a:t>
            </a:r>
          </a:p>
          <a:p>
            <a:r>
              <a:rPr lang="en-US" dirty="0"/>
              <a:t>a </a:t>
            </a:r>
            <a:r>
              <a:rPr lang="en-US" b="1" dirty="0"/>
              <a:t>relationship </a:t>
            </a:r>
            <a:r>
              <a:rPr lang="en-US" dirty="0"/>
              <a:t>among two or more entities represents an association among the entities, for example, a works-on relationship between an employee and a project</a:t>
            </a:r>
          </a:p>
        </p:txBody>
      </p:sp>
      <p:sp>
        <p:nvSpPr>
          <p:cNvPr id="4" name="Slide Number Placeholder 3">
            <a:extLst>
              <a:ext uri="{FF2B5EF4-FFF2-40B4-BE49-F238E27FC236}">
                <a16:creationId xmlns:a16="http://schemas.microsoft.com/office/drawing/2014/main" id="{58BD0895-185D-52A3-DAE1-FCC93B572739}"/>
              </a:ext>
            </a:extLst>
          </p:cNvPr>
          <p:cNvSpPr>
            <a:spLocks noGrp="1"/>
          </p:cNvSpPr>
          <p:nvPr>
            <p:ph type="sldNum" sz="quarter" idx="12"/>
          </p:nvPr>
        </p:nvSpPr>
        <p:spPr/>
        <p:txBody>
          <a:bodyPr/>
          <a:lstStyle/>
          <a:p>
            <a:fld id="{6264BDCF-5269-49AC-A246-ED26C2B980E3}" type="slidenum">
              <a:rPr lang="en-US" smtClean="0"/>
              <a:t>86</a:t>
            </a:fld>
            <a:endParaRPr lang="en-US"/>
          </a:p>
        </p:txBody>
      </p:sp>
    </p:spTree>
    <p:extLst>
      <p:ext uri="{BB962C8B-B14F-4D97-AF65-F5344CB8AC3E}">
        <p14:creationId xmlns:p14="http://schemas.microsoft.com/office/powerpoint/2010/main" val="40260228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2B29B-6ED0-D78A-505F-CE4FC074D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6A43B-143B-67DC-35C0-4B54C8809D46}"/>
              </a:ext>
            </a:extLst>
          </p:cNvPr>
          <p:cNvSpPr>
            <a:spLocks noGrp="1"/>
          </p:cNvSpPr>
          <p:nvPr>
            <p:ph type="title"/>
          </p:nvPr>
        </p:nvSpPr>
        <p:spPr/>
        <p:txBody>
          <a:bodyPr/>
          <a:lstStyle/>
          <a:p>
            <a:r>
              <a:rPr lang="en-US" dirty="0"/>
              <a:t>Representational or implementation </a:t>
            </a:r>
            <a:br>
              <a:rPr lang="en-US" dirty="0"/>
            </a:br>
            <a:r>
              <a:rPr lang="en-US" dirty="0"/>
              <a:t>Data Models</a:t>
            </a:r>
          </a:p>
        </p:txBody>
      </p:sp>
      <p:sp>
        <p:nvSpPr>
          <p:cNvPr id="3" name="Content Placeholder 2">
            <a:extLst>
              <a:ext uri="{FF2B5EF4-FFF2-40B4-BE49-F238E27FC236}">
                <a16:creationId xmlns:a16="http://schemas.microsoft.com/office/drawing/2014/main" id="{A99A9702-261D-9030-C0D0-3FCA55F83A9A}"/>
              </a:ext>
            </a:extLst>
          </p:cNvPr>
          <p:cNvSpPr>
            <a:spLocks noGrp="1"/>
          </p:cNvSpPr>
          <p:nvPr>
            <p:ph idx="1"/>
          </p:nvPr>
        </p:nvSpPr>
        <p:spPr/>
        <p:txBody>
          <a:bodyPr>
            <a:normAutofit/>
          </a:bodyPr>
          <a:lstStyle/>
          <a:p>
            <a:r>
              <a:rPr lang="en-US" dirty="0"/>
              <a:t>used most frequently in traditional commercial DBMSs; include widely used relational data model, as well as so-called legacy data models: network and hierarchical models that have been widely used in the past</a:t>
            </a:r>
          </a:p>
          <a:p>
            <a:r>
              <a:rPr lang="en-US" dirty="0"/>
              <a:t>representational data models represent data by using record structures and hence are sometimes called record-based data models</a:t>
            </a:r>
          </a:p>
          <a:p>
            <a:endParaRPr lang="en-US" dirty="0"/>
          </a:p>
        </p:txBody>
      </p:sp>
      <p:sp>
        <p:nvSpPr>
          <p:cNvPr id="4" name="Slide Number Placeholder 3">
            <a:extLst>
              <a:ext uri="{FF2B5EF4-FFF2-40B4-BE49-F238E27FC236}">
                <a16:creationId xmlns:a16="http://schemas.microsoft.com/office/drawing/2014/main" id="{00712387-3EF9-FB19-462C-EEC1ED22AA8A}"/>
              </a:ext>
            </a:extLst>
          </p:cNvPr>
          <p:cNvSpPr>
            <a:spLocks noGrp="1"/>
          </p:cNvSpPr>
          <p:nvPr>
            <p:ph type="sldNum" sz="quarter" idx="12"/>
          </p:nvPr>
        </p:nvSpPr>
        <p:spPr/>
        <p:txBody>
          <a:bodyPr/>
          <a:lstStyle/>
          <a:p>
            <a:fld id="{6264BDCF-5269-49AC-A246-ED26C2B980E3}" type="slidenum">
              <a:rPr lang="en-US" smtClean="0"/>
              <a:t>87</a:t>
            </a:fld>
            <a:endParaRPr lang="en-US"/>
          </a:p>
        </p:txBody>
      </p:sp>
    </p:spTree>
    <p:extLst>
      <p:ext uri="{BB962C8B-B14F-4D97-AF65-F5344CB8AC3E}">
        <p14:creationId xmlns:p14="http://schemas.microsoft.com/office/powerpoint/2010/main" val="5681944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58769-A4F0-F6E4-F5AE-07EBEFAD90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B22233-AAFA-753A-EFDA-27BC8EE425E4}"/>
              </a:ext>
            </a:extLst>
          </p:cNvPr>
          <p:cNvSpPr>
            <a:spLocks noGrp="1"/>
          </p:cNvSpPr>
          <p:nvPr>
            <p:ph idx="1"/>
          </p:nvPr>
        </p:nvSpPr>
        <p:spPr/>
        <p:txBody>
          <a:bodyPr/>
          <a:lstStyle/>
          <a:p>
            <a:r>
              <a:rPr lang="en-US" dirty="0"/>
              <a:t>can view the object data model as an example of a new family of higher-level implementation data models that are closer to conceptual data models</a:t>
            </a:r>
          </a:p>
          <a:p>
            <a:endParaRPr lang="en-US" dirty="0"/>
          </a:p>
        </p:txBody>
      </p:sp>
      <p:sp>
        <p:nvSpPr>
          <p:cNvPr id="4" name="Slide Number Placeholder 3">
            <a:extLst>
              <a:ext uri="{FF2B5EF4-FFF2-40B4-BE49-F238E27FC236}">
                <a16:creationId xmlns:a16="http://schemas.microsoft.com/office/drawing/2014/main" id="{911BFF62-0B8C-0DBC-7C82-6E86A036DB1D}"/>
              </a:ext>
            </a:extLst>
          </p:cNvPr>
          <p:cNvSpPr>
            <a:spLocks noGrp="1"/>
          </p:cNvSpPr>
          <p:nvPr>
            <p:ph type="sldNum" sz="quarter" idx="12"/>
          </p:nvPr>
        </p:nvSpPr>
        <p:spPr/>
        <p:txBody>
          <a:bodyPr/>
          <a:lstStyle/>
          <a:p>
            <a:fld id="{6264BDCF-5269-49AC-A246-ED26C2B980E3}" type="slidenum">
              <a:rPr lang="en-US" smtClean="0"/>
              <a:t>88</a:t>
            </a:fld>
            <a:endParaRPr lang="en-US"/>
          </a:p>
        </p:txBody>
      </p:sp>
    </p:spTree>
    <p:extLst>
      <p:ext uri="{BB962C8B-B14F-4D97-AF65-F5344CB8AC3E}">
        <p14:creationId xmlns:p14="http://schemas.microsoft.com/office/powerpoint/2010/main" val="16903716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8A452-3D2F-9261-5731-66E94AF32625}"/>
              </a:ext>
            </a:extLst>
          </p:cNvPr>
          <p:cNvSpPr>
            <a:spLocks noGrp="1"/>
          </p:cNvSpPr>
          <p:nvPr>
            <p:ph type="title"/>
          </p:nvPr>
        </p:nvSpPr>
        <p:spPr/>
        <p:txBody>
          <a:bodyPr/>
          <a:lstStyle/>
          <a:p>
            <a:r>
              <a:rPr lang="en-US" dirty="0"/>
              <a:t>Physical Data Models</a:t>
            </a:r>
          </a:p>
        </p:txBody>
      </p:sp>
      <p:sp>
        <p:nvSpPr>
          <p:cNvPr id="3" name="Content Placeholder 2">
            <a:extLst>
              <a:ext uri="{FF2B5EF4-FFF2-40B4-BE49-F238E27FC236}">
                <a16:creationId xmlns:a16="http://schemas.microsoft.com/office/drawing/2014/main" id="{BAB784EA-C0B9-6998-0D3E-4DC9E8F3E378}"/>
              </a:ext>
            </a:extLst>
          </p:cNvPr>
          <p:cNvSpPr>
            <a:spLocks noGrp="1"/>
          </p:cNvSpPr>
          <p:nvPr>
            <p:ph idx="1"/>
          </p:nvPr>
        </p:nvSpPr>
        <p:spPr/>
        <p:txBody>
          <a:bodyPr>
            <a:normAutofit/>
          </a:bodyPr>
          <a:lstStyle/>
          <a:p>
            <a:r>
              <a:rPr lang="en-US" dirty="0"/>
              <a:t>describe how data is stored as files in computer by representing information such as record formats, record orderings, and access paths</a:t>
            </a:r>
          </a:p>
          <a:p>
            <a:r>
              <a:rPr lang="en-US" dirty="0"/>
              <a:t>an access path</a:t>
            </a:r>
            <a:r>
              <a:rPr lang="en-US" b="1" dirty="0"/>
              <a:t> </a:t>
            </a:r>
            <a:r>
              <a:rPr lang="en-US" dirty="0"/>
              <a:t>is a search structure that makes the search for particular database records efficient, such as indexing or hashing</a:t>
            </a:r>
          </a:p>
          <a:p>
            <a:r>
              <a:rPr lang="en-US" dirty="0"/>
              <a:t>an </a:t>
            </a:r>
            <a:r>
              <a:rPr lang="en-US" b="1" dirty="0"/>
              <a:t>index </a:t>
            </a:r>
            <a:r>
              <a:rPr lang="en-US" dirty="0"/>
              <a:t>is an example of an access path that allows direct access to data using an index term or a keyword</a:t>
            </a:r>
          </a:p>
        </p:txBody>
      </p:sp>
      <p:sp>
        <p:nvSpPr>
          <p:cNvPr id="4" name="Slide Number Placeholder 3">
            <a:extLst>
              <a:ext uri="{FF2B5EF4-FFF2-40B4-BE49-F238E27FC236}">
                <a16:creationId xmlns:a16="http://schemas.microsoft.com/office/drawing/2014/main" id="{58483E0E-B9D0-FBCC-A7CE-06A3FA1E6193}"/>
              </a:ext>
            </a:extLst>
          </p:cNvPr>
          <p:cNvSpPr>
            <a:spLocks noGrp="1"/>
          </p:cNvSpPr>
          <p:nvPr>
            <p:ph type="sldNum" sz="quarter" idx="12"/>
          </p:nvPr>
        </p:nvSpPr>
        <p:spPr/>
        <p:txBody>
          <a:bodyPr/>
          <a:lstStyle/>
          <a:p>
            <a:fld id="{6264BDCF-5269-49AC-A246-ED26C2B980E3}" type="slidenum">
              <a:rPr lang="en-US" smtClean="0"/>
              <a:t>89</a:t>
            </a:fld>
            <a:endParaRPr lang="en-US"/>
          </a:p>
        </p:txBody>
      </p:sp>
    </p:spTree>
    <p:extLst>
      <p:ext uri="{BB962C8B-B14F-4D97-AF65-F5344CB8AC3E}">
        <p14:creationId xmlns:p14="http://schemas.microsoft.com/office/powerpoint/2010/main" val="23217971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4D13-429E-0FEA-31E2-E6B42B634882}"/>
              </a:ext>
            </a:extLst>
          </p:cNvPr>
          <p:cNvSpPr>
            <a:spLocks noGrp="1"/>
          </p:cNvSpPr>
          <p:nvPr>
            <p:ph type="title"/>
          </p:nvPr>
        </p:nvSpPr>
        <p:spPr/>
        <p:txBody>
          <a:bodyPr/>
          <a:lstStyle/>
          <a:p>
            <a:r>
              <a:rPr lang="en-US" dirty="0"/>
              <a:t>self-describing data models</a:t>
            </a:r>
          </a:p>
        </p:txBody>
      </p:sp>
      <p:sp>
        <p:nvSpPr>
          <p:cNvPr id="3" name="Content Placeholder 2">
            <a:extLst>
              <a:ext uri="{FF2B5EF4-FFF2-40B4-BE49-F238E27FC236}">
                <a16:creationId xmlns:a16="http://schemas.microsoft.com/office/drawing/2014/main" id="{35C0C016-1479-EA03-0E41-595FB737C1F6}"/>
              </a:ext>
            </a:extLst>
          </p:cNvPr>
          <p:cNvSpPr>
            <a:spLocks noGrp="1"/>
          </p:cNvSpPr>
          <p:nvPr>
            <p:ph idx="1"/>
          </p:nvPr>
        </p:nvSpPr>
        <p:spPr/>
        <p:txBody>
          <a:bodyPr>
            <a:normAutofit/>
          </a:bodyPr>
          <a:lstStyle/>
          <a:p>
            <a:r>
              <a:rPr lang="en-US" dirty="0"/>
              <a:t>data storage in systems based on these models combines description of data with the data values themselves</a:t>
            </a:r>
          </a:p>
          <a:p>
            <a:r>
              <a:rPr lang="en-US" dirty="0"/>
              <a:t>include XML</a:t>
            </a:r>
            <a:r>
              <a:rPr lang="en-US" b="1" dirty="0"/>
              <a:t> </a:t>
            </a:r>
            <a:r>
              <a:rPr lang="en-US" dirty="0"/>
              <a:t>as well as many of the key-value stores, document database, JSON and other NoSQL systems that were recently created for managing big data</a:t>
            </a:r>
          </a:p>
        </p:txBody>
      </p:sp>
      <p:sp>
        <p:nvSpPr>
          <p:cNvPr id="4" name="Slide Number Placeholder 3">
            <a:extLst>
              <a:ext uri="{FF2B5EF4-FFF2-40B4-BE49-F238E27FC236}">
                <a16:creationId xmlns:a16="http://schemas.microsoft.com/office/drawing/2014/main" id="{B76B12DC-1BDD-857C-04F6-CF0427454137}"/>
              </a:ext>
            </a:extLst>
          </p:cNvPr>
          <p:cNvSpPr>
            <a:spLocks noGrp="1"/>
          </p:cNvSpPr>
          <p:nvPr>
            <p:ph type="sldNum" sz="quarter" idx="12"/>
          </p:nvPr>
        </p:nvSpPr>
        <p:spPr/>
        <p:txBody>
          <a:bodyPr/>
          <a:lstStyle/>
          <a:p>
            <a:fld id="{6264BDCF-5269-49AC-A246-ED26C2B980E3}" type="slidenum">
              <a:rPr lang="en-US" smtClean="0"/>
              <a:t>90</a:t>
            </a:fld>
            <a:endParaRPr lang="en-US"/>
          </a:p>
        </p:txBody>
      </p:sp>
    </p:spTree>
    <p:extLst>
      <p:ext uri="{BB962C8B-B14F-4D97-AF65-F5344CB8AC3E}">
        <p14:creationId xmlns:p14="http://schemas.microsoft.com/office/powerpoint/2010/main" val="16288602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D7194-C79B-7B1A-5F47-83CC9A4E886C}"/>
              </a:ext>
            </a:extLst>
          </p:cNvPr>
          <p:cNvSpPr>
            <a:spLocks noGrp="1"/>
          </p:cNvSpPr>
          <p:nvPr>
            <p:ph type="title"/>
          </p:nvPr>
        </p:nvSpPr>
        <p:spPr/>
        <p:txBody>
          <a:bodyPr/>
          <a:lstStyle/>
          <a:p>
            <a:r>
              <a:rPr lang="en-US" dirty="0"/>
              <a:t>Database Schema and Instances</a:t>
            </a:r>
          </a:p>
        </p:txBody>
      </p:sp>
      <p:sp>
        <p:nvSpPr>
          <p:cNvPr id="3" name="Content Placeholder 2">
            <a:extLst>
              <a:ext uri="{FF2B5EF4-FFF2-40B4-BE49-F238E27FC236}">
                <a16:creationId xmlns:a16="http://schemas.microsoft.com/office/drawing/2014/main" id="{1C921731-F26E-89F3-FC82-34ED915A757E}"/>
              </a:ext>
            </a:extLst>
          </p:cNvPr>
          <p:cNvSpPr>
            <a:spLocks noGrp="1"/>
          </p:cNvSpPr>
          <p:nvPr>
            <p:ph idx="1"/>
          </p:nvPr>
        </p:nvSpPr>
        <p:spPr/>
        <p:txBody>
          <a:bodyPr>
            <a:normAutofit/>
          </a:bodyPr>
          <a:lstStyle/>
          <a:p>
            <a:r>
              <a:rPr lang="en-US" dirty="0"/>
              <a:t>in a data model, it is important to distinguish between </a:t>
            </a:r>
            <a:r>
              <a:rPr lang="en-US" i="1" dirty="0"/>
              <a:t>description </a:t>
            </a:r>
            <a:r>
              <a:rPr lang="en-US" dirty="0"/>
              <a:t>of database and database itself</a:t>
            </a:r>
          </a:p>
          <a:p>
            <a:r>
              <a:rPr lang="en-US" dirty="0"/>
              <a:t>description of a database is called </a:t>
            </a:r>
            <a:r>
              <a:rPr lang="en-US" b="1" dirty="0"/>
              <a:t>database schema</a:t>
            </a:r>
            <a:r>
              <a:rPr lang="en-US" dirty="0"/>
              <a:t>, which is specified during database design and is not expected to change frequently</a:t>
            </a:r>
          </a:p>
          <a:p>
            <a:r>
              <a:rPr lang="en-US" dirty="0"/>
              <a:t>most data models have certain conventions for displaying schemas as diagrams; displayed schema is called a </a:t>
            </a:r>
            <a:r>
              <a:rPr lang="en-US" b="1" dirty="0"/>
              <a:t>schema diagram</a:t>
            </a:r>
          </a:p>
          <a:p>
            <a:r>
              <a:rPr lang="en-US" dirty="0"/>
              <a:t>diagram displays the structure of each record type but not the actual instances of records</a:t>
            </a:r>
          </a:p>
        </p:txBody>
      </p:sp>
      <p:sp>
        <p:nvSpPr>
          <p:cNvPr id="4" name="Slide Number Placeholder 3">
            <a:extLst>
              <a:ext uri="{FF2B5EF4-FFF2-40B4-BE49-F238E27FC236}">
                <a16:creationId xmlns:a16="http://schemas.microsoft.com/office/drawing/2014/main" id="{522DC942-854D-DB60-B78E-1081366AFD28}"/>
              </a:ext>
            </a:extLst>
          </p:cNvPr>
          <p:cNvSpPr>
            <a:spLocks noGrp="1"/>
          </p:cNvSpPr>
          <p:nvPr>
            <p:ph type="sldNum" sz="quarter" idx="12"/>
          </p:nvPr>
        </p:nvSpPr>
        <p:spPr/>
        <p:txBody>
          <a:bodyPr/>
          <a:lstStyle/>
          <a:p>
            <a:fld id="{6264BDCF-5269-49AC-A246-ED26C2B980E3}" type="slidenum">
              <a:rPr lang="en-US" smtClean="0"/>
              <a:t>91</a:t>
            </a:fld>
            <a:endParaRPr lang="en-US"/>
          </a:p>
        </p:txBody>
      </p:sp>
    </p:spTree>
    <p:extLst>
      <p:ext uri="{BB962C8B-B14F-4D97-AF65-F5344CB8AC3E}">
        <p14:creationId xmlns:p14="http://schemas.microsoft.com/office/powerpoint/2010/main" val="25656209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60895-26A1-A840-31AF-A38C46F994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7B1D2F-A29C-FAA5-40D6-EFBEBCF4FE7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5FE7DB3-0547-398D-001D-71480A7CB7D5}"/>
              </a:ext>
            </a:extLst>
          </p:cNvPr>
          <p:cNvSpPr>
            <a:spLocks noGrp="1"/>
          </p:cNvSpPr>
          <p:nvPr>
            <p:ph type="sldNum" sz="quarter" idx="12"/>
          </p:nvPr>
        </p:nvSpPr>
        <p:spPr/>
        <p:txBody>
          <a:bodyPr/>
          <a:lstStyle/>
          <a:p>
            <a:fld id="{6264BDCF-5269-49AC-A246-ED26C2B980E3}" type="slidenum">
              <a:rPr lang="en-US" smtClean="0"/>
              <a:t>92</a:t>
            </a:fld>
            <a:endParaRPr lang="en-US"/>
          </a:p>
        </p:txBody>
      </p:sp>
      <p:pic>
        <p:nvPicPr>
          <p:cNvPr id="6" name="Picture 5">
            <a:extLst>
              <a:ext uri="{FF2B5EF4-FFF2-40B4-BE49-F238E27FC236}">
                <a16:creationId xmlns:a16="http://schemas.microsoft.com/office/drawing/2014/main" id="{7BDEFCC8-3751-48F5-CF70-7582C000AFA2}"/>
              </a:ext>
            </a:extLst>
          </p:cNvPr>
          <p:cNvPicPr>
            <a:picLocks noChangeAspect="1"/>
          </p:cNvPicPr>
          <p:nvPr/>
        </p:nvPicPr>
        <p:blipFill>
          <a:blip r:embed="rId2"/>
          <a:stretch>
            <a:fillRect/>
          </a:stretch>
        </p:blipFill>
        <p:spPr>
          <a:xfrm>
            <a:off x="1097280" y="182880"/>
            <a:ext cx="9730059" cy="6413547"/>
          </a:xfrm>
          <a:prstGeom prst="rect">
            <a:avLst/>
          </a:prstGeom>
        </p:spPr>
      </p:pic>
    </p:spTree>
    <p:extLst>
      <p:ext uri="{BB962C8B-B14F-4D97-AF65-F5344CB8AC3E}">
        <p14:creationId xmlns:p14="http://schemas.microsoft.com/office/powerpoint/2010/main" val="31485505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E8E42-FC44-A56C-06CE-841066DB71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0D0168-6DE2-BB49-9A57-8637CCA0A8E7}"/>
              </a:ext>
            </a:extLst>
          </p:cNvPr>
          <p:cNvSpPr>
            <a:spLocks noGrp="1"/>
          </p:cNvSpPr>
          <p:nvPr>
            <p:ph idx="1"/>
          </p:nvPr>
        </p:nvSpPr>
        <p:spPr/>
        <p:txBody>
          <a:bodyPr>
            <a:noAutofit/>
          </a:bodyPr>
          <a:lstStyle/>
          <a:p>
            <a:r>
              <a:rPr lang="en-US" sz="2700" dirty="0"/>
              <a:t>schema diagram displays only some aspects of a schema, such as names of record types and data items, and some types of constraints</a:t>
            </a:r>
          </a:p>
          <a:p>
            <a:r>
              <a:rPr lang="en-US" sz="2700" dirty="0"/>
              <a:t>many types of constraints are not represented in schema diagrams</a:t>
            </a:r>
          </a:p>
        </p:txBody>
      </p:sp>
      <p:sp>
        <p:nvSpPr>
          <p:cNvPr id="4" name="Slide Number Placeholder 3">
            <a:extLst>
              <a:ext uri="{FF2B5EF4-FFF2-40B4-BE49-F238E27FC236}">
                <a16:creationId xmlns:a16="http://schemas.microsoft.com/office/drawing/2014/main" id="{626F9692-E6CC-8475-D807-98B1E444DE65}"/>
              </a:ext>
            </a:extLst>
          </p:cNvPr>
          <p:cNvSpPr>
            <a:spLocks noGrp="1"/>
          </p:cNvSpPr>
          <p:nvPr>
            <p:ph type="sldNum" sz="quarter" idx="12"/>
          </p:nvPr>
        </p:nvSpPr>
        <p:spPr/>
        <p:txBody>
          <a:bodyPr/>
          <a:lstStyle/>
          <a:p>
            <a:fld id="{6264BDCF-5269-49AC-A246-ED26C2B980E3}" type="slidenum">
              <a:rPr lang="en-US" smtClean="0"/>
              <a:t>93</a:t>
            </a:fld>
            <a:endParaRPr lang="en-US"/>
          </a:p>
        </p:txBody>
      </p:sp>
    </p:spTree>
    <p:extLst>
      <p:ext uri="{BB962C8B-B14F-4D97-AF65-F5344CB8AC3E}">
        <p14:creationId xmlns:p14="http://schemas.microsoft.com/office/powerpoint/2010/main" val="42760043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DB354-AED0-0797-97F1-99F08D904B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C4AD7E-376C-C313-F846-B96F21E7A386}"/>
              </a:ext>
            </a:extLst>
          </p:cNvPr>
          <p:cNvSpPr>
            <a:spLocks noGrp="1"/>
          </p:cNvSpPr>
          <p:nvPr>
            <p:ph idx="1"/>
          </p:nvPr>
        </p:nvSpPr>
        <p:spPr/>
        <p:txBody>
          <a:bodyPr>
            <a:normAutofit/>
          </a:bodyPr>
          <a:lstStyle/>
          <a:p>
            <a:r>
              <a:rPr lang="en-US" dirty="0"/>
              <a:t>actual data in a database may change quite frequently</a:t>
            </a:r>
          </a:p>
          <a:p>
            <a:r>
              <a:rPr lang="en-US" dirty="0"/>
              <a:t>data in the database at a particular moment in time is called a </a:t>
            </a:r>
            <a:r>
              <a:rPr lang="en-US" b="1" dirty="0"/>
              <a:t>database state </a:t>
            </a:r>
            <a:r>
              <a:rPr lang="en-US" dirty="0"/>
              <a:t>or </a:t>
            </a:r>
            <a:r>
              <a:rPr lang="en-US" b="1" dirty="0"/>
              <a:t>snapshot </a:t>
            </a:r>
          </a:p>
          <a:p>
            <a:r>
              <a:rPr lang="en-US" dirty="0"/>
              <a:t>also called the </a:t>
            </a:r>
            <a:r>
              <a:rPr lang="en-US" i="1" dirty="0"/>
              <a:t>current </a:t>
            </a:r>
            <a:r>
              <a:rPr lang="en-US" dirty="0"/>
              <a:t>set of occurrences</a:t>
            </a:r>
            <a:r>
              <a:rPr lang="en-US" b="1" dirty="0"/>
              <a:t> </a:t>
            </a:r>
            <a:r>
              <a:rPr lang="en-US" dirty="0"/>
              <a:t>or </a:t>
            </a:r>
            <a:r>
              <a:rPr lang="en-US" b="1" dirty="0"/>
              <a:t>database instances </a:t>
            </a:r>
          </a:p>
          <a:p>
            <a:r>
              <a:rPr lang="en-US" dirty="0"/>
              <a:t>every time we insert, update or delete a record or value of a data item in record, we change one state of the database into another state</a:t>
            </a:r>
          </a:p>
        </p:txBody>
      </p:sp>
      <p:sp>
        <p:nvSpPr>
          <p:cNvPr id="4" name="Slide Number Placeholder 3">
            <a:extLst>
              <a:ext uri="{FF2B5EF4-FFF2-40B4-BE49-F238E27FC236}">
                <a16:creationId xmlns:a16="http://schemas.microsoft.com/office/drawing/2014/main" id="{41231608-6FE1-4D1A-325F-40C49D7CE572}"/>
              </a:ext>
            </a:extLst>
          </p:cNvPr>
          <p:cNvSpPr>
            <a:spLocks noGrp="1"/>
          </p:cNvSpPr>
          <p:nvPr>
            <p:ph type="sldNum" sz="quarter" idx="12"/>
          </p:nvPr>
        </p:nvSpPr>
        <p:spPr/>
        <p:txBody>
          <a:bodyPr/>
          <a:lstStyle/>
          <a:p>
            <a:fld id="{6264BDCF-5269-49AC-A246-ED26C2B980E3}" type="slidenum">
              <a:rPr lang="en-US" smtClean="0"/>
              <a:t>94</a:t>
            </a:fld>
            <a:endParaRPr lang="en-US"/>
          </a:p>
        </p:txBody>
      </p:sp>
    </p:spTree>
    <p:extLst>
      <p:ext uri="{BB962C8B-B14F-4D97-AF65-F5344CB8AC3E}">
        <p14:creationId xmlns:p14="http://schemas.microsoft.com/office/powerpoint/2010/main" val="8829293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1020E-7208-E294-90AC-C8C0148419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4E9D47-D895-5476-83DB-7B88B1334D0D}"/>
              </a:ext>
            </a:extLst>
          </p:cNvPr>
          <p:cNvSpPr>
            <a:spLocks noGrp="1"/>
          </p:cNvSpPr>
          <p:nvPr>
            <p:ph idx="1"/>
          </p:nvPr>
        </p:nvSpPr>
        <p:spPr/>
        <p:txBody>
          <a:bodyPr>
            <a:normAutofit/>
          </a:bodyPr>
          <a:lstStyle/>
          <a:p>
            <a:r>
              <a:rPr lang="en-US" dirty="0"/>
              <a:t>DBMS is responsible for ensuring that every state of database is a </a:t>
            </a:r>
            <a:r>
              <a:rPr lang="en-US" b="1" dirty="0"/>
              <a:t>valid state - </a:t>
            </a:r>
            <a:r>
              <a:rPr lang="en-US" dirty="0"/>
              <a:t>that is, state that satisfies the structure and constraints specified in schema</a:t>
            </a:r>
          </a:p>
          <a:p>
            <a:endParaRPr lang="en-US" dirty="0"/>
          </a:p>
          <a:p>
            <a:r>
              <a:rPr lang="en-US" dirty="0"/>
              <a:t>schema is sometimes called the </a:t>
            </a:r>
            <a:r>
              <a:rPr lang="en-US" b="1" dirty="0"/>
              <a:t>intension</a:t>
            </a:r>
            <a:r>
              <a:rPr lang="en-US" dirty="0"/>
              <a:t>, and database state is called an </a:t>
            </a:r>
            <a:r>
              <a:rPr lang="en-US" b="1" dirty="0"/>
              <a:t>extension </a:t>
            </a:r>
            <a:r>
              <a:rPr lang="en-US" dirty="0"/>
              <a:t>of the schema</a:t>
            </a:r>
          </a:p>
        </p:txBody>
      </p:sp>
      <p:sp>
        <p:nvSpPr>
          <p:cNvPr id="4" name="Slide Number Placeholder 3">
            <a:extLst>
              <a:ext uri="{FF2B5EF4-FFF2-40B4-BE49-F238E27FC236}">
                <a16:creationId xmlns:a16="http://schemas.microsoft.com/office/drawing/2014/main" id="{63B30E48-3261-BE32-4191-C03765FBAB61}"/>
              </a:ext>
            </a:extLst>
          </p:cNvPr>
          <p:cNvSpPr>
            <a:spLocks noGrp="1"/>
          </p:cNvSpPr>
          <p:nvPr>
            <p:ph type="sldNum" sz="quarter" idx="12"/>
          </p:nvPr>
        </p:nvSpPr>
        <p:spPr/>
        <p:txBody>
          <a:bodyPr/>
          <a:lstStyle/>
          <a:p>
            <a:fld id="{6264BDCF-5269-49AC-A246-ED26C2B980E3}" type="slidenum">
              <a:rPr lang="en-US" smtClean="0"/>
              <a:t>95</a:t>
            </a:fld>
            <a:endParaRPr lang="en-US"/>
          </a:p>
        </p:txBody>
      </p:sp>
    </p:spTree>
    <p:extLst>
      <p:ext uri="{BB962C8B-B14F-4D97-AF65-F5344CB8AC3E}">
        <p14:creationId xmlns:p14="http://schemas.microsoft.com/office/powerpoint/2010/main" val="11418660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D6781-2122-78EE-F93B-CC22840369D8}"/>
              </a:ext>
            </a:extLst>
          </p:cNvPr>
          <p:cNvSpPr>
            <a:spLocks noGrp="1"/>
          </p:cNvSpPr>
          <p:nvPr>
            <p:ph type="title"/>
          </p:nvPr>
        </p:nvSpPr>
        <p:spPr/>
        <p:txBody>
          <a:bodyPr/>
          <a:lstStyle/>
          <a:p>
            <a:r>
              <a:rPr lang="en-US" dirty="0"/>
              <a:t>Three-Schema Architecture</a:t>
            </a:r>
            <a:br>
              <a:rPr lang="en-US" dirty="0"/>
            </a:br>
            <a:r>
              <a:rPr lang="en-US" dirty="0"/>
              <a:t>and Data Independence</a:t>
            </a:r>
          </a:p>
        </p:txBody>
      </p:sp>
      <p:sp>
        <p:nvSpPr>
          <p:cNvPr id="3" name="Content Placeholder 2">
            <a:extLst>
              <a:ext uri="{FF2B5EF4-FFF2-40B4-BE49-F238E27FC236}">
                <a16:creationId xmlns:a16="http://schemas.microsoft.com/office/drawing/2014/main" id="{607B98C8-907B-A748-1CB3-1D645F786C47}"/>
              </a:ext>
            </a:extLst>
          </p:cNvPr>
          <p:cNvSpPr>
            <a:spLocks noGrp="1"/>
          </p:cNvSpPr>
          <p:nvPr>
            <p:ph idx="1"/>
          </p:nvPr>
        </p:nvSpPr>
        <p:spPr/>
        <p:txBody>
          <a:bodyPr>
            <a:noAutofit/>
          </a:bodyPr>
          <a:lstStyle/>
          <a:p>
            <a:pPr marL="514350" indent="-514350">
              <a:buFont typeface="+mj-lt"/>
              <a:buAutoNum type="arabicPeriod"/>
            </a:pPr>
            <a:r>
              <a:rPr lang="en-US" dirty="0"/>
              <a:t>internal level has an internal schema</a:t>
            </a:r>
          </a:p>
          <a:p>
            <a:pPr marL="514350" indent="-514350">
              <a:buFont typeface="+mj-lt"/>
              <a:buAutoNum type="arabicPeriod"/>
            </a:pPr>
            <a:r>
              <a:rPr lang="en-US" dirty="0"/>
              <a:t>conceptual level has a conceptual schema</a:t>
            </a:r>
          </a:p>
          <a:p>
            <a:pPr marL="514350" indent="-514350">
              <a:buFont typeface="+mj-lt"/>
              <a:buAutoNum type="arabicPeriod"/>
            </a:pPr>
            <a:r>
              <a:rPr lang="en-US" dirty="0"/>
              <a:t>external or view level includes a number of external schemas or user views</a:t>
            </a:r>
          </a:p>
        </p:txBody>
      </p:sp>
      <p:sp>
        <p:nvSpPr>
          <p:cNvPr id="4" name="Slide Number Placeholder 3">
            <a:extLst>
              <a:ext uri="{FF2B5EF4-FFF2-40B4-BE49-F238E27FC236}">
                <a16:creationId xmlns:a16="http://schemas.microsoft.com/office/drawing/2014/main" id="{6FA0AC88-0F4A-95C7-0690-E4F17C72FF9D}"/>
              </a:ext>
            </a:extLst>
          </p:cNvPr>
          <p:cNvSpPr>
            <a:spLocks noGrp="1"/>
          </p:cNvSpPr>
          <p:nvPr>
            <p:ph type="sldNum" sz="quarter" idx="12"/>
          </p:nvPr>
        </p:nvSpPr>
        <p:spPr/>
        <p:txBody>
          <a:bodyPr/>
          <a:lstStyle/>
          <a:p>
            <a:fld id="{6264BDCF-5269-49AC-A246-ED26C2B980E3}" type="slidenum">
              <a:rPr lang="en-US" smtClean="0"/>
              <a:t>96</a:t>
            </a:fld>
            <a:endParaRPr lang="en-US"/>
          </a:p>
        </p:txBody>
      </p:sp>
    </p:spTree>
    <p:extLst>
      <p:ext uri="{BB962C8B-B14F-4D97-AF65-F5344CB8AC3E}">
        <p14:creationId xmlns:p14="http://schemas.microsoft.com/office/powerpoint/2010/main" val="16106590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0506-C5EC-3AB5-EBAB-847D03318249}"/>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DBC20108-1F97-91EB-95DC-A11400BED44A}"/>
              </a:ext>
            </a:extLst>
          </p:cNvPr>
          <p:cNvPicPr>
            <a:picLocks noGrp="1" noChangeAspect="1"/>
          </p:cNvPicPr>
          <p:nvPr>
            <p:ph idx="1"/>
          </p:nvPr>
        </p:nvPicPr>
        <p:blipFill>
          <a:blip r:embed="rId2"/>
          <a:stretch>
            <a:fillRect/>
          </a:stretch>
        </p:blipFill>
        <p:spPr>
          <a:xfrm>
            <a:off x="1097280" y="182880"/>
            <a:ext cx="8351710" cy="6298933"/>
          </a:xfrm>
        </p:spPr>
      </p:pic>
      <p:sp>
        <p:nvSpPr>
          <p:cNvPr id="4" name="Slide Number Placeholder 3">
            <a:extLst>
              <a:ext uri="{FF2B5EF4-FFF2-40B4-BE49-F238E27FC236}">
                <a16:creationId xmlns:a16="http://schemas.microsoft.com/office/drawing/2014/main" id="{2BAA838A-F427-6A32-E5EC-1F7C2E162C2B}"/>
              </a:ext>
            </a:extLst>
          </p:cNvPr>
          <p:cNvSpPr>
            <a:spLocks noGrp="1"/>
          </p:cNvSpPr>
          <p:nvPr>
            <p:ph type="sldNum" sz="quarter" idx="12"/>
          </p:nvPr>
        </p:nvSpPr>
        <p:spPr/>
        <p:txBody>
          <a:bodyPr/>
          <a:lstStyle/>
          <a:p>
            <a:fld id="{6264BDCF-5269-49AC-A246-ED26C2B980E3}" type="slidenum">
              <a:rPr lang="en-US" smtClean="0"/>
              <a:t>97</a:t>
            </a:fld>
            <a:endParaRPr lang="en-US"/>
          </a:p>
        </p:txBody>
      </p:sp>
    </p:spTree>
    <p:extLst>
      <p:ext uri="{BB962C8B-B14F-4D97-AF65-F5344CB8AC3E}">
        <p14:creationId xmlns:p14="http://schemas.microsoft.com/office/powerpoint/2010/main" val="5940730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59362-40C4-4979-E588-92A4880F47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FC6709-A202-B942-7C91-7EBCCBBC9040}"/>
              </a:ext>
            </a:extLst>
          </p:cNvPr>
          <p:cNvSpPr>
            <a:spLocks noGrp="1"/>
          </p:cNvSpPr>
          <p:nvPr>
            <p:ph idx="1"/>
          </p:nvPr>
        </p:nvSpPr>
        <p:spPr/>
        <p:txBody>
          <a:bodyPr/>
          <a:lstStyle/>
          <a:p>
            <a:r>
              <a:rPr lang="en-US" b="1" dirty="0"/>
              <a:t>internal level </a:t>
            </a:r>
            <a:r>
              <a:rPr lang="en-US" dirty="0"/>
              <a:t>has an </a:t>
            </a:r>
            <a:r>
              <a:rPr lang="en-US" b="1" dirty="0"/>
              <a:t>internal schema</a:t>
            </a:r>
            <a:r>
              <a:rPr lang="en-US" dirty="0"/>
              <a:t>, which describes the physical storage structure of the database</a:t>
            </a:r>
          </a:p>
          <a:p>
            <a:r>
              <a:rPr lang="en-US" dirty="0"/>
              <a:t>uses a physical data model and describes the complete details of data storage and access paths for the database</a:t>
            </a:r>
          </a:p>
        </p:txBody>
      </p:sp>
      <p:sp>
        <p:nvSpPr>
          <p:cNvPr id="4" name="Slide Number Placeholder 3">
            <a:extLst>
              <a:ext uri="{FF2B5EF4-FFF2-40B4-BE49-F238E27FC236}">
                <a16:creationId xmlns:a16="http://schemas.microsoft.com/office/drawing/2014/main" id="{7E3DCC51-3599-97FB-EA1A-1915039362E2}"/>
              </a:ext>
            </a:extLst>
          </p:cNvPr>
          <p:cNvSpPr>
            <a:spLocks noGrp="1"/>
          </p:cNvSpPr>
          <p:nvPr>
            <p:ph type="sldNum" sz="quarter" idx="12"/>
          </p:nvPr>
        </p:nvSpPr>
        <p:spPr/>
        <p:txBody>
          <a:bodyPr/>
          <a:lstStyle/>
          <a:p>
            <a:fld id="{6264BDCF-5269-49AC-A246-ED26C2B980E3}" type="slidenum">
              <a:rPr lang="en-US" smtClean="0"/>
              <a:t>98</a:t>
            </a:fld>
            <a:endParaRPr lang="en-US"/>
          </a:p>
        </p:txBody>
      </p:sp>
    </p:spTree>
    <p:extLst>
      <p:ext uri="{BB962C8B-B14F-4D97-AF65-F5344CB8AC3E}">
        <p14:creationId xmlns:p14="http://schemas.microsoft.com/office/powerpoint/2010/main" val="8393707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0B436-657F-FCEB-7F24-84C535CEA9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ECCC5F-DA72-7D81-97C4-32B572426147}"/>
              </a:ext>
            </a:extLst>
          </p:cNvPr>
          <p:cNvSpPr>
            <a:spLocks noGrp="1"/>
          </p:cNvSpPr>
          <p:nvPr>
            <p:ph idx="1"/>
          </p:nvPr>
        </p:nvSpPr>
        <p:spPr/>
        <p:txBody>
          <a:bodyPr>
            <a:normAutofit/>
          </a:bodyPr>
          <a:lstStyle/>
          <a:p>
            <a:r>
              <a:rPr lang="en-US" b="1" dirty="0"/>
              <a:t>conceptual level </a:t>
            </a:r>
            <a:r>
              <a:rPr lang="en-US" dirty="0"/>
              <a:t>has a </a:t>
            </a:r>
            <a:r>
              <a:rPr lang="en-US" b="1" dirty="0"/>
              <a:t>conceptual schema</a:t>
            </a:r>
            <a:r>
              <a:rPr lang="en-US" dirty="0"/>
              <a:t>, which describes structure of the whole database for a community of users; conceptual schema hides the details of physical storage structures and concentrates on describing entities, data types, relationships, user operations, and constraints</a:t>
            </a:r>
          </a:p>
          <a:p>
            <a:r>
              <a:rPr lang="en-US" dirty="0"/>
              <a:t>representational data model is used to describe conceptual schema when database system is implemented</a:t>
            </a:r>
          </a:p>
          <a:p>
            <a:r>
              <a:rPr lang="en-US" dirty="0"/>
              <a:t>this </a:t>
            </a:r>
            <a:r>
              <a:rPr lang="en-US" i="1" dirty="0"/>
              <a:t>implementation conceptual schema </a:t>
            </a:r>
            <a:r>
              <a:rPr lang="en-US" dirty="0"/>
              <a:t>is often based on </a:t>
            </a:r>
            <a:r>
              <a:rPr lang="en-US" i="1" dirty="0"/>
              <a:t>conceptual schema design </a:t>
            </a:r>
            <a:r>
              <a:rPr lang="en-US" dirty="0"/>
              <a:t>in a high-level data model</a:t>
            </a:r>
          </a:p>
        </p:txBody>
      </p:sp>
      <p:sp>
        <p:nvSpPr>
          <p:cNvPr id="4" name="Slide Number Placeholder 3">
            <a:extLst>
              <a:ext uri="{FF2B5EF4-FFF2-40B4-BE49-F238E27FC236}">
                <a16:creationId xmlns:a16="http://schemas.microsoft.com/office/drawing/2014/main" id="{29C16B89-24C9-A26C-0480-82C62B5FBAB0}"/>
              </a:ext>
            </a:extLst>
          </p:cNvPr>
          <p:cNvSpPr>
            <a:spLocks noGrp="1"/>
          </p:cNvSpPr>
          <p:nvPr>
            <p:ph type="sldNum" sz="quarter" idx="12"/>
          </p:nvPr>
        </p:nvSpPr>
        <p:spPr/>
        <p:txBody>
          <a:bodyPr/>
          <a:lstStyle/>
          <a:p>
            <a:fld id="{6264BDCF-5269-49AC-A246-ED26C2B980E3}" type="slidenum">
              <a:rPr lang="en-US" smtClean="0"/>
              <a:t>99</a:t>
            </a:fld>
            <a:endParaRPr lang="en-US"/>
          </a:p>
        </p:txBody>
      </p:sp>
    </p:spTree>
    <p:extLst>
      <p:ext uri="{BB962C8B-B14F-4D97-AF65-F5344CB8AC3E}">
        <p14:creationId xmlns:p14="http://schemas.microsoft.com/office/powerpoint/2010/main" val="119776224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B49D-B7D8-BD21-BB0F-4FEBBBBBE7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0AB228-89DB-B051-BAEC-8AC64517018F}"/>
              </a:ext>
            </a:extLst>
          </p:cNvPr>
          <p:cNvSpPr>
            <a:spLocks noGrp="1"/>
          </p:cNvSpPr>
          <p:nvPr>
            <p:ph idx="1"/>
          </p:nvPr>
        </p:nvSpPr>
        <p:spPr/>
        <p:txBody>
          <a:bodyPr/>
          <a:lstStyle/>
          <a:p>
            <a:r>
              <a:rPr lang="en-US" b="1" dirty="0"/>
              <a:t>external </a:t>
            </a:r>
            <a:r>
              <a:rPr lang="en-US" dirty="0"/>
              <a:t>or </a:t>
            </a:r>
            <a:r>
              <a:rPr lang="en-US" b="1" dirty="0"/>
              <a:t>view level </a:t>
            </a:r>
            <a:r>
              <a:rPr lang="en-US" dirty="0"/>
              <a:t>includes a number of </a:t>
            </a:r>
            <a:r>
              <a:rPr lang="en-US" b="1" dirty="0"/>
              <a:t>external schemas </a:t>
            </a:r>
            <a:r>
              <a:rPr lang="en-US" dirty="0"/>
              <a:t>or </a:t>
            </a:r>
            <a:r>
              <a:rPr lang="en-US" b="1" dirty="0"/>
              <a:t>user views</a:t>
            </a:r>
            <a:r>
              <a:rPr lang="en-US" dirty="0"/>
              <a:t>; each external schema describes the part of the database that a particular user group is interested in and hides the rest of the database from that user group</a:t>
            </a:r>
          </a:p>
          <a:p>
            <a:r>
              <a:rPr lang="en-US" dirty="0"/>
              <a:t>implemented using a representational data model, possibly based on an external schema design in a high-level conceptual data model</a:t>
            </a:r>
          </a:p>
        </p:txBody>
      </p:sp>
      <p:sp>
        <p:nvSpPr>
          <p:cNvPr id="4" name="Slide Number Placeholder 3">
            <a:extLst>
              <a:ext uri="{FF2B5EF4-FFF2-40B4-BE49-F238E27FC236}">
                <a16:creationId xmlns:a16="http://schemas.microsoft.com/office/drawing/2014/main" id="{EDFAD992-3019-D307-2678-D263268B21DD}"/>
              </a:ext>
            </a:extLst>
          </p:cNvPr>
          <p:cNvSpPr>
            <a:spLocks noGrp="1"/>
          </p:cNvSpPr>
          <p:nvPr>
            <p:ph type="sldNum" sz="quarter" idx="12"/>
          </p:nvPr>
        </p:nvSpPr>
        <p:spPr/>
        <p:txBody>
          <a:bodyPr/>
          <a:lstStyle/>
          <a:p>
            <a:fld id="{6264BDCF-5269-49AC-A246-ED26C2B980E3}" type="slidenum">
              <a:rPr lang="en-US" smtClean="0"/>
              <a:t>100</a:t>
            </a:fld>
            <a:endParaRPr lang="en-US"/>
          </a:p>
        </p:txBody>
      </p:sp>
    </p:spTree>
    <p:extLst>
      <p:ext uri="{BB962C8B-B14F-4D97-AF65-F5344CB8AC3E}">
        <p14:creationId xmlns:p14="http://schemas.microsoft.com/office/powerpoint/2010/main" val="15146057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35AA-8377-F40A-FDE7-2C96CDE235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609301-BC72-3FD0-CF1A-CC6B13C79D1B}"/>
              </a:ext>
            </a:extLst>
          </p:cNvPr>
          <p:cNvSpPr>
            <a:spLocks noGrp="1"/>
          </p:cNvSpPr>
          <p:nvPr>
            <p:ph idx="1"/>
          </p:nvPr>
        </p:nvSpPr>
        <p:spPr/>
        <p:txBody>
          <a:bodyPr/>
          <a:lstStyle/>
          <a:p>
            <a:r>
              <a:rPr lang="en-US" dirty="0"/>
              <a:t>three-level ANSI architecture has an important place in database technology development because it clearly separates users’ external level, database’s conceptual level, and internal storage level for designing a database</a:t>
            </a:r>
          </a:p>
          <a:p>
            <a:r>
              <a:rPr lang="en-US" dirty="0"/>
              <a:t>applicable in the design</a:t>
            </a:r>
          </a:p>
        </p:txBody>
      </p:sp>
      <p:sp>
        <p:nvSpPr>
          <p:cNvPr id="4" name="Slide Number Placeholder 3">
            <a:extLst>
              <a:ext uri="{FF2B5EF4-FFF2-40B4-BE49-F238E27FC236}">
                <a16:creationId xmlns:a16="http://schemas.microsoft.com/office/drawing/2014/main" id="{4FBCDA77-28B4-49EA-BB68-19814D430B5A}"/>
              </a:ext>
            </a:extLst>
          </p:cNvPr>
          <p:cNvSpPr>
            <a:spLocks noGrp="1"/>
          </p:cNvSpPr>
          <p:nvPr>
            <p:ph type="sldNum" sz="quarter" idx="12"/>
          </p:nvPr>
        </p:nvSpPr>
        <p:spPr/>
        <p:txBody>
          <a:bodyPr/>
          <a:lstStyle/>
          <a:p>
            <a:fld id="{6264BDCF-5269-49AC-A246-ED26C2B980E3}" type="slidenum">
              <a:rPr lang="en-US" smtClean="0"/>
              <a:t>101</a:t>
            </a:fld>
            <a:endParaRPr lang="en-US"/>
          </a:p>
        </p:txBody>
      </p:sp>
    </p:spTree>
    <p:extLst>
      <p:ext uri="{BB962C8B-B14F-4D97-AF65-F5344CB8AC3E}">
        <p14:creationId xmlns:p14="http://schemas.microsoft.com/office/powerpoint/2010/main" val="16307172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FA33-4355-10B4-1644-C3CCE29945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BFA7DB-1E1A-59BF-A9E8-70199CD3CFF1}"/>
              </a:ext>
            </a:extLst>
          </p:cNvPr>
          <p:cNvSpPr>
            <a:spLocks noGrp="1"/>
          </p:cNvSpPr>
          <p:nvPr>
            <p:ph idx="1"/>
          </p:nvPr>
        </p:nvSpPr>
        <p:spPr/>
        <p:txBody>
          <a:bodyPr/>
          <a:lstStyle/>
          <a:p>
            <a:r>
              <a:rPr lang="en-US" dirty="0"/>
              <a:t>processes of transforming requests and results between levels are called </a:t>
            </a:r>
            <a:r>
              <a:rPr lang="en-US" b="1" dirty="0"/>
              <a:t>mappings</a:t>
            </a:r>
            <a:endParaRPr lang="en-US" dirty="0"/>
          </a:p>
        </p:txBody>
      </p:sp>
      <p:sp>
        <p:nvSpPr>
          <p:cNvPr id="4" name="Slide Number Placeholder 3">
            <a:extLst>
              <a:ext uri="{FF2B5EF4-FFF2-40B4-BE49-F238E27FC236}">
                <a16:creationId xmlns:a16="http://schemas.microsoft.com/office/drawing/2014/main" id="{473108E9-36C8-90C3-A3BC-D8A9AD0521C1}"/>
              </a:ext>
            </a:extLst>
          </p:cNvPr>
          <p:cNvSpPr>
            <a:spLocks noGrp="1"/>
          </p:cNvSpPr>
          <p:nvPr>
            <p:ph type="sldNum" sz="quarter" idx="12"/>
          </p:nvPr>
        </p:nvSpPr>
        <p:spPr/>
        <p:txBody>
          <a:bodyPr/>
          <a:lstStyle/>
          <a:p>
            <a:fld id="{6264BDCF-5269-49AC-A246-ED26C2B980E3}" type="slidenum">
              <a:rPr lang="en-US" smtClean="0"/>
              <a:t>102</a:t>
            </a:fld>
            <a:endParaRPr lang="en-US"/>
          </a:p>
        </p:txBody>
      </p:sp>
    </p:spTree>
    <p:extLst>
      <p:ext uri="{BB962C8B-B14F-4D97-AF65-F5344CB8AC3E}">
        <p14:creationId xmlns:p14="http://schemas.microsoft.com/office/powerpoint/2010/main" val="26192294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67C9-69C3-EEF0-0953-AB7765A993A2}"/>
              </a:ext>
            </a:extLst>
          </p:cNvPr>
          <p:cNvSpPr>
            <a:spLocks noGrp="1"/>
          </p:cNvSpPr>
          <p:nvPr>
            <p:ph type="title"/>
          </p:nvPr>
        </p:nvSpPr>
        <p:spPr/>
        <p:txBody>
          <a:bodyPr/>
          <a:lstStyle/>
          <a:p>
            <a:r>
              <a:rPr lang="en-US" b="1" dirty="0"/>
              <a:t>Data Independence</a:t>
            </a:r>
            <a:endParaRPr lang="en-US" dirty="0"/>
          </a:p>
        </p:txBody>
      </p:sp>
      <p:sp>
        <p:nvSpPr>
          <p:cNvPr id="3" name="Content Placeholder 2">
            <a:extLst>
              <a:ext uri="{FF2B5EF4-FFF2-40B4-BE49-F238E27FC236}">
                <a16:creationId xmlns:a16="http://schemas.microsoft.com/office/drawing/2014/main" id="{8D660D8C-580A-DD76-71D6-B07C81B25133}"/>
              </a:ext>
            </a:extLst>
          </p:cNvPr>
          <p:cNvSpPr>
            <a:spLocks noGrp="1"/>
          </p:cNvSpPr>
          <p:nvPr>
            <p:ph idx="1"/>
          </p:nvPr>
        </p:nvSpPr>
        <p:spPr/>
        <p:txBody>
          <a:bodyPr/>
          <a:lstStyle/>
          <a:p>
            <a:r>
              <a:rPr lang="en-US" dirty="0"/>
              <a:t>The three-schema architecture can be used to further explain the concept of </a:t>
            </a:r>
            <a:r>
              <a:rPr lang="en-US" b="1" dirty="0"/>
              <a:t>data independence</a:t>
            </a:r>
            <a:r>
              <a:rPr lang="en-US" dirty="0"/>
              <a:t>, which can be defined as the capacity to change the schema at one level of a database system without having to change the schema at the next higher level</a:t>
            </a:r>
          </a:p>
          <a:p>
            <a:pPr marL="514350" indent="-514350">
              <a:buFont typeface="+mj-lt"/>
              <a:buAutoNum type="arabicPeriod"/>
            </a:pPr>
            <a:r>
              <a:rPr lang="en-US" dirty="0"/>
              <a:t>logical data independence</a:t>
            </a:r>
          </a:p>
          <a:p>
            <a:pPr marL="514350" indent="-514350">
              <a:buFont typeface="+mj-lt"/>
              <a:buAutoNum type="arabicPeriod"/>
            </a:pPr>
            <a:r>
              <a:rPr lang="en-US" dirty="0"/>
              <a:t>physical data independence</a:t>
            </a:r>
          </a:p>
        </p:txBody>
      </p:sp>
      <p:sp>
        <p:nvSpPr>
          <p:cNvPr id="4" name="Slide Number Placeholder 3">
            <a:extLst>
              <a:ext uri="{FF2B5EF4-FFF2-40B4-BE49-F238E27FC236}">
                <a16:creationId xmlns:a16="http://schemas.microsoft.com/office/drawing/2014/main" id="{48C0259B-1741-9557-E909-56F3587453CA}"/>
              </a:ext>
            </a:extLst>
          </p:cNvPr>
          <p:cNvSpPr>
            <a:spLocks noGrp="1"/>
          </p:cNvSpPr>
          <p:nvPr>
            <p:ph type="sldNum" sz="quarter" idx="12"/>
          </p:nvPr>
        </p:nvSpPr>
        <p:spPr/>
        <p:txBody>
          <a:bodyPr/>
          <a:lstStyle/>
          <a:p>
            <a:fld id="{6264BDCF-5269-49AC-A246-ED26C2B980E3}" type="slidenum">
              <a:rPr lang="en-US" smtClean="0"/>
              <a:t>103</a:t>
            </a:fld>
            <a:endParaRPr lang="en-US"/>
          </a:p>
        </p:txBody>
      </p:sp>
    </p:spTree>
    <p:extLst>
      <p:ext uri="{BB962C8B-B14F-4D97-AF65-F5344CB8AC3E}">
        <p14:creationId xmlns:p14="http://schemas.microsoft.com/office/powerpoint/2010/main" val="22347567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745F-1612-D188-91DD-44863105AF74}"/>
              </a:ext>
            </a:extLst>
          </p:cNvPr>
          <p:cNvSpPr>
            <a:spLocks noGrp="1"/>
          </p:cNvSpPr>
          <p:nvPr>
            <p:ph type="title"/>
          </p:nvPr>
        </p:nvSpPr>
        <p:spPr/>
        <p:txBody>
          <a:bodyPr/>
          <a:lstStyle/>
          <a:p>
            <a:r>
              <a:rPr lang="en-US" dirty="0"/>
              <a:t>Logical Data Independence</a:t>
            </a:r>
          </a:p>
        </p:txBody>
      </p:sp>
      <p:sp>
        <p:nvSpPr>
          <p:cNvPr id="3" name="Content Placeholder 2">
            <a:extLst>
              <a:ext uri="{FF2B5EF4-FFF2-40B4-BE49-F238E27FC236}">
                <a16:creationId xmlns:a16="http://schemas.microsoft.com/office/drawing/2014/main" id="{3B7CDA44-CADE-7253-C0EA-F36124585C6C}"/>
              </a:ext>
            </a:extLst>
          </p:cNvPr>
          <p:cNvSpPr>
            <a:spLocks noGrp="1"/>
          </p:cNvSpPr>
          <p:nvPr>
            <p:ph idx="1"/>
          </p:nvPr>
        </p:nvSpPr>
        <p:spPr>
          <a:xfrm>
            <a:off x="838199" y="1825625"/>
            <a:ext cx="10763865" cy="4351338"/>
          </a:xfrm>
        </p:spPr>
        <p:txBody>
          <a:bodyPr>
            <a:noAutofit/>
          </a:bodyPr>
          <a:lstStyle/>
          <a:p>
            <a:r>
              <a:rPr lang="en-US" sz="2700" dirty="0"/>
              <a:t>is the capacity to change conceptual schema without having to change external schemas or application programs</a:t>
            </a:r>
          </a:p>
          <a:p>
            <a:r>
              <a:rPr lang="en-US" sz="2700" dirty="0"/>
              <a:t>we may change conceptual schema to expand database (by adding a record type or data item), to change constraints, or to reduce the database (by removing a record type or data item)</a:t>
            </a:r>
          </a:p>
          <a:p>
            <a:r>
              <a:rPr lang="en-US" sz="2700" dirty="0"/>
              <a:t>external schemas that refer only to remaining data should not be affected</a:t>
            </a:r>
          </a:p>
          <a:p>
            <a:r>
              <a:rPr lang="en-US" sz="2700" dirty="0"/>
              <a:t>only the view definition and the mappings need to be changed in a DBMS that supports logical data independence</a:t>
            </a:r>
          </a:p>
          <a:p>
            <a:r>
              <a:rPr lang="en-US" sz="2700" dirty="0"/>
              <a:t>after conceptual schema undergoes a logical reorganization, application programs that reference external schema constructs must work as before</a:t>
            </a:r>
          </a:p>
        </p:txBody>
      </p:sp>
      <p:sp>
        <p:nvSpPr>
          <p:cNvPr id="4" name="Slide Number Placeholder 3">
            <a:extLst>
              <a:ext uri="{FF2B5EF4-FFF2-40B4-BE49-F238E27FC236}">
                <a16:creationId xmlns:a16="http://schemas.microsoft.com/office/drawing/2014/main" id="{87F0104E-705D-A92C-4B51-5895718D64A3}"/>
              </a:ext>
            </a:extLst>
          </p:cNvPr>
          <p:cNvSpPr>
            <a:spLocks noGrp="1"/>
          </p:cNvSpPr>
          <p:nvPr>
            <p:ph type="sldNum" sz="quarter" idx="12"/>
          </p:nvPr>
        </p:nvSpPr>
        <p:spPr/>
        <p:txBody>
          <a:bodyPr/>
          <a:lstStyle/>
          <a:p>
            <a:fld id="{6264BDCF-5269-49AC-A246-ED26C2B980E3}" type="slidenum">
              <a:rPr lang="en-US" smtClean="0"/>
              <a:t>104</a:t>
            </a:fld>
            <a:endParaRPr lang="en-US"/>
          </a:p>
        </p:txBody>
      </p:sp>
    </p:spTree>
    <p:extLst>
      <p:ext uri="{BB962C8B-B14F-4D97-AF65-F5344CB8AC3E}">
        <p14:creationId xmlns:p14="http://schemas.microsoft.com/office/powerpoint/2010/main" val="18806788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40D76-9BE7-1DE0-7366-79CF5EA292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01E119-1B3A-A7C9-48D5-5A020155AE0F}"/>
              </a:ext>
            </a:extLst>
          </p:cNvPr>
          <p:cNvSpPr>
            <a:spLocks noGrp="1"/>
          </p:cNvSpPr>
          <p:nvPr>
            <p:ph idx="1"/>
          </p:nvPr>
        </p:nvSpPr>
        <p:spPr/>
        <p:txBody>
          <a:bodyPr>
            <a:normAutofit/>
          </a:bodyPr>
          <a:lstStyle/>
          <a:p>
            <a:r>
              <a:rPr lang="en-US" sz="2700" dirty="0"/>
              <a:t>changes to constraints can be applied to conceptual schema without affecting external schemas or application programs</a:t>
            </a:r>
          </a:p>
          <a:p>
            <a:endParaRPr lang="en-US" sz="2700" dirty="0"/>
          </a:p>
        </p:txBody>
      </p:sp>
      <p:sp>
        <p:nvSpPr>
          <p:cNvPr id="4" name="Slide Number Placeholder 3">
            <a:extLst>
              <a:ext uri="{FF2B5EF4-FFF2-40B4-BE49-F238E27FC236}">
                <a16:creationId xmlns:a16="http://schemas.microsoft.com/office/drawing/2014/main" id="{731ACDC3-1D88-9668-8BED-ACDBB6792380}"/>
              </a:ext>
            </a:extLst>
          </p:cNvPr>
          <p:cNvSpPr>
            <a:spLocks noGrp="1"/>
          </p:cNvSpPr>
          <p:nvPr>
            <p:ph type="sldNum" sz="quarter" idx="12"/>
          </p:nvPr>
        </p:nvSpPr>
        <p:spPr/>
        <p:txBody>
          <a:bodyPr/>
          <a:lstStyle/>
          <a:p>
            <a:fld id="{6264BDCF-5269-49AC-A246-ED26C2B980E3}" type="slidenum">
              <a:rPr lang="en-US" smtClean="0"/>
              <a:t>105</a:t>
            </a:fld>
            <a:endParaRPr lang="en-US"/>
          </a:p>
        </p:txBody>
      </p:sp>
    </p:spTree>
    <p:extLst>
      <p:ext uri="{BB962C8B-B14F-4D97-AF65-F5344CB8AC3E}">
        <p14:creationId xmlns:p14="http://schemas.microsoft.com/office/powerpoint/2010/main" val="22190754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F9DB-D63B-BFEC-A2FD-3546A279F2BE}"/>
              </a:ext>
            </a:extLst>
          </p:cNvPr>
          <p:cNvSpPr>
            <a:spLocks noGrp="1"/>
          </p:cNvSpPr>
          <p:nvPr>
            <p:ph type="title"/>
          </p:nvPr>
        </p:nvSpPr>
        <p:spPr/>
        <p:txBody>
          <a:bodyPr/>
          <a:lstStyle/>
          <a:p>
            <a:r>
              <a:rPr lang="en-US" dirty="0"/>
              <a:t>Physical Data Independence</a:t>
            </a:r>
          </a:p>
        </p:txBody>
      </p:sp>
      <p:sp>
        <p:nvSpPr>
          <p:cNvPr id="3" name="Content Placeholder 2">
            <a:extLst>
              <a:ext uri="{FF2B5EF4-FFF2-40B4-BE49-F238E27FC236}">
                <a16:creationId xmlns:a16="http://schemas.microsoft.com/office/drawing/2014/main" id="{5ADA57FF-482D-CD7F-F62B-37333BBD4BD8}"/>
              </a:ext>
            </a:extLst>
          </p:cNvPr>
          <p:cNvSpPr>
            <a:spLocks noGrp="1"/>
          </p:cNvSpPr>
          <p:nvPr>
            <p:ph idx="1"/>
          </p:nvPr>
        </p:nvSpPr>
        <p:spPr/>
        <p:txBody>
          <a:bodyPr>
            <a:normAutofit/>
          </a:bodyPr>
          <a:lstStyle/>
          <a:p>
            <a:r>
              <a:rPr lang="en-US" sz="2700" dirty="0"/>
              <a:t>capacity to change the internal schema without having to change the conceptual schema</a:t>
            </a:r>
          </a:p>
          <a:p>
            <a:r>
              <a:rPr lang="en-US" sz="2700" dirty="0"/>
              <a:t>changes to internal schema may be needed because some physical files were reorganized for example, by creating additional access structures to improve  performance of retrieval or update</a:t>
            </a:r>
          </a:p>
          <a:p>
            <a:r>
              <a:rPr lang="en-US" sz="2700" dirty="0"/>
              <a:t>if same data as before remains in database, we should not have to change the conceptual schema</a:t>
            </a:r>
          </a:p>
        </p:txBody>
      </p:sp>
      <p:sp>
        <p:nvSpPr>
          <p:cNvPr id="4" name="Slide Number Placeholder 3">
            <a:extLst>
              <a:ext uri="{FF2B5EF4-FFF2-40B4-BE49-F238E27FC236}">
                <a16:creationId xmlns:a16="http://schemas.microsoft.com/office/drawing/2014/main" id="{D11786AF-385A-0AE7-459E-71520B1DCAE7}"/>
              </a:ext>
            </a:extLst>
          </p:cNvPr>
          <p:cNvSpPr>
            <a:spLocks noGrp="1"/>
          </p:cNvSpPr>
          <p:nvPr>
            <p:ph type="sldNum" sz="quarter" idx="12"/>
          </p:nvPr>
        </p:nvSpPr>
        <p:spPr/>
        <p:txBody>
          <a:bodyPr/>
          <a:lstStyle/>
          <a:p>
            <a:fld id="{6264BDCF-5269-49AC-A246-ED26C2B980E3}" type="slidenum">
              <a:rPr lang="en-US" smtClean="0"/>
              <a:t>106</a:t>
            </a:fld>
            <a:endParaRPr lang="en-US"/>
          </a:p>
        </p:txBody>
      </p:sp>
    </p:spTree>
    <p:extLst>
      <p:ext uri="{BB962C8B-B14F-4D97-AF65-F5344CB8AC3E}">
        <p14:creationId xmlns:p14="http://schemas.microsoft.com/office/powerpoint/2010/main" val="9600504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E9E5-69F2-7E88-87F9-DDA0B1B231F1}"/>
              </a:ext>
            </a:extLst>
          </p:cNvPr>
          <p:cNvSpPr>
            <a:spLocks noGrp="1"/>
          </p:cNvSpPr>
          <p:nvPr>
            <p:ph type="title"/>
          </p:nvPr>
        </p:nvSpPr>
        <p:spPr/>
        <p:txBody>
          <a:bodyPr/>
          <a:lstStyle/>
          <a:p>
            <a:r>
              <a:rPr lang="en-US" b="1" dirty="0"/>
              <a:t>DBMS Languages</a:t>
            </a:r>
            <a:endParaRPr lang="en-US" dirty="0"/>
          </a:p>
        </p:txBody>
      </p:sp>
      <p:sp>
        <p:nvSpPr>
          <p:cNvPr id="3" name="Content Placeholder 2">
            <a:extLst>
              <a:ext uri="{FF2B5EF4-FFF2-40B4-BE49-F238E27FC236}">
                <a16:creationId xmlns:a16="http://schemas.microsoft.com/office/drawing/2014/main" id="{43A0EC07-A67D-0DB8-FF25-ADC8E98D5AC9}"/>
              </a:ext>
            </a:extLst>
          </p:cNvPr>
          <p:cNvSpPr>
            <a:spLocks noGrp="1"/>
          </p:cNvSpPr>
          <p:nvPr>
            <p:ph idx="1"/>
          </p:nvPr>
        </p:nvSpPr>
        <p:spPr/>
        <p:txBody>
          <a:bodyPr>
            <a:normAutofit/>
          </a:bodyPr>
          <a:lstStyle/>
          <a:p>
            <a:r>
              <a:rPr lang="en-US" dirty="0"/>
              <a:t>Data Definition Language (DDL)</a:t>
            </a:r>
          </a:p>
          <a:p>
            <a:r>
              <a:rPr lang="en-US" dirty="0"/>
              <a:t>Data Manipulation Language (DML)</a:t>
            </a:r>
          </a:p>
        </p:txBody>
      </p:sp>
      <p:sp>
        <p:nvSpPr>
          <p:cNvPr id="4" name="Slide Number Placeholder 3">
            <a:extLst>
              <a:ext uri="{FF2B5EF4-FFF2-40B4-BE49-F238E27FC236}">
                <a16:creationId xmlns:a16="http://schemas.microsoft.com/office/drawing/2014/main" id="{A4A0ADF3-A2DB-6203-187E-33A4AE872403}"/>
              </a:ext>
            </a:extLst>
          </p:cNvPr>
          <p:cNvSpPr>
            <a:spLocks noGrp="1"/>
          </p:cNvSpPr>
          <p:nvPr>
            <p:ph type="sldNum" sz="quarter" idx="12"/>
          </p:nvPr>
        </p:nvSpPr>
        <p:spPr/>
        <p:txBody>
          <a:bodyPr/>
          <a:lstStyle/>
          <a:p>
            <a:fld id="{6264BDCF-5269-49AC-A246-ED26C2B980E3}" type="slidenum">
              <a:rPr lang="en-US" smtClean="0"/>
              <a:t>107</a:t>
            </a:fld>
            <a:endParaRPr lang="en-US"/>
          </a:p>
        </p:txBody>
      </p:sp>
    </p:spTree>
    <p:extLst>
      <p:ext uri="{BB962C8B-B14F-4D97-AF65-F5344CB8AC3E}">
        <p14:creationId xmlns:p14="http://schemas.microsoft.com/office/powerpoint/2010/main" val="16949106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5CC3-B209-A066-4226-6919EAFC2248}"/>
              </a:ext>
            </a:extLst>
          </p:cNvPr>
          <p:cNvSpPr>
            <a:spLocks noGrp="1"/>
          </p:cNvSpPr>
          <p:nvPr>
            <p:ph type="title"/>
          </p:nvPr>
        </p:nvSpPr>
        <p:spPr/>
        <p:txBody>
          <a:bodyPr/>
          <a:lstStyle/>
          <a:p>
            <a:r>
              <a:rPr lang="en-US" dirty="0"/>
              <a:t>Data Definition Language</a:t>
            </a:r>
          </a:p>
        </p:txBody>
      </p:sp>
      <p:sp>
        <p:nvSpPr>
          <p:cNvPr id="3" name="Content Placeholder 2">
            <a:extLst>
              <a:ext uri="{FF2B5EF4-FFF2-40B4-BE49-F238E27FC236}">
                <a16:creationId xmlns:a16="http://schemas.microsoft.com/office/drawing/2014/main" id="{F2460144-313A-F392-C9E5-6636D97DDF9A}"/>
              </a:ext>
            </a:extLst>
          </p:cNvPr>
          <p:cNvSpPr>
            <a:spLocks noGrp="1"/>
          </p:cNvSpPr>
          <p:nvPr>
            <p:ph idx="1"/>
          </p:nvPr>
        </p:nvSpPr>
        <p:spPr/>
        <p:txBody>
          <a:bodyPr>
            <a:normAutofit lnSpcReduction="10000"/>
          </a:bodyPr>
          <a:lstStyle/>
          <a:p>
            <a:r>
              <a:rPr lang="en-US" dirty="0"/>
              <a:t>to specify conceptual and internal schemas for the database and any mappings between the two</a:t>
            </a:r>
          </a:p>
          <a:p>
            <a:r>
              <a:rPr lang="en-US" dirty="0"/>
              <a:t>used by DBA and by database designers to define both conceptual and internal schemas</a:t>
            </a:r>
          </a:p>
          <a:p>
            <a:r>
              <a:rPr lang="en-US" dirty="0"/>
              <a:t>DBMS process DDL statements in order to identify descriptions of  schema constructs and to store schema description in DBMS catalog</a:t>
            </a:r>
          </a:p>
          <a:p>
            <a:r>
              <a:rPr lang="en-US" dirty="0"/>
              <a:t>storage definition language</a:t>
            </a:r>
          </a:p>
          <a:p>
            <a:r>
              <a:rPr lang="en-US" dirty="0"/>
              <a:t>view definition language</a:t>
            </a:r>
          </a:p>
          <a:p>
            <a:r>
              <a:rPr lang="en-US" dirty="0"/>
              <a:t>SQL Data Definition Language CREATE VIEW, TABLE, INDEX define external, conceptual and internal physical schemas</a:t>
            </a:r>
          </a:p>
        </p:txBody>
      </p:sp>
      <p:sp>
        <p:nvSpPr>
          <p:cNvPr id="4" name="Slide Number Placeholder 3">
            <a:extLst>
              <a:ext uri="{FF2B5EF4-FFF2-40B4-BE49-F238E27FC236}">
                <a16:creationId xmlns:a16="http://schemas.microsoft.com/office/drawing/2014/main" id="{0F90048C-9E95-065F-82FF-1CD1BBBB6812}"/>
              </a:ext>
            </a:extLst>
          </p:cNvPr>
          <p:cNvSpPr>
            <a:spLocks noGrp="1"/>
          </p:cNvSpPr>
          <p:nvPr>
            <p:ph type="sldNum" sz="quarter" idx="12"/>
          </p:nvPr>
        </p:nvSpPr>
        <p:spPr/>
        <p:txBody>
          <a:bodyPr/>
          <a:lstStyle/>
          <a:p>
            <a:fld id="{6264BDCF-5269-49AC-A246-ED26C2B980E3}" type="slidenum">
              <a:rPr lang="en-US" smtClean="0"/>
              <a:t>108</a:t>
            </a:fld>
            <a:endParaRPr lang="en-US"/>
          </a:p>
        </p:txBody>
      </p:sp>
    </p:spTree>
    <p:extLst>
      <p:ext uri="{BB962C8B-B14F-4D97-AF65-F5344CB8AC3E}">
        <p14:creationId xmlns:p14="http://schemas.microsoft.com/office/powerpoint/2010/main" val="40734758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AA53B-F5B2-2816-EE38-6D24583A6E6A}"/>
              </a:ext>
            </a:extLst>
          </p:cNvPr>
          <p:cNvSpPr>
            <a:spLocks noGrp="1"/>
          </p:cNvSpPr>
          <p:nvPr>
            <p:ph type="title"/>
          </p:nvPr>
        </p:nvSpPr>
        <p:spPr/>
        <p:txBody>
          <a:bodyPr/>
          <a:lstStyle/>
          <a:p>
            <a:r>
              <a:rPr lang="en-US" dirty="0"/>
              <a:t>Data Manipulation Language</a:t>
            </a:r>
          </a:p>
        </p:txBody>
      </p:sp>
      <p:sp>
        <p:nvSpPr>
          <p:cNvPr id="3" name="Content Placeholder 2">
            <a:extLst>
              <a:ext uri="{FF2B5EF4-FFF2-40B4-BE49-F238E27FC236}">
                <a16:creationId xmlns:a16="http://schemas.microsoft.com/office/drawing/2014/main" id="{70E7B0C6-F4C9-5520-03F6-49086B1350C5}"/>
              </a:ext>
            </a:extLst>
          </p:cNvPr>
          <p:cNvSpPr>
            <a:spLocks noGrp="1"/>
          </p:cNvSpPr>
          <p:nvPr>
            <p:ph idx="1"/>
          </p:nvPr>
        </p:nvSpPr>
        <p:spPr/>
        <p:txBody>
          <a:bodyPr/>
          <a:lstStyle/>
          <a:p>
            <a:r>
              <a:rPr lang="en-US" dirty="0"/>
              <a:t>users must have some means to manipulate the database</a:t>
            </a:r>
          </a:p>
          <a:p>
            <a:r>
              <a:rPr lang="en-US" dirty="0"/>
              <a:t>include CRUD retrieval, insertion, deletion, and modification of data</a:t>
            </a:r>
          </a:p>
        </p:txBody>
      </p:sp>
      <p:sp>
        <p:nvSpPr>
          <p:cNvPr id="4" name="Slide Number Placeholder 3">
            <a:extLst>
              <a:ext uri="{FF2B5EF4-FFF2-40B4-BE49-F238E27FC236}">
                <a16:creationId xmlns:a16="http://schemas.microsoft.com/office/drawing/2014/main" id="{B4BD227A-A8FA-4A7C-5839-641EF33F5F2F}"/>
              </a:ext>
            </a:extLst>
          </p:cNvPr>
          <p:cNvSpPr>
            <a:spLocks noGrp="1"/>
          </p:cNvSpPr>
          <p:nvPr>
            <p:ph type="sldNum" sz="quarter" idx="12"/>
          </p:nvPr>
        </p:nvSpPr>
        <p:spPr/>
        <p:txBody>
          <a:bodyPr/>
          <a:lstStyle/>
          <a:p>
            <a:fld id="{6264BDCF-5269-49AC-A246-ED26C2B980E3}" type="slidenum">
              <a:rPr lang="en-US" smtClean="0"/>
              <a:t>109</a:t>
            </a:fld>
            <a:endParaRPr lang="en-US"/>
          </a:p>
        </p:txBody>
      </p:sp>
    </p:spTree>
    <p:extLst>
      <p:ext uri="{BB962C8B-B14F-4D97-AF65-F5344CB8AC3E}">
        <p14:creationId xmlns:p14="http://schemas.microsoft.com/office/powerpoint/2010/main" val="19123515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61FE-A00C-1C62-734A-E7E276702A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A64DFF-851A-C2E7-2A17-EC624285E6EA}"/>
              </a:ext>
            </a:extLst>
          </p:cNvPr>
          <p:cNvSpPr>
            <a:spLocks noGrp="1"/>
          </p:cNvSpPr>
          <p:nvPr>
            <p:ph idx="1"/>
          </p:nvPr>
        </p:nvSpPr>
        <p:spPr/>
        <p:txBody>
          <a:bodyPr>
            <a:normAutofit/>
          </a:bodyPr>
          <a:lstStyle/>
          <a:p>
            <a:r>
              <a:rPr lang="en-US" dirty="0"/>
              <a:t>two main types of DMLs</a:t>
            </a:r>
          </a:p>
          <a:p>
            <a:pPr marL="514350" indent="-514350">
              <a:buFont typeface="+mj-lt"/>
              <a:buAutoNum type="arabicPeriod"/>
            </a:pPr>
            <a:r>
              <a:rPr lang="en-US" dirty="0"/>
              <a:t>high-level or nonprocedural DML</a:t>
            </a:r>
          </a:p>
          <a:p>
            <a:pPr marL="514350" indent="-514350">
              <a:buFont typeface="+mj-lt"/>
              <a:buAutoNum type="arabicPeriod"/>
            </a:pPr>
            <a:r>
              <a:rPr lang="en-US" dirty="0"/>
              <a:t>low-level or procedural DML</a:t>
            </a:r>
          </a:p>
        </p:txBody>
      </p:sp>
      <p:sp>
        <p:nvSpPr>
          <p:cNvPr id="4" name="Slide Number Placeholder 3">
            <a:extLst>
              <a:ext uri="{FF2B5EF4-FFF2-40B4-BE49-F238E27FC236}">
                <a16:creationId xmlns:a16="http://schemas.microsoft.com/office/drawing/2014/main" id="{06DF505E-E3DF-4DBD-1B50-847A501BEB0D}"/>
              </a:ext>
            </a:extLst>
          </p:cNvPr>
          <p:cNvSpPr>
            <a:spLocks noGrp="1"/>
          </p:cNvSpPr>
          <p:nvPr>
            <p:ph type="sldNum" sz="quarter" idx="12"/>
          </p:nvPr>
        </p:nvSpPr>
        <p:spPr/>
        <p:txBody>
          <a:bodyPr/>
          <a:lstStyle/>
          <a:p>
            <a:fld id="{6264BDCF-5269-49AC-A246-ED26C2B980E3}" type="slidenum">
              <a:rPr lang="en-US" smtClean="0"/>
              <a:t>110</a:t>
            </a:fld>
            <a:endParaRPr lang="en-US"/>
          </a:p>
        </p:txBody>
      </p:sp>
    </p:spTree>
    <p:extLst>
      <p:ext uri="{BB962C8B-B14F-4D97-AF65-F5344CB8AC3E}">
        <p14:creationId xmlns:p14="http://schemas.microsoft.com/office/powerpoint/2010/main" val="5839270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F280-BE65-BCC5-78D9-447775FED7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086926-647D-2282-60BF-D77B862D2885}"/>
              </a:ext>
            </a:extLst>
          </p:cNvPr>
          <p:cNvSpPr>
            <a:spLocks noGrp="1"/>
          </p:cNvSpPr>
          <p:nvPr>
            <p:ph idx="1"/>
          </p:nvPr>
        </p:nvSpPr>
        <p:spPr/>
        <p:txBody>
          <a:bodyPr/>
          <a:lstStyle/>
          <a:p>
            <a:r>
              <a:rPr lang="en-US" dirty="0"/>
              <a:t>a </a:t>
            </a:r>
            <a:r>
              <a:rPr lang="en-US" b="1" dirty="0"/>
              <a:t>high-level </a:t>
            </a:r>
            <a:r>
              <a:rPr lang="en-US" dirty="0"/>
              <a:t>or </a:t>
            </a:r>
            <a:r>
              <a:rPr lang="en-US" b="1" dirty="0"/>
              <a:t>nonprocedural </a:t>
            </a:r>
            <a:r>
              <a:rPr lang="en-US" dirty="0"/>
              <a:t>DML can be used on its own to specify complex database operations concisely</a:t>
            </a:r>
          </a:p>
          <a:p>
            <a:r>
              <a:rPr lang="en-US" dirty="0"/>
              <a:t>high-level DML statements either to be entered interactively or to be embedded in a general-purpose programming language</a:t>
            </a:r>
          </a:p>
          <a:p>
            <a:endParaRPr lang="en-US" dirty="0"/>
          </a:p>
        </p:txBody>
      </p:sp>
      <p:sp>
        <p:nvSpPr>
          <p:cNvPr id="4" name="Slide Number Placeholder 3">
            <a:extLst>
              <a:ext uri="{FF2B5EF4-FFF2-40B4-BE49-F238E27FC236}">
                <a16:creationId xmlns:a16="http://schemas.microsoft.com/office/drawing/2014/main" id="{0F3DA84D-8FB8-290F-A8FC-08B0D5481CD1}"/>
              </a:ext>
            </a:extLst>
          </p:cNvPr>
          <p:cNvSpPr>
            <a:spLocks noGrp="1"/>
          </p:cNvSpPr>
          <p:nvPr>
            <p:ph type="sldNum" sz="quarter" idx="12"/>
          </p:nvPr>
        </p:nvSpPr>
        <p:spPr/>
        <p:txBody>
          <a:bodyPr/>
          <a:lstStyle/>
          <a:p>
            <a:fld id="{6264BDCF-5269-49AC-A246-ED26C2B980E3}" type="slidenum">
              <a:rPr lang="en-US" smtClean="0"/>
              <a:t>111</a:t>
            </a:fld>
            <a:endParaRPr lang="en-US"/>
          </a:p>
        </p:txBody>
      </p:sp>
    </p:spTree>
    <p:extLst>
      <p:ext uri="{BB962C8B-B14F-4D97-AF65-F5344CB8AC3E}">
        <p14:creationId xmlns:p14="http://schemas.microsoft.com/office/powerpoint/2010/main" val="19817025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C09D5-421C-0A53-82CA-C7A6FB994D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D74629-4512-8B76-5848-EFD6793F14CA}"/>
              </a:ext>
            </a:extLst>
          </p:cNvPr>
          <p:cNvSpPr>
            <a:spLocks noGrp="1"/>
          </p:cNvSpPr>
          <p:nvPr>
            <p:ph idx="1"/>
          </p:nvPr>
        </p:nvSpPr>
        <p:spPr/>
        <p:txBody>
          <a:bodyPr>
            <a:normAutofit/>
          </a:bodyPr>
          <a:lstStyle/>
          <a:p>
            <a:r>
              <a:rPr lang="en-US" dirty="0"/>
              <a:t>A </a:t>
            </a:r>
            <a:r>
              <a:rPr lang="en-US" b="1" dirty="0"/>
              <a:t>low-level </a:t>
            </a:r>
            <a:r>
              <a:rPr lang="en-US" dirty="0"/>
              <a:t>or </a:t>
            </a:r>
            <a:r>
              <a:rPr lang="en-US" b="1" dirty="0"/>
              <a:t>procedural </a:t>
            </a:r>
            <a:r>
              <a:rPr lang="en-US" dirty="0"/>
              <a:t>DML embedded in a general-purpose programming language</a:t>
            </a:r>
          </a:p>
          <a:p>
            <a:r>
              <a:rPr lang="en-US" dirty="0"/>
              <a:t>typically retrieves individual records or objects from the database and processes each separately; use programming language constructs, such as looping, to retrieve and process each record from a set of records</a:t>
            </a:r>
          </a:p>
        </p:txBody>
      </p:sp>
      <p:sp>
        <p:nvSpPr>
          <p:cNvPr id="4" name="Slide Number Placeholder 3">
            <a:extLst>
              <a:ext uri="{FF2B5EF4-FFF2-40B4-BE49-F238E27FC236}">
                <a16:creationId xmlns:a16="http://schemas.microsoft.com/office/drawing/2014/main" id="{9B5E7D24-C3AA-8A69-BB6D-E503D9FA6AA0}"/>
              </a:ext>
            </a:extLst>
          </p:cNvPr>
          <p:cNvSpPr>
            <a:spLocks noGrp="1"/>
          </p:cNvSpPr>
          <p:nvPr>
            <p:ph type="sldNum" sz="quarter" idx="12"/>
          </p:nvPr>
        </p:nvSpPr>
        <p:spPr/>
        <p:txBody>
          <a:bodyPr/>
          <a:lstStyle/>
          <a:p>
            <a:fld id="{6264BDCF-5269-49AC-A246-ED26C2B980E3}" type="slidenum">
              <a:rPr lang="en-US" smtClean="0"/>
              <a:t>112</a:t>
            </a:fld>
            <a:endParaRPr lang="en-US"/>
          </a:p>
        </p:txBody>
      </p:sp>
    </p:spTree>
    <p:extLst>
      <p:ext uri="{BB962C8B-B14F-4D97-AF65-F5344CB8AC3E}">
        <p14:creationId xmlns:p14="http://schemas.microsoft.com/office/powerpoint/2010/main" val="37865386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DDD9-DB1C-F6F7-05F2-BFF0EA4B00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D0BE7D-61DA-2ADC-2B19-95DAF2765057}"/>
              </a:ext>
            </a:extLst>
          </p:cNvPr>
          <p:cNvSpPr>
            <a:spLocks noGrp="1"/>
          </p:cNvSpPr>
          <p:nvPr>
            <p:ph idx="1"/>
          </p:nvPr>
        </p:nvSpPr>
        <p:spPr/>
        <p:txBody>
          <a:bodyPr>
            <a:normAutofit/>
          </a:bodyPr>
          <a:lstStyle/>
          <a:p>
            <a:r>
              <a:rPr lang="en-US" dirty="0"/>
              <a:t>low-level DMLs are also called record-at-a-time DMLs </a:t>
            </a:r>
          </a:p>
          <a:p>
            <a:r>
              <a:rPr lang="en-US" dirty="0"/>
              <a:t>high-level DMLs can specify and retrieve many records in a single DML statement; therefore, they are called set-at-a-time or set-oriented DMLs</a:t>
            </a:r>
          </a:p>
          <a:p>
            <a:endParaRPr lang="en-US" dirty="0"/>
          </a:p>
          <a:p>
            <a:r>
              <a:rPr lang="en-US" dirty="0"/>
              <a:t>query in high-level DML often specifies </a:t>
            </a:r>
            <a:r>
              <a:rPr lang="en-US" i="1" dirty="0"/>
              <a:t>which </a:t>
            </a:r>
            <a:r>
              <a:rPr lang="en-US" dirty="0"/>
              <a:t>data to retrieve rather than </a:t>
            </a:r>
            <a:r>
              <a:rPr lang="en-US" i="1" dirty="0"/>
              <a:t>how </a:t>
            </a:r>
            <a:r>
              <a:rPr lang="en-US" dirty="0"/>
              <a:t>to retrieve it; therefore, such languages are also called declarative</a:t>
            </a:r>
          </a:p>
          <a:p>
            <a:endParaRPr lang="en-US" dirty="0"/>
          </a:p>
        </p:txBody>
      </p:sp>
      <p:sp>
        <p:nvSpPr>
          <p:cNvPr id="4" name="Slide Number Placeholder 3">
            <a:extLst>
              <a:ext uri="{FF2B5EF4-FFF2-40B4-BE49-F238E27FC236}">
                <a16:creationId xmlns:a16="http://schemas.microsoft.com/office/drawing/2014/main" id="{2F5680D8-1D1A-8F61-310E-3E3208503B31}"/>
              </a:ext>
            </a:extLst>
          </p:cNvPr>
          <p:cNvSpPr>
            <a:spLocks noGrp="1"/>
          </p:cNvSpPr>
          <p:nvPr>
            <p:ph type="sldNum" sz="quarter" idx="12"/>
          </p:nvPr>
        </p:nvSpPr>
        <p:spPr/>
        <p:txBody>
          <a:bodyPr/>
          <a:lstStyle/>
          <a:p>
            <a:fld id="{6264BDCF-5269-49AC-A246-ED26C2B980E3}" type="slidenum">
              <a:rPr lang="en-US" smtClean="0"/>
              <a:t>113</a:t>
            </a:fld>
            <a:endParaRPr lang="en-US"/>
          </a:p>
        </p:txBody>
      </p:sp>
    </p:spTree>
    <p:extLst>
      <p:ext uri="{BB962C8B-B14F-4D97-AF65-F5344CB8AC3E}">
        <p14:creationId xmlns:p14="http://schemas.microsoft.com/office/powerpoint/2010/main" val="283191366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7FBB-61DE-9C00-89DC-E835190E0A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CD6865-EEA4-ECA3-83B3-8757AE84B2E1}"/>
              </a:ext>
            </a:extLst>
          </p:cNvPr>
          <p:cNvSpPr>
            <a:spLocks noGrp="1"/>
          </p:cNvSpPr>
          <p:nvPr>
            <p:ph idx="1"/>
          </p:nvPr>
        </p:nvSpPr>
        <p:spPr/>
        <p:txBody>
          <a:bodyPr>
            <a:normAutofit/>
          </a:bodyPr>
          <a:lstStyle/>
          <a:p>
            <a:r>
              <a:rPr lang="en-US" dirty="0"/>
              <a:t>whenever DML commands, whether high level or low level, are embedded in a general-purpose programming language, that language is called the host language and the DML is called the data sublanguage</a:t>
            </a:r>
          </a:p>
          <a:p>
            <a:r>
              <a:rPr lang="en-US" dirty="0"/>
              <a:t>a high-level DML used in a standalone interactive manner is called a query language</a:t>
            </a:r>
          </a:p>
          <a:p>
            <a:endParaRPr lang="en-US" dirty="0"/>
          </a:p>
        </p:txBody>
      </p:sp>
      <p:sp>
        <p:nvSpPr>
          <p:cNvPr id="4" name="Slide Number Placeholder 3">
            <a:extLst>
              <a:ext uri="{FF2B5EF4-FFF2-40B4-BE49-F238E27FC236}">
                <a16:creationId xmlns:a16="http://schemas.microsoft.com/office/drawing/2014/main" id="{54AB611F-A6C5-2A5E-9458-8CAEEDF6655E}"/>
              </a:ext>
            </a:extLst>
          </p:cNvPr>
          <p:cNvSpPr>
            <a:spLocks noGrp="1"/>
          </p:cNvSpPr>
          <p:nvPr>
            <p:ph type="sldNum" sz="quarter" idx="12"/>
          </p:nvPr>
        </p:nvSpPr>
        <p:spPr/>
        <p:txBody>
          <a:bodyPr/>
          <a:lstStyle/>
          <a:p>
            <a:fld id="{6264BDCF-5269-49AC-A246-ED26C2B980E3}" type="slidenum">
              <a:rPr lang="en-US" smtClean="0"/>
              <a:t>114</a:t>
            </a:fld>
            <a:endParaRPr lang="en-US"/>
          </a:p>
        </p:txBody>
      </p:sp>
    </p:spTree>
    <p:extLst>
      <p:ext uri="{BB962C8B-B14F-4D97-AF65-F5344CB8AC3E}">
        <p14:creationId xmlns:p14="http://schemas.microsoft.com/office/powerpoint/2010/main" val="17683232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28E3-D2A1-1E35-1651-1B46D9CF6982}"/>
              </a:ext>
            </a:extLst>
          </p:cNvPr>
          <p:cNvSpPr>
            <a:spLocks noGrp="1"/>
          </p:cNvSpPr>
          <p:nvPr>
            <p:ph type="title"/>
          </p:nvPr>
        </p:nvSpPr>
        <p:spPr/>
        <p:txBody>
          <a:bodyPr/>
          <a:lstStyle/>
          <a:p>
            <a:r>
              <a:rPr lang="en-US" dirty="0"/>
              <a:t>DBMS Component Modules</a:t>
            </a:r>
          </a:p>
        </p:txBody>
      </p:sp>
      <p:sp>
        <p:nvSpPr>
          <p:cNvPr id="3" name="Content Placeholder 2">
            <a:extLst>
              <a:ext uri="{FF2B5EF4-FFF2-40B4-BE49-F238E27FC236}">
                <a16:creationId xmlns:a16="http://schemas.microsoft.com/office/drawing/2014/main" id="{B772C0A3-9A8F-C0FB-533F-59C857E160F3}"/>
              </a:ext>
            </a:extLst>
          </p:cNvPr>
          <p:cNvSpPr>
            <a:spLocks noGrp="1"/>
          </p:cNvSpPr>
          <p:nvPr>
            <p:ph idx="1"/>
          </p:nvPr>
        </p:nvSpPr>
        <p:spPr>
          <a:xfrm>
            <a:off x="838199" y="1825625"/>
            <a:ext cx="10999839" cy="4351338"/>
          </a:xfrm>
        </p:spPr>
        <p:txBody>
          <a:bodyPr>
            <a:noAutofit/>
          </a:bodyPr>
          <a:lstStyle/>
          <a:p>
            <a:r>
              <a:rPr lang="en-US" dirty="0"/>
              <a:t>typical DBMS components</a:t>
            </a:r>
          </a:p>
          <a:p>
            <a:r>
              <a:rPr lang="en-US" dirty="0"/>
              <a:t>top part of figure refers to various users of database environment and their interfaces</a:t>
            </a:r>
          </a:p>
          <a:p>
            <a:r>
              <a:rPr lang="en-US" dirty="0"/>
              <a:t>lower part shows internal modules of DBMS responsible for storage of data and processing of transactions</a:t>
            </a:r>
          </a:p>
          <a:p>
            <a:r>
              <a:rPr lang="en-US" dirty="0"/>
              <a:t>database and DBMS catalog are usually stored on disk</a:t>
            </a:r>
          </a:p>
          <a:p>
            <a:r>
              <a:rPr lang="en-US" dirty="0"/>
              <a:t>access to storage disk is controlled primarily by operating system (OS), which schedules disk read/write; many DBMSs have their own buffer management module to schedule disk read/write, because management of buffer storage has considerable effect on performance</a:t>
            </a:r>
          </a:p>
        </p:txBody>
      </p:sp>
      <p:sp>
        <p:nvSpPr>
          <p:cNvPr id="4" name="Slide Number Placeholder 3">
            <a:extLst>
              <a:ext uri="{FF2B5EF4-FFF2-40B4-BE49-F238E27FC236}">
                <a16:creationId xmlns:a16="http://schemas.microsoft.com/office/drawing/2014/main" id="{7918401F-BBB9-818B-A584-DD783912E3A5}"/>
              </a:ext>
            </a:extLst>
          </p:cNvPr>
          <p:cNvSpPr>
            <a:spLocks noGrp="1"/>
          </p:cNvSpPr>
          <p:nvPr>
            <p:ph type="sldNum" sz="quarter" idx="12"/>
          </p:nvPr>
        </p:nvSpPr>
        <p:spPr/>
        <p:txBody>
          <a:bodyPr/>
          <a:lstStyle/>
          <a:p>
            <a:fld id="{6264BDCF-5269-49AC-A246-ED26C2B980E3}" type="slidenum">
              <a:rPr lang="en-US" smtClean="0"/>
              <a:t>115</a:t>
            </a:fld>
            <a:endParaRPr lang="en-US"/>
          </a:p>
        </p:txBody>
      </p:sp>
    </p:spTree>
    <p:extLst>
      <p:ext uri="{BB962C8B-B14F-4D97-AF65-F5344CB8AC3E}">
        <p14:creationId xmlns:p14="http://schemas.microsoft.com/office/powerpoint/2010/main" val="36116504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420A-A659-7155-EEC9-E401F5F9EAF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3C84EFEE-57B8-5805-003C-62AE30EBAF5C}"/>
              </a:ext>
            </a:extLst>
          </p:cNvPr>
          <p:cNvPicPr>
            <a:picLocks noGrp="1" noChangeAspect="1"/>
          </p:cNvPicPr>
          <p:nvPr>
            <p:ph idx="1"/>
          </p:nvPr>
        </p:nvPicPr>
        <p:blipFill>
          <a:blip r:embed="rId2"/>
          <a:stretch>
            <a:fillRect/>
          </a:stretch>
        </p:blipFill>
        <p:spPr>
          <a:xfrm>
            <a:off x="1828800" y="91439"/>
            <a:ext cx="7181710" cy="6648874"/>
          </a:xfrm>
        </p:spPr>
      </p:pic>
      <p:sp>
        <p:nvSpPr>
          <p:cNvPr id="4" name="Slide Number Placeholder 3">
            <a:extLst>
              <a:ext uri="{FF2B5EF4-FFF2-40B4-BE49-F238E27FC236}">
                <a16:creationId xmlns:a16="http://schemas.microsoft.com/office/drawing/2014/main" id="{AF8D2BCF-C945-E46D-94C4-A0BA2D253D73}"/>
              </a:ext>
            </a:extLst>
          </p:cNvPr>
          <p:cNvSpPr>
            <a:spLocks noGrp="1"/>
          </p:cNvSpPr>
          <p:nvPr>
            <p:ph type="sldNum" sz="quarter" idx="12"/>
          </p:nvPr>
        </p:nvSpPr>
        <p:spPr/>
        <p:txBody>
          <a:bodyPr/>
          <a:lstStyle/>
          <a:p>
            <a:fld id="{6264BDCF-5269-49AC-A246-ED26C2B980E3}" type="slidenum">
              <a:rPr lang="en-US" smtClean="0"/>
              <a:t>116</a:t>
            </a:fld>
            <a:endParaRPr lang="en-US"/>
          </a:p>
        </p:txBody>
      </p:sp>
    </p:spTree>
    <p:extLst>
      <p:ext uri="{BB962C8B-B14F-4D97-AF65-F5344CB8AC3E}">
        <p14:creationId xmlns:p14="http://schemas.microsoft.com/office/powerpoint/2010/main" val="17461841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A200-E54A-C904-AB2A-D9F255493C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DC9040-757E-4044-7C6F-CFF98990CC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D4EC53D-DAD5-3873-671E-B9A55AB0741B}"/>
              </a:ext>
            </a:extLst>
          </p:cNvPr>
          <p:cNvSpPr>
            <a:spLocks noGrp="1"/>
          </p:cNvSpPr>
          <p:nvPr>
            <p:ph type="sldNum" sz="quarter" idx="12"/>
          </p:nvPr>
        </p:nvSpPr>
        <p:spPr/>
        <p:txBody>
          <a:bodyPr/>
          <a:lstStyle/>
          <a:p>
            <a:fld id="{6264BDCF-5269-49AC-A246-ED26C2B980E3}" type="slidenum">
              <a:rPr lang="en-US" smtClean="0"/>
              <a:t>117</a:t>
            </a:fld>
            <a:endParaRPr lang="en-US"/>
          </a:p>
        </p:txBody>
      </p:sp>
      <p:pic>
        <p:nvPicPr>
          <p:cNvPr id="6" name="Picture 5">
            <a:extLst>
              <a:ext uri="{FF2B5EF4-FFF2-40B4-BE49-F238E27FC236}">
                <a16:creationId xmlns:a16="http://schemas.microsoft.com/office/drawing/2014/main" id="{ACA4AA75-D770-915B-B1EB-F1373FA02DD4}"/>
              </a:ext>
            </a:extLst>
          </p:cNvPr>
          <p:cNvPicPr>
            <a:picLocks noChangeAspect="1"/>
          </p:cNvPicPr>
          <p:nvPr/>
        </p:nvPicPr>
        <p:blipFill>
          <a:blip r:embed="rId2"/>
          <a:stretch>
            <a:fillRect/>
          </a:stretch>
        </p:blipFill>
        <p:spPr>
          <a:xfrm>
            <a:off x="457200" y="457200"/>
            <a:ext cx="11436422" cy="5814663"/>
          </a:xfrm>
          <a:prstGeom prst="rect">
            <a:avLst/>
          </a:prstGeom>
        </p:spPr>
      </p:pic>
    </p:spTree>
    <p:extLst>
      <p:ext uri="{BB962C8B-B14F-4D97-AF65-F5344CB8AC3E}">
        <p14:creationId xmlns:p14="http://schemas.microsoft.com/office/powerpoint/2010/main" val="13759097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93D8-50DA-C89D-92FF-CF05266976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63FE16-902E-A883-49F3-173B3A450D1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F0CBE3A-81C1-F007-C653-BCC1C5DFB92F}"/>
              </a:ext>
            </a:extLst>
          </p:cNvPr>
          <p:cNvSpPr>
            <a:spLocks noGrp="1"/>
          </p:cNvSpPr>
          <p:nvPr>
            <p:ph type="sldNum" sz="quarter" idx="12"/>
          </p:nvPr>
        </p:nvSpPr>
        <p:spPr/>
        <p:txBody>
          <a:bodyPr/>
          <a:lstStyle/>
          <a:p>
            <a:fld id="{6264BDCF-5269-49AC-A246-ED26C2B980E3}" type="slidenum">
              <a:rPr lang="en-US" smtClean="0"/>
              <a:t>118</a:t>
            </a:fld>
            <a:endParaRPr lang="en-US"/>
          </a:p>
        </p:txBody>
      </p:sp>
      <p:pic>
        <p:nvPicPr>
          <p:cNvPr id="6" name="Picture 5">
            <a:extLst>
              <a:ext uri="{FF2B5EF4-FFF2-40B4-BE49-F238E27FC236}">
                <a16:creationId xmlns:a16="http://schemas.microsoft.com/office/drawing/2014/main" id="{CA68B12F-926B-B3A7-BE03-E12E39AE043A}"/>
              </a:ext>
            </a:extLst>
          </p:cNvPr>
          <p:cNvPicPr>
            <a:picLocks noChangeAspect="1"/>
          </p:cNvPicPr>
          <p:nvPr/>
        </p:nvPicPr>
        <p:blipFill>
          <a:blip r:embed="rId2"/>
          <a:stretch>
            <a:fillRect/>
          </a:stretch>
        </p:blipFill>
        <p:spPr>
          <a:xfrm>
            <a:off x="457200" y="457200"/>
            <a:ext cx="11528809" cy="4761296"/>
          </a:xfrm>
          <a:prstGeom prst="rect">
            <a:avLst/>
          </a:prstGeom>
        </p:spPr>
      </p:pic>
    </p:spTree>
    <p:extLst>
      <p:ext uri="{BB962C8B-B14F-4D97-AF65-F5344CB8AC3E}">
        <p14:creationId xmlns:p14="http://schemas.microsoft.com/office/powerpoint/2010/main" val="32703871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3BA4-ED1F-83CB-3180-9F5D0E1219E2}"/>
              </a:ext>
            </a:extLst>
          </p:cNvPr>
          <p:cNvSpPr>
            <a:spLocks noGrp="1"/>
          </p:cNvSpPr>
          <p:nvPr>
            <p:ph type="title"/>
          </p:nvPr>
        </p:nvSpPr>
        <p:spPr/>
        <p:txBody>
          <a:bodyPr/>
          <a:lstStyle/>
          <a:p>
            <a:r>
              <a:rPr lang="en-US" dirty="0"/>
              <a:t>Database System Utilities</a:t>
            </a:r>
          </a:p>
        </p:txBody>
      </p:sp>
      <p:sp>
        <p:nvSpPr>
          <p:cNvPr id="3" name="Content Placeholder 2">
            <a:extLst>
              <a:ext uri="{FF2B5EF4-FFF2-40B4-BE49-F238E27FC236}">
                <a16:creationId xmlns:a16="http://schemas.microsoft.com/office/drawing/2014/main" id="{CC4D6228-A050-B32F-E6A5-611F41F55B74}"/>
              </a:ext>
            </a:extLst>
          </p:cNvPr>
          <p:cNvSpPr>
            <a:spLocks noGrp="1"/>
          </p:cNvSpPr>
          <p:nvPr>
            <p:ph idx="1"/>
          </p:nvPr>
        </p:nvSpPr>
        <p:spPr/>
        <p:txBody>
          <a:bodyPr>
            <a:noAutofit/>
          </a:bodyPr>
          <a:lstStyle/>
          <a:p>
            <a:r>
              <a:rPr lang="en-US" dirty="0"/>
              <a:t>Loading</a:t>
            </a:r>
          </a:p>
          <a:p>
            <a:r>
              <a:rPr lang="en-US" dirty="0"/>
              <a:t>Backup</a:t>
            </a:r>
          </a:p>
          <a:p>
            <a:r>
              <a:rPr lang="en-US" dirty="0"/>
              <a:t>Database storage reorganization</a:t>
            </a:r>
          </a:p>
          <a:p>
            <a:r>
              <a:rPr lang="en-US" dirty="0"/>
              <a:t>Performance monitoring</a:t>
            </a:r>
          </a:p>
        </p:txBody>
      </p:sp>
      <p:sp>
        <p:nvSpPr>
          <p:cNvPr id="4" name="Slide Number Placeholder 3">
            <a:extLst>
              <a:ext uri="{FF2B5EF4-FFF2-40B4-BE49-F238E27FC236}">
                <a16:creationId xmlns:a16="http://schemas.microsoft.com/office/drawing/2014/main" id="{9DB2222F-7C15-F7BE-9C6C-FEAF6E6DFD2E}"/>
              </a:ext>
            </a:extLst>
          </p:cNvPr>
          <p:cNvSpPr>
            <a:spLocks noGrp="1"/>
          </p:cNvSpPr>
          <p:nvPr>
            <p:ph type="sldNum" sz="quarter" idx="12"/>
          </p:nvPr>
        </p:nvSpPr>
        <p:spPr/>
        <p:txBody>
          <a:bodyPr/>
          <a:lstStyle/>
          <a:p>
            <a:fld id="{6264BDCF-5269-49AC-A246-ED26C2B980E3}" type="slidenum">
              <a:rPr lang="en-US" smtClean="0"/>
              <a:t>119</a:t>
            </a:fld>
            <a:endParaRPr lang="en-US"/>
          </a:p>
        </p:txBody>
      </p:sp>
    </p:spTree>
    <p:extLst>
      <p:ext uri="{BB962C8B-B14F-4D97-AF65-F5344CB8AC3E}">
        <p14:creationId xmlns:p14="http://schemas.microsoft.com/office/powerpoint/2010/main" val="36670990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DBBC9-16AE-B19D-65D8-3D9E833C0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AA24C-4B89-D407-7E5A-C9A7B358AE06}"/>
              </a:ext>
            </a:extLst>
          </p:cNvPr>
          <p:cNvSpPr>
            <a:spLocks noGrp="1"/>
          </p:cNvSpPr>
          <p:nvPr>
            <p:ph type="title"/>
          </p:nvPr>
        </p:nvSpPr>
        <p:spPr/>
        <p:txBody>
          <a:bodyPr/>
          <a:lstStyle/>
          <a:p>
            <a:r>
              <a:rPr lang="en-US" dirty="0"/>
              <a:t>Loading</a:t>
            </a:r>
          </a:p>
        </p:txBody>
      </p:sp>
      <p:sp>
        <p:nvSpPr>
          <p:cNvPr id="3" name="Content Placeholder 2">
            <a:extLst>
              <a:ext uri="{FF2B5EF4-FFF2-40B4-BE49-F238E27FC236}">
                <a16:creationId xmlns:a16="http://schemas.microsoft.com/office/drawing/2014/main" id="{3C5185E5-8EA1-1A44-B96F-1855F8D0A28A}"/>
              </a:ext>
            </a:extLst>
          </p:cNvPr>
          <p:cNvSpPr>
            <a:spLocks noGrp="1"/>
          </p:cNvSpPr>
          <p:nvPr>
            <p:ph idx="1"/>
          </p:nvPr>
        </p:nvSpPr>
        <p:spPr/>
        <p:txBody>
          <a:bodyPr>
            <a:noAutofit/>
          </a:bodyPr>
          <a:lstStyle/>
          <a:p>
            <a:r>
              <a:rPr lang="en-US" dirty="0"/>
              <a:t>utility is used to load existing data files, such as text files or sequential files, into the database</a:t>
            </a:r>
          </a:p>
          <a:p>
            <a:r>
              <a:rPr lang="en-US" dirty="0"/>
              <a:t>current (source) format of data file and desired (target) database file structure are specified to the utility, which then automatically reformats the data and stores it in the database</a:t>
            </a:r>
          </a:p>
          <a:p>
            <a:r>
              <a:rPr lang="en-US" dirty="0"/>
              <a:t>conversion tools that generate the appropriate loading programs, given existing source and target database storage descriptions (internal schemas)</a:t>
            </a:r>
          </a:p>
        </p:txBody>
      </p:sp>
      <p:sp>
        <p:nvSpPr>
          <p:cNvPr id="4" name="Slide Number Placeholder 3">
            <a:extLst>
              <a:ext uri="{FF2B5EF4-FFF2-40B4-BE49-F238E27FC236}">
                <a16:creationId xmlns:a16="http://schemas.microsoft.com/office/drawing/2014/main" id="{AD1AEEA8-B9A0-D38A-FAE1-0BAEADCC089B}"/>
              </a:ext>
            </a:extLst>
          </p:cNvPr>
          <p:cNvSpPr>
            <a:spLocks noGrp="1"/>
          </p:cNvSpPr>
          <p:nvPr>
            <p:ph type="sldNum" sz="quarter" idx="12"/>
          </p:nvPr>
        </p:nvSpPr>
        <p:spPr/>
        <p:txBody>
          <a:bodyPr/>
          <a:lstStyle/>
          <a:p>
            <a:fld id="{6264BDCF-5269-49AC-A246-ED26C2B980E3}" type="slidenum">
              <a:rPr lang="en-US" smtClean="0"/>
              <a:t>120</a:t>
            </a:fld>
            <a:endParaRPr lang="en-US"/>
          </a:p>
        </p:txBody>
      </p:sp>
    </p:spTree>
    <p:extLst>
      <p:ext uri="{BB962C8B-B14F-4D97-AF65-F5344CB8AC3E}">
        <p14:creationId xmlns:p14="http://schemas.microsoft.com/office/powerpoint/2010/main" val="51812937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7B530-54E9-44A0-BC03-9951D3551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A636C-5D0C-7CF2-9AA3-92871FE5400D}"/>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97F83FFC-9956-C169-733C-1E9BD24975A3}"/>
              </a:ext>
            </a:extLst>
          </p:cNvPr>
          <p:cNvSpPr>
            <a:spLocks noGrp="1"/>
          </p:cNvSpPr>
          <p:nvPr>
            <p:ph idx="1"/>
          </p:nvPr>
        </p:nvSpPr>
        <p:spPr/>
        <p:txBody>
          <a:bodyPr>
            <a:noAutofit/>
          </a:bodyPr>
          <a:lstStyle/>
          <a:p>
            <a:r>
              <a:rPr lang="en-US" dirty="0"/>
              <a:t>utility creates a backup copy of the database, usually by dumping the entire database onto tape or other mass storage medium</a:t>
            </a:r>
          </a:p>
          <a:p>
            <a:r>
              <a:rPr lang="en-US" dirty="0"/>
              <a:t>backup copy can be used to restore the database in case of failure</a:t>
            </a:r>
          </a:p>
          <a:p>
            <a:r>
              <a:rPr lang="en-US" dirty="0"/>
              <a:t>incremental backups are also often used, where only changes since the previous backup are recorded; more complex, but saves storage space</a:t>
            </a:r>
          </a:p>
        </p:txBody>
      </p:sp>
      <p:sp>
        <p:nvSpPr>
          <p:cNvPr id="4" name="Slide Number Placeholder 3">
            <a:extLst>
              <a:ext uri="{FF2B5EF4-FFF2-40B4-BE49-F238E27FC236}">
                <a16:creationId xmlns:a16="http://schemas.microsoft.com/office/drawing/2014/main" id="{A10D4153-0E3D-2266-47C4-896A51430BF2}"/>
              </a:ext>
            </a:extLst>
          </p:cNvPr>
          <p:cNvSpPr>
            <a:spLocks noGrp="1"/>
          </p:cNvSpPr>
          <p:nvPr>
            <p:ph type="sldNum" sz="quarter" idx="12"/>
          </p:nvPr>
        </p:nvSpPr>
        <p:spPr/>
        <p:txBody>
          <a:bodyPr/>
          <a:lstStyle/>
          <a:p>
            <a:fld id="{6264BDCF-5269-49AC-A246-ED26C2B980E3}" type="slidenum">
              <a:rPr lang="en-US" smtClean="0"/>
              <a:t>121</a:t>
            </a:fld>
            <a:endParaRPr lang="en-US"/>
          </a:p>
        </p:txBody>
      </p:sp>
    </p:spTree>
    <p:extLst>
      <p:ext uri="{BB962C8B-B14F-4D97-AF65-F5344CB8AC3E}">
        <p14:creationId xmlns:p14="http://schemas.microsoft.com/office/powerpoint/2010/main" val="285156344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5146-4ACE-C21E-EC3B-81E5A5A2E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D9DE1-2371-DCF7-7ACE-37E814DDC434}"/>
              </a:ext>
            </a:extLst>
          </p:cNvPr>
          <p:cNvSpPr>
            <a:spLocks noGrp="1"/>
          </p:cNvSpPr>
          <p:nvPr>
            <p:ph type="title"/>
          </p:nvPr>
        </p:nvSpPr>
        <p:spPr/>
        <p:txBody>
          <a:bodyPr/>
          <a:lstStyle/>
          <a:p>
            <a:r>
              <a:rPr lang="en-US" dirty="0"/>
              <a:t>Database storage reorganization</a:t>
            </a:r>
          </a:p>
        </p:txBody>
      </p:sp>
      <p:sp>
        <p:nvSpPr>
          <p:cNvPr id="3" name="Content Placeholder 2">
            <a:extLst>
              <a:ext uri="{FF2B5EF4-FFF2-40B4-BE49-F238E27FC236}">
                <a16:creationId xmlns:a16="http://schemas.microsoft.com/office/drawing/2014/main" id="{D61A2883-96BB-A5EA-3BC4-8D6F8D4D9D7F}"/>
              </a:ext>
            </a:extLst>
          </p:cNvPr>
          <p:cNvSpPr>
            <a:spLocks noGrp="1"/>
          </p:cNvSpPr>
          <p:nvPr>
            <p:ph idx="1"/>
          </p:nvPr>
        </p:nvSpPr>
        <p:spPr/>
        <p:txBody>
          <a:bodyPr>
            <a:noAutofit/>
          </a:bodyPr>
          <a:lstStyle/>
          <a:p>
            <a:r>
              <a:rPr lang="en-US" dirty="0"/>
              <a:t>utility can be used to reorganize a set of database files into different file organizations and create new access paths to improve performance</a:t>
            </a:r>
          </a:p>
        </p:txBody>
      </p:sp>
      <p:sp>
        <p:nvSpPr>
          <p:cNvPr id="4" name="Slide Number Placeholder 3">
            <a:extLst>
              <a:ext uri="{FF2B5EF4-FFF2-40B4-BE49-F238E27FC236}">
                <a16:creationId xmlns:a16="http://schemas.microsoft.com/office/drawing/2014/main" id="{45CC18C8-807D-0580-825D-0C6FC56E4FC1}"/>
              </a:ext>
            </a:extLst>
          </p:cNvPr>
          <p:cNvSpPr>
            <a:spLocks noGrp="1"/>
          </p:cNvSpPr>
          <p:nvPr>
            <p:ph type="sldNum" sz="quarter" idx="12"/>
          </p:nvPr>
        </p:nvSpPr>
        <p:spPr/>
        <p:txBody>
          <a:bodyPr/>
          <a:lstStyle/>
          <a:p>
            <a:fld id="{6264BDCF-5269-49AC-A246-ED26C2B980E3}" type="slidenum">
              <a:rPr lang="en-US" smtClean="0"/>
              <a:t>122</a:t>
            </a:fld>
            <a:endParaRPr lang="en-US"/>
          </a:p>
        </p:txBody>
      </p:sp>
    </p:spTree>
    <p:extLst>
      <p:ext uri="{BB962C8B-B14F-4D97-AF65-F5344CB8AC3E}">
        <p14:creationId xmlns:p14="http://schemas.microsoft.com/office/powerpoint/2010/main" val="34457182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7D325-724E-8297-AD40-F45101C8C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2E3C6-62EE-5A42-1868-82871BF4F3C2}"/>
              </a:ext>
            </a:extLst>
          </p:cNvPr>
          <p:cNvSpPr>
            <a:spLocks noGrp="1"/>
          </p:cNvSpPr>
          <p:nvPr>
            <p:ph type="title"/>
          </p:nvPr>
        </p:nvSpPr>
        <p:spPr/>
        <p:txBody>
          <a:bodyPr/>
          <a:lstStyle/>
          <a:p>
            <a:r>
              <a:rPr lang="en-US" dirty="0"/>
              <a:t>Performance monitoring</a:t>
            </a:r>
          </a:p>
        </p:txBody>
      </p:sp>
      <p:sp>
        <p:nvSpPr>
          <p:cNvPr id="3" name="Content Placeholder 2">
            <a:extLst>
              <a:ext uri="{FF2B5EF4-FFF2-40B4-BE49-F238E27FC236}">
                <a16:creationId xmlns:a16="http://schemas.microsoft.com/office/drawing/2014/main" id="{05CF6579-4E6E-85DE-6459-FB394E4044CF}"/>
              </a:ext>
            </a:extLst>
          </p:cNvPr>
          <p:cNvSpPr>
            <a:spLocks noGrp="1"/>
          </p:cNvSpPr>
          <p:nvPr>
            <p:ph idx="1"/>
          </p:nvPr>
        </p:nvSpPr>
        <p:spPr/>
        <p:txBody>
          <a:bodyPr>
            <a:noAutofit/>
          </a:bodyPr>
          <a:lstStyle/>
          <a:p>
            <a:r>
              <a:rPr lang="en-US" dirty="0"/>
              <a:t>utility monitors database usage and provides statistics to the DBA</a:t>
            </a:r>
          </a:p>
          <a:p>
            <a:r>
              <a:rPr lang="en-US" dirty="0"/>
              <a:t>DBA uses the statistics in making decisions such as whether or not to reorganize files or whether to add or drop indexes to improve performance</a:t>
            </a:r>
          </a:p>
        </p:txBody>
      </p:sp>
      <p:sp>
        <p:nvSpPr>
          <p:cNvPr id="4" name="Slide Number Placeholder 3">
            <a:extLst>
              <a:ext uri="{FF2B5EF4-FFF2-40B4-BE49-F238E27FC236}">
                <a16:creationId xmlns:a16="http://schemas.microsoft.com/office/drawing/2014/main" id="{16F54AD5-7D80-DF87-957A-52E21D672DE9}"/>
              </a:ext>
            </a:extLst>
          </p:cNvPr>
          <p:cNvSpPr>
            <a:spLocks noGrp="1"/>
          </p:cNvSpPr>
          <p:nvPr>
            <p:ph type="sldNum" sz="quarter" idx="12"/>
          </p:nvPr>
        </p:nvSpPr>
        <p:spPr/>
        <p:txBody>
          <a:bodyPr/>
          <a:lstStyle/>
          <a:p>
            <a:fld id="{6264BDCF-5269-49AC-A246-ED26C2B980E3}" type="slidenum">
              <a:rPr lang="en-US" smtClean="0"/>
              <a:t>123</a:t>
            </a:fld>
            <a:endParaRPr lang="en-US"/>
          </a:p>
        </p:txBody>
      </p:sp>
    </p:spTree>
    <p:extLst>
      <p:ext uri="{BB962C8B-B14F-4D97-AF65-F5344CB8AC3E}">
        <p14:creationId xmlns:p14="http://schemas.microsoft.com/office/powerpoint/2010/main" val="32209584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F7361-949B-9B87-DA6E-7CFF5AA45066}"/>
              </a:ext>
            </a:extLst>
          </p:cNvPr>
          <p:cNvSpPr>
            <a:spLocks noGrp="1"/>
          </p:cNvSpPr>
          <p:nvPr>
            <p:ph type="title"/>
          </p:nvPr>
        </p:nvSpPr>
        <p:spPr/>
        <p:txBody>
          <a:bodyPr/>
          <a:lstStyle/>
          <a:p>
            <a:r>
              <a:rPr lang="en-US" dirty="0"/>
              <a:t>Centralized DBMSs Architecture</a:t>
            </a:r>
          </a:p>
        </p:txBody>
      </p:sp>
      <p:sp>
        <p:nvSpPr>
          <p:cNvPr id="3" name="Content Placeholder 2">
            <a:extLst>
              <a:ext uri="{FF2B5EF4-FFF2-40B4-BE49-F238E27FC236}">
                <a16:creationId xmlns:a16="http://schemas.microsoft.com/office/drawing/2014/main" id="{8A101893-F22B-94BC-2450-F50B7A05EE2C}"/>
              </a:ext>
            </a:extLst>
          </p:cNvPr>
          <p:cNvSpPr>
            <a:spLocks noGrp="1"/>
          </p:cNvSpPr>
          <p:nvPr>
            <p:ph idx="1"/>
          </p:nvPr>
        </p:nvSpPr>
        <p:spPr/>
        <p:txBody>
          <a:bodyPr>
            <a:noAutofit/>
          </a:bodyPr>
          <a:lstStyle/>
          <a:p>
            <a:r>
              <a:rPr lang="en-US" dirty="0"/>
              <a:t>older architectures used mainframe computers to provide main processing for all system functions, including user application programs and user interface programs, as well as all DBMS functionality</a:t>
            </a:r>
          </a:p>
          <a:p>
            <a:r>
              <a:rPr lang="en-US" dirty="0"/>
              <a:t>gradually, DBMS systems started to exploit the available processing power at the user side, which led to client/server DBMS architectures</a:t>
            </a:r>
          </a:p>
        </p:txBody>
      </p:sp>
      <p:sp>
        <p:nvSpPr>
          <p:cNvPr id="4" name="Slide Number Placeholder 3">
            <a:extLst>
              <a:ext uri="{FF2B5EF4-FFF2-40B4-BE49-F238E27FC236}">
                <a16:creationId xmlns:a16="http://schemas.microsoft.com/office/drawing/2014/main" id="{321130C8-32F6-4749-F5C3-FBF0E7EF5ECD}"/>
              </a:ext>
            </a:extLst>
          </p:cNvPr>
          <p:cNvSpPr>
            <a:spLocks noGrp="1"/>
          </p:cNvSpPr>
          <p:nvPr>
            <p:ph type="sldNum" sz="quarter" idx="12"/>
          </p:nvPr>
        </p:nvSpPr>
        <p:spPr/>
        <p:txBody>
          <a:bodyPr/>
          <a:lstStyle/>
          <a:p>
            <a:fld id="{6264BDCF-5269-49AC-A246-ED26C2B980E3}" type="slidenum">
              <a:rPr lang="en-US" smtClean="0"/>
              <a:t>124</a:t>
            </a:fld>
            <a:endParaRPr lang="en-US"/>
          </a:p>
        </p:txBody>
      </p:sp>
    </p:spTree>
    <p:extLst>
      <p:ext uri="{BB962C8B-B14F-4D97-AF65-F5344CB8AC3E}">
        <p14:creationId xmlns:p14="http://schemas.microsoft.com/office/powerpoint/2010/main" val="27787666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2802E-1683-17AD-E240-52B60C123666}"/>
              </a:ext>
            </a:extLst>
          </p:cNvPr>
          <p:cNvSpPr>
            <a:spLocks noGrp="1"/>
          </p:cNvSpPr>
          <p:nvPr>
            <p:ph type="title"/>
          </p:nvPr>
        </p:nvSpPr>
        <p:spPr/>
        <p:txBody>
          <a:bodyPr/>
          <a:lstStyle/>
          <a:p>
            <a:r>
              <a:rPr lang="en-US" dirty="0"/>
              <a:t>Client/Server Architectures</a:t>
            </a:r>
          </a:p>
        </p:txBody>
      </p:sp>
      <p:sp>
        <p:nvSpPr>
          <p:cNvPr id="3" name="Content Placeholder 2">
            <a:extLst>
              <a:ext uri="{FF2B5EF4-FFF2-40B4-BE49-F238E27FC236}">
                <a16:creationId xmlns:a16="http://schemas.microsoft.com/office/drawing/2014/main" id="{7847B7F8-AEAA-3DC6-E999-E649EAE328DE}"/>
              </a:ext>
            </a:extLst>
          </p:cNvPr>
          <p:cNvSpPr>
            <a:spLocks noGrp="1"/>
          </p:cNvSpPr>
          <p:nvPr>
            <p:ph idx="1"/>
          </p:nvPr>
        </p:nvSpPr>
        <p:spPr/>
        <p:txBody>
          <a:bodyPr>
            <a:noAutofit/>
          </a:bodyPr>
          <a:lstStyle/>
          <a:p>
            <a:r>
              <a:rPr lang="en-US" dirty="0"/>
              <a:t>developed to deal with computing environments in which a large number of PCs, workstations, file servers, printers, database servers, Web servers, e-mail servers, and other software and equipment are connected via a network</a:t>
            </a:r>
          </a:p>
          <a:p>
            <a:r>
              <a:rPr lang="en-US" dirty="0"/>
              <a:t>idea is to define specialized servers with specific functionalities</a:t>
            </a:r>
          </a:p>
          <a:p>
            <a:r>
              <a:rPr lang="en-US" dirty="0"/>
              <a:t>resources provided by specialized servers can be accessed by many client machines</a:t>
            </a:r>
          </a:p>
          <a:p>
            <a:pPr lvl="1"/>
            <a:r>
              <a:rPr lang="en-US" sz="2600" dirty="0"/>
              <a:t>client machines provide the user with the appropriate interfaces to utilize these servers, as well as with local processing power to run local applications</a:t>
            </a:r>
          </a:p>
        </p:txBody>
      </p:sp>
      <p:sp>
        <p:nvSpPr>
          <p:cNvPr id="4" name="Slide Number Placeholder 3">
            <a:extLst>
              <a:ext uri="{FF2B5EF4-FFF2-40B4-BE49-F238E27FC236}">
                <a16:creationId xmlns:a16="http://schemas.microsoft.com/office/drawing/2014/main" id="{B43B8AC3-5139-9371-CB94-28708D4A26B1}"/>
              </a:ext>
            </a:extLst>
          </p:cNvPr>
          <p:cNvSpPr>
            <a:spLocks noGrp="1"/>
          </p:cNvSpPr>
          <p:nvPr>
            <p:ph type="sldNum" sz="quarter" idx="12"/>
          </p:nvPr>
        </p:nvSpPr>
        <p:spPr/>
        <p:txBody>
          <a:bodyPr/>
          <a:lstStyle/>
          <a:p>
            <a:fld id="{6264BDCF-5269-49AC-A246-ED26C2B980E3}" type="slidenum">
              <a:rPr lang="en-US" smtClean="0"/>
              <a:t>125</a:t>
            </a:fld>
            <a:endParaRPr lang="en-US"/>
          </a:p>
        </p:txBody>
      </p:sp>
    </p:spTree>
    <p:extLst>
      <p:ext uri="{BB962C8B-B14F-4D97-AF65-F5344CB8AC3E}">
        <p14:creationId xmlns:p14="http://schemas.microsoft.com/office/powerpoint/2010/main" val="34976260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A9DB-5417-4DBC-5E0F-717D0AD470C8}"/>
              </a:ext>
            </a:extLst>
          </p:cNvPr>
          <p:cNvSpPr>
            <a:spLocks noGrp="1"/>
          </p:cNvSpPr>
          <p:nvPr>
            <p:ph type="title"/>
          </p:nvPr>
        </p:nvSpPr>
        <p:spPr/>
        <p:txBody>
          <a:bodyPr/>
          <a:lstStyle/>
          <a:p>
            <a:r>
              <a:rPr lang="en-US" dirty="0"/>
              <a:t>Client</a:t>
            </a:r>
          </a:p>
        </p:txBody>
      </p:sp>
      <p:sp>
        <p:nvSpPr>
          <p:cNvPr id="3" name="Content Placeholder 2">
            <a:extLst>
              <a:ext uri="{FF2B5EF4-FFF2-40B4-BE49-F238E27FC236}">
                <a16:creationId xmlns:a16="http://schemas.microsoft.com/office/drawing/2014/main" id="{7E343719-B672-FCC3-497C-3C31A5DC7A3C}"/>
              </a:ext>
            </a:extLst>
          </p:cNvPr>
          <p:cNvSpPr>
            <a:spLocks noGrp="1"/>
          </p:cNvSpPr>
          <p:nvPr>
            <p:ph idx="1"/>
          </p:nvPr>
        </p:nvSpPr>
        <p:spPr/>
        <p:txBody>
          <a:bodyPr>
            <a:normAutofit/>
          </a:bodyPr>
          <a:lstStyle/>
          <a:p>
            <a:r>
              <a:rPr lang="en-US" dirty="0"/>
              <a:t>user machine that provides user interface capabilities and local processing</a:t>
            </a:r>
          </a:p>
          <a:p>
            <a:r>
              <a:rPr lang="en-US" dirty="0"/>
              <a:t>when client requires access to additional functionality, such as database access, that does not exist at the client, it connects to a server that provides the needed functionality</a:t>
            </a:r>
          </a:p>
        </p:txBody>
      </p:sp>
      <p:sp>
        <p:nvSpPr>
          <p:cNvPr id="4" name="Slide Number Placeholder 3">
            <a:extLst>
              <a:ext uri="{FF2B5EF4-FFF2-40B4-BE49-F238E27FC236}">
                <a16:creationId xmlns:a16="http://schemas.microsoft.com/office/drawing/2014/main" id="{F16BA5E3-F58B-FCA3-5495-C518501B65B9}"/>
              </a:ext>
            </a:extLst>
          </p:cNvPr>
          <p:cNvSpPr>
            <a:spLocks noGrp="1"/>
          </p:cNvSpPr>
          <p:nvPr>
            <p:ph type="sldNum" sz="quarter" idx="12"/>
          </p:nvPr>
        </p:nvSpPr>
        <p:spPr/>
        <p:txBody>
          <a:bodyPr/>
          <a:lstStyle/>
          <a:p>
            <a:fld id="{6264BDCF-5269-49AC-A246-ED26C2B980E3}" type="slidenum">
              <a:rPr lang="en-US" smtClean="0"/>
              <a:t>126</a:t>
            </a:fld>
            <a:endParaRPr lang="en-US"/>
          </a:p>
        </p:txBody>
      </p:sp>
    </p:spTree>
    <p:extLst>
      <p:ext uri="{BB962C8B-B14F-4D97-AF65-F5344CB8AC3E}">
        <p14:creationId xmlns:p14="http://schemas.microsoft.com/office/powerpoint/2010/main" val="225777742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713C7-DE42-B742-F0B5-17BA5AD85747}"/>
              </a:ext>
            </a:extLst>
          </p:cNvPr>
          <p:cNvSpPr>
            <a:spLocks noGrp="1"/>
          </p:cNvSpPr>
          <p:nvPr>
            <p:ph type="title"/>
          </p:nvPr>
        </p:nvSpPr>
        <p:spPr/>
        <p:txBody>
          <a:bodyPr/>
          <a:lstStyle/>
          <a:p>
            <a:r>
              <a:rPr lang="en-US" dirty="0"/>
              <a:t>Server</a:t>
            </a:r>
          </a:p>
        </p:txBody>
      </p:sp>
      <p:sp>
        <p:nvSpPr>
          <p:cNvPr id="3" name="Content Placeholder 2">
            <a:extLst>
              <a:ext uri="{FF2B5EF4-FFF2-40B4-BE49-F238E27FC236}">
                <a16:creationId xmlns:a16="http://schemas.microsoft.com/office/drawing/2014/main" id="{1510DD77-5B39-E6AB-702C-2CA35E93BB08}"/>
              </a:ext>
            </a:extLst>
          </p:cNvPr>
          <p:cNvSpPr>
            <a:spLocks noGrp="1"/>
          </p:cNvSpPr>
          <p:nvPr>
            <p:ph idx="1"/>
          </p:nvPr>
        </p:nvSpPr>
        <p:spPr/>
        <p:txBody>
          <a:bodyPr>
            <a:normAutofit/>
          </a:bodyPr>
          <a:lstStyle/>
          <a:p>
            <a:r>
              <a:rPr lang="en-US" dirty="0"/>
              <a:t>system containing hardware and software that can provide services to client machines, such as file access, printing, archiving, or database access</a:t>
            </a:r>
          </a:p>
          <a:p>
            <a:r>
              <a:rPr lang="en-US" dirty="0"/>
              <a:t>some machines install only client software, others only server software, and still others may include both client and server software</a:t>
            </a:r>
          </a:p>
          <a:p>
            <a:pPr lvl="1"/>
            <a:r>
              <a:rPr lang="en-US" sz="2600" dirty="0"/>
              <a:t>more common that client and server software usually run on separate machines</a:t>
            </a:r>
          </a:p>
          <a:p>
            <a:endParaRPr lang="en-US" dirty="0"/>
          </a:p>
        </p:txBody>
      </p:sp>
      <p:sp>
        <p:nvSpPr>
          <p:cNvPr id="4" name="Slide Number Placeholder 3">
            <a:extLst>
              <a:ext uri="{FF2B5EF4-FFF2-40B4-BE49-F238E27FC236}">
                <a16:creationId xmlns:a16="http://schemas.microsoft.com/office/drawing/2014/main" id="{4CD92244-DEC9-5A57-7D38-0CE4A11F5E66}"/>
              </a:ext>
            </a:extLst>
          </p:cNvPr>
          <p:cNvSpPr>
            <a:spLocks noGrp="1"/>
          </p:cNvSpPr>
          <p:nvPr>
            <p:ph type="sldNum" sz="quarter" idx="12"/>
          </p:nvPr>
        </p:nvSpPr>
        <p:spPr/>
        <p:txBody>
          <a:bodyPr/>
          <a:lstStyle/>
          <a:p>
            <a:fld id="{6264BDCF-5269-49AC-A246-ED26C2B980E3}" type="slidenum">
              <a:rPr lang="en-US" smtClean="0"/>
              <a:t>127</a:t>
            </a:fld>
            <a:endParaRPr lang="en-US"/>
          </a:p>
        </p:txBody>
      </p:sp>
    </p:spTree>
    <p:extLst>
      <p:ext uri="{BB962C8B-B14F-4D97-AF65-F5344CB8AC3E}">
        <p14:creationId xmlns:p14="http://schemas.microsoft.com/office/powerpoint/2010/main" val="194172157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D48B-037B-5D8A-4381-FF5CCFCB0E00}"/>
              </a:ext>
            </a:extLst>
          </p:cNvPr>
          <p:cNvSpPr>
            <a:spLocks noGrp="1"/>
          </p:cNvSpPr>
          <p:nvPr>
            <p:ph type="title"/>
          </p:nvPr>
        </p:nvSpPr>
        <p:spPr/>
        <p:txBody>
          <a:bodyPr/>
          <a:lstStyle/>
          <a:p>
            <a:r>
              <a:rPr lang="en-US" dirty="0"/>
              <a:t>Two-Tier Client/Server Architectures</a:t>
            </a:r>
          </a:p>
        </p:txBody>
      </p:sp>
      <p:sp>
        <p:nvSpPr>
          <p:cNvPr id="3" name="Content Placeholder 2">
            <a:extLst>
              <a:ext uri="{FF2B5EF4-FFF2-40B4-BE49-F238E27FC236}">
                <a16:creationId xmlns:a16="http://schemas.microsoft.com/office/drawing/2014/main" id="{1322C29E-5666-9CDA-1F65-8FAB361E0975}"/>
              </a:ext>
            </a:extLst>
          </p:cNvPr>
          <p:cNvSpPr>
            <a:spLocks noGrp="1"/>
          </p:cNvSpPr>
          <p:nvPr>
            <p:ph idx="1"/>
          </p:nvPr>
        </p:nvSpPr>
        <p:spPr/>
        <p:txBody>
          <a:bodyPr>
            <a:noAutofit/>
          </a:bodyPr>
          <a:lstStyle/>
          <a:p>
            <a:r>
              <a:rPr lang="en-US" dirty="0"/>
              <a:t>system components that were first moved to client side were the user interface and application programs</a:t>
            </a:r>
          </a:p>
          <a:p>
            <a:r>
              <a:rPr lang="en-US" dirty="0"/>
              <a:t>query and transaction functionality related to SQL processing remained on server side</a:t>
            </a:r>
          </a:p>
          <a:p>
            <a:r>
              <a:rPr lang="en-US" dirty="0"/>
              <a:t>when DBMS access is required, program establishes a connection to the DBMS (which is on the server side); once the connection is created, the client program can communicate with the DBMS</a:t>
            </a:r>
          </a:p>
        </p:txBody>
      </p:sp>
      <p:sp>
        <p:nvSpPr>
          <p:cNvPr id="4" name="Slide Number Placeholder 3">
            <a:extLst>
              <a:ext uri="{FF2B5EF4-FFF2-40B4-BE49-F238E27FC236}">
                <a16:creationId xmlns:a16="http://schemas.microsoft.com/office/drawing/2014/main" id="{69E47F92-7684-0EAC-A654-980D5D22C006}"/>
              </a:ext>
            </a:extLst>
          </p:cNvPr>
          <p:cNvSpPr>
            <a:spLocks noGrp="1"/>
          </p:cNvSpPr>
          <p:nvPr>
            <p:ph type="sldNum" sz="quarter" idx="12"/>
          </p:nvPr>
        </p:nvSpPr>
        <p:spPr/>
        <p:txBody>
          <a:bodyPr/>
          <a:lstStyle/>
          <a:p>
            <a:fld id="{6264BDCF-5269-49AC-A246-ED26C2B980E3}" type="slidenum">
              <a:rPr lang="en-US" smtClean="0"/>
              <a:t>128</a:t>
            </a:fld>
            <a:endParaRPr lang="en-US"/>
          </a:p>
        </p:txBody>
      </p:sp>
    </p:spTree>
    <p:extLst>
      <p:ext uri="{BB962C8B-B14F-4D97-AF65-F5344CB8AC3E}">
        <p14:creationId xmlns:p14="http://schemas.microsoft.com/office/powerpoint/2010/main" val="3147385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4DCB8-302D-8C07-7A45-C42652C63D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FEF32B-A7AD-29C0-0A6D-F3A15D67856D}"/>
              </a:ext>
            </a:extLst>
          </p:cNvPr>
          <p:cNvSpPr>
            <a:spLocks noGrp="1"/>
          </p:cNvSpPr>
          <p:nvPr>
            <p:ph idx="1"/>
          </p:nvPr>
        </p:nvSpPr>
        <p:spPr/>
        <p:txBody>
          <a:bodyPr>
            <a:noAutofit/>
          </a:bodyPr>
          <a:lstStyle/>
          <a:p>
            <a:r>
              <a:rPr lang="en-US" dirty="0"/>
              <a:t>standard called </a:t>
            </a:r>
            <a:r>
              <a:rPr lang="en-US" b="1" dirty="0"/>
              <a:t>Open Database Connectivity </a:t>
            </a:r>
            <a:r>
              <a:rPr lang="en-US" dirty="0"/>
              <a:t>(</a:t>
            </a:r>
            <a:r>
              <a:rPr lang="en-US" b="1" dirty="0"/>
              <a:t>ODBC</a:t>
            </a:r>
            <a:r>
              <a:rPr lang="en-US" dirty="0"/>
              <a:t>) provides an </a:t>
            </a:r>
            <a:r>
              <a:rPr lang="en-US" b="1" dirty="0"/>
              <a:t>application programming interface </a:t>
            </a:r>
            <a:r>
              <a:rPr lang="en-US" dirty="0"/>
              <a:t>(</a:t>
            </a:r>
            <a:r>
              <a:rPr lang="en-US" b="1" dirty="0"/>
              <a:t>API</a:t>
            </a:r>
            <a:r>
              <a:rPr lang="en-US" dirty="0"/>
              <a:t>), which allows client-side programs to call the DBMS, as long as both client and server machines have the necessary software installed</a:t>
            </a:r>
          </a:p>
          <a:p>
            <a:r>
              <a:rPr lang="en-US" dirty="0"/>
              <a:t>related standard for the Java programming language, called </a:t>
            </a:r>
            <a:r>
              <a:rPr lang="en-US" b="1" dirty="0"/>
              <a:t>JDBC</a:t>
            </a:r>
            <a:r>
              <a:rPr lang="en-US" dirty="0"/>
              <a:t>, has also been defined; allows Java client programs to access one or more DBMSs through a standard interface</a:t>
            </a:r>
          </a:p>
        </p:txBody>
      </p:sp>
      <p:sp>
        <p:nvSpPr>
          <p:cNvPr id="4" name="Slide Number Placeholder 3">
            <a:extLst>
              <a:ext uri="{FF2B5EF4-FFF2-40B4-BE49-F238E27FC236}">
                <a16:creationId xmlns:a16="http://schemas.microsoft.com/office/drawing/2014/main" id="{FB8C35BC-FE7E-34F1-FBD1-992478B93AF8}"/>
              </a:ext>
            </a:extLst>
          </p:cNvPr>
          <p:cNvSpPr>
            <a:spLocks noGrp="1"/>
          </p:cNvSpPr>
          <p:nvPr>
            <p:ph type="sldNum" sz="quarter" idx="12"/>
          </p:nvPr>
        </p:nvSpPr>
        <p:spPr/>
        <p:txBody>
          <a:bodyPr/>
          <a:lstStyle/>
          <a:p>
            <a:fld id="{6264BDCF-5269-49AC-A246-ED26C2B980E3}" type="slidenum">
              <a:rPr lang="en-US" smtClean="0"/>
              <a:t>129</a:t>
            </a:fld>
            <a:endParaRPr lang="en-US"/>
          </a:p>
        </p:txBody>
      </p:sp>
    </p:spTree>
    <p:extLst>
      <p:ext uri="{BB962C8B-B14F-4D97-AF65-F5344CB8AC3E}">
        <p14:creationId xmlns:p14="http://schemas.microsoft.com/office/powerpoint/2010/main" val="6459338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F2A0C-E32D-F8D1-6C79-BF49DA9B1C1C}"/>
              </a:ext>
            </a:extLst>
          </p:cNvPr>
          <p:cNvSpPr>
            <a:spLocks noGrp="1"/>
          </p:cNvSpPr>
          <p:nvPr>
            <p:ph type="title"/>
          </p:nvPr>
        </p:nvSpPr>
        <p:spPr/>
        <p:txBody>
          <a:bodyPr/>
          <a:lstStyle/>
          <a:p>
            <a:r>
              <a:rPr lang="en-US" dirty="0"/>
              <a:t>Three-Tier and </a:t>
            </a:r>
            <a:r>
              <a:rPr lang="en-US" i="1" dirty="0"/>
              <a:t>n</a:t>
            </a:r>
            <a:r>
              <a:rPr lang="en-US" dirty="0"/>
              <a:t>-Tier Architectures</a:t>
            </a:r>
            <a:br>
              <a:rPr lang="en-US" dirty="0"/>
            </a:br>
            <a:r>
              <a:rPr lang="en-US" dirty="0"/>
              <a:t>for Web Applications</a:t>
            </a:r>
          </a:p>
        </p:txBody>
      </p:sp>
      <p:sp>
        <p:nvSpPr>
          <p:cNvPr id="3" name="Content Placeholder 2">
            <a:extLst>
              <a:ext uri="{FF2B5EF4-FFF2-40B4-BE49-F238E27FC236}">
                <a16:creationId xmlns:a16="http://schemas.microsoft.com/office/drawing/2014/main" id="{9B83A43C-D999-A340-AD53-ABFDB0AC100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BFDF4BE-337F-EF9F-6A49-4D5F7E892114}"/>
              </a:ext>
            </a:extLst>
          </p:cNvPr>
          <p:cNvSpPr>
            <a:spLocks noGrp="1"/>
          </p:cNvSpPr>
          <p:nvPr>
            <p:ph type="sldNum" sz="quarter" idx="12"/>
          </p:nvPr>
        </p:nvSpPr>
        <p:spPr/>
        <p:txBody>
          <a:bodyPr/>
          <a:lstStyle/>
          <a:p>
            <a:fld id="{6264BDCF-5269-49AC-A246-ED26C2B980E3}" type="slidenum">
              <a:rPr lang="en-US" smtClean="0"/>
              <a:t>130</a:t>
            </a:fld>
            <a:endParaRPr lang="en-US"/>
          </a:p>
        </p:txBody>
      </p:sp>
      <p:pic>
        <p:nvPicPr>
          <p:cNvPr id="6" name="Picture 5">
            <a:extLst>
              <a:ext uri="{FF2B5EF4-FFF2-40B4-BE49-F238E27FC236}">
                <a16:creationId xmlns:a16="http://schemas.microsoft.com/office/drawing/2014/main" id="{B625C89C-F398-3777-CACF-9E8C3E2D4308}"/>
              </a:ext>
            </a:extLst>
          </p:cNvPr>
          <p:cNvPicPr>
            <a:picLocks noChangeAspect="1"/>
          </p:cNvPicPr>
          <p:nvPr/>
        </p:nvPicPr>
        <p:blipFill>
          <a:blip r:embed="rId2"/>
          <a:stretch>
            <a:fillRect/>
          </a:stretch>
        </p:blipFill>
        <p:spPr>
          <a:xfrm>
            <a:off x="1097279" y="1737359"/>
            <a:ext cx="7360415" cy="5042667"/>
          </a:xfrm>
          <a:prstGeom prst="rect">
            <a:avLst/>
          </a:prstGeom>
        </p:spPr>
      </p:pic>
    </p:spTree>
    <p:extLst>
      <p:ext uri="{BB962C8B-B14F-4D97-AF65-F5344CB8AC3E}">
        <p14:creationId xmlns:p14="http://schemas.microsoft.com/office/powerpoint/2010/main" val="12697124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17C5-F2F9-F907-EB55-3972AA05503C}"/>
              </a:ext>
            </a:extLst>
          </p:cNvPr>
          <p:cNvSpPr>
            <a:spLocks noGrp="1"/>
          </p:cNvSpPr>
          <p:nvPr>
            <p:ph type="title"/>
          </p:nvPr>
        </p:nvSpPr>
        <p:spPr/>
        <p:txBody>
          <a:bodyPr>
            <a:normAutofit/>
          </a:bodyPr>
          <a:lstStyle/>
          <a:p>
            <a:r>
              <a:rPr lang="en-US" dirty="0"/>
              <a:t>Classification of </a:t>
            </a:r>
            <a:r>
              <a:rPr lang="en-US" dirty="0" err="1"/>
              <a:t>DataBase</a:t>
            </a:r>
            <a:br>
              <a:rPr lang="en-US" dirty="0"/>
            </a:br>
            <a:r>
              <a:rPr lang="en-US" dirty="0"/>
              <a:t>Management Systems</a:t>
            </a:r>
          </a:p>
        </p:txBody>
      </p:sp>
      <p:sp>
        <p:nvSpPr>
          <p:cNvPr id="3" name="Content Placeholder 2">
            <a:extLst>
              <a:ext uri="{FF2B5EF4-FFF2-40B4-BE49-F238E27FC236}">
                <a16:creationId xmlns:a16="http://schemas.microsoft.com/office/drawing/2014/main" id="{29E7E8C6-9D1D-E1FC-A543-9FF15D135023}"/>
              </a:ext>
            </a:extLst>
          </p:cNvPr>
          <p:cNvSpPr>
            <a:spLocks noGrp="1"/>
          </p:cNvSpPr>
          <p:nvPr>
            <p:ph idx="1"/>
          </p:nvPr>
        </p:nvSpPr>
        <p:spPr/>
        <p:txBody>
          <a:bodyPr>
            <a:noAutofit/>
          </a:bodyPr>
          <a:lstStyle/>
          <a:p>
            <a:r>
              <a:rPr lang="en-US" dirty="0"/>
              <a:t>first criteria used to classify is the data model on which the DBMS is based</a:t>
            </a:r>
          </a:p>
          <a:p>
            <a:r>
              <a:rPr lang="en-US" dirty="0"/>
              <a:t>second criterion used to classify DBMSs is the number of users supported</a:t>
            </a:r>
          </a:p>
          <a:p>
            <a:pPr lvl="1"/>
            <a:r>
              <a:rPr lang="en-US" sz="2800" dirty="0"/>
              <a:t>single-user systems support / multiuser systems</a:t>
            </a:r>
          </a:p>
          <a:p>
            <a:r>
              <a:rPr lang="en-US" dirty="0"/>
              <a:t>third criterion is the number of sites over which the database is distributed</a:t>
            </a:r>
          </a:p>
          <a:p>
            <a:pPr lvl="1"/>
            <a:r>
              <a:rPr lang="en-US" sz="2800" dirty="0"/>
              <a:t>centralized / distributed DBMS </a:t>
            </a:r>
          </a:p>
          <a:p>
            <a:pPr lvl="2"/>
            <a:r>
              <a:rPr lang="en-US" sz="2800" dirty="0"/>
              <a:t>big data systems are often massively distributed, with hundreds of sites; data is often replicated on multiple sites so that failure of a site will not make some data unavailable</a:t>
            </a:r>
          </a:p>
        </p:txBody>
      </p:sp>
      <p:sp>
        <p:nvSpPr>
          <p:cNvPr id="4" name="Slide Number Placeholder 3">
            <a:extLst>
              <a:ext uri="{FF2B5EF4-FFF2-40B4-BE49-F238E27FC236}">
                <a16:creationId xmlns:a16="http://schemas.microsoft.com/office/drawing/2014/main" id="{C2B481A9-D9E0-3A9D-D29A-A57054AC09D1}"/>
              </a:ext>
            </a:extLst>
          </p:cNvPr>
          <p:cNvSpPr>
            <a:spLocks noGrp="1"/>
          </p:cNvSpPr>
          <p:nvPr>
            <p:ph type="sldNum" sz="quarter" idx="12"/>
          </p:nvPr>
        </p:nvSpPr>
        <p:spPr/>
        <p:txBody>
          <a:bodyPr/>
          <a:lstStyle/>
          <a:p>
            <a:fld id="{6264BDCF-5269-49AC-A246-ED26C2B980E3}" type="slidenum">
              <a:rPr lang="en-US" smtClean="0"/>
              <a:t>131</a:t>
            </a:fld>
            <a:endParaRPr lang="en-US"/>
          </a:p>
        </p:txBody>
      </p:sp>
    </p:spTree>
    <p:extLst>
      <p:ext uri="{BB962C8B-B14F-4D97-AF65-F5344CB8AC3E}">
        <p14:creationId xmlns:p14="http://schemas.microsoft.com/office/powerpoint/2010/main" val="194343637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4191-36CF-C071-D0E9-45DE45E78E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AC6011-6466-5BA4-0D88-2AE9694BF66F}"/>
              </a:ext>
            </a:extLst>
          </p:cNvPr>
          <p:cNvSpPr>
            <a:spLocks noGrp="1"/>
          </p:cNvSpPr>
          <p:nvPr>
            <p:ph idx="1"/>
          </p:nvPr>
        </p:nvSpPr>
        <p:spPr/>
        <p:txBody>
          <a:bodyPr>
            <a:noAutofit/>
          </a:bodyPr>
          <a:lstStyle/>
          <a:p>
            <a:r>
              <a:rPr lang="en-US" dirty="0"/>
              <a:t>two older, historically important data models, now known as legacy data models, are the network and hierarchical models</a:t>
            </a:r>
          </a:p>
        </p:txBody>
      </p:sp>
      <p:sp>
        <p:nvSpPr>
          <p:cNvPr id="4" name="Slide Number Placeholder 3">
            <a:extLst>
              <a:ext uri="{FF2B5EF4-FFF2-40B4-BE49-F238E27FC236}">
                <a16:creationId xmlns:a16="http://schemas.microsoft.com/office/drawing/2014/main" id="{B9F07864-A9E8-9F3C-91DA-13A8DB98D733}"/>
              </a:ext>
            </a:extLst>
          </p:cNvPr>
          <p:cNvSpPr>
            <a:spLocks noGrp="1"/>
          </p:cNvSpPr>
          <p:nvPr>
            <p:ph type="sldNum" sz="quarter" idx="12"/>
          </p:nvPr>
        </p:nvSpPr>
        <p:spPr/>
        <p:txBody>
          <a:bodyPr/>
          <a:lstStyle/>
          <a:p>
            <a:fld id="{6264BDCF-5269-49AC-A246-ED26C2B980E3}" type="slidenum">
              <a:rPr lang="en-US" smtClean="0"/>
              <a:t>132</a:t>
            </a:fld>
            <a:endParaRPr lang="en-US"/>
          </a:p>
        </p:txBody>
      </p:sp>
    </p:spTree>
    <p:extLst>
      <p:ext uri="{BB962C8B-B14F-4D97-AF65-F5344CB8AC3E}">
        <p14:creationId xmlns:p14="http://schemas.microsoft.com/office/powerpoint/2010/main" val="118706541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B514-ADBD-89F9-DC04-1DC707C85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C77B06-0847-5BCD-C720-0A3C4DEDA6D3}"/>
              </a:ext>
            </a:extLst>
          </p:cNvPr>
          <p:cNvSpPr>
            <a:spLocks noGrp="1"/>
          </p:cNvSpPr>
          <p:nvPr>
            <p:ph type="title"/>
          </p:nvPr>
        </p:nvSpPr>
        <p:spPr/>
        <p:txBody>
          <a:bodyPr/>
          <a:lstStyle/>
          <a:p>
            <a:r>
              <a:rPr lang="en-US" dirty="0"/>
              <a:t>network model</a:t>
            </a:r>
          </a:p>
        </p:txBody>
      </p:sp>
      <p:sp>
        <p:nvSpPr>
          <p:cNvPr id="3" name="Content Placeholder 2">
            <a:extLst>
              <a:ext uri="{FF2B5EF4-FFF2-40B4-BE49-F238E27FC236}">
                <a16:creationId xmlns:a16="http://schemas.microsoft.com/office/drawing/2014/main" id="{98E5A20C-6207-8A50-AB61-EF2F3C7CBCBC}"/>
              </a:ext>
            </a:extLst>
          </p:cNvPr>
          <p:cNvSpPr>
            <a:spLocks noGrp="1"/>
          </p:cNvSpPr>
          <p:nvPr>
            <p:ph idx="1"/>
          </p:nvPr>
        </p:nvSpPr>
        <p:spPr/>
        <p:txBody>
          <a:bodyPr>
            <a:noAutofit/>
          </a:bodyPr>
          <a:lstStyle/>
          <a:p>
            <a:r>
              <a:rPr lang="en-US" dirty="0"/>
              <a:t>represents data as record types and also represents a limited type of 1:N relationship, called a set type; a 1:N, or one-to-many, relationship relates one instance of a record to many record instances using some pointer linking mechanism in these models</a:t>
            </a:r>
          </a:p>
          <a:p>
            <a:r>
              <a:rPr lang="en-US" dirty="0"/>
              <a:t>also known as the CODASYL DBTG model, has an associated record-at-a- time language that must be embedded in a host programming language</a:t>
            </a:r>
          </a:p>
          <a:p>
            <a:r>
              <a:rPr lang="en-US" dirty="0"/>
              <a:t>proposed in the 1971 by Database Task Group (DBTG) Report as an extension of the COBOL language</a:t>
            </a:r>
          </a:p>
        </p:txBody>
      </p:sp>
      <p:sp>
        <p:nvSpPr>
          <p:cNvPr id="4" name="Slide Number Placeholder 3">
            <a:extLst>
              <a:ext uri="{FF2B5EF4-FFF2-40B4-BE49-F238E27FC236}">
                <a16:creationId xmlns:a16="http://schemas.microsoft.com/office/drawing/2014/main" id="{277B3223-265C-18EB-F7D4-962717E7E01A}"/>
              </a:ext>
            </a:extLst>
          </p:cNvPr>
          <p:cNvSpPr>
            <a:spLocks noGrp="1"/>
          </p:cNvSpPr>
          <p:nvPr>
            <p:ph type="sldNum" sz="quarter" idx="12"/>
          </p:nvPr>
        </p:nvSpPr>
        <p:spPr/>
        <p:txBody>
          <a:bodyPr/>
          <a:lstStyle/>
          <a:p>
            <a:fld id="{6264BDCF-5269-49AC-A246-ED26C2B980E3}" type="slidenum">
              <a:rPr lang="en-US" smtClean="0"/>
              <a:t>133</a:t>
            </a:fld>
            <a:endParaRPr lang="en-US"/>
          </a:p>
        </p:txBody>
      </p:sp>
    </p:spTree>
    <p:extLst>
      <p:ext uri="{BB962C8B-B14F-4D97-AF65-F5344CB8AC3E}">
        <p14:creationId xmlns:p14="http://schemas.microsoft.com/office/powerpoint/2010/main" val="247816093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7114-5414-3C1D-D51A-A9FFA3E80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94419-1CBB-777F-3513-6970B211A6D2}"/>
              </a:ext>
            </a:extLst>
          </p:cNvPr>
          <p:cNvSpPr>
            <a:spLocks noGrp="1"/>
          </p:cNvSpPr>
          <p:nvPr>
            <p:ph type="title"/>
          </p:nvPr>
        </p:nvSpPr>
        <p:spPr/>
        <p:txBody>
          <a:bodyPr/>
          <a:lstStyle/>
          <a:p>
            <a:r>
              <a:rPr lang="en-US" dirty="0"/>
              <a:t>hierarchical model</a:t>
            </a:r>
          </a:p>
        </p:txBody>
      </p:sp>
      <p:sp>
        <p:nvSpPr>
          <p:cNvPr id="3" name="Content Placeholder 2">
            <a:extLst>
              <a:ext uri="{FF2B5EF4-FFF2-40B4-BE49-F238E27FC236}">
                <a16:creationId xmlns:a16="http://schemas.microsoft.com/office/drawing/2014/main" id="{CEF33826-58CB-59BC-9C65-69FFAD07DCC8}"/>
              </a:ext>
            </a:extLst>
          </p:cNvPr>
          <p:cNvSpPr>
            <a:spLocks noGrp="1"/>
          </p:cNvSpPr>
          <p:nvPr>
            <p:ph idx="1"/>
          </p:nvPr>
        </p:nvSpPr>
        <p:spPr/>
        <p:txBody>
          <a:bodyPr>
            <a:noAutofit/>
          </a:bodyPr>
          <a:lstStyle/>
          <a:p>
            <a:r>
              <a:rPr lang="en-US" dirty="0"/>
              <a:t>represents data as hierarchical tree structures; each hierarchy represents a number of related records</a:t>
            </a:r>
          </a:p>
          <a:p>
            <a:r>
              <a:rPr lang="en-US" dirty="0"/>
              <a:t>popular hierarchical model is the IMS system; dominated the DBMS market for over 20 years between 1965 and 1985</a:t>
            </a:r>
          </a:p>
          <a:p>
            <a:r>
              <a:rPr lang="en-US" dirty="0"/>
              <a:t>DML, called DL/1, was a de facto industry standard for a </a:t>
            </a:r>
            <a:r>
              <a:rPr lang="en-US"/>
              <a:t>long time</a:t>
            </a:r>
            <a:endParaRPr lang="en-US" dirty="0"/>
          </a:p>
        </p:txBody>
      </p:sp>
      <p:sp>
        <p:nvSpPr>
          <p:cNvPr id="4" name="Slide Number Placeholder 3">
            <a:extLst>
              <a:ext uri="{FF2B5EF4-FFF2-40B4-BE49-F238E27FC236}">
                <a16:creationId xmlns:a16="http://schemas.microsoft.com/office/drawing/2014/main" id="{75F7B800-B63A-B6E3-0933-F731BA93F8BF}"/>
              </a:ext>
            </a:extLst>
          </p:cNvPr>
          <p:cNvSpPr>
            <a:spLocks noGrp="1"/>
          </p:cNvSpPr>
          <p:nvPr>
            <p:ph type="sldNum" sz="quarter" idx="12"/>
          </p:nvPr>
        </p:nvSpPr>
        <p:spPr/>
        <p:txBody>
          <a:bodyPr/>
          <a:lstStyle/>
          <a:p>
            <a:fld id="{6264BDCF-5269-49AC-A246-ED26C2B980E3}" type="slidenum">
              <a:rPr lang="en-US" smtClean="0"/>
              <a:t>134</a:t>
            </a:fld>
            <a:endParaRPr lang="en-US"/>
          </a:p>
        </p:txBody>
      </p:sp>
    </p:spTree>
    <p:extLst>
      <p:ext uri="{BB962C8B-B14F-4D97-AF65-F5344CB8AC3E}">
        <p14:creationId xmlns:p14="http://schemas.microsoft.com/office/powerpoint/2010/main" val="4049199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83D21A-CFE3-44B0-8813-28286218553B}"/>
</file>

<file path=customXml/itemProps2.xml><?xml version="1.0" encoding="utf-8"?>
<ds:datastoreItem xmlns:ds="http://schemas.openxmlformats.org/officeDocument/2006/customXml" ds:itemID="{077098B7-6A53-4C18-9962-05E3E2BC8FC9}"/>
</file>

<file path=customXml/itemProps3.xml><?xml version="1.0" encoding="utf-8"?>
<ds:datastoreItem xmlns:ds="http://schemas.openxmlformats.org/officeDocument/2006/customXml" ds:itemID="{A48D202E-D27F-4E21-9AFF-0A0017A816F5}"/>
</file>

<file path=docProps/app.xml><?xml version="1.0" encoding="utf-8"?>
<Properties xmlns="http://schemas.openxmlformats.org/officeDocument/2006/extended-properties" xmlns:vt="http://schemas.openxmlformats.org/officeDocument/2006/docPropsVTypes">
  <TotalTime>1042</TotalTime>
  <Words>6922</Words>
  <Application>Microsoft Office PowerPoint</Application>
  <PresentationFormat>Widescreen</PresentationFormat>
  <Paragraphs>581</Paragraphs>
  <Slides>134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134</vt:i4>
      </vt:variant>
    </vt:vector>
  </HeadingPairs>
  <TitlesOfParts>
    <vt:vector size="138" baseType="lpstr">
      <vt:lpstr>Arial</vt:lpstr>
      <vt:lpstr>Calibri</vt:lpstr>
      <vt:lpstr>Calibri Light</vt:lpstr>
      <vt:lpstr>Office Theme</vt:lpstr>
      <vt:lpstr>DataBase</vt:lpstr>
      <vt:lpstr>PowerPoint Presentation</vt:lpstr>
      <vt:lpstr>Databases</vt:lpstr>
      <vt:lpstr>Database – Wikipedia  https://en.wikipedia.org/wiki/Database</vt:lpstr>
      <vt:lpstr>Database – Wikipedia  https://en.wikipedia.org/wiki/Database</vt:lpstr>
      <vt:lpstr>Database – Wikipedia  https://en.wikipedia.org/wiki/Database</vt:lpstr>
      <vt:lpstr>Database – Wikipedia  https://en.wikipedia.org/wiki/Database</vt:lpstr>
      <vt:lpstr>PowerPoint Presentation</vt:lpstr>
      <vt:lpstr>we</vt:lpstr>
      <vt:lpstr>me</vt:lpstr>
      <vt:lpstr>you</vt:lpstr>
      <vt:lpstr>PowerPoint Presentation</vt:lpstr>
      <vt:lpstr>PowerPoint Presentation</vt:lpstr>
      <vt:lpstr>PowerPoint Presentation</vt:lpstr>
      <vt:lpstr>PowerPoint Presentation</vt:lpstr>
      <vt:lpstr>PowerPoint Presentation</vt:lpstr>
      <vt:lpstr>PowerPoint Presentation</vt:lpstr>
      <vt:lpstr>database</vt:lpstr>
      <vt:lpstr>database properties</vt:lpstr>
      <vt:lpstr>database has</vt:lpstr>
      <vt:lpstr>database may be</vt:lpstr>
      <vt:lpstr>database</vt:lpstr>
      <vt:lpstr>DataBase Management System (DBMS)</vt:lpstr>
      <vt:lpstr>PowerPoint Presentation</vt:lpstr>
      <vt:lpstr>PowerPoint Presentation</vt:lpstr>
      <vt:lpstr>Example University database</vt:lpstr>
      <vt:lpstr>PowerPoint Presentation</vt:lpstr>
      <vt:lpstr>PowerPoint Presentation</vt:lpstr>
      <vt:lpstr>PowerPoint Presentation</vt:lpstr>
      <vt:lpstr>PowerPoint Presentation</vt:lpstr>
      <vt:lpstr>PowerPoint Presentation</vt:lpstr>
      <vt:lpstr>PowerPoint Presentation</vt:lpstr>
      <vt:lpstr>information system within an organization SINU, SIS, …</vt:lpstr>
      <vt:lpstr>Database approach  vs traditional file processing</vt:lpstr>
      <vt:lpstr>Database approach</vt:lpstr>
      <vt:lpstr>Self-Describing Nature of a Database System</vt:lpstr>
      <vt:lpstr>PowerPoint Presentation</vt:lpstr>
      <vt:lpstr>PowerPoint Presentation</vt:lpstr>
      <vt:lpstr>Data Independence  Insulation between Programs and Data, and Data Abstraction</vt:lpstr>
      <vt:lpstr>PowerPoint Presentation</vt:lpstr>
      <vt:lpstr>PowerPoint Presentation</vt:lpstr>
      <vt:lpstr>PowerPoint Presentation</vt:lpstr>
      <vt:lpstr>Support of Multiple Views of the Data</vt:lpstr>
      <vt:lpstr>PowerPoint Presentation</vt:lpstr>
      <vt:lpstr>PowerPoint Presentation</vt:lpstr>
      <vt:lpstr>Sharing of Data  and Multiuser Transaction Processing</vt:lpstr>
      <vt:lpstr>PowerPoint Presentation</vt:lpstr>
      <vt:lpstr>Database Administrators DBA</vt:lpstr>
      <vt:lpstr>Database Designers</vt:lpstr>
      <vt:lpstr>End Users</vt:lpstr>
      <vt:lpstr>Casual End users</vt:lpstr>
      <vt:lpstr>Naive or parametric End users</vt:lpstr>
      <vt:lpstr>Sophisticated End users</vt:lpstr>
      <vt:lpstr>Standalone users</vt:lpstr>
      <vt:lpstr>System Analysts and Application Programmers (Software Engineers)</vt:lpstr>
      <vt:lpstr>DBMS system designers and implementers</vt:lpstr>
      <vt:lpstr>Advantages of using DBMS</vt:lpstr>
      <vt:lpstr>PowerPoint Presentation</vt:lpstr>
      <vt:lpstr>PowerPoint Presentation</vt:lpstr>
      <vt:lpstr>Early Database Applications Using Hierarchical and Network Systems Data Models</vt:lpstr>
      <vt:lpstr>PowerPoint Presentation</vt:lpstr>
      <vt:lpstr>Data Abstraction and Application Flexibility with Relational Databases</vt:lpstr>
      <vt:lpstr>1970: Birth of the Relational Model</vt:lpstr>
      <vt:lpstr>Early Implementations</vt:lpstr>
      <vt:lpstr>Rise of SQL</vt:lpstr>
      <vt:lpstr>1980: Commercial  Relational DataBase Management Systems (RDBMS) </vt:lpstr>
      <vt:lpstr>Dominance in the 1980s and 90s</vt:lpstr>
      <vt:lpstr>Continued Evolution</vt:lpstr>
      <vt:lpstr>PowerPoint Presentation</vt:lpstr>
      <vt:lpstr>Object-Oriented Applications and the Need for More Complex Databases</vt:lpstr>
      <vt:lpstr>Object-Oriented Applications and the Need for More Complex Databases</vt:lpstr>
      <vt:lpstr>Interchanging Data on the Web Using XML</vt:lpstr>
      <vt:lpstr>Extending Database Capabilities  for New Applications</vt:lpstr>
      <vt:lpstr>Extending Database Capabilities  for New Applications</vt:lpstr>
      <vt:lpstr>Extending Database Capabilities  for New Applications</vt:lpstr>
      <vt:lpstr>Extending Database Capabilities  for New Applications</vt:lpstr>
      <vt:lpstr>Extending Database Capabilities  for New Applications</vt:lpstr>
      <vt:lpstr>Extending Database Capabilities  for New Applications</vt:lpstr>
      <vt:lpstr>PowerPoint Presentation</vt:lpstr>
      <vt:lpstr>Emergence of Big Data Storage Systems and NOSQL Databases</vt:lpstr>
      <vt:lpstr>Emergence of Big Data Storage Systems and NOSQL Databases</vt:lpstr>
      <vt:lpstr>Database System</vt:lpstr>
      <vt:lpstr>Data Abstraction</vt:lpstr>
      <vt:lpstr>Data Model</vt:lpstr>
      <vt:lpstr>PowerPoint Presentation</vt:lpstr>
      <vt:lpstr>Conceptual Data Models</vt:lpstr>
      <vt:lpstr>Representational or implementation  Data Models</vt:lpstr>
      <vt:lpstr>PowerPoint Presentation</vt:lpstr>
      <vt:lpstr>Physical Data Models</vt:lpstr>
      <vt:lpstr>self-describing data models</vt:lpstr>
      <vt:lpstr>Database Schema and Instances</vt:lpstr>
      <vt:lpstr>PowerPoint Presentation</vt:lpstr>
      <vt:lpstr>PowerPoint Presentation</vt:lpstr>
      <vt:lpstr>PowerPoint Presentation</vt:lpstr>
      <vt:lpstr>PowerPoint Presentation</vt:lpstr>
      <vt:lpstr>Three-Schema Architecture and Data Independence</vt:lpstr>
      <vt:lpstr>PowerPoint Presentation</vt:lpstr>
      <vt:lpstr>PowerPoint Presentation</vt:lpstr>
      <vt:lpstr>PowerPoint Presentation</vt:lpstr>
      <vt:lpstr>PowerPoint Presentation</vt:lpstr>
      <vt:lpstr>PowerPoint Presentation</vt:lpstr>
      <vt:lpstr>PowerPoint Presentation</vt:lpstr>
      <vt:lpstr>Data Independence</vt:lpstr>
      <vt:lpstr>Logical Data Independence</vt:lpstr>
      <vt:lpstr>PowerPoint Presentation</vt:lpstr>
      <vt:lpstr>Physical Data Independence</vt:lpstr>
      <vt:lpstr>DBMS Languages</vt:lpstr>
      <vt:lpstr>Data Definition Language</vt:lpstr>
      <vt:lpstr>Data Manipulation Language</vt:lpstr>
      <vt:lpstr>PowerPoint Presentation</vt:lpstr>
      <vt:lpstr>PowerPoint Presentation</vt:lpstr>
      <vt:lpstr>PowerPoint Presentation</vt:lpstr>
      <vt:lpstr>PowerPoint Presentation</vt:lpstr>
      <vt:lpstr>PowerPoint Presentation</vt:lpstr>
      <vt:lpstr>DBMS Component Modules</vt:lpstr>
      <vt:lpstr>PowerPoint Presentation</vt:lpstr>
      <vt:lpstr>PowerPoint Presentation</vt:lpstr>
      <vt:lpstr>PowerPoint Presentation</vt:lpstr>
      <vt:lpstr>Database System Utilities</vt:lpstr>
      <vt:lpstr>Loading</vt:lpstr>
      <vt:lpstr>Backup</vt:lpstr>
      <vt:lpstr>Database storage reorganization</vt:lpstr>
      <vt:lpstr>Performance monitoring</vt:lpstr>
      <vt:lpstr>Centralized DBMSs Architecture</vt:lpstr>
      <vt:lpstr>Client/Server Architectures</vt:lpstr>
      <vt:lpstr>Client</vt:lpstr>
      <vt:lpstr>Server</vt:lpstr>
      <vt:lpstr>Two-Tier Client/Server Architectures</vt:lpstr>
      <vt:lpstr>PowerPoint Presentation</vt:lpstr>
      <vt:lpstr>Three-Tier and n-Tier Architectures for Web Applications</vt:lpstr>
      <vt:lpstr>Classification of DataBase Management Systems</vt:lpstr>
      <vt:lpstr>PowerPoint Presentation</vt:lpstr>
      <vt:lpstr>network model</vt:lpstr>
      <vt:lpstr>hierarchical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38</cp:revision>
  <dcterms:created xsi:type="dcterms:W3CDTF">2023-08-06T12:55:35Z</dcterms:created>
  <dcterms:modified xsi:type="dcterms:W3CDTF">2025-07-31T20:55:44Z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