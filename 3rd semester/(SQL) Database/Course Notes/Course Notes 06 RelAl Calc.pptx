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56" r:id="rId2"/>
    <p:sldId id="391" r:id="rId3"/>
    <p:sldId id="392" r:id="rId4"/>
    <p:sldId id="394" r:id="rId5"/>
    <p:sldId id="395" r:id="rId6"/>
    <p:sldId id="396" r:id="rId7"/>
    <p:sldId id="397" r:id="rId8"/>
    <p:sldId id="402" r:id="rId9"/>
    <p:sldId id="398" r:id="rId10"/>
    <p:sldId id="399" r:id="rId11"/>
    <p:sldId id="400" r:id="rId12"/>
    <p:sldId id="401" r:id="rId13"/>
    <p:sldId id="404" r:id="rId14"/>
    <p:sldId id="403" r:id="rId15"/>
    <p:sldId id="405" r:id="rId16"/>
    <p:sldId id="406" r:id="rId17"/>
    <p:sldId id="417" r:id="rId18"/>
    <p:sldId id="407" r:id="rId19"/>
    <p:sldId id="408" r:id="rId20"/>
    <p:sldId id="409" r:id="rId21"/>
    <p:sldId id="410" r:id="rId22"/>
    <p:sldId id="411" r:id="rId23"/>
    <p:sldId id="412" r:id="rId24"/>
    <p:sldId id="413" r:id="rId25"/>
    <p:sldId id="414" r:id="rId26"/>
    <p:sldId id="415" r:id="rId27"/>
    <p:sldId id="416" r:id="rId28"/>
    <p:sldId id="418" r:id="rId29"/>
    <p:sldId id="419" r:id="rId30"/>
    <p:sldId id="420" r:id="rId31"/>
    <p:sldId id="421" r:id="rId32"/>
    <p:sldId id="422" r:id="rId33"/>
    <p:sldId id="423" r:id="rId34"/>
    <p:sldId id="424" r:id="rId35"/>
    <p:sldId id="425" r:id="rId36"/>
    <p:sldId id="426" r:id="rId37"/>
    <p:sldId id="427" r:id="rId38"/>
    <p:sldId id="428" r:id="rId39"/>
    <p:sldId id="429" r:id="rId40"/>
    <p:sldId id="430" r:id="rId41"/>
    <p:sldId id="431" r:id="rId42"/>
    <p:sldId id="432" r:id="rId43"/>
    <p:sldId id="433" r:id="rId44"/>
    <p:sldId id="434" r:id="rId45"/>
    <p:sldId id="435" r:id="rId46"/>
    <p:sldId id="436" r:id="rId47"/>
    <p:sldId id="437" r:id="rId48"/>
    <p:sldId id="438" r:id="rId49"/>
    <p:sldId id="439" r:id="rId50"/>
    <p:sldId id="440" r:id="rId51"/>
    <p:sldId id="441" r:id="rId52"/>
    <p:sldId id="442" r:id="rId53"/>
    <p:sldId id="443" r:id="rId54"/>
    <p:sldId id="444" r:id="rId55"/>
    <p:sldId id="445" r:id="rId56"/>
    <p:sldId id="446" r:id="rId57"/>
    <p:sldId id="449" r:id="rId58"/>
    <p:sldId id="447" r:id="rId59"/>
    <p:sldId id="448" r:id="rId60"/>
    <p:sldId id="450" r:id="rId61"/>
    <p:sldId id="451" r:id="rId62"/>
    <p:sldId id="452" r:id="rId63"/>
    <p:sldId id="453" r:id="rId64"/>
    <p:sldId id="454" r:id="rId65"/>
    <p:sldId id="455" r:id="rId66"/>
    <p:sldId id="456" r:id="rId67"/>
    <p:sldId id="457" r:id="rId68"/>
    <p:sldId id="459" r:id="rId69"/>
    <p:sldId id="458" r:id="rId70"/>
    <p:sldId id="460" r:id="rId71"/>
    <p:sldId id="461" r:id="rId72"/>
    <p:sldId id="462" r:id="rId73"/>
    <p:sldId id="463" r:id="rId74"/>
    <p:sldId id="464" r:id="rId75"/>
    <p:sldId id="465" r:id="rId76"/>
    <p:sldId id="466" r:id="rId77"/>
    <p:sldId id="467" r:id="rId78"/>
    <p:sldId id="468" r:id="rId79"/>
    <p:sldId id="469" r:id="rId80"/>
    <p:sldId id="470" r:id="rId81"/>
    <p:sldId id="471" r:id="rId82"/>
    <p:sldId id="472" r:id="rId83"/>
    <p:sldId id="473" r:id="rId84"/>
    <p:sldId id="474" r:id="rId85"/>
    <p:sldId id="475" r:id="rId86"/>
    <p:sldId id="476" r:id="rId87"/>
    <p:sldId id="477" r:id="rId88"/>
    <p:sldId id="478" r:id="rId89"/>
    <p:sldId id="479" r:id="rId90"/>
    <p:sldId id="480" r:id="rId91"/>
    <p:sldId id="482" r:id="rId92"/>
    <p:sldId id="485" r:id="rId93"/>
    <p:sldId id="486" r:id="rId94"/>
    <p:sldId id="487" r:id="rId95"/>
    <p:sldId id="488" r:id="rId96"/>
    <p:sldId id="481" r:id="rId97"/>
    <p:sldId id="489" r:id="rId98"/>
    <p:sldId id="490" r:id="rId99"/>
    <p:sldId id="492" r:id="rId100"/>
    <p:sldId id="491" r:id="rId101"/>
    <p:sldId id="493" r:id="rId102"/>
    <p:sldId id="495" r:id="rId103"/>
    <p:sldId id="496" r:id="rId104"/>
    <p:sldId id="497" r:id="rId105"/>
    <p:sldId id="498" r:id="rId106"/>
    <p:sldId id="499" r:id="rId107"/>
    <p:sldId id="500" r:id="rId108"/>
    <p:sldId id="501" r:id="rId109"/>
    <p:sldId id="494" r:id="rId110"/>
    <p:sldId id="503" r:id="rId111"/>
    <p:sldId id="504" r:id="rId112"/>
    <p:sldId id="502" r:id="rId113"/>
    <p:sldId id="505" r:id="rId114"/>
    <p:sldId id="506" r:id="rId115"/>
    <p:sldId id="507" r:id="rId116"/>
    <p:sldId id="509" r:id="rId117"/>
    <p:sldId id="510" r:id="rId118"/>
    <p:sldId id="508" r:id="rId119"/>
    <p:sldId id="511" r:id="rId120"/>
    <p:sldId id="512" r:id="rId121"/>
    <p:sldId id="483" r:id="rId122"/>
    <p:sldId id="484" r:id="rId123"/>
    <p:sldId id="513" r:id="rId124"/>
    <p:sldId id="514" r:id="rId125"/>
    <p:sldId id="515" r:id="rId126"/>
    <p:sldId id="516" r:id="rId127"/>
    <p:sldId id="517" r:id="rId128"/>
    <p:sldId id="518" r:id="rId129"/>
    <p:sldId id="519" r:id="rId130"/>
    <p:sldId id="520" r:id="rId131"/>
    <p:sldId id="521" r:id="rId132"/>
    <p:sldId id="522" r:id="rId1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customXml" Target="../customXml/item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8/10/2025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8/10/2025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8/10/2025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8/10/2025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8/10/2025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8/10/2025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8/10/2025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8/10/2025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8/10/2025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8/10/2025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8/10/2025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8/10/2025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2EF6-520E-D21B-D71D-7758CB54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C78AD-A182-8472-7962-185D2CB90C29}"/>
              </a:ext>
            </a:extLst>
          </p:cNvPr>
          <p:cNvSpPr>
            <a:spLocks noGrp="1"/>
          </p:cNvSpPr>
          <p:nvPr>
            <p:ph type="ctrTitle"/>
          </p:nvPr>
        </p:nvSpPr>
        <p:spPr/>
        <p:txBody>
          <a:bodyPr/>
          <a:lstStyle/>
          <a:p>
            <a:r>
              <a:rPr lang="en-US" b="1" dirty="0"/>
              <a:t>Relational Data Model</a:t>
            </a:r>
            <a:endParaRPr lang="en-US" dirty="0"/>
          </a:p>
        </p:txBody>
      </p:sp>
      <p:sp>
        <p:nvSpPr>
          <p:cNvPr id="3" name="Subtitle 2">
            <a:extLst>
              <a:ext uri="{FF2B5EF4-FFF2-40B4-BE49-F238E27FC236}">
                <a16:creationId xmlns:a16="http://schemas.microsoft.com/office/drawing/2014/main" id="{56E6C5CE-4600-67F6-DDFE-487B5680D946}"/>
              </a:ext>
            </a:extLst>
          </p:cNvPr>
          <p:cNvSpPr>
            <a:spLocks noGrp="1"/>
          </p:cNvSpPr>
          <p:nvPr>
            <p:ph type="subTitle" idx="1"/>
          </p:nvPr>
        </p:nvSpPr>
        <p:spPr/>
        <p:txBody>
          <a:bodyPr>
            <a:normAutofit/>
          </a:bodyPr>
          <a:lstStyle/>
          <a:p>
            <a:r>
              <a:rPr lang="en-US" sz="4000" b="1" dirty="0"/>
              <a:t>Relational Algebra</a:t>
            </a:r>
          </a:p>
          <a:p>
            <a:r>
              <a:rPr lang="en-US" sz="4000" b="1" dirty="0"/>
              <a:t>Relational Calculus</a:t>
            </a:r>
            <a:endParaRPr lang="en-US" sz="3600" dirty="0"/>
          </a:p>
        </p:txBody>
      </p:sp>
      <p:sp>
        <p:nvSpPr>
          <p:cNvPr id="4" name="Slide Number Placeholder 3">
            <a:extLst>
              <a:ext uri="{FF2B5EF4-FFF2-40B4-BE49-F238E27FC236}">
                <a16:creationId xmlns:a16="http://schemas.microsoft.com/office/drawing/2014/main" id="{B531E3A4-BEB6-64D4-2DD7-CEF077D13C8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239229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FDF5-B756-C64E-74ED-76B063B9C459}"/>
              </a:ext>
            </a:extLst>
          </p:cNvPr>
          <p:cNvSpPr>
            <a:spLocks noGrp="1"/>
          </p:cNvSpPr>
          <p:nvPr>
            <p:ph type="title"/>
          </p:nvPr>
        </p:nvSpPr>
        <p:spPr/>
        <p:txBody>
          <a:bodyPr/>
          <a:lstStyle/>
          <a:p>
            <a:r>
              <a:rPr lang="en-US" dirty="0"/>
              <a:t>Relation</a:t>
            </a:r>
          </a:p>
        </p:txBody>
      </p:sp>
      <p:sp>
        <p:nvSpPr>
          <p:cNvPr id="3" name="Content Placeholder 2">
            <a:extLst>
              <a:ext uri="{FF2B5EF4-FFF2-40B4-BE49-F238E27FC236}">
                <a16:creationId xmlns:a16="http://schemas.microsoft.com/office/drawing/2014/main" id="{38C65BE5-F89E-8BF3-01BA-E006CBDB3E61}"/>
              </a:ext>
            </a:extLst>
          </p:cNvPr>
          <p:cNvSpPr>
            <a:spLocks noGrp="1"/>
          </p:cNvSpPr>
          <p:nvPr>
            <p:ph idx="1"/>
          </p:nvPr>
        </p:nvSpPr>
        <p:spPr/>
        <p:txBody>
          <a:bodyPr>
            <a:normAutofit/>
          </a:bodyPr>
          <a:lstStyle/>
          <a:p>
            <a:r>
              <a:rPr lang="en-US" dirty="0"/>
              <a:t>Mathematics extension n of Set theory</a:t>
            </a:r>
          </a:p>
          <a:p>
            <a:r>
              <a:rPr lang="en-US" dirty="0"/>
              <a:t>D</a:t>
            </a:r>
            <a:r>
              <a:rPr lang="en-US" baseline="-25000" dirty="0"/>
              <a:t>1</a:t>
            </a:r>
            <a:r>
              <a:rPr lang="en-US" dirty="0"/>
              <a:t> = {1, 2, 3};	 D</a:t>
            </a:r>
            <a:r>
              <a:rPr lang="en-US" baseline="-25000" dirty="0"/>
              <a:t>2</a:t>
            </a:r>
            <a:r>
              <a:rPr lang="en-US" dirty="0"/>
              <a:t> = {A, B, C, D};</a:t>
            </a:r>
          </a:p>
          <a:p>
            <a:r>
              <a:rPr lang="en-US" dirty="0"/>
              <a:t>relation with domain D</a:t>
            </a:r>
            <a:r>
              <a:rPr lang="en-US" baseline="-25000" dirty="0"/>
              <a:t>1</a:t>
            </a:r>
            <a:r>
              <a:rPr lang="en-US" dirty="0"/>
              <a:t> and D</a:t>
            </a:r>
            <a:r>
              <a:rPr lang="en-US" baseline="-25000" dirty="0"/>
              <a:t>2</a:t>
            </a:r>
            <a:r>
              <a:rPr lang="en-US" dirty="0"/>
              <a:t> ⊂  {(1, A), (1, B), (1, C), (1, D), (2, A), (2, B), (2, C), (2, D), (3, A), (3, B), (3, C), (3, D)} Cartesian Power set of D</a:t>
            </a:r>
            <a:r>
              <a:rPr lang="en-US" baseline="-25000" dirty="0"/>
              <a:t>1</a:t>
            </a:r>
            <a:r>
              <a:rPr lang="en-US" dirty="0"/>
              <a:t> X D</a:t>
            </a:r>
            <a:r>
              <a:rPr lang="en-US" baseline="-25000" dirty="0"/>
              <a:t>2</a:t>
            </a:r>
          </a:p>
          <a:p>
            <a:endParaRPr lang="en-US" dirty="0"/>
          </a:p>
        </p:txBody>
      </p:sp>
      <p:sp>
        <p:nvSpPr>
          <p:cNvPr id="4" name="Slide Number Placeholder 3">
            <a:extLst>
              <a:ext uri="{FF2B5EF4-FFF2-40B4-BE49-F238E27FC236}">
                <a16:creationId xmlns:a16="http://schemas.microsoft.com/office/drawing/2014/main" id="{9069E956-5E35-18BB-1F06-FD29EABB1BED}"/>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1212517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B5A3F-BF1F-76BE-CF75-DF144B3F40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16DB02-9BAB-09F2-1366-E07F68623D63}"/>
              </a:ext>
            </a:extLst>
          </p:cNvPr>
          <p:cNvSpPr>
            <a:spLocks noGrp="1"/>
          </p:cNvSpPr>
          <p:nvPr>
            <p:ph idx="1"/>
          </p:nvPr>
        </p:nvSpPr>
        <p:spPr/>
        <p:txBody>
          <a:bodyPr>
            <a:normAutofit/>
          </a:bodyPr>
          <a:lstStyle/>
          <a:p>
            <a:r>
              <a:rPr lang="en-US" dirty="0"/>
              <a:t>data model (relational data model) must include a set of operations to manipulate the database, in addition to data model’s concepts for defining database’s structure and constraints</a:t>
            </a:r>
          </a:p>
        </p:txBody>
      </p:sp>
      <p:sp>
        <p:nvSpPr>
          <p:cNvPr id="4" name="Slide Number Placeholder 3">
            <a:extLst>
              <a:ext uri="{FF2B5EF4-FFF2-40B4-BE49-F238E27FC236}">
                <a16:creationId xmlns:a16="http://schemas.microsoft.com/office/drawing/2014/main" id="{B92E6E2C-E2EF-950F-1979-CF2B108E4726}"/>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3539367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71BF-E89B-9C64-7922-5ADC9B8C4B74}"/>
              </a:ext>
            </a:extLst>
          </p:cNvPr>
          <p:cNvSpPr>
            <a:spLocks noGrp="1"/>
          </p:cNvSpPr>
          <p:nvPr>
            <p:ph type="title"/>
          </p:nvPr>
        </p:nvSpPr>
        <p:spPr/>
        <p:txBody>
          <a:bodyPr/>
          <a:lstStyle/>
          <a:p>
            <a:r>
              <a:rPr lang="en-US" dirty="0"/>
              <a:t>Relational Algebra</a:t>
            </a:r>
          </a:p>
        </p:txBody>
      </p:sp>
      <p:sp>
        <p:nvSpPr>
          <p:cNvPr id="3" name="Content Placeholder 2">
            <a:extLst>
              <a:ext uri="{FF2B5EF4-FFF2-40B4-BE49-F238E27FC236}">
                <a16:creationId xmlns:a16="http://schemas.microsoft.com/office/drawing/2014/main" id="{9EF12EBC-E220-5A05-B431-DD279749933B}"/>
              </a:ext>
            </a:extLst>
          </p:cNvPr>
          <p:cNvSpPr>
            <a:spLocks noGrp="1"/>
          </p:cNvSpPr>
          <p:nvPr>
            <p:ph idx="1"/>
          </p:nvPr>
        </p:nvSpPr>
        <p:spPr/>
        <p:txBody>
          <a:bodyPr>
            <a:normAutofit/>
          </a:bodyPr>
          <a:lstStyle/>
          <a:p>
            <a:r>
              <a:rPr lang="en-US" dirty="0"/>
              <a:t>basic set of operations for the formal relational model is the </a:t>
            </a:r>
            <a:r>
              <a:rPr lang="en-US" b="1" dirty="0"/>
              <a:t>relational algebra</a:t>
            </a:r>
          </a:p>
          <a:p>
            <a:r>
              <a:rPr lang="en-US" dirty="0"/>
              <a:t>operations enable a user to specify basic retrieval requests as </a:t>
            </a:r>
            <a:r>
              <a:rPr lang="en-US" i="1" dirty="0"/>
              <a:t>relational algebra expressions; </a:t>
            </a:r>
            <a:r>
              <a:rPr lang="en-US" dirty="0"/>
              <a:t>result of a retrieval query is a relation – relational algebra operations thus produce relations, which can be further manipulated using operations of the same algebra</a:t>
            </a:r>
          </a:p>
          <a:p>
            <a:r>
              <a:rPr lang="en-US" dirty="0"/>
              <a:t>a sequence of relational algebra operations forms a </a:t>
            </a:r>
            <a:r>
              <a:rPr lang="en-US" b="1" dirty="0"/>
              <a:t>relational algebra expression</a:t>
            </a:r>
            <a:r>
              <a:rPr lang="en-US" dirty="0"/>
              <a:t>, whose result will also be a relation that represents the result of a database query (or retrieval request)</a:t>
            </a:r>
          </a:p>
        </p:txBody>
      </p:sp>
      <p:sp>
        <p:nvSpPr>
          <p:cNvPr id="4" name="Slide Number Placeholder 3">
            <a:extLst>
              <a:ext uri="{FF2B5EF4-FFF2-40B4-BE49-F238E27FC236}">
                <a16:creationId xmlns:a16="http://schemas.microsoft.com/office/drawing/2014/main" id="{6C9E4D19-2400-C66D-734C-A08EB3F9921F}"/>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56871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6D892-F77E-1E37-273F-D247F2978297}"/>
              </a:ext>
            </a:extLst>
          </p:cNvPr>
          <p:cNvSpPr>
            <a:spLocks noGrp="1"/>
          </p:cNvSpPr>
          <p:nvPr>
            <p:ph type="title"/>
          </p:nvPr>
        </p:nvSpPr>
        <p:spPr/>
        <p:txBody>
          <a:bodyPr/>
          <a:lstStyle/>
          <a:p>
            <a:r>
              <a:rPr lang="en-US" dirty="0"/>
              <a:t>Relational Algebra</a:t>
            </a:r>
          </a:p>
        </p:txBody>
      </p:sp>
      <p:sp>
        <p:nvSpPr>
          <p:cNvPr id="3" name="Content Placeholder 2">
            <a:extLst>
              <a:ext uri="{FF2B5EF4-FFF2-40B4-BE49-F238E27FC236}">
                <a16:creationId xmlns:a16="http://schemas.microsoft.com/office/drawing/2014/main" id="{45E7D10B-F372-5E10-2B6C-A7DEF0D7FB6E}"/>
              </a:ext>
            </a:extLst>
          </p:cNvPr>
          <p:cNvSpPr>
            <a:spLocks noGrp="1"/>
          </p:cNvSpPr>
          <p:nvPr>
            <p:ph idx="1"/>
          </p:nvPr>
        </p:nvSpPr>
        <p:spPr/>
        <p:txBody>
          <a:bodyPr>
            <a:normAutofit/>
          </a:bodyPr>
          <a:lstStyle/>
          <a:p>
            <a:pPr marL="514350" indent="-514350">
              <a:buFont typeface="+mj-lt"/>
              <a:buAutoNum type="arabicPeriod"/>
            </a:pPr>
            <a:r>
              <a:rPr lang="en-US" dirty="0"/>
              <a:t>provides a formal foundation for relational model operations</a:t>
            </a:r>
          </a:p>
          <a:p>
            <a:pPr marL="514350" indent="-514350">
              <a:buFont typeface="+mj-lt"/>
              <a:buAutoNum type="arabicPeriod"/>
            </a:pPr>
            <a:r>
              <a:rPr lang="en-US" dirty="0"/>
              <a:t>used as a basis for implementing and optimizing queries in query processing and optimization modules that are integral parts of relational database management systems (RDBMSs)</a:t>
            </a:r>
          </a:p>
          <a:p>
            <a:pPr marL="514350" indent="-514350">
              <a:buFont typeface="+mj-lt"/>
              <a:buAutoNum type="arabicPeriod"/>
            </a:pPr>
            <a:r>
              <a:rPr lang="en-US" dirty="0"/>
              <a:t>some of its concepts are incorporated into the SQL standard</a:t>
            </a:r>
          </a:p>
        </p:txBody>
      </p:sp>
      <p:sp>
        <p:nvSpPr>
          <p:cNvPr id="4" name="Slide Number Placeholder 3">
            <a:extLst>
              <a:ext uri="{FF2B5EF4-FFF2-40B4-BE49-F238E27FC236}">
                <a16:creationId xmlns:a16="http://schemas.microsoft.com/office/drawing/2014/main" id="{8EFB5A17-DC7A-3BCF-E221-D4E49E7F49BB}"/>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687367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0439-3FE8-1248-7714-5328D60CA419}"/>
              </a:ext>
            </a:extLst>
          </p:cNvPr>
          <p:cNvSpPr>
            <a:spLocks noGrp="1"/>
          </p:cNvSpPr>
          <p:nvPr>
            <p:ph type="title"/>
          </p:nvPr>
        </p:nvSpPr>
        <p:spPr/>
        <p:txBody>
          <a:bodyPr/>
          <a:lstStyle/>
          <a:p>
            <a:r>
              <a:rPr lang="en-US" dirty="0"/>
              <a:t>Relational Calculus</a:t>
            </a:r>
          </a:p>
        </p:txBody>
      </p:sp>
      <p:sp>
        <p:nvSpPr>
          <p:cNvPr id="3" name="Content Placeholder 2">
            <a:extLst>
              <a:ext uri="{FF2B5EF4-FFF2-40B4-BE49-F238E27FC236}">
                <a16:creationId xmlns:a16="http://schemas.microsoft.com/office/drawing/2014/main" id="{84C26C0C-78E6-3796-91D7-D2B1359050E7}"/>
              </a:ext>
            </a:extLst>
          </p:cNvPr>
          <p:cNvSpPr>
            <a:spLocks noGrp="1"/>
          </p:cNvSpPr>
          <p:nvPr>
            <p:ph idx="1"/>
          </p:nvPr>
        </p:nvSpPr>
        <p:spPr/>
        <p:txBody>
          <a:bodyPr>
            <a:normAutofit/>
          </a:bodyPr>
          <a:lstStyle/>
          <a:p>
            <a:r>
              <a:rPr lang="en-US" b="1" dirty="0"/>
              <a:t>relational calculus </a:t>
            </a:r>
            <a:r>
              <a:rPr lang="en-US" dirty="0"/>
              <a:t>provides a higher-level </a:t>
            </a:r>
            <a:r>
              <a:rPr lang="en-US" i="1" dirty="0"/>
              <a:t>declarative </a:t>
            </a:r>
            <a:r>
              <a:rPr lang="en-US" dirty="0"/>
              <a:t>language for specifying relational queries</a:t>
            </a:r>
          </a:p>
          <a:p>
            <a:r>
              <a:rPr lang="en-US" dirty="0"/>
              <a:t>in a relational calculus expression, there is </a:t>
            </a:r>
            <a:r>
              <a:rPr lang="en-US" i="1" dirty="0"/>
              <a:t>no order of operations </a:t>
            </a:r>
            <a:r>
              <a:rPr lang="en-US" dirty="0"/>
              <a:t>to specify how to retrieve query result - only what information the result should contain</a:t>
            </a:r>
          </a:p>
          <a:p>
            <a:r>
              <a:rPr lang="en-US" dirty="0"/>
              <a:t>has a firm basis in mathematical logic</a:t>
            </a:r>
          </a:p>
          <a:p>
            <a:r>
              <a:rPr lang="en-US" dirty="0"/>
              <a:t>standard query language (SQL) for RDBMSs has some of its foundations in a variation of relational calculus known as tuple relational calculus</a:t>
            </a:r>
          </a:p>
        </p:txBody>
      </p:sp>
      <p:sp>
        <p:nvSpPr>
          <p:cNvPr id="4" name="Slide Number Placeholder 3">
            <a:extLst>
              <a:ext uri="{FF2B5EF4-FFF2-40B4-BE49-F238E27FC236}">
                <a16:creationId xmlns:a16="http://schemas.microsoft.com/office/drawing/2014/main" id="{5239611A-B2DE-A8C7-ECC2-84469251B5FB}"/>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397068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D9D39C-D01A-D60D-D4B0-5833B8ADC928}"/>
              </a:ext>
            </a:extLst>
          </p:cNvPr>
          <p:cNvSpPr>
            <a:spLocks noGrp="1"/>
          </p:cNvSpPr>
          <p:nvPr>
            <p:ph type="title"/>
          </p:nvPr>
        </p:nvSpPr>
        <p:spPr/>
        <p:txBody>
          <a:bodyPr/>
          <a:lstStyle/>
          <a:p>
            <a:r>
              <a:rPr lang="en-US" b="1" dirty="0"/>
              <a:t>Relational Algebra</a:t>
            </a:r>
          </a:p>
        </p:txBody>
      </p:sp>
      <p:sp>
        <p:nvSpPr>
          <p:cNvPr id="6" name="Text Placeholder 5">
            <a:extLst>
              <a:ext uri="{FF2B5EF4-FFF2-40B4-BE49-F238E27FC236}">
                <a16:creationId xmlns:a16="http://schemas.microsoft.com/office/drawing/2014/main" id="{65C7C713-5BB2-E938-A963-F7C1DC64D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A7F2AA-214A-4F98-2FE1-BFB2ABAC0478}"/>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265387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7B6C2-F2FA-CBED-40C4-230B2A19D6AA}"/>
              </a:ext>
            </a:extLst>
          </p:cNvPr>
          <p:cNvSpPr>
            <a:spLocks noGrp="1"/>
          </p:cNvSpPr>
          <p:nvPr>
            <p:ph type="title"/>
          </p:nvPr>
        </p:nvSpPr>
        <p:spPr/>
        <p:txBody>
          <a:bodyPr/>
          <a:lstStyle/>
          <a:p>
            <a:r>
              <a:rPr lang="en-US" dirty="0"/>
              <a:t>Relational Algebra</a:t>
            </a:r>
          </a:p>
        </p:txBody>
      </p:sp>
      <p:sp>
        <p:nvSpPr>
          <p:cNvPr id="3" name="Content Placeholder 2">
            <a:extLst>
              <a:ext uri="{FF2B5EF4-FFF2-40B4-BE49-F238E27FC236}">
                <a16:creationId xmlns:a16="http://schemas.microsoft.com/office/drawing/2014/main" id="{73ED51E6-1FA9-FA8D-2EF2-673C11C9D414}"/>
              </a:ext>
            </a:extLst>
          </p:cNvPr>
          <p:cNvSpPr>
            <a:spLocks noGrp="1"/>
          </p:cNvSpPr>
          <p:nvPr>
            <p:ph idx="1"/>
          </p:nvPr>
        </p:nvSpPr>
        <p:spPr>
          <a:xfrm>
            <a:off x="838200" y="1825625"/>
            <a:ext cx="11353800" cy="4351338"/>
          </a:xfrm>
        </p:spPr>
        <p:txBody>
          <a:bodyPr>
            <a:noAutofit/>
          </a:bodyPr>
          <a:lstStyle/>
          <a:p>
            <a:r>
              <a:rPr lang="en-US" sz="2700" dirty="0"/>
              <a:t>is often considered to be an integral part of relational data model</a:t>
            </a:r>
          </a:p>
          <a:p>
            <a:r>
              <a:rPr lang="en-US" sz="2700" dirty="0"/>
              <a:t>relational algebra operations</a:t>
            </a:r>
          </a:p>
          <a:p>
            <a:pPr lvl="1"/>
            <a:r>
              <a:rPr lang="en-US" sz="2700" dirty="0"/>
              <a:t>set operations from mathematical set theory; applicable because each relation is defined to be set of tuples</a:t>
            </a:r>
          </a:p>
          <a:p>
            <a:pPr lvl="2"/>
            <a:r>
              <a:rPr lang="en-US" sz="2700" dirty="0"/>
              <a:t>include UNION, INTERSECTION, SET DIFFERENCE, and CARTESIAN PRODUCT (also known as CROSS PRODUCT)</a:t>
            </a:r>
          </a:p>
          <a:p>
            <a:pPr lvl="1"/>
            <a:r>
              <a:rPr lang="en-US" sz="2700" dirty="0"/>
              <a:t>operations developed specifically for relational databases:  SELECT, PROJECT, and JOIN</a:t>
            </a:r>
          </a:p>
          <a:p>
            <a:pPr lvl="2"/>
            <a:r>
              <a:rPr lang="en-US" sz="2700" dirty="0"/>
              <a:t>SELECT and PROJECT </a:t>
            </a:r>
            <a:r>
              <a:rPr lang="en-US" sz="2700" b="1" dirty="0"/>
              <a:t>unary operations </a:t>
            </a:r>
            <a:r>
              <a:rPr lang="en-US" sz="2700" dirty="0"/>
              <a:t>that operate on single relations</a:t>
            </a:r>
          </a:p>
          <a:p>
            <a:pPr lvl="2"/>
            <a:r>
              <a:rPr lang="en-US" sz="2700" dirty="0"/>
              <a:t>JOIN and other complex </a:t>
            </a:r>
            <a:r>
              <a:rPr lang="en-US" sz="2700" b="1" dirty="0"/>
              <a:t>binary operations</a:t>
            </a:r>
            <a:r>
              <a:rPr lang="en-US" sz="2700" dirty="0"/>
              <a:t>, which operate on two tables by combining related tuples (records) based on </a:t>
            </a:r>
            <a:r>
              <a:rPr lang="en-US" sz="2700" i="1" dirty="0"/>
              <a:t>join conditions</a:t>
            </a:r>
            <a:endParaRPr lang="en-US" sz="2700" dirty="0"/>
          </a:p>
        </p:txBody>
      </p:sp>
      <p:sp>
        <p:nvSpPr>
          <p:cNvPr id="4" name="Slide Number Placeholder 3">
            <a:extLst>
              <a:ext uri="{FF2B5EF4-FFF2-40B4-BE49-F238E27FC236}">
                <a16:creationId xmlns:a16="http://schemas.microsoft.com/office/drawing/2014/main" id="{CE06BB97-E581-ADF6-84DA-368405493CEF}"/>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320238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3ADC2-C25D-E45D-E334-9C24D90AAD86}"/>
              </a:ext>
            </a:extLst>
          </p:cNvPr>
          <p:cNvSpPr>
            <a:spLocks noGrp="1"/>
          </p:cNvSpPr>
          <p:nvPr>
            <p:ph type="title"/>
          </p:nvPr>
        </p:nvSpPr>
        <p:spPr/>
        <p:txBody>
          <a:bodyPr/>
          <a:lstStyle/>
          <a:p>
            <a:r>
              <a:rPr lang="en-US" dirty="0"/>
              <a:t>Relational Algebra</a:t>
            </a:r>
          </a:p>
        </p:txBody>
      </p:sp>
      <p:sp>
        <p:nvSpPr>
          <p:cNvPr id="3" name="Content Placeholder 2">
            <a:extLst>
              <a:ext uri="{FF2B5EF4-FFF2-40B4-BE49-F238E27FC236}">
                <a16:creationId xmlns:a16="http://schemas.microsoft.com/office/drawing/2014/main" id="{B7378F6A-C0D0-EFB3-2E6D-DBEBFCBAAD0D}"/>
              </a:ext>
            </a:extLst>
          </p:cNvPr>
          <p:cNvSpPr>
            <a:spLocks noGrp="1"/>
          </p:cNvSpPr>
          <p:nvPr>
            <p:ph idx="1"/>
          </p:nvPr>
        </p:nvSpPr>
        <p:spPr/>
        <p:txBody>
          <a:bodyPr>
            <a:normAutofit/>
          </a:bodyPr>
          <a:lstStyle/>
          <a:p>
            <a:r>
              <a:rPr lang="en-US" dirty="0"/>
              <a:t>some common database requests cannot be performed with original relational algebra operations, so additional operations were created to express these requests</a:t>
            </a:r>
          </a:p>
          <a:p>
            <a:r>
              <a:rPr lang="en-US" dirty="0"/>
              <a:t>include aggregate functions, which are operations that can summarize</a:t>
            </a:r>
            <a:r>
              <a:rPr lang="en-US" i="1" dirty="0"/>
              <a:t> </a:t>
            </a:r>
            <a:r>
              <a:rPr lang="en-US" dirty="0"/>
              <a:t>data from tables, as well as additional types of JOIN and UNION operations, known as OUTER JOINs and OUTER UNIONs</a:t>
            </a:r>
          </a:p>
        </p:txBody>
      </p:sp>
      <p:sp>
        <p:nvSpPr>
          <p:cNvPr id="4" name="Slide Number Placeholder 3">
            <a:extLst>
              <a:ext uri="{FF2B5EF4-FFF2-40B4-BE49-F238E27FC236}">
                <a16:creationId xmlns:a16="http://schemas.microsoft.com/office/drawing/2014/main" id="{93B4BDDA-73E5-6DA1-96FD-282CF3F2A643}"/>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3711830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C999E-03A6-3F2E-084B-D317130FF7DD}"/>
              </a:ext>
            </a:extLst>
          </p:cNvPr>
          <p:cNvSpPr>
            <a:spLocks noGrp="1"/>
          </p:cNvSpPr>
          <p:nvPr>
            <p:ph type="title"/>
          </p:nvPr>
        </p:nvSpPr>
        <p:spPr/>
        <p:txBody>
          <a:bodyPr/>
          <a:lstStyle/>
          <a:p>
            <a:r>
              <a:rPr lang="en-US" dirty="0"/>
              <a:t>Relational Calculus</a:t>
            </a:r>
          </a:p>
        </p:txBody>
      </p:sp>
      <p:sp>
        <p:nvSpPr>
          <p:cNvPr id="3" name="Content Placeholder 2">
            <a:extLst>
              <a:ext uri="{FF2B5EF4-FFF2-40B4-BE49-F238E27FC236}">
                <a16:creationId xmlns:a16="http://schemas.microsoft.com/office/drawing/2014/main" id="{9060D954-E240-5AF7-C04F-5912D99515BF}"/>
              </a:ext>
            </a:extLst>
          </p:cNvPr>
          <p:cNvSpPr>
            <a:spLocks noGrp="1"/>
          </p:cNvSpPr>
          <p:nvPr>
            <p:ph idx="1"/>
          </p:nvPr>
        </p:nvSpPr>
        <p:spPr/>
        <p:txBody>
          <a:bodyPr>
            <a:normAutofit lnSpcReduction="10000"/>
          </a:bodyPr>
          <a:lstStyle/>
          <a:p>
            <a:r>
              <a:rPr lang="en-US" dirty="0"/>
              <a:t>there are two variations of relational calculus</a:t>
            </a:r>
          </a:p>
          <a:p>
            <a:r>
              <a:rPr lang="en-US" i="1" dirty="0"/>
              <a:t>tuple </a:t>
            </a:r>
            <a:r>
              <a:rPr lang="en-US" dirty="0"/>
              <a:t>relational calculus</a:t>
            </a:r>
          </a:p>
          <a:p>
            <a:r>
              <a:rPr lang="en-US" i="1" dirty="0"/>
              <a:t>domain </a:t>
            </a:r>
            <a:r>
              <a:rPr lang="en-US" dirty="0"/>
              <a:t>relational calculus</a:t>
            </a:r>
          </a:p>
          <a:p>
            <a:r>
              <a:rPr lang="en-US" dirty="0"/>
              <a:t>formal language, based on mathematical logic called predicate calculus</a:t>
            </a:r>
          </a:p>
          <a:p>
            <a:r>
              <a:rPr lang="en-US" dirty="0"/>
              <a:t>in tuple relational calculus, variables range over tuples</a:t>
            </a:r>
          </a:p>
          <a:p>
            <a:r>
              <a:rPr lang="en-US" dirty="0"/>
              <a:t>in domain relational calculus, variables range over domains (values) of attributes</a:t>
            </a:r>
          </a:p>
          <a:p>
            <a:r>
              <a:rPr lang="en-US" dirty="0"/>
              <a:t>Query-By-Example (QBE) language, is a graphical user-friendly relational language based on domain relational calculus</a:t>
            </a:r>
          </a:p>
        </p:txBody>
      </p:sp>
      <p:sp>
        <p:nvSpPr>
          <p:cNvPr id="4" name="Slide Number Placeholder 3">
            <a:extLst>
              <a:ext uri="{FF2B5EF4-FFF2-40B4-BE49-F238E27FC236}">
                <a16:creationId xmlns:a16="http://schemas.microsoft.com/office/drawing/2014/main" id="{13D27644-4C1F-5AFE-DAAC-28D5E7CB8A83}"/>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2109487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9055B-5AFF-7624-CFC8-F6D00C15C606}"/>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47B08952-6CEA-5625-73D0-128A8BDAA2EC}"/>
              </a:ext>
            </a:extLst>
          </p:cNvPr>
          <p:cNvSpPr>
            <a:spLocks noGrp="1"/>
          </p:cNvSpPr>
          <p:nvPr>
            <p:ph idx="1"/>
          </p:nvPr>
        </p:nvSpPr>
        <p:spPr/>
        <p:txBody>
          <a:bodyPr>
            <a:normAutofit/>
          </a:bodyPr>
          <a:lstStyle/>
          <a:p>
            <a:r>
              <a:rPr lang="en-US" dirty="0"/>
              <a:t>used to choose a subset</a:t>
            </a:r>
            <a:r>
              <a:rPr lang="en-US" i="1" dirty="0"/>
              <a:t> </a:t>
            </a:r>
            <a:r>
              <a:rPr lang="en-US" dirty="0"/>
              <a:t>of tuples from relation that satisfies </a:t>
            </a:r>
            <a:r>
              <a:rPr lang="en-US" b="1" dirty="0"/>
              <a:t>selection condition</a:t>
            </a:r>
          </a:p>
          <a:p>
            <a:r>
              <a:rPr lang="en-US" i="1" dirty="0"/>
              <a:t>filter </a:t>
            </a:r>
            <a:r>
              <a:rPr lang="en-US" dirty="0"/>
              <a:t>that keeps only those tuples that satisfy condition</a:t>
            </a:r>
          </a:p>
          <a:p>
            <a:r>
              <a:rPr lang="en-US" i="1" dirty="0"/>
              <a:t>restrict </a:t>
            </a:r>
            <a:r>
              <a:rPr lang="en-US" dirty="0"/>
              <a:t>tuples in relation to only those tuples that satisfy condition</a:t>
            </a:r>
          </a:p>
          <a:p>
            <a:r>
              <a:rPr lang="en-US" i="1" dirty="0"/>
              <a:t>horizontal partition </a:t>
            </a:r>
            <a:r>
              <a:rPr lang="en-US" dirty="0"/>
              <a:t>of relation into two sets of tuples: those tuples that satisfy condition and are selected, and those tuples that do not satisfy condition and are filtered out</a:t>
            </a:r>
          </a:p>
          <a:p>
            <a:r>
              <a:rPr lang="en-US" dirty="0"/>
              <a:t>denoted by:	</a:t>
            </a:r>
            <a:r>
              <a:rPr lang="el-GR" sz="4400" dirty="0"/>
              <a:t>σ</a:t>
            </a:r>
            <a:r>
              <a:rPr lang="el-GR" sz="3200" baseline="-25000" dirty="0"/>
              <a:t>&lt;</a:t>
            </a:r>
            <a:r>
              <a:rPr lang="en-US" sz="3200" baseline="-25000" dirty="0"/>
              <a:t>selection condition&gt;</a:t>
            </a:r>
            <a:r>
              <a:rPr lang="en-US" dirty="0"/>
              <a:t>(</a:t>
            </a:r>
            <a:r>
              <a:rPr lang="en-US" i="1" dirty="0"/>
              <a:t>R</a:t>
            </a:r>
            <a:r>
              <a:rPr lang="en-US" dirty="0"/>
              <a:t>)</a:t>
            </a:r>
          </a:p>
        </p:txBody>
      </p:sp>
      <p:sp>
        <p:nvSpPr>
          <p:cNvPr id="4" name="Slide Number Placeholder 3">
            <a:extLst>
              <a:ext uri="{FF2B5EF4-FFF2-40B4-BE49-F238E27FC236}">
                <a16:creationId xmlns:a16="http://schemas.microsoft.com/office/drawing/2014/main" id="{2C1BA3D9-6932-57B8-2B42-27D5BAD7C260}"/>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3080946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1E09-DCEB-6C40-779A-8805CAA648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902D0D-8652-6A18-CB8C-3864412F0301}"/>
              </a:ext>
            </a:extLst>
          </p:cNvPr>
          <p:cNvSpPr>
            <a:spLocks noGrp="1"/>
          </p:cNvSpPr>
          <p:nvPr>
            <p:ph idx="1"/>
          </p:nvPr>
        </p:nvSpPr>
        <p:spPr/>
        <p:txBody>
          <a:bodyPr/>
          <a:lstStyle/>
          <a:p>
            <a:r>
              <a:rPr lang="en-US" dirty="0"/>
              <a:t>the Greek letter sigma is written as </a:t>
            </a:r>
            <a:r>
              <a:rPr lang="en-US" sz="4000" dirty="0"/>
              <a:t>Σ</a:t>
            </a:r>
            <a:r>
              <a:rPr lang="en-US" dirty="0"/>
              <a:t> (uppercase) and </a:t>
            </a:r>
            <a:r>
              <a:rPr lang="en-US" sz="4000" dirty="0"/>
              <a:t>σ</a:t>
            </a:r>
            <a:r>
              <a:rPr lang="en-US" dirty="0"/>
              <a:t> (lowercase)</a:t>
            </a:r>
          </a:p>
        </p:txBody>
      </p:sp>
      <p:sp>
        <p:nvSpPr>
          <p:cNvPr id="4" name="Slide Number Placeholder 3">
            <a:extLst>
              <a:ext uri="{FF2B5EF4-FFF2-40B4-BE49-F238E27FC236}">
                <a16:creationId xmlns:a16="http://schemas.microsoft.com/office/drawing/2014/main" id="{BDE09B35-F624-31DA-14A1-1CFB46C14B0A}"/>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363846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059B-B2CF-6600-C3C3-9D013912DC66}"/>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97A14497-4C1F-643F-4696-5152EE7E4D49}"/>
              </a:ext>
            </a:extLst>
          </p:cNvPr>
          <p:cNvSpPr>
            <a:spLocks noGrp="1"/>
          </p:cNvSpPr>
          <p:nvPr>
            <p:ph idx="1"/>
          </p:nvPr>
        </p:nvSpPr>
        <p:spPr/>
        <p:txBody>
          <a:bodyPr/>
          <a:lstStyle/>
          <a:p>
            <a:r>
              <a:rPr lang="en-US" dirty="0"/>
              <a:t>for example, to select EMPLOYEE tuples whose department is 4, or those whose salary is greater than $30,000:</a:t>
            </a:r>
          </a:p>
          <a:p>
            <a:r>
              <a:rPr lang="el-GR" sz="4400" dirty="0"/>
              <a:t>σ</a:t>
            </a:r>
            <a:r>
              <a:rPr lang="en-US" sz="3200" baseline="-25000" dirty="0" err="1"/>
              <a:t>Dno</a:t>
            </a:r>
            <a:r>
              <a:rPr lang="en-US" sz="3200" baseline="-25000" dirty="0"/>
              <a:t>=4</a:t>
            </a:r>
            <a:r>
              <a:rPr lang="en-US" dirty="0"/>
              <a:t>(EMPLOYEE)</a:t>
            </a:r>
          </a:p>
          <a:p>
            <a:r>
              <a:rPr lang="el-GR" sz="4400" dirty="0"/>
              <a:t>σ</a:t>
            </a:r>
            <a:r>
              <a:rPr lang="en-US" sz="3200" baseline="-25000" dirty="0"/>
              <a:t>Salary&gt;30000</a:t>
            </a:r>
            <a:r>
              <a:rPr lang="en-US" dirty="0"/>
              <a:t>(EMPLOYEE)</a:t>
            </a:r>
          </a:p>
          <a:p>
            <a:endParaRPr lang="en-US" dirty="0"/>
          </a:p>
        </p:txBody>
      </p:sp>
      <p:sp>
        <p:nvSpPr>
          <p:cNvPr id="4" name="Slide Number Placeholder 3">
            <a:extLst>
              <a:ext uri="{FF2B5EF4-FFF2-40B4-BE49-F238E27FC236}">
                <a16:creationId xmlns:a16="http://schemas.microsoft.com/office/drawing/2014/main" id="{44001CE1-CCE9-7AF0-56A8-39CCFF37D49E}"/>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3509528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DDD29-B6B5-FD13-B854-D36C87B48A53}"/>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4673B36D-8289-2E89-C48F-8FD24AAEC7CE}"/>
              </a:ext>
            </a:extLst>
          </p:cNvPr>
          <p:cNvSpPr>
            <a:spLocks noGrp="1"/>
          </p:cNvSpPr>
          <p:nvPr>
            <p:ph idx="1"/>
          </p:nvPr>
        </p:nvSpPr>
        <p:spPr/>
        <p:txBody>
          <a:bodyPr>
            <a:noAutofit/>
          </a:bodyPr>
          <a:lstStyle/>
          <a:p>
            <a:r>
              <a:rPr lang="en-US" dirty="0"/>
              <a:t>symbol </a:t>
            </a:r>
            <a:r>
              <a:rPr lang="en-US" sz="3200" dirty="0"/>
              <a:t>σ</a:t>
            </a:r>
            <a:r>
              <a:rPr lang="en-US" dirty="0"/>
              <a:t> (sigma) is used to denote SELECT operator and selection condition is a Boolean expression (condition) specified on attributes of relation </a:t>
            </a:r>
            <a:r>
              <a:rPr lang="en-US" i="1" dirty="0"/>
              <a:t>R</a:t>
            </a:r>
          </a:p>
          <a:p>
            <a:r>
              <a:rPr lang="en-US" i="1" dirty="0"/>
              <a:t>R </a:t>
            </a:r>
            <a:r>
              <a:rPr lang="en-US" dirty="0"/>
              <a:t>is generally a </a:t>
            </a:r>
            <a:r>
              <a:rPr lang="en-US" i="1" dirty="0"/>
              <a:t>relational algebra expression </a:t>
            </a:r>
            <a:r>
              <a:rPr lang="en-US" dirty="0"/>
              <a:t>whose result is relation</a:t>
            </a:r>
          </a:p>
          <a:p>
            <a:pPr lvl="1"/>
            <a:r>
              <a:rPr lang="en-US" dirty="0"/>
              <a:t>simplest such expression is just a database relation</a:t>
            </a:r>
          </a:p>
          <a:p>
            <a:r>
              <a:rPr lang="en-US" dirty="0"/>
              <a:t>relation resulting from SELECT operation has </a:t>
            </a:r>
            <a:r>
              <a:rPr lang="en-US" i="1" dirty="0"/>
              <a:t>same attributes </a:t>
            </a:r>
            <a:r>
              <a:rPr lang="en-US" dirty="0"/>
              <a:t>as </a:t>
            </a:r>
            <a:r>
              <a:rPr lang="en-US" i="1" dirty="0"/>
              <a:t>R</a:t>
            </a:r>
            <a:endParaRPr lang="en-US" dirty="0"/>
          </a:p>
          <a:p>
            <a:r>
              <a:rPr lang="en-US" dirty="0"/>
              <a:t>Boolean expression specified in &lt;selection condition&gt; is made up of number of clauses</a:t>
            </a:r>
            <a:r>
              <a:rPr lang="en-US" b="1" dirty="0"/>
              <a:t> </a:t>
            </a:r>
            <a:r>
              <a:rPr lang="en-US" dirty="0"/>
              <a:t>of the form:</a:t>
            </a:r>
          </a:p>
          <a:p>
            <a:r>
              <a:rPr lang="en-US" dirty="0"/>
              <a:t>&lt;attribute name&gt; &lt;comparison op&gt; &lt;constant value&gt;</a:t>
            </a:r>
          </a:p>
          <a:p>
            <a:r>
              <a:rPr lang="en-US" dirty="0"/>
              <a:t>or	&lt;attribute name&gt; &lt;comparison op&gt; &lt;attribute name&gt;</a:t>
            </a:r>
          </a:p>
          <a:p>
            <a:endParaRPr lang="en-US" dirty="0"/>
          </a:p>
        </p:txBody>
      </p:sp>
      <p:sp>
        <p:nvSpPr>
          <p:cNvPr id="4" name="Slide Number Placeholder 3">
            <a:extLst>
              <a:ext uri="{FF2B5EF4-FFF2-40B4-BE49-F238E27FC236}">
                <a16:creationId xmlns:a16="http://schemas.microsoft.com/office/drawing/2014/main" id="{C81FC1D1-F2F8-6208-0E96-952263ED515A}"/>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2158283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EF70C-B4BF-D24D-652E-15F3EFAA45CC}"/>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6EEA1ACC-4F0F-4115-F2F5-DB6961DB5EEC}"/>
              </a:ext>
            </a:extLst>
          </p:cNvPr>
          <p:cNvSpPr>
            <a:spLocks noGrp="1"/>
          </p:cNvSpPr>
          <p:nvPr>
            <p:ph idx="1"/>
          </p:nvPr>
        </p:nvSpPr>
        <p:spPr>
          <a:xfrm>
            <a:off x="838199" y="1825625"/>
            <a:ext cx="11009671" cy="4351338"/>
          </a:xfrm>
        </p:spPr>
        <p:txBody>
          <a:bodyPr>
            <a:normAutofit/>
          </a:bodyPr>
          <a:lstStyle/>
          <a:p>
            <a:r>
              <a:rPr lang="en-US" dirty="0"/>
              <a:t>where &lt;attribute name&gt; is name of an attribute of </a:t>
            </a:r>
            <a:r>
              <a:rPr lang="en-US" i="1" dirty="0"/>
              <a:t>R</a:t>
            </a:r>
          </a:p>
          <a:p>
            <a:r>
              <a:rPr lang="en-US" dirty="0"/>
              <a:t>&lt;comparison op&gt; is normally one of operators {=, &lt;, ≤, &gt;, ≥, ≠}</a:t>
            </a:r>
          </a:p>
          <a:p>
            <a:r>
              <a:rPr lang="en-US" dirty="0"/>
              <a:t>&lt;constant value&gt; is a constant value from attribute domain</a:t>
            </a:r>
          </a:p>
          <a:p>
            <a:r>
              <a:rPr lang="en-US" dirty="0"/>
              <a:t>clauses can be connected by standard Boolean operators </a:t>
            </a:r>
            <a:r>
              <a:rPr lang="en-US" i="1" dirty="0"/>
              <a:t>and</a:t>
            </a:r>
            <a:r>
              <a:rPr lang="en-US" dirty="0"/>
              <a:t>, </a:t>
            </a:r>
            <a:r>
              <a:rPr lang="en-US" i="1" dirty="0"/>
              <a:t>or</a:t>
            </a:r>
            <a:r>
              <a:rPr lang="en-US" dirty="0"/>
              <a:t>, and </a:t>
            </a:r>
            <a:r>
              <a:rPr lang="en-US" i="1" dirty="0"/>
              <a:t>not </a:t>
            </a:r>
            <a:endParaRPr lang="en-US" dirty="0"/>
          </a:p>
          <a:p>
            <a:r>
              <a:rPr lang="en-US" dirty="0"/>
              <a:t>for example, to select tuples for all employees who either work in department 4 and make over $25,000 per year, or work in department 5 and make over $30,000:</a:t>
            </a:r>
          </a:p>
          <a:p>
            <a:r>
              <a:rPr lang="en-US" sz="4400" dirty="0"/>
              <a:t>σ</a:t>
            </a:r>
            <a:r>
              <a:rPr lang="en-US" sz="3200" baseline="-25000" dirty="0"/>
              <a:t>(</a:t>
            </a:r>
            <a:r>
              <a:rPr lang="en-US" sz="3200" baseline="-25000" dirty="0" err="1"/>
              <a:t>Dno</a:t>
            </a:r>
            <a:r>
              <a:rPr lang="en-US" sz="3200" baseline="-25000" dirty="0"/>
              <a:t>=4 </a:t>
            </a:r>
            <a:r>
              <a:rPr lang="en-US" sz="3200" b="1" baseline="-25000" dirty="0"/>
              <a:t>AND </a:t>
            </a:r>
            <a:r>
              <a:rPr lang="en-US" sz="3200" baseline="-25000" dirty="0"/>
              <a:t>Salary&gt;25000) </a:t>
            </a:r>
            <a:r>
              <a:rPr lang="en-US" sz="3200" b="1" baseline="-25000" dirty="0"/>
              <a:t>OR </a:t>
            </a:r>
            <a:r>
              <a:rPr lang="en-US" sz="3200" baseline="-25000" dirty="0"/>
              <a:t>(</a:t>
            </a:r>
            <a:r>
              <a:rPr lang="en-US" sz="3200" baseline="-25000" dirty="0" err="1"/>
              <a:t>Dno</a:t>
            </a:r>
            <a:r>
              <a:rPr lang="en-US" sz="3200" baseline="-25000" dirty="0"/>
              <a:t>=5 </a:t>
            </a:r>
            <a:r>
              <a:rPr lang="en-US" sz="3200" b="1" baseline="-25000" dirty="0"/>
              <a:t>AND </a:t>
            </a:r>
            <a:r>
              <a:rPr lang="en-US" sz="3200" baseline="-25000" dirty="0"/>
              <a:t>Salary&gt;30000)</a:t>
            </a:r>
            <a:r>
              <a:rPr lang="en-US" dirty="0"/>
              <a:t>(EMPLOYEE)</a:t>
            </a:r>
          </a:p>
        </p:txBody>
      </p:sp>
      <p:sp>
        <p:nvSpPr>
          <p:cNvPr id="4" name="Slide Number Placeholder 3">
            <a:extLst>
              <a:ext uri="{FF2B5EF4-FFF2-40B4-BE49-F238E27FC236}">
                <a16:creationId xmlns:a16="http://schemas.microsoft.com/office/drawing/2014/main" id="{CD3C1425-0424-D3AF-87C9-718A654B8CB9}"/>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2762302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D7ED-E3CA-21B1-B182-E9828F8E127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A3AAAD5A-DC01-EE14-940D-BB292041618F}"/>
              </a:ext>
            </a:extLst>
          </p:cNvPr>
          <p:cNvPicPr>
            <a:picLocks noGrp="1" noChangeAspect="1"/>
          </p:cNvPicPr>
          <p:nvPr>
            <p:ph idx="1"/>
          </p:nvPr>
        </p:nvPicPr>
        <p:blipFill>
          <a:blip r:embed="rId2"/>
          <a:stretch>
            <a:fillRect/>
          </a:stretch>
        </p:blipFill>
        <p:spPr>
          <a:xfrm>
            <a:off x="91440" y="2468880"/>
            <a:ext cx="11861405" cy="1521693"/>
          </a:xfrm>
          <a:prstGeom prst="rect">
            <a:avLst/>
          </a:prstGeom>
        </p:spPr>
      </p:pic>
      <p:sp>
        <p:nvSpPr>
          <p:cNvPr id="4" name="Slide Number Placeholder 3">
            <a:extLst>
              <a:ext uri="{FF2B5EF4-FFF2-40B4-BE49-F238E27FC236}">
                <a16:creationId xmlns:a16="http://schemas.microsoft.com/office/drawing/2014/main" id="{F1867010-5C98-DB0B-2C67-012A9767F4F1}"/>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3589703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45BA-938E-CB3A-6DEC-02E4220CA155}"/>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2DF9E344-0C2C-2DFF-EB4A-52FE6D72D9F2}"/>
              </a:ext>
            </a:extLst>
          </p:cNvPr>
          <p:cNvSpPr>
            <a:spLocks noGrp="1"/>
          </p:cNvSpPr>
          <p:nvPr>
            <p:ph idx="1"/>
          </p:nvPr>
        </p:nvSpPr>
        <p:spPr/>
        <p:txBody>
          <a:bodyPr>
            <a:normAutofit/>
          </a:bodyPr>
          <a:lstStyle/>
          <a:p>
            <a:r>
              <a:rPr lang="en-US" dirty="0"/>
              <a:t>all comparison operators {=, &lt;, ≤, &gt;, ≥, ≠} can apply to attributes whose domains are ordered values, such as numeric or date domains or strings of characters considered to be ordered based on collating sequence of characters</a:t>
            </a:r>
          </a:p>
          <a:p>
            <a:r>
              <a:rPr lang="en-US" dirty="0"/>
              <a:t>only comparison operators {=, ≠} can apply to attributes whose domains are a set of unordered values (Boolean, color, gender, …)</a:t>
            </a:r>
          </a:p>
        </p:txBody>
      </p:sp>
      <p:sp>
        <p:nvSpPr>
          <p:cNvPr id="4" name="Slide Number Placeholder 3">
            <a:extLst>
              <a:ext uri="{FF2B5EF4-FFF2-40B4-BE49-F238E27FC236}">
                <a16:creationId xmlns:a16="http://schemas.microsoft.com/office/drawing/2014/main" id="{5A96DA4F-ABAA-AA9B-E2BD-2C252C44F345}"/>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3339229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C3FB-E317-14AD-0CED-30C708236388}"/>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D47C3E75-6358-E0F1-2C42-D15C7C5FFF2D}"/>
              </a:ext>
            </a:extLst>
          </p:cNvPr>
          <p:cNvSpPr>
            <a:spLocks noGrp="1"/>
          </p:cNvSpPr>
          <p:nvPr>
            <p:ph idx="1"/>
          </p:nvPr>
        </p:nvSpPr>
        <p:spPr/>
        <p:txBody>
          <a:bodyPr>
            <a:normAutofit/>
          </a:bodyPr>
          <a:lstStyle/>
          <a:p>
            <a:r>
              <a:rPr lang="en-US" dirty="0"/>
              <a:t>result of SELECT operation can be determined as follows:</a:t>
            </a:r>
          </a:p>
          <a:p>
            <a:r>
              <a:rPr lang="en-US" dirty="0"/>
              <a:t>&lt;selection condition&gt; is applied independently to each individual tuple</a:t>
            </a:r>
            <a:r>
              <a:rPr lang="en-US" i="1" dirty="0"/>
              <a:t> t </a:t>
            </a:r>
            <a:r>
              <a:rPr lang="en-US" dirty="0"/>
              <a:t>in </a:t>
            </a:r>
            <a:r>
              <a:rPr lang="en-US" i="1" dirty="0"/>
              <a:t>R</a:t>
            </a:r>
          </a:p>
          <a:p>
            <a:pPr lvl="1"/>
            <a:r>
              <a:rPr lang="en-US" sz="2700" dirty="0"/>
              <a:t>substituting each occurrence of attribute </a:t>
            </a:r>
            <a:r>
              <a:rPr lang="en-US" sz="2700" i="1" dirty="0"/>
              <a:t>A</a:t>
            </a:r>
            <a:r>
              <a:rPr lang="en-US" sz="2700" i="1" baseline="-25000" dirty="0"/>
              <a:t>i</a:t>
            </a:r>
            <a:r>
              <a:rPr lang="en-US" sz="2700" i="1" dirty="0"/>
              <a:t> </a:t>
            </a:r>
            <a:r>
              <a:rPr lang="en-US" sz="2700" dirty="0"/>
              <a:t>in selection condition with its value in tuple </a:t>
            </a:r>
            <a:r>
              <a:rPr lang="en-US" sz="2700" i="1" dirty="0"/>
              <a:t>t</a:t>
            </a:r>
            <a:r>
              <a:rPr lang="en-US" sz="2700" dirty="0"/>
              <a:t>[</a:t>
            </a:r>
            <a:r>
              <a:rPr lang="en-US" sz="2700" i="1" dirty="0"/>
              <a:t>A</a:t>
            </a:r>
            <a:r>
              <a:rPr lang="en-US" sz="2700" i="1" baseline="-25000" dirty="0"/>
              <a:t>i</a:t>
            </a:r>
            <a:r>
              <a:rPr lang="en-US" sz="2700" dirty="0"/>
              <a:t>]</a:t>
            </a:r>
          </a:p>
          <a:p>
            <a:pPr lvl="1"/>
            <a:r>
              <a:rPr lang="en-US" sz="2700" dirty="0"/>
              <a:t>if condition evaluates to TRUE, then tuple </a:t>
            </a:r>
            <a:r>
              <a:rPr lang="en-US" sz="2700" i="1" dirty="0"/>
              <a:t>t </a:t>
            </a:r>
            <a:r>
              <a:rPr lang="en-US" sz="2700" dirty="0"/>
              <a:t>is </a:t>
            </a:r>
            <a:r>
              <a:rPr lang="en-US" sz="2700" b="1" dirty="0"/>
              <a:t>selected</a:t>
            </a:r>
          </a:p>
          <a:p>
            <a:r>
              <a:rPr lang="en-US" dirty="0"/>
              <a:t>selected tuples appear in result </a:t>
            </a:r>
          </a:p>
          <a:p>
            <a:r>
              <a:rPr lang="en-US" dirty="0"/>
              <a:t>Boolean conditions AND, OR, and NOT have their normal interpretation</a:t>
            </a:r>
          </a:p>
        </p:txBody>
      </p:sp>
      <p:sp>
        <p:nvSpPr>
          <p:cNvPr id="4" name="Slide Number Placeholder 3">
            <a:extLst>
              <a:ext uri="{FF2B5EF4-FFF2-40B4-BE49-F238E27FC236}">
                <a16:creationId xmlns:a16="http://schemas.microsoft.com/office/drawing/2014/main" id="{9A844CD6-8DC2-FDC6-2B01-9F918E5C2E2E}"/>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3523176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E1851-5063-2850-3AED-EC96B610EE27}"/>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A37F08BD-79DD-89AD-98FC-0BC54BB9B275}"/>
              </a:ext>
            </a:extLst>
          </p:cNvPr>
          <p:cNvSpPr>
            <a:spLocks noGrp="1"/>
          </p:cNvSpPr>
          <p:nvPr>
            <p:ph idx="1"/>
          </p:nvPr>
        </p:nvSpPr>
        <p:spPr/>
        <p:txBody>
          <a:bodyPr>
            <a:normAutofit/>
          </a:bodyPr>
          <a:lstStyle/>
          <a:p>
            <a:r>
              <a:rPr lang="en-US" dirty="0"/>
              <a:t>is </a:t>
            </a:r>
            <a:r>
              <a:rPr lang="en-US" b="1" dirty="0"/>
              <a:t>unary</a:t>
            </a:r>
            <a:r>
              <a:rPr lang="en-US" dirty="0"/>
              <a:t>; applied to a single relation</a:t>
            </a:r>
          </a:p>
          <a:p>
            <a:r>
              <a:rPr lang="en-US" dirty="0"/>
              <a:t>applied to each tuple individually: selection conditions cannot involve more than one tuple</a:t>
            </a:r>
          </a:p>
          <a:p>
            <a:r>
              <a:rPr lang="en-US" dirty="0"/>
              <a:t>the </a:t>
            </a:r>
            <a:r>
              <a:rPr lang="en-US" b="1" dirty="0"/>
              <a:t>degree </a:t>
            </a:r>
            <a:r>
              <a:rPr lang="en-US" dirty="0"/>
              <a:t>of relation resulting from a SELECT operation - its number of attributes - is the same as the degree of </a:t>
            </a:r>
            <a:r>
              <a:rPr lang="en-US" i="1" dirty="0"/>
              <a:t>R</a:t>
            </a:r>
          </a:p>
          <a:p>
            <a:r>
              <a:rPr lang="en-US" dirty="0"/>
              <a:t>number of tuples in resulting relation is always less than or equal</a:t>
            </a:r>
            <a:r>
              <a:rPr lang="en-US" i="1" dirty="0"/>
              <a:t> to </a:t>
            </a:r>
            <a:r>
              <a:rPr lang="en-US" dirty="0"/>
              <a:t>number of tuples in </a:t>
            </a:r>
            <a:r>
              <a:rPr lang="en-US" i="1" dirty="0"/>
              <a:t>R: </a:t>
            </a:r>
            <a:r>
              <a:rPr lang="en-US" dirty="0"/>
              <a:t>|</a:t>
            </a:r>
            <a:r>
              <a:rPr lang="en-US" sz="4400" dirty="0" err="1"/>
              <a:t>σ</a:t>
            </a:r>
            <a:r>
              <a:rPr lang="en-US" sz="3200" i="1" baseline="-25000" dirty="0" err="1"/>
              <a:t>c</a:t>
            </a:r>
            <a:r>
              <a:rPr lang="en-US" i="1" dirty="0"/>
              <a:t> </a:t>
            </a:r>
            <a:r>
              <a:rPr lang="en-US" dirty="0"/>
              <a:t>(</a:t>
            </a:r>
            <a:r>
              <a:rPr lang="en-US" i="1" dirty="0"/>
              <a:t>R</a:t>
            </a:r>
            <a:r>
              <a:rPr lang="en-US" dirty="0"/>
              <a:t>)| ≤ |</a:t>
            </a:r>
            <a:r>
              <a:rPr lang="en-US" i="1" dirty="0"/>
              <a:t>R</a:t>
            </a:r>
            <a:r>
              <a:rPr lang="en-US" dirty="0"/>
              <a:t>| for any condition </a:t>
            </a:r>
            <a:r>
              <a:rPr lang="en-US" i="1" dirty="0"/>
              <a:t>C</a:t>
            </a:r>
          </a:p>
          <a:p>
            <a:r>
              <a:rPr lang="en-US" dirty="0"/>
              <a:t>fraction of tuples selected by selection condition is referred to as the </a:t>
            </a:r>
            <a:r>
              <a:rPr lang="en-US" i="1" dirty="0"/>
              <a:t>selectivity</a:t>
            </a:r>
            <a:r>
              <a:rPr lang="en-US" b="1" dirty="0"/>
              <a:t> </a:t>
            </a:r>
            <a:r>
              <a:rPr lang="en-US" dirty="0"/>
              <a:t>of condition</a:t>
            </a:r>
          </a:p>
        </p:txBody>
      </p:sp>
      <p:sp>
        <p:nvSpPr>
          <p:cNvPr id="4" name="Slide Number Placeholder 3">
            <a:extLst>
              <a:ext uri="{FF2B5EF4-FFF2-40B4-BE49-F238E27FC236}">
                <a16:creationId xmlns:a16="http://schemas.microsoft.com/office/drawing/2014/main" id="{5628DDF9-D3B7-419B-33D9-23FFAE8A048E}"/>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129734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1313A-9284-0694-2609-CFB893EDD8D4}"/>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BB4AF92F-3FE9-30EB-C66A-E7ED01F4C0D1}"/>
              </a:ext>
            </a:extLst>
          </p:cNvPr>
          <p:cNvSpPr>
            <a:spLocks noGrp="1"/>
          </p:cNvSpPr>
          <p:nvPr>
            <p:ph idx="1"/>
          </p:nvPr>
        </p:nvSpPr>
        <p:spPr/>
        <p:txBody>
          <a:bodyPr>
            <a:noAutofit/>
          </a:bodyPr>
          <a:lstStyle/>
          <a:p>
            <a:r>
              <a:rPr lang="en-US" b="1" dirty="0"/>
              <a:t>commutative</a:t>
            </a:r>
            <a:r>
              <a:rPr lang="en-US" dirty="0"/>
              <a:t>; that is,</a:t>
            </a:r>
          </a:p>
          <a:p>
            <a:r>
              <a:rPr lang="pt-BR" sz="4400" dirty="0"/>
              <a:t>σ</a:t>
            </a:r>
            <a:r>
              <a:rPr lang="pt-BR" sz="3200" baseline="-25000" dirty="0"/>
              <a:t>&lt;cond1&gt;</a:t>
            </a:r>
            <a:r>
              <a:rPr lang="pt-BR" dirty="0"/>
              <a:t>(</a:t>
            </a:r>
            <a:r>
              <a:rPr lang="pt-BR" sz="4400" dirty="0"/>
              <a:t>σ</a:t>
            </a:r>
            <a:r>
              <a:rPr lang="pt-BR" sz="3200" baseline="-25000" dirty="0"/>
              <a:t>&lt;cond2&gt;</a:t>
            </a:r>
            <a:r>
              <a:rPr lang="pt-BR" dirty="0"/>
              <a:t>(</a:t>
            </a:r>
            <a:r>
              <a:rPr lang="pt-BR" i="1" dirty="0"/>
              <a:t>R</a:t>
            </a:r>
            <a:r>
              <a:rPr lang="pt-BR" dirty="0"/>
              <a:t>)) = </a:t>
            </a:r>
            <a:r>
              <a:rPr lang="pt-BR" sz="4400" dirty="0"/>
              <a:t>σ</a:t>
            </a:r>
            <a:r>
              <a:rPr lang="pt-BR" sz="3200" baseline="-25000" dirty="0"/>
              <a:t>&lt;cond2&gt;</a:t>
            </a:r>
            <a:r>
              <a:rPr lang="pt-BR" dirty="0"/>
              <a:t>(</a:t>
            </a:r>
            <a:r>
              <a:rPr lang="pt-BR" sz="4400" dirty="0"/>
              <a:t>σ</a:t>
            </a:r>
            <a:r>
              <a:rPr lang="pt-BR" sz="3200" baseline="-25000" dirty="0"/>
              <a:t>&lt;cond1&gt;</a:t>
            </a:r>
            <a:r>
              <a:rPr lang="pt-BR" dirty="0"/>
              <a:t>(</a:t>
            </a:r>
            <a:r>
              <a:rPr lang="pt-BR" i="1" dirty="0"/>
              <a:t>R</a:t>
            </a:r>
            <a:r>
              <a:rPr lang="pt-BR" dirty="0"/>
              <a:t>))</a:t>
            </a:r>
          </a:p>
          <a:p>
            <a:r>
              <a:rPr lang="en-US" dirty="0"/>
              <a:t>sequence of SELECTs can be applied in any order</a:t>
            </a:r>
          </a:p>
          <a:p>
            <a:r>
              <a:rPr lang="en-US" dirty="0"/>
              <a:t>can combine </a:t>
            </a:r>
            <a:r>
              <a:rPr lang="en-US" b="1" dirty="0"/>
              <a:t>cascade </a:t>
            </a:r>
            <a:r>
              <a:rPr lang="en-US" dirty="0"/>
              <a:t>(or </a:t>
            </a:r>
            <a:r>
              <a:rPr lang="en-US" b="1" dirty="0"/>
              <a:t>sequence</a:t>
            </a:r>
            <a:r>
              <a:rPr lang="en-US" dirty="0"/>
              <a:t>) of SELECT operations into single SELECT operation with a conjunctive (AND) condition</a:t>
            </a:r>
          </a:p>
          <a:p>
            <a:r>
              <a:rPr lang="en-US" sz="4400" dirty="0"/>
              <a:t>σ</a:t>
            </a:r>
            <a:r>
              <a:rPr lang="en-US" sz="3200" baseline="-25000" dirty="0"/>
              <a:t>&lt;cond1&gt;</a:t>
            </a:r>
            <a:r>
              <a:rPr lang="en-US" dirty="0"/>
              <a:t>(</a:t>
            </a:r>
            <a:r>
              <a:rPr lang="en-US" sz="4400" dirty="0"/>
              <a:t>σ</a:t>
            </a:r>
            <a:r>
              <a:rPr lang="en-US" sz="3200" baseline="-25000" dirty="0"/>
              <a:t>&lt;cond2&gt;</a:t>
            </a:r>
            <a:r>
              <a:rPr lang="en-US" dirty="0"/>
              <a:t>(... (σ</a:t>
            </a:r>
            <a:r>
              <a:rPr lang="en-US" sz="3200" baseline="-25000" dirty="0"/>
              <a:t>&lt;</a:t>
            </a:r>
            <a:r>
              <a:rPr lang="en-US" sz="3200" baseline="-25000" dirty="0" err="1"/>
              <a:t>cond</a:t>
            </a:r>
            <a:r>
              <a:rPr lang="en-US" sz="3200" i="1" baseline="-25000" dirty="0" err="1"/>
              <a:t>n</a:t>
            </a:r>
            <a:r>
              <a:rPr lang="en-US" sz="3200" baseline="-25000" dirty="0"/>
              <a:t>&gt;</a:t>
            </a:r>
            <a:r>
              <a:rPr lang="en-US" dirty="0"/>
              <a:t>(</a:t>
            </a:r>
            <a:r>
              <a:rPr lang="en-US" i="1" dirty="0"/>
              <a:t>R</a:t>
            </a:r>
            <a:r>
              <a:rPr lang="en-US" dirty="0"/>
              <a:t>)) ...)) = </a:t>
            </a:r>
          </a:p>
          <a:p>
            <a:r>
              <a:rPr lang="en-US" sz="4400" dirty="0"/>
              <a:t>σ</a:t>
            </a:r>
            <a:r>
              <a:rPr lang="en-US" sz="3200" baseline="-25000" dirty="0"/>
              <a:t>&lt;cond1&gt; </a:t>
            </a:r>
            <a:r>
              <a:rPr lang="en-US" sz="3200" b="1" baseline="-25000" dirty="0"/>
              <a:t>AND</a:t>
            </a:r>
            <a:r>
              <a:rPr lang="en-US" sz="3200" baseline="-25000" dirty="0"/>
              <a:t>&lt;cond2&gt; </a:t>
            </a:r>
            <a:r>
              <a:rPr lang="en-US" sz="3200" b="1" baseline="-25000" dirty="0"/>
              <a:t>AND</a:t>
            </a:r>
            <a:r>
              <a:rPr lang="en-US" sz="3200" baseline="-25000" dirty="0"/>
              <a:t>...</a:t>
            </a:r>
            <a:r>
              <a:rPr lang="en-US" sz="3200" b="1" baseline="-25000" dirty="0"/>
              <a:t>AND </a:t>
            </a:r>
            <a:r>
              <a:rPr lang="en-US" sz="3200" baseline="-25000" dirty="0"/>
              <a:t>&lt;</a:t>
            </a:r>
            <a:r>
              <a:rPr lang="en-US" sz="3200" baseline="-25000" dirty="0" err="1"/>
              <a:t>cond</a:t>
            </a:r>
            <a:r>
              <a:rPr lang="en-US" sz="3200" i="1" baseline="-25000" dirty="0" err="1"/>
              <a:t>n</a:t>
            </a:r>
            <a:r>
              <a:rPr lang="en-US" sz="3200" baseline="-25000" dirty="0"/>
              <a:t>&gt;</a:t>
            </a:r>
            <a:r>
              <a:rPr lang="en-US" dirty="0"/>
              <a:t>(</a:t>
            </a:r>
            <a:r>
              <a:rPr lang="en-US" i="1" dirty="0"/>
              <a:t>R</a:t>
            </a:r>
            <a:r>
              <a:rPr lang="en-US" dirty="0"/>
              <a:t>)</a:t>
            </a:r>
          </a:p>
        </p:txBody>
      </p:sp>
      <p:sp>
        <p:nvSpPr>
          <p:cNvPr id="4" name="Slide Number Placeholder 3">
            <a:extLst>
              <a:ext uri="{FF2B5EF4-FFF2-40B4-BE49-F238E27FC236}">
                <a16:creationId xmlns:a16="http://schemas.microsoft.com/office/drawing/2014/main" id="{8A1ED001-93F9-8344-7F6D-54DF567B95BD}"/>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2169532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F404F-0E79-D223-4609-0E50F9CD9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12718-BB60-12BD-C7C1-352F2776D89B}"/>
              </a:ext>
            </a:extLst>
          </p:cNvPr>
          <p:cNvSpPr>
            <a:spLocks noGrp="1"/>
          </p:cNvSpPr>
          <p:nvPr>
            <p:ph type="title"/>
          </p:nvPr>
        </p:nvSpPr>
        <p:spPr/>
        <p:txBody>
          <a:bodyPr/>
          <a:lstStyle/>
          <a:p>
            <a:r>
              <a:rPr lang="en-US" dirty="0"/>
              <a:t>SELECT Operation</a:t>
            </a:r>
          </a:p>
        </p:txBody>
      </p:sp>
      <p:sp>
        <p:nvSpPr>
          <p:cNvPr id="3" name="Content Placeholder 2">
            <a:extLst>
              <a:ext uri="{FF2B5EF4-FFF2-40B4-BE49-F238E27FC236}">
                <a16:creationId xmlns:a16="http://schemas.microsoft.com/office/drawing/2014/main" id="{93081F9F-0906-906E-3B37-218E6B98B2E6}"/>
              </a:ext>
            </a:extLst>
          </p:cNvPr>
          <p:cNvSpPr>
            <a:spLocks noGrp="1"/>
          </p:cNvSpPr>
          <p:nvPr>
            <p:ph idx="1"/>
          </p:nvPr>
        </p:nvSpPr>
        <p:spPr/>
        <p:txBody>
          <a:bodyPr>
            <a:noAutofit/>
          </a:bodyPr>
          <a:lstStyle/>
          <a:p>
            <a:r>
              <a:rPr lang="en-US" dirty="0"/>
              <a:t>in SQL, the SELECT condition is typically specified in </a:t>
            </a:r>
            <a:r>
              <a:rPr lang="en-US" i="1" dirty="0"/>
              <a:t>WHERE clause </a:t>
            </a:r>
          </a:p>
          <a:p>
            <a:r>
              <a:rPr lang="en-US" dirty="0"/>
              <a:t>for example, following operation:</a:t>
            </a:r>
          </a:p>
          <a:p>
            <a:r>
              <a:rPr lang="en-US" sz="4400" dirty="0" err="1"/>
              <a:t>σ</a:t>
            </a:r>
            <a:r>
              <a:rPr lang="en-US" sz="3200" baseline="-25000" dirty="0" err="1"/>
              <a:t>Dno</a:t>
            </a:r>
            <a:r>
              <a:rPr lang="en-US" sz="3200" baseline="-25000" dirty="0"/>
              <a:t>=4 </a:t>
            </a:r>
            <a:r>
              <a:rPr lang="en-US" sz="3200" b="1" baseline="-25000" dirty="0"/>
              <a:t>AND </a:t>
            </a:r>
            <a:r>
              <a:rPr lang="en-US" sz="3200" baseline="-25000" dirty="0"/>
              <a:t>Salary&gt;25000 </a:t>
            </a:r>
            <a:r>
              <a:rPr lang="en-US" dirty="0"/>
              <a:t>(EMPLOYEE)</a:t>
            </a:r>
          </a:p>
          <a:p>
            <a:endParaRPr lang="en-US" sz="1600" dirty="0"/>
          </a:p>
          <a:p>
            <a:r>
              <a:rPr lang="en-US" dirty="0"/>
              <a:t>would correspond to the following SQL query:</a:t>
            </a:r>
          </a:p>
          <a:p>
            <a:endParaRPr lang="en-US" sz="1600" b="1" dirty="0"/>
          </a:p>
          <a:p>
            <a:r>
              <a:rPr lang="en-US" b="1" dirty="0"/>
              <a:t>SELECT </a:t>
            </a:r>
            <a:r>
              <a:rPr lang="en-US" dirty="0"/>
              <a:t>*</a:t>
            </a:r>
          </a:p>
          <a:p>
            <a:r>
              <a:rPr lang="en-US" b="1" dirty="0"/>
              <a:t>FROM </a:t>
            </a:r>
            <a:r>
              <a:rPr lang="en-US" dirty="0"/>
              <a:t>EMPLOYEE</a:t>
            </a:r>
          </a:p>
          <a:p>
            <a:r>
              <a:rPr lang="en-US" b="1" dirty="0"/>
              <a:t>WHERE </a:t>
            </a:r>
            <a:r>
              <a:rPr lang="en-US" dirty="0" err="1"/>
              <a:t>Dno</a:t>
            </a:r>
            <a:r>
              <a:rPr lang="en-US" dirty="0"/>
              <a:t>=4 </a:t>
            </a:r>
            <a:r>
              <a:rPr lang="en-US" b="1" dirty="0"/>
              <a:t>AND </a:t>
            </a:r>
            <a:r>
              <a:rPr lang="en-US" dirty="0"/>
              <a:t>Salary&gt;25000;</a:t>
            </a:r>
          </a:p>
        </p:txBody>
      </p:sp>
      <p:sp>
        <p:nvSpPr>
          <p:cNvPr id="4" name="Slide Number Placeholder 3">
            <a:extLst>
              <a:ext uri="{FF2B5EF4-FFF2-40B4-BE49-F238E27FC236}">
                <a16:creationId xmlns:a16="http://schemas.microsoft.com/office/drawing/2014/main" id="{3E7FF516-DEE8-8D6D-E558-921075AFFD51}"/>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4027714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9C0F1-610F-D671-2BCC-D8FEB8364196}"/>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7F5DAFE4-DA70-0D74-3B1C-41B6F8901CA5}"/>
              </a:ext>
            </a:extLst>
          </p:cNvPr>
          <p:cNvSpPr>
            <a:spLocks noGrp="1"/>
          </p:cNvSpPr>
          <p:nvPr>
            <p:ph idx="1"/>
          </p:nvPr>
        </p:nvSpPr>
        <p:spPr/>
        <p:txBody>
          <a:bodyPr>
            <a:normAutofit/>
          </a:bodyPr>
          <a:lstStyle/>
          <a:p>
            <a:r>
              <a:rPr lang="en-US" dirty="0"/>
              <a:t>selects certain </a:t>
            </a:r>
            <a:r>
              <a:rPr lang="en-US" i="1" dirty="0"/>
              <a:t>columns/attributes </a:t>
            </a:r>
            <a:r>
              <a:rPr lang="en-US" dirty="0"/>
              <a:t>from table/relation and discards others</a:t>
            </a:r>
          </a:p>
          <a:p>
            <a:r>
              <a:rPr lang="en-US" dirty="0"/>
              <a:t>SELECT operation chooses some of the </a:t>
            </a:r>
            <a:r>
              <a:rPr lang="en-US" i="1" dirty="0"/>
              <a:t>rows/ tuples </a:t>
            </a:r>
            <a:r>
              <a:rPr lang="en-US" dirty="0"/>
              <a:t>from table/relation while discarding other </a:t>
            </a:r>
          </a:p>
          <a:p>
            <a:r>
              <a:rPr lang="en-US" dirty="0"/>
              <a:t>interested in only certain attributes of a relation, we use PROJECT operation to </a:t>
            </a:r>
            <a:r>
              <a:rPr lang="en-US" i="1" dirty="0"/>
              <a:t>project </a:t>
            </a:r>
            <a:r>
              <a:rPr lang="en-US" dirty="0"/>
              <a:t>relation over these attributes only</a:t>
            </a:r>
          </a:p>
          <a:p>
            <a:r>
              <a:rPr lang="en-US" i="1" dirty="0"/>
              <a:t>vertical partition </a:t>
            </a:r>
            <a:r>
              <a:rPr lang="en-US" dirty="0"/>
              <a:t>of relation into two relations: one has the needed columns (attributes) and contains result of operation, and the other contains discarded columns</a:t>
            </a:r>
          </a:p>
        </p:txBody>
      </p:sp>
      <p:sp>
        <p:nvSpPr>
          <p:cNvPr id="4" name="Slide Number Placeholder 3">
            <a:extLst>
              <a:ext uri="{FF2B5EF4-FFF2-40B4-BE49-F238E27FC236}">
                <a16:creationId xmlns:a16="http://schemas.microsoft.com/office/drawing/2014/main" id="{29F30977-A9E7-B9D3-8779-A8E15486DF6B}"/>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4002348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869D-98F6-A916-4214-2226FFB20B93}"/>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0ED47348-5A77-F22F-2D70-874BBADDC7F2}"/>
              </a:ext>
            </a:extLst>
          </p:cNvPr>
          <p:cNvSpPr>
            <a:spLocks noGrp="1"/>
          </p:cNvSpPr>
          <p:nvPr>
            <p:ph idx="1"/>
          </p:nvPr>
        </p:nvSpPr>
        <p:spPr/>
        <p:txBody>
          <a:bodyPr>
            <a:normAutofit/>
          </a:bodyPr>
          <a:lstStyle/>
          <a:p>
            <a:r>
              <a:rPr lang="en-US" dirty="0"/>
              <a:t>general form:</a:t>
            </a:r>
          </a:p>
          <a:p>
            <a:r>
              <a:rPr lang="el-GR" sz="4400" dirty="0"/>
              <a:t>π</a:t>
            </a:r>
            <a:r>
              <a:rPr lang="el-GR" sz="3200" baseline="-25000" dirty="0"/>
              <a:t>&lt;</a:t>
            </a:r>
            <a:r>
              <a:rPr lang="en-US" sz="3200" baseline="-25000" dirty="0"/>
              <a:t>attribute list&gt;</a:t>
            </a:r>
            <a:r>
              <a:rPr lang="en-US" dirty="0"/>
              <a:t>(</a:t>
            </a:r>
            <a:r>
              <a:rPr lang="en-US" i="1" dirty="0"/>
              <a:t>R</a:t>
            </a:r>
            <a:r>
              <a:rPr lang="en-US" dirty="0"/>
              <a:t>) </a:t>
            </a:r>
          </a:p>
          <a:p>
            <a:r>
              <a:rPr lang="en-US" dirty="0"/>
              <a:t>for example, to list each employee’s first and last name and salary</a:t>
            </a:r>
          </a:p>
          <a:p>
            <a:r>
              <a:rPr lang="el-GR" sz="4400" dirty="0"/>
              <a:t>π</a:t>
            </a:r>
            <a:r>
              <a:rPr lang="en-US" sz="3200" baseline="-25000" dirty="0" err="1"/>
              <a:t>Lname</a:t>
            </a:r>
            <a:r>
              <a:rPr lang="en-US" sz="3200" baseline="-25000" dirty="0"/>
              <a:t>, </a:t>
            </a:r>
            <a:r>
              <a:rPr lang="en-US" sz="3200" baseline="-25000" dirty="0" err="1"/>
              <a:t>Fname</a:t>
            </a:r>
            <a:r>
              <a:rPr lang="en-US" sz="3200" baseline="-25000" dirty="0"/>
              <a:t>, Salary</a:t>
            </a:r>
            <a:r>
              <a:rPr lang="en-US" dirty="0"/>
              <a:t>(EMPLOYEE)</a:t>
            </a:r>
          </a:p>
          <a:p>
            <a:endParaRPr lang="en-US" dirty="0"/>
          </a:p>
        </p:txBody>
      </p:sp>
      <p:sp>
        <p:nvSpPr>
          <p:cNvPr id="4" name="Slide Number Placeholder 3">
            <a:extLst>
              <a:ext uri="{FF2B5EF4-FFF2-40B4-BE49-F238E27FC236}">
                <a16:creationId xmlns:a16="http://schemas.microsoft.com/office/drawing/2014/main" id="{E34B9661-106F-0FB0-ABE7-46AF3E9B5DFF}"/>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3561856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C0F4-6413-2043-8627-91F3967BE5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589ACA-4557-6766-2909-715DE5D54722}"/>
              </a:ext>
            </a:extLst>
          </p:cNvPr>
          <p:cNvSpPr>
            <a:spLocks noGrp="1"/>
          </p:cNvSpPr>
          <p:nvPr>
            <p:ph idx="1"/>
          </p:nvPr>
        </p:nvSpPr>
        <p:spPr/>
        <p:txBody>
          <a:bodyPr/>
          <a:lstStyle/>
          <a:p>
            <a:r>
              <a:rPr lang="en-US" dirty="0"/>
              <a:t>the Greek letter pi is written as </a:t>
            </a:r>
            <a:r>
              <a:rPr lang="en-US" sz="4000" dirty="0"/>
              <a:t>Π</a:t>
            </a:r>
            <a:r>
              <a:rPr lang="en-US" dirty="0"/>
              <a:t> (uppercase) and </a:t>
            </a:r>
            <a:r>
              <a:rPr lang="en-US" sz="4000" dirty="0"/>
              <a:t>π</a:t>
            </a:r>
            <a:r>
              <a:rPr lang="en-US" dirty="0"/>
              <a:t> (lowercase)</a:t>
            </a:r>
          </a:p>
          <a:p>
            <a:endParaRPr lang="en-US" dirty="0"/>
          </a:p>
        </p:txBody>
      </p:sp>
      <p:sp>
        <p:nvSpPr>
          <p:cNvPr id="4" name="Slide Number Placeholder 3">
            <a:extLst>
              <a:ext uri="{FF2B5EF4-FFF2-40B4-BE49-F238E27FC236}">
                <a16:creationId xmlns:a16="http://schemas.microsoft.com/office/drawing/2014/main" id="{9403EB1E-1E2B-0BD3-7C51-198677744BA2}"/>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1877616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782A-FD34-CC60-5674-97A549181DB5}"/>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6B964F79-FABD-FFC2-1D02-E24F700440B8}"/>
              </a:ext>
            </a:extLst>
          </p:cNvPr>
          <p:cNvSpPr>
            <a:spLocks noGrp="1"/>
          </p:cNvSpPr>
          <p:nvPr>
            <p:ph idx="1"/>
          </p:nvPr>
        </p:nvSpPr>
        <p:spPr>
          <a:xfrm>
            <a:off x="838199" y="1825625"/>
            <a:ext cx="10783529" cy="4351338"/>
          </a:xfrm>
        </p:spPr>
        <p:txBody>
          <a:bodyPr>
            <a:noAutofit/>
          </a:bodyPr>
          <a:lstStyle/>
          <a:p>
            <a:r>
              <a:rPr lang="en-US" dirty="0"/>
              <a:t>symbol π (pi) used to represent PROJECT operation, and &lt;attribute list&gt; is desired list of attributes from attributes of relation </a:t>
            </a:r>
            <a:r>
              <a:rPr lang="en-US" i="1" dirty="0"/>
              <a:t>R</a:t>
            </a:r>
          </a:p>
          <a:p>
            <a:r>
              <a:rPr lang="en-US" i="1" dirty="0"/>
              <a:t>R </a:t>
            </a:r>
            <a:r>
              <a:rPr lang="en-US" dirty="0"/>
              <a:t>is a </a:t>
            </a:r>
            <a:r>
              <a:rPr lang="en-US" i="1" dirty="0"/>
              <a:t>relational algebra expression </a:t>
            </a:r>
            <a:r>
              <a:rPr lang="en-US" dirty="0"/>
              <a:t>whose result is a relation, which in simplest case is just name of database relation</a:t>
            </a:r>
          </a:p>
          <a:p>
            <a:r>
              <a:rPr lang="en-US" dirty="0"/>
              <a:t>result of PROJECT operation has only the attributes specified in &lt;attribute list&gt; in the same order as they appear in the list</a:t>
            </a:r>
          </a:p>
          <a:p>
            <a:r>
              <a:rPr lang="en-US" b="1" dirty="0"/>
              <a:t>degree </a:t>
            </a:r>
            <a:r>
              <a:rPr lang="en-US" dirty="0"/>
              <a:t>is equal to number of attributes in &lt;attribute list&gt;</a:t>
            </a:r>
          </a:p>
        </p:txBody>
      </p:sp>
      <p:sp>
        <p:nvSpPr>
          <p:cNvPr id="4" name="Slide Number Placeholder 3">
            <a:extLst>
              <a:ext uri="{FF2B5EF4-FFF2-40B4-BE49-F238E27FC236}">
                <a16:creationId xmlns:a16="http://schemas.microsoft.com/office/drawing/2014/main" id="{7AE285E1-660B-CEE2-5607-AA8ED0DA6612}"/>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1458703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7C5E-2B6E-1937-F817-41BA7D6E1F59}"/>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0AC3E9A6-7191-70AE-6913-570425DC05E3}"/>
              </a:ext>
            </a:extLst>
          </p:cNvPr>
          <p:cNvSpPr>
            <a:spLocks noGrp="1"/>
          </p:cNvSpPr>
          <p:nvPr>
            <p:ph idx="1"/>
          </p:nvPr>
        </p:nvSpPr>
        <p:spPr/>
        <p:txBody>
          <a:bodyPr/>
          <a:lstStyle/>
          <a:p>
            <a:r>
              <a:rPr lang="en-US" dirty="0"/>
              <a:t>if attribute list includes only non key attributes of </a:t>
            </a:r>
            <a:r>
              <a:rPr lang="en-US" i="1" dirty="0"/>
              <a:t>R</a:t>
            </a:r>
            <a:r>
              <a:rPr lang="en-US" dirty="0"/>
              <a:t>, duplicate tuples are likely to occur; PROJECT operation </a:t>
            </a:r>
            <a:r>
              <a:rPr lang="en-US" i="1" dirty="0"/>
              <a:t>removes any duplicate tuples</a:t>
            </a:r>
            <a:r>
              <a:rPr lang="en-US" dirty="0"/>
              <a:t>, so the result of PROJECT operation is a set of distinct tuples, and hence a valid relation; this is known as </a:t>
            </a:r>
            <a:r>
              <a:rPr lang="en-US" b="1" dirty="0"/>
              <a:t>duplicate elimination</a:t>
            </a:r>
          </a:p>
        </p:txBody>
      </p:sp>
      <p:sp>
        <p:nvSpPr>
          <p:cNvPr id="4" name="Slide Number Placeholder 3">
            <a:extLst>
              <a:ext uri="{FF2B5EF4-FFF2-40B4-BE49-F238E27FC236}">
                <a16:creationId xmlns:a16="http://schemas.microsoft.com/office/drawing/2014/main" id="{368DD4C8-9179-A325-C414-F9C7480F95E3}"/>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3000747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C0403-20CA-3FE4-96F5-BC01AB0C9FED}"/>
              </a:ext>
            </a:extLst>
          </p:cNvPr>
          <p:cNvSpPr>
            <a:spLocks noGrp="1"/>
          </p:cNvSpPr>
          <p:nvPr>
            <p:ph type="title"/>
          </p:nvPr>
        </p:nvSpPr>
        <p:spPr>
          <a:xfrm>
            <a:off x="838200" y="365125"/>
            <a:ext cx="10515600" cy="1460500"/>
          </a:xfrm>
        </p:spPr>
        <p:txBody>
          <a:bodyPr>
            <a:normAutofit fontScale="90000"/>
          </a:bodyPr>
          <a:lstStyle/>
          <a:p>
            <a:r>
              <a:rPr lang="en-US" sz="5400" dirty="0"/>
              <a:t>π</a:t>
            </a:r>
            <a:r>
              <a:rPr lang="en-US" baseline="-25000" dirty="0" err="1"/>
              <a:t>Lname</a:t>
            </a:r>
            <a:r>
              <a:rPr lang="en-US" baseline="-25000" dirty="0"/>
              <a:t>, </a:t>
            </a:r>
            <a:r>
              <a:rPr lang="en-US" baseline="-25000" dirty="0" err="1"/>
              <a:t>Fname</a:t>
            </a:r>
            <a:r>
              <a:rPr lang="en-US" baseline="-25000" dirty="0"/>
              <a:t>, Salary</a:t>
            </a:r>
            <a:r>
              <a:rPr lang="en-US" dirty="0"/>
              <a:t>(EMPLOYEE)</a:t>
            </a:r>
            <a:br>
              <a:rPr lang="en-US" dirty="0"/>
            </a:br>
            <a:r>
              <a:rPr lang="en-US" sz="5400" dirty="0"/>
              <a:t>π</a:t>
            </a:r>
            <a:r>
              <a:rPr lang="en-US" baseline="-25000" dirty="0"/>
              <a:t>Sex, Salary</a:t>
            </a:r>
            <a:r>
              <a:rPr lang="en-US" dirty="0"/>
              <a:t>(EMPLOYEE)</a:t>
            </a:r>
          </a:p>
        </p:txBody>
      </p:sp>
      <p:sp>
        <p:nvSpPr>
          <p:cNvPr id="6" name="Content Placeholder 5">
            <a:extLst>
              <a:ext uri="{FF2B5EF4-FFF2-40B4-BE49-F238E27FC236}">
                <a16:creationId xmlns:a16="http://schemas.microsoft.com/office/drawing/2014/main" id="{5CA5905E-9559-C1CA-98F4-D4B427D06B27}"/>
              </a:ext>
            </a:extLst>
          </p:cNvPr>
          <p:cNvSpPr>
            <a:spLocks noGrp="1"/>
          </p:cNvSpPr>
          <p:nvPr>
            <p:ph sz="half" idx="1"/>
          </p:nvPr>
        </p:nvSpPr>
        <p:spPr/>
        <p:txBody>
          <a:bodyPr/>
          <a:lstStyle/>
          <a:p>
            <a:endParaRPr lang="en-US" dirty="0"/>
          </a:p>
        </p:txBody>
      </p:sp>
      <p:pic>
        <p:nvPicPr>
          <p:cNvPr id="11" name="Content Placeholder 10">
            <a:extLst>
              <a:ext uri="{FF2B5EF4-FFF2-40B4-BE49-F238E27FC236}">
                <a16:creationId xmlns:a16="http://schemas.microsoft.com/office/drawing/2014/main" id="{F81AB871-1F83-6961-1839-33329B74D4B4}"/>
              </a:ext>
            </a:extLst>
          </p:cNvPr>
          <p:cNvPicPr>
            <a:picLocks noGrp="1" noChangeAspect="1"/>
          </p:cNvPicPr>
          <p:nvPr>
            <p:ph sz="half" idx="2"/>
          </p:nvPr>
        </p:nvPicPr>
        <p:blipFill>
          <a:blip r:embed="rId2"/>
          <a:stretch>
            <a:fillRect/>
          </a:stretch>
        </p:blipFill>
        <p:spPr>
          <a:xfrm>
            <a:off x="7040880" y="1825600"/>
            <a:ext cx="2331085" cy="3786401"/>
          </a:xfrm>
          <a:prstGeom prst="rect">
            <a:avLst/>
          </a:prstGeom>
        </p:spPr>
      </p:pic>
      <p:sp>
        <p:nvSpPr>
          <p:cNvPr id="4" name="Slide Number Placeholder 3">
            <a:extLst>
              <a:ext uri="{FF2B5EF4-FFF2-40B4-BE49-F238E27FC236}">
                <a16:creationId xmlns:a16="http://schemas.microsoft.com/office/drawing/2014/main" id="{4311390E-2FBB-8A45-1987-25A70031AF83}"/>
              </a:ext>
            </a:extLst>
          </p:cNvPr>
          <p:cNvSpPr>
            <a:spLocks noGrp="1"/>
          </p:cNvSpPr>
          <p:nvPr>
            <p:ph type="sldNum" sz="quarter" idx="12"/>
          </p:nvPr>
        </p:nvSpPr>
        <p:spPr/>
        <p:txBody>
          <a:bodyPr/>
          <a:lstStyle/>
          <a:p>
            <a:fld id="{6264BDCF-5269-49AC-A246-ED26C2B980E3}" type="slidenum">
              <a:rPr lang="en-US" smtClean="0"/>
              <a:t>28</a:t>
            </a:fld>
            <a:endParaRPr lang="en-US"/>
          </a:p>
        </p:txBody>
      </p:sp>
      <p:pic>
        <p:nvPicPr>
          <p:cNvPr id="9" name="Picture 8">
            <a:extLst>
              <a:ext uri="{FF2B5EF4-FFF2-40B4-BE49-F238E27FC236}">
                <a16:creationId xmlns:a16="http://schemas.microsoft.com/office/drawing/2014/main" id="{6E3BA4E5-F3AD-D5EF-694B-0AD686E27DEF}"/>
              </a:ext>
            </a:extLst>
          </p:cNvPr>
          <p:cNvPicPr>
            <a:picLocks noChangeAspect="1"/>
          </p:cNvPicPr>
          <p:nvPr/>
        </p:nvPicPr>
        <p:blipFill>
          <a:blip r:embed="rId3"/>
          <a:stretch>
            <a:fillRect/>
          </a:stretch>
        </p:blipFill>
        <p:spPr>
          <a:xfrm>
            <a:off x="1169150" y="1825605"/>
            <a:ext cx="4353073" cy="4327316"/>
          </a:xfrm>
          <a:prstGeom prst="rect">
            <a:avLst/>
          </a:prstGeom>
        </p:spPr>
      </p:pic>
    </p:spTree>
    <p:extLst>
      <p:ext uri="{BB962C8B-B14F-4D97-AF65-F5344CB8AC3E}">
        <p14:creationId xmlns:p14="http://schemas.microsoft.com/office/powerpoint/2010/main" val="1114712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9645-B3CE-A739-47C6-EEB3588F7261}"/>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915C83F8-DE79-D35E-2955-39637209CDF8}"/>
              </a:ext>
            </a:extLst>
          </p:cNvPr>
          <p:cNvSpPr>
            <a:spLocks noGrp="1"/>
          </p:cNvSpPr>
          <p:nvPr>
            <p:ph idx="1"/>
          </p:nvPr>
        </p:nvSpPr>
        <p:spPr/>
        <p:txBody>
          <a:bodyPr>
            <a:normAutofit/>
          </a:bodyPr>
          <a:lstStyle/>
          <a:p>
            <a:r>
              <a:rPr lang="en-US" dirty="0"/>
              <a:t>notice that tuple &lt;‘F’, 25000&gt; appears only once even though this combination of values appears twice in EMPLOYEE relation</a:t>
            </a:r>
          </a:p>
          <a:p>
            <a:r>
              <a:rPr lang="en-US" dirty="0"/>
              <a:t>duplicate elimination involves sorting or some other technique to detect duplicates and thus adds more processing</a:t>
            </a:r>
          </a:p>
          <a:p>
            <a:r>
              <a:rPr lang="en-US" dirty="0"/>
              <a:t>if duplicates are not eliminated, result would be </a:t>
            </a:r>
            <a:r>
              <a:rPr lang="en-US" i="1" dirty="0"/>
              <a:t>multiset</a:t>
            </a:r>
            <a:r>
              <a:rPr lang="en-US" dirty="0"/>
              <a:t> or </a:t>
            </a:r>
            <a:r>
              <a:rPr lang="en-US" i="1" dirty="0"/>
              <a:t>bag</a:t>
            </a:r>
            <a:r>
              <a:rPr lang="en-US" dirty="0"/>
              <a:t> of tuples rather than a set; not permitted in the formal relational model but is allowed in SQL</a:t>
            </a:r>
          </a:p>
        </p:txBody>
      </p:sp>
      <p:sp>
        <p:nvSpPr>
          <p:cNvPr id="4" name="Slide Number Placeholder 3">
            <a:extLst>
              <a:ext uri="{FF2B5EF4-FFF2-40B4-BE49-F238E27FC236}">
                <a16:creationId xmlns:a16="http://schemas.microsoft.com/office/drawing/2014/main" id="{38E7A7EB-8C76-3153-DD8A-3405FB9FCB82}"/>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427015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545B9-37E7-529C-6070-9F478817F5D0}"/>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962387C2-D51F-C11F-7C26-8EA761DD0AF7}"/>
              </a:ext>
            </a:extLst>
          </p:cNvPr>
          <p:cNvSpPr>
            <a:spLocks noGrp="1"/>
          </p:cNvSpPr>
          <p:nvPr>
            <p:ph idx="1"/>
          </p:nvPr>
        </p:nvSpPr>
        <p:spPr/>
        <p:txBody>
          <a:bodyPr>
            <a:noAutofit/>
          </a:bodyPr>
          <a:lstStyle/>
          <a:p>
            <a:r>
              <a:rPr lang="en-US" dirty="0"/>
              <a:t>number of tuples in relation resulting from PROJECT operation is always less than or equal to number of tuples in </a:t>
            </a:r>
            <a:r>
              <a:rPr lang="en-US" i="1" dirty="0"/>
              <a:t>R</a:t>
            </a:r>
          </a:p>
          <a:p>
            <a:r>
              <a:rPr lang="en-US" dirty="0"/>
              <a:t>if projection list is </a:t>
            </a:r>
            <a:r>
              <a:rPr lang="en-US" dirty="0" err="1"/>
              <a:t>superkey</a:t>
            </a:r>
            <a:r>
              <a:rPr lang="en-US" dirty="0"/>
              <a:t> of </a:t>
            </a:r>
            <a:r>
              <a:rPr lang="en-US" i="1" dirty="0"/>
              <a:t>R </a:t>
            </a:r>
            <a:r>
              <a:rPr lang="en-US" dirty="0"/>
              <a:t>resulting relation has same number of tuples as </a:t>
            </a:r>
            <a:r>
              <a:rPr lang="en-US" i="1" dirty="0"/>
              <a:t>R</a:t>
            </a:r>
          </a:p>
        </p:txBody>
      </p:sp>
      <p:sp>
        <p:nvSpPr>
          <p:cNvPr id="4" name="Slide Number Placeholder 3">
            <a:extLst>
              <a:ext uri="{FF2B5EF4-FFF2-40B4-BE49-F238E27FC236}">
                <a16:creationId xmlns:a16="http://schemas.microsoft.com/office/drawing/2014/main" id="{06BEE40D-62ED-910B-738E-438E9DB3CE83}"/>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3965305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6AA20-C088-17CA-E22B-BB010FD479F3}"/>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EF91B7D1-2396-15B6-D741-370D8949BAE1}"/>
              </a:ext>
            </a:extLst>
          </p:cNvPr>
          <p:cNvSpPr>
            <a:spLocks noGrp="1"/>
          </p:cNvSpPr>
          <p:nvPr>
            <p:ph idx="1"/>
          </p:nvPr>
        </p:nvSpPr>
        <p:spPr/>
        <p:txBody>
          <a:bodyPr>
            <a:noAutofit/>
          </a:bodyPr>
          <a:lstStyle/>
          <a:p>
            <a:r>
              <a:rPr lang="pt-BR" sz="4400" dirty="0"/>
              <a:t>π</a:t>
            </a:r>
            <a:r>
              <a:rPr lang="pt-BR" sz="3200" baseline="-25000" dirty="0"/>
              <a:t>&lt;list1&gt;</a:t>
            </a:r>
            <a:r>
              <a:rPr lang="pt-BR" dirty="0"/>
              <a:t>(</a:t>
            </a:r>
            <a:r>
              <a:rPr lang="pt-BR" sz="4400" dirty="0"/>
              <a:t>π</a:t>
            </a:r>
            <a:r>
              <a:rPr lang="pt-BR" sz="3200" baseline="-25000" dirty="0"/>
              <a:t>&lt;list2&gt;</a:t>
            </a:r>
            <a:r>
              <a:rPr lang="pt-BR" dirty="0"/>
              <a:t>(</a:t>
            </a:r>
            <a:r>
              <a:rPr lang="pt-BR" i="1" dirty="0"/>
              <a:t>R</a:t>
            </a:r>
            <a:r>
              <a:rPr lang="pt-BR" dirty="0"/>
              <a:t>)) = </a:t>
            </a:r>
            <a:r>
              <a:rPr lang="pt-BR" sz="4400" dirty="0"/>
              <a:t>π</a:t>
            </a:r>
            <a:r>
              <a:rPr lang="pt-BR" sz="3200" baseline="-25000" dirty="0"/>
              <a:t>&lt;list1&gt;</a:t>
            </a:r>
            <a:r>
              <a:rPr lang="pt-BR" dirty="0"/>
              <a:t>(</a:t>
            </a:r>
            <a:r>
              <a:rPr lang="pt-BR" i="1" dirty="0"/>
              <a:t>R</a:t>
            </a:r>
            <a:r>
              <a:rPr lang="pt-BR" dirty="0"/>
              <a:t>)</a:t>
            </a:r>
          </a:p>
          <a:p>
            <a:r>
              <a:rPr lang="en-US" dirty="0"/>
              <a:t>as long as &lt;list2&gt; contains attributes in &lt;list1&gt;; otherwise, left-hand side is an incorrect expression</a:t>
            </a:r>
          </a:p>
          <a:p>
            <a:r>
              <a:rPr lang="en-US" dirty="0"/>
              <a:t>commutativity </a:t>
            </a:r>
            <a:r>
              <a:rPr lang="en-US" i="1" dirty="0"/>
              <a:t>does not </a:t>
            </a:r>
            <a:r>
              <a:rPr lang="en-US" dirty="0"/>
              <a:t>hold on PROJECT</a:t>
            </a:r>
          </a:p>
          <a:p>
            <a:endParaRPr lang="en-US" dirty="0"/>
          </a:p>
        </p:txBody>
      </p:sp>
      <p:sp>
        <p:nvSpPr>
          <p:cNvPr id="4" name="Slide Number Placeholder 3">
            <a:extLst>
              <a:ext uri="{FF2B5EF4-FFF2-40B4-BE49-F238E27FC236}">
                <a16:creationId xmlns:a16="http://schemas.microsoft.com/office/drawing/2014/main" id="{711DF3CF-4C51-277C-8B22-7220E18A0F9C}"/>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2551775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64CEB-66EB-4A30-383F-594BF2703461}"/>
              </a:ext>
            </a:extLst>
          </p:cNvPr>
          <p:cNvSpPr>
            <a:spLocks noGrp="1"/>
          </p:cNvSpPr>
          <p:nvPr>
            <p:ph type="title"/>
          </p:nvPr>
        </p:nvSpPr>
        <p:spPr/>
        <p:txBody>
          <a:bodyPr/>
          <a:lstStyle/>
          <a:p>
            <a:r>
              <a:rPr lang="en-US" dirty="0"/>
              <a:t>PROJECT Operation</a:t>
            </a:r>
          </a:p>
        </p:txBody>
      </p:sp>
      <p:sp>
        <p:nvSpPr>
          <p:cNvPr id="3" name="Content Placeholder 2">
            <a:extLst>
              <a:ext uri="{FF2B5EF4-FFF2-40B4-BE49-F238E27FC236}">
                <a16:creationId xmlns:a16="http://schemas.microsoft.com/office/drawing/2014/main" id="{B222441F-D061-B5D1-D327-0A671C60DA40}"/>
              </a:ext>
            </a:extLst>
          </p:cNvPr>
          <p:cNvSpPr>
            <a:spLocks noGrp="1"/>
          </p:cNvSpPr>
          <p:nvPr>
            <p:ph idx="1"/>
          </p:nvPr>
        </p:nvSpPr>
        <p:spPr/>
        <p:txBody>
          <a:bodyPr/>
          <a:lstStyle/>
          <a:p>
            <a:r>
              <a:rPr lang="en-US" dirty="0"/>
              <a:t>In SQL, PROJECT attribute list is specified in </a:t>
            </a:r>
            <a:r>
              <a:rPr lang="en-US" i="1" dirty="0"/>
              <a:t>SELECT clause </a:t>
            </a:r>
            <a:r>
              <a:rPr lang="en-US" dirty="0"/>
              <a:t>of query</a:t>
            </a:r>
          </a:p>
          <a:p>
            <a:r>
              <a:rPr lang="en-US" dirty="0"/>
              <a:t>for example:</a:t>
            </a:r>
          </a:p>
          <a:p>
            <a:r>
              <a:rPr lang="el-GR" sz="4400" dirty="0"/>
              <a:t>π</a:t>
            </a:r>
            <a:r>
              <a:rPr lang="en-US" sz="3200" baseline="-25000" dirty="0"/>
              <a:t>Sex, Salary</a:t>
            </a:r>
            <a:r>
              <a:rPr lang="en-US" dirty="0"/>
              <a:t>(EMPLOYEE)</a:t>
            </a:r>
          </a:p>
          <a:p>
            <a:endParaRPr lang="en-US" sz="1600" dirty="0"/>
          </a:p>
          <a:p>
            <a:r>
              <a:rPr lang="en-US" dirty="0"/>
              <a:t>would correspond to the following SQL query:</a:t>
            </a:r>
          </a:p>
          <a:p>
            <a:endParaRPr lang="en-US" sz="1600" b="1" dirty="0"/>
          </a:p>
          <a:p>
            <a:r>
              <a:rPr lang="en-US" b="1" dirty="0"/>
              <a:t>SELECT DISTINCT </a:t>
            </a:r>
            <a:r>
              <a:rPr lang="en-US" dirty="0"/>
              <a:t>Sex, Salary</a:t>
            </a:r>
          </a:p>
          <a:p>
            <a:r>
              <a:rPr lang="en-US" b="1" dirty="0"/>
              <a:t>FROM </a:t>
            </a:r>
            <a:r>
              <a:rPr lang="en-US" dirty="0"/>
              <a:t>EMPLOYEE</a:t>
            </a:r>
          </a:p>
          <a:p>
            <a:endParaRPr lang="en-US" dirty="0"/>
          </a:p>
        </p:txBody>
      </p:sp>
      <p:sp>
        <p:nvSpPr>
          <p:cNvPr id="4" name="Slide Number Placeholder 3">
            <a:extLst>
              <a:ext uri="{FF2B5EF4-FFF2-40B4-BE49-F238E27FC236}">
                <a16:creationId xmlns:a16="http://schemas.microsoft.com/office/drawing/2014/main" id="{57C0E1EE-2A0F-D54E-4F1F-5A1303D45A63}"/>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13637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19B21-53CD-92E3-6405-F7C4A772E213}"/>
              </a:ext>
            </a:extLst>
          </p:cNvPr>
          <p:cNvSpPr>
            <a:spLocks noGrp="1"/>
          </p:cNvSpPr>
          <p:nvPr>
            <p:ph type="title"/>
          </p:nvPr>
        </p:nvSpPr>
        <p:spPr/>
        <p:txBody>
          <a:bodyPr/>
          <a:lstStyle/>
          <a:p>
            <a:r>
              <a:rPr lang="en-US" dirty="0"/>
              <a:t>Sequences of Operations</a:t>
            </a:r>
          </a:p>
        </p:txBody>
      </p:sp>
      <p:sp>
        <p:nvSpPr>
          <p:cNvPr id="3" name="Content Placeholder 2">
            <a:extLst>
              <a:ext uri="{FF2B5EF4-FFF2-40B4-BE49-F238E27FC236}">
                <a16:creationId xmlns:a16="http://schemas.microsoft.com/office/drawing/2014/main" id="{95DD85EE-0C9A-792E-349E-5384A2DC1FE2}"/>
              </a:ext>
            </a:extLst>
          </p:cNvPr>
          <p:cNvSpPr>
            <a:spLocks noGrp="1"/>
          </p:cNvSpPr>
          <p:nvPr>
            <p:ph idx="1"/>
          </p:nvPr>
        </p:nvSpPr>
        <p:spPr/>
        <p:txBody>
          <a:bodyPr>
            <a:normAutofit/>
          </a:bodyPr>
          <a:lstStyle/>
          <a:p>
            <a:r>
              <a:rPr lang="en-US" dirty="0"/>
              <a:t>most queries apply several relational algebra operations one after the other</a:t>
            </a:r>
          </a:p>
          <a:p>
            <a:r>
              <a:rPr lang="en-US" dirty="0"/>
              <a:t>can write operations as single relational algebra expression</a:t>
            </a:r>
            <a:r>
              <a:rPr lang="en-US" b="1" dirty="0"/>
              <a:t> </a:t>
            </a:r>
            <a:r>
              <a:rPr lang="en-US" dirty="0"/>
              <a:t>by nesting operations</a:t>
            </a:r>
          </a:p>
          <a:p>
            <a:r>
              <a:rPr lang="en-US" dirty="0"/>
              <a:t>or we can apply one operation at time and create intermediate result relations; in the latter case, we must give names to relations that hold  intermediate results</a:t>
            </a:r>
          </a:p>
        </p:txBody>
      </p:sp>
      <p:sp>
        <p:nvSpPr>
          <p:cNvPr id="4" name="Slide Number Placeholder 3">
            <a:extLst>
              <a:ext uri="{FF2B5EF4-FFF2-40B4-BE49-F238E27FC236}">
                <a16:creationId xmlns:a16="http://schemas.microsoft.com/office/drawing/2014/main" id="{FEF8AAE8-FDEA-6409-F47E-91A7F68D1415}"/>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2490407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51E4-3FD6-3A76-D211-573444FDF25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00B8B7B-C5AE-E89B-4C80-F45C76F718F9}"/>
              </a:ext>
            </a:extLst>
          </p:cNvPr>
          <p:cNvSpPr>
            <a:spLocks noGrp="1"/>
          </p:cNvSpPr>
          <p:nvPr>
            <p:ph idx="1"/>
          </p:nvPr>
        </p:nvSpPr>
        <p:spPr/>
        <p:txBody>
          <a:bodyPr/>
          <a:lstStyle/>
          <a:p>
            <a:r>
              <a:rPr lang="en-US" dirty="0"/>
              <a:t>for example, to retrieve first name, last name and salary of all employees who work in department number 5:</a:t>
            </a:r>
          </a:p>
          <a:p>
            <a:r>
              <a:rPr lang="en-US" sz="4400" dirty="0"/>
              <a:t>π</a:t>
            </a:r>
            <a:r>
              <a:rPr lang="en-US" sz="3200" baseline="-25000" dirty="0" err="1"/>
              <a:t>Fname</a:t>
            </a:r>
            <a:r>
              <a:rPr lang="en-US" sz="3200" baseline="-25000" dirty="0"/>
              <a:t>, </a:t>
            </a:r>
            <a:r>
              <a:rPr lang="en-US" sz="3200" baseline="-25000" dirty="0" err="1"/>
              <a:t>Lname</a:t>
            </a:r>
            <a:r>
              <a:rPr lang="en-US" sz="3200" baseline="-25000" dirty="0"/>
              <a:t>, Salary</a:t>
            </a:r>
            <a:r>
              <a:rPr lang="en-US" dirty="0"/>
              <a:t>(</a:t>
            </a:r>
            <a:r>
              <a:rPr lang="en-US" sz="4400" dirty="0" err="1"/>
              <a:t>σ</a:t>
            </a:r>
            <a:r>
              <a:rPr lang="en-US" sz="3200" baseline="-25000" dirty="0" err="1"/>
              <a:t>Dno</a:t>
            </a:r>
            <a:r>
              <a:rPr lang="en-US" sz="3200" baseline="-25000" dirty="0"/>
              <a:t>=5</a:t>
            </a:r>
            <a:r>
              <a:rPr lang="en-US" dirty="0"/>
              <a:t>(EMPLOYEE))</a:t>
            </a:r>
          </a:p>
          <a:p>
            <a:endParaRPr lang="en-US" dirty="0"/>
          </a:p>
          <a:p>
            <a:r>
              <a:rPr lang="en-US" dirty="0"/>
              <a:t>DEP5_EMPS ← </a:t>
            </a:r>
            <a:r>
              <a:rPr lang="en-US" sz="4400" dirty="0" err="1"/>
              <a:t>σ</a:t>
            </a:r>
            <a:r>
              <a:rPr lang="en-US" sz="3200" baseline="-25000" dirty="0" err="1"/>
              <a:t>Dno</a:t>
            </a:r>
            <a:r>
              <a:rPr lang="en-US" sz="3200" baseline="-25000" dirty="0"/>
              <a:t>=5</a:t>
            </a:r>
            <a:r>
              <a:rPr lang="en-US" dirty="0"/>
              <a:t>(EMPLOYEE)</a:t>
            </a:r>
          </a:p>
          <a:p>
            <a:r>
              <a:rPr lang="en-US" dirty="0"/>
              <a:t>RESULT ← </a:t>
            </a:r>
            <a:r>
              <a:rPr lang="en-US" sz="4000" dirty="0"/>
              <a:t>π</a:t>
            </a:r>
            <a:r>
              <a:rPr lang="en-US" baseline="-25000" dirty="0" err="1"/>
              <a:t>Fname</a:t>
            </a:r>
            <a:r>
              <a:rPr lang="en-US" baseline="-25000" dirty="0"/>
              <a:t>, </a:t>
            </a:r>
            <a:r>
              <a:rPr lang="en-US" baseline="-25000" dirty="0" err="1"/>
              <a:t>Lname</a:t>
            </a:r>
            <a:r>
              <a:rPr lang="en-US" baseline="-25000" dirty="0"/>
              <a:t>, Salary</a:t>
            </a:r>
            <a:r>
              <a:rPr lang="en-US" dirty="0"/>
              <a:t>(DEP5_EMPS)</a:t>
            </a:r>
          </a:p>
        </p:txBody>
      </p:sp>
      <p:sp>
        <p:nvSpPr>
          <p:cNvPr id="4" name="Slide Number Placeholder 3">
            <a:extLst>
              <a:ext uri="{FF2B5EF4-FFF2-40B4-BE49-F238E27FC236}">
                <a16:creationId xmlns:a16="http://schemas.microsoft.com/office/drawing/2014/main" id="{88B50A7A-A179-A09D-C1E1-D8FBD84C04BF}"/>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2778670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88E3A-59B2-EB30-F9D6-6F18AA57E68F}"/>
              </a:ext>
            </a:extLst>
          </p:cNvPr>
          <p:cNvSpPr>
            <a:spLocks noGrp="1"/>
          </p:cNvSpPr>
          <p:nvPr>
            <p:ph type="title"/>
          </p:nvPr>
        </p:nvSpPr>
        <p:spPr/>
        <p:txBody>
          <a:bodyPr/>
          <a:lstStyle/>
          <a:p>
            <a:r>
              <a:rPr lang="en-US" dirty="0"/>
              <a:t>Rename operation</a:t>
            </a:r>
          </a:p>
        </p:txBody>
      </p:sp>
      <p:sp>
        <p:nvSpPr>
          <p:cNvPr id="3" name="Content Placeholder 2">
            <a:extLst>
              <a:ext uri="{FF2B5EF4-FFF2-40B4-BE49-F238E27FC236}">
                <a16:creationId xmlns:a16="http://schemas.microsoft.com/office/drawing/2014/main" id="{29D44EC5-1178-4282-1205-12CD095B519E}"/>
              </a:ext>
            </a:extLst>
          </p:cNvPr>
          <p:cNvSpPr>
            <a:spLocks noGrp="1"/>
          </p:cNvSpPr>
          <p:nvPr>
            <p:ph idx="1"/>
          </p:nvPr>
        </p:nvSpPr>
        <p:spPr/>
        <p:txBody>
          <a:bodyPr>
            <a:normAutofit/>
          </a:bodyPr>
          <a:lstStyle/>
          <a:p>
            <a:r>
              <a:rPr lang="en-US" dirty="0"/>
              <a:t>using the assignment operation,</a:t>
            </a:r>
            <a:r>
              <a:rPr lang="en-US" b="1" dirty="0"/>
              <a:t> </a:t>
            </a:r>
            <a:r>
              <a:rPr lang="en-US" dirty="0"/>
              <a:t>denoted by ← (left arrow)</a:t>
            </a:r>
          </a:p>
          <a:p>
            <a:r>
              <a:rPr lang="en-US" dirty="0"/>
              <a:t>sometimes simpler to break down a complex sequence of operations by specifying intermediate result relations than to write a single relational algebra expression</a:t>
            </a:r>
          </a:p>
          <a:p>
            <a:r>
              <a:rPr lang="en-US" dirty="0"/>
              <a:t>can also use this technique to rename</a:t>
            </a:r>
            <a:r>
              <a:rPr lang="en-US" b="1" dirty="0"/>
              <a:t> </a:t>
            </a:r>
            <a:r>
              <a:rPr lang="en-US" dirty="0"/>
              <a:t>attributes in intermediate and result relations: list new attribute names in parentheses:</a:t>
            </a:r>
          </a:p>
          <a:p>
            <a:r>
              <a:rPr lang="en-US" i="1" dirty="0"/>
              <a:t>R</a:t>
            </a:r>
            <a:r>
              <a:rPr lang="en-US" dirty="0"/>
              <a:t>(</a:t>
            </a:r>
            <a:r>
              <a:rPr lang="en-US" dirty="0" err="1"/>
              <a:t>First_name</a:t>
            </a:r>
            <a:r>
              <a:rPr lang="en-US" dirty="0"/>
              <a:t>, </a:t>
            </a:r>
            <a:r>
              <a:rPr lang="en-US" dirty="0" err="1"/>
              <a:t>Last_name</a:t>
            </a:r>
            <a:r>
              <a:rPr lang="en-US" dirty="0"/>
              <a:t>, Salary) ← </a:t>
            </a:r>
            <a:r>
              <a:rPr lang="en-US" sz="4000" dirty="0"/>
              <a:t>π</a:t>
            </a:r>
            <a:r>
              <a:rPr lang="en-US" baseline="-25000" dirty="0" err="1"/>
              <a:t>Fname</a:t>
            </a:r>
            <a:r>
              <a:rPr lang="en-US" baseline="-25000" dirty="0"/>
              <a:t>, </a:t>
            </a:r>
            <a:r>
              <a:rPr lang="en-US" baseline="-25000" dirty="0" err="1"/>
              <a:t>Lname</a:t>
            </a:r>
            <a:r>
              <a:rPr lang="en-US" baseline="-25000" dirty="0"/>
              <a:t>, Salary</a:t>
            </a:r>
            <a:r>
              <a:rPr lang="en-US" dirty="0"/>
              <a:t>(DEP5_EMPS)</a:t>
            </a:r>
          </a:p>
        </p:txBody>
      </p:sp>
      <p:sp>
        <p:nvSpPr>
          <p:cNvPr id="4" name="Slide Number Placeholder 3">
            <a:extLst>
              <a:ext uri="{FF2B5EF4-FFF2-40B4-BE49-F238E27FC236}">
                <a16:creationId xmlns:a16="http://schemas.microsoft.com/office/drawing/2014/main" id="{08321B3E-3FD5-E7C3-9186-1232A274EC81}"/>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4138942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33579-FC2B-3090-5ADA-124849BB6477}"/>
              </a:ext>
            </a:extLst>
          </p:cNvPr>
          <p:cNvSpPr>
            <a:spLocks noGrp="1"/>
          </p:cNvSpPr>
          <p:nvPr>
            <p:ph type="title"/>
          </p:nvPr>
        </p:nvSpPr>
        <p:spPr/>
        <p:txBody>
          <a:bodyPr/>
          <a:lstStyle/>
          <a:p>
            <a:r>
              <a:rPr lang="en-US" dirty="0"/>
              <a:t>RENAME operation</a:t>
            </a:r>
          </a:p>
        </p:txBody>
      </p:sp>
      <p:sp>
        <p:nvSpPr>
          <p:cNvPr id="3" name="Content Placeholder 2">
            <a:extLst>
              <a:ext uri="{FF2B5EF4-FFF2-40B4-BE49-F238E27FC236}">
                <a16:creationId xmlns:a16="http://schemas.microsoft.com/office/drawing/2014/main" id="{2E792809-C2F3-6949-F066-F4EDE3736DDF}"/>
              </a:ext>
            </a:extLst>
          </p:cNvPr>
          <p:cNvSpPr>
            <a:spLocks noGrp="1"/>
          </p:cNvSpPr>
          <p:nvPr>
            <p:ph idx="1"/>
          </p:nvPr>
        </p:nvSpPr>
        <p:spPr>
          <a:xfrm>
            <a:off x="838199" y="1825625"/>
            <a:ext cx="10999839" cy="4351338"/>
          </a:xfrm>
        </p:spPr>
        <p:txBody>
          <a:bodyPr>
            <a:normAutofit lnSpcReduction="10000"/>
          </a:bodyPr>
          <a:lstStyle/>
          <a:p>
            <a:r>
              <a:rPr lang="en-US" dirty="0"/>
              <a:t>if no renaming is applied, names of attributes in resulting relation </a:t>
            </a:r>
          </a:p>
          <a:p>
            <a:r>
              <a:rPr lang="en-US" dirty="0"/>
              <a:t>SELECT operation are the same as those in original relation and in same order</a:t>
            </a:r>
          </a:p>
          <a:p>
            <a:r>
              <a:rPr lang="en-US" dirty="0"/>
              <a:t>PROJECT operation has the same attribute names as those in projection list and in same order in which they appear in list</a:t>
            </a:r>
          </a:p>
          <a:p>
            <a:r>
              <a:rPr lang="en-US" dirty="0"/>
              <a:t>can also define formal </a:t>
            </a:r>
            <a:r>
              <a:rPr lang="en-US" b="1" dirty="0"/>
              <a:t>RENAME </a:t>
            </a:r>
            <a:r>
              <a:rPr lang="en-US" dirty="0"/>
              <a:t>operation, which rename either relation name or attribute names, or both, as unary operator</a:t>
            </a:r>
          </a:p>
          <a:p>
            <a:r>
              <a:rPr lang="en-US" dirty="0"/>
              <a:t>RENAME operation when applied to relation </a:t>
            </a:r>
            <a:r>
              <a:rPr lang="en-US" i="1" dirty="0"/>
              <a:t>R </a:t>
            </a:r>
            <a:r>
              <a:rPr lang="en-US" dirty="0"/>
              <a:t>of degree </a:t>
            </a:r>
            <a:r>
              <a:rPr lang="en-US" i="1" dirty="0"/>
              <a:t>n </a:t>
            </a:r>
            <a:r>
              <a:rPr lang="en-US" dirty="0"/>
              <a:t>is denoted by:</a:t>
            </a:r>
          </a:p>
          <a:p>
            <a:r>
              <a:rPr lang="el-GR" sz="4400" dirty="0"/>
              <a:t>ρ</a:t>
            </a:r>
            <a:r>
              <a:rPr lang="en-US" sz="3200" i="1" baseline="-25000" dirty="0"/>
              <a:t>S</a:t>
            </a:r>
            <a:r>
              <a:rPr lang="en-US" sz="3200" baseline="-25000" dirty="0"/>
              <a:t>(</a:t>
            </a:r>
            <a:r>
              <a:rPr lang="en-US" sz="3200" i="1" baseline="-25000" dirty="0"/>
              <a:t>B</a:t>
            </a:r>
            <a:r>
              <a:rPr lang="en-US" sz="3200" baseline="-25000" dirty="0"/>
              <a:t>1, </a:t>
            </a:r>
            <a:r>
              <a:rPr lang="en-US" sz="3200" i="1" baseline="-25000" dirty="0"/>
              <a:t>B</a:t>
            </a:r>
            <a:r>
              <a:rPr lang="en-US" sz="3200" baseline="-25000" dirty="0"/>
              <a:t>2, ... , </a:t>
            </a:r>
            <a:r>
              <a:rPr lang="en-US" sz="3200" i="1" baseline="-25000" dirty="0"/>
              <a:t>Bn</a:t>
            </a:r>
            <a:r>
              <a:rPr lang="en-US" sz="3200" baseline="-25000" dirty="0"/>
              <a:t>)</a:t>
            </a:r>
            <a:r>
              <a:rPr lang="en-US" dirty="0"/>
              <a:t>(</a:t>
            </a:r>
            <a:r>
              <a:rPr lang="en-US" i="1" dirty="0"/>
              <a:t>R</a:t>
            </a:r>
            <a:r>
              <a:rPr lang="en-US" dirty="0"/>
              <a:t>) or </a:t>
            </a:r>
            <a:r>
              <a:rPr lang="el-GR" sz="4400" dirty="0"/>
              <a:t>ρ</a:t>
            </a:r>
            <a:r>
              <a:rPr lang="en-US" sz="3200" i="1" baseline="-25000" dirty="0"/>
              <a:t>S</a:t>
            </a:r>
            <a:r>
              <a:rPr lang="en-US" dirty="0"/>
              <a:t>(</a:t>
            </a:r>
            <a:r>
              <a:rPr lang="en-US" i="1" dirty="0"/>
              <a:t>R</a:t>
            </a:r>
            <a:r>
              <a:rPr lang="en-US" dirty="0"/>
              <a:t>) or </a:t>
            </a:r>
            <a:r>
              <a:rPr lang="el-GR" sz="4400" dirty="0"/>
              <a:t>ρ</a:t>
            </a:r>
            <a:r>
              <a:rPr lang="el-GR" sz="3200" baseline="-25000" dirty="0"/>
              <a:t>(</a:t>
            </a:r>
            <a:r>
              <a:rPr lang="en-US" sz="3200" i="1" baseline="-25000" dirty="0"/>
              <a:t>B</a:t>
            </a:r>
            <a:r>
              <a:rPr lang="en-US" sz="3200" baseline="-25000" dirty="0"/>
              <a:t>1, </a:t>
            </a:r>
            <a:r>
              <a:rPr lang="en-US" sz="3200" i="1" baseline="-25000" dirty="0"/>
              <a:t>B</a:t>
            </a:r>
            <a:r>
              <a:rPr lang="en-US" sz="3200" baseline="-25000" dirty="0"/>
              <a:t>2, ... , </a:t>
            </a:r>
            <a:r>
              <a:rPr lang="en-US" sz="3200" i="1" baseline="-25000" dirty="0"/>
              <a:t>Bn</a:t>
            </a:r>
            <a:r>
              <a:rPr lang="en-US" sz="3200" baseline="-25000" dirty="0"/>
              <a:t>)</a:t>
            </a:r>
            <a:r>
              <a:rPr lang="en-US" dirty="0"/>
              <a:t>(</a:t>
            </a:r>
            <a:r>
              <a:rPr lang="en-US" i="1" dirty="0"/>
              <a:t>R</a:t>
            </a:r>
            <a:r>
              <a:rPr lang="en-US" dirty="0"/>
              <a:t>)</a:t>
            </a:r>
          </a:p>
        </p:txBody>
      </p:sp>
      <p:sp>
        <p:nvSpPr>
          <p:cNvPr id="4" name="Slide Number Placeholder 3">
            <a:extLst>
              <a:ext uri="{FF2B5EF4-FFF2-40B4-BE49-F238E27FC236}">
                <a16:creationId xmlns:a16="http://schemas.microsoft.com/office/drawing/2014/main" id="{0B6F90B3-4BA8-48F4-2469-D2AF76D120A3}"/>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75877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4C63-B4F9-FF5A-0BFB-9F2BF00BB5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C7B05-F3A7-3E8B-CC5B-8AC0DAFDC396}"/>
              </a:ext>
            </a:extLst>
          </p:cNvPr>
          <p:cNvSpPr>
            <a:spLocks noGrp="1"/>
          </p:cNvSpPr>
          <p:nvPr>
            <p:ph idx="1"/>
          </p:nvPr>
        </p:nvSpPr>
        <p:spPr/>
        <p:txBody>
          <a:bodyPr/>
          <a:lstStyle/>
          <a:p>
            <a:r>
              <a:rPr lang="en-US" dirty="0"/>
              <a:t>the Greek letter rho is written as </a:t>
            </a:r>
            <a:r>
              <a:rPr lang="en-US" sz="4000" dirty="0"/>
              <a:t> Ρ</a:t>
            </a:r>
            <a:r>
              <a:rPr lang="en-US" dirty="0"/>
              <a:t> (uppercase) and </a:t>
            </a:r>
            <a:r>
              <a:rPr lang="en-US" sz="4000" dirty="0"/>
              <a:t>ρ</a:t>
            </a:r>
            <a:r>
              <a:rPr lang="en-US" dirty="0"/>
              <a:t> (lowercase)</a:t>
            </a:r>
          </a:p>
          <a:p>
            <a:endParaRPr lang="en-US" dirty="0"/>
          </a:p>
        </p:txBody>
      </p:sp>
      <p:sp>
        <p:nvSpPr>
          <p:cNvPr id="4" name="Slide Number Placeholder 3">
            <a:extLst>
              <a:ext uri="{FF2B5EF4-FFF2-40B4-BE49-F238E27FC236}">
                <a16:creationId xmlns:a16="http://schemas.microsoft.com/office/drawing/2014/main" id="{97430E6C-A775-8562-65A7-80A08F88F1FA}"/>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2147544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FD25-C54F-4D49-2190-F4C6EBDD4746}"/>
              </a:ext>
            </a:extLst>
          </p:cNvPr>
          <p:cNvSpPr>
            <a:spLocks noGrp="1"/>
          </p:cNvSpPr>
          <p:nvPr>
            <p:ph type="title"/>
          </p:nvPr>
        </p:nvSpPr>
        <p:spPr/>
        <p:txBody>
          <a:bodyPr/>
          <a:lstStyle/>
          <a:p>
            <a:r>
              <a:rPr lang="en-US" dirty="0"/>
              <a:t>RENAME operation</a:t>
            </a:r>
          </a:p>
        </p:txBody>
      </p:sp>
      <p:sp>
        <p:nvSpPr>
          <p:cNvPr id="3" name="Content Placeholder 2">
            <a:extLst>
              <a:ext uri="{FF2B5EF4-FFF2-40B4-BE49-F238E27FC236}">
                <a16:creationId xmlns:a16="http://schemas.microsoft.com/office/drawing/2014/main" id="{647A0A6F-A0B0-5040-5571-853234744D3D}"/>
              </a:ext>
            </a:extLst>
          </p:cNvPr>
          <p:cNvSpPr>
            <a:spLocks noGrp="1"/>
          </p:cNvSpPr>
          <p:nvPr>
            <p:ph idx="1"/>
          </p:nvPr>
        </p:nvSpPr>
        <p:spPr/>
        <p:txBody>
          <a:bodyPr/>
          <a:lstStyle/>
          <a:p>
            <a:r>
              <a:rPr lang="en-US" dirty="0"/>
              <a:t>symbol </a:t>
            </a:r>
            <a:r>
              <a:rPr lang="en-US" sz="3200" dirty="0"/>
              <a:t>ρ</a:t>
            </a:r>
            <a:r>
              <a:rPr lang="en-US" dirty="0"/>
              <a:t> (rho) is used to denote the RENAME operator, </a:t>
            </a:r>
            <a:r>
              <a:rPr lang="en-US" i="1" dirty="0"/>
              <a:t>S </a:t>
            </a:r>
            <a:r>
              <a:rPr lang="en-US" dirty="0"/>
              <a:t>is the new relation name, and </a:t>
            </a:r>
            <a:r>
              <a:rPr lang="en-US" i="1" dirty="0"/>
              <a:t>B</a:t>
            </a:r>
            <a:r>
              <a:rPr lang="en-US" dirty="0"/>
              <a:t>1, </a:t>
            </a:r>
            <a:r>
              <a:rPr lang="en-US" i="1" dirty="0"/>
              <a:t>B</a:t>
            </a:r>
            <a:r>
              <a:rPr lang="en-US" dirty="0"/>
              <a:t>2, … , </a:t>
            </a:r>
            <a:r>
              <a:rPr lang="en-US" i="1" dirty="0"/>
              <a:t>Bn </a:t>
            </a:r>
            <a:r>
              <a:rPr lang="en-US" dirty="0"/>
              <a:t>are the new attribute names</a:t>
            </a:r>
          </a:p>
          <a:p>
            <a:pPr marL="514350" indent="-514350">
              <a:buFont typeface="+mj-lt"/>
              <a:buAutoNum type="arabicPeriod"/>
            </a:pPr>
            <a:r>
              <a:rPr lang="en-US" dirty="0"/>
              <a:t>first expression renames both relation and its attributes</a:t>
            </a:r>
          </a:p>
          <a:p>
            <a:pPr marL="514350" indent="-514350">
              <a:buFont typeface="+mj-lt"/>
              <a:buAutoNum type="arabicPeriod"/>
            </a:pPr>
            <a:r>
              <a:rPr lang="en-US" dirty="0"/>
              <a:t>second renames relation only</a:t>
            </a:r>
          </a:p>
          <a:p>
            <a:pPr marL="514350" indent="-514350">
              <a:buFont typeface="+mj-lt"/>
              <a:buAutoNum type="arabicPeriod"/>
            </a:pPr>
            <a:r>
              <a:rPr lang="en-US" dirty="0"/>
              <a:t>third renames attributes only: if the attributes of </a:t>
            </a:r>
            <a:r>
              <a:rPr lang="en-US" i="1" dirty="0"/>
              <a:t>R </a:t>
            </a:r>
            <a:r>
              <a:rPr lang="en-US" dirty="0"/>
              <a:t>are (</a:t>
            </a:r>
            <a:r>
              <a:rPr lang="en-US" i="1" dirty="0"/>
              <a:t>A</a:t>
            </a:r>
            <a:r>
              <a:rPr lang="en-US" dirty="0"/>
              <a:t>1, </a:t>
            </a:r>
            <a:r>
              <a:rPr lang="en-US" i="1" dirty="0"/>
              <a:t>A</a:t>
            </a:r>
            <a:r>
              <a:rPr lang="en-US" dirty="0"/>
              <a:t>2, … , </a:t>
            </a:r>
            <a:r>
              <a:rPr lang="en-US" i="1" dirty="0"/>
              <a:t>An</a:t>
            </a:r>
            <a:r>
              <a:rPr lang="en-US" dirty="0"/>
              <a:t>) in that order, then each </a:t>
            </a:r>
            <a:r>
              <a:rPr lang="en-US" i="1" dirty="0"/>
              <a:t>Ai </a:t>
            </a:r>
            <a:r>
              <a:rPr lang="en-US" dirty="0"/>
              <a:t>is renamed as </a:t>
            </a:r>
            <a:r>
              <a:rPr lang="en-US" i="1" dirty="0"/>
              <a:t>Bi</a:t>
            </a:r>
          </a:p>
          <a:p>
            <a:endParaRPr lang="en-US" dirty="0"/>
          </a:p>
        </p:txBody>
      </p:sp>
      <p:sp>
        <p:nvSpPr>
          <p:cNvPr id="4" name="Slide Number Placeholder 3">
            <a:extLst>
              <a:ext uri="{FF2B5EF4-FFF2-40B4-BE49-F238E27FC236}">
                <a16:creationId xmlns:a16="http://schemas.microsoft.com/office/drawing/2014/main" id="{F54A6230-91F9-2304-F10B-291D1503C73D}"/>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4051441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54ABC-E174-1C74-B411-8668716B2625}"/>
              </a:ext>
            </a:extLst>
          </p:cNvPr>
          <p:cNvSpPr>
            <a:spLocks noGrp="1"/>
          </p:cNvSpPr>
          <p:nvPr>
            <p:ph type="title"/>
          </p:nvPr>
        </p:nvSpPr>
        <p:spPr>
          <a:xfrm>
            <a:off x="838199" y="365125"/>
            <a:ext cx="10783529" cy="1325563"/>
          </a:xfrm>
        </p:spPr>
        <p:txBody>
          <a:bodyPr/>
          <a:lstStyle/>
          <a:p>
            <a:r>
              <a:rPr lang="en-US" dirty="0"/>
              <a:t>UNION, INTERSECTION, and MINUS Operations</a:t>
            </a:r>
          </a:p>
        </p:txBody>
      </p:sp>
      <p:sp>
        <p:nvSpPr>
          <p:cNvPr id="3" name="Content Placeholder 2">
            <a:extLst>
              <a:ext uri="{FF2B5EF4-FFF2-40B4-BE49-F238E27FC236}">
                <a16:creationId xmlns:a16="http://schemas.microsoft.com/office/drawing/2014/main" id="{F5A8815C-E95F-DB6D-BFCF-5A0EB2D2985A}"/>
              </a:ext>
            </a:extLst>
          </p:cNvPr>
          <p:cNvSpPr>
            <a:spLocks noGrp="1"/>
          </p:cNvSpPr>
          <p:nvPr>
            <p:ph idx="1"/>
          </p:nvPr>
        </p:nvSpPr>
        <p:spPr/>
        <p:txBody>
          <a:bodyPr>
            <a:noAutofit/>
          </a:bodyPr>
          <a:lstStyle/>
          <a:p>
            <a:r>
              <a:rPr lang="en-US" dirty="0"/>
              <a:t>standard mathematical operations on sets UNION, INTERSECTION, and SET DIFFERENCE (also called MINUS or EXCEPT)</a:t>
            </a:r>
          </a:p>
          <a:p>
            <a:pPr algn="l"/>
            <a:r>
              <a:rPr lang="en-US" i="0" u="none" strike="noStrike" baseline="0" dirty="0">
                <a:latin typeface="MinionPro-Regular"/>
              </a:rPr>
              <a:t>these are </a:t>
            </a:r>
            <a:r>
              <a:rPr lang="en-US" i="0" u="none" strike="noStrike" baseline="0" dirty="0">
                <a:latin typeface="MinionPro-Bold"/>
              </a:rPr>
              <a:t>binary </a:t>
            </a:r>
            <a:r>
              <a:rPr lang="en-US" i="0" u="none" strike="noStrike" baseline="0" dirty="0">
                <a:latin typeface="MinionPro-Regular"/>
              </a:rPr>
              <a:t>operations: that is, each is applied to two sets (of tuples)</a:t>
            </a:r>
          </a:p>
        </p:txBody>
      </p:sp>
      <p:sp>
        <p:nvSpPr>
          <p:cNvPr id="4" name="Slide Number Placeholder 3">
            <a:extLst>
              <a:ext uri="{FF2B5EF4-FFF2-40B4-BE49-F238E27FC236}">
                <a16:creationId xmlns:a16="http://schemas.microsoft.com/office/drawing/2014/main" id="{0E1B2F6A-E408-D984-0B11-F5228B518302}"/>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1629197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C768D-4961-8CC2-8D00-CE8776DECF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41CD02-C653-32D2-A87F-37AE47660AFE}"/>
              </a:ext>
            </a:extLst>
          </p:cNvPr>
          <p:cNvSpPr>
            <a:spLocks noGrp="1"/>
          </p:cNvSpPr>
          <p:nvPr>
            <p:ph idx="1"/>
          </p:nvPr>
        </p:nvSpPr>
        <p:spPr/>
        <p:txBody>
          <a:bodyPr/>
          <a:lstStyle/>
          <a:p>
            <a:r>
              <a:rPr lang="en-US" dirty="0">
                <a:latin typeface="MinionPro-Regular"/>
              </a:rPr>
              <a:t>two relations on which any of these three operations are applied must have same </a:t>
            </a:r>
            <a:r>
              <a:rPr lang="en-US" dirty="0">
                <a:latin typeface="MinionPro-Bold"/>
              </a:rPr>
              <a:t>type of tuples</a:t>
            </a:r>
            <a:r>
              <a:rPr lang="en-US" dirty="0">
                <a:latin typeface="MinionPro-Regular"/>
              </a:rPr>
              <a:t>; condition has been called </a:t>
            </a:r>
            <a:r>
              <a:rPr lang="en-US" i="1" dirty="0">
                <a:latin typeface="MinionPro-It"/>
              </a:rPr>
              <a:t>union compatibility </a:t>
            </a:r>
            <a:r>
              <a:rPr lang="en-US" dirty="0">
                <a:latin typeface="MinionPro-Regular"/>
              </a:rPr>
              <a:t>or </a:t>
            </a:r>
            <a:r>
              <a:rPr lang="en-US" i="1" dirty="0">
                <a:latin typeface="MinionPro-It"/>
              </a:rPr>
              <a:t>type compatibility</a:t>
            </a:r>
            <a:endParaRPr lang="en-US" dirty="0">
              <a:latin typeface="MinionPro-Regular"/>
            </a:endParaRPr>
          </a:p>
          <a:p>
            <a:r>
              <a:rPr lang="en-US" dirty="0">
                <a:latin typeface="MinionPro-Regular"/>
              </a:rPr>
              <a:t>two relations </a:t>
            </a:r>
            <a:r>
              <a:rPr lang="en-US" i="1" dirty="0">
                <a:latin typeface="MinionPro-It"/>
              </a:rPr>
              <a:t>R</a:t>
            </a:r>
            <a:r>
              <a:rPr lang="en-US" dirty="0">
                <a:latin typeface="MinionPro-Regular"/>
              </a:rPr>
              <a:t>(</a:t>
            </a:r>
            <a:r>
              <a:rPr lang="en-US" i="1" dirty="0">
                <a:latin typeface="MinionPro-It"/>
              </a:rPr>
              <a:t>A</a:t>
            </a:r>
            <a:r>
              <a:rPr lang="en-US" baseline="-25000" dirty="0">
                <a:latin typeface="MinionPro-Regular"/>
              </a:rPr>
              <a:t>1</a:t>
            </a:r>
            <a:r>
              <a:rPr lang="en-US" dirty="0">
                <a:latin typeface="MinionPro-Regular"/>
              </a:rPr>
              <a:t>, </a:t>
            </a:r>
            <a:r>
              <a:rPr lang="en-US" i="1" dirty="0">
                <a:latin typeface="MinionPro-It"/>
              </a:rPr>
              <a:t>A</a:t>
            </a:r>
            <a:r>
              <a:rPr lang="en-US" baseline="-25000" dirty="0">
                <a:latin typeface="MinionPro-Regular"/>
              </a:rPr>
              <a:t>2</a:t>
            </a:r>
            <a:r>
              <a:rPr lang="en-US" dirty="0">
                <a:latin typeface="MinionPro-Regular"/>
              </a:rPr>
              <a:t>, … , </a:t>
            </a:r>
            <a:r>
              <a:rPr lang="en-US" i="1" dirty="0">
                <a:latin typeface="MinionPro-It"/>
              </a:rPr>
              <a:t>A</a:t>
            </a:r>
            <a:r>
              <a:rPr lang="en-US" i="1" baseline="-25000" dirty="0">
                <a:latin typeface="MinionPro-It"/>
              </a:rPr>
              <a:t>n</a:t>
            </a:r>
            <a:r>
              <a:rPr lang="en-US" dirty="0">
                <a:latin typeface="MinionPro-Regular"/>
              </a:rPr>
              <a:t>) and </a:t>
            </a:r>
            <a:r>
              <a:rPr lang="en-US" i="1" dirty="0">
                <a:latin typeface="MinionPro-It"/>
              </a:rPr>
              <a:t>S</a:t>
            </a:r>
            <a:r>
              <a:rPr lang="en-US" dirty="0">
                <a:latin typeface="MinionPro-Regular"/>
              </a:rPr>
              <a:t>(</a:t>
            </a:r>
            <a:r>
              <a:rPr lang="en-US" i="1" dirty="0">
                <a:latin typeface="MinionPro-It"/>
              </a:rPr>
              <a:t>B</a:t>
            </a:r>
            <a:r>
              <a:rPr lang="en-US" dirty="0">
                <a:latin typeface="MinionPro-Regular"/>
              </a:rPr>
              <a:t>1, </a:t>
            </a:r>
            <a:r>
              <a:rPr lang="en-US" i="1" dirty="0">
                <a:latin typeface="MinionPro-It"/>
              </a:rPr>
              <a:t>B</a:t>
            </a:r>
            <a:r>
              <a:rPr lang="en-US" baseline="-25000" dirty="0">
                <a:latin typeface="MinionPro-Regular"/>
              </a:rPr>
              <a:t>2</a:t>
            </a:r>
            <a:r>
              <a:rPr lang="en-US" dirty="0">
                <a:latin typeface="MinionPro-Regular"/>
              </a:rPr>
              <a:t>, … , </a:t>
            </a:r>
            <a:r>
              <a:rPr lang="en-US" i="1" dirty="0">
                <a:latin typeface="MinionPro-It"/>
              </a:rPr>
              <a:t>B</a:t>
            </a:r>
            <a:r>
              <a:rPr lang="en-US" i="1" baseline="-25000" dirty="0">
                <a:latin typeface="MinionPro-It"/>
              </a:rPr>
              <a:t>n</a:t>
            </a:r>
            <a:r>
              <a:rPr lang="en-US" dirty="0">
                <a:latin typeface="MinionPro-Regular"/>
              </a:rPr>
              <a:t>) are said to be </a:t>
            </a:r>
            <a:r>
              <a:rPr lang="en-US" dirty="0">
                <a:latin typeface="MinionPro-Bold"/>
              </a:rPr>
              <a:t>union compatible </a:t>
            </a:r>
            <a:r>
              <a:rPr lang="en-US" dirty="0">
                <a:latin typeface="MinionPro-Regular"/>
              </a:rPr>
              <a:t>(or </a:t>
            </a:r>
            <a:r>
              <a:rPr lang="en-US" dirty="0">
                <a:latin typeface="MinionPro-Bold"/>
              </a:rPr>
              <a:t>type compatible</a:t>
            </a:r>
            <a:r>
              <a:rPr lang="en-US" dirty="0">
                <a:latin typeface="MinionPro-Regular"/>
              </a:rPr>
              <a:t>) if they have same degree </a:t>
            </a:r>
            <a:r>
              <a:rPr lang="en-US" i="1" dirty="0">
                <a:latin typeface="MinionPro-It"/>
              </a:rPr>
              <a:t>n </a:t>
            </a:r>
            <a:r>
              <a:rPr lang="en-US" dirty="0">
                <a:latin typeface="MinionPro-Regular"/>
              </a:rPr>
              <a:t>and if </a:t>
            </a:r>
            <a:r>
              <a:rPr lang="en-US" dirty="0" err="1">
                <a:latin typeface="MinionPro-Regular"/>
              </a:rPr>
              <a:t>dom</a:t>
            </a:r>
            <a:r>
              <a:rPr lang="en-US" dirty="0">
                <a:latin typeface="MinionPro-Regular"/>
              </a:rPr>
              <a:t>(</a:t>
            </a:r>
            <a:r>
              <a:rPr lang="en-US" i="1" dirty="0">
                <a:latin typeface="MinionPro-It"/>
              </a:rPr>
              <a:t>A</a:t>
            </a:r>
            <a:r>
              <a:rPr lang="en-US" i="1" baseline="-25000" dirty="0">
                <a:latin typeface="MinionPro-It"/>
              </a:rPr>
              <a:t>i</a:t>
            </a:r>
            <a:r>
              <a:rPr lang="en-US" dirty="0">
                <a:latin typeface="MinionPro-Regular"/>
              </a:rPr>
              <a:t>) = </a:t>
            </a:r>
            <a:r>
              <a:rPr lang="en-US" dirty="0" err="1">
                <a:latin typeface="MinionPro-Regular"/>
              </a:rPr>
              <a:t>dom</a:t>
            </a:r>
            <a:r>
              <a:rPr lang="en-US" dirty="0">
                <a:latin typeface="MinionPro-Regular"/>
              </a:rPr>
              <a:t>(</a:t>
            </a:r>
            <a:r>
              <a:rPr lang="en-US" i="1" dirty="0">
                <a:latin typeface="MinionPro-It"/>
              </a:rPr>
              <a:t>B</a:t>
            </a:r>
            <a:r>
              <a:rPr lang="en-US" i="1" baseline="-25000" dirty="0">
                <a:latin typeface="MinionPro-It"/>
              </a:rPr>
              <a:t>i</a:t>
            </a:r>
            <a:r>
              <a:rPr lang="en-US" dirty="0">
                <a:latin typeface="MinionPro-Regular"/>
              </a:rPr>
              <a:t>) for 1 ≤ </a:t>
            </a:r>
            <a:r>
              <a:rPr lang="en-US" i="1" dirty="0" err="1">
                <a:latin typeface="MinionPro-It"/>
              </a:rPr>
              <a:t>i</a:t>
            </a:r>
            <a:r>
              <a:rPr lang="en-US" i="1" dirty="0">
                <a:latin typeface="MinionPro-It"/>
              </a:rPr>
              <a:t> </a:t>
            </a:r>
            <a:r>
              <a:rPr lang="en-US" dirty="0">
                <a:latin typeface="MinionPro-Regular"/>
              </a:rPr>
              <a:t>≤ </a:t>
            </a:r>
            <a:r>
              <a:rPr lang="en-US" i="1" dirty="0">
                <a:latin typeface="MinionPro-It"/>
              </a:rPr>
              <a:t>n</a:t>
            </a:r>
          </a:p>
          <a:p>
            <a:r>
              <a:rPr lang="en-US" dirty="0">
                <a:latin typeface="MinionPro-Regular"/>
              </a:rPr>
              <a:t>two relations have same number of attributes and each corresponding pair of attributes has same domain</a:t>
            </a:r>
            <a:endParaRPr lang="en-US" dirty="0"/>
          </a:p>
          <a:p>
            <a:endParaRPr lang="en-US" dirty="0"/>
          </a:p>
        </p:txBody>
      </p:sp>
      <p:sp>
        <p:nvSpPr>
          <p:cNvPr id="4" name="Slide Number Placeholder 3">
            <a:extLst>
              <a:ext uri="{FF2B5EF4-FFF2-40B4-BE49-F238E27FC236}">
                <a16:creationId xmlns:a16="http://schemas.microsoft.com/office/drawing/2014/main" id="{60E5A479-BF49-1C98-4E01-82816BF95DC3}"/>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789418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9925-07EC-E11D-EF5F-A930C53019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F38725-3E01-C46E-35E9-BC66B1BA5F1A}"/>
              </a:ext>
            </a:extLst>
          </p:cNvPr>
          <p:cNvSpPr>
            <a:spLocks noGrp="1"/>
          </p:cNvSpPr>
          <p:nvPr>
            <p:ph idx="1"/>
          </p:nvPr>
        </p:nvSpPr>
        <p:spPr>
          <a:xfrm>
            <a:off x="838199" y="1825625"/>
            <a:ext cx="10695039" cy="4351338"/>
          </a:xfrm>
        </p:spPr>
        <p:txBody>
          <a:bodyPr>
            <a:normAutofit/>
          </a:bodyPr>
          <a:lstStyle/>
          <a:p>
            <a:r>
              <a:rPr lang="en-US" dirty="0"/>
              <a:t>UNION: result of this operation, denoted by </a:t>
            </a:r>
            <a:r>
              <a:rPr lang="en-US" i="1" dirty="0"/>
              <a:t>R </a:t>
            </a:r>
            <a:r>
              <a:rPr lang="en-US" dirty="0"/>
              <a:t>∪ </a:t>
            </a:r>
            <a:r>
              <a:rPr lang="en-US" i="1" dirty="0"/>
              <a:t>S</a:t>
            </a:r>
            <a:r>
              <a:rPr lang="en-US" dirty="0"/>
              <a:t>, is a relation that includes all tuples that are either in </a:t>
            </a:r>
            <a:r>
              <a:rPr lang="en-US" i="1" dirty="0"/>
              <a:t>R </a:t>
            </a:r>
            <a:r>
              <a:rPr lang="en-US" dirty="0"/>
              <a:t>or in </a:t>
            </a:r>
            <a:r>
              <a:rPr lang="en-US" i="1" dirty="0"/>
              <a:t>S </a:t>
            </a:r>
            <a:r>
              <a:rPr lang="en-US" dirty="0"/>
              <a:t>or in both </a:t>
            </a:r>
            <a:r>
              <a:rPr lang="en-US" i="1" dirty="0"/>
              <a:t>R </a:t>
            </a:r>
            <a:r>
              <a:rPr lang="en-US" dirty="0"/>
              <a:t>and </a:t>
            </a:r>
            <a:r>
              <a:rPr lang="en-US" i="1" dirty="0"/>
              <a:t>S; </a:t>
            </a:r>
            <a:r>
              <a:rPr lang="en-US" dirty="0"/>
              <a:t>duplicate tuples are eliminated</a:t>
            </a:r>
          </a:p>
          <a:p>
            <a:r>
              <a:rPr lang="en-US" dirty="0"/>
              <a:t>INTERSECTION: result of this operation, denoted by </a:t>
            </a:r>
            <a:r>
              <a:rPr lang="en-US" i="1" dirty="0"/>
              <a:t>R </a:t>
            </a:r>
            <a:r>
              <a:rPr lang="en-US" dirty="0"/>
              <a:t>∩ </a:t>
            </a:r>
            <a:r>
              <a:rPr lang="en-US" i="1" dirty="0"/>
              <a:t>S</a:t>
            </a:r>
            <a:r>
              <a:rPr lang="en-US" dirty="0"/>
              <a:t>, is a relation that includes all tuples that are in both </a:t>
            </a:r>
            <a:r>
              <a:rPr lang="en-US" i="1" dirty="0"/>
              <a:t>R </a:t>
            </a:r>
            <a:r>
              <a:rPr lang="en-US" dirty="0"/>
              <a:t>and </a:t>
            </a:r>
            <a:r>
              <a:rPr lang="en-US" i="1" dirty="0"/>
              <a:t>S</a:t>
            </a:r>
            <a:endParaRPr lang="en-US" dirty="0"/>
          </a:p>
          <a:p>
            <a:r>
              <a:rPr lang="en-US" dirty="0"/>
              <a:t>SET DIFFERENCE (or MINUS): result of this operation, denoted by </a:t>
            </a:r>
            <a:r>
              <a:rPr lang="en-US" i="1" dirty="0"/>
              <a:t>R </a:t>
            </a:r>
            <a:r>
              <a:rPr lang="en-US" dirty="0"/>
              <a:t>– </a:t>
            </a:r>
            <a:r>
              <a:rPr lang="en-US" i="1" dirty="0"/>
              <a:t>S</a:t>
            </a:r>
            <a:r>
              <a:rPr lang="en-US" dirty="0"/>
              <a:t>, is a relation that includes all tuples that are in </a:t>
            </a:r>
            <a:r>
              <a:rPr lang="en-US" i="1" dirty="0"/>
              <a:t>R </a:t>
            </a:r>
            <a:r>
              <a:rPr lang="en-US" dirty="0"/>
              <a:t>but not in </a:t>
            </a:r>
            <a:r>
              <a:rPr lang="en-US" i="1" dirty="0"/>
              <a:t>S</a:t>
            </a:r>
            <a:endParaRPr lang="en-US" dirty="0"/>
          </a:p>
        </p:txBody>
      </p:sp>
      <p:sp>
        <p:nvSpPr>
          <p:cNvPr id="4" name="Slide Number Placeholder 3">
            <a:extLst>
              <a:ext uri="{FF2B5EF4-FFF2-40B4-BE49-F238E27FC236}">
                <a16:creationId xmlns:a16="http://schemas.microsoft.com/office/drawing/2014/main" id="{BADF1FE8-7E3B-20F3-AA27-9BF5CA7A309B}"/>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1103297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09F15-5030-B714-0DBF-59EA45093D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C7CDB8-1BDD-D73D-0549-53E22AE30BEE}"/>
              </a:ext>
            </a:extLst>
          </p:cNvPr>
          <p:cNvSpPr>
            <a:spLocks noGrp="1"/>
          </p:cNvSpPr>
          <p:nvPr>
            <p:ph idx="1"/>
          </p:nvPr>
        </p:nvSpPr>
        <p:spPr/>
        <p:txBody>
          <a:bodyPr/>
          <a:lstStyle/>
          <a:p>
            <a:r>
              <a:rPr lang="en-US" dirty="0"/>
              <a:t>in SQL, there are three operations - UNION, INTERSECT, and EXCEPT - that correspond to the set operations</a:t>
            </a:r>
          </a:p>
          <a:p>
            <a:r>
              <a:rPr lang="en-US" dirty="0"/>
              <a:t>in addition, there are multiset operations UNION ALL, INTERSECT ALL, and EXCEPT ALL that do not eliminate duplicates</a:t>
            </a:r>
          </a:p>
        </p:txBody>
      </p:sp>
      <p:sp>
        <p:nvSpPr>
          <p:cNvPr id="4" name="Slide Number Placeholder 3">
            <a:extLst>
              <a:ext uri="{FF2B5EF4-FFF2-40B4-BE49-F238E27FC236}">
                <a16:creationId xmlns:a16="http://schemas.microsoft.com/office/drawing/2014/main" id="{4A949243-7C8F-D665-598F-A0E8B1448862}"/>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19914283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DB80-F6FB-C57D-760B-5C2B734A1AD1}"/>
              </a:ext>
            </a:extLst>
          </p:cNvPr>
          <p:cNvSpPr>
            <a:spLocks noGrp="1"/>
          </p:cNvSpPr>
          <p:nvPr>
            <p:ph type="title"/>
          </p:nvPr>
        </p:nvSpPr>
        <p:spPr/>
        <p:txBody>
          <a:bodyPr/>
          <a:lstStyle/>
          <a:p>
            <a:r>
              <a:rPr lang="en-US" dirty="0"/>
              <a:t>CARTESIAN PRODUCT (CROSS PRODUCT)</a:t>
            </a:r>
            <a:br>
              <a:rPr lang="en-US" dirty="0"/>
            </a:br>
            <a:r>
              <a:rPr lang="en-US" dirty="0"/>
              <a:t>Operation</a:t>
            </a:r>
          </a:p>
        </p:txBody>
      </p:sp>
      <p:sp>
        <p:nvSpPr>
          <p:cNvPr id="3" name="Content Placeholder 2">
            <a:extLst>
              <a:ext uri="{FF2B5EF4-FFF2-40B4-BE49-F238E27FC236}">
                <a16:creationId xmlns:a16="http://schemas.microsoft.com/office/drawing/2014/main" id="{77FBC49B-A8C9-97E6-A929-660547BFF841}"/>
              </a:ext>
            </a:extLst>
          </p:cNvPr>
          <p:cNvSpPr>
            <a:spLocks noGrp="1"/>
          </p:cNvSpPr>
          <p:nvPr>
            <p:ph idx="1"/>
          </p:nvPr>
        </p:nvSpPr>
        <p:spPr/>
        <p:txBody>
          <a:bodyPr>
            <a:noAutofit/>
          </a:bodyPr>
          <a:lstStyle/>
          <a:p>
            <a:r>
              <a:rPr lang="en-US" dirty="0"/>
              <a:t>CARTESIAN PRODUCT operation - also known as CROSS PRODUCT or CROSS JOIN - which is denoted by </a:t>
            </a:r>
            <a:r>
              <a:rPr lang="en-US" sz="3200" dirty="0"/>
              <a:t>×</a:t>
            </a:r>
            <a:endParaRPr lang="en-US" dirty="0"/>
          </a:p>
          <a:p>
            <a:r>
              <a:rPr lang="en-US" dirty="0"/>
              <a:t>binary set operation, but relations on which it is applied do not have to be union compatible</a:t>
            </a:r>
          </a:p>
          <a:p>
            <a:r>
              <a:rPr lang="en-US" dirty="0"/>
              <a:t>produces a new element by combining every member (tuple) from one relation (set) with every member (tuple) from other relation (set)</a:t>
            </a:r>
          </a:p>
          <a:p>
            <a:r>
              <a:rPr lang="en-US" dirty="0"/>
              <a:t>result of </a:t>
            </a:r>
            <a:r>
              <a:rPr lang="en-US" i="1" dirty="0"/>
              <a:t>R</a:t>
            </a:r>
            <a:r>
              <a:rPr lang="en-US" dirty="0"/>
              <a:t>(</a:t>
            </a:r>
            <a:r>
              <a:rPr lang="en-US" i="1" dirty="0"/>
              <a:t>A</a:t>
            </a:r>
            <a:r>
              <a:rPr lang="en-US" dirty="0"/>
              <a:t>1, </a:t>
            </a:r>
            <a:r>
              <a:rPr lang="en-US" i="1" dirty="0"/>
              <a:t>A</a:t>
            </a:r>
            <a:r>
              <a:rPr lang="en-US" dirty="0"/>
              <a:t>2, … , </a:t>
            </a:r>
            <a:r>
              <a:rPr lang="en-US" i="1" dirty="0"/>
              <a:t>An</a:t>
            </a:r>
            <a:r>
              <a:rPr lang="en-US" dirty="0"/>
              <a:t>) </a:t>
            </a:r>
            <a:r>
              <a:rPr lang="en-US" sz="3200" dirty="0"/>
              <a:t>×</a:t>
            </a:r>
            <a:r>
              <a:rPr lang="en-US" dirty="0"/>
              <a:t> </a:t>
            </a:r>
            <a:r>
              <a:rPr lang="en-US" i="1" dirty="0"/>
              <a:t>S</a:t>
            </a:r>
            <a:r>
              <a:rPr lang="en-US" dirty="0"/>
              <a:t>(</a:t>
            </a:r>
            <a:r>
              <a:rPr lang="en-US" i="1" dirty="0"/>
              <a:t>B</a:t>
            </a:r>
            <a:r>
              <a:rPr lang="en-US" dirty="0"/>
              <a:t>1, </a:t>
            </a:r>
            <a:r>
              <a:rPr lang="en-US" i="1" dirty="0"/>
              <a:t>B</a:t>
            </a:r>
            <a:r>
              <a:rPr lang="en-US" dirty="0"/>
              <a:t>2, … , </a:t>
            </a:r>
            <a:r>
              <a:rPr lang="en-US" i="1" dirty="0"/>
              <a:t>Bm</a:t>
            </a:r>
            <a:r>
              <a:rPr lang="en-US" dirty="0"/>
              <a:t>) is a relation </a:t>
            </a:r>
            <a:r>
              <a:rPr lang="en-US" i="1" dirty="0"/>
              <a:t>Q </a:t>
            </a:r>
            <a:r>
              <a:rPr lang="en-US" dirty="0"/>
              <a:t>with degree </a:t>
            </a:r>
            <a:r>
              <a:rPr lang="en-US" i="1" dirty="0"/>
              <a:t>n </a:t>
            </a:r>
            <a:r>
              <a:rPr lang="en-US" dirty="0"/>
              <a:t>+ </a:t>
            </a:r>
            <a:r>
              <a:rPr lang="en-US" i="1" dirty="0"/>
              <a:t>m </a:t>
            </a:r>
            <a:r>
              <a:rPr lang="en-US" dirty="0"/>
              <a:t>attributes </a:t>
            </a:r>
            <a:r>
              <a:rPr lang="en-US" i="1" dirty="0"/>
              <a:t>Q</a:t>
            </a:r>
            <a:r>
              <a:rPr lang="en-US" dirty="0"/>
              <a:t>(</a:t>
            </a:r>
            <a:r>
              <a:rPr lang="en-US" i="1" dirty="0"/>
              <a:t>A</a:t>
            </a:r>
            <a:r>
              <a:rPr lang="en-US" dirty="0"/>
              <a:t>1, </a:t>
            </a:r>
            <a:r>
              <a:rPr lang="en-US" i="1" dirty="0"/>
              <a:t>A</a:t>
            </a:r>
            <a:r>
              <a:rPr lang="en-US" dirty="0"/>
              <a:t>2, … , </a:t>
            </a:r>
            <a:r>
              <a:rPr lang="en-US" i="1" dirty="0"/>
              <a:t>An</a:t>
            </a:r>
            <a:r>
              <a:rPr lang="en-US" dirty="0"/>
              <a:t>, </a:t>
            </a:r>
            <a:r>
              <a:rPr lang="en-US" i="1" dirty="0"/>
              <a:t>B</a:t>
            </a:r>
            <a:r>
              <a:rPr lang="en-US" dirty="0"/>
              <a:t>1, </a:t>
            </a:r>
            <a:r>
              <a:rPr lang="en-US" i="1" dirty="0"/>
              <a:t>B</a:t>
            </a:r>
            <a:r>
              <a:rPr lang="en-US" dirty="0"/>
              <a:t>2, … , </a:t>
            </a:r>
            <a:r>
              <a:rPr lang="en-US" i="1" dirty="0"/>
              <a:t>Bm</a:t>
            </a:r>
            <a:r>
              <a:rPr lang="en-US" dirty="0"/>
              <a:t>), in that order; resulting relation </a:t>
            </a:r>
            <a:r>
              <a:rPr lang="en-US" i="1" dirty="0"/>
              <a:t>Q </a:t>
            </a:r>
            <a:r>
              <a:rPr lang="en-US" dirty="0"/>
              <a:t>has one tuple for each combination of tuples one from </a:t>
            </a:r>
            <a:r>
              <a:rPr lang="en-US" i="1" dirty="0"/>
              <a:t>R </a:t>
            </a:r>
            <a:r>
              <a:rPr lang="en-US" dirty="0"/>
              <a:t>and one from </a:t>
            </a:r>
            <a:r>
              <a:rPr lang="en-US" i="1" dirty="0"/>
              <a:t>S</a:t>
            </a:r>
          </a:p>
        </p:txBody>
      </p:sp>
      <p:sp>
        <p:nvSpPr>
          <p:cNvPr id="4" name="Slide Number Placeholder 3">
            <a:extLst>
              <a:ext uri="{FF2B5EF4-FFF2-40B4-BE49-F238E27FC236}">
                <a16:creationId xmlns:a16="http://schemas.microsoft.com/office/drawing/2014/main" id="{21E6BD28-8424-EB1C-299B-FD4909F124EE}"/>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1617165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48BF-A630-8ADF-4D30-8C0031512C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FAC7B5-A89B-A4BE-826A-57D0128087B2}"/>
              </a:ext>
            </a:extLst>
          </p:cNvPr>
          <p:cNvSpPr>
            <a:spLocks noGrp="1"/>
          </p:cNvSpPr>
          <p:nvPr>
            <p:ph idx="1"/>
          </p:nvPr>
        </p:nvSpPr>
        <p:spPr/>
        <p:txBody>
          <a:bodyPr>
            <a:normAutofit/>
          </a:bodyPr>
          <a:lstStyle/>
          <a:p>
            <a:r>
              <a:rPr lang="en-US" i="1" dirty="0"/>
              <a:t>Q</a:t>
            </a:r>
            <a:r>
              <a:rPr lang="en-US" dirty="0"/>
              <a:t> will have |</a:t>
            </a:r>
            <a:r>
              <a:rPr lang="en-US" i="1" dirty="0"/>
              <a:t>R</a:t>
            </a:r>
            <a:r>
              <a:rPr lang="en-US" dirty="0"/>
              <a:t>|</a:t>
            </a:r>
            <a:r>
              <a:rPr lang="en-US" i="1" dirty="0"/>
              <a:t> </a:t>
            </a:r>
            <a:r>
              <a:rPr lang="en-US" dirty="0"/>
              <a:t>* |</a:t>
            </a:r>
            <a:r>
              <a:rPr lang="en-US" i="1" dirty="0"/>
              <a:t>S</a:t>
            </a:r>
            <a:r>
              <a:rPr lang="en-US" dirty="0"/>
              <a:t>| = |</a:t>
            </a:r>
            <a:r>
              <a:rPr lang="en-US" i="1" dirty="0"/>
              <a:t>R </a:t>
            </a:r>
            <a:r>
              <a:rPr lang="en-US" sz="3200" dirty="0"/>
              <a:t>×</a:t>
            </a:r>
            <a:r>
              <a:rPr lang="en-US" dirty="0"/>
              <a:t> </a:t>
            </a:r>
            <a:r>
              <a:rPr lang="en-US" i="1" dirty="0"/>
              <a:t>S</a:t>
            </a:r>
            <a:r>
              <a:rPr lang="en-US" dirty="0"/>
              <a:t>| tuples – expensive operation!</a:t>
            </a:r>
          </a:p>
          <a:p>
            <a:endParaRPr lang="en-US" dirty="0"/>
          </a:p>
        </p:txBody>
      </p:sp>
      <p:sp>
        <p:nvSpPr>
          <p:cNvPr id="4" name="Slide Number Placeholder 3">
            <a:extLst>
              <a:ext uri="{FF2B5EF4-FFF2-40B4-BE49-F238E27FC236}">
                <a16:creationId xmlns:a16="http://schemas.microsoft.com/office/drawing/2014/main" id="{E7E74814-6FF5-30D6-52EF-B10DCEB4EC56}"/>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15945788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5833-9496-49EC-E760-95BE1D354A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61A7D6-87C4-62A2-B6DB-6C4CB070C470}"/>
              </a:ext>
            </a:extLst>
          </p:cNvPr>
          <p:cNvSpPr>
            <a:spLocks noGrp="1"/>
          </p:cNvSpPr>
          <p:nvPr>
            <p:ph idx="1"/>
          </p:nvPr>
        </p:nvSpPr>
        <p:spPr/>
        <p:txBody>
          <a:bodyPr>
            <a:normAutofit/>
          </a:bodyPr>
          <a:lstStyle/>
          <a:p>
            <a:r>
              <a:rPr lang="en-US" dirty="0"/>
              <a:t>for example, suppose that we want to retrieve a list of names of each female employee’s dependents</a:t>
            </a:r>
          </a:p>
          <a:p>
            <a:r>
              <a:rPr lang="en-US" dirty="0"/>
              <a:t>FEMALE_EMPS ← </a:t>
            </a:r>
            <a:r>
              <a:rPr lang="el-GR" sz="4400" dirty="0"/>
              <a:t>σ</a:t>
            </a:r>
            <a:r>
              <a:rPr lang="en-US" sz="3200" baseline="-25000" dirty="0"/>
              <a:t>Sex=‘F’</a:t>
            </a:r>
            <a:r>
              <a:rPr lang="en-US" dirty="0"/>
              <a:t>(EMPLOYEE)</a:t>
            </a:r>
          </a:p>
          <a:p>
            <a:r>
              <a:rPr lang="en-US" dirty="0"/>
              <a:t>EMPNAMES ← </a:t>
            </a:r>
            <a:r>
              <a:rPr lang="el-GR" sz="4400" dirty="0"/>
              <a:t>π</a:t>
            </a:r>
            <a:r>
              <a:rPr lang="en-US" sz="3200" baseline="-25000" dirty="0" err="1"/>
              <a:t>Fname</a:t>
            </a:r>
            <a:r>
              <a:rPr lang="en-US" sz="3200" baseline="-25000" dirty="0"/>
              <a:t>, </a:t>
            </a:r>
            <a:r>
              <a:rPr lang="en-US" sz="3200" baseline="-25000" dirty="0" err="1"/>
              <a:t>Lname</a:t>
            </a:r>
            <a:r>
              <a:rPr lang="en-US" sz="3200" baseline="-25000" dirty="0"/>
              <a:t>, </a:t>
            </a:r>
            <a:r>
              <a:rPr lang="en-US" sz="3200" baseline="-25000" dirty="0" err="1"/>
              <a:t>Ssn</a:t>
            </a:r>
            <a:r>
              <a:rPr lang="en-US" dirty="0"/>
              <a:t>(FEMALE_EMPS)</a:t>
            </a:r>
          </a:p>
          <a:p>
            <a:r>
              <a:rPr lang="en-US" dirty="0"/>
              <a:t>EMP_DEPENDENTS ← EMPNAMES </a:t>
            </a:r>
            <a:r>
              <a:rPr lang="en-US" sz="3200" dirty="0"/>
              <a:t>×</a:t>
            </a:r>
            <a:r>
              <a:rPr lang="en-US" dirty="0"/>
              <a:t> DEPENDENT</a:t>
            </a:r>
          </a:p>
          <a:p>
            <a:r>
              <a:rPr lang="en-US" dirty="0"/>
              <a:t>ACTUAL_DEPENDENTS ← </a:t>
            </a:r>
            <a:r>
              <a:rPr lang="en-US" sz="4400" dirty="0" err="1"/>
              <a:t>σ</a:t>
            </a:r>
            <a:r>
              <a:rPr lang="en-US" sz="3200" baseline="-25000" dirty="0" err="1"/>
              <a:t>Ssn</a:t>
            </a:r>
            <a:r>
              <a:rPr lang="en-US" sz="3200" baseline="-25000" dirty="0"/>
              <a:t>=</a:t>
            </a:r>
            <a:r>
              <a:rPr lang="en-US" sz="3200" baseline="-25000" dirty="0" err="1"/>
              <a:t>Essn</a:t>
            </a:r>
            <a:r>
              <a:rPr lang="en-US" dirty="0"/>
              <a:t>(EMP_DEPENDENTS)</a:t>
            </a:r>
          </a:p>
          <a:p>
            <a:r>
              <a:rPr lang="en-US" dirty="0"/>
              <a:t>RESULT ← </a:t>
            </a:r>
            <a:r>
              <a:rPr lang="en-US" sz="4400" dirty="0"/>
              <a:t>π</a:t>
            </a:r>
            <a:r>
              <a:rPr lang="en-US" sz="3200" baseline="-25000" dirty="0" err="1"/>
              <a:t>Fname</a:t>
            </a:r>
            <a:r>
              <a:rPr lang="en-US" sz="3200" baseline="-25000" dirty="0"/>
              <a:t>, </a:t>
            </a:r>
            <a:r>
              <a:rPr lang="en-US" sz="3200" baseline="-25000" dirty="0" err="1"/>
              <a:t>Lname</a:t>
            </a:r>
            <a:r>
              <a:rPr lang="en-US" sz="3200" baseline="-25000" dirty="0"/>
              <a:t>, </a:t>
            </a:r>
            <a:r>
              <a:rPr lang="en-US" sz="3200" baseline="-25000" dirty="0" err="1"/>
              <a:t>Dependent_name</a:t>
            </a:r>
            <a:r>
              <a:rPr lang="en-US" dirty="0"/>
              <a:t>(ACTUAL_DEPENDENTS)</a:t>
            </a:r>
          </a:p>
        </p:txBody>
      </p:sp>
      <p:sp>
        <p:nvSpPr>
          <p:cNvPr id="4" name="Slide Number Placeholder 3">
            <a:extLst>
              <a:ext uri="{FF2B5EF4-FFF2-40B4-BE49-F238E27FC236}">
                <a16:creationId xmlns:a16="http://schemas.microsoft.com/office/drawing/2014/main" id="{48C1A1D4-D3C8-97DE-8783-26CF0E54FA7F}"/>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3097793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9CD5-2675-8650-591D-8A81C33B41C5}"/>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CF3596D-3D4C-4DE4-9D07-0A3F179F3F2A}"/>
              </a:ext>
            </a:extLst>
          </p:cNvPr>
          <p:cNvPicPr>
            <a:picLocks noGrp="1" noChangeAspect="1"/>
          </p:cNvPicPr>
          <p:nvPr>
            <p:ph idx="1"/>
          </p:nvPr>
        </p:nvPicPr>
        <p:blipFill>
          <a:blip r:embed="rId2"/>
          <a:stretch>
            <a:fillRect/>
          </a:stretch>
        </p:blipFill>
        <p:spPr>
          <a:xfrm>
            <a:off x="91440" y="1828800"/>
            <a:ext cx="11991566" cy="4169111"/>
          </a:xfrm>
          <a:prstGeom prst="rect">
            <a:avLst/>
          </a:prstGeom>
        </p:spPr>
      </p:pic>
      <p:sp>
        <p:nvSpPr>
          <p:cNvPr id="4" name="Slide Number Placeholder 3">
            <a:extLst>
              <a:ext uri="{FF2B5EF4-FFF2-40B4-BE49-F238E27FC236}">
                <a16:creationId xmlns:a16="http://schemas.microsoft.com/office/drawing/2014/main" id="{C0896B49-2D80-4811-E623-ADD0065B34F8}"/>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2193041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3DA07-CDFF-304B-7050-6A2BD4DD3D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CC6BAE-90EA-472B-C15D-C3B5A060443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D2346AD-B9D6-2117-6AD3-C913F4A6E104}"/>
              </a:ext>
            </a:extLst>
          </p:cNvPr>
          <p:cNvSpPr>
            <a:spLocks noGrp="1"/>
          </p:cNvSpPr>
          <p:nvPr>
            <p:ph type="sldNum" sz="quarter" idx="12"/>
          </p:nvPr>
        </p:nvSpPr>
        <p:spPr/>
        <p:txBody>
          <a:bodyPr/>
          <a:lstStyle/>
          <a:p>
            <a:fld id="{6264BDCF-5269-49AC-A246-ED26C2B980E3}" type="slidenum">
              <a:rPr lang="en-US" smtClean="0"/>
              <a:t>47</a:t>
            </a:fld>
            <a:endParaRPr lang="en-US"/>
          </a:p>
        </p:txBody>
      </p:sp>
      <p:pic>
        <p:nvPicPr>
          <p:cNvPr id="6" name="Picture 5">
            <a:extLst>
              <a:ext uri="{FF2B5EF4-FFF2-40B4-BE49-F238E27FC236}">
                <a16:creationId xmlns:a16="http://schemas.microsoft.com/office/drawing/2014/main" id="{B4FE7CF1-4711-0155-5037-F272B532C9B8}"/>
              </a:ext>
            </a:extLst>
          </p:cNvPr>
          <p:cNvPicPr>
            <a:picLocks noChangeAspect="1"/>
          </p:cNvPicPr>
          <p:nvPr/>
        </p:nvPicPr>
        <p:blipFill>
          <a:blip r:embed="rId2"/>
          <a:stretch>
            <a:fillRect/>
          </a:stretch>
        </p:blipFill>
        <p:spPr>
          <a:xfrm>
            <a:off x="1828800" y="91440"/>
            <a:ext cx="8051208" cy="6628204"/>
          </a:xfrm>
          <a:prstGeom prst="rect">
            <a:avLst/>
          </a:prstGeom>
        </p:spPr>
      </p:pic>
    </p:spTree>
    <p:extLst>
      <p:ext uri="{BB962C8B-B14F-4D97-AF65-F5344CB8AC3E}">
        <p14:creationId xmlns:p14="http://schemas.microsoft.com/office/powerpoint/2010/main" val="31803288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5223-FDCD-AAF1-5AEF-DF0AA2057C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1828CF-9955-3AF7-0219-9DF13D5383A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9D1ACAB-76F1-5D04-22D1-1171059C27DF}"/>
              </a:ext>
            </a:extLst>
          </p:cNvPr>
          <p:cNvSpPr>
            <a:spLocks noGrp="1"/>
          </p:cNvSpPr>
          <p:nvPr>
            <p:ph type="sldNum" sz="quarter" idx="12"/>
          </p:nvPr>
        </p:nvSpPr>
        <p:spPr/>
        <p:txBody>
          <a:bodyPr/>
          <a:lstStyle/>
          <a:p>
            <a:fld id="{6264BDCF-5269-49AC-A246-ED26C2B980E3}" type="slidenum">
              <a:rPr lang="en-US" smtClean="0"/>
              <a:t>48</a:t>
            </a:fld>
            <a:endParaRPr lang="en-US"/>
          </a:p>
        </p:txBody>
      </p:sp>
      <p:pic>
        <p:nvPicPr>
          <p:cNvPr id="6" name="Picture 5">
            <a:extLst>
              <a:ext uri="{FF2B5EF4-FFF2-40B4-BE49-F238E27FC236}">
                <a16:creationId xmlns:a16="http://schemas.microsoft.com/office/drawing/2014/main" id="{F191F0CD-C374-9758-DDF4-3713CE1D28E1}"/>
              </a:ext>
            </a:extLst>
          </p:cNvPr>
          <p:cNvPicPr>
            <a:picLocks noChangeAspect="1"/>
          </p:cNvPicPr>
          <p:nvPr/>
        </p:nvPicPr>
        <p:blipFill>
          <a:blip r:embed="rId2"/>
          <a:stretch>
            <a:fillRect/>
          </a:stretch>
        </p:blipFill>
        <p:spPr>
          <a:xfrm>
            <a:off x="91439" y="1828799"/>
            <a:ext cx="11829704" cy="2721491"/>
          </a:xfrm>
          <a:prstGeom prst="rect">
            <a:avLst/>
          </a:prstGeom>
        </p:spPr>
      </p:pic>
    </p:spTree>
    <p:extLst>
      <p:ext uri="{BB962C8B-B14F-4D97-AF65-F5344CB8AC3E}">
        <p14:creationId xmlns:p14="http://schemas.microsoft.com/office/powerpoint/2010/main" val="2557490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F609-4E0F-F433-2BD4-394F1F664D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9F2F38-AC97-5CC5-0803-102F5311B421}"/>
              </a:ext>
            </a:extLst>
          </p:cNvPr>
          <p:cNvSpPr>
            <a:spLocks noGrp="1"/>
          </p:cNvSpPr>
          <p:nvPr>
            <p:ph idx="1"/>
          </p:nvPr>
        </p:nvSpPr>
        <p:spPr/>
        <p:txBody>
          <a:bodyPr>
            <a:normAutofit/>
          </a:bodyPr>
          <a:lstStyle/>
          <a:p>
            <a:r>
              <a:rPr lang="en-US" dirty="0"/>
              <a:t>in SQL, CARTESIAN PRODUCT can be realized by using CROSS JOIN option in joined tables </a:t>
            </a:r>
          </a:p>
          <a:p>
            <a:r>
              <a:rPr lang="en-US" dirty="0"/>
              <a:t>alternatively, if there are two tables in FROM clause and there is no corresponding join condition in WHERE clause of SQL query, result will also be CARTESIAN PRODUCT of the two tables</a:t>
            </a:r>
          </a:p>
        </p:txBody>
      </p:sp>
      <p:sp>
        <p:nvSpPr>
          <p:cNvPr id="4" name="Slide Number Placeholder 3">
            <a:extLst>
              <a:ext uri="{FF2B5EF4-FFF2-40B4-BE49-F238E27FC236}">
                <a16:creationId xmlns:a16="http://schemas.microsoft.com/office/drawing/2014/main" id="{B1F1E199-9218-3210-FF84-2BD0ACE0CD74}"/>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3480388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31CC-8F81-7920-7F6F-A223EDB6BD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24AB66-CC11-A791-3AC7-5E4201DB029F}"/>
              </a:ext>
            </a:extLst>
          </p:cNvPr>
          <p:cNvSpPr>
            <a:spLocks noGrp="1"/>
          </p:cNvSpPr>
          <p:nvPr>
            <p:ph idx="1"/>
          </p:nvPr>
        </p:nvSpPr>
        <p:spPr/>
        <p:txBody>
          <a:bodyPr>
            <a:normAutofit/>
          </a:bodyPr>
          <a:lstStyle/>
          <a:p>
            <a:r>
              <a:rPr lang="en-US" dirty="0"/>
              <a:t>CARTESIAN PRODUCT creates tuples with combined attributes of two relations</a:t>
            </a:r>
          </a:p>
          <a:p>
            <a:r>
              <a:rPr lang="en-US" dirty="0"/>
              <a:t>can SELECT </a:t>
            </a:r>
            <a:r>
              <a:rPr lang="en-US" i="1" dirty="0"/>
              <a:t>related tuples only </a:t>
            </a:r>
            <a:r>
              <a:rPr lang="en-US" dirty="0"/>
              <a:t>from two relations by specifying appropriate selection condition after the Cartesian product</a:t>
            </a:r>
          </a:p>
          <a:p>
            <a:r>
              <a:rPr lang="en-US" dirty="0"/>
              <a:t>because this sequence of CARTESIAN PRODUCT followed by SELECT is quite commonly used to combine </a:t>
            </a:r>
            <a:r>
              <a:rPr lang="en-US" i="1" dirty="0"/>
              <a:t>related tuples </a:t>
            </a:r>
            <a:r>
              <a:rPr lang="en-US" dirty="0"/>
              <a:t>from two relations, a special operation, called JOIN, was created to specify this sequence as a single operation</a:t>
            </a:r>
          </a:p>
        </p:txBody>
      </p:sp>
      <p:sp>
        <p:nvSpPr>
          <p:cNvPr id="4" name="Slide Number Placeholder 3">
            <a:extLst>
              <a:ext uri="{FF2B5EF4-FFF2-40B4-BE49-F238E27FC236}">
                <a16:creationId xmlns:a16="http://schemas.microsoft.com/office/drawing/2014/main" id="{F194819F-CBBF-7814-A5C5-F302001D7827}"/>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2982478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610A-2C39-0206-4C5D-8A085257460E}"/>
              </a:ext>
            </a:extLst>
          </p:cNvPr>
          <p:cNvSpPr>
            <a:spLocks noGrp="1"/>
          </p:cNvSpPr>
          <p:nvPr>
            <p:ph type="title"/>
          </p:nvPr>
        </p:nvSpPr>
        <p:spPr/>
        <p:txBody>
          <a:bodyPr/>
          <a:lstStyle/>
          <a:p>
            <a:r>
              <a:rPr lang="en-US" dirty="0"/>
              <a:t>JOIN Operation</a:t>
            </a:r>
          </a:p>
        </p:txBody>
      </p:sp>
      <p:sp>
        <p:nvSpPr>
          <p:cNvPr id="3" name="Content Placeholder 2">
            <a:extLst>
              <a:ext uri="{FF2B5EF4-FFF2-40B4-BE49-F238E27FC236}">
                <a16:creationId xmlns:a16="http://schemas.microsoft.com/office/drawing/2014/main" id="{08040E21-E1D5-B41F-526D-C40F44AC876E}"/>
              </a:ext>
            </a:extLst>
          </p:cNvPr>
          <p:cNvSpPr>
            <a:spLocks noGrp="1"/>
          </p:cNvSpPr>
          <p:nvPr>
            <p:ph idx="1"/>
          </p:nvPr>
        </p:nvSpPr>
        <p:spPr/>
        <p:txBody>
          <a:bodyPr>
            <a:noAutofit/>
          </a:bodyPr>
          <a:lstStyle/>
          <a:p>
            <a:r>
              <a:rPr lang="en-US" dirty="0"/>
              <a:t>denoted by </a:t>
            </a:r>
            <a:r>
              <a:rPr lang="en-US" sz="3200" dirty="0"/>
              <a:t>⨝</a:t>
            </a:r>
            <a:r>
              <a:rPr lang="en-US" dirty="0"/>
              <a:t> is used to combine </a:t>
            </a:r>
            <a:r>
              <a:rPr lang="en-US" i="1" dirty="0"/>
              <a:t>related tuples </a:t>
            </a:r>
            <a:r>
              <a:rPr lang="en-US" dirty="0"/>
              <a:t>from two relations into single tuples</a:t>
            </a:r>
          </a:p>
          <a:p>
            <a:r>
              <a:rPr lang="en-US" dirty="0"/>
              <a:t>important for relational database because it allows to process relationships among relations</a:t>
            </a:r>
          </a:p>
          <a:p>
            <a:r>
              <a:rPr lang="en-US" dirty="0"/>
              <a:t>for example, to retrieve name of manager of each department, need to combine each department tuple with employee tuple whose </a:t>
            </a:r>
            <a:r>
              <a:rPr lang="en-US" dirty="0" err="1"/>
              <a:t>Ssn</a:t>
            </a:r>
            <a:r>
              <a:rPr lang="en-US" dirty="0"/>
              <a:t> value matches the </a:t>
            </a:r>
            <a:r>
              <a:rPr lang="en-US" dirty="0" err="1"/>
              <a:t>Mgr_ssn</a:t>
            </a:r>
            <a:r>
              <a:rPr lang="en-US" dirty="0"/>
              <a:t> value in department tuple</a:t>
            </a:r>
          </a:p>
          <a:p>
            <a:r>
              <a:rPr lang="en-US" dirty="0"/>
              <a:t>DEPT_MGR ← DEPARTMENT </a:t>
            </a:r>
            <a:r>
              <a:rPr lang="en-US" sz="4000" dirty="0"/>
              <a:t>⨝</a:t>
            </a:r>
            <a:r>
              <a:rPr lang="en-US" sz="3200" baseline="-25000" dirty="0" err="1"/>
              <a:t>Mgr_ssn</a:t>
            </a:r>
            <a:r>
              <a:rPr lang="en-US" sz="3200" baseline="-25000" dirty="0"/>
              <a:t>=</a:t>
            </a:r>
            <a:r>
              <a:rPr lang="en-US" sz="3200" baseline="-25000" dirty="0" err="1"/>
              <a:t>Ssn</a:t>
            </a:r>
            <a:r>
              <a:rPr lang="en-US" dirty="0" err="1"/>
              <a:t>EMPLOYEE</a:t>
            </a:r>
            <a:endParaRPr lang="en-US" dirty="0"/>
          </a:p>
          <a:p>
            <a:r>
              <a:rPr lang="en-US" dirty="0"/>
              <a:t>RESULT ← </a:t>
            </a:r>
            <a:r>
              <a:rPr lang="el-GR" sz="4400" dirty="0"/>
              <a:t>π</a:t>
            </a:r>
            <a:r>
              <a:rPr lang="en-US" sz="3200" baseline="-25000" dirty="0" err="1"/>
              <a:t>Dname</a:t>
            </a:r>
            <a:r>
              <a:rPr lang="en-US" sz="3200" baseline="-25000" dirty="0"/>
              <a:t>, </a:t>
            </a:r>
            <a:r>
              <a:rPr lang="en-US" sz="3200" baseline="-25000" dirty="0" err="1"/>
              <a:t>Lname</a:t>
            </a:r>
            <a:r>
              <a:rPr lang="en-US" sz="3200" baseline="-25000" dirty="0"/>
              <a:t>, </a:t>
            </a:r>
            <a:r>
              <a:rPr lang="en-US" sz="3200" baseline="-25000" dirty="0" err="1"/>
              <a:t>Fname</a:t>
            </a:r>
            <a:r>
              <a:rPr lang="en-US" dirty="0"/>
              <a:t>(DEPT_MGR)</a:t>
            </a:r>
          </a:p>
        </p:txBody>
      </p:sp>
      <p:sp>
        <p:nvSpPr>
          <p:cNvPr id="4" name="Slide Number Placeholder 3">
            <a:extLst>
              <a:ext uri="{FF2B5EF4-FFF2-40B4-BE49-F238E27FC236}">
                <a16:creationId xmlns:a16="http://schemas.microsoft.com/office/drawing/2014/main" id="{488B23D5-6DAA-E0A8-D935-75B63ECF4F86}"/>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12846290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484C4-4E94-9B0E-0210-20A18075045D}"/>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69F4DFDD-28DA-6F7A-AF43-4781F5DAD8CC}"/>
              </a:ext>
            </a:extLst>
          </p:cNvPr>
          <p:cNvPicPr>
            <a:picLocks noGrp="1" noChangeAspect="1"/>
          </p:cNvPicPr>
          <p:nvPr>
            <p:ph idx="1"/>
          </p:nvPr>
        </p:nvPicPr>
        <p:blipFill>
          <a:blip r:embed="rId2"/>
          <a:stretch>
            <a:fillRect/>
          </a:stretch>
        </p:blipFill>
        <p:spPr>
          <a:xfrm>
            <a:off x="91440" y="2286000"/>
            <a:ext cx="12051846" cy="2231482"/>
          </a:xfrm>
          <a:prstGeom prst="rect">
            <a:avLst/>
          </a:prstGeom>
        </p:spPr>
      </p:pic>
      <p:sp>
        <p:nvSpPr>
          <p:cNvPr id="4" name="Slide Number Placeholder 3">
            <a:extLst>
              <a:ext uri="{FF2B5EF4-FFF2-40B4-BE49-F238E27FC236}">
                <a16:creationId xmlns:a16="http://schemas.microsoft.com/office/drawing/2014/main" id="{B753A759-B0F6-60E6-FE89-8640CB58D9F7}"/>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05078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5787D-E553-BC42-D3CA-A52CF4035C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3A9A52-C4D1-5A0B-16F2-5B85C31BB33C}"/>
              </a:ext>
            </a:extLst>
          </p:cNvPr>
          <p:cNvSpPr>
            <a:spLocks noGrp="1"/>
          </p:cNvSpPr>
          <p:nvPr>
            <p:ph idx="1"/>
          </p:nvPr>
        </p:nvSpPr>
        <p:spPr/>
        <p:txBody>
          <a:bodyPr>
            <a:noAutofit/>
          </a:bodyPr>
          <a:lstStyle/>
          <a:p>
            <a:r>
              <a:rPr lang="en-US" dirty="0"/>
              <a:t>note that </a:t>
            </a:r>
            <a:r>
              <a:rPr lang="en-US" dirty="0" err="1"/>
              <a:t>Mgr_ssn</a:t>
            </a:r>
            <a:r>
              <a:rPr lang="en-US" dirty="0"/>
              <a:t> is foreign key of the DEPARTMENT relation that references </a:t>
            </a:r>
            <a:r>
              <a:rPr lang="en-US" dirty="0" err="1"/>
              <a:t>Ssn</a:t>
            </a:r>
            <a:r>
              <a:rPr lang="en-US" dirty="0"/>
              <a:t>, primary key of EMPLOYEE relation</a:t>
            </a:r>
          </a:p>
          <a:p>
            <a:r>
              <a:rPr lang="en-US" dirty="0"/>
              <a:t>referential integrity constraint plays a role in having matching tuples in referenced relation</a:t>
            </a:r>
          </a:p>
          <a:p>
            <a:r>
              <a:rPr lang="en-US" dirty="0"/>
              <a:t>JOIN operation can be specified as CARTESIAN PRODUCT operation followed by a SELECT operation</a:t>
            </a:r>
          </a:p>
        </p:txBody>
      </p:sp>
      <p:sp>
        <p:nvSpPr>
          <p:cNvPr id="4" name="Slide Number Placeholder 3">
            <a:extLst>
              <a:ext uri="{FF2B5EF4-FFF2-40B4-BE49-F238E27FC236}">
                <a16:creationId xmlns:a16="http://schemas.microsoft.com/office/drawing/2014/main" id="{2E35FB5F-D6CC-26F6-3392-A3811E69F5DE}"/>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27266391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8A5A-9A50-0FE1-6F91-4A477F83CE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6C543D-3208-549F-1345-4B0497AAE274}"/>
              </a:ext>
            </a:extLst>
          </p:cNvPr>
          <p:cNvSpPr>
            <a:spLocks noGrp="1"/>
          </p:cNvSpPr>
          <p:nvPr>
            <p:ph idx="1"/>
          </p:nvPr>
        </p:nvSpPr>
        <p:spPr/>
        <p:txBody>
          <a:bodyPr/>
          <a:lstStyle/>
          <a:p>
            <a:r>
              <a:rPr lang="en-US" dirty="0"/>
              <a:t>EMP_DEPENDENTS ← EMPNAMES </a:t>
            </a:r>
            <a:r>
              <a:rPr lang="en-US" sz="3200" dirty="0"/>
              <a:t>×</a:t>
            </a:r>
            <a:r>
              <a:rPr lang="en-US" dirty="0"/>
              <a:t> DEPENDENT</a:t>
            </a:r>
          </a:p>
          <a:p>
            <a:r>
              <a:rPr lang="en-US" dirty="0"/>
              <a:t>ACTUAL_DEPENDENTS ← </a:t>
            </a:r>
            <a:r>
              <a:rPr lang="en-US" sz="4400" dirty="0" err="1"/>
              <a:t>σ</a:t>
            </a:r>
            <a:r>
              <a:rPr lang="en-US" sz="3200" baseline="-25000" dirty="0" err="1"/>
              <a:t>Ssn</a:t>
            </a:r>
            <a:r>
              <a:rPr lang="en-US" sz="3200" baseline="-25000" dirty="0"/>
              <a:t>=</a:t>
            </a:r>
            <a:r>
              <a:rPr lang="en-US" sz="3200" baseline="-25000" dirty="0" err="1"/>
              <a:t>Essn</a:t>
            </a:r>
            <a:r>
              <a:rPr lang="en-US" dirty="0"/>
              <a:t>(EMP_DEPENDENTS)</a:t>
            </a:r>
          </a:p>
          <a:p>
            <a:endParaRPr lang="en-US" sz="1600" dirty="0"/>
          </a:p>
          <a:p>
            <a:r>
              <a:rPr lang="en-US" dirty="0"/>
              <a:t>can be replaced with single JOIN operation:</a:t>
            </a:r>
          </a:p>
          <a:p>
            <a:endParaRPr lang="pt-BR" sz="1600" dirty="0"/>
          </a:p>
          <a:p>
            <a:r>
              <a:rPr lang="pt-BR" dirty="0"/>
              <a:t>ACTUAL_DEPENDENTS ← EMPNAMES</a:t>
            </a:r>
            <a:r>
              <a:rPr lang="en-US" sz="3600" dirty="0"/>
              <a:t>⨝</a:t>
            </a:r>
            <a:r>
              <a:rPr lang="pt-BR" sz="3200" baseline="-25000" dirty="0"/>
              <a:t>Ssn=Essn</a:t>
            </a:r>
            <a:r>
              <a:rPr lang="pt-BR" dirty="0"/>
              <a:t>DEPENDENT</a:t>
            </a:r>
            <a:endParaRPr lang="en-US" dirty="0"/>
          </a:p>
          <a:p>
            <a:endParaRPr lang="en-US" dirty="0"/>
          </a:p>
        </p:txBody>
      </p:sp>
      <p:sp>
        <p:nvSpPr>
          <p:cNvPr id="4" name="Slide Number Placeholder 3">
            <a:extLst>
              <a:ext uri="{FF2B5EF4-FFF2-40B4-BE49-F238E27FC236}">
                <a16:creationId xmlns:a16="http://schemas.microsoft.com/office/drawing/2014/main" id="{D84C3AA7-B2CC-1676-B292-D6F2FCA9606F}"/>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28809550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E4A0-4B78-81C7-22BC-61888FFC9F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60A8D5-C5B4-BE11-673C-D5025079E449}"/>
              </a:ext>
            </a:extLst>
          </p:cNvPr>
          <p:cNvSpPr>
            <a:spLocks noGrp="1"/>
          </p:cNvSpPr>
          <p:nvPr>
            <p:ph idx="1"/>
          </p:nvPr>
        </p:nvSpPr>
        <p:spPr/>
        <p:txBody>
          <a:bodyPr>
            <a:noAutofit/>
          </a:bodyPr>
          <a:lstStyle/>
          <a:p>
            <a:r>
              <a:rPr lang="en-US" dirty="0"/>
              <a:t>general form of a JOIN operation on two relations </a:t>
            </a:r>
            <a:r>
              <a:rPr lang="en-US" i="1" dirty="0"/>
              <a:t>R</a:t>
            </a:r>
            <a:r>
              <a:rPr lang="en-US" dirty="0"/>
              <a:t>(</a:t>
            </a:r>
            <a:r>
              <a:rPr lang="en-US" i="1" dirty="0"/>
              <a:t>A</a:t>
            </a:r>
            <a:r>
              <a:rPr lang="en-US" dirty="0"/>
              <a:t>1, </a:t>
            </a:r>
            <a:r>
              <a:rPr lang="en-US" i="1" dirty="0"/>
              <a:t>A</a:t>
            </a:r>
            <a:r>
              <a:rPr lang="en-US" dirty="0"/>
              <a:t>2, … , </a:t>
            </a:r>
            <a:r>
              <a:rPr lang="en-US" i="1" dirty="0"/>
              <a:t>An</a:t>
            </a:r>
            <a:r>
              <a:rPr lang="en-US" dirty="0"/>
              <a:t>) and </a:t>
            </a:r>
            <a:r>
              <a:rPr lang="en-US" i="1" dirty="0"/>
              <a:t>S</a:t>
            </a:r>
            <a:r>
              <a:rPr lang="en-US" dirty="0"/>
              <a:t>(</a:t>
            </a:r>
            <a:r>
              <a:rPr lang="en-US" i="1" dirty="0"/>
              <a:t>B</a:t>
            </a:r>
            <a:r>
              <a:rPr lang="en-US" dirty="0"/>
              <a:t>1, </a:t>
            </a:r>
            <a:r>
              <a:rPr lang="en-US" i="1" dirty="0"/>
              <a:t>B</a:t>
            </a:r>
            <a:r>
              <a:rPr lang="en-US" dirty="0"/>
              <a:t>2, … , </a:t>
            </a:r>
            <a:r>
              <a:rPr lang="en-US" i="1" dirty="0"/>
              <a:t>Bm</a:t>
            </a:r>
            <a:r>
              <a:rPr lang="en-US" dirty="0"/>
              <a:t>) is</a:t>
            </a:r>
          </a:p>
          <a:p>
            <a:r>
              <a:rPr lang="en-US" i="1" dirty="0"/>
              <a:t>R </a:t>
            </a:r>
            <a:r>
              <a:rPr lang="en-US" sz="3600" dirty="0"/>
              <a:t>⨝</a:t>
            </a:r>
            <a:r>
              <a:rPr lang="pt-BR" sz="3200" baseline="-25000" dirty="0"/>
              <a:t>&lt;join condition&gt;</a:t>
            </a:r>
            <a:r>
              <a:rPr lang="en-US" i="1" dirty="0"/>
              <a:t> S</a:t>
            </a:r>
          </a:p>
          <a:p>
            <a:r>
              <a:rPr lang="en-US" dirty="0"/>
              <a:t>result of the JOIN is relation </a:t>
            </a:r>
            <a:r>
              <a:rPr lang="en-US" i="1" dirty="0"/>
              <a:t>Q </a:t>
            </a:r>
            <a:r>
              <a:rPr lang="en-US" dirty="0"/>
              <a:t>with </a:t>
            </a:r>
            <a:r>
              <a:rPr lang="en-US" i="1" dirty="0"/>
              <a:t>n </a:t>
            </a:r>
            <a:r>
              <a:rPr lang="en-US" dirty="0"/>
              <a:t>+ </a:t>
            </a:r>
            <a:r>
              <a:rPr lang="en-US" i="1" dirty="0"/>
              <a:t>m </a:t>
            </a:r>
            <a:r>
              <a:rPr lang="en-US" dirty="0"/>
              <a:t>attributes </a:t>
            </a:r>
            <a:r>
              <a:rPr lang="en-US" i="1" dirty="0"/>
              <a:t>Q</a:t>
            </a:r>
            <a:r>
              <a:rPr lang="en-US" dirty="0"/>
              <a:t>(</a:t>
            </a:r>
            <a:r>
              <a:rPr lang="en-US" i="1" dirty="0"/>
              <a:t>A</a:t>
            </a:r>
            <a:r>
              <a:rPr lang="en-US" dirty="0"/>
              <a:t>1, </a:t>
            </a:r>
            <a:r>
              <a:rPr lang="en-US" i="1" dirty="0"/>
              <a:t>A</a:t>
            </a:r>
            <a:r>
              <a:rPr lang="en-US" dirty="0"/>
              <a:t>2, … , </a:t>
            </a:r>
            <a:r>
              <a:rPr lang="en-US" i="1" dirty="0"/>
              <a:t>An</a:t>
            </a:r>
            <a:r>
              <a:rPr lang="en-US" dirty="0"/>
              <a:t>, </a:t>
            </a:r>
            <a:r>
              <a:rPr lang="en-US" i="1" dirty="0"/>
              <a:t>B</a:t>
            </a:r>
            <a:r>
              <a:rPr lang="en-US" dirty="0"/>
              <a:t>1, </a:t>
            </a:r>
            <a:r>
              <a:rPr lang="en-US" i="1" dirty="0"/>
              <a:t>B</a:t>
            </a:r>
            <a:r>
              <a:rPr lang="en-US" dirty="0"/>
              <a:t>2,… , </a:t>
            </a:r>
            <a:r>
              <a:rPr lang="en-US" i="1" dirty="0"/>
              <a:t>Bm</a:t>
            </a:r>
            <a:r>
              <a:rPr lang="en-US" dirty="0"/>
              <a:t>) in that order; </a:t>
            </a:r>
            <a:r>
              <a:rPr lang="en-US" i="1" dirty="0"/>
              <a:t>Q </a:t>
            </a:r>
            <a:r>
              <a:rPr lang="en-US" dirty="0"/>
              <a:t>has one tuple for each combination of tuples, one from </a:t>
            </a:r>
            <a:r>
              <a:rPr lang="en-US" i="1" dirty="0"/>
              <a:t>R </a:t>
            </a:r>
            <a:r>
              <a:rPr lang="en-US" dirty="0"/>
              <a:t>and one from </a:t>
            </a:r>
            <a:r>
              <a:rPr lang="en-US" i="1" dirty="0"/>
              <a:t>S, whenever combination satisfies the join condition - </a:t>
            </a:r>
            <a:r>
              <a:rPr lang="en-US" dirty="0"/>
              <a:t>main difference between CARTESIAN PRODUCT and JOIN - in JOIN, only combinations of tuples </a:t>
            </a:r>
            <a:r>
              <a:rPr lang="en-US" i="1" dirty="0"/>
              <a:t>satisfying join condition </a:t>
            </a:r>
            <a:r>
              <a:rPr lang="en-US" dirty="0"/>
              <a:t>appear in result, whereas in CARTESIAN PRODUCT </a:t>
            </a:r>
            <a:r>
              <a:rPr lang="en-US" i="1" dirty="0"/>
              <a:t>all </a:t>
            </a:r>
            <a:r>
              <a:rPr lang="en-US" dirty="0"/>
              <a:t>combinations of tuples are included in result</a:t>
            </a:r>
          </a:p>
        </p:txBody>
      </p:sp>
      <p:sp>
        <p:nvSpPr>
          <p:cNvPr id="4" name="Slide Number Placeholder 3">
            <a:extLst>
              <a:ext uri="{FF2B5EF4-FFF2-40B4-BE49-F238E27FC236}">
                <a16:creationId xmlns:a16="http://schemas.microsoft.com/office/drawing/2014/main" id="{8024D00F-E150-342C-232E-D546FB74CA01}"/>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2943330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4C9F5-DAB1-4DA7-7CFC-558E33F0F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386A0-0A99-2024-81A1-9DC68B91FF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C37C4D-9739-A780-CC8C-E5F7889AA89C}"/>
              </a:ext>
            </a:extLst>
          </p:cNvPr>
          <p:cNvSpPr>
            <a:spLocks noGrp="1"/>
          </p:cNvSpPr>
          <p:nvPr>
            <p:ph idx="1"/>
          </p:nvPr>
        </p:nvSpPr>
        <p:spPr>
          <a:xfrm>
            <a:off x="838200" y="1825625"/>
            <a:ext cx="10803194" cy="4351338"/>
          </a:xfrm>
        </p:spPr>
        <p:txBody>
          <a:bodyPr>
            <a:noAutofit/>
          </a:bodyPr>
          <a:lstStyle/>
          <a:p>
            <a:r>
              <a:rPr lang="en-US" dirty="0"/>
              <a:t>join condition is specified on attributes from the two relations </a:t>
            </a:r>
            <a:r>
              <a:rPr lang="en-US" i="1" dirty="0"/>
              <a:t>R </a:t>
            </a:r>
            <a:r>
              <a:rPr lang="en-US" dirty="0"/>
              <a:t>and </a:t>
            </a:r>
            <a:r>
              <a:rPr lang="en-US" i="1" dirty="0"/>
              <a:t>S </a:t>
            </a:r>
            <a:r>
              <a:rPr lang="en-US" dirty="0"/>
              <a:t>and is evaluated for each combination of tuples</a:t>
            </a:r>
          </a:p>
          <a:p>
            <a:r>
              <a:rPr lang="en-US" dirty="0"/>
              <a:t>general join condition is of the form</a:t>
            </a:r>
          </a:p>
          <a:p>
            <a:r>
              <a:rPr lang="en-US" dirty="0"/>
              <a:t>&lt;condition&gt; </a:t>
            </a:r>
            <a:r>
              <a:rPr lang="en-US" b="1" dirty="0"/>
              <a:t>AND </a:t>
            </a:r>
            <a:r>
              <a:rPr lang="en-US" dirty="0"/>
              <a:t>&lt;condition&gt; </a:t>
            </a:r>
            <a:r>
              <a:rPr lang="en-US" b="1" dirty="0"/>
              <a:t>AND … AND </a:t>
            </a:r>
            <a:r>
              <a:rPr lang="en-US" dirty="0"/>
              <a:t>&lt;condition&gt;</a:t>
            </a:r>
          </a:p>
          <a:p>
            <a:r>
              <a:rPr lang="en-US" dirty="0"/>
              <a:t>where each &lt;condition&gt; is of the form </a:t>
            </a:r>
            <a:r>
              <a:rPr lang="en-US" i="1" dirty="0"/>
              <a:t>A</a:t>
            </a:r>
            <a:r>
              <a:rPr lang="en-US" i="1" baseline="-25000" dirty="0"/>
              <a:t>i</a:t>
            </a:r>
            <a:r>
              <a:rPr lang="en-US" i="1" dirty="0"/>
              <a:t> </a:t>
            </a:r>
            <a:r>
              <a:rPr lang="en-US" sz="3200" dirty="0"/>
              <a:t>θ</a:t>
            </a:r>
            <a:r>
              <a:rPr lang="en-US" dirty="0"/>
              <a:t> </a:t>
            </a:r>
            <a:r>
              <a:rPr lang="en-US" i="1" dirty="0" err="1"/>
              <a:t>B</a:t>
            </a:r>
            <a:r>
              <a:rPr lang="en-US" i="1" baseline="-25000" dirty="0" err="1"/>
              <a:t>j</a:t>
            </a:r>
            <a:r>
              <a:rPr lang="en-US" dirty="0"/>
              <a:t>, </a:t>
            </a:r>
            <a:r>
              <a:rPr lang="en-US" i="1" dirty="0"/>
              <a:t>A</a:t>
            </a:r>
            <a:r>
              <a:rPr lang="en-US" i="1" baseline="-25000" dirty="0"/>
              <a:t>i</a:t>
            </a:r>
            <a:r>
              <a:rPr lang="en-US" i="1" dirty="0"/>
              <a:t> </a:t>
            </a:r>
            <a:r>
              <a:rPr lang="en-US" dirty="0"/>
              <a:t>is attribute of </a:t>
            </a:r>
            <a:r>
              <a:rPr lang="en-US" i="1" dirty="0"/>
              <a:t>R</a:t>
            </a:r>
            <a:r>
              <a:rPr lang="en-US" dirty="0"/>
              <a:t>, </a:t>
            </a:r>
            <a:r>
              <a:rPr lang="en-US" i="1" dirty="0" err="1"/>
              <a:t>B</a:t>
            </a:r>
            <a:r>
              <a:rPr lang="en-US" i="1" baseline="-25000" dirty="0" err="1"/>
              <a:t>j</a:t>
            </a:r>
            <a:r>
              <a:rPr lang="en-US" i="1" dirty="0"/>
              <a:t> </a:t>
            </a:r>
            <a:r>
              <a:rPr lang="en-US" dirty="0"/>
              <a:t>is attribute of </a:t>
            </a:r>
            <a:r>
              <a:rPr lang="en-US" i="1" dirty="0"/>
              <a:t>S</a:t>
            </a:r>
            <a:r>
              <a:rPr lang="en-US" dirty="0"/>
              <a:t>, </a:t>
            </a:r>
            <a:r>
              <a:rPr lang="en-US" i="1" dirty="0"/>
              <a:t>A</a:t>
            </a:r>
            <a:r>
              <a:rPr lang="en-US" i="1" baseline="-25000" dirty="0"/>
              <a:t>i</a:t>
            </a:r>
            <a:r>
              <a:rPr lang="en-US" i="1" dirty="0"/>
              <a:t> </a:t>
            </a:r>
            <a:r>
              <a:rPr lang="en-US" dirty="0"/>
              <a:t>and </a:t>
            </a:r>
            <a:r>
              <a:rPr lang="en-US" i="1" dirty="0" err="1"/>
              <a:t>B</a:t>
            </a:r>
            <a:r>
              <a:rPr lang="en-US" i="1" baseline="-25000" dirty="0" err="1"/>
              <a:t>j</a:t>
            </a:r>
            <a:r>
              <a:rPr lang="en-US" i="1" dirty="0"/>
              <a:t> </a:t>
            </a:r>
            <a:r>
              <a:rPr lang="en-US" dirty="0"/>
              <a:t>have the same domain, and </a:t>
            </a:r>
            <a:r>
              <a:rPr lang="en-US" sz="3200" dirty="0"/>
              <a:t>θ</a:t>
            </a:r>
            <a:r>
              <a:rPr lang="en-US" dirty="0"/>
              <a:t> (theta) is one of the comparison operators {=, &lt;, ≤, &gt;, ≥, ≠}</a:t>
            </a:r>
          </a:p>
          <a:p>
            <a:r>
              <a:rPr lang="en-US" dirty="0"/>
              <a:t>a JOIN operation with such a general join condition is called </a:t>
            </a:r>
            <a:r>
              <a:rPr lang="en-US" b="1" dirty="0"/>
              <a:t>THETA JOIN</a:t>
            </a:r>
            <a:endParaRPr lang="en-US" dirty="0"/>
          </a:p>
        </p:txBody>
      </p:sp>
      <p:sp>
        <p:nvSpPr>
          <p:cNvPr id="4" name="Slide Number Placeholder 3">
            <a:extLst>
              <a:ext uri="{FF2B5EF4-FFF2-40B4-BE49-F238E27FC236}">
                <a16:creationId xmlns:a16="http://schemas.microsoft.com/office/drawing/2014/main" id="{2BA31A38-6E0E-0CB3-1585-9F5E3742A47C}"/>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11070471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54E139-FCD9-035C-D13B-E0215806E779}"/>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C4B1CC5A-FFC1-0FB5-BF5C-CB7CC95B8E64}"/>
              </a:ext>
            </a:extLst>
          </p:cNvPr>
          <p:cNvSpPr>
            <a:spLocks noGrp="1"/>
          </p:cNvSpPr>
          <p:nvPr>
            <p:ph sz="half" idx="1"/>
          </p:nvPr>
        </p:nvSpPr>
        <p:spPr>
          <a:xfrm>
            <a:off x="838200" y="365125"/>
            <a:ext cx="5181600" cy="5811838"/>
          </a:xfrm>
        </p:spPr>
        <p:txBody>
          <a:bodyPr>
            <a:noAutofit/>
          </a:bodyPr>
          <a:lstStyle/>
          <a:p>
            <a:r>
              <a:rPr lang="en-US" sz="2700" dirty="0"/>
              <a:t>Alpha - </a:t>
            </a:r>
            <a:r>
              <a:rPr lang="el-GR" sz="2700" dirty="0"/>
              <a:t>Α α</a:t>
            </a:r>
          </a:p>
          <a:p>
            <a:r>
              <a:rPr lang="en-US" sz="2700" dirty="0"/>
              <a:t>Beta - </a:t>
            </a:r>
            <a:r>
              <a:rPr lang="el-GR" sz="2700" dirty="0"/>
              <a:t>Β β</a:t>
            </a:r>
          </a:p>
          <a:p>
            <a:r>
              <a:rPr lang="en-US" sz="2700" dirty="0"/>
              <a:t>Gamma - </a:t>
            </a:r>
            <a:r>
              <a:rPr lang="el-GR" sz="2700" dirty="0"/>
              <a:t>Γ γ</a:t>
            </a:r>
          </a:p>
          <a:p>
            <a:r>
              <a:rPr lang="en-US" sz="2700" dirty="0"/>
              <a:t>Delta - </a:t>
            </a:r>
            <a:r>
              <a:rPr lang="el-GR" sz="2700" dirty="0"/>
              <a:t>Δ δ</a:t>
            </a:r>
          </a:p>
          <a:p>
            <a:r>
              <a:rPr lang="en-US" sz="2700" dirty="0"/>
              <a:t>Epsilon - </a:t>
            </a:r>
            <a:r>
              <a:rPr lang="el-GR" sz="2700" dirty="0"/>
              <a:t>Ε ε</a:t>
            </a:r>
          </a:p>
          <a:p>
            <a:r>
              <a:rPr lang="en-US" sz="2700" dirty="0"/>
              <a:t>Zeta - </a:t>
            </a:r>
            <a:r>
              <a:rPr lang="el-GR" sz="2700" dirty="0"/>
              <a:t>Ζ ζ</a:t>
            </a:r>
          </a:p>
          <a:p>
            <a:r>
              <a:rPr lang="en-US" sz="2700" dirty="0"/>
              <a:t>Eta - </a:t>
            </a:r>
            <a:r>
              <a:rPr lang="el-GR" sz="2700" dirty="0"/>
              <a:t>Η η</a:t>
            </a:r>
          </a:p>
          <a:p>
            <a:r>
              <a:rPr lang="en-US" sz="2700" b="1" dirty="0"/>
              <a:t>Theta - </a:t>
            </a:r>
            <a:r>
              <a:rPr lang="el-GR" sz="2700" b="1" dirty="0"/>
              <a:t>Θ θ</a:t>
            </a:r>
          </a:p>
          <a:p>
            <a:r>
              <a:rPr lang="en-US" sz="2700" dirty="0"/>
              <a:t>Iota - </a:t>
            </a:r>
            <a:r>
              <a:rPr lang="el-GR" sz="2700" dirty="0"/>
              <a:t>Ι ι</a:t>
            </a:r>
          </a:p>
          <a:p>
            <a:r>
              <a:rPr lang="en-US" sz="2700" dirty="0"/>
              <a:t>Kappa - </a:t>
            </a:r>
            <a:r>
              <a:rPr lang="el-GR" sz="2700" dirty="0"/>
              <a:t>Κ κ</a:t>
            </a:r>
          </a:p>
          <a:p>
            <a:r>
              <a:rPr lang="en-US" sz="2700" dirty="0"/>
              <a:t>Lambda - </a:t>
            </a:r>
            <a:r>
              <a:rPr lang="el-GR" sz="2700" dirty="0"/>
              <a:t>Λ λ</a:t>
            </a:r>
          </a:p>
          <a:p>
            <a:r>
              <a:rPr lang="en-US" sz="2700" dirty="0"/>
              <a:t>Mu - </a:t>
            </a:r>
            <a:r>
              <a:rPr lang="el-GR" sz="2700" dirty="0"/>
              <a:t>Μ μ</a:t>
            </a:r>
          </a:p>
        </p:txBody>
      </p:sp>
      <p:sp>
        <p:nvSpPr>
          <p:cNvPr id="7" name="Content Placeholder 6">
            <a:extLst>
              <a:ext uri="{FF2B5EF4-FFF2-40B4-BE49-F238E27FC236}">
                <a16:creationId xmlns:a16="http://schemas.microsoft.com/office/drawing/2014/main" id="{1274A8FF-9205-F2A7-A11C-40F97B75DCCB}"/>
              </a:ext>
            </a:extLst>
          </p:cNvPr>
          <p:cNvSpPr>
            <a:spLocks noGrp="1"/>
          </p:cNvSpPr>
          <p:nvPr>
            <p:ph sz="half" idx="2"/>
          </p:nvPr>
        </p:nvSpPr>
        <p:spPr>
          <a:xfrm>
            <a:off x="6172200" y="365125"/>
            <a:ext cx="5181600" cy="5811838"/>
          </a:xfrm>
        </p:spPr>
        <p:txBody>
          <a:bodyPr>
            <a:noAutofit/>
          </a:bodyPr>
          <a:lstStyle/>
          <a:p>
            <a:r>
              <a:rPr lang="en-US" sz="2700" dirty="0"/>
              <a:t>Nu - </a:t>
            </a:r>
            <a:r>
              <a:rPr lang="el-GR" sz="2700" dirty="0"/>
              <a:t>Ν ν</a:t>
            </a:r>
          </a:p>
          <a:p>
            <a:r>
              <a:rPr lang="en-US" sz="2700" dirty="0"/>
              <a:t>Xi - </a:t>
            </a:r>
            <a:r>
              <a:rPr lang="el-GR" sz="2700" dirty="0"/>
              <a:t>Ξ ξ</a:t>
            </a:r>
          </a:p>
          <a:p>
            <a:r>
              <a:rPr lang="en-US" sz="2700" dirty="0"/>
              <a:t>Omicron - </a:t>
            </a:r>
            <a:r>
              <a:rPr lang="el-GR" sz="2700" dirty="0"/>
              <a:t>Ο ο</a:t>
            </a:r>
          </a:p>
          <a:p>
            <a:r>
              <a:rPr lang="en-US" sz="2700" b="1" dirty="0"/>
              <a:t>Pi - </a:t>
            </a:r>
            <a:r>
              <a:rPr lang="el-GR" sz="2700" b="1" dirty="0"/>
              <a:t>Π π</a:t>
            </a:r>
          </a:p>
          <a:p>
            <a:r>
              <a:rPr lang="en-US" sz="2700" b="1" dirty="0"/>
              <a:t>Rho - </a:t>
            </a:r>
            <a:r>
              <a:rPr lang="el-GR" sz="2700" b="1" dirty="0"/>
              <a:t>Ρ ρ</a:t>
            </a:r>
          </a:p>
          <a:p>
            <a:r>
              <a:rPr lang="en-US" sz="2700" b="1" dirty="0"/>
              <a:t>Sigma - </a:t>
            </a:r>
            <a:r>
              <a:rPr lang="el-GR" sz="2700" b="1" dirty="0"/>
              <a:t>Σ σ/ς</a:t>
            </a:r>
          </a:p>
          <a:p>
            <a:r>
              <a:rPr lang="en-US" sz="2700" dirty="0"/>
              <a:t>Tau - </a:t>
            </a:r>
            <a:r>
              <a:rPr lang="el-GR" sz="2700" dirty="0"/>
              <a:t>Τ τ</a:t>
            </a:r>
          </a:p>
          <a:p>
            <a:r>
              <a:rPr lang="en-US" sz="2700" dirty="0"/>
              <a:t>Upsilon - </a:t>
            </a:r>
            <a:r>
              <a:rPr lang="el-GR" sz="2700" dirty="0"/>
              <a:t>Υ υ</a:t>
            </a:r>
          </a:p>
          <a:p>
            <a:r>
              <a:rPr lang="en-US" sz="2700" dirty="0"/>
              <a:t>Phi - </a:t>
            </a:r>
            <a:r>
              <a:rPr lang="el-GR" sz="2700" dirty="0"/>
              <a:t>Φ φ</a:t>
            </a:r>
          </a:p>
          <a:p>
            <a:r>
              <a:rPr lang="en-US" sz="2700" dirty="0"/>
              <a:t>Chi - </a:t>
            </a:r>
            <a:r>
              <a:rPr lang="el-GR" sz="2700" dirty="0"/>
              <a:t>Χ χ</a:t>
            </a:r>
          </a:p>
          <a:p>
            <a:r>
              <a:rPr lang="en-US" sz="2700" dirty="0"/>
              <a:t>Psi - </a:t>
            </a:r>
            <a:r>
              <a:rPr lang="el-GR" sz="2700" dirty="0"/>
              <a:t>Ψ ψ</a:t>
            </a:r>
          </a:p>
          <a:p>
            <a:r>
              <a:rPr lang="en-US" sz="2700" dirty="0"/>
              <a:t>Omega - </a:t>
            </a:r>
            <a:r>
              <a:rPr lang="el-GR" sz="2700" dirty="0"/>
              <a:t>Ω ω</a:t>
            </a:r>
            <a:endParaRPr lang="en-US" sz="2700" dirty="0"/>
          </a:p>
        </p:txBody>
      </p:sp>
      <p:sp>
        <p:nvSpPr>
          <p:cNvPr id="4" name="Slide Number Placeholder 3">
            <a:extLst>
              <a:ext uri="{FF2B5EF4-FFF2-40B4-BE49-F238E27FC236}">
                <a16:creationId xmlns:a16="http://schemas.microsoft.com/office/drawing/2014/main" id="{1F8F5E83-F1DB-F545-9D88-F739A23E0CDF}"/>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16756149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8647-0B91-7C7F-7464-AF20F6C674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4EA4E2-F0B1-5B6B-118B-D3D7CE2C4EEF}"/>
              </a:ext>
            </a:extLst>
          </p:cNvPr>
          <p:cNvSpPr>
            <a:spLocks noGrp="1"/>
          </p:cNvSpPr>
          <p:nvPr>
            <p:ph idx="1"/>
          </p:nvPr>
        </p:nvSpPr>
        <p:spPr/>
        <p:txBody>
          <a:bodyPr/>
          <a:lstStyle/>
          <a:p>
            <a:r>
              <a:rPr lang="en-US" dirty="0"/>
              <a:t>tuples whose join attributes are NULL, or for which join condition is FALSE </a:t>
            </a:r>
            <a:r>
              <a:rPr lang="en-US" i="1" dirty="0"/>
              <a:t>do not </a:t>
            </a:r>
            <a:r>
              <a:rPr lang="en-US" dirty="0"/>
              <a:t>appear in result</a:t>
            </a:r>
          </a:p>
          <a:p>
            <a:r>
              <a:rPr lang="en-US" dirty="0"/>
              <a:t>JOIN operation does </a:t>
            </a:r>
            <a:r>
              <a:rPr lang="en-US" i="1" dirty="0"/>
              <a:t>not </a:t>
            </a:r>
            <a:r>
              <a:rPr lang="en-US" dirty="0"/>
              <a:t>necessarily preserve all of information in participating relations, because tuples that do not get combined with matching ones in other relation do not appear in result</a:t>
            </a:r>
          </a:p>
          <a:p>
            <a:endParaRPr lang="en-US" dirty="0"/>
          </a:p>
        </p:txBody>
      </p:sp>
      <p:sp>
        <p:nvSpPr>
          <p:cNvPr id="4" name="Slide Number Placeholder 3">
            <a:extLst>
              <a:ext uri="{FF2B5EF4-FFF2-40B4-BE49-F238E27FC236}">
                <a16:creationId xmlns:a16="http://schemas.microsoft.com/office/drawing/2014/main" id="{83549A44-5A8F-97A0-88CC-FB289E028B53}"/>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14147803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6D6C-A073-69A6-2482-446E61D4F06C}"/>
              </a:ext>
            </a:extLst>
          </p:cNvPr>
          <p:cNvSpPr>
            <a:spLocks noGrp="1"/>
          </p:cNvSpPr>
          <p:nvPr>
            <p:ph type="title"/>
          </p:nvPr>
        </p:nvSpPr>
        <p:spPr/>
        <p:txBody>
          <a:bodyPr/>
          <a:lstStyle/>
          <a:p>
            <a:r>
              <a:rPr lang="en-US" dirty="0"/>
              <a:t>EQUIJOIN</a:t>
            </a:r>
          </a:p>
        </p:txBody>
      </p:sp>
      <p:sp>
        <p:nvSpPr>
          <p:cNvPr id="3" name="Content Placeholder 2">
            <a:extLst>
              <a:ext uri="{FF2B5EF4-FFF2-40B4-BE49-F238E27FC236}">
                <a16:creationId xmlns:a16="http://schemas.microsoft.com/office/drawing/2014/main" id="{E2456037-7CD4-EA31-8B19-BD13E00EAA35}"/>
              </a:ext>
            </a:extLst>
          </p:cNvPr>
          <p:cNvSpPr>
            <a:spLocks noGrp="1"/>
          </p:cNvSpPr>
          <p:nvPr>
            <p:ph idx="1"/>
          </p:nvPr>
        </p:nvSpPr>
        <p:spPr>
          <a:xfrm>
            <a:off x="838199" y="1825625"/>
            <a:ext cx="11147323" cy="4351338"/>
          </a:xfrm>
        </p:spPr>
        <p:txBody>
          <a:bodyPr>
            <a:normAutofit/>
          </a:bodyPr>
          <a:lstStyle/>
          <a:p>
            <a:r>
              <a:rPr lang="en-US" dirty="0"/>
              <a:t>most common use of JOIN involves join conditions with equality comparisons only</a:t>
            </a:r>
          </a:p>
          <a:p>
            <a:r>
              <a:rPr lang="en-US" dirty="0"/>
              <a:t>such a JOIN, where only comparison operator used is =, is called EQUIJOIN</a:t>
            </a:r>
          </a:p>
          <a:p>
            <a:r>
              <a:rPr lang="en-US" dirty="0"/>
              <a:t>previous examples were EQUIJOINs</a:t>
            </a:r>
          </a:p>
          <a:p>
            <a:r>
              <a:rPr lang="en-US" dirty="0"/>
              <a:t>notice that in result of an EQUIJOIN we always have one or more pairs of attributes that have </a:t>
            </a:r>
            <a:r>
              <a:rPr lang="en-US" i="1" dirty="0"/>
              <a:t>identical values </a:t>
            </a:r>
            <a:r>
              <a:rPr lang="en-US" dirty="0"/>
              <a:t>in every tuple; for example, values of attributes </a:t>
            </a:r>
            <a:r>
              <a:rPr lang="en-US" dirty="0" err="1"/>
              <a:t>Mgr_ssn</a:t>
            </a:r>
            <a:r>
              <a:rPr lang="en-US" dirty="0"/>
              <a:t> and </a:t>
            </a:r>
            <a:r>
              <a:rPr lang="en-US" dirty="0" err="1"/>
              <a:t>Ssn</a:t>
            </a:r>
            <a:r>
              <a:rPr lang="en-US" dirty="0"/>
              <a:t> are identical in every tuple of DEPT_MGR (EQUIJOIN result) because the equality join condition specified on these two attributes </a:t>
            </a:r>
            <a:r>
              <a:rPr lang="en-US" i="1" dirty="0"/>
              <a:t>requires the values to be identical </a:t>
            </a:r>
            <a:r>
              <a:rPr lang="en-US" dirty="0"/>
              <a:t>in every tuple in the result</a:t>
            </a:r>
          </a:p>
        </p:txBody>
      </p:sp>
      <p:sp>
        <p:nvSpPr>
          <p:cNvPr id="4" name="Slide Number Placeholder 3">
            <a:extLst>
              <a:ext uri="{FF2B5EF4-FFF2-40B4-BE49-F238E27FC236}">
                <a16:creationId xmlns:a16="http://schemas.microsoft.com/office/drawing/2014/main" id="{35CC4193-CC48-7D6B-ED63-BFF2629659A7}"/>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38862511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2A768-E206-AD85-46D6-B5F928123D3B}"/>
              </a:ext>
            </a:extLst>
          </p:cNvPr>
          <p:cNvSpPr>
            <a:spLocks noGrp="1"/>
          </p:cNvSpPr>
          <p:nvPr>
            <p:ph type="title"/>
          </p:nvPr>
        </p:nvSpPr>
        <p:spPr/>
        <p:txBody>
          <a:bodyPr/>
          <a:lstStyle/>
          <a:p>
            <a:r>
              <a:rPr lang="en-US" dirty="0"/>
              <a:t>NATURAL JOIN</a:t>
            </a:r>
          </a:p>
        </p:txBody>
      </p:sp>
      <p:sp>
        <p:nvSpPr>
          <p:cNvPr id="3" name="Content Placeholder 2">
            <a:extLst>
              <a:ext uri="{FF2B5EF4-FFF2-40B4-BE49-F238E27FC236}">
                <a16:creationId xmlns:a16="http://schemas.microsoft.com/office/drawing/2014/main" id="{CB94849B-1A9D-77F4-C072-F7137DBFA896}"/>
              </a:ext>
            </a:extLst>
          </p:cNvPr>
          <p:cNvSpPr>
            <a:spLocks noGrp="1"/>
          </p:cNvSpPr>
          <p:nvPr>
            <p:ph idx="1"/>
          </p:nvPr>
        </p:nvSpPr>
        <p:spPr/>
        <p:txBody>
          <a:bodyPr>
            <a:normAutofit/>
          </a:bodyPr>
          <a:lstStyle/>
          <a:p>
            <a:r>
              <a:rPr lang="en-US" dirty="0"/>
              <a:t>because one of each pair of attributes with identical values is superfluous, operation called NATURAL JOIN,</a:t>
            </a:r>
            <a:r>
              <a:rPr lang="en-US" b="1" dirty="0"/>
              <a:t> </a:t>
            </a:r>
            <a:r>
              <a:rPr lang="en-US" dirty="0"/>
              <a:t>denoted by ⨝* was created to get rid of second (superfluous) attribute in EQUIJOIN</a:t>
            </a:r>
          </a:p>
          <a:p>
            <a:r>
              <a:rPr lang="en-US" dirty="0"/>
              <a:t>standard definition of NATURAL JOIN requires that the two join attributes (or each pair of join attributes) have the same name in both relations; if this is not the case, renaming operation is applied</a:t>
            </a:r>
          </a:p>
          <a:p>
            <a:r>
              <a:rPr lang="en-US" dirty="0"/>
              <a:t>NATURAL JOIN is basically an EQUIJOIN followed by removal of the superfluous attributes</a:t>
            </a:r>
          </a:p>
        </p:txBody>
      </p:sp>
      <p:sp>
        <p:nvSpPr>
          <p:cNvPr id="4" name="Slide Number Placeholder 3">
            <a:extLst>
              <a:ext uri="{FF2B5EF4-FFF2-40B4-BE49-F238E27FC236}">
                <a16:creationId xmlns:a16="http://schemas.microsoft.com/office/drawing/2014/main" id="{50665A0B-23F7-BB03-5D46-14C66E39FEB6}"/>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2762842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8E315-6F2C-DA6C-7CAD-49AD5953D423}"/>
              </a:ext>
            </a:extLst>
          </p:cNvPr>
          <p:cNvSpPr>
            <a:spLocks noGrp="1"/>
          </p:cNvSpPr>
          <p:nvPr>
            <p:ph type="title"/>
          </p:nvPr>
        </p:nvSpPr>
        <p:spPr/>
        <p:txBody>
          <a:bodyPr/>
          <a:lstStyle/>
          <a:p>
            <a:r>
              <a:rPr lang="en-US" dirty="0"/>
              <a:t>Inner JOIN </a:t>
            </a:r>
          </a:p>
        </p:txBody>
      </p:sp>
      <p:sp>
        <p:nvSpPr>
          <p:cNvPr id="3" name="Content Placeholder 2">
            <a:extLst>
              <a:ext uri="{FF2B5EF4-FFF2-40B4-BE49-F238E27FC236}">
                <a16:creationId xmlns:a16="http://schemas.microsoft.com/office/drawing/2014/main" id="{F6E807CC-920F-3A68-3E0A-4F4BE4D166B6}"/>
              </a:ext>
            </a:extLst>
          </p:cNvPr>
          <p:cNvSpPr>
            <a:spLocks noGrp="1"/>
          </p:cNvSpPr>
          <p:nvPr>
            <p:ph idx="1"/>
          </p:nvPr>
        </p:nvSpPr>
        <p:spPr/>
        <p:txBody>
          <a:bodyPr>
            <a:noAutofit/>
          </a:bodyPr>
          <a:lstStyle/>
          <a:p>
            <a:r>
              <a:rPr lang="en-US" dirty="0"/>
              <a:t>single JOIN operation is used to combine data from two relations so that related information can be presented in single table</a:t>
            </a:r>
          </a:p>
          <a:p>
            <a:r>
              <a:rPr lang="en-US" dirty="0"/>
              <a:t>these operations are also known as </a:t>
            </a:r>
            <a:r>
              <a:rPr lang="en-US" b="1" i="1" dirty="0"/>
              <a:t>inner joins</a:t>
            </a:r>
            <a:r>
              <a:rPr lang="en-US" dirty="0"/>
              <a:t>, to distinguish them from a different join variation called </a:t>
            </a:r>
            <a:r>
              <a:rPr lang="en-US" i="1" dirty="0"/>
              <a:t>outer joins </a:t>
            </a:r>
          </a:p>
          <a:p>
            <a:r>
              <a:rPr lang="en-US" dirty="0"/>
              <a:t>inner join</a:t>
            </a:r>
            <a:r>
              <a:rPr lang="en-US" i="1" dirty="0"/>
              <a:t> </a:t>
            </a:r>
            <a:r>
              <a:rPr lang="en-US" dirty="0"/>
              <a:t>is a type of match-and combine operation defined formally as a combination of CARTESIAN PRODUCT and SELECTION</a:t>
            </a:r>
          </a:p>
          <a:p>
            <a:r>
              <a:rPr lang="en-US" dirty="0"/>
              <a:t>sometimes a join may be specified between a relation and itself</a:t>
            </a:r>
          </a:p>
        </p:txBody>
      </p:sp>
      <p:sp>
        <p:nvSpPr>
          <p:cNvPr id="4" name="Slide Number Placeholder 3">
            <a:extLst>
              <a:ext uri="{FF2B5EF4-FFF2-40B4-BE49-F238E27FC236}">
                <a16:creationId xmlns:a16="http://schemas.microsoft.com/office/drawing/2014/main" id="{F3C203B5-BD1D-8FA7-C773-6EC8AA612BD6}"/>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743097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8CD51-F079-58EB-19D0-D107F16F217C}"/>
              </a:ext>
            </a:extLst>
          </p:cNvPr>
          <p:cNvSpPr>
            <a:spLocks noGrp="1"/>
          </p:cNvSpPr>
          <p:nvPr>
            <p:ph type="title"/>
          </p:nvPr>
        </p:nvSpPr>
        <p:spPr>
          <a:xfrm>
            <a:off x="838200" y="365125"/>
            <a:ext cx="10606548" cy="1325563"/>
          </a:xfrm>
        </p:spPr>
        <p:txBody>
          <a:bodyPr/>
          <a:lstStyle/>
          <a:p>
            <a:r>
              <a:rPr lang="en-US" dirty="0"/>
              <a:t>Complete Set of Relational Algebra Operations</a:t>
            </a:r>
          </a:p>
        </p:txBody>
      </p:sp>
      <p:sp>
        <p:nvSpPr>
          <p:cNvPr id="3" name="Content Placeholder 2">
            <a:extLst>
              <a:ext uri="{FF2B5EF4-FFF2-40B4-BE49-F238E27FC236}">
                <a16:creationId xmlns:a16="http://schemas.microsoft.com/office/drawing/2014/main" id="{32C952D6-5383-6123-6411-F92DB430187B}"/>
              </a:ext>
            </a:extLst>
          </p:cNvPr>
          <p:cNvSpPr>
            <a:spLocks noGrp="1"/>
          </p:cNvSpPr>
          <p:nvPr>
            <p:ph idx="1"/>
          </p:nvPr>
        </p:nvSpPr>
        <p:spPr/>
        <p:txBody>
          <a:bodyPr>
            <a:normAutofit/>
          </a:bodyPr>
          <a:lstStyle/>
          <a:p>
            <a:r>
              <a:rPr lang="en-US" dirty="0"/>
              <a:t>set of relational algebra operations {</a:t>
            </a:r>
            <a:r>
              <a:rPr lang="en-US" sz="3200" dirty="0"/>
              <a:t>σ, π, ∪, ρ, –, ×</a:t>
            </a:r>
            <a:r>
              <a:rPr lang="en-US" dirty="0"/>
              <a:t>} is a </a:t>
            </a:r>
            <a:r>
              <a:rPr lang="en-US" b="1" dirty="0"/>
              <a:t>complete </a:t>
            </a:r>
            <a:r>
              <a:rPr lang="en-US" dirty="0"/>
              <a:t>set; that is, any of the other original relational algebra operations can be expressed as a </a:t>
            </a:r>
            <a:r>
              <a:rPr lang="en-US" i="1" dirty="0"/>
              <a:t>sequence of operations from this set</a:t>
            </a:r>
          </a:p>
          <a:p>
            <a:r>
              <a:rPr lang="en-US" dirty="0"/>
              <a:t>for example, the INTERSECTION operation can be expressed using UNION and MINUS as follows:</a:t>
            </a:r>
          </a:p>
          <a:p>
            <a:r>
              <a:rPr lang="pt-BR" i="1" dirty="0"/>
              <a:t>R </a:t>
            </a:r>
            <a:r>
              <a:rPr lang="pt-BR" dirty="0"/>
              <a:t>∩ </a:t>
            </a:r>
            <a:r>
              <a:rPr lang="pt-BR" i="1" dirty="0"/>
              <a:t>S </a:t>
            </a:r>
            <a:r>
              <a:rPr lang="pt-BR" dirty="0"/>
              <a:t>≡ (</a:t>
            </a:r>
            <a:r>
              <a:rPr lang="pt-BR" i="1" dirty="0"/>
              <a:t>R </a:t>
            </a:r>
            <a:r>
              <a:rPr lang="pt-BR" dirty="0"/>
              <a:t>∪ </a:t>
            </a:r>
            <a:r>
              <a:rPr lang="pt-BR" i="1" dirty="0"/>
              <a:t>S</a:t>
            </a:r>
            <a:r>
              <a:rPr lang="pt-BR" dirty="0"/>
              <a:t>) – ((</a:t>
            </a:r>
            <a:r>
              <a:rPr lang="pt-BR" i="1" dirty="0"/>
              <a:t>R </a:t>
            </a:r>
            <a:r>
              <a:rPr lang="pt-BR" dirty="0"/>
              <a:t>– </a:t>
            </a:r>
            <a:r>
              <a:rPr lang="pt-BR" i="1" dirty="0"/>
              <a:t>S</a:t>
            </a:r>
            <a:r>
              <a:rPr lang="pt-BR" dirty="0"/>
              <a:t>) ∪ (</a:t>
            </a:r>
            <a:r>
              <a:rPr lang="pt-BR" i="1" dirty="0"/>
              <a:t>S </a:t>
            </a:r>
            <a:r>
              <a:rPr lang="pt-BR" dirty="0"/>
              <a:t>– </a:t>
            </a:r>
            <a:r>
              <a:rPr lang="pt-BR" i="1" dirty="0"/>
              <a:t>R</a:t>
            </a:r>
            <a:r>
              <a:rPr lang="pt-BR" dirty="0"/>
              <a:t>))</a:t>
            </a:r>
          </a:p>
          <a:p>
            <a:r>
              <a:rPr lang="en-US" dirty="0"/>
              <a:t>strictly speaking, INTERSECTION is not required</a:t>
            </a:r>
          </a:p>
          <a:p>
            <a:r>
              <a:rPr lang="en-US" dirty="0"/>
              <a:t>it is inconvenient to specify this complex expression every time</a:t>
            </a:r>
          </a:p>
        </p:txBody>
      </p:sp>
      <p:sp>
        <p:nvSpPr>
          <p:cNvPr id="4" name="Slide Number Placeholder 3">
            <a:extLst>
              <a:ext uri="{FF2B5EF4-FFF2-40B4-BE49-F238E27FC236}">
                <a16:creationId xmlns:a16="http://schemas.microsoft.com/office/drawing/2014/main" id="{5A646C4F-ED54-BFA5-6BF0-89075165D70A}"/>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3313185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5133-ABE1-FC29-DECE-CCB2487AAB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8714F0-1779-7BBE-BF11-6F9AE8CC0B0A}"/>
              </a:ext>
            </a:extLst>
          </p:cNvPr>
          <p:cNvSpPr>
            <a:spLocks noGrp="1"/>
          </p:cNvSpPr>
          <p:nvPr>
            <p:ph idx="1"/>
          </p:nvPr>
        </p:nvSpPr>
        <p:spPr>
          <a:xfrm>
            <a:off x="838199" y="1825625"/>
            <a:ext cx="11019503" cy="4351338"/>
          </a:xfrm>
        </p:spPr>
        <p:txBody>
          <a:bodyPr>
            <a:normAutofit/>
          </a:bodyPr>
          <a:lstStyle/>
          <a:p>
            <a:r>
              <a:rPr lang="en-US" dirty="0"/>
              <a:t>another example, JOIN operation can be specified as CARTESIAN PRODUCT followed by SELECT operation, similarly, NATURAL JOIN can be specified as CARTESIAN PRODUCT preceded by RENAME and followed by SELECT and PROJECT operations</a:t>
            </a:r>
          </a:p>
          <a:p>
            <a:r>
              <a:rPr lang="en-US" dirty="0"/>
              <a:t>various JOIN operations are also not strictly necessary for expressive power of  relational algebra</a:t>
            </a:r>
          </a:p>
          <a:p>
            <a:r>
              <a:rPr lang="en-US" dirty="0"/>
              <a:t>important to include as separate operations because they are convenient to use and are very commonly applied in database applications</a:t>
            </a:r>
          </a:p>
          <a:p>
            <a:r>
              <a:rPr lang="en-US" dirty="0"/>
              <a:t>other operations have been included in basic relational algebra for convenience rather than necessity</a:t>
            </a:r>
          </a:p>
        </p:txBody>
      </p:sp>
      <p:sp>
        <p:nvSpPr>
          <p:cNvPr id="4" name="Slide Number Placeholder 3">
            <a:extLst>
              <a:ext uri="{FF2B5EF4-FFF2-40B4-BE49-F238E27FC236}">
                <a16:creationId xmlns:a16="http://schemas.microsoft.com/office/drawing/2014/main" id="{3EBD1F61-98CB-865D-6178-E5C39CD7EB4F}"/>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35753896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F67F-47EC-B47B-4430-FAF480F815D6}"/>
              </a:ext>
            </a:extLst>
          </p:cNvPr>
          <p:cNvSpPr>
            <a:spLocks noGrp="1"/>
          </p:cNvSpPr>
          <p:nvPr>
            <p:ph type="title"/>
          </p:nvPr>
        </p:nvSpPr>
        <p:spPr/>
        <p:txBody>
          <a:bodyPr/>
          <a:lstStyle/>
          <a:p>
            <a:r>
              <a:rPr lang="en-US" dirty="0"/>
              <a:t>DIVISION Operation</a:t>
            </a:r>
          </a:p>
        </p:txBody>
      </p:sp>
      <p:sp>
        <p:nvSpPr>
          <p:cNvPr id="3" name="Content Placeholder 2">
            <a:extLst>
              <a:ext uri="{FF2B5EF4-FFF2-40B4-BE49-F238E27FC236}">
                <a16:creationId xmlns:a16="http://schemas.microsoft.com/office/drawing/2014/main" id="{A6DE2396-D5A5-DB46-EA09-2593D80B12F5}"/>
              </a:ext>
            </a:extLst>
          </p:cNvPr>
          <p:cNvSpPr>
            <a:spLocks noGrp="1"/>
          </p:cNvSpPr>
          <p:nvPr>
            <p:ph idx="1"/>
          </p:nvPr>
        </p:nvSpPr>
        <p:spPr/>
        <p:txBody>
          <a:bodyPr/>
          <a:lstStyle/>
          <a:p>
            <a:r>
              <a:rPr lang="en-US" dirty="0"/>
              <a:t>denoted by </a:t>
            </a:r>
            <a:r>
              <a:rPr lang="en-US" sz="3200" dirty="0"/>
              <a:t>÷</a:t>
            </a:r>
            <a:r>
              <a:rPr lang="en-US" dirty="0"/>
              <a:t>, is useful for special kind of query </a:t>
            </a:r>
          </a:p>
          <a:p>
            <a:r>
              <a:rPr lang="en-US" dirty="0"/>
              <a:t>for example </a:t>
            </a:r>
            <a:r>
              <a:rPr lang="en-US" i="1" dirty="0"/>
              <a:t>Retrieve the names of employees who work on </a:t>
            </a:r>
            <a:r>
              <a:rPr lang="en-US" b="1" i="1" dirty="0"/>
              <a:t>all </a:t>
            </a:r>
            <a:r>
              <a:rPr lang="en-US" i="1" dirty="0"/>
              <a:t>the projects that ‘John Smith’ works on</a:t>
            </a:r>
          </a:p>
          <a:p>
            <a:endParaRPr lang="en-US" i="1" dirty="0"/>
          </a:p>
        </p:txBody>
      </p:sp>
      <p:sp>
        <p:nvSpPr>
          <p:cNvPr id="4" name="Slide Number Placeholder 3">
            <a:extLst>
              <a:ext uri="{FF2B5EF4-FFF2-40B4-BE49-F238E27FC236}">
                <a16:creationId xmlns:a16="http://schemas.microsoft.com/office/drawing/2014/main" id="{DD4003F1-30E1-DB35-6E74-92622B60FFA0}"/>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42264807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5BAED-34EA-15FC-6F24-2CE6F473BA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409A27-70E5-7672-A3E9-EDD522E94039}"/>
              </a:ext>
            </a:extLst>
          </p:cNvPr>
          <p:cNvSpPr>
            <a:spLocks noGrp="1"/>
          </p:cNvSpPr>
          <p:nvPr>
            <p:ph idx="1"/>
          </p:nvPr>
        </p:nvSpPr>
        <p:spPr/>
        <p:txBody>
          <a:bodyPr/>
          <a:lstStyle/>
          <a:p>
            <a:pPr marL="514350" indent="-514350">
              <a:buFont typeface="+mj-lt"/>
              <a:buAutoNum type="arabicPeriod"/>
            </a:pPr>
            <a:r>
              <a:rPr lang="en-US" dirty="0"/>
              <a:t>retrieve list of project numbers that ‘John Smith’ works on in an intermediate relation</a:t>
            </a:r>
          </a:p>
          <a:p>
            <a:r>
              <a:rPr lang="en-US" dirty="0"/>
              <a:t>SMITH ← </a:t>
            </a:r>
            <a:r>
              <a:rPr lang="en-US" sz="4400" dirty="0" err="1"/>
              <a:t>σ</a:t>
            </a:r>
            <a:r>
              <a:rPr lang="en-US" sz="3200" baseline="-25000" dirty="0" err="1"/>
              <a:t>Fname</a:t>
            </a:r>
            <a:r>
              <a:rPr lang="en-US" sz="3200" baseline="-25000" dirty="0"/>
              <a:t>=‘John’ </a:t>
            </a:r>
            <a:r>
              <a:rPr lang="en-US" sz="3200" b="1" baseline="-25000" dirty="0"/>
              <a:t>AND </a:t>
            </a:r>
            <a:r>
              <a:rPr lang="en-US" sz="3200" baseline="-25000" dirty="0" err="1"/>
              <a:t>Lname</a:t>
            </a:r>
            <a:r>
              <a:rPr lang="en-US" sz="3200" baseline="-25000" dirty="0"/>
              <a:t>=‘Smith’</a:t>
            </a:r>
            <a:r>
              <a:rPr lang="en-US" dirty="0"/>
              <a:t>(EMPLOYEE)</a:t>
            </a:r>
          </a:p>
          <a:p>
            <a:r>
              <a:rPr lang="en-US" dirty="0"/>
              <a:t>SMITH_PNOS ← </a:t>
            </a:r>
            <a:r>
              <a:rPr lang="en-US" sz="4400" dirty="0"/>
              <a:t>π</a:t>
            </a:r>
            <a:r>
              <a:rPr lang="en-US" sz="3200" baseline="-25000" dirty="0" err="1"/>
              <a:t>Pno</a:t>
            </a:r>
            <a:r>
              <a:rPr lang="en-US" dirty="0"/>
              <a:t>(WORKS_ON </a:t>
            </a:r>
            <a:r>
              <a:rPr lang="en-US" sz="4000" dirty="0"/>
              <a:t>⨝</a:t>
            </a:r>
            <a:r>
              <a:rPr lang="en-US" sz="3200" dirty="0"/>
              <a:t> </a:t>
            </a:r>
            <a:r>
              <a:rPr lang="en-US" sz="3200" baseline="-25000" dirty="0" err="1"/>
              <a:t>Essn</a:t>
            </a:r>
            <a:r>
              <a:rPr lang="en-US" sz="3200" baseline="-25000" dirty="0"/>
              <a:t>=</a:t>
            </a:r>
            <a:r>
              <a:rPr lang="en-US" sz="3200" baseline="-25000" dirty="0" err="1"/>
              <a:t>Ssn</a:t>
            </a:r>
            <a:r>
              <a:rPr lang="en-US" dirty="0" err="1"/>
              <a:t>SMITH</a:t>
            </a:r>
            <a:r>
              <a:rPr lang="en-US" dirty="0"/>
              <a:t>)</a:t>
            </a:r>
          </a:p>
        </p:txBody>
      </p:sp>
      <p:sp>
        <p:nvSpPr>
          <p:cNvPr id="4" name="Slide Number Placeholder 3">
            <a:extLst>
              <a:ext uri="{FF2B5EF4-FFF2-40B4-BE49-F238E27FC236}">
                <a16:creationId xmlns:a16="http://schemas.microsoft.com/office/drawing/2014/main" id="{9CA89080-00F5-8843-DAD3-F0F3F1D30D7C}"/>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29236654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8CD7-43AC-EAB5-C24D-D95BFF92A3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E49605-50F3-E86F-299A-768324A58B04}"/>
              </a:ext>
            </a:extLst>
          </p:cNvPr>
          <p:cNvSpPr>
            <a:spLocks noGrp="1"/>
          </p:cNvSpPr>
          <p:nvPr>
            <p:ph idx="1"/>
          </p:nvPr>
        </p:nvSpPr>
        <p:spPr/>
        <p:txBody>
          <a:bodyPr/>
          <a:lstStyle/>
          <a:p>
            <a:pPr marL="514350" indent="-514350">
              <a:buFont typeface="+mj-lt"/>
              <a:buAutoNum type="arabicPeriod" startAt="2"/>
            </a:pPr>
            <a:r>
              <a:rPr lang="en-US" dirty="0"/>
              <a:t>create a relation that includes a tuple &lt;</a:t>
            </a:r>
            <a:r>
              <a:rPr lang="en-US" dirty="0" err="1"/>
              <a:t>Pno</a:t>
            </a:r>
            <a:r>
              <a:rPr lang="en-US" dirty="0"/>
              <a:t>, </a:t>
            </a:r>
            <a:r>
              <a:rPr lang="en-US" dirty="0" err="1"/>
              <a:t>Essn</a:t>
            </a:r>
            <a:r>
              <a:rPr lang="en-US" dirty="0"/>
              <a:t>&gt; whenever the employee whose </a:t>
            </a:r>
            <a:r>
              <a:rPr lang="en-US" dirty="0" err="1"/>
              <a:t>Ssn</a:t>
            </a:r>
            <a:r>
              <a:rPr lang="en-US" dirty="0"/>
              <a:t> is </a:t>
            </a:r>
            <a:r>
              <a:rPr lang="en-US" dirty="0" err="1"/>
              <a:t>Essn</a:t>
            </a:r>
            <a:r>
              <a:rPr lang="en-US" dirty="0"/>
              <a:t> works on project whose number is </a:t>
            </a:r>
            <a:r>
              <a:rPr lang="en-US" dirty="0" err="1"/>
              <a:t>Pno</a:t>
            </a:r>
            <a:r>
              <a:rPr lang="en-US" dirty="0"/>
              <a:t> in the intermediate relation:</a:t>
            </a:r>
          </a:p>
          <a:p>
            <a:r>
              <a:rPr lang="en-US" dirty="0"/>
              <a:t>SSN_PNOS ← </a:t>
            </a:r>
            <a:r>
              <a:rPr lang="en-US" sz="4800" dirty="0"/>
              <a:t>π</a:t>
            </a:r>
            <a:r>
              <a:rPr lang="en-US" sz="3200" baseline="-25000" dirty="0" err="1"/>
              <a:t>Essn</a:t>
            </a:r>
            <a:r>
              <a:rPr lang="en-US" sz="3200" baseline="-25000" dirty="0"/>
              <a:t>, </a:t>
            </a:r>
            <a:r>
              <a:rPr lang="en-US" sz="3200" baseline="-25000" dirty="0" err="1"/>
              <a:t>Pno</a:t>
            </a:r>
            <a:r>
              <a:rPr lang="en-US" dirty="0"/>
              <a:t>(WORKS_ON)</a:t>
            </a:r>
          </a:p>
        </p:txBody>
      </p:sp>
      <p:sp>
        <p:nvSpPr>
          <p:cNvPr id="4" name="Slide Number Placeholder 3">
            <a:extLst>
              <a:ext uri="{FF2B5EF4-FFF2-40B4-BE49-F238E27FC236}">
                <a16:creationId xmlns:a16="http://schemas.microsoft.com/office/drawing/2014/main" id="{9D663B7F-29CC-12B1-EA62-4EB4B800DE43}"/>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2765548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9AC7-BD41-45BB-55FC-F435393173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04BC0E-AFFA-85AD-824F-37CC2F60098E}"/>
              </a:ext>
            </a:extLst>
          </p:cNvPr>
          <p:cNvSpPr>
            <a:spLocks noGrp="1"/>
          </p:cNvSpPr>
          <p:nvPr>
            <p:ph idx="1"/>
          </p:nvPr>
        </p:nvSpPr>
        <p:spPr/>
        <p:txBody>
          <a:bodyPr/>
          <a:lstStyle/>
          <a:p>
            <a:pPr marL="514350" indent="-514350">
              <a:buFont typeface="+mj-lt"/>
              <a:buAutoNum type="arabicPeriod" startAt="3"/>
            </a:pPr>
            <a:r>
              <a:rPr lang="en-US" dirty="0"/>
              <a:t>apply the DIVISION operation to the two relations, which gives the desired employees’ Social Security numbers:</a:t>
            </a:r>
          </a:p>
          <a:p>
            <a:r>
              <a:rPr lang="en-US" dirty="0"/>
              <a:t>SSNS(</a:t>
            </a:r>
            <a:r>
              <a:rPr lang="en-US" dirty="0" err="1"/>
              <a:t>Ssn</a:t>
            </a:r>
            <a:r>
              <a:rPr lang="en-US" dirty="0"/>
              <a:t>) ← SSN_PNOS </a:t>
            </a:r>
            <a:r>
              <a:rPr lang="en-US" sz="3200" dirty="0"/>
              <a:t>÷</a:t>
            </a:r>
            <a:r>
              <a:rPr lang="en-US" dirty="0"/>
              <a:t> SMITH_PNOS</a:t>
            </a:r>
          </a:p>
          <a:p>
            <a:r>
              <a:rPr lang="en-US" dirty="0"/>
              <a:t>RESULT ← </a:t>
            </a:r>
            <a:r>
              <a:rPr lang="en-US" sz="4400" dirty="0"/>
              <a:t>π</a:t>
            </a:r>
            <a:r>
              <a:rPr lang="en-US" sz="3200" baseline="-25000" dirty="0" err="1"/>
              <a:t>Fname</a:t>
            </a:r>
            <a:r>
              <a:rPr lang="en-US" sz="3200" baseline="-25000" dirty="0"/>
              <a:t>, </a:t>
            </a:r>
            <a:r>
              <a:rPr lang="en-US" sz="3200" baseline="-25000" dirty="0" err="1"/>
              <a:t>Lname</a:t>
            </a:r>
            <a:r>
              <a:rPr lang="en-US" dirty="0"/>
              <a:t>(SSNS ⨝* EMPLOYEE)</a:t>
            </a:r>
          </a:p>
        </p:txBody>
      </p:sp>
      <p:sp>
        <p:nvSpPr>
          <p:cNvPr id="4" name="Slide Number Placeholder 3">
            <a:extLst>
              <a:ext uri="{FF2B5EF4-FFF2-40B4-BE49-F238E27FC236}">
                <a16:creationId xmlns:a16="http://schemas.microsoft.com/office/drawing/2014/main" id="{1A3ECAD0-CC3F-9ECB-EB79-0C1C561765B7}"/>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22482400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0EBF-E9F9-498E-8421-275F3EC3A32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7896B1BE-4BAD-1EBC-60BF-8B408364FCFE}"/>
              </a:ext>
            </a:extLst>
          </p:cNvPr>
          <p:cNvPicPr>
            <a:picLocks noGrp="1" noChangeAspect="1"/>
          </p:cNvPicPr>
          <p:nvPr>
            <p:ph idx="1"/>
          </p:nvPr>
        </p:nvPicPr>
        <p:blipFill>
          <a:blip r:embed="rId2"/>
          <a:stretch>
            <a:fillRect/>
          </a:stretch>
        </p:blipFill>
        <p:spPr>
          <a:xfrm>
            <a:off x="3383280" y="91440"/>
            <a:ext cx="4711702" cy="6718374"/>
          </a:xfrm>
          <a:prstGeom prst="rect">
            <a:avLst/>
          </a:prstGeom>
        </p:spPr>
      </p:pic>
      <p:sp>
        <p:nvSpPr>
          <p:cNvPr id="4" name="Slide Number Placeholder 3">
            <a:extLst>
              <a:ext uri="{FF2B5EF4-FFF2-40B4-BE49-F238E27FC236}">
                <a16:creationId xmlns:a16="http://schemas.microsoft.com/office/drawing/2014/main" id="{29BEE59D-DC8D-373F-352C-4F56F2C16A6C}"/>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5722673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D5CF-D354-C756-F846-5CCE6ED3A8F5}"/>
              </a:ext>
            </a:extLst>
          </p:cNvPr>
          <p:cNvSpPr>
            <a:spLocks noGrp="1"/>
          </p:cNvSpPr>
          <p:nvPr>
            <p:ph type="title"/>
          </p:nvPr>
        </p:nvSpPr>
        <p:spPr/>
        <p:txBody>
          <a:bodyPr/>
          <a:lstStyle/>
          <a:p>
            <a:r>
              <a:rPr lang="en-US" i="1" dirty="0"/>
              <a:t>T </a:t>
            </a:r>
            <a:r>
              <a:rPr lang="en-US" dirty="0"/>
              <a:t>← </a:t>
            </a:r>
            <a:r>
              <a:rPr lang="en-US" i="1" dirty="0"/>
              <a:t>R </a:t>
            </a:r>
            <a:r>
              <a:rPr lang="en-US" dirty="0"/>
              <a:t>÷ </a:t>
            </a:r>
            <a:r>
              <a:rPr lang="en-US" i="1" dirty="0"/>
              <a:t>S</a:t>
            </a:r>
            <a:r>
              <a:rPr lang="en-US" dirty="0"/>
              <a:t>.</a:t>
            </a:r>
          </a:p>
        </p:txBody>
      </p:sp>
      <p:pic>
        <p:nvPicPr>
          <p:cNvPr id="6" name="Content Placeholder 5">
            <a:extLst>
              <a:ext uri="{FF2B5EF4-FFF2-40B4-BE49-F238E27FC236}">
                <a16:creationId xmlns:a16="http://schemas.microsoft.com/office/drawing/2014/main" id="{E4F0B30E-43ED-A44D-A9EB-41B97BFAFA71}"/>
              </a:ext>
            </a:extLst>
          </p:cNvPr>
          <p:cNvPicPr>
            <a:picLocks noGrp="1" noChangeAspect="1"/>
          </p:cNvPicPr>
          <p:nvPr>
            <p:ph idx="1"/>
          </p:nvPr>
        </p:nvPicPr>
        <p:blipFill>
          <a:blip r:embed="rId2"/>
          <a:stretch>
            <a:fillRect/>
          </a:stretch>
        </p:blipFill>
        <p:spPr>
          <a:xfrm>
            <a:off x="6400800" y="91440"/>
            <a:ext cx="3742049" cy="6540356"/>
          </a:xfrm>
          <a:prstGeom prst="rect">
            <a:avLst/>
          </a:prstGeom>
        </p:spPr>
      </p:pic>
      <p:sp>
        <p:nvSpPr>
          <p:cNvPr id="4" name="Slide Number Placeholder 3">
            <a:extLst>
              <a:ext uri="{FF2B5EF4-FFF2-40B4-BE49-F238E27FC236}">
                <a16:creationId xmlns:a16="http://schemas.microsoft.com/office/drawing/2014/main" id="{38BFC590-150E-4D3A-0475-4BC252B6E5CF}"/>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64121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5D66E-3935-915A-6073-7EA5ACF8AC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F5B67E-CE26-DAFA-98F3-6DE7C2E64B22}"/>
              </a:ext>
            </a:extLst>
          </p:cNvPr>
          <p:cNvSpPr>
            <a:spLocks noGrp="1"/>
          </p:cNvSpPr>
          <p:nvPr>
            <p:ph idx="1"/>
          </p:nvPr>
        </p:nvSpPr>
        <p:spPr/>
        <p:txBody>
          <a:bodyPr>
            <a:normAutofit/>
          </a:bodyPr>
          <a:lstStyle/>
          <a:p>
            <a:r>
              <a:rPr lang="en-US" dirty="0"/>
              <a:t>DIVISION operation is applied to two relations </a:t>
            </a:r>
            <a:r>
              <a:rPr lang="en-US" i="1" dirty="0"/>
              <a:t>R</a:t>
            </a:r>
            <a:r>
              <a:rPr lang="en-US" dirty="0"/>
              <a:t>(</a:t>
            </a:r>
            <a:r>
              <a:rPr lang="en-US" i="1" dirty="0"/>
              <a:t>Z</a:t>
            </a:r>
            <a:r>
              <a:rPr lang="en-US" dirty="0"/>
              <a:t>) ÷ </a:t>
            </a:r>
            <a:r>
              <a:rPr lang="en-US" i="1" dirty="0"/>
              <a:t>S</a:t>
            </a:r>
            <a:r>
              <a:rPr lang="en-US" dirty="0"/>
              <a:t>(</a:t>
            </a:r>
            <a:r>
              <a:rPr lang="en-US" i="1" dirty="0"/>
              <a:t>X</a:t>
            </a:r>
            <a:r>
              <a:rPr lang="en-US" dirty="0"/>
              <a:t>), where attributes of </a:t>
            </a:r>
            <a:r>
              <a:rPr lang="en-US" i="1" dirty="0"/>
              <a:t>S </a:t>
            </a:r>
            <a:r>
              <a:rPr lang="en-US" dirty="0"/>
              <a:t>are subset of attributes of </a:t>
            </a:r>
            <a:r>
              <a:rPr lang="en-US" i="1" dirty="0"/>
              <a:t>R</a:t>
            </a:r>
            <a:r>
              <a:rPr lang="en-US" dirty="0"/>
              <a:t>; that is, </a:t>
            </a:r>
            <a:r>
              <a:rPr lang="en-US" i="1" dirty="0"/>
              <a:t>X </a:t>
            </a:r>
            <a:r>
              <a:rPr lang="en-US" dirty="0"/>
              <a:t>⊆ </a:t>
            </a:r>
            <a:r>
              <a:rPr lang="en-US" i="1" dirty="0"/>
              <a:t>Z</a:t>
            </a:r>
          </a:p>
          <a:p>
            <a:r>
              <a:rPr lang="en-US" dirty="0"/>
              <a:t>let </a:t>
            </a:r>
            <a:r>
              <a:rPr lang="en-US" i="1" dirty="0"/>
              <a:t>Y </a:t>
            </a:r>
            <a:r>
              <a:rPr lang="en-US" dirty="0"/>
              <a:t>be the set of attributes of </a:t>
            </a:r>
            <a:r>
              <a:rPr lang="en-US" i="1" dirty="0"/>
              <a:t>R </a:t>
            </a:r>
            <a:r>
              <a:rPr lang="en-US" dirty="0"/>
              <a:t>that are not attributes of </a:t>
            </a:r>
            <a:r>
              <a:rPr lang="en-US" i="1" dirty="0"/>
              <a:t>S</a:t>
            </a:r>
            <a:r>
              <a:rPr lang="en-US" dirty="0"/>
              <a:t>; that is, </a:t>
            </a:r>
            <a:r>
              <a:rPr lang="en-US" i="1" dirty="0"/>
              <a:t>Y </a:t>
            </a:r>
            <a:r>
              <a:rPr lang="en-US" dirty="0"/>
              <a:t>= </a:t>
            </a:r>
            <a:r>
              <a:rPr lang="en-US" i="1" dirty="0"/>
              <a:t>Z </a:t>
            </a:r>
            <a:r>
              <a:rPr lang="en-US" dirty="0"/>
              <a:t>– </a:t>
            </a:r>
            <a:r>
              <a:rPr lang="en-US" i="1" dirty="0"/>
              <a:t>X </a:t>
            </a:r>
            <a:r>
              <a:rPr lang="en-US" dirty="0"/>
              <a:t>(and hence </a:t>
            </a:r>
            <a:r>
              <a:rPr lang="en-US" i="1" dirty="0"/>
              <a:t>Z </a:t>
            </a:r>
            <a:r>
              <a:rPr lang="en-US" dirty="0"/>
              <a:t>= </a:t>
            </a:r>
            <a:r>
              <a:rPr lang="en-US" i="1" dirty="0"/>
              <a:t>X </a:t>
            </a:r>
            <a:r>
              <a:rPr lang="en-US" dirty="0"/>
              <a:t>∪ </a:t>
            </a:r>
            <a:r>
              <a:rPr lang="en-US" i="1" dirty="0"/>
              <a:t>Y</a:t>
            </a:r>
            <a:r>
              <a:rPr lang="en-US" dirty="0"/>
              <a:t>)</a:t>
            </a:r>
          </a:p>
          <a:p>
            <a:r>
              <a:rPr lang="en-US" dirty="0"/>
              <a:t>DIVISION operation can be expressed:</a:t>
            </a:r>
          </a:p>
          <a:p>
            <a:r>
              <a:rPr lang="en-US" i="1" dirty="0"/>
              <a:t>T</a:t>
            </a:r>
            <a:r>
              <a:rPr lang="en-US" dirty="0"/>
              <a:t>1 ← </a:t>
            </a:r>
            <a:r>
              <a:rPr lang="el-GR" sz="4400" dirty="0"/>
              <a:t>π</a:t>
            </a:r>
            <a:r>
              <a:rPr lang="en-US" sz="3200" i="1" baseline="-25000" dirty="0"/>
              <a:t>Y</a:t>
            </a:r>
            <a:r>
              <a:rPr lang="en-US" dirty="0"/>
              <a:t>(</a:t>
            </a:r>
            <a:r>
              <a:rPr lang="en-US" i="1" dirty="0"/>
              <a:t>R</a:t>
            </a:r>
            <a:r>
              <a:rPr lang="en-US" dirty="0"/>
              <a:t>)</a:t>
            </a:r>
          </a:p>
          <a:p>
            <a:r>
              <a:rPr lang="en-US" i="1" dirty="0"/>
              <a:t>T</a:t>
            </a:r>
            <a:r>
              <a:rPr lang="en-US" dirty="0"/>
              <a:t>2 ← </a:t>
            </a:r>
            <a:r>
              <a:rPr lang="el-GR" sz="4400" dirty="0"/>
              <a:t>π</a:t>
            </a:r>
            <a:r>
              <a:rPr lang="en-US" sz="3200" i="1" baseline="-25000" dirty="0"/>
              <a:t>Y</a:t>
            </a:r>
            <a:r>
              <a:rPr lang="en-US" dirty="0"/>
              <a:t>((</a:t>
            </a:r>
            <a:r>
              <a:rPr lang="en-US" i="1" dirty="0"/>
              <a:t>S </a:t>
            </a:r>
            <a:r>
              <a:rPr lang="en-US" sz="3200" dirty="0"/>
              <a:t>×</a:t>
            </a:r>
            <a:r>
              <a:rPr lang="en-US" dirty="0"/>
              <a:t> </a:t>
            </a:r>
            <a:r>
              <a:rPr lang="en-US" i="1" dirty="0"/>
              <a:t>T</a:t>
            </a:r>
            <a:r>
              <a:rPr lang="en-US" dirty="0"/>
              <a:t>1) – </a:t>
            </a:r>
            <a:r>
              <a:rPr lang="en-US" i="1" dirty="0"/>
              <a:t>R</a:t>
            </a:r>
            <a:r>
              <a:rPr lang="en-US" dirty="0"/>
              <a:t>)</a:t>
            </a:r>
          </a:p>
          <a:p>
            <a:r>
              <a:rPr lang="en-US" i="1" dirty="0"/>
              <a:t>T </a:t>
            </a:r>
            <a:r>
              <a:rPr lang="en-US" dirty="0"/>
              <a:t>← </a:t>
            </a:r>
            <a:r>
              <a:rPr lang="en-US" i="1" dirty="0"/>
              <a:t>T</a:t>
            </a:r>
            <a:r>
              <a:rPr lang="en-US" dirty="0"/>
              <a:t>1 – </a:t>
            </a:r>
            <a:r>
              <a:rPr lang="en-US" i="1" dirty="0"/>
              <a:t>T</a:t>
            </a:r>
            <a:r>
              <a:rPr lang="en-US" dirty="0"/>
              <a:t>2</a:t>
            </a:r>
          </a:p>
        </p:txBody>
      </p:sp>
      <p:sp>
        <p:nvSpPr>
          <p:cNvPr id="4" name="Slide Number Placeholder 3">
            <a:extLst>
              <a:ext uri="{FF2B5EF4-FFF2-40B4-BE49-F238E27FC236}">
                <a16:creationId xmlns:a16="http://schemas.microsoft.com/office/drawing/2014/main" id="{7C3881DB-A2B6-0CDD-4CE5-B8FB1D2B19B3}"/>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16004008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E7B54-F59C-249C-E8D3-2AA9A81AF6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C4B386-CDF2-2352-D0A4-BFC103FBBE67}"/>
              </a:ext>
            </a:extLst>
          </p:cNvPr>
          <p:cNvSpPr>
            <a:spLocks noGrp="1"/>
          </p:cNvSpPr>
          <p:nvPr>
            <p:ph idx="1"/>
          </p:nvPr>
        </p:nvSpPr>
        <p:spPr/>
        <p:txBody>
          <a:bodyPr>
            <a:normAutofit/>
          </a:bodyPr>
          <a:lstStyle/>
          <a:p>
            <a:r>
              <a:rPr lang="en-US" dirty="0"/>
              <a:t>DIVISION operation is defined for convenience for dealing with queries that involve universal quantification or the all condition</a:t>
            </a:r>
          </a:p>
          <a:p>
            <a:r>
              <a:rPr lang="en-US" dirty="0"/>
              <a:t>most RDBMS implementations with SQL as primary query language do not directly implement division - SQL has a roundabout way of dealing with the type of query</a:t>
            </a:r>
          </a:p>
        </p:txBody>
      </p:sp>
      <p:sp>
        <p:nvSpPr>
          <p:cNvPr id="4" name="Slide Number Placeholder 3">
            <a:extLst>
              <a:ext uri="{FF2B5EF4-FFF2-40B4-BE49-F238E27FC236}">
                <a16:creationId xmlns:a16="http://schemas.microsoft.com/office/drawing/2014/main" id="{8A5C37F6-89C4-B940-3500-771EAF05FD09}"/>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325263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FD12D-4307-B5D8-7C0A-1E4023713D20}"/>
              </a:ext>
            </a:extLst>
          </p:cNvPr>
          <p:cNvSpPr>
            <a:spLocks noGrp="1"/>
          </p:cNvSpPr>
          <p:nvPr>
            <p:ph type="title"/>
          </p:nvPr>
        </p:nvSpPr>
        <p:spPr/>
        <p:txBody>
          <a:bodyPr/>
          <a:lstStyle/>
          <a:p>
            <a:r>
              <a:rPr lang="en-US" dirty="0"/>
              <a:t>Notation for Query Trees</a:t>
            </a:r>
          </a:p>
        </p:txBody>
      </p:sp>
      <p:sp>
        <p:nvSpPr>
          <p:cNvPr id="3" name="Content Placeholder 2">
            <a:extLst>
              <a:ext uri="{FF2B5EF4-FFF2-40B4-BE49-F238E27FC236}">
                <a16:creationId xmlns:a16="http://schemas.microsoft.com/office/drawing/2014/main" id="{8C12365B-C61F-526F-E2FF-45F3B9AAD810}"/>
              </a:ext>
            </a:extLst>
          </p:cNvPr>
          <p:cNvSpPr>
            <a:spLocks noGrp="1"/>
          </p:cNvSpPr>
          <p:nvPr>
            <p:ph idx="1"/>
          </p:nvPr>
        </p:nvSpPr>
        <p:spPr/>
        <p:txBody>
          <a:bodyPr>
            <a:normAutofit/>
          </a:bodyPr>
          <a:lstStyle/>
          <a:p>
            <a:r>
              <a:rPr lang="en-US" dirty="0"/>
              <a:t>notation typically used in relational DBMSs (RDBMSs) to represent queries internally</a:t>
            </a:r>
          </a:p>
          <a:p>
            <a:r>
              <a:rPr lang="en-US" dirty="0"/>
              <a:t>notation is called a </a:t>
            </a:r>
            <a:r>
              <a:rPr lang="en-US" i="1" dirty="0"/>
              <a:t>query tree </a:t>
            </a:r>
            <a:r>
              <a:rPr lang="en-US" dirty="0"/>
              <a:t>or sometimes a </a:t>
            </a:r>
            <a:r>
              <a:rPr lang="en-US" i="1" dirty="0"/>
              <a:t>query evaluation tree </a:t>
            </a:r>
            <a:r>
              <a:rPr lang="en-US" dirty="0"/>
              <a:t>or </a:t>
            </a:r>
            <a:r>
              <a:rPr lang="en-US" i="1" dirty="0"/>
              <a:t>query execution tree</a:t>
            </a:r>
          </a:p>
          <a:p>
            <a:r>
              <a:rPr lang="en-US" dirty="0"/>
              <a:t>includes the relational algebra operations being executed and is used </a:t>
            </a:r>
            <a:r>
              <a:rPr lang="en-US" dirty="0" err="1"/>
              <a:t>asa</a:t>
            </a:r>
            <a:r>
              <a:rPr lang="en-US" dirty="0"/>
              <a:t>  possible data structure for the internal representation of the query in an RDBMS</a:t>
            </a:r>
          </a:p>
          <a:p>
            <a:r>
              <a:rPr lang="en-US" b="1" dirty="0"/>
              <a:t>query tree </a:t>
            </a:r>
            <a:r>
              <a:rPr lang="en-US" dirty="0"/>
              <a:t>is a tree data structure that corresponds to a relational algebra expression</a:t>
            </a:r>
          </a:p>
        </p:txBody>
      </p:sp>
      <p:sp>
        <p:nvSpPr>
          <p:cNvPr id="4" name="Slide Number Placeholder 3">
            <a:extLst>
              <a:ext uri="{FF2B5EF4-FFF2-40B4-BE49-F238E27FC236}">
                <a16:creationId xmlns:a16="http://schemas.microsoft.com/office/drawing/2014/main" id="{F891B478-72A4-2E0C-CD5F-1EA0EA09BA79}"/>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2405193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4AEB6-7BDE-AD9F-8110-D0CB8A79C0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624FCF-8075-E249-D434-66AE5008233B}"/>
              </a:ext>
            </a:extLst>
          </p:cNvPr>
          <p:cNvSpPr>
            <a:spLocks noGrp="1"/>
          </p:cNvSpPr>
          <p:nvPr>
            <p:ph idx="1"/>
          </p:nvPr>
        </p:nvSpPr>
        <p:spPr/>
        <p:txBody>
          <a:bodyPr>
            <a:normAutofit/>
          </a:bodyPr>
          <a:lstStyle/>
          <a:p>
            <a:r>
              <a:rPr lang="en-US" dirty="0"/>
              <a:t>represents input relations of the query as </a:t>
            </a:r>
            <a:r>
              <a:rPr lang="en-US" i="1" dirty="0"/>
              <a:t>leaf nodes </a:t>
            </a:r>
            <a:r>
              <a:rPr lang="en-US" dirty="0"/>
              <a:t>of tree, and represents relational algebra operations as internal nodes</a:t>
            </a:r>
          </a:p>
          <a:p>
            <a:r>
              <a:rPr lang="en-US" dirty="0"/>
              <a:t>an execution of query tree consists of executing internal node operation whenever its operands (represented by its child nodes) are available, and then replacing that internal node by the relation that results from executing the operation</a:t>
            </a:r>
          </a:p>
          <a:p>
            <a:r>
              <a:rPr lang="en-US" dirty="0"/>
              <a:t>execution terminates when the root node is executed and produces the result relation for the query</a:t>
            </a:r>
          </a:p>
        </p:txBody>
      </p:sp>
      <p:sp>
        <p:nvSpPr>
          <p:cNvPr id="4" name="Slide Number Placeholder 3">
            <a:extLst>
              <a:ext uri="{FF2B5EF4-FFF2-40B4-BE49-F238E27FC236}">
                <a16:creationId xmlns:a16="http://schemas.microsoft.com/office/drawing/2014/main" id="{1B69073F-BAED-B9BB-C6CE-F1A2D7460C58}"/>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19749522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1B60E-E340-76A2-630D-E9045DF8F2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C904D1-1925-70E2-B31E-2375185FF72E}"/>
              </a:ext>
            </a:extLst>
          </p:cNvPr>
          <p:cNvSpPr>
            <a:spLocks noGrp="1"/>
          </p:cNvSpPr>
          <p:nvPr>
            <p:ph idx="1"/>
          </p:nvPr>
        </p:nvSpPr>
        <p:spPr/>
        <p:txBody>
          <a:bodyPr/>
          <a:lstStyle/>
          <a:p>
            <a:r>
              <a:rPr lang="en-US" dirty="0"/>
              <a:t>For every project located in ‘Stafford’, list the project number, the controlling department number, and the department manager’s last name, address, and birth date</a:t>
            </a:r>
          </a:p>
          <a:p>
            <a:endParaRPr lang="en-US" dirty="0"/>
          </a:p>
          <a:p>
            <a:r>
              <a:rPr lang="en-US" sz="4400" dirty="0"/>
              <a:t>π</a:t>
            </a:r>
            <a:r>
              <a:rPr lang="en-US" sz="3200" baseline="-25000" dirty="0" err="1"/>
              <a:t>Pnumber</a:t>
            </a:r>
            <a:r>
              <a:rPr lang="en-US" sz="3200" baseline="-25000" dirty="0"/>
              <a:t>, </a:t>
            </a:r>
            <a:r>
              <a:rPr lang="en-US" sz="3200" baseline="-25000" dirty="0" err="1"/>
              <a:t>Dnum</a:t>
            </a:r>
            <a:r>
              <a:rPr lang="en-US" sz="3200" baseline="-25000" dirty="0"/>
              <a:t>, </a:t>
            </a:r>
            <a:r>
              <a:rPr lang="en-US" sz="3200" baseline="-25000" dirty="0" err="1"/>
              <a:t>Lname</a:t>
            </a:r>
            <a:r>
              <a:rPr lang="en-US" sz="3200" baseline="-25000" dirty="0"/>
              <a:t>, Address, </a:t>
            </a:r>
            <a:r>
              <a:rPr lang="en-US" sz="3200" baseline="-25000" dirty="0" err="1"/>
              <a:t>Bdate</a:t>
            </a:r>
            <a:r>
              <a:rPr lang="en-US" dirty="0"/>
              <a:t>(((</a:t>
            </a:r>
            <a:r>
              <a:rPr lang="en-US" sz="4400" dirty="0" err="1"/>
              <a:t>σ</a:t>
            </a:r>
            <a:r>
              <a:rPr lang="en-US" sz="3200" baseline="-25000" dirty="0" err="1"/>
              <a:t>Plocation</a:t>
            </a:r>
            <a:r>
              <a:rPr lang="en-US" sz="3200" baseline="-25000" dirty="0"/>
              <a:t>=‘Stafford’</a:t>
            </a:r>
            <a:r>
              <a:rPr lang="en-US" dirty="0"/>
              <a:t>(PROJECT)) </a:t>
            </a:r>
          </a:p>
          <a:p>
            <a:r>
              <a:rPr lang="en-US" dirty="0"/>
              <a:t> ⨝ </a:t>
            </a:r>
            <a:r>
              <a:rPr lang="en-US" sz="3200" baseline="-25000" dirty="0" err="1"/>
              <a:t>Dnum</a:t>
            </a:r>
            <a:r>
              <a:rPr lang="en-US" sz="3200" baseline="-25000" dirty="0"/>
              <a:t>=</a:t>
            </a:r>
            <a:r>
              <a:rPr lang="en-US" sz="3200" baseline="-25000" dirty="0" err="1"/>
              <a:t>Dnumber</a:t>
            </a:r>
            <a:r>
              <a:rPr lang="en-US" dirty="0"/>
              <a:t>(DEPARTMENT)) ⨝ </a:t>
            </a:r>
            <a:r>
              <a:rPr lang="en-US" sz="3200" baseline="-25000" dirty="0" err="1"/>
              <a:t>Mgr_ssn</a:t>
            </a:r>
            <a:r>
              <a:rPr lang="en-US" sz="3200" baseline="-25000" dirty="0"/>
              <a:t>=</a:t>
            </a:r>
            <a:r>
              <a:rPr lang="en-US" sz="3200" baseline="-25000" dirty="0" err="1"/>
              <a:t>Ssn</a:t>
            </a:r>
            <a:r>
              <a:rPr lang="en-US" dirty="0"/>
              <a:t>(EMPLOYEE))</a:t>
            </a:r>
          </a:p>
        </p:txBody>
      </p:sp>
      <p:sp>
        <p:nvSpPr>
          <p:cNvPr id="4" name="Slide Number Placeholder 3">
            <a:extLst>
              <a:ext uri="{FF2B5EF4-FFF2-40B4-BE49-F238E27FC236}">
                <a16:creationId xmlns:a16="http://schemas.microsoft.com/office/drawing/2014/main" id="{47907E6C-BC03-1E89-68E3-86456D50D2D2}"/>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24290654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2A676-EAEF-0C0E-6C84-ECBFF2770255}"/>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7885EBB-A580-923F-6A69-26079F0954AA}"/>
              </a:ext>
            </a:extLst>
          </p:cNvPr>
          <p:cNvPicPr>
            <a:picLocks noGrp="1" noChangeAspect="1"/>
          </p:cNvPicPr>
          <p:nvPr>
            <p:ph idx="1"/>
          </p:nvPr>
        </p:nvPicPr>
        <p:blipFill>
          <a:blip r:embed="rId2"/>
          <a:stretch>
            <a:fillRect/>
          </a:stretch>
        </p:blipFill>
        <p:spPr>
          <a:xfrm>
            <a:off x="1828800" y="182880"/>
            <a:ext cx="8847282" cy="6311126"/>
          </a:xfrm>
          <a:prstGeom prst="rect">
            <a:avLst/>
          </a:prstGeom>
        </p:spPr>
      </p:pic>
      <p:sp>
        <p:nvSpPr>
          <p:cNvPr id="4" name="Slide Number Placeholder 3">
            <a:extLst>
              <a:ext uri="{FF2B5EF4-FFF2-40B4-BE49-F238E27FC236}">
                <a16:creationId xmlns:a16="http://schemas.microsoft.com/office/drawing/2014/main" id="{0D89C723-7F16-FCA5-57C2-3CE6D113A107}"/>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3119100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8CDE-1A2E-5BCA-57EB-D06C9891A0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F5011E-A95D-9660-2170-86BC379E1007}"/>
              </a:ext>
            </a:extLst>
          </p:cNvPr>
          <p:cNvSpPr>
            <a:spLocks noGrp="1"/>
          </p:cNvSpPr>
          <p:nvPr>
            <p:ph idx="1"/>
          </p:nvPr>
        </p:nvSpPr>
        <p:spPr/>
        <p:txBody>
          <a:bodyPr>
            <a:normAutofit/>
          </a:bodyPr>
          <a:lstStyle/>
          <a:p>
            <a:r>
              <a:rPr lang="en-US" dirty="0"/>
              <a:t>Additional Relational Operations</a:t>
            </a:r>
          </a:p>
          <a:p>
            <a:pPr lvl="1"/>
            <a:r>
              <a:rPr lang="en-US" sz="2800" dirty="0"/>
              <a:t>Generalized Projection</a:t>
            </a:r>
          </a:p>
          <a:p>
            <a:pPr lvl="1"/>
            <a:r>
              <a:rPr lang="en-US" sz="2800" dirty="0"/>
              <a:t>Aggregate Functions and Grouping</a:t>
            </a:r>
          </a:p>
          <a:p>
            <a:pPr lvl="1"/>
            <a:r>
              <a:rPr lang="en-US" sz="2800" dirty="0"/>
              <a:t>Recursive Closure Operations</a:t>
            </a:r>
          </a:p>
          <a:p>
            <a:pPr lvl="1"/>
            <a:r>
              <a:rPr lang="en-US" sz="2800" dirty="0"/>
              <a:t>OUTER JOIN Operations</a:t>
            </a:r>
          </a:p>
          <a:p>
            <a:pPr lvl="1"/>
            <a:endParaRPr lang="en-US" sz="2800" dirty="0"/>
          </a:p>
        </p:txBody>
      </p:sp>
      <p:sp>
        <p:nvSpPr>
          <p:cNvPr id="4" name="Slide Number Placeholder 3">
            <a:extLst>
              <a:ext uri="{FF2B5EF4-FFF2-40B4-BE49-F238E27FC236}">
                <a16:creationId xmlns:a16="http://schemas.microsoft.com/office/drawing/2014/main" id="{462BE032-C398-803E-F4BA-730BDEA5E88B}"/>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22077684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117A7-E0AF-B81C-0FFC-45D48F98A710}"/>
              </a:ext>
            </a:extLst>
          </p:cNvPr>
          <p:cNvSpPr>
            <a:spLocks noGrp="1"/>
          </p:cNvSpPr>
          <p:nvPr>
            <p:ph type="title"/>
          </p:nvPr>
        </p:nvSpPr>
        <p:spPr/>
        <p:txBody>
          <a:bodyPr/>
          <a:lstStyle/>
          <a:p>
            <a:r>
              <a:rPr lang="en-US" dirty="0"/>
              <a:t>Generalized Projection</a:t>
            </a:r>
          </a:p>
        </p:txBody>
      </p:sp>
      <p:sp>
        <p:nvSpPr>
          <p:cNvPr id="3" name="Content Placeholder 2">
            <a:extLst>
              <a:ext uri="{FF2B5EF4-FFF2-40B4-BE49-F238E27FC236}">
                <a16:creationId xmlns:a16="http://schemas.microsoft.com/office/drawing/2014/main" id="{0225FD79-563B-B58D-2C00-BA46BDA56DD8}"/>
              </a:ext>
            </a:extLst>
          </p:cNvPr>
          <p:cNvSpPr>
            <a:spLocks noGrp="1"/>
          </p:cNvSpPr>
          <p:nvPr>
            <p:ph idx="1"/>
          </p:nvPr>
        </p:nvSpPr>
        <p:spPr/>
        <p:txBody>
          <a:bodyPr>
            <a:noAutofit/>
          </a:bodyPr>
          <a:lstStyle/>
          <a:p>
            <a:r>
              <a:rPr lang="en-US" dirty="0"/>
              <a:t>extends the projection operation by allowing functions of attributes to be included in the projection list</a:t>
            </a:r>
          </a:p>
          <a:p>
            <a:r>
              <a:rPr lang="el-GR" sz="4400" dirty="0"/>
              <a:t>π</a:t>
            </a:r>
            <a:r>
              <a:rPr lang="en-US" sz="3200" i="1" baseline="-25000" dirty="0"/>
              <a:t>F</a:t>
            </a:r>
            <a:r>
              <a:rPr lang="en-US" sz="3200" baseline="-25000" dirty="0"/>
              <a:t>1</a:t>
            </a:r>
            <a:r>
              <a:rPr lang="en-US" sz="3200" i="1" baseline="-25000" dirty="0"/>
              <a:t>, F</a:t>
            </a:r>
            <a:r>
              <a:rPr lang="en-US" sz="3200" baseline="-25000" dirty="0"/>
              <a:t>2</a:t>
            </a:r>
            <a:r>
              <a:rPr lang="en-US" sz="3200" i="1" baseline="-25000" dirty="0"/>
              <a:t>, ..., </a:t>
            </a:r>
            <a:r>
              <a:rPr lang="en-US" sz="3200" i="1" baseline="-25000" dirty="0" err="1"/>
              <a:t>Fn</a:t>
            </a:r>
            <a:r>
              <a:rPr lang="en-US" sz="3200" i="1" baseline="-25000" dirty="0"/>
              <a:t> </a:t>
            </a:r>
            <a:r>
              <a:rPr lang="en-US" dirty="0"/>
              <a:t>(</a:t>
            </a:r>
            <a:r>
              <a:rPr lang="en-US" i="1" dirty="0"/>
              <a:t>R</a:t>
            </a:r>
            <a:r>
              <a:rPr lang="en-US" dirty="0"/>
              <a:t>)</a:t>
            </a:r>
          </a:p>
          <a:p>
            <a:r>
              <a:rPr lang="en-US" dirty="0"/>
              <a:t>where </a:t>
            </a:r>
            <a:r>
              <a:rPr lang="en-US" i="1" dirty="0"/>
              <a:t>F</a:t>
            </a:r>
            <a:r>
              <a:rPr lang="en-US" baseline="-25000" dirty="0"/>
              <a:t>1</a:t>
            </a:r>
            <a:r>
              <a:rPr lang="en-US" dirty="0"/>
              <a:t>, </a:t>
            </a:r>
            <a:r>
              <a:rPr lang="en-US" i="1" dirty="0"/>
              <a:t>F</a:t>
            </a:r>
            <a:r>
              <a:rPr lang="en-US" baseline="-25000" dirty="0"/>
              <a:t>2</a:t>
            </a:r>
            <a:r>
              <a:rPr lang="en-US" dirty="0"/>
              <a:t>, … , </a:t>
            </a:r>
            <a:r>
              <a:rPr lang="en-US" i="1" dirty="0" err="1"/>
              <a:t>F</a:t>
            </a:r>
            <a:r>
              <a:rPr lang="en-US" i="1" baseline="-25000" dirty="0" err="1"/>
              <a:t>n</a:t>
            </a:r>
            <a:r>
              <a:rPr lang="en-US" i="1" dirty="0"/>
              <a:t> </a:t>
            </a:r>
            <a:r>
              <a:rPr lang="en-US" dirty="0"/>
              <a:t>are functions over the attributes in relation </a:t>
            </a:r>
            <a:r>
              <a:rPr lang="en-US" i="1" dirty="0"/>
              <a:t>R </a:t>
            </a:r>
            <a:r>
              <a:rPr lang="en-US" dirty="0"/>
              <a:t>and may involve arithmetic operations and constant values</a:t>
            </a:r>
          </a:p>
          <a:p>
            <a:r>
              <a:rPr lang="en-US" dirty="0"/>
              <a:t>helpful when computed values have to be produced in columns of query result</a:t>
            </a:r>
          </a:p>
        </p:txBody>
      </p:sp>
      <p:sp>
        <p:nvSpPr>
          <p:cNvPr id="4" name="Slide Number Placeholder 3">
            <a:extLst>
              <a:ext uri="{FF2B5EF4-FFF2-40B4-BE49-F238E27FC236}">
                <a16:creationId xmlns:a16="http://schemas.microsoft.com/office/drawing/2014/main" id="{196A21F9-5C7C-6400-C7B9-8184FE19EEBF}"/>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34803960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8DFB-A58F-0E81-A8D8-2C59E1350D50}"/>
              </a:ext>
            </a:extLst>
          </p:cNvPr>
          <p:cNvSpPr>
            <a:spLocks noGrp="1"/>
          </p:cNvSpPr>
          <p:nvPr>
            <p:ph type="title"/>
          </p:nvPr>
        </p:nvSpPr>
        <p:spPr/>
        <p:txBody>
          <a:bodyPr/>
          <a:lstStyle/>
          <a:p>
            <a:r>
              <a:rPr lang="en-US" dirty="0"/>
              <a:t>Aggregate Functions and Grouping</a:t>
            </a:r>
          </a:p>
        </p:txBody>
      </p:sp>
      <p:sp>
        <p:nvSpPr>
          <p:cNvPr id="3" name="Content Placeholder 2">
            <a:extLst>
              <a:ext uri="{FF2B5EF4-FFF2-40B4-BE49-F238E27FC236}">
                <a16:creationId xmlns:a16="http://schemas.microsoft.com/office/drawing/2014/main" id="{2FD09C86-86AF-728E-7571-8B35440C1675}"/>
              </a:ext>
            </a:extLst>
          </p:cNvPr>
          <p:cNvSpPr>
            <a:spLocks noGrp="1"/>
          </p:cNvSpPr>
          <p:nvPr>
            <p:ph idx="1"/>
          </p:nvPr>
        </p:nvSpPr>
        <p:spPr/>
        <p:txBody>
          <a:bodyPr>
            <a:normAutofit/>
          </a:bodyPr>
          <a:lstStyle/>
          <a:p>
            <a:r>
              <a:rPr lang="en-US" dirty="0"/>
              <a:t>to specify mathematical </a:t>
            </a:r>
            <a:r>
              <a:rPr lang="en-US" b="1" dirty="0"/>
              <a:t>aggregate functions </a:t>
            </a:r>
            <a:r>
              <a:rPr lang="en-US" dirty="0"/>
              <a:t>on collections of values </a:t>
            </a:r>
          </a:p>
          <a:p>
            <a:r>
              <a:rPr lang="en-US" dirty="0"/>
              <a:t>common functions applied to collections of numeric values include SUM, AVERAGE, MAXIMUM, and MINIMUM; COUNT function is used for counting tuples or values</a:t>
            </a:r>
          </a:p>
        </p:txBody>
      </p:sp>
      <p:sp>
        <p:nvSpPr>
          <p:cNvPr id="4" name="Slide Number Placeholder 3">
            <a:extLst>
              <a:ext uri="{FF2B5EF4-FFF2-40B4-BE49-F238E27FC236}">
                <a16:creationId xmlns:a16="http://schemas.microsoft.com/office/drawing/2014/main" id="{DFD1CD3D-BE17-E9F0-080A-ACC5C47D76CD}"/>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4039149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2FBCD-CCD8-38EF-A3C8-CE06B3D039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690D86-A91C-CFD8-43D7-07C40A89C4A5}"/>
              </a:ext>
            </a:extLst>
          </p:cNvPr>
          <p:cNvSpPr>
            <a:spLocks noGrp="1"/>
          </p:cNvSpPr>
          <p:nvPr>
            <p:ph idx="1"/>
          </p:nvPr>
        </p:nvSpPr>
        <p:spPr/>
        <p:txBody>
          <a:bodyPr>
            <a:noAutofit/>
          </a:bodyPr>
          <a:lstStyle/>
          <a:p>
            <a:r>
              <a:rPr lang="en-US" dirty="0"/>
              <a:t>another type of request involves grouping tuples in a relation by the value of some of their attributes and then applying aggregate function </a:t>
            </a:r>
            <a:r>
              <a:rPr lang="en-US" i="1" dirty="0"/>
              <a:t>independently to each group</a:t>
            </a:r>
          </a:p>
          <a:p>
            <a:r>
              <a:rPr lang="en-US" dirty="0"/>
              <a:t>for example, group EMPLOYEE tuples by </a:t>
            </a:r>
            <a:r>
              <a:rPr lang="en-US" dirty="0" err="1"/>
              <a:t>Dno</a:t>
            </a:r>
            <a:r>
              <a:rPr lang="en-US" dirty="0"/>
              <a:t>, so that each group includes tuples for employees working in same department</a:t>
            </a:r>
          </a:p>
        </p:txBody>
      </p:sp>
      <p:sp>
        <p:nvSpPr>
          <p:cNvPr id="4" name="Slide Number Placeholder 3">
            <a:extLst>
              <a:ext uri="{FF2B5EF4-FFF2-40B4-BE49-F238E27FC236}">
                <a16:creationId xmlns:a16="http://schemas.microsoft.com/office/drawing/2014/main" id="{04C828BB-19DB-00A2-C178-A3CC95EF7E8D}"/>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14779791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62E44-A004-0EC6-34FB-F2CF08A8C0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CF7FC7-F5F7-229E-BABC-3EB07565EA57}"/>
              </a:ext>
            </a:extLst>
          </p:cNvPr>
          <p:cNvSpPr>
            <a:spLocks noGrp="1"/>
          </p:cNvSpPr>
          <p:nvPr>
            <p:ph idx="1"/>
          </p:nvPr>
        </p:nvSpPr>
        <p:spPr/>
        <p:txBody>
          <a:bodyPr>
            <a:normAutofit/>
          </a:bodyPr>
          <a:lstStyle/>
          <a:p>
            <a:r>
              <a:rPr lang="en-US" dirty="0"/>
              <a:t>define an AGGREGATE FUNCTION operation, using symbol I (pronounced </a:t>
            </a:r>
            <a:r>
              <a:rPr lang="en-US" i="1" dirty="0"/>
              <a:t>script F</a:t>
            </a:r>
            <a:r>
              <a:rPr lang="en-US" dirty="0"/>
              <a:t>), to specify these types of requests as follows:</a:t>
            </a:r>
          </a:p>
          <a:p>
            <a:r>
              <a:rPr lang="en-US" dirty="0"/>
              <a:t>&lt;grouping attributes&gt; ℑ &lt;function list&gt; (</a:t>
            </a:r>
            <a:r>
              <a:rPr lang="en-US" i="1" dirty="0"/>
              <a:t>R</a:t>
            </a:r>
            <a:r>
              <a:rPr lang="en-US" dirty="0"/>
              <a:t>)</a:t>
            </a:r>
          </a:p>
          <a:p>
            <a:r>
              <a:rPr lang="en-US" dirty="0"/>
              <a:t>where &lt;grouping attributes&gt; is a list of attributes of relation specified in </a:t>
            </a:r>
            <a:r>
              <a:rPr lang="en-US" i="1" dirty="0"/>
              <a:t>R</a:t>
            </a:r>
            <a:r>
              <a:rPr lang="en-US" dirty="0"/>
              <a:t>, and &lt;function list&gt; is a list of (&lt;function&gt; &lt;attribute&gt;) pairs; in each such pair, &lt;function&gt; is one of the allowed functions, such as SUM, AVERAGE, MAXIMUM, MINIMUM, COUNT, and &lt;attribute&gt; is attribute of relation specified by </a:t>
            </a:r>
            <a:r>
              <a:rPr lang="en-US" i="1" dirty="0"/>
              <a:t>R</a:t>
            </a:r>
          </a:p>
          <a:p>
            <a:r>
              <a:rPr lang="en-US" dirty="0"/>
              <a:t>resulting relation has grouping attributes plus one attribute for each element in function list</a:t>
            </a:r>
          </a:p>
        </p:txBody>
      </p:sp>
      <p:sp>
        <p:nvSpPr>
          <p:cNvPr id="4" name="Slide Number Placeholder 3">
            <a:extLst>
              <a:ext uri="{FF2B5EF4-FFF2-40B4-BE49-F238E27FC236}">
                <a16:creationId xmlns:a16="http://schemas.microsoft.com/office/drawing/2014/main" id="{0E03E436-DB44-81E4-258C-ED730661D525}"/>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14160929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F0D91-4DB2-281F-B785-3834BD1762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4688E8-A895-BC59-4BA8-05399C6D664A}"/>
              </a:ext>
            </a:extLst>
          </p:cNvPr>
          <p:cNvSpPr>
            <a:spLocks noGrp="1"/>
          </p:cNvSpPr>
          <p:nvPr>
            <p:ph idx="1"/>
          </p:nvPr>
        </p:nvSpPr>
        <p:spPr/>
        <p:txBody>
          <a:bodyPr/>
          <a:lstStyle/>
          <a:p>
            <a:r>
              <a:rPr lang="en-US" dirty="0"/>
              <a:t>for example, to retrieve each department number, the number of employees in the department, and their average salary:</a:t>
            </a:r>
          </a:p>
          <a:p>
            <a:r>
              <a:rPr lang="en-US" sz="4400" dirty="0" err="1"/>
              <a:t>ρ</a:t>
            </a:r>
            <a:r>
              <a:rPr lang="en-US" i="1" dirty="0" err="1"/>
              <a:t>R</a:t>
            </a:r>
            <a:r>
              <a:rPr lang="en-US" dirty="0"/>
              <a:t>(</a:t>
            </a:r>
            <a:r>
              <a:rPr lang="en-US" dirty="0" err="1"/>
              <a:t>Dno</a:t>
            </a:r>
            <a:r>
              <a:rPr lang="en-US" dirty="0"/>
              <a:t>, </a:t>
            </a:r>
            <a:r>
              <a:rPr lang="en-US" dirty="0" err="1"/>
              <a:t>No_of_employees</a:t>
            </a:r>
            <a:r>
              <a:rPr lang="en-US" dirty="0"/>
              <a:t>, </a:t>
            </a:r>
            <a:r>
              <a:rPr lang="en-US" dirty="0" err="1"/>
              <a:t>Average_sal</a:t>
            </a:r>
            <a:r>
              <a:rPr lang="en-US" dirty="0"/>
              <a:t>) (</a:t>
            </a:r>
            <a:r>
              <a:rPr lang="en-US" dirty="0" err="1"/>
              <a:t>Dno</a:t>
            </a:r>
            <a:r>
              <a:rPr lang="en-US" dirty="0"/>
              <a:t> </a:t>
            </a:r>
            <a:r>
              <a:rPr lang="en-US" sz="3200" dirty="0"/>
              <a:t>ℑ</a:t>
            </a:r>
            <a:r>
              <a:rPr lang="en-US" dirty="0"/>
              <a:t> COUNT </a:t>
            </a:r>
            <a:r>
              <a:rPr lang="en-US" dirty="0" err="1"/>
              <a:t>Ssn</a:t>
            </a:r>
            <a:r>
              <a:rPr lang="en-US" dirty="0"/>
              <a:t>, AVERAGE Salary (EMPLOYEE))</a:t>
            </a:r>
          </a:p>
        </p:txBody>
      </p:sp>
      <p:sp>
        <p:nvSpPr>
          <p:cNvPr id="4" name="Slide Number Placeholder 3">
            <a:extLst>
              <a:ext uri="{FF2B5EF4-FFF2-40B4-BE49-F238E27FC236}">
                <a16:creationId xmlns:a16="http://schemas.microsoft.com/office/drawing/2014/main" id="{C0604460-9511-223A-5F28-8C249EF24D54}"/>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9106388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5C5F-9157-C7DC-CB07-9248DCC97714}"/>
              </a:ext>
            </a:extLst>
          </p:cNvPr>
          <p:cNvSpPr>
            <a:spLocks noGrp="1"/>
          </p:cNvSpPr>
          <p:nvPr>
            <p:ph type="title"/>
          </p:nvPr>
        </p:nvSpPr>
        <p:spPr/>
        <p:txBody>
          <a:bodyPr/>
          <a:lstStyle/>
          <a:p>
            <a:r>
              <a:rPr lang="en-US" dirty="0"/>
              <a:t>Recursive Closure Operations</a:t>
            </a:r>
          </a:p>
        </p:txBody>
      </p:sp>
      <p:sp>
        <p:nvSpPr>
          <p:cNvPr id="3" name="Content Placeholder 2">
            <a:extLst>
              <a:ext uri="{FF2B5EF4-FFF2-40B4-BE49-F238E27FC236}">
                <a16:creationId xmlns:a16="http://schemas.microsoft.com/office/drawing/2014/main" id="{0AD5DEE9-183E-3991-0262-E51C1403C3C9}"/>
              </a:ext>
            </a:extLst>
          </p:cNvPr>
          <p:cNvSpPr>
            <a:spLocks noGrp="1"/>
          </p:cNvSpPr>
          <p:nvPr>
            <p:ph idx="1"/>
          </p:nvPr>
        </p:nvSpPr>
        <p:spPr/>
        <p:txBody>
          <a:bodyPr>
            <a:noAutofit/>
          </a:bodyPr>
          <a:lstStyle/>
          <a:p>
            <a:r>
              <a:rPr lang="en-US" dirty="0"/>
              <a:t>operation is applied to recursive relationship</a:t>
            </a:r>
            <a:r>
              <a:rPr lang="en-US" b="1" dirty="0"/>
              <a:t> </a:t>
            </a:r>
            <a:r>
              <a:rPr lang="en-US" dirty="0"/>
              <a:t>between tuples of the same type, such as the relationship between employee and supervisor; relationship described by foreign key </a:t>
            </a:r>
            <a:r>
              <a:rPr lang="en-US" dirty="0" err="1"/>
              <a:t>Super_ssn</a:t>
            </a:r>
            <a:r>
              <a:rPr lang="en-US" dirty="0"/>
              <a:t> of EMPLOYEE relation and it relates each employee tuple (in the role of supervisee) to another employee tuple (in the role of supervisor)</a:t>
            </a:r>
          </a:p>
          <a:p>
            <a:r>
              <a:rPr lang="en-US" dirty="0"/>
              <a:t>for example, a recursive operation is to retrieve all supervisees of an employee </a:t>
            </a:r>
            <a:r>
              <a:rPr lang="en-US" i="1" dirty="0"/>
              <a:t>e </a:t>
            </a:r>
            <a:r>
              <a:rPr lang="en-US" dirty="0"/>
              <a:t>at all levels - that is, all employees </a:t>
            </a:r>
            <a:r>
              <a:rPr lang="en-US" i="1" dirty="0"/>
              <a:t>e</a:t>
            </a:r>
            <a:r>
              <a:rPr lang="en-US" dirty="0"/>
              <a:t>′ directly supervised by </a:t>
            </a:r>
            <a:r>
              <a:rPr lang="en-US" i="1" dirty="0"/>
              <a:t>e</a:t>
            </a:r>
            <a:r>
              <a:rPr lang="en-US" dirty="0"/>
              <a:t>, all employees </a:t>
            </a:r>
            <a:r>
              <a:rPr lang="en-US" i="1" dirty="0"/>
              <a:t>e</a:t>
            </a:r>
            <a:r>
              <a:rPr lang="en-US" dirty="0"/>
              <a:t>′′ directly supervised by each employee </a:t>
            </a:r>
            <a:r>
              <a:rPr lang="en-US" i="1" dirty="0"/>
              <a:t>e</a:t>
            </a:r>
            <a:r>
              <a:rPr lang="en-US" dirty="0"/>
              <a:t>′, all employees </a:t>
            </a:r>
            <a:r>
              <a:rPr lang="en-US" i="1" dirty="0"/>
              <a:t>e</a:t>
            </a:r>
            <a:r>
              <a:rPr lang="en-US" dirty="0"/>
              <a:t>″′ directly supervised by each employee </a:t>
            </a:r>
            <a:r>
              <a:rPr lang="en-US" i="1" dirty="0"/>
              <a:t>e</a:t>
            </a:r>
            <a:r>
              <a:rPr lang="en-US" dirty="0"/>
              <a:t>″, and so on</a:t>
            </a:r>
          </a:p>
        </p:txBody>
      </p:sp>
      <p:sp>
        <p:nvSpPr>
          <p:cNvPr id="4" name="Slide Number Placeholder 3">
            <a:extLst>
              <a:ext uri="{FF2B5EF4-FFF2-40B4-BE49-F238E27FC236}">
                <a16:creationId xmlns:a16="http://schemas.microsoft.com/office/drawing/2014/main" id="{08D5A0E7-33D6-34EB-FC42-DD98D7C6E5EA}"/>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519591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9459-0381-27A5-95C5-F0242BE8A6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CA38A8-A390-3354-E68A-A7BAC12C66D4}"/>
              </a:ext>
            </a:extLst>
          </p:cNvPr>
          <p:cNvSpPr>
            <a:spLocks noGrp="1"/>
          </p:cNvSpPr>
          <p:nvPr>
            <p:ph idx="1"/>
          </p:nvPr>
        </p:nvSpPr>
        <p:spPr/>
        <p:txBody>
          <a:bodyPr>
            <a:normAutofit/>
          </a:bodyPr>
          <a:lstStyle/>
          <a:p>
            <a:r>
              <a:rPr lang="en-US" dirty="0"/>
              <a:t>relatively straightforward in relational algebra to specify all employees supervised by e at a specific level by joining table with itself one or more times; difficult to specify all supervisees at all levels</a:t>
            </a:r>
          </a:p>
        </p:txBody>
      </p:sp>
      <p:sp>
        <p:nvSpPr>
          <p:cNvPr id="4" name="Slide Number Placeholder 3">
            <a:extLst>
              <a:ext uri="{FF2B5EF4-FFF2-40B4-BE49-F238E27FC236}">
                <a16:creationId xmlns:a16="http://schemas.microsoft.com/office/drawing/2014/main" id="{0470D3D8-6788-37C2-03B5-E5BAB8185263}"/>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2685708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36F80-7A5E-DBAB-A4CB-D12F190E5F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4C78DE-245C-83D9-421F-9747DBEE71A3}"/>
              </a:ext>
            </a:extLst>
          </p:cNvPr>
          <p:cNvSpPr>
            <a:spLocks noGrp="1"/>
          </p:cNvSpPr>
          <p:nvPr>
            <p:ph idx="1"/>
          </p:nvPr>
        </p:nvSpPr>
        <p:spPr/>
        <p:txBody>
          <a:bodyPr>
            <a:normAutofit/>
          </a:bodyPr>
          <a:lstStyle/>
          <a:p>
            <a:r>
              <a:rPr lang="en-US" dirty="0"/>
              <a:t>BORG_SSN ← </a:t>
            </a:r>
            <a:r>
              <a:rPr lang="el-GR" sz="4400" dirty="0"/>
              <a:t>π</a:t>
            </a:r>
            <a:r>
              <a:rPr lang="en-US" sz="3200" baseline="-25000" dirty="0" err="1"/>
              <a:t>Ssn</a:t>
            </a:r>
            <a:r>
              <a:rPr lang="en-US" dirty="0"/>
              <a:t>(</a:t>
            </a:r>
            <a:r>
              <a:rPr lang="el-GR" sz="4400" dirty="0"/>
              <a:t>σ</a:t>
            </a:r>
            <a:r>
              <a:rPr lang="en-US" sz="3200" baseline="-25000" dirty="0" err="1"/>
              <a:t>Fname</a:t>
            </a:r>
            <a:r>
              <a:rPr lang="en-US" sz="3200" baseline="-25000" dirty="0"/>
              <a:t>=‘James’ </a:t>
            </a:r>
            <a:r>
              <a:rPr lang="en-US" sz="3200" b="1" baseline="-25000" dirty="0"/>
              <a:t>AND </a:t>
            </a:r>
            <a:r>
              <a:rPr lang="en-US" sz="3200" baseline="-25000" dirty="0" err="1"/>
              <a:t>Lname</a:t>
            </a:r>
            <a:r>
              <a:rPr lang="en-US" sz="3200" baseline="-25000" dirty="0"/>
              <a:t>=‘Borg’</a:t>
            </a:r>
            <a:r>
              <a:rPr lang="en-US" dirty="0"/>
              <a:t>(EMPLOYEE))</a:t>
            </a:r>
          </a:p>
          <a:p>
            <a:r>
              <a:rPr lang="en-US" dirty="0"/>
              <a:t>SUPERVISION(Ssn1, Ssn2) ← </a:t>
            </a:r>
            <a:r>
              <a:rPr lang="el-GR" sz="4400" dirty="0"/>
              <a:t>π</a:t>
            </a:r>
            <a:r>
              <a:rPr lang="en-US" sz="3200" baseline="-25000" dirty="0" err="1"/>
              <a:t>Ssn,Super_ssn</a:t>
            </a:r>
            <a:r>
              <a:rPr lang="en-US" dirty="0"/>
              <a:t>(EMPLOYEE)</a:t>
            </a:r>
          </a:p>
          <a:p>
            <a:r>
              <a:rPr lang="en-US" dirty="0"/>
              <a:t>RESULT1(</a:t>
            </a:r>
            <a:r>
              <a:rPr lang="en-US" dirty="0" err="1"/>
              <a:t>Ssn</a:t>
            </a:r>
            <a:r>
              <a:rPr lang="en-US" dirty="0"/>
              <a:t>) ← </a:t>
            </a:r>
            <a:r>
              <a:rPr lang="el-GR" sz="4400" dirty="0"/>
              <a:t>π</a:t>
            </a:r>
            <a:r>
              <a:rPr lang="en-US" sz="3200" baseline="-25000" dirty="0"/>
              <a:t>Ssn1</a:t>
            </a:r>
            <a:r>
              <a:rPr lang="en-US" dirty="0"/>
              <a:t>(SUPERVISION </a:t>
            </a:r>
            <a:r>
              <a:rPr lang="en-US" sz="3200" dirty="0"/>
              <a:t>⨝ </a:t>
            </a:r>
            <a:r>
              <a:rPr lang="en-US" sz="3200" baseline="-25000" dirty="0"/>
              <a:t>Ssn2=</a:t>
            </a:r>
            <a:r>
              <a:rPr lang="en-US" sz="3200" baseline="-25000" dirty="0" err="1"/>
              <a:t>Ssn</a:t>
            </a:r>
            <a:r>
              <a:rPr lang="en-US" dirty="0" err="1"/>
              <a:t>BORG_SSN</a:t>
            </a:r>
            <a:r>
              <a:rPr lang="en-US" dirty="0"/>
              <a:t>)</a:t>
            </a:r>
          </a:p>
          <a:p>
            <a:endParaRPr lang="en-US" sz="1600" dirty="0"/>
          </a:p>
          <a:p>
            <a:r>
              <a:rPr lang="en-US" dirty="0"/>
              <a:t>RESULT2(</a:t>
            </a:r>
            <a:r>
              <a:rPr lang="en-US" dirty="0" err="1"/>
              <a:t>Ssn</a:t>
            </a:r>
            <a:r>
              <a:rPr lang="en-US" dirty="0"/>
              <a:t>) ← </a:t>
            </a:r>
            <a:r>
              <a:rPr lang="el-GR" sz="4400" dirty="0"/>
              <a:t>π</a:t>
            </a:r>
            <a:r>
              <a:rPr lang="en-US" sz="3200" baseline="-25000" dirty="0"/>
              <a:t>Ssn1</a:t>
            </a:r>
            <a:r>
              <a:rPr lang="en-US" dirty="0"/>
              <a:t>(SUPERVISION ⨝ </a:t>
            </a:r>
            <a:r>
              <a:rPr lang="en-US" baseline="-25000" dirty="0"/>
              <a:t>Ssn2=Ssn</a:t>
            </a:r>
            <a:r>
              <a:rPr lang="en-US" dirty="0"/>
              <a:t>RESULT1)</a:t>
            </a:r>
          </a:p>
          <a:p>
            <a:endParaRPr lang="en-US" sz="1600" dirty="0"/>
          </a:p>
          <a:p>
            <a:r>
              <a:rPr lang="en-US" dirty="0"/>
              <a:t>RESULT ← RESULT2 ∪ RESULT1</a:t>
            </a:r>
          </a:p>
        </p:txBody>
      </p:sp>
      <p:sp>
        <p:nvSpPr>
          <p:cNvPr id="4" name="Slide Number Placeholder 3">
            <a:extLst>
              <a:ext uri="{FF2B5EF4-FFF2-40B4-BE49-F238E27FC236}">
                <a16:creationId xmlns:a16="http://schemas.microsoft.com/office/drawing/2014/main" id="{5C6E81B0-CE58-C771-AA09-467E90628403}"/>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41800924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24DAE-FB6E-793E-1449-EC1352B7E5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05EC4E-E830-44A8-63EC-7AA87FF6BB3E}"/>
              </a:ext>
            </a:extLst>
          </p:cNvPr>
          <p:cNvSpPr>
            <a:spLocks noGrp="1"/>
          </p:cNvSpPr>
          <p:nvPr>
            <p:ph idx="1"/>
          </p:nvPr>
        </p:nvSpPr>
        <p:spPr/>
        <p:txBody>
          <a:bodyPr>
            <a:normAutofit/>
          </a:bodyPr>
          <a:lstStyle/>
          <a:p>
            <a:r>
              <a:rPr lang="en-US" dirty="0"/>
              <a:t>retrieve all employees supervised by Borg at level 1</a:t>
            </a:r>
          </a:p>
          <a:p>
            <a:r>
              <a:rPr lang="en-US" dirty="0"/>
              <a:t>retrieve all employees supervised by Borg at level 2</a:t>
            </a:r>
          </a:p>
          <a:p>
            <a:r>
              <a:rPr lang="en-US" dirty="0"/>
              <a:t>to get both sets of employees supervised at levels 1 and 2 by ‘James Borg’, we can apply the UNION operation to results</a:t>
            </a:r>
          </a:p>
        </p:txBody>
      </p:sp>
      <p:sp>
        <p:nvSpPr>
          <p:cNvPr id="4" name="Slide Number Placeholder 3">
            <a:extLst>
              <a:ext uri="{FF2B5EF4-FFF2-40B4-BE49-F238E27FC236}">
                <a16:creationId xmlns:a16="http://schemas.microsoft.com/office/drawing/2014/main" id="{BD43284E-B57E-4575-E890-1360570603CC}"/>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24114692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FC33-18ED-4F0A-C46C-1DF3EDCF3B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B20404-3A87-6FA6-C505-5A4460AACD24}"/>
              </a:ext>
            </a:extLst>
          </p:cNvPr>
          <p:cNvSpPr>
            <a:spLocks noGrp="1"/>
          </p:cNvSpPr>
          <p:nvPr>
            <p:ph idx="1"/>
          </p:nvPr>
        </p:nvSpPr>
        <p:spPr/>
        <p:txBody>
          <a:bodyPr>
            <a:normAutofit/>
          </a:bodyPr>
          <a:lstStyle/>
          <a:p>
            <a:r>
              <a:rPr lang="en-US" dirty="0"/>
              <a:t>although it is possible to retrieve employees at each level and then take their UNION, we cannot, in general, specify a query such as “retrieve the supervisees of ‘James Borg’ at all levels” without utilizing a looping mechanism unless we know the maximum number of levels</a:t>
            </a:r>
          </a:p>
          <a:p>
            <a:r>
              <a:rPr lang="en-US" dirty="0"/>
              <a:t>an operation called </a:t>
            </a:r>
            <a:r>
              <a:rPr lang="en-US" i="1" dirty="0"/>
              <a:t>transitive closure </a:t>
            </a:r>
            <a:r>
              <a:rPr lang="en-US" dirty="0"/>
              <a:t>of relations has been proposed to compute the recursive relationship as far as the recursion proceeds</a:t>
            </a:r>
          </a:p>
        </p:txBody>
      </p:sp>
      <p:sp>
        <p:nvSpPr>
          <p:cNvPr id="4" name="Slide Number Placeholder 3">
            <a:extLst>
              <a:ext uri="{FF2B5EF4-FFF2-40B4-BE49-F238E27FC236}">
                <a16:creationId xmlns:a16="http://schemas.microsoft.com/office/drawing/2014/main" id="{120282BF-A3DD-ECC4-BF7F-6F487B0222FA}"/>
              </a:ext>
            </a:extLst>
          </p:cNvPr>
          <p:cNvSpPr>
            <a:spLocks noGrp="1"/>
          </p:cNvSpPr>
          <p:nvPr>
            <p:ph type="sldNum" sz="quarter" idx="12"/>
          </p:nvPr>
        </p:nvSpPr>
        <p:spPr/>
        <p:txBody>
          <a:bodyPr/>
          <a:lstStyle/>
          <a:p>
            <a:fld id="{6264BDCF-5269-49AC-A246-ED26C2B980E3}" type="slidenum">
              <a:rPr lang="en-US" smtClean="0"/>
              <a:t>86</a:t>
            </a:fld>
            <a:endParaRPr lang="en-US"/>
          </a:p>
        </p:txBody>
      </p:sp>
    </p:spTree>
    <p:extLst>
      <p:ext uri="{BB962C8B-B14F-4D97-AF65-F5344CB8AC3E}">
        <p14:creationId xmlns:p14="http://schemas.microsoft.com/office/powerpoint/2010/main" val="14819536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4FE1D-2C37-6D7E-6DCA-EA2AA3145CD2}"/>
              </a:ext>
            </a:extLst>
          </p:cNvPr>
          <p:cNvSpPr>
            <a:spLocks noGrp="1"/>
          </p:cNvSpPr>
          <p:nvPr>
            <p:ph type="title"/>
          </p:nvPr>
        </p:nvSpPr>
        <p:spPr/>
        <p:txBody>
          <a:bodyPr/>
          <a:lstStyle/>
          <a:p>
            <a:r>
              <a:rPr lang="en-US" dirty="0"/>
              <a:t>OUTER JOIN Operations</a:t>
            </a:r>
          </a:p>
        </p:txBody>
      </p:sp>
      <p:sp>
        <p:nvSpPr>
          <p:cNvPr id="3" name="Content Placeholder 2">
            <a:extLst>
              <a:ext uri="{FF2B5EF4-FFF2-40B4-BE49-F238E27FC236}">
                <a16:creationId xmlns:a16="http://schemas.microsoft.com/office/drawing/2014/main" id="{B153CEBC-8F17-FBC7-1406-115D65595D6F}"/>
              </a:ext>
            </a:extLst>
          </p:cNvPr>
          <p:cNvSpPr>
            <a:spLocks noGrp="1"/>
          </p:cNvSpPr>
          <p:nvPr>
            <p:ph idx="1"/>
          </p:nvPr>
        </p:nvSpPr>
        <p:spPr/>
        <p:txBody>
          <a:bodyPr>
            <a:normAutofit/>
          </a:bodyPr>
          <a:lstStyle/>
          <a:p>
            <a:r>
              <a:rPr lang="en-US" dirty="0"/>
              <a:t>developed to take the union of tuples from two relations that have some common attributes but are </a:t>
            </a:r>
            <a:r>
              <a:rPr lang="en-US" i="1" dirty="0"/>
              <a:t>not union (type) compatible</a:t>
            </a:r>
            <a:r>
              <a:rPr lang="en-US" dirty="0"/>
              <a:t>.</a:t>
            </a:r>
          </a:p>
          <a:p>
            <a:r>
              <a:rPr lang="en-US" dirty="0"/>
              <a:t>operation will take   of tuples in two relations </a:t>
            </a:r>
            <a:r>
              <a:rPr lang="en-US" i="1" dirty="0"/>
              <a:t>R</a:t>
            </a:r>
            <a:r>
              <a:rPr lang="en-US" dirty="0"/>
              <a:t>(</a:t>
            </a:r>
            <a:r>
              <a:rPr lang="en-US" i="1" dirty="0"/>
              <a:t>X</a:t>
            </a:r>
            <a:r>
              <a:rPr lang="en-US" dirty="0"/>
              <a:t>, </a:t>
            </a:r>
            <a:r>
              <a:rPr lang="en-US" i="1" dirty="0"/>
              <a:t>Y</a:t>
            </a:r>
            <a:r>
              <a:rPr lang="en-US" dirty="0"/>
              <a:t>) and </a:t>
            </a:r>
            <a:r>
              <a:rPr lang="en-US" i="1" dirty="0"/>
              <a:t>S</a:t>
            </a:r>
            <a:r>
              <a:rPr lang="en-US" dirty="0"/>
              <a:t>(</a:t>
            </a:r>
            <a:r>
              <a:rPr lang="en-US" i="1" dirty="0"/>
              <a:t>X</a:t>
            </a:r>
            <a:r>
              <a:rPr lang="en-US" dirty="0"/>
              <a:t>, </a:t>
            </a:r>
            <a:r>
              <a:rPr lang="en-US" i="1" dirty="0"/>
              <a:t>Z</a:t>
            </a:r>
            <a:r>
              <a:rPr lang="en-US" dirty="0"/>
              <a:t>) that are </a:t>
            </a:r>
            <a:r>
              <a:rPr lang="en-US" b="1" dirty="0"/>
              <a:t>partially compatible</a:t>
            </a:r>
            <a:r>
              <a:rPr lang="en-US" dirty="0"/>
              <a:t>, meaning that only some of their attributes, say </a:t>
            </a:r>
            <a:r>
              <a:rPr lang="en-US" i="1" dirty="0"/>
              <a:t>X</a:t>
            </a:r>
            <a:r>
              <a:rPr lang="en-US" dirty="0"/>
              <a:t>, are union compatible; attributes that are union compatible are represented only once in the result, and those attributes that are not union compatible from either relation are also kept in result relation </a:t>
            </a:r>
            <a:r>
              <a:rPr lang="en-US" i="1" dirty="0"/>
              <a:t>T</a:t>
            </a:r>
            <a:r>
              <a:rPr lang="en-US" dirty="0"/>
              <a:t>(</a:t>
            </a:r>
            <a:r>
              <a:rPr lang="en-US" i="1" dirty="0"/>
              <a:t>X</a:t>
            </a:r>
            <a:r>
              <a:rPr lang="en-US" dirty="0"/>
              <a:t>, </a:t>
            </a:r>
            <a:r>
              <a:rPr lang="en-US" i="1" dirty="0"/>
              <a:t>Y</a:t>
            </a:r>
            <a:r>
              <a:rPr lang="en-US" dirty="0"/>
              <a:t>, </a:t>
            </a:r>
            <a:r>
              <a:rPr lang="en-US" i="1" dirty="0"/>
              <a:t>Z</a:t>
            </a:r>
            <a:r>
              <a:rPr lang="en-US" dirty="0"/>
              <a:t>)</a:t>
            </a:r>
          </a:p>
        </p:txBody>
      </p:sp>
      <p:sp>
        <p:nvSpPr>
          <p:cNvPr id="4" name="Slide Number Placeholder 3">
            <a:extLst>
              <a:ext uri="{FF2B5EF4-FFF2-40B4-BE49-F238E27FC236}">
                <a16:creationId xmlns:a16="http://schemas.microsoft.com/office/drawing/2014/main" id="{90FDAEAE-BA65-008E-780C-8BF86C48657D}"/>
              </a:ext>
            </a:extLst>
          </p:cNvPr>
          <p:cNvSpPr>
            <a:spLocks noGrp="1"/>
          </p:cNvSpPr>
          <p:nvPr>
            <p:ph type="sldNum" sz="quarter" idx="12"/>
          </p:nvPr>
        </p:nvSpPr>
        <p:spPr/>
        <p:txBody>
          <a:bodyPr/>
          <a:lstStyle/>
          <a:p>
            <a:fld id="{6264BDCF-5269-49AC-A246-ED26C2B980E3}" type="slidenum">
              <a:rPr lang="en-US" smtClean="0"/>
              <a:t>87</a:t>
            </a:fld>
            <a:endParaRPr lang="en-US"/>
          </a:p>
        </p:txBody>
      </p:sp>
    </p:spTree>
    <p:extLst>
      <p:ext uri="{BB962C8B-B14F-4D97-AF65-F5344CB8AC3E}">
        <p14:creationId xmlns:p14="http://schemas.microsoft.com/office/powerpoint/2010/main" val="31730022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C87B-BD33-2053-9382-DCD3B6DAA2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6E77FB-0F01-8969-4568-6962F86FB996}"/>
              </a:ext>
            </a:extLst>
          </p:cNvPr>
          <p:cNvSpPr>
            <a:spLocks noGrp="1"/>
          </p:cNvSpPr>
          <p:nvPr>
            <p:ph idx="1"/>
          </p:nvPr>
        </p:nvSpPr>
        <p:spPr/>
        <p:txBody>
          <a:bodyPr>
            <a:noAutofit/>
          </a:bodyPr>
          <a:lstStyle/>
          <a:p>
            <a:r>
              <a:rPr lang="en-US" dirty="0"/>
              <a:t>two tuples </a:t>
            </a:r>
            <a:r>
              <a:rPr lang="en-US" i="1" dirty="0"/>
              <a:t>t</a:t>
            </a:r>
            <a:r>
              <a:rPr lang="en-US" baseline="-25000" dirty="0"/>
              <a:t>1</a:t>
            </a:r>
            <a:r>
              <a:rPr lang="en-US" dirty="0"/>
              <a:t> in </a:t>
            </a:r>
            <a:r>
              <a:rPr lang="en-US" i="1" dirty="0"/>
              <a:t>R </a:t>
            </a:r>
            <a:r>
              <a:rPr lang="en-US" dirty="0"/>
              <a:t>and </a:t>
            </a:r>
            <a:r>
              <a:rPr lang="en-US" i="1" dirty="0"/>
              <a:t>t</a:t>
            </a:r>
            <a:r>
              <a:rPr lang="en-US" baseline="-25000" dirty="0"/>
              <a:t>2</a:t>
            </a:r>
            <a:r>
              <a:rPr lang="en-US" dirty="0"/>
              <a:t> in </a:t>
            </a:r>
            <a:r>
              <a:rPr lang="en-US" i="1" dirty="0"/>
              <a:t>S </a:t>
            </a:r>
            <a:r>
              <a:rPr lang="en-US" dirty="0"/>
              <a:t>are said to match</a:t>
            </a:r>
            <a:r>
              <a:rPr lang="en-US" b="1" dirty="0"/>
              <a:t> </a:t>
            </a:r>
            <a:r>
              <a:rPr lang="en-US" dirty="0"/>
              <a:t>if </a:t>
            </a:r>
            <a:r>
              <a:rPr lang="en-US" i="1" dirty="0"/>
              <a:t>t</a:t>
            </a:r>
            <a:r>
              <a:rPr lang="en-US" baseline="-25000" dirty="0"/>
              <a:t>1</a:t>
            </a:r>
            <a:r>
              <a:rPr lang="en-US" dirty="0"/>
              <a:t>[</a:t>
            </a:r>
            <a:r>
              <a:rPr lang="en-US" i="1" dirty="0"/>
              <a:t>X</a:t>
            </a:r>
            <a:r>
              <a:rPr lang="en-US" dirty="0"/>
              <a:t>] = </a:t>
            </a:r>
            <a:r>
              <a:rPr lang="en-US" i="1" dirty="0"/>
              <a:t>t</a:t>
            </a:r>
            <a:r>
              <a:rPr lang="en-US" baseline="-25000" dirty="0"/>
              <a:t>2</a:t>
            </a:r>
            <a:r>
              <a:rPr lang="en-US" dirty="0"/>
              <a:t>[</a:t>
            </a:r>
            <a:r>
              <a:rPr lang="en-US" i="1" dirty="0"/>
              <a:t>X</a:t>
            </a:r>
            <a:r>
              <a:rPr lang="en-US" dirty="0"/>
              <a:t>]; these will be combined (</a:t>
            </a:r>
            <a:r>
              <a:rPr lang="en-US" dirty="0" err="1"/>
              <a:t>unioned</a:t>
            </a:r>
            <a:r>
              <a:rPr lang="en-US" dirty="0"/>
              <a:t>) into a single tuple in </a:t>
            </a:r>
            <a:r>
              <a:rPr lang="en-US" i="1" dirty="0"/>
              <a:t>t</a:t>
            </a:r>
          </a:p>
          <a:p>
            <a:r>
              <a:rPr lang="en-US" dirty="0"/>
              <a:t>tuples in either relation that have no matching tuple in other relation are padded with NULL values</a:t>
            </a:r>
          </a:p>
          <a:p>
            <a:r>
              <a:rPr lang="en-US" dirty="0"/>
              <a:t>all tuples from both relations are included in result, but tuples with the same attributes values combination will appear only once in the result</a:t>
            </a:r>
          </a:p>
        </p:txBody>
      </p:sp>
      <p:sp>
        <p:nvSpPr>
          <p:cNvPr id="4" name="Slide Number Placeholder 3">
            <a:extLst>
              <a:ext uri="{FF2B5EF4-FFF2-40B4-BE49-F238E27FC236}">
                <a16:creationId xmlns:a16="http://schemas.microsoft.com/office/drawing/2014/main" id="{C599CFC1-3410-4BD6-6A4C-DB34D3AF1082}"/>
              </a:ext>
            </a:extLst>
          </p:cNvPr>
          <p:cNvSpPr>
            <a:spLocks noGrp="1"/>
          </p:cNvSpPr>
          <p:nvPr>
            <p:ph type="sldNum" sz="quarter" idx="12"/>
          </p:nvPr>
        </p:nvSpPr>
        <p:spPr/>
        <p:txBody>
          <a:bodyPr/>
          <a:lstStyle/>
          <a:p>
            <a:fld id="{6264BDCF-5269-49AC-A246-ED26C2B980E3}" type="slidenum">
              <a:rPr lang="en-US" smtClean="0"/>
              <a:t>88</a:t>
            </a:fld>
            <a:endParaRPr lang="en-US"/>
          </a:p>
        </p:txBody>
      </p:sp>
    </p:spTree>
    <p:extLst>
      <p:ext uri="{BB962C8B-B14F-4D97-AF65-F5344CB8AC3E}">
        <p14:creationId xmlns:p14="http://schemas.microsoft.com/office/powerpoint/2010/main" val="27921995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7367-F2A5-CC6F-4A2C-E0EF55A03E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D72593-9DC7-DA43-1BEB-48997221CD69}"/>
              </a:ext>
            </a:extLst>
          </p:cNvPr>
          <p:cNvSpPr>
            <a:spLocks noGrp="1"/>
          </p:cNvSpPr>
          <p:nvPr>
            <p:ph idx="1"/>
          </p:nvPr>
        </p:nvSpPr>
        <p:spPr/>
        <p:txBody>
          <a:bodyPr>
            <a:normAutofit fontScale="92500"/>
          </a:bodyPr>
          <a:lstStyle/>
          <a:p>
            <a:r>
              <a:rPr lang="en-US" dirty="0"/>
              <a:t>OUTER UNION can be applied to two relations whose schemas are STUDENT(Name, </a:t>
            </a:r>
            <a:r>
              <a:rPr lang="en-US" dirty="0" err="1"/>
              <a:t>Ssn</a:t>
            </a:r>
            <a:r>
              <a:rPr lang="en-US" dirty="0"/>
              <a:t>, Department, Advisor) and INSTRUCTOR(Name, </a:t>
            </a:r>
            <a:r>
              <a:rPr lang="en-US" dirty="0" err="1"/>
              <a:t>Ssn</a:t>
            </a:r>
            <a:r>
              <a:rPr lang="en-US" dirty="0"/>
              <a:t>, Department, Rank)</a:t>
            </a:r>
          </a:p>
          <a:p>
            <a:r>
              <a:rPr lang="en-US" dirty="0"/>
              <a:t>tuples from the two relations are matched based on having same combination of values of the shared attributes: Name, </a:t>
            </a:r>
            <a:r>
              <a:rPr lang="en-US" dirty="0" err="1"/>
              <a:t>Ssn</a:t>
            </a:r>
            <a:r>
              <a:rPr lang="en-US" dirty="0"/>
              <a:t>, Department</a:t>
            </a:r>
          </a:p>
          <a:p>
            <a:r>
              <a:rPr lang="en-US" dirty="0"/>
              <a:t>tuples appearing only in STUDENT will have a NULL for Rank attribute</a:t>
            </a:r>
          </a:p>
          <a:p>
            <a:r>
              <a:rPr lang="en-US" dirty="0"/>
              <a:t>tuples appearing only in INSTRUCTOR will have a NULL for Advisor attribute</a:t>
            </a:r>
          </a:p>
          <a:p>
            <a:r>
              <a:rPr lang="en-US" dirty="0"/>
              <a:t>tuple that exists in both relations, which represent a student who is also an instructor, will have values for all its attributes</a:t>
            </a:r>
          </a:p>
          <a:p>
            <a:endParaRPr lang="en-US" dirty="0"/>
          </a:p>
        </p:txBody>
      </p:sp>
      <p:sp>
        <p:nvSpPr>
          <p:cNvPr id="4" name="Slide Number Placeholder 3">
            <a:extLst>
              <a:ext uri="{FF2B5EF4-FFF2-40B4-BE49-F238E27FC236}">
                <a16:creationId xmlns:a16="http://schemas.microsoft.com/office/drawing/2014/main" id="{C419863E-3A36-81A6-597A-8C9DAB409A2F}"/>
              </a:ext>
            </a:extLst>
          </p:cNvPr>
          <p:cNvSpPr>
            <a:spLocks noGrp="1"/>
          </p:cNvSpPr>
          <p:nvPr>
            <p:ph type="sldNum" sz="quarter" idx="12"/>
          </p:nvPr>
        </p:nvSpPr>
        <p:spPr/>
        <p:txBody>
          <a:bodyPr/>
          <a:lstStyle/>
          <a:p>
            <a:fld id="{6264BDCF-5269-49AC-A246-ED26C2B980E3}" type="slidenum">
              <a:rPr lang="en-US" smtClean="0"/>
              <a:t>89</a:t>
            </a:fld>
            <a:endParaRPr lang="en-US"/>
          </a:p>
        </p:txBody>
      </p:sp>
    </p:spTree>
    <p:extLst>
      <p:ext uri="{BB962C8B-B14F-4D97-AF65-F5344CB8AC3E}">
        <p14:creationId xmlns:p14="http://schemas.microsoft.com/office/powerpoint/2010/main" val="30684175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4501F-F33F-73DE-5264-110223F3EE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E8A233-0054-6318-505D-C77023DB1406}"/>
              </a:ext>
            </a:extLst>
          </p:cNvPr>
          <p:cNvSpPr>
            <a:spLocks noGrp="1"/>
          </p:cNvSpPr>
          <p:nvPr>
            <p:ph type="title"/>
          </p:nvPr>
        </p:nvSpPr>
        <p:spPr/>
        <p:txBody>
          <a:bodyPr/>
          <a:lstStyle/>
          <a:p>
            <a:r>
              <a:rPr lang="en-US" b="1" dirty="0"/>
              <a:t>Relational Calculus</a:t>
            </a:r>
          </a:p>
        </p:txBody>
      </p:sp>
      <p:sp>
        <p:nvSpPr>
          <p:cNvPr id="6" name="Text Placeholder 5">
            <a:extLst>
              <a:ext uri="{FF2B5EF4-FFF2-40B4-BE49-F238E27FC236}">
                <a16:creationId xmlns:a16="http://schemas.microsoft.com/office/drawing/2014/main" id="{B412B0C7-E568-A959-471E-38F56826D3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DFFFB9-9CE2-9B68-361F-96526B5DEA2A}"/>
              </a:ext>
            </a:extLst>
          </p:cNvPr>
          <p:cNvSpPr>
            <a:spLocks noGrp="1"/>
          </p:cNvSpPr>
          <p:nvPr>
            <p:ph type="sldNum" sz="quarter" idx="12"/>
          </p:nvPr>
        </p:nvSpPr>
        <p:spPr/>
        <p:txBody>
          <a:bodyPr/>
          <a:lstStyle/>
          <a:p>
            <a:fld id="{6264BDCF-5269-49AC-A246-ED26C2B980E3}" type="slidenum">
              <a:rPr lang="en-US" smtClean="0"/>
              <a:t>90</a:t>
            </a:fld>
            <a:endParaRPr lang="en-US"/>
          </a:p>
        </p:txBody>
      </p:sp>
    </p:spTree>
    <p:extLst>
      <p:ext uri="{BB962C8B-B14F-4D97-AF65-F5344CB8AC3E}">
        <p14:creationId xmlns:p14="http://schemas.microsoft.com/office/powerpoint/2010/main" val="7131161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05D2DD-DBDB-B454-4C9D-585DEBB8E704}"/>
              </a:ext>
            </a:extLst>
          </p:cNvPr>
          <p:cNvSpPr>
            <a:spLocks noGrp="1"/>
          </p:cNvSpPr>
          <p:nvPr>
            <p:ph type="title"/>
          </p:nvPr>
        </p:nvSpPr>
        <p:spPr/>
        <p:txBody>
          <a:bodyPr/>
          <a:lstStyle/>
          <a:p>
            <a:r>
              <a:rPr lang="en-US" dirty="0"/>
              <a:t>Relational Calculus</a:t>
            </a:r>
          </a:p>
        </p:txBody>
      </p:sp>
      <p:sp>
        <p:nvSpPr>
          <p:cNvPr id="6" name="Content Placeholder 5">
            <a:extLst>
              <a:ext uri="{FF2B5EF4-FFF2-40B4-BE49-F238E27FC236}">
                <a16:creationId xmlns:a16="http://schemas.microsoft.com/office/drawing/2014/main" id="{CAFD0A88-47DE-D63E-FC94-9DFF047907E3}"/>
              </a:ext>
            </a:extLst>
          </p:cNvPr>
          <p:cNvSpPr>
            <a:spLocks noGrp="1"/>
          </p:cNvSpPr>
          <p:nvPr>
            <p:ph idx="1"/>
          </p:nvPr>
        </p:nvSpPr>
        <p:spPr/>
        <p:txBody>
          <a:bodyPr>
            <a:noAutofit/>
          </a:bodyPr>
          <a:lstStyle/>
          <a:p>
            <a:pPr marL="514350" indent="-514350">
              <a:buFont typeface="+mj-lt"/>
              <a:buAutoNum type="arabicPeriod"/>
            </a:pPr>
            <a:r>
              <a:rPr lang="en-US" dirty="0"/>
              <a:t>tuple relational calculus</a:t>
            </a:r>
          </a:p>
          <a:p>
            <a:pPr marL="514350" indent="-514350">
              <a:buFont typeface="+mj-lt"/>
              <a:buAutoNum type="arabicPeriod"/>
            </a:pPr>
            <a:r>
              <a:rPr lang="en-US" dirty="0"/>
              <a:t>domain relational calculus</a:t>
            </a:r>
          </a:p>
          <a:p>
            <a:r>
              <a:rPr lang="en-US" dirty="0"/>
              <a:t>in both variations of relational calculus, we write one </a:t>
            </a:r>
            <a:r>
              <a:rPr lang="en-US" b="1" dirty="0"/>
              <a:t>declarative </a:t>
            </a:r>
            <a:r>
              <a:rPr lang="en-US" dirty="0"/>
              <a:t>expression to specify a retrieval request</a:t>
            </a:r>
          </a:p>
          <a:p>
            <a:r>
              <a:rPr lang="en-US" dirty="0"/>
              <a:t>there is no description of how to evaluate a query; calculus expression specifies </a:t>
            </a:r>
            <a:r>
              <a:rPr lang="en-US" i="1" dirty="0"/>
              <a:t>what </a:t>
            </a:r>
            <a:r>
              <a:rPr lang="en-US" dirty="0"/>
              <a:t>is to be retrieved rather than </a:t>
            </a:r>
            <a:r>
              <a:rPr lang="en-US" i="1" dirty="0"/>
              <a:t>how </a:t>
            </a:r>
            <a:r>
              <a:rPr lang="en-US" dirty="0"/>
              <a:t>to retrieve it</a:t>
            </a:r>
          </a:p>
          <a:p>
            <a:r>
              <a:rPr lang="en-US" dirty="0"/>
              <a:t>relational calculus is a </a:t>
            </a:r>
            <a:r>
              <a:rPr lang="en-US" b="1" dirty="0"/>
              <a:t>nonprocedural </a:t>
            </a:r>
            <a:r>
              <a:rPr lang="en-US" dirty="0"/>
              <a:t>language</a:t>
            </a:r>
          </a:p>
        </p:txBody>
      </p:sp>
      <p:sp>
        <p:nvSpPr>
          <p:cNvPr id="4" name="Slide Number Placeholder 3">
            <a:extLst>
              <a:ext uri="{FF2B5EF4-FFF2-40B4-BE49-F238E27FC236}">
                <a16:creationId xmlns:a16="http://schemas.microsoft.com/office/drawing/2014/main" id="{8725B428-92AC-1C10-1D18-AFDE0A386D59}"/>
              </a:ext>
            </a:extLst>
          </p:cNvPr>
          <p:cNvSpPr>
            <a:spLocks noGrp="1"/>
          </p:cNvSpPr>
          <p:nvPr>
            <p:ph type="sldNum" sz="quarter" idx="12"/>
          </p:nvPr>
        </p:nvSpPr>
        <p:spPr/>
        <p:txBody>
          <a:bodyPr/>
          <a:lstStyle/>
          <a:p>
            <a:fld id="{6264BDCF-5269-49AC-A246-ED26C2B980E3}" type="slidenum">
              <a:rPr lang="en-US" smtClean="0"/>
              <a:t>91</a:t>
            </a:fld>
            <a:endParaRPr lang="en-US"/>
          </a:p>
        </p:txBody>
      </p:sp>
    </p:spTree>
    <p:extLst>
      <p:ext uri="{BB962C8B-B14F-4D97-AF65-F5344CB8AC3E}">
        <p14:creationId xmlns:p14="http://schemas.microsoft.com/office/powerpoint/2010/main" val="29169586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FC36B-0429-2D56-34EF-CC02954789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1FFFBB-9A9E-7C74-8049-81CC8C96B3F9}"/>
              </a:ext>
            </a:extLst>
          </p:cNvPr>
          <p:cNvSpPr>
            <a:spLocks noGrp="1"/>
          </p:cNvSpPr>
          <p:nvPr>
            <p:ph idx="1"/>
          </p:nvPr>
        </p:nvSpPr>
        <p:spPr/>
        <p:txBody>
          <a:bodyPr>
            <a:noAutofit/>
          </a:bodyPr>
          <a:lstStyle/>
          <a:p>
            <a:r>
              <a:rPr lang="en-US" dirty="0"/>
              <a:t>differs from relational algebra, where we must write a </a:t>
            </a:r>
            <a:r>
              <a:rPr lang="en-US" i="1" dirty="0"/>
              <a:t>sequence of operations </a:t>
            </a:r>
            <a:r>
              <a:rPr lang="en-US" dirty="0"/>
              <a:t>to specify a retrieval request </a:t>
            </a:r>
            <a:r>
              <a:rPr lang="en-US" i="1" dirty="0"/>
              <a:t>in a particular order </a:t>
            </a:r>
            <a:r>
              <a:rPr lang="en-US" dirty="0"/>
              <a:t>of applying the operations; order also influences the strategy for evaluating query</a:t>
            </a:r>
          </a:p>
          <a:p>
            <a:r>
              <a:rPr lang="en-US" dirty="0"/>
              <a:t>it can be considered as a </a:t>
            </a:r>
            <a:r>
              <a:rPr lang="en-US" b="1" dirty="0"/>
              <a:t>procedural </a:t>
            </a:r>
            <a:r>
              <a:rPr lang="en-US" dirty="0"/>
              <a:t>way of stating a query</a:t>
            </a:r>
          </a:p>
        </p:txBody>
      </p:sp>
      <p:sp>
        <p:nvSpPr>
          <p:cNvPr id="4" name="Slide Number Placeholder 3">
            <a:extLst>
              <a:ext uri="{FF2B5EF4-FFF2-40B4-BE49-F238E27FC236}">
                <a16:creationId xmlns:a16="http://schemas.microsoft.com/office/drawing/2014/main" id="{D184E760-ECFA-5199-A931-E9192FB04937}"/>
              </a:ext>
            </a:extLst>
          </p:cNvPr>
          <p:cNvSpPr>
            <a:spLocks noGrp="1"/>
          </p:cNvSpPr>
          <p:nvPr>
            <p:ph type="sldNum" sz="quarter" idx="12"/>
          </p:nvPr>
        </p:nvSpPr>
        <p:spPr/>
        <p:txBody>
          <a:bodyPr/>
          <a:lstStyle/>
          <a:p>
            <a:fld id="{6264BDCF-5269-49AC-A246-ED26C2B980E3}" type="slidenum">
              <a:rPr lang="en-US" smtClean="0"/>
              <a:t>92</a:t>
            </a:fld>
            <a:endParaRPr lang="en-US"/>
          </a:p>
        </p:txBody>
      </p:sp>
    </p:spTree>
    <p:extLst>
      <p:ext uri="{BB962C8B-B14F-4D97-AF65-F5344CB8AC3E}">
        <p14:creationId xmlns:p14="http://schemas.microsoft.com/office/powerpoint/2010/main" val="11731579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F6BB-5020-1098-1E37-D85BFBEE1D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AB6D7D-D3C0-58F2-B0D5-D7709D41C3CF}"/>
              </a:ext>
            </a:extLst>
          </p:cNvPr>
          <p:cNvSpPr>
            <a:spLocks noGrp="1"/>
          </p:cNvSpPr>
          <p:nvPr>
            <p:ph idx="1"/>
          </p:nvPr>
        </p:nvSpPr>
        <p:spPr/>
        <p:txBody>
          <a:bodyPr>
            <a:noAutofit/>
          </a:bodyPr>
          <a:lstStyle/>
          <a:p>
            <a:r>
              <a:rPr lang="en-US" dirty="0"/>
              <a:t>calculus expression may be written in different ways, but the way it is written has no bearing on how query should be evaluated</a:t>
            </a:r>
          </a:p>
        </p:txBody>
      </p:sp>
      <p:sp>
        <p:nvSpPr>
          <p:cNvPr id="4" name="Slide Number Placeholder 3">
            <a:extLst>
              <a:ext uri="{FF2B5EF4-FFF2-40B4-BE49-F238E27FC236}">
                <a16:creationId xmlns:a16="http://schemas.microsoft.com/office/drawing/2014/main" id="{16DEE23F-8DD3-750F-F8A5-E9EB5EC04007}"/>
              </a:ext>
            </a:extLst>
          </p:cNvPr>
          <p:cNvSpPr>
            <a:spLocks noGrp="1"/>
          </p:cNvSpPr>
          <p:nvPr>
            <p:ph type="sldNum" sz="quarter" idx="12"/>
          </p:nvPr>
        </p:nvSpPr>
        <p:spPr/>
        <p:txBody>
          <a:bodyPr/>
          <a:lstStyle/>
          <a:p>
            <a:fld id="{6264BDCF-5269-49AC-A246-ED26C2B980E3}" type="slidenum">
              <a:rPr lang="en-US" smtClean="0"/>
              <a:t>93</a:t>
            </a:fld>
            <a:endParaRPr lang="en-US"/>
          </a:p>
        </p:txBody>
      </p:sp>
    </p:spTree>
    <p:extLst>
      <p:ext uri="{BB962C8B-B14F-4D97-AF65-F5344CB8AC3E}">
        <p14:creationId xmlns:p14="http://schemas.microsoft.com/office/powerpoint/2010/main" val="2111338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71DD6-B28D-CB43-6231-1F0625E2D6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2B4C75-999B-96A5-F347-FB61DE0FD598}"/>
              </a:ext>
            </a:extLst>
          </p:cNvPr>
          <p:cNvSpPr>
            <a:spLocks noGrp="1"/>
          </p:cNvSpPr>
          <p:nvPr>
            <p:ph idx="1"/>
          </p:nvPr>
        </p:nvSpPr>
        <p:spPr/>
        <p:txBody>
          <a:bodyPr>
            <a:noAutofit/>
          </a:bodyPr>
          <a:lstStyle/>
          <a:p>
            <a:r>
              <a:rPr lang="en-US" dirty="0"/>
              <a:t>any retrieval that can be specified in basic relational algebra can also be specified in relational calculus, and vice versa</a:t>
            </a:r>
          </a:p>
          <a:p>
            <a:r>
              <a:rPr lang="en-US" b="1" dirty="0"/>
              <a:t>expressive power </a:t>
            </a:r>
            <a:r>
              <a:rPr lang="en-US" dirty="0"/>
              <a:t>of the languages is </a:t>
            </a:r>
            <a:r>
              <a:rPr lang="en-US" i="1" dirty="0"/>
              <a:t>identical</a:t>
            </a:r>
          </a:p>
          <a:p>
            <a:r>
              <a:rPr lang="en-US" dirty="0"/>
              <a:t>relational query language </a:t>
            </a:r>
            <a:r>
              <a:rPr lang="en-US" i="1" dirty="0"/>
              <a:t>L </a:t>
            </a:r>
            <a:r>
              <a:rPr lang="en-US" dirty="0"/>
              <a:t>is considered </a:t>
            </a:r>
            <a:r>
              <a:rPr lang="en-US" b="1" dirty="0"/>
              <a:t>relationally complete </a:t>
            </a:r>
            <a:r>
              <a:rPr lang="en-US" dirty="0"/>
              <a:t>if we can express in </a:t>
            </a:r>
            <a:r>
              <a:rPr lang="en-US" i="1" dirty="0"/>
              <a:t>L </a:t>
            </a:r>
            <a:r>
              <a:rPr lang="en-US" dirty="0"/>
              <a:t>any query that can be expressed in relational calculus</a:t>
            </a:r>
          </a:p>
        </p:txBody>
      </p:sp>
      <p:sp>
        <p:nvSpPr>
          <p:cNvPr id="4" name="Slide Number Placeholder 3">
            <a:extLst>
              <a:ext uri="{FF2B5EF4-FFF2-40B4-BE49-F238E27FC236}">
                <a16:creationId xmlns:a16="http://schemas.microsoft.com/office/drawing/2014/main" id="{0C095A33-399B-E84A-B1E3-00858B3A1097}"/>
              </a:ext>
            </a:extLst>
          </p:cNvPr>
          <p:cNvSpPr>
            <a:spLocks noGrp="1"/>
          </p:cNvSpPr>
          <p:nvPr>
            <p:ph type="sldNum" sz="quarter" idx="12"/>
          </p:nvPr>
        </p:nvSpPr>
        <p:spPr/>
        <p:txBody>
          <a:bodyPr/>
          <a:lstStyle/>
          <a:p>
            <a:fld id="{6264BDCF-5269-49AC-A246-ED26C2B980E3}" type="slidenum">
              <a:rPr lang="en-US" smtClean="0"/>
              <a:t>94</a:t>
            </a:fld>
            <a:endParaRPr lang="en-US"/>
          </a:p>
        </p:txBody>
      </p:sp>
    </p:spTree>
    <p:extLst>
      <p:ext uri="{BB962C8B-B14F-4D97-AF65-F5344CB8AC3E}">
        <p14:creationId xmlns:p14="http://schemas.microsoft.com/office/powerpoint/2010/main" val="951885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80F6-7CF4-F582-BD5E-0F918558B9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14543C-1739-D6DE-E6B8-48A4CC9274B5}"/>
              </a:ext>
            </a:extLst>
          </p:cNvPr>
          <p:cNvSpPr>
            <a:spLocks noGrp="1"/>
          </p:cNvSpPr>
          <p:nvPr>
            <p:ph idx="1"/>
          </p:nvPr>
        </p:nvSpPr>
        <p:spPr/>
        <p:txBody>
          <a:bodyPr>
            <a:normAutofit lnSpcReduction="10000"/>
          </a:bodyPr>
          <a:lstStyle/>
          <a:p>
            <a:r>
              <a:rPr lang="en-US" dirty="0"/>
              <a:t>certain frequently required queries in database applications cannot be expressed in basic relational algebra or calculus</a:t>
            </a:r>
          </a:p>
          <a:p>
            <a:r>
              <a:rPr lang="en-US" dirty="0"/>
              <a:t>most relational query languages are relationally complete but have </a:t>
            </a:r>
            <a:r>
              <a:rPr lang="en-US" i="1" dirty="0"/>
              <a:t>more expressive power </a:t>
            </a:r>
            <a:r>
              <a:rPr lang="en-US" dirty="0"/>
              <a:t>than relational algebra or relational calculus because of additional operations such as aggregate functions, grouping, and ordering</a:t>
            </a:r>
          </a:p>
          <a:p>
            <a:r>
              <a:rPr lang="en-US" dirty="0"/>
              <a:t>relational calculus is important for two reasons</a:t>
            </a:r>
          </a:p>
          <a:p>
            <a:pPr marL="514350" indent="-514350">
              <a:buFont typeface="+mj-lt"/>
              <a:buAutoNum type="arabicPeriod"/>
            </a:pPr>
            <a:r>
              <a:rPr lang="en-US" dirty="0"/>
              <a:t>has a firm basis in mathematical logic</a:t>
            </a:r>
          </a:p>
          <a:p>
            <a:pPr marL="514350" indent="-514350">
              <a:buFont typeface="+mj-lt"/>
              <a:buAutoNum type="arabicPeriod"/>
            </a:pPr>
            <a:r>
              <a:rPr lang="en-US" dirty="0"/>
              <a:t>standard Structured Query Language (SQL) for RDBMSs has its basic foundation in the tuple relational calculus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9E45B7D-1EFB-24E5-E99C-406AE36E40FA}"/>
              </a:ext>
            </a:extLst>
          </p:cNvPr>
          <p:cNvSpPr>
            <a:spLocks noGrp="1"/>
          </p:cNvSpPr>
          <p:nvPr>
            <p:ph type="sldNum" sz="quarter" idx="12"/>
          </p:nvPr>
        </p:nvSpPr>
        <p:spPr/>
        <p:txBody>
          <a:bodyPr/>
          <a:lstStyle/>
          <a:p>
            <a:fld id="{6264BDCF-5269-49AC-A246-ED26C2B980E3}" type="slidenum">
              <a:rPr lang="en-US" smtClean="0"/>
              <a:t>95</a:t>
            </a:fld>
            <a:endParaRPr lang="en-US"/>
          </a:p>
        </p:txBody>
      </p:sp>
    </p:spTree>
    <p:extLst>
      <p:ext uri="{BB962C8B-B14F-4D97-AF65-F5344CB8AC3E}">
        <p14:creationId xmlns:p14="http://schemas.microsoft.com/office/powerpoint/2010/main" val="9357828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2D23-19A5-0E12-8880-55CAAEF27A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E7432F-EE5B-C8A9-4B10-8D8A0DC11C76}"/>
              </a:ext>
            </a:extLst>
          </p:cNvPr>
          <p:cNvSpPr>
            <a:spLocks noGrp="1"/>
          </p:cNvSpPr>
          <p:nvPr>
            <p:ph type="title"/>
          </p:nvPr>
        </p:nvSpPr>
        <p:spPr/>
        <p:txBody>
          <a:bodyPr/>
          <a:lstStyle/>
          <a:p>
            <a:r>
              <a:rPr lang="en-US" dirty="0"/>
              <a:t>Tuple Relational Calculus</a:t>
            </a:r>
          </a:p>
        </p:txBody>
      </p:sp>
      <p:sp>
        <p:nvSpPr>
          <p:cNvPr id="6" name="Text Placeholder 5">
            <a:extLst>
              <a:ext uri="{FF2B5EF4-FFF2-40B4-BE49-F238E27FC236}">
                <a16:creationId xmlns:a16="http://schemas.microsoft.com/office/drawing/2014/main" id="{85E73ADF-1F76-40C9-BC14-3293B93708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FF9BC-195E-C202-A589-93EEE3FEE5D3}"/>
              </a:ext>
            </a:extLst>
          </p:cNvPr>
          <p:cNvSpPr>
            <a:spLocks noGrp="1"/>
          </p:cNvSpPr>
          <p:nvPr>
            <p:ph type="sldNum" sz="quarter" idx="12"/>
          </p:nvPr>
        </p:nvSpPr>
        <p:spPr/>
        <p:txBody>
          <a:bodyPr/>
          <a:lstStyle/>
          <a:p>
            <a:fld id="{6264BDCF-5269-49AC-A246-ED26C2B980E3}" type="slidenum">
              <a:rPr lang="en-US" smtClean="0"/>
              <a:t>96</a:t>
            </a:fld>
            <a:endParaRPr lang="en-US"/>
          </a:p>
        </p:txBody>
      </p:sp>
    </p:spTree>
    <p:extLst>
      <p:ext uri="{BB962C8B-B14F-4D97-AF65-F5344CB8AC3E}">
        <p14:creationId xmlns:p14="http://schemas.microsoft.com/office/powerpoint/2010/main" val="38584058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304B34-05E2-6E05-6A6F-89A590B7AA56}"/>
              </a:ext>
            </a:extLst>
          </p:cNvPr>
          <p:cNvSpPr>
            <a:spLocks noGrp="1"/>
          </p:cNvSpPr>
          <p:nvPr>
            <p:ph type="title"/>
          </p:nvPr>
        </p:nvSpPr>
        <p:spPr/>
        <p:txBody>
          <a:bodyPr/>
          <a:lstStyle/>
          <a:p>
            <a:r>
              <a:rPr lang="en-US" dirty="0"/>
              <a:t>Tuple Variables and Range Relations</a:t>
            </a:r>
          </a:p>
        </p:txBody>
      </p:sp>
      <p:sp>
        <p:nvSpPr>
          <p:cNvPr id="6" name="Content Placeholder 5">
            <a:extLst>
              <a:ext uri="{FF2B5EF4-FFF2-40B4-BE49-F238E27FC236}">
                <a16:creationId xmlns:a16="http://schemas.microsoft.com/office/drawing/2014/main" id="{C35BDE67-6178-F450-C1EC-8DA048DEBAFF}"/>
              </a:ext>
            </a:extLst>
          </p:cNvPr>
          <p:cNvSpPr>
            <a:spLocks noGrp="1"/>
          </p:cNvSpPr>
          <p:nvPr>
            <p:ph idx="1"/>
          </p:nvPr>
        </p:nvSpPr>
        <p:spPr/>
        <p:txBody>
          <a:bodyPr>
            <a:normAutofit/>
          </a:bodyPr>
          <a:lstStyle/>
          <a:p>
            <a:r>
              <a:rPr lang="en-US" dirty="0"/>
              <a:t>tuple relational calculus is based on specifying a number of tuple variables</a:t>
            </a:r>
          </a:p>
          <a:p>
            <a:r>
              <a:rPr lang="en-US" dirty="0"/>
              <a:t>each tuple variable usually ranges over a particular database relation, meaning that the variable may take as its value any individual tuple from that relation</a:t>
            </a:r>
          </a:p>
          <a:p>
            <a:r>
              <a:rPr lang="en-US" dirty="0"/>
              <a:t>simple tuple relational calculus query is of the form:</a:t>
            </a:r>
          </a:p>
          <a:p>
            <a:r>
              <a:rPr lang="en-US" dirty="0"/>
              <a:t>{t | COND(t)}</a:t>
            </a:r>
          </a:p>
          <a:p>
            <a:endParaRPr lang="en-US" dirty="0"/>
          </a:p>
        </p:txBody>
      </p:sp>
      <p:sp>
        <p:nvSpPr>
          <p:cNvPr id="4" name="Slide Number Placeholder 3">
            <a:extLst>
              <a:ext uri="{FF2B5EF4-FFF2-40B4-BE49-F238E27FC236}">
                <a16:creationId xmlns:a16="http://schemas.microsoft.com/office/drawing/2014/main" id="{D0AC7173-46D5-1D11-FCE0-79674837FA92}"/>
              </a:ext>
            </a:extLst>
          </p:cNvPr>
          <p:cNvSpPr>
            <a:spLocks noGrp="1"/>
          </p:cNvSpPr>
          <p:nvPr>
            <p:ph type="sldNum" sz="quarter" idx="12"/>
          </p:nvPr>
        </p:nvSpPr>
        <p:spPr/>
        <p:txBody>
          <a:bodyPr/>
          <a:lstStyle/>
          <a:p>
            <a:fld id="{6264BDCF-5269-49AC-A246-ED26C2B980E3}" type="slidenum">
              <a:rPr lang="en-US" smtClean="0"/>
              <a:t>97</a:t>
            </a:fld>
            <a:endParaRPr lang="en-US"/>
          </a:p>
        </p:txBody>
      </p:sp>
    </p:spTree>
    <p:extLst>
      <p:ext uri="{BB962C8B-B14F-4D97-AF65-F5344CB8AC3E}">
        <p14:creationId xmlns:p14="http://schemas.microsoft.com/office/powerpoint/2010/main" val="13545073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4A81-0FD9-184B-897B-2E4B6FCC31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6E0A78-2EF9-4E7C-C00E-803A88669179}"/>
              </a:ext>
            </a:extLst>
          </p:cNvPr>
          <p:cNvSpPr>
            <a:spLocks noGrp="1"/>
          </p:cNvSpPr>
          <p:nvPr>
            <p:ph idx="1"/>
          </p:nvPr>
        </p:nvSpPr>
        <p:spPr/>
        <p:txBody>
          <a:bodyPr>
            <a:normAutofit/>
          </a:bodyPr>
          <a:lstStyle/>
          <a:p>
            <a:r>
              <a:rPr lang="en-US" dirty="0"/>
              <a:t>simple tuple relational calculus query is of the form:</a:t>
            </a:r>
          </a:p>
          <a:p>
            <a:r>
              <a:rPr lang="en-US" dirty="0"/>
              <a:t>{t | COND(t)}</a:t>
            </a:r>
          </a:p>
          <a:p>
            <a:r>
              <a:rPr lang="en-US" dirty="0"/>
              <a:t>where </a:t>
            </a:r>
            <a:r>
              <a:rPr lang="en-US" i="1" dirty="0"/>
              <a:t>t</a:t>
            </a:r>
            <a:r>
              <a:rPr lang="en-US" dirty="0"/>
              <a:t> is a tuple variable and COND(</a:t>
            </a:r>
            <a:r>
              <a:rPr lang="en-US" i="1" dirty="0"/>
              <a:t>t</a:t>
            </a:r>
            <a:r>
              <a:rPr lang="en-US" dirty="0"/>
              <a:t>) is a conditional (Boolean) expression involving </a:t>
            </a:r>
            <a:r>
              <a:rPr lang="en-US" i="1" dirty="0"/>
              <a:t>t </a:t>
            </a:r>
            <a:r>
              <a:rPr lang="en-US" dirty="0"/>
              <a:t>that evaluates to either TRUE or FALSE for different assignments of tuples to variable </a:t>
            </a:r>
            <a:r>
              <a:rPr lang="en-US" i="1" dirty="0"/>
              <a:t>t</a:t>
            </a:r>
          </a:p>
          <a:p>
            <a:r>
              <a:rPr lang="en-US" dirty="0"/>
              <a:t>result of such query is the set of all tuples </a:t>
            </a:r>
            <a:r>
              <a:rPr lang="en-US" i="1" dirty="0"/>
              <a:t>t </a:t>
            </a:r>
            <a:r>
              <a:rPr lang="en-US" dirty="0"/>
              <a:t>that evaluate COND(</a:t>
            </a:r>
            <a:r>
              <a:rPr lang="en-US" i="1" dirty="0"/>
              <a:t>t</a:t>
            </a:r>
            <a:r>
              <a:rPr lang="en-US" dirty="0"/>
              <a:t>) to TRUE; these tuples are said to </a:t>
            </a:r>
            <a:r>
              <a:rPr lang="en-US" b="1" dirty="0"/>
              <a:t>satisfy </a:t>
            </a:r>
            <a:r>
              <a:rPr lang="en-US" dirty="0"/>
              <a:t>COND(</a:t>
            </a:r>
            <a:r>
              <a:rPr lang="en-US" i="1" dirty="0"/>
              <a:t>t</a:t>
            </a:r>
            <a:r>
              <a:rPr lang="en-US" dirty="0"/>
              <a:t>)</a:t>
            </a:r>
          </a:p>
        </p:txBody>
      </p:sp>
      <p:sp>
        <p:nvSpPr>
          <p:cNvPr id="4" name="Slide Number Placeholder 3">
            <a:extLst>
              <a:ext uri="{FF2B5EF4-FFF2-40B4-BE49-F238E27FC236}">
                <a16:creationId xmlns:a16="http://schemas.microsoft.com/office/drawing/2014/main" id="{3F1910B6-7217-3C60-B90E-9ED0F06F6639}"/>
              </a:ext>
            </a:extLst>
          </p:cNvPr>
          <p:cNvSpPr>
            <a:spLocks noGrp="1"/>
          </p:cNvSpPr>
          <p:nvPr>
            <p:ph type="sldNum" sz="quarter" idx="12"/>
          </p:nvPr>
        </p:nvSpPr>
        <p:spPr/>
        <p:txBody>
          <a:bodyPr/>
          <a:lstStyle/>
          <a:p>
            <a:fld id="{6264BDCF-5269-49AC-A246-ED26C2B980E3}" type="slidenum">
              <a:rPr lang="en-US" smtClean="0"/>
              <a:t>98</a:t>
            </a:fld>
            <a:endParaRPr lang="en-US"/>
          </a:p>
        </p:txBody>
      </p:sp>
    </p:spTree>
    <p:extLst>
      <p:ext uri="{BB962C8B-B14F-4D97-AF65-F5344CB8AC3E}">
        <p14:creationId xmlns:p14="http://schemas.microsoft.com/office/powerpoint/2010/main" val="42360777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2DF48-BD0A-1249-E2DB-BFB0FC0C8C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CD1D59-B11B-C284-0F63-30CD45866593}"/>
              </a:ext>
            </a:extLst>
          </p:cNvPr>
          <p:cNvSpPr>
            <a:spLocks noGrp="1"/>
          </p:cNvSpPr>
          <p:nvPr>
            <p:ph idx="1"/>
          </p:nvPr>
        </p:nvSpPr>
        <p:spPr/>
        <p:txBody>
          <a:bodyPr>
            <a:normAutofit/>
          </a:bodyPr>
          <a:lstStyle/>
          <a:p>
            <a:r>
              <a:rPr lang="en-US" dirty="0"/>
              <a:t>for example, to find all employees whose salary is above $50,000:</a:t>
            </a:r>
          </a:p>
          <a:p>
            <a:r>
              <a:rPr lang="en-US" dirty="0"/>
              <a:t>{</a:t>
            </a:r>
            <a:r>
              <a:rPr lang="en-US" i="1" dirty="0"/>
              <a:t>t </a:t>
            </a:r>
            <a:r>
              <a:rPr lang="en-US" dirty="0"/>
              <a:t>| EMPLOYEE(</a:t>
            </a:r>
            <a:r>
              <a:rPr lang="en-US" i="1" dirty="0"/>
              <a:t>t</a:t>
            </a:r>
            <a:r>
              <a:rPr lang="en-US" dirty="0"/>
              <a:t>) </a:t>
            </a:r>
            <a:r>
              <a:rPr lang="en-US" b="1" dirty="0"/>
              <a:t>AND </a:t>
            </a:r>
            <a:r>
              <a:rPr lang="en-US" i="1" dirty="0" err="1"/>
              <a:t>t</a:t>
            </a:r>
            <a:r>
              <a:rPr lang="en-US" dirty="0" err="1"/>
              <a:t>.Salary</a:t>
            </a:r>
            <a:r>
              <a:rPr lang="en-US" dirty="0"/>
              <a:t>&gt;50000}</a:t>
            </a:r>
          </a:p>
          <a:p>
            <a:r>
              <a:rPr lang="en-US" dirty="0"/>
              <a:t>condition EMPLOYEE(</a:t>
            </a:r>
            <a:r>
              <a:rPr lang="en-US" i="1" dirty="0"/>
              <a:t>t</a:t>
            </a:r>
            <a:r>
              <a:rPr lang="en-US" dirty="0"/>
              <a:t>) specifies that the range relation of tuple variable </a:t>
            </a:r>
            <a:r>
              <a:rPr lang="en-US" i="1" dirty="0"/>
              <a:t>t</a:t>
            </a:r>
            <a:r>
              <a:rPr lang="en-US" dirty="0"/>
              <a:t> is EMPLOYEE; each EMPLOYEE tuple </a:t>
            </a:r>
            <a:r>
              <a:rPr lang="en-US" i="1" dirty="0"/>
              <a:t>t</a:t>
            </a:r>
            <a:r>
              <a:rPr lang="en-US" dirty="0"/>
              <a:t> that satisfies condition </a:t>
            </a:r>
            <a:r>
              <a:rPr lang="en-US" i="1" dirty="0" err="1"/>
              <a:t>t</a:t>
            </a:r>
            <a:r>
              <a:rPr lang="en-US" dirty="0" err="1"/>
              <a:t>.Salary</a:t>
            </a:r>
            <a:r>
              <a:rPr lang="en-US" dirty="0"/>
              <a:t>&gt;50000 will be retrieved; </a:t>
            </a:r>
            <a:r>
              <a:rPr lang="en-US" i="1" dirty="0" err="1"/>
              <a:t>t</a:t>
            </a:r>
            <a:r>
              <a:rPr lang="en-US" dirty="0" err="1"/>
              <a:t>.Salary</a:t>
            </a:r>
            <a:r>
              <a:rPr lang="en-US" dirty="0"/>
              <a:t> references attribute Salary of tuple variable </a:t>
            </a:r>
            <a:r>
              <a:rPr lang="en-US" i="1" dirty="0"/>
              <a:t>t </a:t>
            </a:r>
          </a:p>
          <a:p>
            <a:r>
              <a:rPr lang="en-US" dirty="0"/>
              <a:t>notation resembles how attribute names are qualified with relation names or aliases in SQL</a:t>
            </a:r>
          </a:p>
        </p:txBody>
      </p:sp>
      <p:sp>
        <p:nvSpPr>
          <p:cNvPr id="4" name="Slide Number Placeholder 3">
            <a:extLst>
              <a:ext uri="{FF2B5EF4-FFF2-40B4-BE49-F238E27FC236}">
                <a16:creationId xmlns:a16="http://schemas.microsoft.com/office/drawing/2014/main" id="{019E136F-CF40-75B9-DDF9-282902A42867}"/>
              </a:ext>
            </a:extLst>
          </p:cNvPr>
          <p:cNvSpPr>
            <a:spLocks noGrp="1"/>
          </p:cNvSpPr>
          <p:nvPr>
            <p:ph type="sldNum" sz="quarter" idx="12"/>
          </p:nvPr>
        </p:nvSpPr>
        <p:spPr/>
        <p:txBody>
          <a:bodyPr/>
          <a:lstStyle/>
          <a:p>
            <a:fld id="{6264BDCF-5269-49AC-A246-ED26C2B980E3}" type="slidenum">
              <a:rPr lang="en-US" smtClean="0"/>
              <a:t>99</a:t>
            </a:fld>
            <a:endParaRPr lang="en-US"/>
          </a:p>
        </p:txBody>
      </p:sp>
    </p:spTree>
    <p:extLst>
      <p:ext uri="{BB962C8B-B14F-4D97-AF65-F5344CB8AC3E}">
        <p14:creationId xmlns:p14="http://schemas.microsoft.com/office/powerpoint/2010/main" val="41846124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6FB85-861D-B3FA-EF00-452ADC4DA8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9F6C21-EB2F-0EC4-BC12-98E5F44DF0FC}"/>
              </a:ext>
            </a:extLst>
          </p:cNvPr>
          <p:cNvSpPr>
            <a:spLocks noGrp="1"/>
          </p:cNvSpPr>
          <p:nvPr>
            <p:ph idx="1"/>
          </p:nvPr>
        </p:nvSpPr>
        <p:spPr>
          <a:xfrm>
            <a:off x="838199" y="1825625"/>
            <a:ext cx="10645877" cy="4351338"/>
          </a:xfrm>
        </p:spPr>
        <p:txBody>
          <a:bodyPr/>
          <a:lstStyle/>
          <a:p>
            <a:r>
              <a:rPr lang="en-US" dirty="0"/>
              <a:t>query retrieves all attribute values for each selected EMPLOYEE tuple </a:t>
            </a:r>
            <a:r>
              <a:rPr lang="en-US" i="1" dirty="0"/>
              <a:t>t </a:t>
            </a:r>
          </a:p>
          <a:p>
            <a:r>
              <a:rPr lang="en-US" dirty="0"/>
              <a:t>to retrieve only some</a:t>
            </a:r>
          </a:p>
          <a:p>
            <a:r>
              <a:rPr lang="en-US" dirty="0"/>
              <a:t>{</a:t>
            </a:r>
            <a:r>
              <a:rPr lang="en-US" i="1" dirty="0" err="1"/>
              <a:t>t</a:t>
            </a:r>
            <a:r>
              <a:rPr lang="en-US" dirty="0" err="1"/>
              <a:t>.Fname</a:t>
            </a:r>
            <a:r>
              <a:rPr lang="en-US" dirty="0"/>
              <a:t>, </a:t>
            </a:r>
            <a:r>
              <a:rPr lang="en-US" i="1" dirty="0" err="1"/>
              <a:t>t</a:t>
            </a:r>
            <a:r>
              <a:rPr lang="en-US" dirty="0" err="1"/>
              <a:t>.Lname</a:t>
            </a:r>
            <a:r>
              <a:rPr lang="en-US" dirty="0"/>
              <a:t> | EMPLOYEE(</a:t>
            </a:r>
            <a:r>
              <a:rPr lang="en-US" i="1" dirty="0"/>
              <a:t>t</a:t>
            </a:r>
            <a:r>
              <a:rPr lang="en-US" dirty="0"/>
              <a:t>) </a:t>
            </a:r>
            <a:r>
              <a:rPr lang="en-US" b="1" dirty="0"/>
              <a:t>AND </a:t>
            </a:r>
            <a:r>
              <a:rPr lang="en-US" i="1" dirty="0" err="1"/>
              <a:t>t</a:t>
            </a:r>
            <a:r>
              <a:rPr lang="en-US" dirty="0" err="1"/>
              <a:t>.Salary</a:t>
            </a:r>
            <a:r>
              <a:rPr lang="en-US" dirty="0"/>
              <a:t>&gt;50000}</a:t>
            </a:r>
          </a:p>
        </p:txBody>
      </p:sp>
      <p:sp>
        <p:nvSpPr>
          <p:cNvPr id="4" name="Slide Number Placeholder 3">
            <a:extLst>
              <a:ext uri="{FF2B5EF4-FFF2-40B4-BE49-F238E27FC236}">
                <a16:creationId xmlns:a16="http://schemas.microsoft.com/office/drawing/2014/main" id="{4C00E643-7718-8B82-CBF5-43FE20805819}"/>
              </a:ext>
            </a:extLst>
          </p:cNvPr>
          <p:cNvSpPr>
            <a:spLocks noGrp="1"/>
          </p:cNvSpPr>
          <p:nvPr>
            <p:ph type="sldNum" sz="quarter" idx="12"/>
          </p:nvPr>
        </p:nvSpPr>
        <p:spPr/>
        <p:txBody>
          <a:bodyPr/>
          <a:lstStyle/>
          <a:p>
            <a:fld id="{6264BDCF-5269-49AC-A246-ED26C2B980E3}" type="slidenum">
              <a:rPr lang="en-US" smtClean="0"/>
              <a:t>100</a:t>
            </a:fld>
            <a:endParaRPr lang="en-US"/>
          </a:p>
        </p:txBody>
      </p:sp>
    </p:spTree>
    <p:extLst>
      <p:ext uri="{BB962C8B-B14F-4D97-AF65-F5344CB8AC3E}">
        <p14:creationId xmlns:p14="http://schemas.microsoft.com/office/powerpoint/2010/main" val="16079950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A724A-B4E1-8C4D-6A91-3ACDA3CABC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FB3C2B-C553-94EF-60EA-5B5E22AE3F25}"/>
              </a:ext>
            </a:extLst>
          </p:cNvPr>
          <p:cNvSpPr>
            <a:spLocks noGrp="1"/>
          </p:cNvSpPr>
          <p:nvPr>
            <p:ph idx="1"/>
          </p:nvPr>
        </p:nvSpPr>
        <p:spPr/>
        <p:txBody>
          <a:bodyPr>
            <a:normAutofit/>
          </a:bodyPr>
          <a:lstStyle/>
          <a:p>
            <a:r>
              <a:rPr lang="en-US" dirty="0"/>
              <a:t>specify following information in a tuple relational calculus expression:</a:t>
            </a:r>
          </a:p>
          <a:p>
            <a:r>
              <a:rPr lang="en-US" dirty="0"/>
              <a:t>for each tuple variable </a:t>
            </a:r>
            <a:r>
              <a:rPr lang="en-US" i="1" dirty="0"/>
              <a:t>t</a:t>
            </a:r>
            <a:r>
              <a:rPr lang="en-US" dirty="0"/>
              <a:t>, the </a:t>
            </a:r>
            <a:r>
              <a:rPr lang="en-US" b="1" dirty="0"/>
              <a:t>range relation </a:t>
            </a:r>
            <a:r>
              <a:rPr lang="en-US" i="1" dirty="0"/>
              <a:t>R </a:t>
            </a:r>
            <a:r>
              <a:rPr lang="en-US" dirty="0"/>
              <a:t>of </a:t>
            </a:r>
            <a:r>
              <a:rPr lang="en-US" i="1" dirty="0"/>
              <a:t>t</a:t>
            </a:r>
            <a:r>
              <a:rPr lang="en-US" dirty="0"/>
              <a:t>; value is specified by condition of form </a:t>
            </a:r>
            <a:r>
              <a:rPr lang="en-US" i="1" dirty="0"/>
              <a:t>R</a:t>
            </a:r>
            <a:r>
              <a:rPr lang="en-US" dirty="0"/>
              <a:t>(</a:t>
            </a:r>
            <a:r>
              <a:rPr lang="en-US" i="1" dirty="0"/>
              <a:t>t</a:t>
            </a:r>
            <a:r>
              <a:rPr lang="en-US" dirty="0"/>
              <a:t>); if we do not specify range relation, then variable </a:t>
            </a:r>
            <a:r>
              <a:rPr lang="en-US" i="1" dirty="0"/>
              <a:t>t </a:t>
            </a:r>
            <a:r>
              <a:rPr lang="en-US" dirty="0"/>
              <a:t>will range over all possible tuples “in the universe” as it is not restricted to any one relation</a:t>
            </a:r>
          </a:p>
          <a:p>
            <a:r>
              <a:rPr lang="en-US" dirty="0"/>
              <a:t>condition to select particular combinations of tuples; condition is evaluated for every possible combination of tuples to identify selected combinations for which the condition evaluates to TRUE</a:t>
            </a:r>
          </a:p>
          <a:p>
            <a:r>
              <a:rPr lang="en-US" dirty="0"/>
              <a:t>set of attributes to be retrieved, the requested attributes; values of these attributes are retrieved for each selected combination of tuples</a:t>
            </a:r>
          </a:p>
        </p:txBody>
      </p:sp>
      <p:sp>
        <p:nvSpPr>
          <p:cNvPr id="4" name="Slide Number Placeholder 3">
            <a:extLst>
              <a:ext uri="{FF2B5EF4-FFF2-40B4-BE49-F238E27FC236}">
                <a16:creationId xmlns:a16="http://schemas.microsoft.com/office/drawing/2014/main" id="{7E482C98-4774-6923-79C3-13ED14F1B3CE}"/>
              </a:ext>
            </a:extLst>
          </p:cNvPr>
          <p:cNvSpPr>
            <a:spLocks noGrp="1"/>
          </p:cNvSpPr>
          <p:nvPr>
            <p:ph type="sldNum" sz="quarter" idx="12"/>
          </p:nvPr>
        </p:nvSpPr>
        <p:spPr/>
        <p:txBody>
          <a:bodyPr/>
          <a:lstStyle/>
          <a:p>
            <a:fld id="{6264BDCF-5269-49AC-A246-ED26C2B980E3}" type="slidenum">
              <a:rPr lang="en-US" smtClean="0"/>
              <a:t>101</a:t>
            </a:fld>
            <a:endParaRPr lang="en-US"/>
          </a:p>
        </p:txBody>
      </p:sp>
    </p:spTree>
    <p:extLst>
      <p:ext uri="{BB962C8B-B14F-4D97-AF65-F5344CB8AC3E}">
        <p14:creationId xmlns:p14="http://schemas.microsoft.com/office/powerpoint/2010/main" val="88809130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F20E-0DD7-C76B-4223-C80F6CDEAF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E20FD3-7EC9-9462-A2AF-ED8CBCBA3510}"/>
              </a:ext>
            </a:extLst>
          </p:cNvPr>
          <p:cNvSpPr>
            <a:spLocks noGrp="1"/>
          </p:cNvSpPr>
          <p:nvPr>
            <p:ph idx="1"/>
          </p:nvPr>
        </p:nvSpPr>
        <p:spPr/>
        <p:txBody>
          <a:bodyPr>
            <a:normAutofit/>
          </a:bodyPr>
          <a:lstStyle/>
          <a:p>
            <a:r>
              <a:rPr lang="en-US" dirty="0"/>
              <a:t>{</a:t>
            </a:r>
            <a:r>
              <a:rPr lang="en-US" i="1" dirty="0" err="1"/>
              <a:t>t.</a:t>
            </a:r>
            <a:r>
              <a:rPr lang="en-US" dirty="0" err="1"/>
              <a:t>Bdate</a:t>
            </a:r>
            <a:r>
              <a:rPr lang="en-US" dirty="0"/>
              <a:t>, </a:t>
            </a:r>
            <a:r>
              <a:rPr lang="en-US" i="1" dirty="0" err="1"/>
              <a:t>t.</a:t>
            </a:r>
            <a:r>
              <a:rPr lang="en-US" dirty="0" err="1"/>
              <a:t>Address</a:t>
            </a:r>
            <a:r>
              <a:rPr lang="en-US" dirty="0"/>
              <a:t> | EMPLOYEE(</a:t>
            </a:r>
            <a:r>
              <a:rPr lang="en-US" i="1" dirty="0"/>
              <a:t>t</a:t>
            </a:r>
            <a:r>
              <a:rPr lang="en-US" dirty="0"/>
              <a:t>) </a:t>
            </a:r>
            <a:r>
              <a:rPr lang="en-US" b="1" dirty="0"/>
              <a:t>AND </a:t>
            </a:r>
            <a:r>
              <a:rPr lang="en-US" i="1" dirty="0" err="1"/>
              <a:t>t.</a:t>
            </a:r>
            <a:r>
              <a:rPr lang="en-US" dirty="0" err="1"/>
              <a:t>Fname</a:t>
            </a:r>
            <a:r>
              <a:rPr lang="en-US" dirty="0"/>
              <a:t>=‘John’ </a:t>
            </a:r>
            <a:r>
              <a:rPr lang="en-US" b="1" dirty="0"/>
              <a:t>AND </a:t>
            </a:r>
            <a:r>
              <a:rPr lang="en-US" i="1" dirty="0" err="1"/>
              <a:t>t.</a:t>
            </a:r>
            <a:r>
              <a:rPr lang="en-US" dirty="0" err="1"/>
              <a:t>Minit</a:t>
            </a:r>
            <a:r>
              <a:rPr lang="en-US" dirty="0"/>
              <a:t>=‘B’ </a:t>
            </a:r>
            <a:r>
              <a:rPr lang="en-US" b="1" dirty="0"/>
              <a:t>AND </a:t>
            </a:r>
            <a:r>
              <a:rPr lang="en-US" i="1" dirty="0" err="1"/>
              <a:t>t.</a:t>
            </a:r>
            <a:r>
              <a:rPr lang="en-US" dirty="0" err="1"/>
              <a:t>Lname</a:t>
            </a:r>
            <a:r>
              <a:rPr lang="en-US" dirty="0"/>
              <a:t>=‘Smith’}</a:t>
            </a:r>
          </a:p>
          <a:p>
            <a:r>
              <a:rPr lang="en-US" dirty="0"/>
              <a:t>retrieve the birth date and address of employee (or employees) whose name is John B. Smith.</a:t>
            </a:r>
          </a:p>
        </p:txBody>
      </p:sp>
      <p:sp>
        <p:nvSpPr>
          <p:cNvPr id="4" name="Slide Number Placeholder 3">
            <a:extLst>
              <a:ext uri="{FF2B5EF4-FFF2-40B4-BE49-F238E27FC236}">
                <a16:creationId xmlns:a16="http://schemas.microsoft.com/office/drawing/2014/main" id="{6F6F9ECA-40B2-73D9-4D8B-648A67F0EF78}"/>
              </a:ext>
            </a:extLst>
          </p:cNvPr>
          <p:cNvSpPr>
            <a:spLocks noGrp="1"/>
          </p:cNvSpPr>
          <p:nvPr>
            <p:ph type="sldNum" sz="quarter" idx="12"/>
          </p:nvPr>
        </p:nvSpPr>
        <p:spPr/>
        <p:txBody>
          <a:bodyPr/>
          <a:lstStyle/>
          <a:p>
            <a:fld id="{6264BDCF-5269-49AC-A246-ED26C2B980E3}" type="slidenum">
              <a:rPr lang="en-US" smtClean="0"/>
              <a:t>102</a:t>
            </a:fld>
            <a:endParaRPr lang="en-US"/>
          </a:p>
        </p:txBody>
      </p:sp>
    </p:spTree>
    <p:extLst>
      <p:ext uri="{BB962C8B-B14F-4D97-AF65-F5344CB8AC3E}">
        <p14:creationId xmlns:p14="http://schemas.microsoft.com/office/powerpoint/2010/main" val="42788293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5A61-B978-93DC-FC2E-03E39F295B38}"/>
              </a:ext>
            </a:extLst>
          </p:cNvPr>
          <p:cNvSpPr>
            <a:spLocks noGrp="1"/>
          </p:cNvSpPr>
          <p:nvPr>
            <p:ph type="title"/>
          </p:nvPr>
        </p:nvSpPr>
        <p:spPr>
          <a:xfrm>
            <a:off x="838200" y="365125"/>
            <a:ext cx="11186652" cy="1325563"/>
          </a:xfrm>
        </p:spPr>
        <p:txBody>
          <a:bodyPr>
            <a:normAutofit/>
          </a:bodyPr>
          <a:lstStyle/>
          <a:p>
            <a:r>
              <a:rPr lang="en-US" sz="4000" dirty="0"/>
              <a:t>Expressions and Formulas in Tuple Relational Calculus</a:t>
            </a:r>
          </a:p>
        </p:txBody>
      </p:sp>
      <p:sp>
        <p:nvSpPr>
          <p:cNvPr id="3" name="Content Placeholder 2">
            <a:extLst>
              <a:ext uri="{FF2B5EF4-FFF2-40B4-BE49-F238E27FC236}">
                <a16:creationId xmlns:a16="http://schemas.microsoft.com/office/drawing/2014/main" id="{00DFD29E-6596-07DD-7360-7441538CD452}"/>
              </a:ext>
            </a:extLst>
          </p:cNvPr>
          <p:cNvSpPr>
            <a:spLocks noGrp="1"/>
          </p:cNvSpPr>
          <p:nvPr>
            <p:ph idx="1"/>
          </p:nvPr>
        </p:nvSpPr>
        <p:spPr/>
        <p:txBody>
          <a:bodyPr>
            <a:normAutofit/>
          </a:bodyPr>
          <a:lstStyle/>
          <a:p>
            <a:r>
              <a:rPr lang="en-US" dirty="0"/>
              <a:t>general </a:t>
            </a:r>
            <a:r>
              <a:rPr lang="en-US" b="1" dirty="0"/>
              <a:t>expression </a:t>
            </a:r>
            <a:r>
              <a:rPr lang="en-US" dirty="0"/>
              <a:t>of tuple relational calculus is of the form</a:t>
            </a:r>
          </a:p>
          <a:p>
            <a:r>
              <a:rPr lang="en-US" dirty="0"/>
              <a:t>{</a:t>
            </a:r>
            <a:r>
              <a:rPr lang="en-US" i="1" dirty="0"/>
              <a:t>t</a:t>
            </a:r>
            <a:r>
              <a:rPr lang="en-US" baseline="-25000" dirty="0"/>
              <a:t>1</a:t>
            </a:r>
            <a:r>
              <a:rPr lang="en-US" dirty="0"/>
              <a:t>.</a:t>
            </a:r>
            <a:r>
              <a:rPr lang="en-US" i="1" dirty="0"/>
              <a:t>A</a:t>
            </a:r>
            <a:r>
              <a:rPr lang="en-US" i="1" baseline="-25000" dirty="0"/>
              <a:t>j</a:t>
            </a:r>
            <a:r>
              <a:rPr lang="en-US" dirty="0"/>
              <a:t>, </a:t>
            </a:r>
            <a:r>
              <a:rPr lang="en-US" i="1" dirty="0"/>
              <a:t>t</a:t>
            </a:r>
            <a:r>
              <a:rPr lang="en-US" baseline="-25000" dirty="0"/>
              <a:t>2</a:t>
            </a:r>
            <a:r>
              <a:rPr lang="en-US" dirty="0"/>
              <a:t>.</a:t>
            </a:r>
            <a:r>
              <a:rPr lang="en-US" i="1" dirty="0"/>
              <a:t>A</a:t>
            </a:r>
            <a:r>
              <a:rPr lang="en-US" i="1" baseline="-25000" dirty="0"/>
              <a:t>k</a:t>
            </a:r>
            <a:r>
              <a:rPr lang="en-US" dirty="0"/>
              <a:t>, ... , </a:t>
            </a:r>
            <a:r>
              <a:rPr lang="en-US" i="1" dirty="0" err="1"/>
              <a:t>t</a:t>
            </a:r>
            <a:r>
              <a:rPr lang="en-US" i="1" baseline="-25000" dirty="0" err="1"/>
              <a:t>n</a:t>
            </a:r>
            <a:r>
              <a:rPr lang="en-US" dirty="0" err="1"/>
              <a:t>.</a:t>
            </a:r>
            <a:r>
              <a:rPr lang="en-US" i="1" dirty="0" err="1"/>
              <a:t>A</a:t>
            </a:r>
            <a:r>
              <a:rPr lang="en-US" i="1" baseline="-25000" dirty="0" err="1"/>
              <a:t>m</a:t>
            </a:r>
            <a:r>
              <a:rPr lang="en-US" i="1" dirty="0"/>
              <a:t> </a:t>
            </a:r>
            <a:r>
              <a:rPr lang="en-US" dirty="0"/>
              <a:t>| </a:t>
            </a:r>
            <a:r>
              <a:rPr lang="en-US" b="1" dirty="0"/>
              <a:t>COND</a:t>
            </a:r>
            <a:r>
              <a:rPr lang="en-US" dirty="0"/>
              <a:t>(</a:t>
            </a:r>
            <a:r>
              <a:rPr lang="en-US" i="1" dirty="0"/>
              <a:t>t</a:t>
            </a:r>
            <a:r>
              <a:rPr lang="en-US" baseline="-25000" dirty="0"/>
              <a:t>1</a:t>
            </a:r>
            <a:r>
              <a:rPr lang="en-US" dirty="0"/>
              <a:t>, </a:t>
            </a:r>
            <a:r>
              <a:rPr lang="en-US" i="1" dirty="0"/>
              <a:t>t</a:t>
            </a:r>
            <a:r>
              <a:rPr lang="en-US" baseline="-25000" dirty="0"/>
              <a:t>2</a:t>
            </a:r>
            <a:r>
              <a:rPr lang="en-US" dirty="0"/>
              <a:t>, ..., </a:t>
            </a:r>
            <a:r>
              <a:rPr lang="en-US" i="1" dirty="0" err="1"/>
              <a:t>t</a:t>
            </a:r>
            <a:r>
              <a:rPr lang="en-US" i="1" baseline="-25000" dirty="0" err="1"/>
              <a:t>n</a:t>
            </a:r>
            <a:r>
              <a:rPr lang="en-US" dirty="0"/>
              <a:t>, </a:t>
            </a:r>
            <a:r>
              <a:rPr lang="en-US" i="1" dirty="0"/>
              <a:t>t</a:t>
            </a:r>
            <a:r>
              <a:rPr lang="en-US" i="1" baseline="-25000" dirty="0"/>
              <a:t>n</a:t>
            </a:r>
            <a:r>
              <a:rPr lang="en-US" baseline="-25000" dirty="0"/>
              <a:t>+1</a:t>
            </a:r>
            <a:r>
              <a:rPr lang="en-US" dirty="0"/>
              <a:t>, </a:t>
            </a:r>
            <a:r>
              <a:rPr lang="en-US" i="1" dirty="0"/>
              <a:t>t</a:t>
            </a:r>
            <a:r>
              <a:rPr lang="en-US" i="1" baseline="-25000" dirty="0"/>
              <a:t>n</a:t>
            </a:r>
            <a:r>
              <a:rPr lang="en-US" baseline="-25000" dirty="0"/>
              <a:t>+2</a:t>
            </a:r>
            <a:r>
              <a:rPr lang="en-US" dirty="0"/>
              <a:t>, ...)}</a:t>
            </a:r>
          </a:p>
          <a:p>
            <a:r>
              <a:rPr lang="en-US" dirty="0"/>
              <a:t>where </a:t>
            </a:r>
            <a:r>
              <a:rPr lang="en-US" i="1" dirty="0"/>
              <a:t>t</a:t>
            </a:r>
            <a:r>
              <a:rPr lang="en-US" baseline="-25000" dirty="0"/>
              <a:t>1</a:t>
            </a:r>
            <a:r>
              <a:rPr lang="en-US" dirty="0"/>
              <a:t>, </a:t>
            </a:r>
            <a:r>
              <a:rPr lang="en-US" i="1" dirty="0"/>
              <a:t>t</a:t>
            </a:r>
            <a:r>
              <a:rPr lang="en-US" baseline="-25000" dirty="0"/>
              <a:t>2</a:t>
            </a:r>
            <a:r>
              <a:rPr lang="en-US" dirty="0"/>
              <a:t>, ..., </a:t>
            </a:r>
            <a:r>
              <a:rPr lang="en-US" i="1" dirty="0" err="1"/>
              <a:t>t</a:t>
            </a:r>
            <a:r>
              <a:rPr lang="en-US" i="1" baseline="-25000" dirty="0" err="1"/>
              <a:t>n</a:t>
            </a:r>
            <a:r>
              <a:rPr lang="en-US" dirty="0"/>
              <a:t>, </a:t>
            </a:r>
            <a:r>
              <a:rPr lang="en-US" i="1" dirty="0"/>
              <a:t>t</a:t>
            </a:r>
            <a:r>
              <a:rPr lang="en-US" i="1" baseline="-25000" dirty="0"/>
              <a:t>n</a:t>
            </a:r>
            <a:r>
              <a:rPr lang="en-US" baseline="-25000" dirty="0"/>
              <a:t>+1</a:t>
            </a:r>
            <a:r>
              <a:rPr lang="en-US" dirty="0"/>
              <a:t>, </a:t>
            </a:r>
            <a:r>
              <a:rPr lang="en-US" i="1" dirty="0"/>
              <a:t>t</a:t>
            </a:r>
            <a:r>
              <a:rPr lang="en-US" i="1" baseline="-25000" dirty="0"/>
              <a:t>n</a:t>
            </a:r>
            <a:r>
              <a:rPr lang="en-US" baseline="-25000" dirty="0"/>
              <a:t>+2</a:t>
            </a:r>
            <a:r>
              <a:rPr lang="en-US" dirty="0"/>
              <a:t>, ... are tuple variables, each </a:t>
            </a:r>
            <a:r>
              <a:rPr lang="en-US" i="1" dirty="0"/>
              <a:t>A</a:t>
            </a:r>
            <a:r>
              <a:rPr lang="en-US" i="1" baseline="-25000" dirty="0"/>
              <a:t>i</a:t>
            </a:r>
            <a:r>
              <a:rPr lang="en-US" i="1" dirty="0"/>
              <a:t> </a:t>
            </a:r>
            <a:r>
              <a:rPr lang="en-US" dirty="0"/>
              <a:t>is an attribute of relation on which </a:t>
            </a:r>
            <a:r>
              <a:rPr lang="en-US" i="1" dirty="0" err="1"/>
              <a:t>t</a:t>
            </a:r>
            <a:r>
              <a:rPr lang="en-US" i="1" baseline="-25000" dirty="0" err="1"/>
              <a:t>i</a:t>
            </a:r>
            <a:r>
              <a:rPr lang="en-US" i="1" dirty="0"/>
              <a:t> </a:t>
            </a:r>
            <a:r>
              <a:rPr lang="en-US" dirty="0"/>
              <a:t>ranges, and COND is a </a:t>
            </a:r>
            <a:r>
              <a:rPr lang="en-US" b="1" dirty="0"/>
              <a:t>condition </a:t>
            </a:r>
            <a:r>
              <a:rPr lang="en-US" dirty="0"/>
              <a:t>or </a:t>
            </a:r>
            <a:r>
              <a:rPr lang="en-US" b="1" dirty="0"/>
              <a:t>formula</a:t>
            </a:r>
            <a:r>
              <a:rPr lang="en-US" dirty="0"/>
              <a:t> (called a </a:t>
            </a:r>
            <a:r>
              <a:rPr lang="en-US" b="1" dirty="0"/>
              <a:t>well-formed formula</a:t>
            </a:r>
            <a:r>
              <a:rPr lang="en-US" dirty="0"/>
              <a:t>, or </a:t>
            </a:r>
            <a:r>
              <a:rPr lang="en-US" b="1" dirty="0"/>
              <a:t>WFF</a:t>
            </a:r>
            <a:r>
              <a:rPr lang="en-US" dirty="0"/>
              <a:t>, in mathematical logic) of the tuple relational calculus</a:t>
            </a:r>
          </a:p>
          <a:p>
            <a:r>
              <a:rPr lang="en-US" dirty="0"/>
              <a:t>formula is made up of predicate calculus </a:t>
            </a:r>
            <a:r>
              <a:rPr lang="en-US" b="1" dirty="0"/>
              <a:t>atoms</a:t>
            </a:r>
            <a:r>
              <a:rPr lang="en-US" dirty="0"/>
              <a:t>, which can be one of the following:</a:t>
            </a:r>
          </a:p>
        </p:txBody>
      </p:sp>
      <p:sp>
        <p:nvSpPr>
          <p:cNvPr id="4" name="Slide Number Placeholder 3">
            <a:extLst>
              <a:ext uri="{FF2B5EF4-FFF2-40B4-BE49-F238E27FC236}">
                <a16:creationId xmlns:a16="http://schemas.microsoft.com/office/drawing/2014/main" id="{79298465-D6CC-2BBE-2863-2D311FF07892}"/>
              </a:ext>
            </a:extLst>
          </p:cNvPr>
          <p:cNvSpPr>
            <a:spLocks noGrp="1"/>
          </p:cNvSpPr>
          <p:nvPr>
            <p:ph type="sldNum" sz="quarter" idx="12"/>
          </p:nvPr>
        </p:nvSpPr>
        <p:spPr/>
        <p:txBody>
          <a:bodyPr/>
          <a:lstStyle/>
          <a:p>
            <a:fld id="{6264BDCF-5269-49AC-A246-ED26C2B980E3}" type="slidenum">
              <a:rPr lang="en-US" smtClean="0"/>
              <a:t>103</a:t>
            </a:fld>
            <a:endParaRPr lang="en-US"/>
          </a:p>
        </p:txBody>
      </p:sp>
    </p:spTree>
    <p:extLst>
      <p:ext uri="{BB962C8B-B14F-4D97-AF65-F5344CB8AC3E}">
        <p14:creationId xmlns:p14="http://schemas.microsoft.com/office/powerpoint/2010/main" val="16327543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4D378-E795-795D-EC7C-4D45EFD76E56}"/>
              </a:ext>
            </a:extLst>
          </p:cNvPr>
          <p:cNvSpPr>
            <a:spLocks noGrp="1"/>
          </p:cNvSpPr>
          <p:nvPr>
            <p:ph type="title"/>
          </p:nvPr>
        </p:nvSpPr>
        <p:spPr/>
        <p:txBody>
          <a:bodyPr/>
          <a:lstStyle/>
          <a:p>
            <a:r>
              <a:rPr lang="en-US" dirty="0"/>
              <a:t>atom of the form </a:t>
            </a:r>
            <a:r>
              <a:rPr lang="en-US" i="1" dirty="0"/>
              <a:t>R</a:t>
            </a:r>
            <a:r>
              <a:rPr lang="en-US" dirty="0"/>
              <a:t>(</a:t>
            </a:r>
            <a:r>
              <a:rPr lang="en-US" i="1" dirty="0" err="1"/>
              <a:t>t</a:t>
            </a:r>
            <a:r>
              <a:rPr lang="en-US" i="1" baseline="-25000" dirty="0" err="1"/>
              <a:t>i</a:t>
            </a:r>
            <a:r>
              <a:rPr lang="en-US" dirty="0"/>
              <a:t>)</a:t>
            </a:r>
          </a:p>
        </p:txBody>
      </p:sp>
      <p:sp>
        <p:nvSpPr>
          <p:cNvPr id="3" name="Content Placeholder 2">
            <a:extLst>
              <a:ext uri="{FF2B5EF4-FFF2-40B4-BE49-F238E27FC236}">
                <a16:creationId xmlns:a16="http://schemas.microsoft.com/office/drawing/2014/main" id="{33374DF2-D1BC-7EF8-A45B-D178AB28899E}"/>
              </a:ext>
            </a:extLst>
          </p:cNvPr>
          <p:cNvSpPr>
            <a:spLocks noGrp="1"/>
          </p:cNvSpPr>
          <p:nvPr>
            <p:ph idx="1"/>
          </p:nvPr>
        </p:nvSpPr>
        <p:spPr/>
        <p:txBody>
          <a:bodyPr>
            <a:normAutofit/>
          </a:bodyPr>
          <a:lstStyle/>
          <a:p>
            <a:r>
              <a:rPr lang="en-US" dirty="0"/>
              <a:t>where </a:t>
            </a:r>
            <a:r>
              <a:rPr lang="en-US" i="1" dirty="0"/>
              <a:t>R </a:t>
            </a:r>
            <a:r>
              <a:rPr lang="en-US" dirty="0"/>
              <a:t>is a relation name and </a:t>
            </a:r>
            <a:r>
              <a:rPr lang="en-US" i="1" dirty="0" err="1"/>
              <a:t>t</a:t>
            </a:r>
            <a:r>
              <a:rPr lang="en-US" i="1" baseline="-25000" dirty="0" err="1"/>
              <a:t>i</a:t>
            </a:r>
            <a:r>
              <a:rPr lang="en-US" i="1" dirty="0"/>
              <a:t> </a:t>
            </a:r>
            <a:r>
              <a:rPr lang="en-US" dirty="0"/>
              <a:t>is a tuple variable</a:t>
            </a:r>
          </a:p>
          <a:p>
            <a:r>
              <a:rPr lang="en-US" dirty="0"/>
              <a:t>this atom identifies the range of the tuple variable </a:t>
            </a:r>
            <a:r>
              <a:rPr lang="en-US" i="1" dirty="0" err="1"/>
              <a:t>t</a:t>
            </a:r>
            <a:r>
              <a:rPr lang="en-US" i="1" baseline="-25000" dirty="0" err="1"/>
              <a:t>i</a:t>
            </a:r>
            <a:r>
              <a:rPr lang="en-US" i="1" dirty="0"/>
              <a:t> </a:t>
            </a:r>
            <a:r>
              <a:rPr lang="en-US" dirty="0"/>
              <a:t>as the relation whose name is </a:t>
            </a:r>
            <a:r>
              <a:rPr lang="en-US" i="1" dirty="0"/>
              <a:t>R</a:t>
            </a:r>
            <a:r>
              <a:rPr lang="en-US" dirty="0"/>
              <a:t>; it evaluates to TRUE if </a:t>
            </a:r>
            <a:r>
              <a:rPr lang="en-US" i="1" dirty="0" err="1"/>
              <a:t>t</a:t>
            </a:r>
            <a:r>
              <a:rPr lang="en-US" i="1" baseline="-25000" dirty="0" err="1"/>
              <a:t>i</a:t>
            </a:r>
            <a:r>
              <a:rPr lang="en-US" i="1" dirty="0"/>
              <a:t> </a:t>
            </a:r>
            <a:r>
              <a:rPr lang="en-US" dirty="0"/>
              <a:t>is a tuple in the relation </a:t>
            </a:r>
            <a:r>
              <a:rPr lang="en-US" i="1" dirty="0"/>
              <a:t>R</a:t>
            </a:r>
            <a:endParaRPr lang="en-US" dirty="0"/>
          </a:p>
        </p:txBody>
      </p:sp>
      <p:sp>
        <p:nvSpPr>
          <p:cNvPr id="4" name="Slide Number Placeholder 3">
            <a:extLst>
              <a:ext uri="{FF2B5EF4-FFF2-40B4-BE49-F238E27FC236}">
                <a16:creationId xmlns:a16="http://schemas.microsoft.com/office/drawing/2014/main" id="{0D91DAE6-C426-0F5D-1B6C-791386757C13}"/>
              </a:ext>
            </a:extLst>
          </p:cNvPr>
          <p:cNvSpPr>
            <a:spLocks noGrp="1"/>
          </p:cNvSpPr>
          <p:nvPr>
            <p:ph type="sldNum" sz="quarter" idx="12"/>
          </p:nvPr>
        </p:nvSpPr>
        <p:spPr/>
        <p:txBody>
          <a:bodyPr/>
          <a:lstStyle/>
          <a:p>
            <a:fld id="{6264BDCF-5269-49AC-A246-ED26C2B980E3}" type="slidenum">
              <a:rPr lang="en-US" smtClean="0"/>
              <a:t>104</a:t>
            </a:fld>
            <a:endParaRPr lang="en-US"/>
          </a:p>
        </p:txBody>
      </p:sp>
    </p:spTree>
    <p:extLst>
      <p:ext uri="{BB962C8B-B14F-4D97-AF65-F5344CB8AC3E}">
        <p14:creationId xmlns:p14="http://schemas.microsoft.com/office/powerpoint/2010/main" val="25136254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05050-5B2C-EFD1-AF5E-E056B267A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AC515-6E0D-6336-17FF-DFCC8674B8FE}"/>
              </a:ext>
            </a:extLst>
          </p:cNvPr>
          <p:cNvSpPr>
            <a:spLocks noGrp="1"/>
          </p:cNvSpPr>
          <p:nvPr>
            <p:ph type="title"/>
          </p:nvPr>
        </p:nvSpPr>
        <p:spPr/>
        <p:txBody>
          <a:bodyPr/>
          <a:lstStyle/>
          <a:p>
            <a:r>
              <a:rPr lang="en-US" dirty="0"/>
              <a:t>atom of the form </a:t>
            </a:r>
            <a:r>
              <a:rPr lang="en-US" i="1" dirty="0" err="1"/>
              <a:t>t</a:t>
            </a:r>
            <a:r>
              <a:rPr lang="en-US" i="1" baseline="-25000" dirty="0" err="1"/>
              <a:t>i</a:t>
            </a:r>
            <a:r>
              <a:rPr lang="en-US" dirty="0" err="1"/>
              <a:t>.</a:t>
            </a:r>
            <a:r>
              <a:rPr lang="en-US" i="1" dirty="0" err="1"/>
              <a:t>A</a:t>
            </a:r>
            <a:r>
              <a:rPr lang="en-US" i="1" dirty="0"/>
              <a:t> </a:t>
            </a:r>
            <a:r>
              <a:rPr lang="en-US" b="1" dirty="0"/>
              <a:t>op </a:t>
            </a:r>
            <a:r>
              <a:rPr lang="en-US" i="1" dirty="0" err="1"/>
              <a:t>t</a:t>
            </a:r>
            <a:r>
              <a:rPr lang="en-US" i="1" baseline="-25000" dirty="0" err="1"/>
              <a:t>j</a:t>
            </a:r>
            <a:r>
              <a:rPr lang="en-US" dirty="0" err="1"/>
              <a:t>.</a:t>
            </a:r>
            <a:r>
              <a:rPr lang="en-US" i="1" dirty="0" err="1"/>
              <a:t>B</a:t>
            </a:r>
            <a:endParaRPr lang="en-US" dirty="0"/>
          </a:p>
        </p:txBody>
      </p:sp>
      <p:sp>
        <p:nvSpPr>
          <p:cNvPr id="3" name="Content Placeholder 2">
            <a:extLst>
              <a:ext uri="{FF2B5EF4-FFF2-40B4-BE49-F238E27FC236}">
                <a16:creationId xmlns:a16="http://schemas.microsoft.com/office/drawing/2014/main" id="{BC81C489-63CA-BDF3-230C-CAEABC9E79A8}"/>
              </a:ext>
            </a:extLst>
          </p:cNvPr>
          <p:cNvSpPr>
            <a:spLocks noGrp="1"/>
          </p:cNvSpPr>
          <p:nvPr>
            <p:ph idx="1"/>
          </p:nvPr>
        </p:nvSpPr>
        <p:spPr/>
        <p:txBody>
          <a:bodyPr>
            <a:normAutofit/>
          </a:bodyPr>
          <a:lstStyle/>
          <a:p>
            <a:r>
              <a:rPr lang="en-US" dirty="0"/>
              <a:t>where </a:t>
            </a:r>
            <a:r>
              <a:rPr lang="en-US" b="1" dirty="0"/>
              <a:t>op </a:t>
            </a:r>
            <a:r>
              <a:rPr lang="en-US" dirty="0"/>
              <a:t>is one of the comparison operators in the set {=, &lt;, ≤, &gt;, ≥, ≠}, </a:t>
            </a:r>
            <a:r>
              <a:rPr lang="en-US" i="1" dirty="0" err="1"/>
              <a:t>t</a:t>
            </a:r>
            <a:r>
              <a:rPr lang="en-US" i="1" baseline="-25000" dirty="0" err="1"/>
              <a:t>i</a:t>
            </a:r>
            <a:r>
              <a:rPr lang="en-US" i="1" dirty="0"/>
              <a:t> </a:t>
            </a:r>
            <a:r>
              <a:rPr lang="en-US" dirty="0"/>
              <a:t>and </a:t>
            </a:r>
            <a:r>
              <a:rPr lang="en-US" i="1" dirty="0" err="1"/>
              <a:t>t</a:t>
            </a:r>
            <a:r>
              <a:rPr lang="en-US" i="1" baseline="-25000" dirty="0" err="1"/>
              <a:t>j</a:t>
            </a:r>
            <a:r>
              <a:rPr lang="en-US" i="1" dirty="0"/>
              <a:t> </a:t>
            </a:r>
            <a:r>
              <a:rPr lang="en-US" dirty="0"/>
              <a:t>are tuple variables, </a:t>
            </a:r>
            <a:r>
              <a:rPr lang="en-US" i="1" dirty="0"/>
              <a:t>A </a:t>
            </a:r>
            <a:r>
              <a:rPr lang="en-US" dirty="0"/>
              <a:t>is an attribute of the relation on which </a:t>
            </a:r>
            <a:r>
              <a:rPr lang="en-US" i="1" dirty="0" err="1"/>
              <a:t>t</a:t>
            </a:r>
            <a:r>
              <a:rPr lang="en-US" i="1" baseline="-25000" dirty="0" err="1"/>
              <a:t>i</a:t>
            </a:r>
            <a:r>
              <a:rPr lang="en-US" i="1" dirty="0"/>
              <a:t> </a:t>
            </a:r>
            <a:r>
              <a:rPr lang="en-US" dirty="0"/>
              <a:t>ranges, and </a:t>
            </a:r>
            <a:r>
              <a:rPr lang="en-US" i="1" dirty="0"/>
              <a:t>B </a:t>
            </a:r>
            <a:r>
              <a:rPr lang="en-US" dirty="0"/>
              <a:t>is an attribute of the relation on which </a:t>
            </a:r>
            <a:r>
              <a:rPr lang="en-US" i="1" dirty="0" err="1"/>
              <a:t>t</a:t>
            </a:r>
            <a:r>
              <a:rPr lang="en-US" i="1" baseline="-25000" dirty="0" err="1"/>
              <a:t>j</a:t>
            </a:r>
            <a:r>
              <a:rPr lang="en-US" i="1" dirty="0"/>
              <a:t> </a:t>
            </a:r>
            <a:r>
              <a:rPr lang="en-US" dirty="0"/>
              <a:t>ranges</a:t>
            </a:r>
          </a:p>
        </p:txBody>
      </p:sp>
      <p:sp>
        <p:nvSpPr>
          <p:cNvPr id="4" name="Slide Number Placeholder 3">
            <a:extLst>
              <a:ext uri="{FF2B5EF4-FFF2-40B4-BE49-F238E27FC236}">
                <a16:creationId xmlns:a16="http://schemas.microsoft.com/office/drawing/2014/main" id="{D9925979-B5FB-532C-303B-34C6F281FE29}"/>
              </a:ext>
            </a:extLst>
          </p:cNvPr>
          <p:cNvSpPr>
            <a:spLocks noGrp="1"/>
          </p:cNvSpPr>
          <p:nvPr>
            <p:ph type="sldNum" sz="quarter" idx="12"/>
          </p:nvPr>
        </p:nvSpPr>
        <p:spPr/>
        <p:txBody>
          <a:bodyPr/>
          <a:lstStyle/>
          <a:p>
            <a:fld id="{6264BDCF-5269-49AC-A246-ED26C2B980E3}" type="slidenum">
              <a:rPr lang="en-US" smtClean="0"/>
              <a:t>105</a:t>
            </a:fld>
            <a:endParaRPr lang="en-US"/>
          </a:p>
        </p:txBody>
      </p:sp>
    </p:spTree>
    <p:extLst>
      <p:ext uri="{BB962C8B-B14F-4D97-AF65-F5344CB8AC3E}">
        <p14:creationId xmlns:p14="http://schemas.microsoft.com/office/powerpoint/2010/main" val="38888200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B6660-0D92-A1E5-029B-1D79F1455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0E423-EF4E-994D-5FD8-9336681F3290}"/>
              </a:ext>
            </a:extLst>
          </p:cNvPr>
          <p:cNvSpPr>
            <a:spLocks noGrp="1"/>
          </p:cNvSpPr>
          <p:nvPr>
            <p:ph type="title"/>
          </p:nvPr>
        </p:nvSpPr>
        <p:spPr/>
        <p:txBody>
          <a:bodyPr/>
          <a:lstStyle/>
          <a:p>
            <a:r>
              <a:rPr lang="en-US" dirty="0"/>
              <a:t>atom of the form </a:t>
            </a:r>
            <a:r>
              <a:rPr lang="en-US" i="1" dirty="0" err="1"/>
              <a:t>t</a:t>
            </a:r>
            <a:r>
              <a:rPr lang="en-US" i="1" baseline="-25000" dirty="0" err="1"/>
              <a:t>i</a:t>
            </a:r>
            <a:r>
              <a:rPr lang="en-US" dirty="0" err="1"/>
              <a:t>.</a:t>
            </a:r>
            <a:r>
              <a:rPr lang="en-US" i="1" dirty="0" err="1"/>
              <a:t>A</a:t>
            </a:r>
            <a:r>
              <a:rPr lang="en-US" i="1" dirty="0"/>
              <a:t> </a:t>
            </a:r>
            <a:r>
              <a:rPr lang="en-US" b="1" dirty="0"/>
              <a:t>op </a:t>
            </a:r>
            <a:r>
              <a:rPr lang="en-US" i="1" dirty="0"/>
              <a:t>c </a:t>
            </a:r>
            <a:r>
              <a:rPr lang="en-US" dirty="0"/>
              <a:t>or </a:t>
            </a:r>
            <a:r>
              <a:rPr lang="en-US" i="1" dirty="0"/>
              <a:t>c </a:t>
            </a:r>
            <a:r>
              <a:rPr lang="en-US" b="1" dirty="0"/>
              <a:t>op </a:t>
            </a:r>
            <a:r>
              <a:rPr lang="en-US" i="1" dirty="0" err="1"/>
              <a:t>t</a:t>
            </a:r>
            <a:r>
              <a:rPr lang="en-US" i="1" baseline="-25000" dirty="0" err="1"/>
              <a:t>j</a:t>
            </a:r>
            <a:r>
              <a:rPr lang="en-US" dirty="0" err="1"/>
              <a:t>.</a:t>
            </a:r>
            <a:r>
              <a:rPr lang="en-US" i="1" dirty="0" err="1"/>
              <a:t>B</a:t>
            </a:r>
            <a:r>
              <a:rPr lang="en-US" dirty="0"/>
              <a:t>,</a:t>
            </a:r>
          </a:p>
        </p:txBody>
      </p:sp>
      <p:sp>
        <p:nvSpPr>
          <p:cNvPr id="3" name="Content Placeholder 2">
            <a:extLst>
              <a:ext uri="{FF2B5EF4-FFF2-40B4-BE49-F238E27FC236}">
                <a16:creationId xmlns:a16="http://schemas.microsoft.com/office/drawing/2014/main" id="{105CD018-FCA2-230B-8A8A-4B1B7949C044}"/>
              </a:ext>
            </a:extLst>
          </p:cNvPr>
          <p:cNvSpPr>
            <a:spLocks noGrp="1"/>
          </p:cNvSpPr>
          <p:nvPr>
            <p:ph idx="1"/>
          </p:nvPr>
        </p:nvSpPr>
        <p:spPr/>
        <p:txBody>
          <a:bodyPr>
            <a:normAutofit/>
          </a:bodyPr>
          <a:lstStyle/>
          <a:p>
            <a:r>
              <a:rPr lang="en-US" dirty="0"/>
              <a:t>where </a:t>
            </a:r>
            <a:r>
              <a:rPr lang="en-US" b="1" dirty="0"/>
              <a:t>op </a:t>
            </a:r>
            <a:r>
              <a:rPr lang="en-US" dirty="0"/>
              <a:t>is one of the comparison operators in the set {=, &lt;, ≤, &gt;, ≥, ≠}, </a:t>
            </a:r>
            <a:r>
              <a:rPr lang="en-US" i="1" dirty="0" err="1"/>
              <a:t>t</a:t>
            </a:r>
            <a:r>
              <a:rPr lang="en-US" i="1" baseline="-25000" dirty="0" err="1"/>
              <a:t>i</a:t>
            </a:r>
            <a:r>
              <a:rPr lang="en-US" i="1" dirty="0"/>
              <a:t> </a:t>
            </a:r>
            <a:r>
              <a:rPr lang="en-US" dirty="0"/>
              <a:t>and </a:t>
            </a:r>
            <a:r>
              <a:rPr lang="en-US" i="1" dirty="0" err="1"/>
              <a:t>t</a:t>
            </a:r>
            <a:r>
              <a:rPr lang="en-US" i="1" baseline="-25000" dirty="0" err="1"/>
              <a:t>j</a:t>
            </a:r>
            <a:r>
              <a:rPr lang="en-US" i="1" dirty="0"/>
              <a:t> </a:t>
            </a:r>
            <a:r>
              <a:rPr lang="en-US" dirty="0"/>
              <a:t>are tuple variables, </a:t>
            </a:r>
            <a:r>
              <a:rPr lang="en-US" i="1" dirty="0"/>
              <a:t>A </a:t>
            </a:r>
            <a:r>
              <a:rPr lang="en-US" dirty="0"/>
              <a:t>is an attribute of the relation on which </a:t>
            </a:r>
            <a:r>
              <a:rPr lang="en-US" i="1" dirty="0" err="1"/>
              <a:t>t</a:t>
            </a:r>
            <a:r>
              <a:rPr lang="en-US" i="1" baseline="-25000" dirty="0" err="1"/>
              <a:t>i</a:t>
            </a:r>
            <a:r>
              <a:rPr lang="en-US" i="1" dirty="0"/>
              <a:t> </a:t>
            </a:r>
            <a:r>
              <a:rPr lang="en-US" dirty="0"/>
              <a:t>ranges, </a:t>
            </a:r>
            <a:r>
              <a:rPr lang="en-US" i="1" dirty="0"/>
              <a:t>B </a:t>
            </a:r>
            <a:r>
              <a:rPr lang="en-US" dirty="0"/>
              <a:t>is an attribute of the relation on which </a:t>
            </a:r>
            <a:r>
              <a:rPr lang="en-US" i="1" dirty="0" err="1"/>
              <a:t>t</a:t>
            </a:r>
            <a:r>
              <a:rPr lang="en-US" i="1" baseline="-25000" dirty="0" err="1"/>
              <a:t>j</a:t>
            </a:r>
            <a:r>
              <a:rPr lang="en-US" i="1" dirty="0"/>
              <a:t> </a:t>
            </a:r>
            <a:r>
              <a:rPr lang="en-US" dirty="0"/>
              <a:t>ranges, and </a:t>
            </a:r>
            <a:r>
              <a:rPr lang="en-US" i="1" dirty="0"/>
              <a:t>c </a:t>
            </a:r>
            <a:r>
              <a:rPr lang="en-US" dirty="0"/>
              <a:t>is a constant value</a:t>
            </a:r>
          </a:p>
        </p:txBody>
      </p:sp>
      <p:sp>
        <p:nvSpPr>
          <p:cNvPr id="4" name="Slide Number Placeholder 3">
            <a:extLst>
              <a:ext uri="{FF2B5EF4-FFF2-40B4-BE49-F238E27FC236}">
                <a16:creationId xmlns:a16="http://schemas.microsoft.com/office/drawing/2014/main" id="{4EFC28B8-C506-BAB1-9F85-BC708D0DE178}"/>
              </a:ext>
            </a:extLst>
          </p:cNvPr>
          <p:cNvSpPr>
            <a:spLocks noGrp="1"/>
          </p:cNvSpPr>
          <p:nvPr>
            <p:ph type="sldNum" sz="quarter" idx="12"/>
          </p:nvPr>
        </p:nvSpPr>
        <p:spPr/>
        <p:txBody>
          <a:bodyPr/>
          <a:lstStyle/>
          <a:p>
            <a:fld id="{6264BDCF-5269-49AC-A246-ED26C2B980E3}" type="slidenum">
              <a:rPr lang="en-US" smtClean="0"/>
              <a:t>106</a:t>
            </a:fld>
            <a:endParaRPr lang="en-US"/>
          </a:p>
        </p:txBody>
      </p:sp>
    </p:spTree>
    <p:extLst>
      <p:ext uri="{BB962C8B-B14F-4D97-AF65-F5344CB8AC3E}">
        <p14:creationId xmlns:p14="http://schemas.microsoft.com/office/powerpoint/2010/main" val="130809818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5E78-537D-4B6D-A6CD-AEA81A025F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87DFB-34C8-7881-C07B-88F1EDFDDFD9}"/>
              </a:ext>
            </a:extLst>
          </p:cNvPr>
          <p:cNvSpPr>
            <a:spLocks noGrp="1"/>
          </p:cNvSpPr>
          <p:nvPr>
            <p:ph idx="1"/>
          </p:nvPr>
        </p:nvSpPr>
        <p:spPr/>
        <p:txBody>
          <a:bodyPr>
            <a:normAutofit/>
          </a:bodyPr>
          <a:lstStyle/>
          <a:p>
            <a:r>
              <a:rPr lang="en-US" dirty="0"/>
              <a:t>a </a:t>
            </a:r>
            <a:r>
              <a:rPr lang="en-US" b="1" dirty="0"/>
              <a:t>formula </a:t>
            </a:r>
            <a:r>
              <a:rPr lang="en-US" dirty="0"/>
              <a:t>(Boolean condition) is made up of one or more atoms connected via the logical operators </a:t>
            </a:r>
            <a:r>
              <a:rPr lang="en-US" b="1" dirty="0"/>
              <a:t>AND</a:t>
            </a:r>
            <a:r>
              <a:rPr lang="en-US" dirty="0"/>
              <a:t>, </a:t>
            </a:r>
            <a:r>
              <a:rPr lang="en-US" b="1" dirty="0"/>
              <a:t>OR</a:t>
            </a:r>
            <a:r>
              <a:rPr lang="en-US" dirty="0"/>
              <a:t>, and </a:t>
            </a:r>
            <a:r>
              <a:rPr lang="en-US" b="1" dirty="0"/>
              <a:t>NOT </a:t>
            </a:r>
            <a:r>
              <a:rPr lang="en-US" dirty="0"/>
              <a:t>and is defined recursively:</a:t>
            </a:r>
          </a:p>
          <a:p>
            <a:pPr marL="514350" indent="-514350">
              <a:buFont typeface="+mj-lt"/>
              <a:buAutoNum type="arabicPeriod"/>
            </a:pPr>
            <a:r>
              <a:rPr lang="en-US" i="1" dirty="0"/>
              <a:t>Rule 1</a:t>
            </a:r>
            <a:r>
              <a:rPr lang="en-US" dirty="0"/>
              <a:t>: Every atom is a formula</a:t>
            </a:r>
          </a:p>
          <a:p>
            <a:pPr marL="514350" indent="-514350">
              <a:buFont typeface="+mj-lt"/>
              <a:buAutoNum type="arabicPeriod"/>
            </a:pPr>
            <a:r>
              <a:rPr lang="en-US" i="1" dirty="0"/>
              <a:t>Rule 2</a:t>
            </a:r>
            <a:r>
              <a:rPr lang="en-US" dirty="0"/>
              <a:t>: If </a:t>
            </a:r>
            <a:r>
              <a:rPr lang="en-US" i="1" dirty="0"/>
              <a:t>F</a:t>
            </a:r>
            <a:r>
              <a:rPr lang="en-US" baseline="-25000" dirty="0"/>
              <a:t>1</a:t>
            </a:r>
            <a:r>
              <a:rPr lang="en-US" dirty="0"/>
              <a:t> and </a:t>
            </a:r>
            <a:r>
              <a:rPr lang="en-US" i="1" dirty="0"/>
              <a:t>F</a:t>
            </a:r>
            <a:r>
              <a:rPr lang="en-US" baseline="-25000" dirty="0"/>
              <a:t>2</a:t>
            </a:r>
            <a:r>
              <a:rPr lang="en-US" dirty="0"/>
              <a:t> are formulas, then so are (</a:t>
            </a:r>
            <a:r>
              <a:rPr lang="en-US" i="1" dirty="0"/>
              <a:t>F</a:t>
            </a:r>
            <a:r>
              <a:rPr lang="en-US" baseline="-25000" dirty="0"/>
              <a:t>1</a:t>
            </a:r>
            <a:r>
              <a:rPr lang="en-US" dirty="0"/>
              <a:t> </a:t>
            </a:r>
            <a:r>
              <a:rPr lang="en-US" b="1" dirty="0"/>
              <a:t>AND </a:t>
            </a:r>
            <a:r>
              <a:rPr lang="en-US" i="1" dirty="0"/>
              <a:t>F</a:t>
            </a:r>
            <a:r>
              <a:rPr lang="en-US" baseline="-25000" dirty="0"/>
              <a:t>2</a:t>
            </a:r>
            <a:r>
              <a:rPr lang="en-US" dirty="0"/>
              <a:t>), (</a:t>
            </a:r>
            <a:r>
              <a:rPr lang="en-US" i="1" dirty="0"/>
              <a:t>F</a:t>
            </a:r>
            <a:r>
              <a:rPr lang="en-US" baseline="-25000" dirty="0"/>
              <a:t>1</a:t>
            </a:r>
            <a:r>
              <a:rPr lang="en-US" dirty="0"/>
              <a:t> </a:t>
            </a:r>
            <a:r>
              <a:rPr lang="en-US" b="1" dirty="0"/>
              <a:t>OR </a:t>
            </a:r>
            <a:r>
              <a:rPr lang="en-US" i="1" dirty="0"/>
              <a:t>F</a:t>
            </a:r>
            <a:r>
              <a:rPr lang="en-US" baseline="-25000" dirty="0"/>
              <a:t>2</a:t>
            </a:r>
            <a:r>
              <a:rPr lang="en-US" dirty="0"/>
              <a:t>), </a:t>
            </a:r>
            <a:r>
              <a:rPr lang="en-US" b="1" dirty="0"/>
              <a:t>NOT</a:t>
            </a:r>
            <a:r>
              <a:rPr lang="en-US" dirty="0"/>
              <a:t>(</a:t>
            </a:r>
            <a:r>
              <a:rPr lang="en-US" i="1" dirty="0"/>
              <a:t>F</a:t>
            </a:r>
            <a:r>
              <a:rPr lang="en-US" baseline="-25000" dirty="0"/>
              <a:t>1</a:t>
            </a:r>
            <a:r>
              <a:rPr lang="en-US" dirty="0"/>
              <a:t>), and </a:t>
            </a:r>
            <a:r>
              <a:rPr lang="en-US" b="1" dirty="0"/>
              <a:t>NOT </a:t>
            </a:r>
            <a:r>
              <a:rPr lang="en-US" dirty="0"/>
              <a:t>(</a:t>
            </a:r>
            <a:r>
              <a:rPr lang="en-US" i="1" dirty="0"/>
              <a:t>F</a:t>
            </a:r>
            <a:r>
              <a:rPr lang="en-US" baseline="-25000" dirty="0"/>
              <a:t>2</a:t>
            </a:r>
            <a:r>
              <a:rPr lang="en-US" dirty="0"/>
              <a:t>)</a:t>
            </a:r>
          </a:p>
        </p:txBody>
      </p:sp>
      <p:sp>
        <p:nvSpPr>
          <p:cNvPr id="4" name="Slide Number Placeholder 3">
            <a:extLst>
              <a:ext uri="{FF2B5EF4-FFF2-40B4-BE49-F238E27FC236}">
                <a16:creationId xmlns:a16="http://schemas.microsoft.com/office/drawing/2014/main" id="{7B1E7AF9-90DE-7ACD-044C-BD8BF8F51ED2}"/>
              </a:ext>
            </a:extLst>
          </p:cNvPr>
          <p:cNvSpPr>
            <a:spLocks noGrp="1"/>
          </p:cNvSpPr>
          <p:nvPr>
            <p:ph type="sldNum" sz="quarter" idx="12"/>
          </p:nvPr>
        </p:nvSpPr>
        <p:spPr/>
        <p:txBody>
          <a:bodyPr/>
          <a:lstStyle/>
          <a:p>
            <a:fld id="{6264BDCF-5269-49AC-A246-ED26C2B980E3}" type="slidenum">
              <a:rPr lang="en-US" smtClean="0"/>
              <a:t>107</a:t>
            </a:fld>
            <a:endParaRPr lang="en-US"/>
          </a:p>
        </p:txBody>
      </p:sp>
    </p:spTree>
    <p:extLst>
      <p:ext uri="{BB962C8B-B14F-4D97-AF65-F5344CB8AC3E}">
        <p14:creationId xmlns:p14="http://schemas.microsoft.com/office/powerpoint/2010/main" val="25644433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A7E09-F410-07CC-D9D4-5BC2B1BEEB75}"/>
              </a:ext>
            </a:extLst>
          </p:cNvPr>
          <p:cNvSpPr>
            <a:spLocks noGrp="1"/>
          </p:cNvSpPr>
          <p:nvPr>
            <p:ph type="title"/>
          </p:nvPr>
        </p:nvSpPr>
        <p:spPr/>
        <p:txBody>
          <a:bodyPr/>
          <a:lstStyle/>
          <a:p>
            <a:r>
              <a:rPr lang="en-US" dirty="0"/>
              <a:t>Existential and Universal Quantifiers</a:t>
            </a:r>
          </a:p>
        </p:txBody>
      </p:sp>
      <p:sp>
        <p:nvSpPr>
          <p:cNvPr id="3" name="Content Placeholder 2">
            <a:extLst>
              <a:ext uri="{FF2B5EF4-FFF2-40B4-BE49-F238E27FC236}">
                <a16:creationId xmlns:a16="http://schemas.microsoft.com/office/drawing/2014/main" id="{6BAA6253-3EB1-A438-DE93-997F87115587}"/>
              </a:ext>
            </a:extLst>
          </p:cNvPr>
          <p:cNvSpPr>
            <a:spLocks noGrp="1"/>
          </p:cNvSpPr>
          <p:nvPr>
            <p:ph idx="1"/>
          </p:nvPr>
        </p:nvSpPr>
        <p:spPr/>
        <p:txBody>
          <a:bodyPr>
            <a:normAutofit/>
          </a:bodyPr>
          <a:lstStyle/>
          <a:p>
            <a:r>
              <a:rPr lang="en-US" dirty="0"/>
              <a:t>special symbols called </a:t>
            </a:r>
            <a:r>
              <a:rPr lang="en-US" b="1" dirty="0"/>
              <a:t>quantifiers </a:t>
            </a:r>
            <a:r>
              <a:rPr lang="en-US" dirty="0"/>
              <a:t>can appear in formulas: </a:t>
            </a:r>
            <a:r>
              <a:rPr lang="en-US" b="1" dirty="0"/>
              <a:t>universal quantifier </a:t>
            </a:r>
            <a:r>
              <a:rPr lang="en-US" dirty="0"/>
              <a:t>(∀) and </a:t>
            </a:r>
            <a:r>
              <a:rPr lang="en-US" b="1" dirty="0"/>
              <a:t>existential quantifier </a:t>
            </a:r>
            <a:r>
              <a:rPr lang="en-US" dirty="0"/>
              <a:t>(∃)</a:t>
            </a:r>
          </a:p>
          <a:p>
            <a:r>
              <a:rPr lang="en-US" dirty="0"/>
              <a:t>free and bound tuple variables in a formula</a:t>
            </a:r>
          </a:p>
          <a:p>
            <a:pPr lvl="1"/>
            <a:r>
              <a:rPr lang="en-US" sz="2800" dirty="0"/>
              <a:t>tuple variable </a:t>
            </a:r>
            <a:r>
              <a:rPr lang="en-US" sz="2800" i="1" dirty="0"/>
              <a:t>t </a:t>
            </a:r>
            <a:r>
              <a:rPr lang="en-US" sz="2800" dirty="0"/>
              <a:t>is bound if it is quantified, meaning that it appears in an (∃</a:t>
            </a:r>
            <a:r>
              <a:rPr lang="en-US" sz="2800" i="1" dirty="0"/>
              <a:t>t</a:t>
            </a:r>
            <a:r>
              <a:rPr lang="en-US" sz="2800" dirty="0"/>
              <a:t>) or (∀</a:t>
            </a:r>
            <a:r>
              <a:rPr lang="en-US" sz="2800" i="1" dirty="0"/>
              <a:t>t</a:t>
            </a:r>
            <a:r>
              <a:rPr lang="en-US" sz="2800" dirty="0"/>
              <a:t>) clause</a:t>
            </a:r>
          </a:p>
          <a:p>
            <a:pPr lvl="1"/>
            <a:r>
              <a:rPr lang="en-US" sz="2800" dirty="0"/>
              <a:t>otherwise, it is free</a:t>
            </a:r>
          </a:p>
        </p:txBody>
      </p:sp>
      <p:sp>
        <p:nvSpPr>
          <p:cNvPr id="4" name="Slide Number Placeholder 3">
            <a:extLst>
              <a:ext uri="{FF2B5EF4-FFF2-40B4-BE49-F238E27FC236}">
                <a16:creationId xmlns:a16="http://schemas.microsoft.com/office/drawing/2014/main" id="{CF406704-503D-7227-085F-FB56989DE591}"/>
              </a:ext>
            </a:extLst>
          </p:cNvPr>
          <p:cNvSpPr>
            <a:spLocks noGrp="1"/>
          </p:cNvSpPr>
          <p:nvPr>
            <p:ph type="sldNum" sz="quarter" idx="12"/>
          </p:nvPr>
        </p:nvSpPr>
        <p:spPr/>
        <p:txBody>
          <a:bodyPr/>
          <a:lstStyle/>
          <a:p>
            <a:fld id="{6264BDCF-5269-49AC-A246-ED26C2B980E3}" type="slidenum">
              <a:rPr lang="en-US" smtClean="0"/>
              <a:t>108</a:t>
            </a:fld>
            <a:endParaRPr lang="en-US"/>
          </a:p>
        </p:txBody>
      </p:sp>
    </p:spTree>
    <p:extLst>
      <p:ext uri="{BB962C8B-B14F-4D97-AF65-F5344CB8AC3E}">
        <p14:creationId xmlns:p14="http://schemas.microsoft.com/office/powerpoint/2010/main" val="40264781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BDDE-172E-3FBB-9170-EDDFC2900E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DB2C7C-5D27-27A3-7044-3EA99315F683}"/>
              </a:ext>
            </a:extLst>
          </p:cNvPr>
          <p:cNvSpPr>
            <a:spLocks noGrp="1"/>
          </p:cNvSpPr>
          <p:nvPr>
            <p:ph idx="1"/>
          </p:nvPr>
        </p:nvSpPr>
        <p:spPr/>
        <p:txBody>
          <a:bodyPr/>
          <a:lstStyle/>
          <a:p>
            <a:r>
              <a:rPr lang="en-US" i="1" dirty="0"/>
              <a:t>F</a:t>
            </a:r>
            <a:r>
              <a:rPr lang="en-US" dirty="0"/>
              <a:t>1: </a:t>
            </a:r>
            <a:r>
              <a:rPr lang="en-US" i="1" dirty="0" err="1"/>
              <a:t>d</a:t>
            </a:r>
            <a:r>
              <a:rPr lang="en-US" dirty="0" err="1"/>
              <a:t>.Dname</a:t>
            </a:r>
            <a:r>
              <a:rPr lang="en-US" dirty="0"/>
              <a:t> = ‘Research’</a:t>
            </a:r>
          </a:p>
          <a:p>
            <a:r>
              <a:rPr lang="en-US" i="1" dirty="0"/>
              <a:t>F</a:t>
            </a:r>
            <a:r>
              <a:rPr lang="en-US" dirty="0"/>
              <a:t>2: (∃</a:t>
            </a:r>
            <a:r>
              <a:rPr lang="en-US" i="1" dirty="0"/>
              <a:t>t</a:t>
            </a:r>
            <a:r>
              <a:rPr lang="en-US" dirty="0"/>
              <a:t>)(</a:t>
            </a:r>
            <a:r>
              <a:rPr lang="en-US" i="1" dirty="0" err="1"/>
              <a:t>d</a:t>
            </a:r>
            <a:r>
              <a:rPr lang="en-US" dirty="0" err="1"/>
              <a:t>.Dnumber</a:t>
            </a:r>
            <a:r>
              <a:rPr lang="en-US" dirty="0"/>
              <a:t> = </a:t>
            </a:r>
            <a:r>
              <a:rPr lang="en-US" i="1" dirty="0" err="1"/>
              <a:t>t</a:t>
            </a:r>
            <a:r>
              <a:rPr lang="en-US" dirty="0" err="1"/>
              <a:t>.Dno</a:t>
            </a:r>
            <a:r>
              <a:rPr lang="en-US" dirty="0"/>
              <a:t>)</a:t>
            </a:r>
          </a:p>
          <a:p>
            <a:r>
              <a:rPr lang="en-US" i="1" dirty="0"/>
              <a:t>F</a:t>
            </a:r>
            <a:r>
              <a:rPr lang="en-US" dirty="0"/>
              <a:t>3: (∀</a:t>
            </a:r>
            <a:r>
              <a:rPr lang="en-US" i="1" dirty="0"/>
              <a:t>d</a:t>
            </a:r>
            <a:r>
              <a:rPr lang="en-US" dirty="0"/>
              <a:t>)(</a:t>
            </a:r>
            <a:r>
              <a:rPr lang="en-US" i="1" dirty="0" err="1"/>
              <a:t>d</a:t>
            </a:r>
            <a:r>
              <a:rPr lang="en-US" dirty="0" err="1"/>
              <a:t>.Mgr_ssn</a:t>
            </a:r>
            <a:r>
              <a:rPr lang="en-US" dirty="0"/>
              <a:t> = ‘333445555’)</a:t>
            </a:r>
          </a:p>
          <a:p>
            <a:r>
              <a:rPr lang="en-US" dirty="0"/>
              <a:t>tuple variable </a:t>
            </a:r>
            <a:r>
              <a:rPr lang="en-US" i="1" dirty="0"/>
              <a:t>d </a:t>
            </a:r>
            <a:r>
              <a:rPr lang="en-US" dirty="0"/>
              <a:t>is free in both </a:t>
            </a:r>
            <a:r>
              <a:rPr lang="en-US" i="1" dirty="0"/>
              <a:t>F</a:t>
            </a:r>
            <a:r>
              <a:rPr lang="en-US" dirty="0"/>
              <a:t>1 and </a:t>
            </a:r>
            <a:r>
              <a:rPr lang="en-US" i="1" dirty="0"/>
              <a:t>F</a:t>
            </a:r>
            <a:r>
              <a:rPr lang="en-US" dirty="0"/>
              <a:t>2</a:t>
            </a:r>
          </a:p>
          <a:p>
            <a:r>
              <a:rPr lang="en-US" dirty="0"/>
              <a:t>tuple variable </a:t>
            </a:r>
            <a:r>
              <a:rPr lang="en-US" i="1" dirty="0"/>
              <a:t>d </a:t>
            </a:r>
            <a:r>
              <a:rPr lang="en-US" dirty="0"/>
              <a:t>is bound to the (∀) quantifier in </a:t>
            </a:r>
            <a:r>
              <a:rPr lang="en-US" i="1" dirty="0"/>
              <a:t>F</a:t>
            </a:r>
            <a:r>
              <a:rPr lang="en-US" dirty="0"/>
              <a:t>3</a:t>
            </a:r>
          </a:p>
          <a:p>
            <a:r>
              <a:rPr lang="en-US" dirty="0"/>
              <a:t>tuple variable </a:t>
            </a:r>
            <a:r>
              <a:rPr lang="en-US" i="1" dirty="0"/>
              <a:t>t </a:t>
            </a:r>
            <a:r>
              <a:rPr lang="en-US" dirty="0"/>
              <a:t>is bound to the (∃) quantifier in </a:t>
            </a:r>
            <a:r>
              <a:rPr lang="en-US" i="1" dirty="0"/>
              <a:t>F</a:t>
            </a:r>
            <a:r>
              <a:rPr lang="en-US" dirty="0"/>
              <a:t>2</a:t>
            </a:r>
          </a:p>
        </p:txBody>
      </p:sp>
      <p:sp>
        <p:nvSpPr>
          <p:cNvPr id="4" name="Slide Number Placeholder 3">
            <a:extLst>
              <a:ext uri="{FF2B5EF4-FFF2-40B4-BE49-F238E27FC236}">
                <a16:creationId xmlns:a16="http://schemas.microsoft.com/office/drawing/2014/main" id="{709B8E3F-50DC-3EDD-713D-6002E214EB2D}"/>
              </a:ext>
            </a:extLst>
          </p:cNvPr>
          <p:cNvSpPr>
            <a:spLocks noGrp="1"/>
          </p:cNvSpPr>
          <p:nvPr>
            <p:ph type="sldNum" sz="quarter" idx="12"/>
          </p:nvPr>
        </p:nvSpPr>
        <p:spPr/>
        <p:txBody>
          <a:bodyPr/>
          <a:lstStyle/>
          <a:p>
            <a:fld id="{6264BDCF-5269-49AC-A246-ED26C2B980E3}" type="slidenum">
              <a:rPr lang="en-US" smtClean="0"/>
              <a:t>109</a:t>
            </a:fld>
            <a:endParaRPr lang="en-US"/>
          </a:p>
        </p:txBody>
      </p:sp>
    </p:spTree>
    <p:extLst>
      <p:ext uri="{BB962C8B-B14F-4D97-AF65-F5344CB8AC3E}">
        <p14:creationId xmlns:p14="http://schemas.microsoft.com/office/powerpoint/2010/main" val="25088918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469C1-1423-6475-4CE4-9B4542DA3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7DFEB-EDDE-F3D2-47B4-21F007C2D3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C1AEB4-DE3D-3A54-AD57-49F46D654791}"/>
              </a:ext>
            </a:extLst>
          </p:cNvPr>
          <p:cNvSpPr>
            <a:spLocks noGrp="1"/>
          </p:cNvSpPr>
          <p:nvPr>
            <p:ph idx="1"/>
          </p:nvPr>
        </p:nvSpPr>
        <p:spPr>
          <a:xfrm>
            <a:off x="838200" y="365125"/>
            <a:ext cx="10685206" cy="5811838"/>
          </a:xfrm>
        </p:spPr>
        <p:txBody>
          <a:bodyPr>
            <a:normAutofit lnSpcReduction="10000"/>
          </a:bodyPr>
          <a:lstStyle/>
          <a:p>
            <a:r>
              <a:rPr lang="en-US" dirty="0"/>
              <a:t>a </a:t>
            </a:r>
            <a:r>
              <a:rPr lang="en-US" b="1" dirty="0"/>
              <a:t>formula </a:t>
            </a:r>
            <a:r>
              <a:rPr lang="en-US" dirty="0"/>
              <a:t>(Boolean condition) is made up of one or more atoms connected via the logical operators </a:t>
            </a:r>
            <a:r>
              <a:rPr lang="en-US" b="1" dirty="0"/>
              <a:t>AND</a:t>
            </a:r>
            <a:r>
              <a:rPr lang="en-US" dirty="0"/>
              <a:t>, </a:t>
            </a:r>
            <a:r>
              <a:rPr lang="en-US" b="1" dirty="0"/>
              <a:t>OR</a:t>
            </a:r>
            <a:r>
              <a:rPr lang="en-US" dirty="0"/>
              <a:t>, and </a:t>
            </a:r>
            <a:r>
              <a:rPr lang="en-US" b="1" dirty="0"/>
              <a:t>NOT </a:t>
            </a:r>
            <a:r>
              <a:rPr lang="en-US" dirty="0"/>
              <a:t>and is defined recursively:</a:t>
            </a:r>
          </a:p>
          <a:p>
            <a:pPr marL="514350" indent="-514350">
              <a:buFont typeface="+mj-lt"/>
              <a:buAutoNum type="arabicPeriod"/>
            </a:pPr>
            <a:r>
              <a:rPr lang="en-US" i="1" dirty="0"/>
              <a:t>Rule 1</a:t>
            </a:r>
            <a:r>
              <a:rPr lang="en-US" dirty="0"/>
              <a:t>: Every atom is a formula</a:t>
            </a:r>
          </a:p>
          <a:p>
            <a:pPr marL="514350" indent="-514350">
              <a:buFont typeface="+mj-lt"/>
              <a:buAutoNum type="arabicPeriod"/>
            </a:pPr>
            <a:r>
              <a:rPr lang="en-US" i="1" dirty="0"/>
              <a:t>Rule 2</a:t>
            </a:r>
            <a:r>
              <a:rPr lang="en-US" dirty="0"/>
              <a:t>: If </a:t>
            </a:r>
            <a:r>
              <a:rPr lang="en-US" i="1" dirty="0"/>
              <a:t>F</a:t>
            </a:r>
            <a:r>
              <a:rPr lang="en-US" baseline="-25000" dirty="0"/>
              <a:t>1</a:t>
            </a:r>
            <a:r>
              <a:rPr lang="en-US" dirty="0"/>
              <a:t> and </a:t>
            </a:r>
            <a:r>
              <a:rPr lang="en-US" i="1" dirty="0"/>
              <a:t>F</a:t>
            </a:r>
            <a:r>
              <a:rPr lang="en-US" baseline="-25000" dirty="0"/>
              <a:t>2</a:t>
            </a:r>
            <a:r>
              <a:rPr lang="en-US" dirty="0"/>
              <a:t> are formulas, then so are (</a:t>
            </a:r>
            <a:r>
              <a:rPr lang="en-US" i="1" dirty="0"/>
              <a:t>F</a:t>
            </a:r>
            <a:r>
              <a:rPr lang="en-US" baseline="-25000" dirty="0"/>
              <a:t>1</a:t>
            </a:r>
            <a:r>
              <a:rPr lang="en-US" dirty="0"/>
              <a:t> </a:t>
            </a:r>
            <a:r>
              <a:rPr lang="en-US" b="1" dirty="0"/>
              <a:t>AND </a:t>
            </a:r>
            <a:r>
              <a:rPr lang="en-US" i="1" dirty="0"/>
              <a:t>F</a:t>
            </a:r>
            <a:r>
              <a:rPr lang="en-US" baseline="-25000" dirty="0"/>
              <a:t>2</a:t>
            </a:r>
            <a:r>
              <a:rPr lang="en-US" dirty="0"/>
              <a:t>), (</a:t>
            </a:r>
            <a:r>
              <a:rPr lang="en-US" i="1" dirty="0"/>
              <a:t>F</a:t>
            </a:r>
            <a:r>
              <a:rPr lang="en-US" baseline="-25000" dirty="0"/>
              <a:t>1</a:t>
            </a:r>
            <a:r>
              <a:rPr lang="en-US" dirty="0"/>
              <a:t> </a:t>
            </a:r>
            <a:r>
              <a:rPr lang="en-US" b="1" dirty="0"/>
              <a:t>OR </a:t>
            </a:r>
            <a:r>
              <a:rPr lang="en-US" i="1" dirty="0"/>
              <a:t>F</a:t>
            </a:r>
            <a:r>
              <a:rPr lang="en-US" baseline="-25000" dirty="0"/>
              <a:t>2</a:t>
            </a:r>
            <a:r>
              <a:rPr lang="en-US" dirty="0"/>
              <a:t>), </a:t>
            </a:r>
            <a:r>
              <a:rPr lang="en-US" b="1" dirty="0"/>
              <a:t>NOT</a:t>
            </a:r>
            <a:r>
              <a:rPr lang="en-US" dirty="0"/>
              <a:t>(</a:t>
            </a:r>
            <a:r>
              <a:rPr lang="en-US" i="1" dirty="0"/>
              <a:t>F</a:t>
            </a:r>
            <a:r>
              <a:rPr lang="en-US" baseline="-25000" dirty="0"/>
              <a:t>1</a:t>
            </a:r>
            <a:r>
              <a:rPr lang="en-US" dirty="0"/>
              <a:t>), and </a:t>
            </a:r>
            <a:r>
              <a:rPr lang="en-US" b="1" dirty="0"/>
              <a:t>NOT </a:t>
            </a:r>
            <a:r>
              <a:rPr lang="en-US" dirty="0"/>
              <a:t>(</a:t>
            </a:r>
            <a:r>
              <a:rPr lang="en-US" i="1" dirty="0"/>
              <a:t>F</a:t>
            </a:r>
            <a:r>
              <a:rPr lang="en-US" baseline="-25000" dirty="0"/>
              <a:t>2</a:t>
            </a:r>
            <a:r>
              <a:rPr lang="en-US" dirty="0"/>
              <a:t>)</a:t>
            </a:r>
          </a:p>
          <a:p>
            <a:pPr marL="514350" indent="-514350">
              <a:buFont typeface="+mj-lt"/>
              <a:buAutoNum type="arabicPeriod"/>
            </a:pPr>
            <a:r>
              <a:rPr lang="en-US" i="1" dirty="0"/>
              <a:t>Rule 3</a:t>
            </a:r>
            <a:r>
              <a:rPr lang="en-US" dirty="0"/>
              <a:t>: If </a:t>
            </a:r>
            <a:r>
              <a:rPr lang="en-US" i="1" dirty="0"/>
              <a:t>F </a:t>
            </a:r>
            <a:r>
              <a:rPr lang="en-US" dirty="0"/>
              <a:t>is a formula, then so is (∃</a:t>
            </a:r>
            <a:r>
              <a:rPr lang="en-US" i="1" dirty="0"/>
              <a:t>t</a:t>
            </a:r>
            <a:r>
              <a:rPr lang="en-US" dirty="0"/>
              <a:t>)(</a:t>
            </a:r>
            <a:r>
              <a:rPr lang="en-US" i="1" dirty="0"/>
              <a:t>F</a:t>
            </a:r>
            <a:r>
              <a:rPr lang="en-US" dirty="0"/>
              <a:t>), where </a:t>
            </a:r>
            <a:r>
              <a:rPr lang="en-US" i="1" dirty="0"/>
              <a:t>t </a:t>
            </a:r>
            <a:r>
              <a:rPr lang="en-US" dirty="0"/>
              <a:t>is a tuple variable; formula (∃</a:t>
            </a:r>
            <a:r>
              <a:rPr lang="en-US" i="1" dirty="0"/>
              <a:t>t</a:t>
            </a:r>
            <a:r>
              <a:rPr lang="en-US" dirty="0"/>
              <a:t>)(</a:t>
            </a:r>
            <a:r>
              <a:rPr lang="en-US" i="1" dirty="0"/>
              <a:t>F</a:t>
            </a:r>
            <a:r>
              <a:rPr lang="en-US" dirty="0"/>
              <a:t>) is TRUE if formula </a:t>
            </a:r>
            <a:r>
              <a:rPr lang="en-US" i="1" dirty="0"/>
              <a:t>F </a:t>
            </a:r>
            <a:r>
              <a:rPr lang="en-US" dirty="0"/>
              <a:t>evaluates to TRUE for </a:t>
            </a:r>
            <a:r>
              <a:rPr lang="en-US" i="1" dirty="0"/>
              <a:t>some </a:t>
            </a:r>
            <a:r>
              <a:rPr lang="en-US" dirty="0"/>
              <a:t>(at least one) tuple assigned to free occurrences of </a:t>
            </a:r>
            <a:r>
              <a:rPr lang="en-US" i="1" dirty="0"/>
              <a:t>t </a:t>
            </a:r>
            <a:r>
              <a:rPr lang="en-US" dirty="0"/>
              <a:t>in </a:t>
            </a:r>
            <a:r>
              <a:rPr lang="en-US" i="1" dirty="0"/>
              <a:t>F</a:t>
            </a:r>
            <a:r>
              <a:rPr lang="en-US" dirty="0"/>
              <a:t>; otherwise, (∃</a:t>
            </a:r>
            <a:r>
              <a:rPr lang="en-US" i="1" dirty="0"/>
              <a:t>t</a:t>
            </a:r>
            <a:r>
              <a:rPr lang="en-US" dirty="0"/>
              <a:t>)(</a:t>
            </a:r>
            <a:r>
              <a:rPr lang="en-US" i="1" dirty="0"/>
              <a:t>F</a:t>
            </a:r>
            <a:r>
              <a:rPr lang="en-US" dirty="0"/>
              <a:t>) is FALSE</a:t>
            </a:r>
          </a:p>
          <a:p>
            <a:pPr marL="514350" indent="-514350">
              <a:buFont typeface="+mj-lt"/>
              <a:buAutoNum type="arabicPeriod"/>
            </a:pPr>
            <a:r>
              <a:rPr lang="en-US" i="1" dirty="0"/>
              <a:t>Rule 4</a:t>
            </a:r>
            <a:r>
              <a:rPr lang="en-US" dirty="0"/>
              <a:t>: If </a:t>
            </a:r>
            <a:r>
              <a:rPr lang="en-US" i="1" dirty="0"/>
              <a:t>F </a:t>
            </a:r>
            <a:r>
              <a:rPr lang="en-US" dirty="0"/>
              <a:t>is a formula, then so is (∀</a:t>
            </a:r>
            <a:r>
              <a:rPr lang="en-US" i="1" dirty="0"/>
              <a:t>t</a:t>
            </a:r>
            <a:r>
              <a:rPr lang="en-US" dirty="0"/>
              <a:t>)(</a:t>
            </a:r>
            <a:r>
              <a:rPr lang="en-US" i="1" dirty="0"/>
              <a:t>F</a:t>
            </a:r>
            <a:r>
              <a:rPr lang="en-US" dirty="0"/>
              <a:t>), where </a:t>
            </a:r>
            <a:r>
              <a:rPr lang="en-US" i="1" dirty="0"/>
              <a:t>t </a:t>
            </a:r>
            <a:r>
              <a:rPr lang="en-US" dirty="0"/>
              <a:t>is a tuple variable; formula (∀</a:t>
            </a:r>
            <a:r>
              <a:rPr lang="en-US" i="1" dirty="0"/>
              <a:t>t</a:t>
            </a:r>
            <a:r>
              <a:rPr lang="en-US" dirty="0"/>
              <a:t>)(</a:t>
            </a:r>
            <a:r>
              <a:rPr lang="en-US" i="1" dirty="0"/>
              <a:t>F</a:t>
            </a:r>
            <a:r>
              <a:rPr lang="en-US" dirty="0"/>
              <a:t>) is TRUE if formula </a:t>
            </a:r>
            <a:r>
              <a:rPr lang="en-US" i="1" dirty="0"/>
              <a:t>F </a:t>
            </a:r>
            <a:r>
              <a:rPr lang="en-US" dirty="0"/>
              <a:t>evaluates to TRUE for </a:t>
            </a:r>
            <a:r>
              <a:rPr lang="en-US" i="1" dirty="0"/>
              <a:t>every tuple </a:t>
            </a:r>
            <a:r>
              <a:rPr lang="en-US" dirty="0"/>
              <a:t>(all tuple in universe) assigned to free occurrences of </a:t>
            </a:r>
            <a:r>
              <a:rPr lang="en-US" i="1" dirty="0"/>
              <a:t>t </a:t>
            </a:r>
            <a:r>
              <a:rPr lang="en-US" dirty="0"/>
              <a:t>in </a:t>
            </a:r>
            <a:r>
              <a:rPr lang="en-US" i="1" dirty="0"/>
              <a:t>F</a:t>
            </a:r>
            <a:r>
              <a:rPr lang="en-US" dirty="0"/>
              <a:t>; otherwise, (∀</a:t>
            </a:r>
            <a:r>
              <a:rPr lang="en-US" i="1" dirty="0"/>
              <a:t>t</a:t>
            </a:r>
            <a:r>
              <a:rPr lang="en-US" dirty="0"/>
              <a:t>)(</a:t>
            </a:r>
            <a:r>
              <a:rPr lang="en-US" i="1" dirty="0"/>
              <a:t>F</a:t>
            </a:r>
            <a:r>
              <a:rPr lang="en-US" dirty="0"/>
              <a:t>) is FALSE</a:t>
            </a:r>
          </a:p>
        </p:txBody>
      </p:sp>
      <p:sp>
        <p:nvSpPr>
          <p:cNvPr id="4" name="Slide Number Placeholder 3">
            <a:extLst>
              <a:ext uri="{FF2B5EF4-FFF2-40B4-BE49-F238E27FC236}">
                <a16:creationId xmlns:a16="http://schemas.microsoft.com/office/drawing/2014/main" id="{5B8591EB-8BA2-BF4C-09F1-6B60A3BCAEF4}"/>
              </a:ext>
            </a:extLst>
          </p:cNvPr>
          <p:cNvSpPr>
            <a:spLocks noGrp="1"/>
          </p:cNvSpPr>
          <p:nvPr>
            <p:ph type="sldNum" sz="quarter" idx="12"/>
          </p:nvPr>
        </p:nvSpPr>
        <p:spPr/>
        <p:txBody>
          <a:bodyPr/>
          <a:lstStyle/>
          <a:p>
            <a:fld id="{6264BDCF-5269-49AC-A246-ED26C2B980E3}" type="slidenum">
              <a:rPr lang="en-US" smtClean="0"/>
              <a:t>110</a:t>
            </a:fld>
            <a:endParaRPr lang="en-US"/>
          </a:p>
        </p:txBody>
      </p:sp>
    </p:spTree>
    <p:extLst>
      <p:ext uri="{BB962C8B-B14F-4D97-AF65-F5344CB8AC3E}">
        <p14:creationId xmlns:p14="http://schemas.microsoft.com/office/powerpoint/2010/main" val="33077226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9161-26C6-A71C-D917-36C5218C89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179330-BB94-6C28-BE7E-DFCBE7D2F9FB}"/>
              </a:ext>
            </a:extLst>
          </p:cNvPr>
          <p:cNvSpPr>
            <a:spLocks noGrp="1"/>
          </p:cNvSpPr>
          <p:nvPr>
            <p:ph idx="1"/>
          </p:nvPr>
        </p:nvSpPr>
        <p:spPr/>
        <p:txBody>
          <a:bodyPr>
            <a:normAutofit/>
          </a:bodyPr>
          <a:lstStyle/>
          <a:p>
            <a:r>
              <a:rPr lang="en-US" dirty="0"/>
              <a:t>the (∃) existential quantifier, is called existential quantifier because a formula (∃</a:t>
            </a:r>
            <a:r>
              <a:rPr lang="en-US" i="1" dirty="0"/>
              <a:t>t</a:t>
            </a:r>
            <a:r>
              <a:rPr lang="en-US" dirty="0"/>
              <a:t>)(</a:t>
            </a:r>
            <a:r>
              <a:rPr lang="en-US" i="1" dirty="0"/>
              <a:t>F</a:t>
            </a:r>
            <a:r>
              <a:rPr lang="en-US" dirty="0"/>
              <a:t>) is TRUE if </a:t>
            </a:r>
            <a:r>
              <a:rPr lang="en-US" i="1" dirty="0"/>
              <a:t>there exists </a:t>
            </a:r>
            <a:r>
              <a:rPr lang="en-US" dirty="0"/>
              <a:t>some tuple that makes </a:t>
            </a:r>
            <a:r>
              <a:rPr lang="en-US" i="1" dirty="0"/>
              <a:t>F </a:t>
            </a:r>
            <a:r>
              <a:rPr lang="en-US" dirty="0"/>
              <a:t>TRUE.</a:t>
            </a:r>
          </a:p>
          <a:p>
            <a:r>
              <a:rPr lang="en-US" dirty="0"/>
              <a:t>the (∀) universal quantifier, is called universal quantifier because a formula  (∀</a:t>
            </a:r>
            <a:r>
              <a:rPr lang="en-US" i="1" dirty="0"/>
              <a:t>t</a:t>
            </a:r>
            <a:r>
              <a:rPr lang="en-US" dirty="0"/>
              <a:t>)(</a:t>
            </a:r>
            <a:r>
              <a:rPr lang="en-US" i="1" dirty="0"/>
              <a:t>F</a:t>
            </a:r>
            <a:r>
              <a:rPr lang="en-US" dirty="0"/>
              <a:t>) is TRUE if </a:t>
            </a:r>
            <a:r>
              <a:rPr lang="en-US" i="1" dirty="0"/>
              <a:t>every</a:t>
            </a:r>
            <a:r>
              <a:rPr lang="en-US" dirty="0"/>
              <a:t> possible tuple that can be assigned to free occurrences of </a:t>
            </a:r>
            <a:r>
              <a:rPr lang="en-US" i="1" dirty="0"/>
              <a:t>t </a:t>
            </a:r>
            <a:r>
              <a:rPr lang="en-US" dirty="0"/>
              <a:t>in </a:t>
            </a:r>
            <a:r>
              <a:rPr lang="en-US" i="1" dirty="0"/>
              <a:t>F </a:t>
            </a:r>
            <a:r>
              <a:rPr lang="en-US" dirty="0"/>
              <a:t>is substituted for </a:t>
            </a:r>
            <a:r>
              <a:rPr lang="en-US" i="1" dirty="0"/>
              <a:t>t</a:t>
            </a:r>
            <a:r>
              <a:rPr lang="en-US" dirty="0"/>
              <a:t>, and </a:t>
            </a:r>
            <a:r>
              <a:rPr lang="en-US" i="1" dirty="0"/>
              <a:t>F </a:t>
            </a:r>
            <a:r>
              <a:rPr lang="en-US" dirty="0"/>
              <a:t>is TRUE for </a:t>
            </a:r>
            <a:r>
              <a:rPr lang="en-US" i="1" dirty="0"/>
              <a:t>every such substitution; </a:t>
            </a:r>
            <a:r>
              <a:rPr lang="en-US" dirty="0"/>
              <a:t>it is called the universal or </a:t>
            </a:r>
            <a:r>
              <a:rPr lang="en-US" i="1" dirty="0"/>
              <a:t>for all </a:t>
            </a:r>
            <a:r>
              <a:rPr lang="en-US" dirty="0"/>
              <a:t>quantifier because every tuple in </a:t>
            </a:r>
            <a:r>
              <a:rPr lang="en-US" i="1" dirty="0"/>
              <a:t>the universe of </a:t>
            </a:r>
            <a:r>
              <a:rPr lang="en-US" dirty="0"/>
              <a:t>tuples must make </a:t>
            </a:r>
            <a:r>
              <a:rPr lang="en-US" i="1" dirty="0"/>
              <a:t>F </a:t>
            </a:r>
            <a:r>
              <a:rPr lang="en-US" dirty="0"/>
              <a:t>TRUE to make the quantified formula TRUE.</a:t>
            </a:r>
          </a:p>
        </p:txBody>
      </p:sp>
      <p:sp>
        <p:nvSpPr>
          <p:cNvPr id="4" name="Slide Number Placeholder 3">
            <a:extLst>
              <a:ext uri="{FF2B5EF4-FFF2-40B4-BE49-F238E27FC236}">
                <a16:creationId xmlns:a16="http://schemas.microsoft.com/office/drawing/2014/main" id="{29025F12-7083-3419-AD1F-4259F70677D1}"/>
              </a:ext>
            </a:extLst>
          </p:cNvPr>
          <p:cNvSpPr>
            <a:spLocks noGrp="1"/>
          </p:cNvSpPr>
          <p:nvPr>
            <p:ph type="sldNum" sz="quarter" idx="12"/>
          </p:nvPr>
        </p:nvSpPr>
        <p:spPr/>
        <p:txBody>
          <a:bodyPr/>
          <a:lstStyle/>
          <a:p>
            <a:fld id="{6264BDCF-5269-49AC-A246-ED26C2B980E3}" type="slidenum">
              <a:rPr lang="en-US" smtClean="0"/>
              <a:t>111</a:t>
            </a:fld>
            <a:endParaRPr lang="en-US"/>
          </a:p>
        </p:txBody>
      </p:sp>
    </p:spTree>
    <p:extLst>
      <p:ext uri="{BB962C8B-B14F-4D97-AF65-F5344CB8AC3E}">
        <p14:creationId xmlns:p14="http://schemas.microsoft.com/office/powerpoint/2010/main" val="18511583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7BB8F-97E2-2A81-6EAE-BEBA9F86C1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46D95A-9BD4-058B-C461-36BBA71A4FB1}"/>
              </a:ext>
            </a:extLst>
          </p:cNvPr>
          <p:cNvSpPr>
            <a:spLocks noGrp="1"/>
          </p:cNvSpPr>
          <p:nvPr>
            <p:ph idx="1"/>
          </p:nvPr>
        </p:nvSpPr>
        <p:spPr/>
        <p:txBody>
          <a:bodyPr>
            <a:normAutofit/>
          </a:bodyPr>
          <a:lstStyle/>
          <a:p>
            <a:r>
              <a:rPr lang="en-US" sz="2700" dirty="0"/>
              <a:t>List the name and address of all employees who work for the ‘Research’ department.</a:t>
            </a:r>
          </a:p>
          <a:p>
            <a:r>
              <a:rPr lang="en-US" sz="2700" dirty="0"/>
              <a:t>{</a:t>
            </a:r>
            <a:r>
              <a:rPr lang="en-US" sz="2700" i="1" dirty="0" err="1"/>
              <a:t>t</a:t>
            </a:r>
            <a:r>
              <a:rPr lang="en-US" sz="2700" dirty="0" err="1"/>
              <a:t>.Fname</a:t>
            </a:r>
            <a:r>
              <a:rPr lang="en-US" sz="2700" dirty="0"/>
              <a:t>, </a:t>
            </a:r>
            <a:r>
              <a:rPr lang="en-US" sz="2700" i="1" dirty="0" err="1"/>
              <a:t>t</a:t>
            </a:r>
            <a:r>
              <a:rPr lang="en-US" sz="2700" dirty="0" err="1"/>
              <a:t>.Lname</a:t>
            </a:r>
            <a:r>
              <a:rPr lang="en-US" sz="2700" dirty="0"/>
              <a:t>, </a:t>
            </a:r>
            <a:r>
              <a:rPr lang="en-US" sz="2700" i="1" dirty="0" err="1"/>
              <a:t>t</a:t>
            </a:r>
            <a:r>
              <a:rPr lang="en-US" sz="2700" dirty="0" err="1"/>
              <a:t>.Address</a:t>
            </a:r>
            <a:r>
              <a:rPr lang="en-US" sz="2700" dirty="0"/>
              <a:t> | EMPLOYEE(</a:t>
            </a:r>
            <a:r>
              <a:rPr lang="en-US" sz="2700" i="1" dirty="0"/>
              <a:t>t</a:t>
            </a:r>
            <a:r>
              <a:rPr lang="en-US" sz="2700" dirty="0"/>
              <a:t>) </a:t>
            </a:r>
            <a:r>
              <a:rPr lang="en-US" sz="2700" b="1" dirty="0"/>
              <a:t>AND </a:t>
            </a:r>
            <a:r>
              <a:rPr lang="en-US" sz="2700" dirty="0"/>
              <a:t>(∃</a:t>
            </a:r>
            <a:r>
              <a:rPr lang="en-US" sz="2700" i="1" dirty="0"/>
              <a:t>d</a:t>
            </a:r>
            <a:r>
              <a:rPr lang="en-US" sz="2700" dirty="0"/>
              <a:t>)(DEPARTMENT(</a:t>
            </a:r>
            <a:r>
              <a:rPr lang="en-US" sz="2700" i="1" dirty="0"/>
              <a:t>d</a:t>
            </a:r>
            <a:r>
              <a:rPr lang="en-US" sz="2700" dirty="0"/>
              <a:t>) </a:t>
            </a:r>
            <a:r>
              <a:rPr lang="en-US" sz="2700" b="1" dirty="0"/>
              <a:t>AND </a:t>
            </a:r>
            <a:r>
              <a:rPr lang="en-US" sz="2700" i="1" dirty="0" err="1"/>
              <a:t>d</a:t>
            </a:r>
            <a:r>
              <a:rPr lang="en-US" sz="2700" dirty="0" err="1"/>
              <a:t>.Dname</a:t>
            </a:r>
            <a:r>
              <a:rPr lang="en-US" sz="2700" dirty="0"/>
              <a:t>=‘Research’ </a:t>
            </a:r>
            <a:r>
              <a:rPr lang="en-US" sz="2700" b="1" dirty="0"/>
              <a:t>AND </a:t>
            </a:r>
            <a:r>
              <a:rPr lang="en-US" sz="2700" i="1" dirty="0" err="1"/>
              <a:t>d</a:t>
            </a:r>
            <a:r>
              <a:rPr lang="en-US" sz="2700" dirty="0" err="1"/>
              <a:t>.Dnumber</a:t>
            </a:r>
            <a:r>
              <a:rPr lang="en-US" sz="2700" dirty="0"/>
              <a:t>=</a:t>
            </a:r>
            <a:r>
              <a:rPr lang="en-US" sz="2700" i="1" dirty="0" err="1"/>
              <a:t>t</a:t>
            </a:r>
            <a:r>
              <a:rPr lang="en-US" sz="2700" dirty="0" err="1"/>
              <a:t>.Dno</a:t>
            </a:r>
            <a:r>
              <a:rPr lang="en-US" sz="2700" dirty="0"/>
              <a:t>)}</a:t>
            </a:r>
          </a:p>
          <a:p>
            <a:r>
              <a:rPr lang="en-US" sz="2700" dirty="0"/>
              <a:t>For every project located in ‘Stafford’, list the project number, the controlling department number, and the department manager’s last name, birth date, and address.</a:t>
            </a:r>
          </a:p>
          <a:p>
            <a:r>
              <a:rPr lang="en-US" sz="2700" dirty="0"/>
              <a:t>{</a:t>
            </a:r>
            <a:r>
              <a:rPr lang="en-US" sz="2700" i="1" dirty="0" err="1"/>
              <a:t>p</a:t>
            </a:r>
            <a:r>
              <a:rPr lang="en-US" sz="2700" dirty="0" err="1"/>
              <a:t>.Pnumber</a:t>
            </a:r>
            <a:r>
              <a:rPr lang="en-US" sz="2700" dirty="0"/>
              <a:t>, </a:t>
            </a:r>
            <a:r>
              <a:rPr lang="en-US" sz="2700" i="1" dirty="0" err="1"/>
              <a:t>p</a:t>
            </a:r>
            <a:r>
              <a:rPr lang="en-US" sz="2700" dirty="0" err="1"/>
              <a:t>.Dnum</a:t>
            </a:r>
            <a:r>
              <a:rPr lang="en-US" sz="2700" dirty="0"/>
              <a:t>, </a:t>
            </a:r>
            <a:r>
              <a:rPr lang="en-US" sz="2700" i="1" dirty="0" err="1"/>
              <a:t>m</a:t>
            </a:r>
            <a:r>
              <a:rPr lang="en-US" sz="2700" dirty="0" err="1"/>
              <a:t>.Lname</a:t>
            </a:r>
            <a:r>
              <a:rPr lang="en-US" sz="2700" dirty="0"/>
              <a:t>, </a:t>
            </a:r>
            <a:r>
              <a:rPr lang="en-US" sz="2700" i="1" dirty="0" err="1"/>
              <a:t>m</a:t>
            </a:r>
            <a:r>
              <a:rPr lang="en-US" sz="2700" dirty="0" err="1"/>
              <a:t>.Bdate</a:t>
            </a:r>
            <a:r>
              <a:rPr lang="en-US" sz="2700" dirty="0"/>
              <a:t>, </a:t>
            </a:r>
            <a:r>
              <a:rPr lang="en-US" sz="2700" i="1" dirty="0" err="1"/>
              <a:t>m</a:t>
            </a:r>
            <a:r>
              <a:rPr lang="en-US" sz="2700" dirty="0" err="1"/>
              <a:t>.Address</a:t>
            </a:r>
            <a:r>
              <a:rPr lang="en-US" sz="2700" dirty="0"/>
              <a:t> | PROJECT(</a:t>
            </a:r>
            <a:r>
              <a:rPr lang="en-US" sz="2700" i="1" dirty="0"/>
              <a:t>p</a:t>
            </a:r>
            <a:r>
              <a:rPr lang="en-US" sz="2700" dirty="0"/>
              <a:t>) </a:t>
            </a:r>
            <a:r>
              <a:rPr lang="en-US" sz="2700" b="1" dirty="0"/>
              <a:t>AND </a:t>
            </a:r>
            <a:r>
              <a:rPr lang="en-US" sz="2700" dirty="0"/>
              <a:t>EMPLOYEE(</a:t>
            </a:r>
            <a:r>
              <a:rPr lang="en-US" sz="2700" i="1" dirty="0"/>
              <a:t>m</a:t>
            </a:r>
            <a:r>
              <a:rPr lang="en-US" sz="2700" dirty="0"/>
              <a:t>) </a:t>
            </a:r>
            <a:r>
              <a:rPr lang="en-US" sz="2700" b="1" dirty="0"/>
              <a:t>AND </a:t>
            </a:r>
            <a:r>
              <a:rPr lang="en-US" sz="2700" i="1" dirty="0" err="1"/>
              <a:t>p</a:t>
            </a:r>
            <a:r>
              <a:rPr lang="en-US" sz="2700" dirty="0" err="1"/>
              <a:t>.Plocation</a:t>
            </a:r>
            <a:r>
              <a:rPr lang="en-US" sz="2700" dirty="0"/>
              <a:t>=‘Stafford’ </a:t>
            </a:r>
            <a:r>
              <a:rPr lang="en-US" sz="2700" b="1" dirty="0"/>
              <a:t>AND </a:t>
            </a:r>
            <a:r>
              <a:rPr lang="en-US" sz="2700" dirty="0"/>
              <a:t>((∃</a:t>
            </a:r>
            <a:r>
              <a:rPr lang="en-US" sz="2700" i="1" dirty="0"/>
              <a:t>d</a:t>
            </a:r>
            <a:r>
              <a:rPr lang="en-US" sz="2700" dirty="0"/>
              <a:t>)(DEPARTMENT(</a:t>
            </a:r>
            <a:r>
              <a:rPr lang="en-US" sz="2700" i="1" dirty="0"/>
              <a:t>d</a:t>
            </a:r>
            <a:r>
              <a:rPr lang="en-US" sz="2700" dirty="0"/>
              <a:t>) </a:t>
            </a:r>
            <a:r>
              <a:rPr lang="en-US" sz="2700" b="1" dirty="0"/>
              <a:t>AND </a:t>
            </a:r>
            <a:r>
              <a:rPr lang="en-US" sz="2700" i="1" dirty="0" err="1"/>
              <a:t>p</a:t>
            </a:r>
            <a:r>
              <a:rPr lang="en-US" sz="2700" dirty="0" err="1"/>
              <a:t>.Dnum</a:t>
            </a:r>
            <a:r>
              <a:rPr lang="en-US" sz="2700" dirty="0"/>
              <a:t>=</a:t>
            </a:r>
            <a:r>
              <a:rPr lang="en-US" sz="2700" i="1" dirty="0" err="1"/>
              <a:t>d</a:t>
            </a:r>
            <a:r>
              <a:rPr lang="en-US" sz="2700" dirty="0" err="1"/>
              <a:t>.Dnumber</a:t>
            </a:r>
            <a:r>
              <a:rPr lang="en-US" sz="2700" dirty="0"/>
              <a:t> </a:t>
            </a:r>
            <a:r>
              <a:rPr lang="en-US" sz="2700" b="1" dirty="0"/>
              <a:t>AND </a:t>
            </a:r>
            <a:r>
              <a:rPr lang="en-US" sz="2700" i="1" dirty="0" err="1"/>
              <a:t>d</a:t>
            </a:r>
            <a:r>
              <a:rPr lang="en-US" sz="2700" dirty="0" err="1"/>
              <a:t>.Mgr_ssn</a:t>
            </a:r>
            <a:r>
              <a:rPr lang="en-US" sz="2700" dirty="0"/>
              <a:t>=</a:t>
            </a:r>
            <a:r>
              <a:rPr lang="en-US" sz="2700" i="1" dirty="0" err="1"/>
              <a:t>m</a:t>
            </a:r>
            <a:r>
              <a:rPr lang="en-US" sz="2700" dirty="0" err="1"/>
              <a:t>.Ssn</a:t>
            </a:r>
            <a:r>
              <a:rPr lang="en-US" sz="2700" dirty="0"/>
              <a:t>))}</a:t>
            </a:r>
          </a:p>
        </p:txBody>
      </p:sp>
      <p:sp>
        <p:nvSpPr>
          <p:cNvPr id="4" name="Slide Number Placeholder 3">
            <a:extLst>
              <a:ext uri="{FF2B5EF4-FFF2-40B4-BE49-F238E27FC236}">
                <a16:creationId xmlns:a16="http://schemas.microsoft.com/office/drawing/2014/main" id="{7C4B81CE-D348-FA02-350E-003C520011CD}"/>
              </a:ext>
            </a:extLst>
          </p:cNvPr>
          <p:cNvSpPr>
            <a:spLocks noGrp="1"/>
          </p:cNvSpPr>
          <p:nvPr>
            <p:ph type="sldNum" sz="quarter" idx="12"/>
          </p:nvPr>
        </p:nvSpPr>
        <p:spPr/>
        <p:txBody>
          <a:bodyPr/>
          <a:lstStyle/>
          <a:p>
            <a:fld id="{6264BDCF-5269-49AC-A246-ED26C2B980E3}" type="slidenum">
              <a:rPr lang="en-US" smtClean="0"/>
              <a:t>112</a:t>
            </a:fld>
            <a:endParaRPr lang="en-US"/>
          </a:p>
        </p:txBody>
      </p:sp>
    </p:spTree>
    <p:extLst>
      <p:ext uri="{BB962C8B-B14F-4D97-AF65-F5344CB8AC3E}">
        <p14:creationId xmlns:p14="http://schemas.microsoft.com/office/powerpoint/2010/main" val="27541616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52DB-8D6C-7A9E-6152-253EF7634E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D10194-0634-4578-0FD3-D58EF5D3F0EE}"/>
              </a:ext>
            </a:extLst>
          </p:cNvPr>
          <p:cNvSpPr>
            <a:spLocks noGrp="1"/>
          </p:cNvSpPr>
          <p:nvPr>
            <p:ph idx="1"/>
          </p:nvPr>
        </p:nvSpPr>
        <p:spPr/>
        <p:txBody>
          <a:bodyPr>
            <a:normAutofit/>
          </a:bodyPr>
          <a:lstStyle/>
          <a:p>
            <a:r>
              <a:rPr lang="en-US" dirty="0"/>
              <a:t>List the name of each employee who works on </a:t>
            </a:r>
            <a:r>
              <a:rPr lang="en-US" i="1" dirty="0"/>
              <a:t>some </a:t>
            </a:r>
            <a:r>
              <a:rPr lang="en-US" dirty="0"/>
              <a:t>project controlled by department number 5 </a:t>
            </a:r>
          </a:p>
          <a:p>
            <a:r>
              <a:rPr lang="en-US" dirty="0"/>
              <a:t>{</a:t>
            </a:r>
            <a:r>
              <a:rPr lang="en-US" i="1" dirty="0" err="1"/>
              <a:t>e.</a:t>
            </a:r>
            <a:r>
              <a:rPr lang="en-US" dirty="0" err="1"/>
              <a:t>Lname</a:t>
            </a:r>
            <a:r>
              <a:rPr lang="en-US" dirty="0"/>
              <a:t>, </a:t>
            </a:r>
            <a:r>
              <a:rPr lang="en-US" i="1" dirty="0" err="1"/>
              <a:t>e.</a:t>
            </a:r>
            <a:r>
              <a:rPr lang="en-US" dirty="0" err="1"/>
              <a:t>Fname</a:t>
            </a:r>
            <a:r>
              <a:rPr lang="en-US" dirty="0"/>
              <a:t> | EMPLOYEE(</a:t>
            </a:r>
            <a:r>
              <a:rPr lang="en-US" i="1" dirty="0"/>
              <a:t>e</a:t>
            </a:r>
            <a:r>
              <a:rPr lang="en-US" dirty="0"/>
              <a:t>) </a:t>
            </a:r>
            <a:r>
              <a:rPr lang="en-US" b="1" dirty="0"/>
              <a:t>AND </a:t>
            </a:r>
            <a:r>
              <a:rPr lang="en-US" dirty="0"/>
              <a:t>((∃</a:t>
            </a:r>
            <a:r>
              <a:rPr lang="en-US" i="1" dirty="0"/>
              <a:t>x</a:t>
            </a:r>
            <a:r>
              <a:rPr lang="en-US" dirty="0"/>
              <a:t>)(∃</a:t>
            </a:r>
            <a:r>
              <a:rPr lang="en-US" i="1" dirty="0"/>
              <a:t>w</a:t>
            </a:r>
            <a:r>
              <a:rPr lang="en-US" dirty="0"/>
              <a:t>)(PROJECT(</a:t>
            </a:r>
            <a:r>
              <a:rPr lang="en-US" i="1" dirty="0"/>
              <a:t>x</a:t>
            </a:r>
            <a:r>
              <a:rPr lang="en-US" dirty="0"/>
              <a:t>) </a:t>
            </a:r>
            <a:r>
              <a:rPr lang="en-US" b="1" dirty="0"/>
              <a:t>AND </a:t>
            </a:r>
            <a:r>
              <a:rPr lang="en-US" dirty="0"/>
              <a:t>WORKS_ON(</a:t>
            </a:r>
            <a:r>
              <a:rPr lang="en-US" i="1" dirty="0"/>
              <a:t>w</a:t>
            </a:r>
            <a:r>
              <a:rPr lang="en-US" dirty="0"/>
              <a:t>) </a:t>
            </a:r>
            <a:r>
              <a:rPr lang="en-US" b="1" dirty="0"/>
              <a:t>AND </a:t>
            </a:r>
            <a:r>
              <a:rPr lang="en-US" i="1" dirty="0" err="1"/>
              <a:t>x</a:t>
            </a:r>
            <a:r>
              <a:rPr lang="en-US" dirty="0" err="1"/>
              <a:t>.Dnum</a:t>
            </a:r>
            <a:r>
              <a:rPr lang="en-US" dirty="0"/>
              <a:t>=5 </a:t>
            </a:r>
            <a:r>
              <a:rPr lang="en-US" b="1" dirty="0"/>
              <a:t>AND </a:t>
            </a:r>
            <a:r>
              <a:rPr lang="en-US" i="1" dirty="0" err="1"/>
              <a:t>w</a:t>
            </a:r>
            <a:r>
              <a:rPr lang="en-US" dirty="0" err="1"/>
              <a:t>.Essn</a:t>
            </a:r>
            <a:r>
              <a:rPr lang="en-US" dirty="0"/>
              <a:t>=</a:t>
            </a:r>
            <a:r>
              <a:rPr lang="en-US" i="1" dirty="0" err="1"/>
              <a:t>e</a:t>
            </a:r>
            <a:r>
              <a:rPr lang="en-US" dirty="0" err="1"/>
              <a:t>.Ssn</a:t>
            </a:r>
            <a:r>
              <a:rPr lang="en-US" dirty="0"/>
              <a:t> </a:t>
            </a:r>
            <a:r>
              <a:rPr lang="en-US" b="1" dirty="0"/>
              <a:t>AND </a:t>
            </a:r>
            <a:r>
              <a:rPr lang="en-US" i="1" dirty="0" err="1"/>
              <a:t>x</a:t>
            </a:r>
            <a:r>
              <a:rPr lang="en-US" dirty="0" err="1"/>
              <a:t>.Pnumber</a:t>
            </a:r>
            <a:r>
              <a:rPr lang="en-US" dirty="0"/>
              <a:t>=</a:t>
            </a:r>
            <a:r>
              <a:rPr lang="en-US" i="1" dirty="0" err="1"/>
              <a:t>w</a:t>
            </a:r>
            <a:r>
              <a:rPr lang="en-US" dirty="0" err="1"/>
              <a:t>.Pno</a:t>
            </a:r>
            <a:r>
              <a:rPr lang="en-US" dirty="0"/>
              <a:t>))}</a:t>
            </a:r>
          </a:p>
          <a:p>
            <a:endParaRPr lang="en-US" dirty="0"/>
          </a:p>
        </p:txBody>
      </p:sp>
      <p:sp>
        <p:nvSpPr>
          <p:cNvPr id="4" name="Slide Number Placeholder 3">
            <a:extLst>
              <a:ext uri="{FF2B5EF4-FFF2-40B4-BE49-F238E27FC236}">
                <a16:creationId xmlns:a16="http://schemas.microsoft.com/office/drawing/2014/main" id="{22DC45A5-5CF2-7308-6962-724EF750F819}"/>
              </a:ext>
            </a:extLst>
          </p:cNvPr>
          <p:cNvSpPr>
            <a:spLocks noGrp="1"/>
          </p:cNvSpPr>
          <p:nvPr>
            <p:ph type="sldNum" sz="quarter" idx="12"/>
          </p:nvPr>
        </p:nvSpPr>
        <p:spPr/>
        <p:txBody>
          <a:bodyPr/>
          <a:lstStyle/>
          <a:p>
            <a:fld id="{6264BDCF-5269-49AC-A246-ED26C2B980E3}" type="slidenum">
              <a:rPr lang="en-US" smtClean="0"/>
              <a:t>113</a:t>
            </a:fld>
            <a:endParaRPr lang="en-US"/>
          </a:p>
        </p:txBody>
      </p:sp>
    </p:spTree>
    <p:extLst>
      <p:ext uri="{BB962C8B-B14F-4D97-AF65-F5344CB8AC3E}">
        <p14:creationId xmlns:p14="http://schemas.microsoft.com/office/powerpoint/2010/main" val="175527321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24D4-178E-99B6-12F3-EB0DC0E1F150}"/>
              </a:ext>
            </a:extLst>
          </p:cNvPr>
          <p:cNvSpPr>
            <a:spLocks noGrp="1"/>
          </p:cNvSpPr>
          <p:nvPr>
            <p:ph type="title"/>
          </p:nvPr>
        </p:nvSpPr>
        <p:spPr/>
        <p:txBody>
          <a:bodyPr/>
          <a:lstStyle/>
          <a:p>
            <a:r>
              <a:rPr lang="en-US" dirty="0"/>
              <a:t>Notation for Query Graphs</a:t>
            </a:r>
          </a:p>
        </p:txBody>
      </p:sp>
      <p:sp>
        <p:nvSpPr>
          <p:cNvPr id="3" name="Content Placeholder 2">
            <a:extLst>
              <a:ext uri="{FF2B5EF4-FFF2-40B4-BE49-F238E27FC236}">
                <a16:creationId xmlns:a16="http://schemas.microsoft.com/office/drawing/2014/main" id="{271E0A68-5C20-31F1-80B1-D9DEE273E936}"/>
              </a:ext>
            </a:extLst>
          </p:cNvPr>
          <p:cNvSpPr>
            <a:spLocks noGrp="1"/>
          </p:cNvSpPr>
          <p:nvPr>
            <p:ph idx="1"/>
          </p:nvPr>
        </p:nvSpPr>
        <p:spPr>
          <a:xfrm>
            <a:off x="838200" y="1825625"/>
            <a:ext cx="10901516" cy="4351338"/>
          </a:xfrm>
        </p:spPr>
        <p:txBody>
          <a:bodyPr>
            <a:noAutofit/>
          </a:bodyPr>
          <a:lstStyle/>
          <a:p>
            <a:r>
              <a:rPr lang="en-US" sz="2700" dirty="0"/>
              <a:t>notation proposed to represent relational calculus queries that do not involve complex quantification in a graphical form - types of queries are known as </a:t>
            </a:r>
            <a:r>
              <a:rPr lang="en-US" sz="2700" b="1" dirty="0"/>
              <a:t>select-project-join queries </a:t>
            </a:r>
            <a:r>
              <a:rPr lang="en-US" sz="2700" dirty="0"/>
              <a:t>because they only involve these three relational algebra operations</a:t>
            </a:r>
          </a:p>
          <a:p>
            <a:r>
              <a:rPr lang="en-US" sz="2700" dirty="0"/>
              <a:t>notation may be expanded to more general queries</a:t>
            </a:r>
          </a:p>
          <a:p>
            <a:r>
              <a:rPr lang="en-US" sz="2700" dirty="0"/>
              <a:t>graphical representation of a query is called a </a:t>
            </a:r>
            <a:r>
              <a:rPr lang="en-US" sz="2700" b="1" dirty="0"/>
              <a:t>query graph</a:t>
            </a:r>
          </a:p>
          <a:p>
            <a:r>
              <a:rPr lang="en-US" sz="2700" dirty="0"/>
              <a:t>relations in query are represented by </a:t>
            </a:r>
            <a:r>
              <a:rPr lang="en-US" sz="2700" b="1" dirty="0"/>
              <a:t>relation nodes</a:t>
            </a:r>
            <a:r>
              <a:rPr lang="en-US" sz="2700" dirty="0"/>
              <a:t>, which are displayed as single circles</a:t>
            </a:r>
          </a:p>
          <a:p>
            <a:r>
              <a:rPr lang="en-US" sz="2700" dirty="0"/>
              <a:t>constant values, typically from query selection conditions, are represented by </a:t>
            </a:r>
            <a:r>
              <a:rPr lang="en-US" sz="2700" b="1" dirty="0"/>
              <a:t>constant nodes</a:t>
            </a:r>
            <a:r>
              <a:rPr lang="en-US" sz="2700" dirty="0"/>
              <a:t>, which are displayed as double circles or ovals</a:t>
            </a:r>
          </a:p>
        </p:txBody>
      </p:sp>
      <p:sp>
        <p:nvSpPr>
          <p:cNvPr id="4" name="Slide Number Placeholder 3">
            <a:extLst>
              <a:ext uri="{FF2B5EF4-FFF2-40B4-BE49-F238E27FC236}">
                <a16:creationId xmlns:a16="http://schemas.microsoft.com/office/drawing/2014/main" id="{026801A2-1635-75D1-98A1-4EC2D006D8D1}"/>
              </a:ext>
            </a:extLst>
          </p:cNvPr>
          <p:cNvSpPr>
            <a:spLocks noGrp="1"/>
          </p:cNvSpPr>
          <p:nvPr>
            <p:ph type="sldNum" sz="quarter" idx="12"/>
          </p:nvPr>
        </p:nvSpPr>
        <p:spPr/>
        <p:txBody>
          <a:bodyPr/>
          <a:lstStyle/>
          <a:p>
            <a:fld id="{6264BDCF-5269-49AC-A246-ED26C2B980E3}" type="slidenum">
              <a:rPr lang="en-US" smtClean="0"/>
              <a:t>114</a:t>
            </a:fld>
            <a:endParaRPr lang="en-US"/>
          </a:p>
        </p:txBody>
      </p:sp>
    </p:spTree>
    <p:extLst>
      <p:ext uri="{BB962C8B-B14F-4D97-AF65-F5344CB8AC3E}">
        <p14:creationId xmlns:p14="http://schemas.microsoft.com/office/powerpoint/2010/main" val="10620889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79F7-940A-D58D-B61A-FC5A5315DB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D9F822-8962-19F9-E415-A8DEFD66FBDC}"/>
              </a:ext>
            </a:extLst>
          </p:cNvPr>
          <p:cNvSpPr>
            <a:spLocks noGrp="1"/>
          </p:cNvSpPr>
          <p:nvPr>
            <p:ph idx="1"/>
          </p:nvPr>
        </p:nvSpPr>
        <p:spPr/>
        <p:txBody>
          <a:bodyPr/>
          <a:lstStyle/>
          <a:p>
            <a:r>
              <a:rPr lang="en-US" dirty="0"/>
              <a:t>selection and join conditions are represented by graph </a:t>
            </a:r>
            <a:r>
              <a:rPr lang="en-US" b="1" dirty="0"/>
              <a:t>edges </a:t>
            </a:r>
            <a:r>
              <a:rPr lang="en-US" dirty="0"/>
              <a:t>(lines that connect nodes)</a:t>
            </a:r>
          </a:p>
          <a:p>
            <a:r>
              <a:rPr lang="en-US" dirty="0"/>
              <a:t>attributes to be retrieved from each relation are displayed in square brackets above each relation</a:t>
            </a:r>
          </a:p>
          <a:p>
            <a:endParaRPr lang="en-US" dirty="0"/>
          </a:p>
        </p:txBody>
      </p:sp>
      <p:sp>
        <p:nvSpPr>
          <p:cNvPr id="4" name="Slide Number Placeholder 3">
            <a:extLst>
              <a:ext uri="{FF2B5EF4-FFF2-40B4-BE49-F238E27FC236}">
                <a16:creationId xmlns:a16="http://schemas.microsoft.com/office/drawing/2014/main" id="{C31E9CC6-2802-40E9-0443-38D7197FC022}"/>
              </a:ext>
            </a:extLst>
          </p:cNvPr>
          <p:cNvSpPr>
            <a:spLocks noGrp="1"/>
          </p:cNvSpPr>
          <p:nvPr>
            <p:ph type="sldNum" sz="quarter" idx="12"/>
          </p:nvPr>
        </p:nvSpPr>
        <p:spPr/>
        <p:txBody>
          <a:bodyPr/>
          <a:lstStyle/>
          <a:p>
            <a:fld id="{6264BDCF-5269-49AC-A246-ED26C2B980E3}" type="slidenum">
              <a:rPr lang="en-US" smtClean="0"/>
              <a:t>115</a:t>
            </a:fld>
            <a:endParaRPr lang="en-US"/>
          </a:p>
        </p:txBody>
      </p:sp>
      <p:pic>
        <p:nvPicPr>
          <p:cNvPr id="6" name="Picture 5">
            <a:extLst>
              <a:ext uri="{FF2B5EF4-FFF2-40B4-BE49-F238E27FC236}">
                <a16:creationId xmlns:a16="http://schemas.microsoft.com/office/drawing/2014/main" id="{D17EE6F8-6CAB-501D-1E7C-98BF76472586}"/>
              </a:ext>
            </a:extLst>
          </p:cNvPr>
          <p:cNvPicPr>
            <a:picLocks noChangeAspect="1"/>
          </p:cNvPicPr>
          <p:nvPr/>
        </p:nvPicPr>
        <p:blipFill>
          <a:blip r:embed="rId2"/>
          <a:stretch>
            <a:fillRect/>
          </a:stretch>
        </p:blipFill>
        <p:spPr>
          <a:xfrm>
            <a:off x="274320" y="3566160"/>
            <a:ext cx="9822726" cy="3053142"/>
          </a:xfrm>
          <a:prstGeom prst="rect">
            <a:avLst/>
          </a:prstGeom>
        </p:spPr>
      </p:pic>
    </p:spTree>
    <p:extLst>
      <p:ext uri="{BB962C8B-B14F-4D97-AF65-F5344CB8AC3E}">
        <p14:creationId xmlns:p14="http://schemas.microsoft.com/office/powerpoint/2010/main" val="13995192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5316-19D4-3507-99B0-23225A4431A5}"/>
              </a:ext>
            </a:extLst>
          </p:cNvPr>
          <p:cNvSpPr>
            <a:spLocks noGrp="1"/>
          </p:cNvSpPr>
          <p:nvPr>
            <p:ph type="title"/>
          </p:nvPr>
        </p:nvSpPr>
        <p:spPr>
          <a:xfrm>
            <a:off x="838200" y="365125"/>
            <a:ext cx="10515600" cy="1325563"/>
          </a:xfrm>
        </p:spPr>
        <p:txBody>
          <a:bodyPr>
            <a:normAutofit/>
          </a:bodyPr>
          <a:lstStyle/>
          <a:p>
            <a:r>
              <a:rPr lang="en-US" sz="4000" dirty="0"/>
              <a:t>Transforming Universal and Existential Quantifiers</a:t>
            </a:r>
          </a:p>
        </p:txBody>
      </p:sp>
      <p:sp>
        <p:nvSpPr>
          <p:cNvPr id="3" name="Content Placeholder 2">
            <a:extLst>
              <a:ext uri="{FF2B5EF4-FFF2-40B4-BE49-F238E27FC236}">
                <a16:creationId xmlns:a16="http://schemas.microsoft.com/office/drawing/2014/main" id="{E5B188BD-A683-4A9E-6B52-D641A6898904}"/>
              </a:ext>
            </a:extLst>
          </p:cNvPr>
          <p:cNvSpPr>
            <a:spLocks noGrp="1"/>
          </p:cNvSpPr>
          <p:nvPr>
            <p:ph idx="1"/>
          </p:nvPr>
        </p:nvSpPr>
        <p:spPr/>
        <p:txBody>
          <a:bodyPr>
            <a:noAutofit/>
          </a:bodyPr>
          <a:lstStyle/>
          <a:p>
            <a:r>
              <a:rPr lang="en-US" dirty="0"/>
              <a:t>(∀</a:t>
            </a:r>
            <a:r>
              <a:rPr lang="en-US" i="1" dirty="0"/>
              <a:t>x</a:t>
            </a:r>
            <a:r>
              <a:rPr lang="en-US" dirty="0"/>
              <a:t>) (</a:t>
            </a:r>
            <a:r>
              <a:rPr lang="en-US" i="1" dirty="0"/>
              <a:t>P</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a:t>
            </a:r>
          </a:p>
          <a:p>
            <a:r>
              <a:rPr lang="en-US" dirty="0"/>
              <a:t>(∃</a:t>
            </a:r>
            <a:r>
              <a:rPr lang="en-US" i="1" dirty="0"/>
              <a:t>x</a:t>
            </a:r>
            <a:r>
              <a:rPr lang="en-US" dirty="0"/>
              <a:t>) (</a:t>
            </a:r>
            <a:r>
              <a:rPr lang="en-US" i="1" dirty="0"/>
              <a:t>P</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a:t>
            </a:r>
          </a:p>
          <a:p>
            <a:r>
              <a:rPr lang="en-US" dirty="0"/>
              <a:t>(∀</a:t>
            </a:r>
            <a:r>
              <a:rPr lang="en-US" i="1" dirty="0"/>
              <a:t>x</a:t>
            </a:r>
            <a:r>
              <a:rPr lang="en-US" dirty="0"/>
              <a:t>) (</a:t>
            </a:r>
            <a:r>
              <a:rPr lang="en-US" i="1" dirty="0"/>
              <a:t>P</a:t>
            </a:r>
            <a:r>
              <a:rPr lang="en-US" dirty="0"/>
              <a:t>(</a:t>
            </a:r>
            <a:r>
              <a:rPr lang="en-US" i="1" dirty="0"/>
              <a:t>x</a:t>
            </a:r>
            <a:r>
              <a:rPr lang="en-US" dirty="0"/>
              <a:t>) </a:t>
            </a:r>
            <a:r>
              <a:rPr lang="en-US" b="1" dirty="0"/>
              <a:t>AND </a:t>
            </a:r>
            <a:r>
              <a:rPr lang="en-US" i="1" dirty="0"/>
              <a:t>Q</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 </a:t>
            </a:r>
            <a:r>
              <a:rPr lang="en-US" b="1" dirty="0"/>
              <a:t>OR NOT </a:t>
            </a:r>
            <a:r>
              <a:rPr lang="en-US" dirty="0"/>
              <a:t>(</a:t>
            </a:r>
            <a:r>
              <a:rPr lang="en-US" i="1" dirty="0"/>
              <a:t>Q</a:t>
            </a:r>
            <a:r>
              <a:rPr lang="en-US" dirty="0"/>
              <a:t>(</a:t>
            </a:r>
            <a:r>
              <a:rPr lang="en-US" i="1" dirty="0"/>
              <a:t>x</a:t>
            </a:r>
            <a:r>
              <a:rPr lang="en-US" dirty="0"/>
              <a:t>)))</a:t>
            </a:r>
          </a:p>
          <a:p>
            <a:r>
              <a:rPr lang="en-US" dirty="0"/>
              <a:t>(∀</a:t>
            </a:r>
            <a:r>
              <a:rPr lang="en-US" i="1" dirty="0"/>
              <a:t>x</a:t>
            </a:r>
            <a:r>
              <a:rPr lang="en-US" dirty="0"/>
              <a:t>) (</a:t>
            </a:r>
            <a:r>
              <a:rPr lang="en-US" i="1" dirty="0"/>
              <a:t>P</a:t>
            </a:r>
            <a:r>
              <a:rPr lang="en-US" dirty="0"/>
              <a:t>(</a:t>
            </a:r>
            <a:r>
              <a:rPr lang="en-US" i="1" dirty="0"/>
              <a:t>x</a:t>
            </a:r>
            <a:r>
              <a:rPr lang="en-US" dirty="0"/>
              <a:t>) </a:t>
            </a:r>
            <a:r>
              <a:rPr lang="en-US" b="1" dirty="0"/>
              <a:t>OR </a:t>
            </a:r>
            <a:r>
              <a:rPr lang="en-US" i="1" dirty="0"/>
              <a:t>Q</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 </a:t>
            </a:r>
            <a:r>
              <a:rPr lang="en-US" b="1" dirty="0"/>
              <a:t>AND NOT </a:t>
            </a:r>
            <a:r>
              <a:rPr lang="en-US" dirty="0"/>
              <a:t>(</a:t>
            </a:r>
            <a:r>
              <a:rPr lang="en-US" i="1" dirty="0"/>
              <a:t>Q</a:t>
            </a:r>
            <a:r>
              <a:rPr lang="en-US" dirty="0"/>
              <a:t>(</a:t>
            </a:r>
            <a:r>
              <a:rPr lang="en-US" i="1" dirty="0"/>
              <a:t>x</a:t>
            </a:r>
            <a:r>
              <a:rPr lang="en-US" dirty="0"/>
              <a:t>)))</a:t>
            </a:r>
          </a:p>
          <a:p>
            <a:r>
              <a:rPr lang="en-US" dirty="0"/>
              <a:t>(∃</a:t>
            </a:r>
            <a:r>
              <a:rPr lang="en-US" i="1" dirty="0"/>
              <a:t>x</a:t>
            </a:r>
            <a:r>
              <a:rPr lang="en-US" dirty="0"/>
              <a:t>) (</a:t>
            </a:r>
            <a:r>
              <a:rPr lang="en-US" i="1" dirty="0"/>
              <a:t>P</a:t>
            </a:r>
            <a:r>
              <a:rPr lang="en-US" dirty="0"/>
              <a:t>(</a:t>
            </a:r>
            <a:r>
              <a:rPr lang="en-US" i="1" dirty="0"/>
              <a:t>x</a:t>
            </a:r>
            <a:r>
              <a:rPr lang="en-US" dirty="0"/>
              <a:t>)) </a:t>
            </a:r>
            <a:r>
              <a:rPr lang="en-US" b="1" dirty="0"/>
              <a:t>OR </a:t>
            </a:r>
            <a:r>
              <a:rPr lang="en-US" i="1" dirty="0"/>
              <a:t>Q</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 </a:t>
            </a:r>
            <a:r>
              <a:rPr lang="en-US" b="1" dirty="0"/>
              <a:t>AND NOT </a:t>
            </a:r>
            <a:r>
              <a:rPr lang="en-US" dirty="0"/>
              <a:t>(</a:t>
            </a:r>
            <a:r>
              <a:rPr lang="en-US" i="1" dirty="0"/>
              <a:t>Q</a:t>
            </a:r>
            <a:r>
              <a:rPr lang="en-US" dirty="0"/>
              <a:t>(</a:t>
            </a:r>
            <a:r>
              <a:rPr lang="en-US" i="1" dirty="0"/>
              <a:t>x</a:t>
            </a:r>
            <a:r>
              <a:rPr lang="en-US" dirty="0"/>
              <a:t>)))</a:t>
            </a:r>
          </a:p>
          <a:p>
            <a:r>
              <a:rPr lang="en-US" dirty="0"/>
              <a:t>(∃</a:t>
            </a:r>
            <a:r>
              <a:rPr lang="en-US" i="1" dirty="0"/>
              <a:t>x</a:t>
            </a:r>
            <a:r>
              <a:rPr lang="en-US" dirty="0"/>
              <a:t>) (</a:t>
            </a:r>
            <a:r>
              <a:rPr lang="en-US" i="1" dirty="0"/>
              <a:t>P</a:t>
            </a:r>
            <a:r>
              <a:rPr lang="en-US" dirty="0"/>
              <a:t>(</a:t>
            </a:r>
            <a:r>
              <a:rPr lang="en-US" i="1" dirty="0"/>
              <a:t>x</a:t>
            </a:r>
            <a:r>
              <a:rPr lang="en-US" dirty="0"/>
              <a:t>) </a:t>
            </a:r>
            <a:r>
              <a:rPr lang="en-US" b="1" dirty="0"/>
              <a:t>AND </a:t>
            </a:r>
            <a:r>
              <a:rPr lang="en-US" i="1" dirty="0"/>
              <a:t>Q</a:t>
            </a:r>
            <a:r>
              <a:rPr lang="en-US" dirty="0"/>
              <a:t>(</a:t>
            </a:r>
            <a:r>
              <a:rPr lang="en-US" i="1" dirty="0"/>
              <a:t>x</a:t>
            </a:r>
            <a:r>
              <a:rPr lang="en-US" dirty="0"/>
              <a:t>)) ≡ </a:t>
            </a:r>
            <a:r>
              <a:rPr lang="en-US" b="1" dirty="0"/>
              <a:t>NOT </a:t>
            </a:r>
            <a:r>
              <a:rPr lang="en-US" dirty="0"/>
              <a:t>(∀</a:t>
            </a:r>
            <a:r>
              <a:rPr lang="en-US" i="1" dirty="0"/>
              <a:t>x</a:t>
            </a:r>
            <a:r>
              <a:rPr lang="en-US" dirty="0"/>
              <a:t>) (</a:t>
            </a:r>
            <a:r>
              <a:rPr lang="en-US" b="1" dirty="0"/>
              <a:t>NOT </a:t>
            </a:r>
            <a:r>
              <a:rPr lang="en-US" dirty="0"/>
              <a:t>(</a:t>
            </a:r>
            <a:r>
              <a:rPr lang="en-US" i="1" dirty="0"/>
              <a:t>P</a:t>
            </a:r>
            <a:r>
              <a:rPr lang="en-US" dirty="0"/>
              <a:t>(</a:t>
            </a:r>
            <a:r>
              <a:rPr lang="en-US" i="1" dirty="0"/>
              <a:t>x</a:t>
            </a:r>
            <a:r>
              <a:rPr lang="en-US" dirty="0"/>
              <a:t>)) </a:t>
            </a:r>
            <a:r>
              <a:rPr lang="en-US" b="1" dirty="0"/>
              <a:t>OR NOT </a:t>
            </a:r>
            <a:r>
              <a:rPr lang="en-US" dirty="0"/>
              <a:t>(</a:t>
            </a:r>
            <a:r>
              <a:rPr lang="en-US" i="1" dirty="0"/>
              <a:t>Q</a:t>
            </a:r>
            <a:r>
              <a:rPr lang="en-US" dirty="0"/>
              <a:t>(</a:t>
            </a:r>
            <a:r>
              <a:rPr lang="en-US" i="1" dirty="0"/>
              <a:t>x</a:t>
            </a:r>
            <a:r>
              <a:rPr lang="en-US" dirty="0"/>
              <a:t>)))</a:t>
            </a:r>
          </a:p>
          <a:p>
            <a:endParaRPr lang="en-US" dirty="0"/>
          </a:p>
        </p:txBody>
      </p:sp>
      <p:sp>
        <p:nvSpPr>
          <p:cNvPr id="4" name="Slide Number Placeholder 3">
            <a:extLst>
              <a:ext uri="{FF2B5EF4-FFF2-40B4-BE49-F238E27FC236}">
                <a16:creationId xmlns:a16="http://schemas.microsoft.com/office/drawing/2014/main" id="{E01EC4DA-9D21-50CD-CC81-4B37C5146B72}"/>
              </a:ext>
            </a:extLst>
          </p:cNvPr>
          <p:cNvSpPr>
            <a:spLocks noGrp="1"/>
          </p:cNvSpPr>
          <p:nvPr>
            <p:ph type="sldNum" sz="quarter" idx="12"/>
          </p:nvPr>
        </p:nvSpPr>
        <p:spPr/>
        <p:txBody>
          <a:bodyPr/>
          <a:lstStyle/>
          <a:p>
            <a:fld id="{6264BDCF-5269-49AC-A246-ED26C2B980E3}" type="slidenum">
              <a:rPr lang="en-US" smtClean="0"/>
              <a:t>116</a:t>
            </a:fld>
            <a:endParaRPr lang="en-US"/>
          </a:p>
        </p:txBody>
      </p:sp>
    </p:spTree>
    <p:extLst>
      <p:ext uri="{BB962C8B-B14F-4D97-AF65-F5344CB8AC3E}">
        <p14:creationId xmlns:p14="http://schemas.microsoft.com/office/powerpoint/2010/main" val="15225397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6C62-344E-0CC3-386C-9EDF5D7EB2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5255E4-444D-C89D-FF56-03AD0C8DDE04}"/>
              </a:ext>
            </a:extLst>
          </p:cNvPr>
          <p:cNvSpPr>
            <a:spLocks noGrp="1"/>
          </p:cNvSpPr>
          <p:nvPr>
            <p:ph idx="1"/>
          </p:nvPr>
        </p:nvSpPr>
        <p:spPr/>
        <p:txBody>
          <a:bodyPr/>
          <a:lstStyle/>
          <a:p>
            <a:r>
              <a:rPr lang="en-US" dirty="0"/>
              <a:t>(∀</a:t>
            </a:r>
            <a:r>
              <a:rPr lang="en-US" i="1" dirty="0"/>
              <a:t>x</a:t>
            </a:r>
            <a:r>
              <a:rPr lang="en-US" dirty="0"/>
              <a:t>)(</a:t>
            </a:r>
            <a:r>
              <a:rPr lang="en-US" i="1" dirty="0"/>
              <a:t>P</a:t>
            </a:r>
            <a:r>
              <a:rPr lang="en-US" dirty="0"/>
              <a:t>(</a:t>
            </a:r>
            <a:r>
              <a:rPr lang="en-US" i="1" dirty="0"/>
              <a:t>x</a:t>
            </a:r>
            <a:r>
              <a:rPr lang="en-US" dirty="0"/>
              <a:t>)) ⇒ (∃</a:t>
            </a:r>
            <a:r>
              <a:rPr lang="en-US" i="1" dirty="0"/>
              <a:t>x</a:t>
            </a:r>
            <a:r>
              <a:rPr lang="en-US" dirty="0"/>
              <a:t>)(</a:t>
            </a:r>
            <a:r>
              <a:rPr lang="en-US" i="1" dirty="0"/>
              <a:t>P</a:t>
            </a:r>
            <a:r>
              <a:rPr lang="en-US" dirty="0"/>
              <a:t>(</a:t>
            </a:r>
            <a:r>
              <a:rPr lang="en-US" i="1" dirty="0"/>
              <a:t>x</a:t>
            </a:r>
            <a:r>
              <a:rPr lang="en-US" dirty="0"/>
              <a:t>))</a:t>
            </a:r>
          </a:p>
          <a:p>
            <a:r>
              <a:rPr lang="en-US" b="1" dirty="0"/>
              <a:t>NOT </a:t>
            </a:r>
            <a:r>
              <a:rPr lang="en-US" dirty="0"/>
              <a:t>(∃</a:t>
            </a:r>
            <a:r>
              <a:rPr lang="en-US" i="1" dirty="0"/>
              <a:t>x</a:t>
            </a:r>
            <a:r>
              <a:rPr lang="en-US" dirty="0"/>
              <a:t>)(</a:t>
            </a:r>
            <a:r>
              <a:rPr lang="en-US" i="1" dirty="0"/>
              <a:t>P</a:t>
            </a:r>
            <a:r>
              <a:rPr lang="en-US" dirty="0"/>
              <a:t>(</a:t>
            </a:r>
            <a:r>
              <a:rPr lang="en-US" i="1" dirty="0"/>
              <a:t>x</a:t>
            </a:r>
            <a:r>
              <a:rPr lang="en-US" dirty="0"/>
              <a:t>)) ⇒ </a:t>
            </a:r>
            <a:r>
              <a:rPr lang="en-US" b="1" dirty="0"/>
              <a:t>NOT </a:t>
            </a:r>
            <a:r>
              <a:rPr lang="en-US" dirty="0"/>
              <a:t>(∀</a:t>
            </a:r>
            <a:r>
              <a:rPr lang="en-US" i="1" dirty="0"/>
              <a:t>x</a:t>
            </a:r>
            <a:r>
              <a:rPr lang="en-US" dirty="0"/>
              <a:t>)(</a:t>
            </a:r>
            <a:r>
              <a:rPr lang="en-US" i="1" dirty="0"/>
              <a:t>P</a:t>
            </a:r>
            <a:r>
              <a:rPr lang="en-US" dirty="0"/>
              <a:t>(</a:t>
            </a:r>
            <a:r>
              <a:rPr lang="en-US" i="1" dirty="0"/>
              <a:t>x</a:t>
            </a:r>
            <a:r>
              <a:rPr lang="en-US" dirty="0"/>
              <a:t>))</a:t>
            </a:r>
          </a:p>
          <a:p>
            <a:endParaRPr lang="en-US" dirty="0"/>
          </a:p>
        </p:txBody>
      </p:sp>
      <p:sp>
        <p:nvSpPr>
          <p:cNvPr id="4" name="Slide Number Placeholder 3">
            <a:extLst>
              <a:ext uri="{FF2B5EF4-FFF2-40B4-BE49-F238E27FC236}">
                <a16:creationId xmlns:a16="http://schemas.microsoft.com/office/drawing/2014/main" id="{13D30B46-38AD-23DC-99BC-74319909CD9A}"/>
              </a:ext>
            </a:extLst>
          </p:cNvPr>
          <p:cNvSpPr>
            <a:spLocks noGrp="1"/>
          </p:cNvSpPr>
          <p:nvPr>
            <p:ph type="sldNum" sz="quarter" idx="12"/>
          </p:nvPr>
        </p:nvSpPr>
        <p:spPr/>
        <p:txBody>
          <a:bodyPr/>
          <a:lstStyle/>
          <a:p>
            <a:fld id="{6264BDCF-5269-49AC-A246-ED26C2B980E3}" type="slidenum">
              <a:rPr lang="en-US" smtClean="0"/>
              <a:t>117</a:t>
            </a:fld>
            <a:endParaRPr lang="en-US"/>
          </a:p>
        </p:txBody>
      </p:sp>
    </p:spTree>
    <p:extLst>
      <p:ext uri="{BB962C8B-B14F-4D97-AF65-F5344CB8AC3E}">
        <p14:creationId xmlns:p14="http://schemas.microsoft.com/office/powerpoint/2010/main" val="4277451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E090-B141-8149-5616-3901FD7106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505475-932C-92F3-90C3-3CAEECF05BDB}"/>
              </a:ext>
            </a:extLst>
          </p:cNvPr>
          <p:cNvSpPr>
            <a:spLocks noGrp="1"/>
          </p:cNvSpPr>
          <p:nvPr>
            <p:ph idx="1"/>
          </p:nvPr>
        </p:nvSpPr>
        <p:spPr/>
        <p:txBody>
          <a:bodyPr/>
          <a:lstStyle/>
          <a:p>
            <a:r>
              <a:rPr lang="en-US" dirty="0"/>
              <a:t>List the names of employees who work on all the projects controlled by department number 5</a:t>
            </a:r>
          </a:p>
          <a:p>
            <a:r>
              <a:rPr lang="en-US" dirty="0"/>
              <a:t>{</a:t>
            </a:r>
            <a:r>
              <a:rPr lang="en-US" dirty="0" err="1"/>
              <a:t>e.Lname</a:t>
            </a:r>
            <a:r>
              <a:rPr lang="en-US" dirty="0"/>
              <a:t>, </a:t>
            </a:r>
            <a:r>
              <a:rPr lang="en-US" dirty="0" err="1"/>
              <a:t>e.Fname</a:t>
            </a:r>
            <a:r>
              <a:rPr lang="en-US" dirty="0"/>
              <a:t> | EMPLOYEE(e) AND ((∀x)(NOT(PROJECT(x)) OR NOT (</a:t>
            </a:r>
            <a:r>
              <a:rPr lang="en-US" dirty="0" err="1"/>
              <a:t>x.Dnum</a:t>
            </a:r>
            <a:r>
              <a:rPr lang="en-US" dirty="0"/>
              <a:t>=5) OR ((∃w)(WORKS_ON(w) AND </a:t>
            </a:r>
            <a:r>
              <a:rPr lang="en-US" dirty="0" err="1"/>
              <a:t>w.Essn</a:t>
            </a:r>
            <a:r>
              <a:rPr lang="en-US" dirty="0"/>
              <a:t>=</a:t>
            </a:r>
            <a:r>
              <a:rPr lang="en-US" dirty="0" err="1"/>
              <a:t>e.Ssn</a:t>
            </a:r>
            <a:r>
              <a:rPr lang="en-US" dirty="0"/>
              <a:t> AND </a:t>
            </a:r>
            <a:r>
              <a:rPr lang="en-US" dirty="0" err="1"/>
              <a:t>x.Pnumber</a:t>
            </a:r>
            <a:r>
              <a:rPr lang="en-US" dirty="0"/>
              <a:t>=</a:t>
            </a:r>
            <a:r>
              <a:rPr lang="en-US" dirty="0" err="1"/>
              <a:t>w.Pno</a:t>
            </a:r>
            <a:r>
              <a:rPr lang="en-US" dirty="0"/>
              <a:t>))))}</a:t>
            </a:r>
          </a:p>
          <a:p>
            <a:endParaRPr lang="en-US" dirty="0"/>
          </a:p>
        </p:txBody>
      </p:sp>
      <p:sp>
        <p:nvSpPr>
          <p:cNvPr id="4" name="Slide Number Placeholder 3">
            <a:extLst>
              <a:ext uri="{FF2B5EF4-FFF2-40B4-BE49-F238E27FC236}">
                <a16:creationId xmlns:a16="http://schemas.microsoft.com/office/drawing/2014/main" id="{2C6A1157-C799-C116-2E80-3DF9EFF062E4}"/>
              </a:ext>
            </a:extLst>
          </p:cNvPr>
          <p:cNvSpPr>
            <a:spLocks noGrp="1"/>
          </p:cNvSpPr>
          <p:nvPr>
            <p:ph type="sldNum" sz="quarter" idx="12"/>
          </p:nvPr>
        </p:nvSpPr>
        <p:spPr/>
        <p:txBody>
          <a:bodyPr/>
          <a:lstStyle/>
          <a:p>
            <a:fld id="{6264BDCF-5269-49AC-A246-ED26C2B980E3}" type="slidenum">
              <a:rPr lang="en-US" smtClean="0"/>
              <a:t>118</a:t>
            </a:fld>
            <a:endParaRPr lang="en-US"/>
          </a:p>
        </p:txBody>
      </p:sp>
    </p:spTree>
    <p:extLst>
      <p:ext uri="{BB962C8B-B14F-4D97-AF65-F5344CB8AC3E}">
        <p14:creationId xmlns:p14="http://schemas.microsoft.com/office/powerpoint/2010/main" val="6212795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5B21-8064-D6CC-311E-A4FAA7E058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B2911E-2B9D-E6B9-E670-49999B7ED02E}"/>
              </a:ext>
            </a:extLst>
          </p:cNvPr>
          <p:cNvSpPr>
            <a:spLocks noGrp="1"/>
          </p:cNvSpPr>
          <p:nvPr>
            <p:ph idx="1"/>
          </p:nvPr>
        </p:nvSpPr>
        <p:spPr/>
        <p:txBody>
          <a:bodyPr/>
          <a:lstStyle/>
          <a:p>
            <a:r>
              <a:rPr lang="en-US" dirty="0"/>
              <a:t>List the names of employees who have no dependents.</a:t>
            </a:r>
          </a:p>
          <a:p>
            <a:r>
              <a:rPr lang="en-US" dirty="0"/>
              <a:t>{</a:t>
            </a:r>
            <a:r>
              <a:rPr lang="en-US" i="1" dirty="0" err="1"/>
              <a:t>e</a:t>
            </a:r>
            <a:r>
              <a:rPr lang="en-US" dirty="0" err="1"/>
              <a:t>.Fname</a:t>
            </a:r>
            <a:r>
              <a:rPr lang="en-US" dirty="0"/>
              <a:t>, </a:t>
            </a:r>
            <a:r>
              <a:rPr lang="en-US" i="1" dirty="0" err="1"/>
              <a:t>e</a:t>
            </a:r>
            <a:r>
              <a:rPr lang="en-US" dirty="0" err="1"/>
              <a:t>.Lname</a:t>
            </a:r>
            <a:r>
              <a:rPr lang="en-US" dirty="0"/>
              <a:t> | EMPLOYEE(</a:t>
            </a:r>
            <a:r>
              <a:rPr lang="en-US" i="1" dirty="0"/>
              <a:t>e</a:t>
            </a:r>
            <a:r>
              <a:rPr lang="en-US" dirty="0"/>
              <a:t>) </a:t>
            </a:r>
            <a:r>
              <a:rPr lang="en-US" b="1" dirty="0"/>
              <a:t>AND </a:t>
            </a:r>
            <a:r>
              <a:rPr lang="en-US" dirty="0"/>
              <a:t>(</a:t>
            </a:r>
            <a:r>
              <a:rPr lang="en-US" b="1" dirty="0"/>
              <a:t>NOT </a:t>
            </a:r>
            <a:r>
              <a:rPr lang="en-US" dirty="0"/>
              <a:t>(∃</a:t>
            </a:r>
            <a:r>
              <a:rPr lang="en-US" i="1" dirty="0"/>
              <a:t>d</a:t>
            </a:r>
            <a:r>
              <a:rPr lang="en-US" dirty="0"/>
              <a:t>)(DEPENDENT(</a:t>
            </a:r>
            <a:r>
              <a:rPr lang="en-US" i="1" dirty="0"/>
              <a:t>d</a:t>
            </a:r>
            <a:r>
              <a:rPr lang="en-US" dirty="0"/>
              <a:t>) </a:t>
            </a:r>
            <a:r>
              <a:rPr lang="en-US" b="1" dirty="0"/>
              <a:t>AND </a:t>
            </a:r>
            <a:r>
              <a:rPr lang="en-US" i="1" dirty="0" err="1"/>
              <a:t>e</a:t>
            </a:r>
            <a:r>
              <a:rPr lang="en-US" dirty="0" err="1"/>
              <a:t>.Ssn</a:t>
            </a:r>
            <a:r>
              <a:rPr lang="en-US" dirty="0"/>
              <a:t>=</a:t>
            </a:r>
            <a:r>
              <a:rPr lang="en-US" i="1" dirty="0" err="1"/>
              <a:t>d</a:t>
            </a:r>
            <a:r>
              <a:rPr lang="en-US" dirty="0" err="1"/>
              <a:t>.Essn</a:t>
            </a:r>
            <a:r>
              <a:rPr lang="en-US" dirty="0"/>
              <a:t>))}</a:t>
            </a:r>
          </a:p>
          <a:p>
            <a:r>
              <a:rPr lang="en-US" dirty="0"/>
              <a:t>{</a:t>
            </a:r>
            <a:r>
              <a:rPr lang="en-US" i="1" dirty="0" err="1"/>
              <a:t>e</a:t>
            </a:r>
            <a:r>
              <a:rPr lang="en-US" dirty="0" err="1"/>
              <a:t>.Fname</a:t>
            </a:r>
            <a:r>
              <a:rPr lang="en-US" dirty="0"/>
              <a:t>, </a:t>
            </a:r>
            <a:r>
              <a:rPr lang="en-US" i="1" dirty="0" err="1"/>
              <a:t>e</a:t>
            </a:r>
            <a:r>
              <a:rPr lang="en-US" dirty="0" err="1"/>
              <a:t>.Lname</a:t>
            </a:r>
            <a:r>
              <a:rPr lang="en-US" dirty="0"/>
              <a:t> | EMPLOYEE(</a:t>
            </a:r>
            <a:r>
              <a:rPr lang="en-US" i="1" dirty="0"/>
              <a:t>e</a:t>
            </a:r>
            <a:r>
              <a:rPr lang="en-US" dirty="0"/>
              <a:t>) </a:t>
            </a:r>
            <a:r>
              <a:rPr lang="en-US" b="1" dirty="0"/>
              <a:t>AND </a:t>
            </a:r>
            <a:r>
              <a:rPr lang="en-US" dirty="0"/>
              <a:t>((∀</a:t>
            </a:r>
            <a:r>
              <a:rPr lang="en-US" i="1" dirty="0"/>
              <a:t>d</a:t>
            </a:r>
            <a:r>
              <a:rPr lang="en-US" dirty="0"/>
              <a:t>)(</a:t>
            </a:r>
            <a:r>
              <a:rPr lang="en-US" b="1" dirty="0"/>
              <a:t>NOT</a:t>
            </a:r>
            <a:r>
              <a:rPr lang="en-US" dirty="0"/>
              <a:t>(DEPENDENT(</a:t>
            </a:r>
            <a:r>
              <a:rPr lang="en-US" i="1" dirty="0"/>
              <a:t>d</a:t>
            </a:r>
            <a:r>
              <a:rPr lang="en-US" dirty="0"/>
              <a:t>)) </a:t>
            </a:r>
            <a:r>
              <a:rPr lang="en-US" b="1" dirty="0"/>
              <a:t>OR NOT</a:t>
            </a:r>
            <a:r>
              <a:rPr lang="en-US" dirty="0"/>
              <a:t>(</a:t>
            </a:r>
            <a:r>
              <a:rPr lang="en-US" i="1" dirty="0" err="1"/>
              <a:t>e</a:t>
            </a:r>
            <a:r>
              <a:rPr lang="en-US" dirty="0" err="1"/>
              <a:t>.Ssn</a:t>
            </a:r>
            <a:r>
              <a:rPr lang="en-US" dirty="0"/>
              <a:t>=</a:t>
            </a:r>
            <a:r>
              <a:rPr lang="en-US" i="1" dirty="0" err="1"/>
              <a:t>d</a:t>
            </a:r>
            <a:r>
              <a:rPr lang="en-US" dirty="0" err="1"/>
              <a:t>.Essn</a:t>
            </a:r>
            <a:r>
              <a:rPr lang="en-US" dirty="0"/>
              <a:t>)))}</a:t>
            </a:r>
          </a:p>
          <a:p>
            <a:endParaRPr lang="en-US" dirty="0"/>
          </a:p>
        </p:txBody>
      </p:sp>
      <p:sp>
        <p:nvSpPr>
          <p:cNvPr id="4" name="Slide Number Placeholder 3">
            <a:extLst>
              <a:ext uri="{FF2B5EF4-FFF2-40B4-BE49-F238E27FC236}">
                <a16:creationId xmlns:a16="http://schemas.microsoft.com/office/drawing/2014/main" id="{AC363829-C22D-40CE-991B-43427AD7F0D2}"/>
              </a:ext>
            </a:extLst>
          </p:cNvPr>
          <p:cNvSpPr>
            <a:spLocks noGrp="1"/>
          </p:cNvSpPr>
          <p:nvPr>
            <p:ph type="sldNum" sz="quarter" idx="12"/>
          </p:nvPr>
        </p:nvSpPr>
        <p:spPr/>
        <p:txBody>
          <a:bodyPr/>
          <a:lstStyle/>
          <a:p>
            <a:fld id="{6264BDCF-5269-49AC-A246-ED26C2B980E3}" type="slidenum">
              <a:rPr lang="en-US" smtClean="0"/>
              <a:t>119</a:t>
            </a:fld>
            <a:endParaRPr lang="en-US"/>
          </a:p>
        </p:txBody>
      </p:sp>
    </p:spTree>
    <p:extLst>
      <p:ext uri="{BB962C8B-B14F-4D97-AF65-F5344CB8AC3E}">
        <p14:creationId xmlns:p14="http://schemas.microsoft.com/office/powerpoint/2010/main" val="9316184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9143-ED48-BDA8-5F27-A49AD879E77E}"/>
              </a:ext>
            </a:extLst>
          </p:cNvPr>
          <p:cNvSpPr>
            <a:spLocks noGrp="1"/>
          </p:cNvSpPr>
          <p:nvPr>
            <p:ph type="title"/>
          </p:nvPr>
        </p:nvSpPr>
        <p:spPr/>
        <p:txBody>
          <a:bodyPr/>
          <a:lstStyle/>
          <a:p>
            <a:r>
              <a:rPr lang="en-US" b="1" dirty="0"/>
              <a:t>Safe Expressions</a:t>
            </a:r>
          </a:p>
        </p:txBody>
      </p:sp>
      <p:sp>
        <p:nvSpPr>
          <p:cNvPr id="3" name="Content Placeholder 2">
            <a:extLst>
              <a:ext uri="{FF2B5EF4-FFF2-40B4-BE49-F238E27FC236}">
                <a16:creationId xmlns:a16="http://schemas.microsoft.com/office/drawing/2014/main" id="{BD3CF1F5-DDB3-F187-17CB-A561E568D5B3}"/>
              </a:ext>
            </a:extLst>
          </p:cNvPr>
          <p:cNvSpPr>
            <a:spLocks noGrp="1"/>
          </p:cNvSpPr>
          <p:nvPr>
            <p:ph idx="1"/>
          </p:nvPr>
        </p:nvSpPr>
        <p:spPr/>
        <p:txBody>
          <a:bodyPr>
            <a:noAutofit/>
          </a:bodyPr>
          <a:lstStyle/>
          <a:p>
            <a:r>
              <a:rPr lang="en-US" dirty="0"/>
              <a:t>whenever we use universal quantifiers, existential quantifiers, or negation of predicates in a calculus expression, we must make sure that the resulting expression makes sense</a:t>
            </a:r>
          </a:p>
          <a:p>
            <a:r>
              <a:rPr lang="en-US" dirty="0"/>
              <a:t>a </a:t>
            </a:r>
            <a:r>
              <a:rPr lang="en-US" b="1" dirty="0"/>
              <a:t>safe expression </a:t>
            </a:r>
            <a:r>
              <a:rPr lang="en-US" dirty="0"/>
              <a:t>in relational calculus is one that is guaranteed to yield a </a:t>
            </a:r>
            <a:r>
              <a:rPr lang="en-US" i="1" dirty="0"/>
              <a:t>finite number of tuples </a:t>
            </a:r>
            <a:r>
              <a:rPr lang="en-US" dirty="0"/>
              <a:t>as its result; otherwise, expression is called </a:t>
            </a:r>
            <a:r>
              <a:rPr lang="en-US" b="1" dirty="0"/>
              <a:t>unsafe</a:t>
            </a:r>
            <a:r>
              <a:rPr lang="en-US" dirty="0"/>
              <a:t>.</a:t>
            </a:r>
          </a:p>
          <a:p>
            <a:r>
              <a:rPr lang="en-US" dirty="0"/>
              <a:t>for example, the expression</a:t>
            </a:r>
          </a:p>
          <a:p>
            <a:r>
              <a:rPr lang="en-US" dirty="0"/>
              <a:t>{</a:t>
            </a:r>
            <a:r>
              <a:rPr lang="en-US" i="1" dirty="0"/>
              <a:t>t </a:t>
            </a:r>
            <a:r>
              <a:rPr lang="en-US" dirty="0"/>
              <a:t>| </a:t>
            </a:r>
            <a:r>
              <a:rPr lang="en-US" b="1" dirty="0"/>
              <a:t>NOT </a:t>
            </a:r>
            <a:r>
              <a:rPr lang="en-US" dirty="0"/>
              <a:t>(EMPLOYEE(</a:t>
            </a:r>
            <a:r>
              <a:rPr lang="en-US" i="1" dirty="0"/>
              <a:t>t</a:t>
            </a:r>
            <a:r>
              <a:rPr lang="en-US" dirty="0"/>
              <a:t>))}</a:t>
            </a:r>
          </a:p>
          <a:p>
            <a:r>
              <a:rPr lang="en-US" dirty="0"/>
              <a:t>is </a:t>
            </a:r>
            <a:r>
              <a:rPr lang="en-US" i="1" dirty="0"/>
              <a:t>unsafe </a:t>
            </a:r>
            <a:r>
              <a:rPr lang="en-US" dirty="0"/>
              <a:t>because it yields all tuples in the universe that are </a:t>
            </a:r>
            <a:r>
              <a:rPr lang="en-US" i="1" dirty="0"/>
              <a:t>not </a:t>
            </a:r>
            <a:r>
              <a:rPr lang="en-US" dirty="0"/>
              <a:t>EMPLOYEE tuples, which are infinitely numerous</a:t>
            </a:r>
          </a:p>
        </p:txBody>
      </p:sp>
      <p:sp>
        <p:nvSpPr>
          <p:cNvPr id="4" name="Slide Number Placeholder 3">
            <a:extLst>
              <a:ext uri="{FF2B5EF4-FFF2-40B4-BE49-F238E27FC236}">
                <a16:creationId xmlns:a16="http://schemas.microsoft.com/office/drawing/2014/main" id="{DF1133F0-B721-9AF2-A4BE-0D6812BF1137}"/>
              </a:ext>
            </a:extLst>
          </p:cNvPr>
          <p:cNvSpPr>
            <a:spLocks noGrp="1"/>
          </p:cNvSpPr>
          <p:nvPr>
            <p:ph type="sldNum" sz="quarter" idx="12"/>
          </p:nvPr>
        </p:nvSpPr>
        <p:spPr/>
        <p:txBody>
          <a:bodyPr/>
          <a:lstStyle/>
          <a:p>
            <a:fld id="{6264BDCF-5269-49AC-A246-ED26C2B980E3}" type="slidenum">
              <a:rPr lang="en-US" smtClean="0"/>
              <a:t>120</a:t>
            </a:fld>
            <a:endParaRPr lang="en-US"/>
          </a:p>
        </p:txBody>
      </p:sp>
    </p:spTree>
    <p:extLst>
      <p:ext uri="{BB962C8B-B14F-4D97-AF65-F5344CB8AC3E}">
        <p14:creationId xmlns:p14="http://schemas.microsoft.com/office/powerpoint/2010/main" val="322600452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41762-B8DA-4D95-B501-3515A88B67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41928C6-49F5-215C-DC1C-B8486E452FDE}"/>
              </a:ext>
            </a:extLst>
          </p:cNvPr>
          <p:cNvSpPr>
            <a:spLocks noGrp="1"/>
          </p:cNvSpPr>
          <p:nvPr>
            <p:ph type="title"/>
          </p:nvPr>
        </p:nvSpPr>
        <p:spPr/>
        <p:txBody>
          <a:bodyPr/>
          <a:lstStyle/>
          <a:p>
            <a:r>
              <a:rPr lang="en-US" dirty="0"/>
              <a:t>Domain Relational Calculus</a:t>
            </a:r>
          </a:p>
        </p:txBody>
      </p:sp>
      <p:sp>
        <p:nvSpPr>
          <p:cNvPr id="6" name="Text Placeholder 5">
            <a:extLst>
              <a:ext uri="{FF2B5EF4-FFF2-40B4-BE49-F238E27FC236}">
                <a16:creationId xmlns:a16="http://schemas.microsoft.com/office/drawing/2014/main" id="{4F50C006-4AD0-A099-4B2E-20FD5DECF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9CC8A-171D-9F07-EA1B-AE05DDDC590A}"/>
              </a:ext>
            </a:extLst>
          </p:cNvPr>
          <p:cNvSpPr>
            <a:spLocks noGrp="1"/>
          </p:cNvSpPr>
          <p:nvPr>
            <p:ph type="sldNum" sz="quarter" idx="12"/>
          </p:nvPr>
        </p:nvSpPr>
        <p:spPr/>
        <p:txBody>
          <a:bodyPr/>
          <a:lstStyle/>
          <a:p>
            <a:fld id="{6264BDCF-5269-49AC-A246-ED26C2B980E3}" type="slidenum">
              <a:rPr lang="en-US" smtClean="0"/>
              <a:t>121</a:t>
            </a:fld>
            <a:endParaRPr lang="en-US"/>
          </a:p>
        </p:txBody>
      </p:sp>
    </p:spTree>
    <p:extLst>
      <p:ext uri="{BB962C8B-B14F-4D97-AF65-F5344CB8AC3E}">
        <p14:creationId xmlns:p14="http://schemas.microsoft.com/office/powerpoint/2010/main" val="299541764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3F3B-7928-8F65-EB26-2FF431521A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9709662-DA15-4D9E-F801-322883414CFE}"/>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BD81DDD9-6E7A-D80C-5DE7-2FAE91944D4F}"/>
              </a:ext>
            </a:extLst>
          </p:cNvPr>
          <p:cNvSpPr>
            <a:spLocks noGrp="1"/>
          </p:cNvSpPr>
          <p:nvPr>
            <p:ph idx="1"/>
          </p:nvPr>
        </p:nvSpPr>
        <p:spPr/>
        <p:txBody>
          <a:bodyPr>
            <a:normAutofit/>
          </a:bodyPr>
          <a:lstStyle/>
          <a:p>
            <a:r>
              <a:rPr lang="en-US" dirty="0"/>
              <a:t>Historically, while SQL was based on tuple relational calculus, was being developed by IBM Research at San Jose, California, another language called </a:t>
            </a:r>
            <a:r>
              <a:rPr lang="en-US" b="1" dirty="0"/>
              <a:t>QBE (Query-By-Example)</a:t>
            </a:r>
            <a:r>
              <a:rPr lang="en-US" dirty="0"/>
              <a:t>, which is related to domain calculus, was being developed almost concurrently at IBM T. J. Watson Research Center in Yorktown Heights, New York</a:t>
            </a:r>
          </a:p>
          <a:p>
            <a:r>
              <a:rPr lang="en-US" dirty="0"/>
              <a:t>formal specification of domain calculus was proposed after the development of the QBE language and system</a:t>
            </a:r>
          </a:p>
        </p:txBody>
      </p:sp>
      <p:sp>
        <p:nvSpPr>
          <p:cNvPr id="4" name="Slide Number Placeholder 3">
            <a:extLst>
              <a:ext uri="{FF2B5EF4-FFF2-40B4-BE49-F238E27FC236}">
                <a16:creationId xmlns:a16="http://schemas.microsoft.com/office/drawing/2014/main" id="{AAC20424-4BBE-C953-A8C3-A259E64FC077}"/>
              </a:ext>
            </a:extLst>
          </p:cNvPr>
          <p:cNvSpPr>
            <a:spLocks noGrp="1"/>
          </p:cNvSpPr>
          <p:nvPr>
            <p:ph type="sldNum" sz="quarter" idx="12"/>
          </p:nvPr>
        </p:nvSpPr>
        <p:spPr/>
        <p:txBody>
          <a:bodyPr/>
          <a:lstStyle/>
          <a:p>
            <a:fld id="{6264BDCF-5269-49AC-A246-ED26C2B980E3}" type="slidenum">
              <a:rPr lang="en-US" smtClean="0"/>
              <a:t>122</a:t>
            </a:fld>
            <a:endParaRPr lang="en-US"/>
          </a:p>
        </p:txBody>
      </p:sp>
    </p:spTree>
    <p:extLst>
      <p:ext uri="{BB962C8B-B14F-4D97-AF65-F5344CB8AC3E}">
        <p14:creationId xmlns:p14="http://schemas.microsoft.com/office/powerpoint/2010/main" val="15021938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47B9-CDD2-3321-8472-9952599C0A58}"/>
              </a:ext>
            </a:extLst>
          </p:cNvPr>
          <p:cNvSpPr>
            <a:spLocks noGrp="1"/>
          </p:cNvSpPr>
          <p:nvPr>
            <p:ph type="title"/>
          </p:nvPr>
        </p:nvSpPr>
        <p:spPr/>
        <p:txBody>
          <a:bodyPr/>
          <a:lstStyle/>
          <a:p>
            <a:r>
              <a:rPr lang="en-US" dirty="0"/>
              <a:t>Domain Variables</a:t>
            </a:r>
          </a:p>
        </p:txBody>
      </p:sp>
      <p:sp>
        <p:nvSpPr>
          <p:cNvPr id="3" name="Content Placeholder 2">
            <a:extLst>
              <a:ext uri="{FF2B5EF4-FFF2-40B4-BE49-F238E27FC236}">
                <a16:creationId xmlns:a16="http://schemas.microsoft.com/office/drawing/2014/main" id="{01309335-0743-A510-775D-8D000D347F83}"/>
              </a:ext>
            </a:extLst>
          </p:cNvPr>
          <p:cNvSpPr>
            <a:spLocks noGrp="1"/>
          </p:cNvSpPr>
          <p:nvPr>
            <p:ph idx="1"/>
          </p:nvPr>
        </p:nvSpPr>
        <p:spPr/>
        <p:txBody>
          <a:bodyPr>
            <a:noAutofit/>
          </a:bodyPr>
          <a:lstStyle/>
          <a:p>
            <a:r>
              <a:rPr lang="en-US" sz="3200" dirty="0"/>
              <a:t>domain calculus differs from tuple calculus in the </a:t>
            </a:r>
            <a:r>
              <a:rPr lang="en-US" sz="3200" i="1" dirty="0"/>
              <a:t>type of variables </a:t>
            </a:r>
            <a:r>
              <a:rPr lang="en-US" sz="3200" dirty="0"/>
              <a:t>used in formulas: </a:t>
            </a:r>
          </a:p>
          <a:p>
            <a:r>
              <a:rPr lang="en-US" sz="3200" dirty="0"/>
              <a:t>Rather than having variables range over tuples, the variables range over single values from domains of attributes</a:t>
            </a:r>
          </a:p>
          <a:p>
            <a:r>
              <a:rPr lang="en-US" dirty="0"/>
              <a:t>to form a relation of degree </a:t>
            </a:r>
            <a:r>
              <a:rPr lang="en-US" i="1" dirty="0"/>
              <a:t>n </a:t>
            </a:r>
            <a:r>
              <a:rPr lang="en-US" dirty="0"/>
              <a:t>for a query result, we must have </a:t>
            </a:r>
            <a:r>
              <a:rPr lang="en-US" i="1" dirty="0"/>
              <a:t>n </a:t>
            </a:r>
            <a:r>
              <a:rPr lang="en-US" dirty="0"/>
              <a:t>of these </a:t>
            </a:r>
            <a:r>
              <a:rPr lang="en-US" b="1" dirty="0"/>
              <a:t>domain variables</a:t>
            </a:r>
            <a:r>
              <a:rPr lang="en-US" dirty="0"/>
              <a:t> - one for each attribute</a:t>
            </a:r>
          </a:p>
          <a:p>
            <a:r>
              <a:rPr lang="en-US" dirty="0"/>
              <a:t>expression of the domain calculus is of the form</a:t>
            </a:r>
          </a:p>
          <a:p>
            <a:r>
              <a:rPr lang="en-US" dirty="0"/>
              <a:t>{</a:t>
            </a:r>
            <a:r>
              <a:rPr lang="en-US" i="1" dirty="0"/>
              <a:t>x</a:t>
            </a:r>
            <a:r>
              <a:rPr lang="en-US" baseline="-25000" dirty="0"/>
              <a:t>1</a:t>
            </a:r>
            <a:r>
              <a:rPr lang="en-US" dirty="0"/>
              <a:t>, </a:t>
            </a:r>
            <a:r>
              <a:rPr lang="en-US" i="1" dirty="0"/>
              <a:t>x</a:t>
            </a:r>
            <a:r>
              <a:rPr lang="en-US" baseline="-25000" dirty="0"/>
              <a:t>2</a:t>
            </a:r>
            <a:r>
              <a:rPr lang="en-US" dirty="0"/>
              <a:t>, ..., </a:t>
            </a:r>
            <a:r>
              <a:rPr lang="en-US" i="1" dirty="0" err="1"/>
              <a:t>x</a:t>
            </a:r>
            <a:r>
              <a:rPr lang="en-US" i="1" baseline="-25000" dirty="0" err="1"/>
              <a:t>n</a:t>
            </a:r>
            <a:r>
              <a:rPr lang="en-US" i="1" dirty="0"/>
              <a:t> </a:t>
            </a:r>
            <a:r>
              <a:rPr lang="en-US" dirty="0"/>
              <a:t>| COND(</a:t>
            </a:r>
            <a:r>
              <a:rPr lang="en-US" i="1" dirty="0"/>
              <a:t>x</a:t>
            </a:r>
            <a:r>
              <a:rPr lang="en-US" baseline="-25000" dirty="0"/>
              <a:t>1</a:t>
            </a:r>
            <a:r>
              <a:rPr lang="en-US" dirty="0"/>
              <a:t>, </a:t>
            </a:r>
            <a:r>
              <a:rPr lang="en-US" i="1" dirty="0"/>
              <a:t>x</a:t>
            </a:r>
            <a:r>
              <a:rPr lang="en-US" baseline="-25000" dirty="0"/>
              <a:t>2</a:t>
            </a:r>
            <a:r>
              <a:rPr lang="en-US" dirty="0"/>
              <a:t>, ..., </a:t>
            </a:r>
            <a:r>
              <a:rPr lang="en-US" i="1" dirty="0" err="1"/>
              <a:t>x</a:t>
            </a:r>
            <a:r>
              <a:rPr lang="en-US" i="1" baseline="-25000" dirty="0" err="1"/>
              <a:t>n</a:t>
            </a:r>
            <a:r>
              <a:rPr lang="en-US" dirty="0"/>
              <a:t>, </a:t>
            </a:r>
            <a:r>
              <a:rPr lang="en-US" i="1" dirty="0"/>
              <a:t>x</a:t>
            </a:r>
            <a:r>
              <a:rPr lang="en-US" i="1" baseline="-25000" dirty="0"/>
              <a:t>n</a:t>
            </a:r>
            <a:r>
              <a:rPr lang="en-US" baseline="-25000" dirty="0"/>
              <a:t>+1</a:t>
            </a:r>
            <a:r>
              <a:rPr lang="en-US" dirty="0"/>
              <a:t>, </a:t>
            </a:r>
            <a:r>
              <a:rPr lang="en-US" i="1" dirty="0"/>
              <a:t>x</a:t>
            </a:r>
            <a:r>
              <a:rPr lang="en-US" i="1" baseline="-25000" dirty="0"/>
              <a:t>n</a:t>
            </a:r>
            <a:r>
              <a:rPr lang="en-US" baseline="-25000" dirty="0"/>
              <a:t>+2</a:t>
            </a:r>
            <a:r>
              <a:rPr lang="en-US" dirty="0"/>
              <a:t>, ...)}</a:t>
            </a:r>
          </a:p>
        </p:txBody>
      </p:sp>
      <p:sp>
        <p:nvSpPr>
          <p:cNvPr id="4" name="Slide Number Placeholder 3">
            <a:extLst>
              <a:ext uri="{FF2B5EF4-FFF2-40B4-BE49-F238E27FC236}">
                <a16:creationId xmlns:a16="http://schemas.microsoft.com/office/drawing/2014/main" id="{4E2F35A7-D8D0-868D-0B47-D0A910CD4547}"/>
              </a:ext>
            </a:extLst>
          </p:cNvPr>
          <p:cNvSpPr>
            <a:spLocks noGrp="1"/>
          </p:cNvSpPr>
          <p:nvPr>
            <p:ph type="sldNum" sz="quarter" idx="12"/>
          </p:nvPr>
        </p:nvSpPr>
        <p:spPr/>
        <p:txBody>
          <a:bodyPr/>
          <a:lstStyle/>
          <a:p>
            <a:fld id="{6264BDCF-5269-49AC-A246-ED26C2B980E3}" type="slidenum">
              <a:rPr lang="en-US" smtClean="0"/>
              <a:t>123</a:t>
            </a:fld>
            <a:endParaRPr lang="en-US"/>
          </a:p>
        </p:txBody>
      </p:sp>
    </p:spTree>
    <p:extLst>
      <p:ext uri="{BB962C8B-B14F-4D97-AF65-F5344CB8AC3E}">
        <p14:creationId xmlns:p14="http://schemas.microsoft.com/office/powerpoint/2010/main" val="42400668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28A-D299-8FE0-5663-C21E978D98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0A9BAC-59D8-3EC5-D263-C1A066DE48BE}"/>
              </a:ext>
            </a:extLst>
          </p:cNvPr>
          <p:cNvSpPr>
            <a:spLocks noGrp="1"/>
          </p:cNvSpPr>
          <p:nvPr>
            <p:ph idx="1"/>
          </p:nvPr>
        </p:nvSpPr>
        <p:spPr/>
        <p:txBody>
          <a:bodyPr/>
          <a:lstStyle/>
          <a:p>
            <a:r>
              <a:rPr lang="en-US" dirty="0"/>
              <a:t>expression of the domain calculus is of the form</a:t>
            </a:r>
          </a:p>
          <a:p>
            <a:r>
              <a:rPr lang="en-US" dirty="0"/>
              <a:t>{</a:t>
            </a:r>
            <a:r>
              <a:rPr lang="en-US" i="1" dirty="0"/>
              <a:t>x</a:t>
            </a:r>
            <a:r>
              <a:rPr lang="en-US" baseline="-25000" dirty="0"/>
              <a:t>1</a:t>
            </a:r>
            <a:r>
              <a:rPr lang="en-US" dirty="0"/>
              <a:t>, </a:t>
            </a:r>
            <a:r>
              <a:rPr lang="en-US" i="1" dirty="0"/>
              <a:t>x</a:t>
            </a:r>
            <a:r>
              <a:rPr lang="en-US" baseline="-25000" dirty="0"/>
              <a:t>2</a:t>
            </a:r>
            <a:r>
              <a:rPr lang="en-US" dirty="0"/>
              <a:t>, ..., </a:t>
            </a:r>
            <a:r>
              <a:rPr lang="en-US" i="1" dirty="0" err="1"/>
              <a:t>x</a:t>
            </a:r>
            <a:r>
              <a:rPr lang="en-US" i="1" baseline="-25000" dirty="0" err="1"/>
              <a:t>n</a:t>
            </a:r>
            <a:r>
              <a:rPr lang="en-US" i="1" dirty="0"/>
              <a:t> </a:t>
            </a:r>
            <a:r>
              <a:rPr lang="en-US" dirty="0"/>
              <a:t>| COND(</a:t>
            </a:r>
            <a:r>
              <a:rPr lang="en-US" i="1" dirty="0"/>
              <a:t>x</a:t>
            </a:r>
            <a:r>
              <a:rPr lang="en-US" baseline="-25000" dirty="0"/>
              <a:t>1</a:t>
            </a:r>
            <a:r>
              <a:rPr lang="en-US" dirty="0"/>
              <a:t>, </a:t>
            </a:r>
            <a:r>
              <a:rPr lang="en-US" i="1" dirty="0"/>
              <a:t>x</a:t>
            </a:r>
            <a:r>
              <a:rPr lang="en-US" baseline="-25000" dirty="0"/>
              <a:t>2</a:t>
            </a:r>
            <a:r>
              <a:rPr lang="en-US" dirty="0"/>
              <a:t>, ..., </a:t>
            </a:r>
            <a:r>
              <a:rPr lang="en-US" i="1" dirty="0" err="1"/>
              <a:t>x</a:t>
            </a:r>
            <a:r>
              <a:rPr lang="en-US" i="1" baseline="-25000" dirty="0" err="1"/>
              <a:t>n</a:t>
            </a:r>
            <a:r>
              <a:rPr lang="en-US" dirty="0"/>
              <a:t>, </a:t>
            </a:r>
            <a:r>
              <a:rPr lang="en-US" i="1" dirty="0"/>
              <a:t>x</a:t>
            </a:r>
            <a:r>
              <a:rPr lang="en-US" i="1" baseline="-25000" dirty="0"/>
              <a:t>n</a:t>
            </a:r>
            <a:r>
              <a:rPr lang="en-US" baseline="-25000" dirty="0"/>
              <a:t>+1</a:t>
            </a:r>
            <a:r>
              <a:rPr lang="en-US" dirty="0"/>
              <a:t>, </a:t>
            </a:r>
            <a:r>
              <a:rPr lang="en-US" i="1" dirty="0"/>
              <a:t>x</a:t>
            </a:r>
            <a:r>
              <a:rPr lang="en-US" i="1" baseline="-25000" dirty="0"/>
              <a:t>n</a:t>
            </a:r>
            <a:r>
              <a:rPr lang="en-US" baseline="-25000" dirty="0"/>
              <a:t>+2</a:t>
            </a:r>
            <a:r>
              <a:rPr lang="en-US" dirty="0"/>
              <a:t>, ...)}</a:t>
            </a:r>
          </a:p>
          <a:p>
            <a:r>
              <a:rPr lang="en-US" dirty="0"/>
              <a:t>where </a:t>
            </a:r>
            <a:r>
              <a:rPr lang="en-US" i="1" dirty="0"/>
              <a:t>x</a:t>
            </a:r>
            <a:r>
              <a:rPr lang="en-US" baseline="-25000" dirty="0"/>
              <a:t>1</a:t>
            </a:r>
            <a:r>
              <a:rPr lang="en-US" dirty="0"/>
              <a:t>, </a:t>
            </a:r>
            <a:r>
              <a:rPr lang="en-US" i="1" dirty="0"/>
              <a:t>x</a:t>
            </a:r>
            <a:r>
              <a:rPr lang="en-US" baseline="-25000" dirty="0"/>
              <a:t>2</a:t>
            </a:r>
            <a:r>
              <a:rPr lang="en-US" dirty="0"/>
              <a:t>, ..., </a:t>
            </a:r>
            <a:r>
              <a:rPr lang="en-US" i="1" dirty="0" err="1"/>
              <a:t>x</a:t>
            </a:r>
            <a:r>
              <a:rPr lang="en-US" i="1" baseline="-25000" dirty="0" err="1"/>
              <a:t>n</a:t>
            </a:r>
            <a:r>
              <a:rPr lang="en-US" dirty="0"/>
              <a:t>, </a:t>
            </a:r>
            <a:r>
              <a:rPr lang="en-US" i="1" dirty="0"/>
              <a:t>x</a:t>
            </a:r>
            <a:r>
              <a:rPr lang="en-US" i="1" baseline="-25000" dirty="0"/>
              <a:t>n</a:t>
            </a:r>
            <a:r>
              <a:rPr lang="en-US" baseline="-25000" dirty="0"/>
              <a:t>+1</a:t>
            </a:r>
            <a:r>
              <a:rPr lang="en-US" dirty="0"/>
              <a:t>, </a:t>
            </a:r>
            <a:r>
              <a:rPr lang="en-US" i="1" dirty="0"/>
              <a:t>x</a:t>
            </a:r>
            <a:r>
              <a:rPr lang="en-US" i="1" baseline="-25000" dirty="0"/>
              <a:t>n</a:t>
            </a:r>
            <a:r>
              <a:rPr lang="en-US" baseline="-25000" dirty="0"/>
              <a:t>+2</a:t>
            </a:r>
            <a:r>
              <a:rPr lang="en-US" dirty="0"/>
              <a:t>, ... are domain variables that range over domains (of attributes), and COND is a </a:t>
            </a:r>
            <a:r>
              <a:rPr lang="en-US" b="1" dirty="0"/>
              <a:t>condition </a:t>
            </a:r>
            <a:r>
              <a:rPr lang="en-US" dirty="0"/>
              <a:t>or </a:t>
            </a:r>
            <a:r>
              <a:rPr lang="en-US" b="1" dirty="0"/>
              <a:t>formula or well-formed formula </a:t>
            </a:r>
            <a:r>
              <a:rPr lang="en-US" dirty="0"/>
              <a:t>of the domain relational calculus</a:t>
            </a:r>
          </a:p>
          <a:p>
            <a:endParaRPr lang="en-US" dirty="0"/>
          </a:p>
        </p:txBody>
      </p:sp>
      <p:sp>
        <p:nvSpPr>
          <p:cNvPr id="4" name="Slide Number Placeholder 3">
            <a:extLst>
              <a:ext uri="{FF2B5EF4-FFF2-40B4-BE49-F238E27FC236}">
                <a16:creationId xmlns:a16="http://schemas.microsoft.com/office/drawing/2014/main" id="{8734CF75-AF11-5838-89C8-03C1847BFFCC}"/>
              </a:ext>
            </a:extLst>
          </p:cNvPr>
          <p:cNvSpPr>
            <a:spLocks noGrp="1"/>
          </p:cNvSpPr>
          <p:nvPr>
            <p:ph type="sldNum" sz="quarter" idx="12"/>
          </p:nvPr>
        </p:nvSpPr>
        <p:spPr/>
        <p:txBody>
          <a:bodyPr/>
          <a:lstStyle/>
          <a:p>
            <a:fld id="{6264BDCF-5269-49AC-A246-ED26C2B980E3}" type="slidenum">
              <a:rPr lang="en-US" smtClean="0"/>
              <a:t>124</a:t>
            </a:fld>
            <a:endParaRPr lang="en-US"/>
          </a:p>
        </p:txBody>
      </p:sp>
    </p:spTree>
    <p:extLst>
      <p:ext uri="{BB962C8B-B14F-4D97-AF65-F5344CB8AC3E}">
        <p14:creationId xmlns:p14="http://schemas.microsoft.com/office/powerpoint/2010/main" val="63963959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A1F1A-35B9-7462-C324-77BD902F0C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29D8E9-7447-CA56-852F-3B28C28741CC}"/>
              </a:ext>
            </a:extLst>
          </p:cNvPr>
          <p:cNvSpPr>
            <a:spLocks noGrp="1"/>
          </p:cNvSpPr>
          <p:nvPr>
            <p:ph idx="1"/>
          </p:nvPr>
        </p:nvSpPr>
        <p:spPr/>
        <p:txBody>
          <a:bodyPr>
            <a:noAutofit/>
          </a:bodyPr>
          <a:lstStyle/>
          <a:p>
            <a:r>
              <a:rPr lang="en-US" dirty="0"/>
              <a:t>a formula is made up of </a:t>
            </a:r>
            <a:r>
              <a:rPr lang="en-US" b="1" dirty="0"/>
              <a:t>atoms </a:t>
            </a:r>
            <a:r>
              <a:rPr lang="en-US" dirty="0"/>
              <a:t>can be one of the following:</a:t>
            </a:r>
          </a:p>
          <a:p>
            <a:pPr marL="514350" indent="-514350">
              <a:buFont typeface="+mj-lt"/>
              <a:buAutoNum type="arabicPeriod"/>
            </a:pPr>
            <a:r>
              <a:rPr lang="en-US" dirty="0"/>
              <a:t>atom of the form R(</a:t>
            </a:r>
            <a:r>
              <a:rPr lang="en-US" i="1" dirty="0"/>
              <a:t>x</a:t>
            </a:r>
            <a:r>
              <a:rPr lang="en-US" baseline="-25000" dirty="0"/>
              <a:t>1</a:t>
            </a:r>
            <a:r>
              <a:rPr lang="en-US" dirty="0"/>
              <a:t>, </a:t>
            </a:r>
            <a:r>
              <a:rPr lang="en-US" i="1" dirty="0"/>
              <a:t>x</a:t>
            </a:r>
            <a:r>
              <a:rPr lang="en-US" baseline="-25000" dirty="0"/>
              <a:t>2</a:t>
            </a:r>
            <a:r>
              <a:rPr lang="en-US" dirty="0"/>
              <a:t>, … , </a:t>
            </a:r>
            <a:r>
              <a:rPr lang="en-US" i="1" dirty="0" err="1"/>
              <a:t>x</a:t>
            </a:r>
            <a:r>
              <a:rPr lang="en-US" i="1" baseline="-25000" dirty="0" err="1"/>
              <a:t>j</a:t>
            </a:r>
            <a:r>
              <a:rPr lang="en-US" dirty="0"/>
              <a:t>), where </a:t>
            </a:r>
            <a:r>
              <a:rPr lang="en-US" i="1" dirty="0"/>
              <a:t>R </a:t>
            </a:r>
            <a:r>
              <a:rPr lang="en-US" dirty="0"/>
              <a:t>is the name of a relation of degree </a:t>
            </a:r>
            <a:r>
              <a:rPr lang="en-US" i="1" dirty="0"/>
              <a:t>j </a:t>
            </a:r>
            <a:r>
              <a:rPr lang="en-US" dirty="0"/>
              <a:t>and each </a:t>
            </a:r>
            <a:r>
              <a:rPr lang="en-US" i="1" dirty="0"/>
              <a:t>x</a:t>
            </a:r>
            <a:r>
              <a:rPr lang="en-US" i="1" baseline="-25000" dirty="0"/>
              <a:t>i</a:t>
            </a:r>
            <a:r>
              <a:rPr lang="en-US" dirty="0"/>
              <a:t>, 1 ≤ </a:t>
            </a:r>
            <a:r>
              <a:rPr lang="en-US" i="1" dirty="0" err="1"/>
              <a:t>i</a:t>
            </a:r>
            <a:r>
              <a:rPr lang="en-US" i="1" dirty="0"/>
              <a:t> </a:t>
            </a:r>
            <a:r>
              <a:rPr lang="en-US" dirty="0"/>
              <a:t>≤ </a:t>
            </a:r>
            <a:r>
              <a:rPr lang="en-US" i="1" dirty="0"/>
              <a:t>j</a:t>
            </a:r>
            <a:r>
              <a:rPr lang="en-US" dirty="0"/>
              <a:t>, is a domain variable; atom states that a list of values of &lt;</a:t>
            </a:r>
            <a:r>
              <a:rPr lang="en-US" i="1" dirty="0"/>
              <a:t>x</a:t>
            </a:r>
            <a:r>
              <a:rPr lang="en-US" baseline="-25000" dirty="0"/>
              <a:t>1</a:t>
            </a:r>
            <a:r>
              <a:rPr lang="en-US" dirty="0"/>
              <a:t>, </a:t>
            </a:r>
            <a:r>
              <a:rPr lang="en-US" i="1" dirty="0"/>
              <a:t>x</a:t>
            </a:r>
            <a:r>
              <a:rPr lang="en-US" dirty="0"/>
              <a:t>2, … , </a:t>
            </a:r>
            <a:r>
              <a:rPr lang="en-US" i="1" dirty="0" err="1"/>
              <a:t>x</a:t>
            </a:r>
            <a:r>
              <a:rPr lang="en-US" i="1" baseline="-25000" dirty="0" err="1"/>
              <a:t>j</a:t>
            </a:r>
            <a:r>
              <a:rPr lang="en-US" dirty="0"/>
              <a:t>&gt; must be a tuple in relation whose name is </a:t>
            </a:r>
            <a:r>
              <a:rPr lang="en-US" i="1" dirty="0"/>
              <a:t>R</a:t>
            </a:r>
            <a:r>
              <a:rPr lang="en-US" dirty="0"/>
              <a:t>, where </a:t>
            </a:r>
            <a:r>
              <a:rPr lang="en-US" i="1" dirty="0"/>
              <a:t>x</a:t>
            </a:r>
            <a:r>
              <a:rPr lang="en-US" i="1" baseline="-25000" dirty="0"/>
              <a:t>i</a:t>
            </a:r>
            <a:r>
              <a:rPr lang="en-US" i="1" dirty="0"/>
              <a:t> </a:t>
            </a:r>
            <a:r>
              <a:rPr lang="en-US" dirty="0"/>
              <a:t>is value of the </a:t>
            </a:r>
            <a:r>
              <a:rPr lang="en-US" i="1" dirty="0" err="1"/>
              <a:t>i</a:t>
            </a:r>
            <a:r>
              <a:rPr lang="en-US" baseline="30000" dirty="0"/>
              <a:t> </a:t>
            </a:r>
            <a:r>
              <a:rPr lang="en-US" baseline="30000" dirty="0" err="1"/>
              <a:t>th</a:t>
            </a:r>
            <a:r>
              <a:rPr lang="en-US" baseline="30000" dirty="0"/>
              <a:t> </a:t>
            </a:r>
            <a:r>
              <a:rPr lang="en-US" dirty="0"/>
              <a:t>attribute value of tuple to make domain calculus expression more concise, we can </a:t>
            </a:r>
            <a:r>
              <a:rPr lang="en-US" i="1" dirty="0"/>
              <a:t>drop commas </a:t>
            </a:r>
            <a:r>
              <a:rPr lang="en-US" dirty="0"/>
              <a:t>in list of variables:</a:t>
            </a:r>
          </a:p>
          <a:p>
            <a:r>
              <a:rPr lang="en-US" dirty="0"/>
              <a:t>{</a:t>
            </a:r>
            <a:r>
              <a:rPr lang="en-US" i="1" dirty="0"/>
              <a:t>x</a:t>
            </a:r>
            <a:r>
              <a:rPr lang="en-US" baseline="-25000" dirty="0"/>
              <a:t>1</a:t>
            </a:r>
            <a:r>
              <a:rPr lang="en-US" dirty="0"/>
              <a:t>, </a:t>
            </a:r>
            <a:r>
              <a:rPr lang="en-US" i="1" dirty="0"/>
              <a:t>x</a:t>
            </a:r>
            <a:r>
              <a:rPr lang="en-US" baseline="-25000" dirty="0"/>
              <a:t>2</a:t>
            </a:r>
            <a:r>
              <a:rPr lang="en-US" dirty="0"/>
              <a:t>, … , </a:t>
            </a:r>
            <a:r>
              <a:rPr lang="en-US" i="1" dirty="0" err="1"/>
              <a:t>x</a:t>
            </a:r>
            <a:r>
              <a:rPr lang="en-US" i="1" baseline="-25000" dirty="0" err="1"/>
              <a:t>n</a:t>
            </a:r>
            <a:r>
              <a:rPr lang="en-US" i="1" dirty="0"/>
              <a:t> </a:t>
            </a:r>
            <a:r>
              <a:rPr lang="en-US" dirty="0"/>
              <a:t>| </a:t>
            </a:r>
            <a:r>
              <a:rPr lang="en-US" i="1" dirty="0"/>
              <a:t>R</a:t>
            </a:r>
            <a:r>
              <a:rPr lang="en-US" dirty="0"/>
              <a:t>(</a:t>
            </a:r>
            <a:r>
              <a:rPr lang="en-US" i="1" dirty="0"/>
              <a:t>x</a:t>
            </a:r>
            <a:r>
              <a:rPr lang="en-US" baseline="-25000" dirty="0"/>
              <a:t>1</a:t>
            </a:r>
            <a:r>
              <a:rPr lang="en-US" dirty="0"/>
              <a:t> </a:t>
            </a:r>
            <a:r>
              <a:rPr lang="en-US" i="1" dirty="0"/>
              <a:t>x</a:t>
            </a:r>
            <a:r>
              <a:rPr lang="en-US" baseline="-25000" dirty="0"/>
              <a:t>2</a:t>
            </a:r>
            <a:r>
              <a:rPr lang="en-US" dirty="0"/>
              <a:t> </a:t>
            </a:r>
            <a:r>
              <a:rPr lang="en-US" i="1" dirty="0"/>
              <a:t>x</a:t>
            </a:r>
            <a:r>
              <a:rPr lang="en-US" baseline="-25000" dirty="0"/>
              <a:t>3</a:t>
            </a:r>
            <a:r>
              <a:rPr lang="en-US" dirty="0"/>
              <a:t>...) AND ...}</a:t>
            </a:r>
          </a:p>
          <a:p>
            <a:r>
              <a:rPr lang="en-US" dirty="0"/>
              <a:t>instead of:</a:t>
            </a:r>
          </a:p>
          <a:p>
            <a:r>
              <a:rPr lang="en-US" dirty="0"/>
              <a:t>{</a:t>
            </a:r>
            <a:r>
              <a:rPr lang="en-US" i="1" dirty="0"/>
              <a:t>x</a:t>
            </a:r>
            <a:r>
              <a:rPr lang="en-US" baseline="-25000" dirty="0"/>
              <a:t>1</a:t>
            </a:r>
            <a:r>
              <a:rPr lang="en-US" dirty="0"/>
              <a:t>, </a:t>
            </a:r>
            <a:r>
              <a:rPr lang="en-US" i="1" dirty="0"/>
              <a:t>x</a:t>
            </a:r>
            <a:r>
              <a:rPr lang="en-US" baseline="-25000" dirty="0"/>
              <a:t>2</a:t>
            </a:r>
            <a:r>
              <a:rPr lang="en-US" dirty="0"/>
              <a:t>, … , </a:t>
            </a:r>
            <a:r>
              <a:rPr lang="en-US" i="1" dirty="0" err="1"/>
              <a:t>x</a:t>
            </a:r>
            <a:r>
              <a:rPr lang="en-US" i="1" baseline="-25000" dirty="0" err="1"/>
              <a:t>n</a:t>
            </a:r>
            <a:r>
              <a:rPr lang="en-US" i="1" dirty="0"/>
              <a:t> </a:t>
            </a:r>
            <a:r>
              <a:rPr lang="en-US" dirty="0"/>
              <a:t>| </a:t>
            </a:r>
            <a:r>
              <a:rPr lang="en-US" i="1" dirty="0"/>
              <a:t>R</a:t>
            </a:r>
            <a:r>
              <a:rPr lang="en-US" dirty="0"/>
              <a:t>(</a:t>
            </a:r>
            <a:r>
              <a:rPr lang="en-US" i="1" dirty="0"/>
              <a:t>x</a:t>
            </a:r>
            <a:r>
              <a:rPr lang="en-US" baseline="-25000" dirty="0"/>
              <a:t>1</a:t>
            </a:r>
            <a:r>
              <a:rPr lang="en-US" dirty="0"/>
              <a:t>, </a:t>
            </a:r>
            <a:r>
              <a:rPr lang="en-US" i="1" dirty="0"/>
              <a:t>x</a:t>
            </a:r>
            <a:r>
              <a:rPr lang="en-US" baseline="-25000" dirty="0"/>
              <a:t>2</a:t>
            </a:r>
            <a:r>
              <a:rPr lang="en-US" dirty="0"/>
              <a:t>, </a:t>
            </a:r>
            <a:r>
              <a:rPr lang="en-US" i="1" dirty="0"/>
              <a:t>x</a:t>
            </a:r>
            <a:r>
              <a:rPr lang="en-US" baseline="-25000" dirty="0"/>
              <a:t>3</a:t>
            </a:r>
            <a:r>
              <a:rPr lang="en-US" dirty="0"/>
              <a:t>...) AND ...}</a:t>
            </a:r>
          </a:p>
        </p:txBody>
      </p:sp>
      <p:sp>
        <p:nvSpPr>
          <p:cNvPr id="4" name="Slide Number Placeholder 3">
            <a:extLst>
              <a:ext uri="{FF2B5EF4-FFF2-40B4-BE49-F238E27FC236}">
                <a16:creationId xmlns:a16="http://schemas.microsoft.com/office/drawing/2014/main" id="{9E81EE49-5B17-4223-51AC-2695F1B29E0E}"/>
              </a:ext>
            </a:extLst>
          </p:cNvPr>
          <p:cNvSpPr>
            <a:spLocks noGrp="1"/>
          </p:cNvSpPr>
          <p:nvPr>
            <p:ph type="sldNum" sz="quarter" idx="12"/>
          </p:nvPr>
        </p:nvSpPr>
        <p:spPr/>
        <p:txBody>
          <a:bodyPr/>
          <a:lstStyle/>
          <a:p>
            <a:fld id="{6264BDCF-5269-49AC-A246-ED26C2B980E3}" type="slidenum">
              <a:rPr lang="en-US" smtClean="0"/>
              <a:t>125</a:t>
            </a:fld>
            <a:endParaRPr lang="en-US"/>
          </a:p>
        </p:txBody>
      </p:sp>
    </p:spTree>
    <p:extLst>
      <p:ext uri="{BB962C8B-B14F-4D97-AF65-F5344CB8AC3E}">
        <p14:creationId xmlns:p14="http://schemas.microsoft.com/office/powerpoint/2010/main" val="22933770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1B21-970C-ADFF-6189-BC289780AE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68AD9A-CE7B-D362-72E3-13F66F4E4749}"/>
              </a:ext>
            </a:extLst>
          </p:cNvPr>
          <p:cNvSpPr>
            <a:spLocks noGrp="1"/>
          </p:cNvSpPr>
          <p:nvPr>
            <p:ph idx="1"/>
          </p:nvPr>
        </p:nvSpPr>
        <p:spPr/>
        <p:txBody>
          <a:bodyPr/>
          <a:lstStyle/>
          <a:p>
            <a:pPr marL="514350" indent="-514350">
              <a:buFont typeface="+mj-lt"/>
              <a:buAutoNum type="arabicPeriod" startAt="2"/>
            </a:pPr>
            <a:r>
              <a:rPr lang="en-US" dirty="0"/>
              <a:t>atom of the form </a:t>
            </a:r>
            <a:r>
              <a:rPr lang="en-US" i="1" dirty="0"/>
              <a:t>x</a:t>
            </a:r>
            <a:r>
              <a:rPr lang="en-US" i="1" baseline="-25000" dirty="0"/>
              <a:t>i</a:t>
            </a:r>
            <a:r>
              <a:rPr lang="en-US" i="1" dirty="0"/>
              <a:t> </a:t>
            </a:r>
            <a:r>
              <a:rPr lang="en-US" b="1" dirty="0"/>
              <a:t>op </a:t>
            </a:r>
            <a:r>
              <a:rPr lang="en-US" i="1" dirty="0" err="1"/>
              <a:t>x</a:t>
            </a:r>
            <a:r>
              <a:rPr lang="en-US" i="1" baseline="-25000" dirty="0" err="1"/>
              <a:t>j</a:t>
            </a:r>
            <a:r>
              <a:rPr lang="en-US" dirty="0"/>
              <a:t>, where </a:t>
            </a:r>
            <a:r>
              <a:rPr lang="en-US" b="1" dirty="0"/>
              <a:t>op </a:t>
            </a:r>
            <a:r>
              <a:rPr lang="en-US" dirty="0"/>
              <a:t>is one of the comparison operators in the set {=, &lt;, ≤, &gt;, ≥, ≠}, and </a:t>
            </a:r>
            <a:r>
              <a:rPr lang="en-US" i="1" dirty="0"/>
              <a:t>x</a:t>
            </a:r>
            <a:r>
              <a:rPr lang="en-US" i="1" baseline="-25000" dirty="0"/>
              <a:t>i</a:t>
            </a:r>
            <a:r>
              <a:rPr lang="en-US" i="1" dirty="0"/>
              <a:t> </a:t>
            </a:r>
            <a:r>
              <a:rPr lang="en-US" dirty="0"/>
              <a:t>and </a:t>
            </a:r>
            <a:r>
              <a:rPr lang="en-US" i="1" dirty="0" err="1"/>
              <a:t>x</a:t>
            </a:r>
            <a:r>
              <a:rPr lang="en-US" i="1" baseline="-25000" dirty="0" err="1"/>
              <a:t>j</a:t>
            </a:r>
            <a:r>
              <a:rPr lang="en-US" i="1" dirty="0"/>
              <a:t> </a:t>
            </a:r>
            <a:r>
              <a:rPr lang="en-US" dirty="0"/>
              <a:t>are domain variables</a:t>
            </a:r>
          </a:p>
          <a:p>
            <a:pPr marL="514350" indent="-514350">
              <a:buFont typeface="+mj-lt"/>
              <a:buAutoNum type="arabicPeriod" startAt="2"/>
            </a:pPr>
            <a:r>
              <a:rPr lang="en-US" dirty="0"/>
              <a:t>atom of the form </a:t>
            </a:r>
            <a:r>
              <a:rPr lang="en-US" i="1" dirty="0"/>
              <a:t>x</a:t>
            </a:r>
            <a:r>
              <a:rPr lang="en-US" i="1" baseline="-25000" dirty="0"/>
              <a:t>i</a:t>
            </a:r>
            <a:r>
              <a:rPr lang="en-US" i="1" dirty="0"/>
              <a:t> </a:t>
            </a:r>
            <a:r>
              <a:rPr lang="en-US" b="1" dirty="0"/>
              <a:t>op </a:t>
            </a:r>
            <a:r>
              <a:rPr lang="en-US" i="1" dirty="0"/>
              <a:t>c </a:t>
            </a:r>
            <a:r>
              <a:rPr lang="en-US" dirty="0"/>
              <a:t>or </a:t>
            </a:r>
            <a:r>
              <a:rPr lang="en-US" i="1" dirty="0"/>
              <a:t>c </a:t>
            </a:r>
            <a:r>
              <a:rPr lang="en-US" b="1" dirty="0"/>
              <a:t>op </a:t>
            </a:r>
            <a:r>
              <a:rPr lang="en-US" i="1" dirty="0" err="1"/>
              <a:t>x</a:t>
            </a:r>
            <a:r>
              <a:rPr lang="en-US" i="1" baseline="-25000" dirty="0" err="1"/>
              <a:t>j</a:t>
            </a:r>
            <a:r>
              <a:rPr lang="en-US" dirty="0"/>
              <a:t>, where </a:t>
            </a:r>
            <a:r>
              <a:rPr lang="en-US" b="1" dirty="0"/>
              <a:t>op </a:t>
            </a:r>
            <a:r>
              <a:rPr lang="en-US" dirty="0"/>
              <a:t>is one of the comparison operators in the set {=, &lt;, ≤, &gt;, ≥, ≠}, </a:t>
            </a:r>
            <a:r>
              <a:rPr lang="en-US" i="1" dirty="0"/>
              <a:t>x</a:t>
            </a:r>
            <a:r>
              <a:rPr lang="en-US" i="1" baseline="-25000" dirty="0"/>
              <a:t>i</a:t>
            </a:r>
            <a:r>
              <a:rPr lang="en-US" i="1" dirty="0"/>
              <a:t> </a:t>
            </a:r>
            <a:r>
              <a:rPr lang="en-US" dirty="0"/>
              <a:t>and </a:t>
            </a:r>
            <a:r>
              <a:rPr lang="en-US" i="1" dirty="0" err="1"/>
              <a:t>x</a:t>
            </a:r>
            <a:r>
              <a:rPr lang="en-US" i="1" baseline="-25000" dirty="0" err="1"/>
              <a:t>j</a:t>
            </a:r>
            <a:r>
              <a:rPr lang="en-US" i="1" dirty="0"/>
              <a:t> </a:t>
            </a:r>
            <a:r>
              <a:rPr lang="en-US" dirty="0"/>
              <a:t>are domain variables, and </a:t>
            </a:r>
            <a:r>
              <a:rPr lang="en-US" i="1" dirty="0"/>
              <a:t>c </a:t>
            </a:r>
            <a:r>
              <a:rPr lang="en-US" dirty="0"/>
              <a:t>is a constant value</a:t>
            </a:r>
          </a:p>
          <a:p>
            <a:endParaRPr lang="en-US" dirty="0"/>
          </a:p>
        </p:txBody>
      </p:sp>
      <p:sp>
        <p:nvSpPr>
          <p:cNvPr id="4" name="Slide Number Placeholder 3">
            <a:extLst>
              <a:ext uri="{FF2B5EF4-FFF2-40B4-BE49-F238E27FC236}">
                <a16:creationId xmlns:a16="http://schemas.microsoft.com/office/drawing/2014/main" id="{914E096B-7507-E4A6-170E-E9F6F0756E7B}"/>
              </a:ext>
            </a:extLst>
          </p:cNvPr>
          <p:cNvSpPr>
            <a:spLocks noGrp="1"/>
          </p:cNvSpPr>
          <p:nvPr>
            <p:ph type="sldNum" sz="quarter" idx="12"/>
          </p:nvPr>
        </p:nvSpPr>
        <p:spPr/>
        <p:txBody>
          <a:bodyPr/>
          <a:lstStyle/>
          <a:p>
            <a:fld id="{6264BDCF-5269-49AC-A246-ED26C2B980E3}" type="slidenum">
              <a:rPr lang="en-US" smtClean="0"/>
              <a:t>126</a:t>
            </a:fld>
            <a:endParaRPr lang="en-US"/>
          </a:p>
        </p:txBody>
      </p:sp>
    </p:spTree>
    <p:extLst>
      <p:ext uri="{BB962C8B-B14F-4D97-AF65-F5344CB8AC3E}">
        <p14:creationId xmlns:p14="http://schemas.microsoft.com/office/powerpoint/2010/main" val="400612106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F076-02C8-C45F-BDDD-7753B90B4A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029D42-8C2D-A669-B500-8B3BBE94AF01}"/>
              </a:ext>
            </a:extLst>
          </p:cNvPr>
          <p:cNvSpPr>
            <a:spLocks noGrp="1"/>
          </p:cNvSpPr>
          <p:nvPr>
            <p:ph idx="1"/>
          </p:nvPr>
        </p:nvSpPr>
        <p:spPr/>
        <p:txBody>
          <a:bodyPr>
            <a:normAutofit/>
          </a:bodyPr>
          <a:lstStyle/>
          <a:p>
            <a:r>
              <a:rPr lang="en-US" dirty="0"/>
              <a:t>as in tuple calculus, atoms evaluate to either TRUE or FALSE for a specific set of values, called the truth values</a:t>
            </a:r>
            <a:r>
              <a:rPr lang="en-US" b="1" dirty="0"/>
              <a:t> </a:t>
            </a:r>
            <a:r>
              <a:rPr lang="en-US" dirty="0"/>
              <a:t>of the atoms</a:t>
            </a:r>
          </a:p>
          <a:p>
            <a:r>
              <a:rPr lang="en-US" dirty="0"/>
              <a:t>in similar way to tuple relational calculus, formulas are made up of atoms, variables, and quantifiers, so we will not repeat specifications for formulas </a:t>
            </a:r>
          </a:p>
          <a:p>
            <a:endParaRPr lang="en-US" dirty="0"/>
          </a:p>
          <a:p>
            <a:r>
              <a:rPr lang="en-US" dirty="0"/>
              <a:t>will use lowercase letters </a:t>
            </a:r>
            <a:r>
              <a:rPr lang="en-US" i="1" dirty="0"/>
              <a:t>l</a:t>
            </a:r>
            <a:r>
              <a:rPr lang="en-US" dirty="0"/>
              <a:t>, </a:t>
            </a:r>
            <a:r>
              <a:rPr lang="en-US" i="1" dirty="0"/>
              <a:t>m</a:t>
            </a:r>
            <a:r>
              <a:rPr lang="en-US" dirty="0"/>
              <a:t>, </a:t>
            </a:r>
            <a:r>
              <a:rPr lang="en-US" i="1" dirty="0"/>
              <a:t>n</a:t>
            </a:r>
            <a:r>
              <a:rPr lang="en-US" dirty="0"/>
              <a:t>, … , </a:t>
            </a:r>
            <a:r>
              <a:rPr lang="en-US" i="1" dirty="0"/>
              <a:t>x</a:t>
            </a:r>
            <a:r>
              <a:rPr lang="en-US" dirty="0"/>
              <a:t>, </a:t>
            </a:r>
            <a:r>
              <a:rPr lang="en-US" i="1" dirty="0"/>
              <a:t>y</a:t>
            </a:r>
            <a:r>
              <a:rPr lang="en-US" dirty="0"/>
              <a:t>, </a:t>
            </a:r>
            <a:r>
              <a:rPr lang="en-US" i="1" dirty="0"/>
              <a:t>z </a:t>
            </a:r>
            <a:r>
              <a:rPr lang="en-US" dirty="0"/>
              <a:t>for domain variables</a:t>
            </a:r>
          </a:p>
        </p:txBody>
      </p:sp>
      <p:sp>
        <p:nvSpPr>
          <p:cNvPr id="4" name="Slide Number Placeholder 3">
            <a:extLst>
              <a:ext uri="{FF2B5EF4-FFF2-40B4-BE49-F238E27FC236}">
                <a16:creationId xmlns:a16="http://schemas.microsoft.com/office/drawing/2014/main" id="{2DB9374B-00A7-CBF0-663D-46D6C0E16ED4}"/>
              </a:ext>
            </a:extLst>
          </p:cNvPr>
          <p:cNvSpPr>
            <a:spLocks noGrp="1"/>
          </p:cNvSpPr>
          <p:nvPr>
            <p:ph type="sldNum" sz="quarter" idx="12"/>
          </p:nvPr>
        </p:nvSpPr>
        <p:spPr/>
        <p:txBody>
          <a:bodyPr/>
          <a:lstStyle/>
          <a:p>
            <a:fld id="{6264BDCF-5269-49AC-A246-ED26C2B980E3}" type="slidenum">
              <a:rPr lang="en-US" smtClean="0"/>
              <a:t>127</a:t>
            </a:fld>
            <a:endParaRPr lang="en-US"/>
          </a:p>
        </p:txBody>
      </p:sp>
    </p:spTree>
    <p:extLst>
      <p:ext uri="{BB962C8B-B14F-4D97-AF65-F5344CB8AC3E}">
        <p14:creationId xmlns:p14="http://schemas.microsoft.com/office/powerpoint/2010/main" val="9078974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428A5-697B-B15E-12A0-22EF1BE3B7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339EB7-6847-2D29-9FF5-B988ED1F0DDB}"/>
              </a:ext>
            </a:extLst>
          </p:cNvPr>
          <p:cNvSpPr>
            <a:spLocks noGrp="1"/>
          </p:cNvSpPr>
          <p:nvPr>
            <p:ph idx="1"/>
          </p:nvPr>
        </p:nvSpPr>
        <p:spPr/>
        <p:txBody>
          <a:bodyPr>
            <a:normAutofit lnSpcReduction="10000"/>
          </a:bodyPr>
          <a:lstStyle/>
          <a:p>
            <a:r>
              <a:rPr lang="en-US" dirty="0"/>
              <a:t>List the birth date and address of the employee whose name is ‘John B. Smith’.</a:t>
            </a:r>
          </a:p>
          <a:p>
            <a:r>
              <a:rPr lang="en-US" dirty="0"/>
              <a:t>{</a:t>
            </a:r>
            <a:r>
              <a:rPr lang="en-US" i="1" dirty="0"/>
              <a:t>u</a:t>
            </a:r>
            <a:r>
              <a:rPr lang="en-US" dirty="0"/>
              <a:t>, </a:t>
            </a:r>
            <a:r>
              <a:rPr lang="en-US" i="1" dirty="0"/>
              <a:t>v </a:t>
            </a:r>
            <a:r>
              <a:rPr lang="en-US" dirty="0"/>
              <a:t>| (∃</a:t>
            </a:r>
            <a:r>
              <a:rPr lang="en-US" i="1" dirty="0"/>
              <a:t>q</a:t>
            </a:r>
            <a:r>
              <a:rPr lang="en-US" dirty="0"/>
              <a:t>) (∃</a:t>
            </a:r>
            <a:r>
              <a:rPr lang="en-US" i="1" dirty="0"/>
              <a:t>r</a:t>
            </a:r>
            <a:r>
              <a:rPr lang="en-US" dirty="0"/>
              <a:t>) (∃</a:t>
            </a:r>
            <a:r>
              <a:rPr lang="en-US" i="1" dirty="0"/>
              <a:t>s</a:t>
            </a:r>
            <a:r>
              <a:rPr lang="en-US" dirty="0"/>
              <a:t>) (∃</a:t>
            </a:r>
            <a:r>
              <a:rPr lang="en-US" i="1" dirty="0"/>
              <a:t>t</a:t>
            </a:r>
            <a:r>
              <a:rPr lang="en-US" dirty="0"/>
              <a:t>) (∃</a:t>
            </a:r>
            <a:r>
              <a:rPr lang="en-US" i="1" dirty="0"/>
              <a:t>w</a:t>
            </a:r>
            <a:r>
              <a:rPr lang="en-US" dirty="0"/>
              <a:t>) (∃</a:t>
            </a:r>
            <a:r>
              <a:rPr lang="en-US" i="1" dirty="0"/>
              <a:t>x</a:t>
            </a:r>
            <a:r>
              <a:rPr lang="en-US" dirty="0"/>
              <a:t>) (∃</a:t>
            </a:r>
            <a:r>
              <a:rPr lang="en-US" i="1" dirty="0"/>
              <a:t>y</a:t>
            </a:r>
            <a:r>
              <a:rPr lang="en-US" dirty="0"/>
              <a:t>) (∃</a:t>
            </a:r>
            <a:r>
              <a:rPr lang="en-US" i="1" dirty="0"/>
              <a:t>z</a:t>
            </a:r>
            <a:r>
              <a:rPr lang="en-US" dirty="0"/>
              <a:t>) (EMPLOYEE(</a:t>
            </a:r>
            <a:r>
              <a:rPr lang="en-US" i="1" dirty="0" err="1"/>
              <a:t>qrstuvwxyz</a:t>
            </a:r>
            <a:r>
              <a:rPr lang="en-US" dirty="0"/>
              <a:t>) </a:t>
            </a:r>
            <a:r>
              <a:rPr lang="en-US" b="1" dirty="0"/>
              <a:t>AND </a:t>
            </a:r>
            <a:r>
              <a:rPr lang="en-US" i="1" dirty="0"/>
              <a:t>q</a:t>
            </a:r>
            <a:r>
              <a:rPr lang="en-US" dirty="0"/>
              <a:t>=‘John’ </a:t>
            </a:r>
            <a:r>
              <a:rPr lang="en-US" b="1" dirty="0"/>
              <a:t>AND </a:t>
            </a:r>
            <a:r>
              <a:rPr lang="en-US" i="1" dirty="0"/>
              <a:t>r</a:t>
            </a:r>
            <a:r>
              <a:rPr lang="en-US" dirty="0"/>
              <a:t>=‘B’ </a:t>
            </a:r>
            <a:r>
              <a:rPr lang="en-US" b="1" dirty="0"/>
              <a:t>AND </a:t>
            </a:r>
            <a:r>
              <a:rPr lang="en-US" i="1" dirty="0"/>
              <a:t>s</a:t>
            </a:r>
            <a:r>
              <a:rPr lang="en-US" dirty="0"/>
              <a:t>=‘Smith’)}</a:t>
            </a:r>
          </a:p>
          <a:p>
            <a:endParaRPr lang="en-US" dirty="0"/>
          </a:p>
          <a:p>
            <a:r>
              <a:rPr lang="en-US" dirty="0"/>
              <a:t>need ten variables for EMPLOYEE relation, one to range over each of domains of attributes of EMPLOYEE in order</a:t>
            </a:r>
          </a:p>
          <a:p>
            <a:r>
              <a:rPr lang="en-US" dirty="0"/>
              <a:t>of the ten variables </a:t>
            </a:r>
            <a:r>
              <a:rPr lang="en-US" i="1" dirty="0"/>
              <a:t>q</a:t>
            </a:r>
            <a:r>
              <a:rPr lang="en-US" dirty="0"/>
              <a:t>, </a:t>
            </a:r>
            <a:r>
              <a:rPr lang="en-US" i="1" dirty="0"/>
              <a:t>r</a:t>
            </a:r>
            <a:r>
              <a:rPr lang="en-US" dirty="0"/>
              <a:t>, </a:t>
            </a:r>
            <a:r>
              <a:rPr lang="en-US" i="1" dirty="0"/>
              <a:t>s</a:t>
            </a:r>
            <a:r>
              <a:rPr lang="en-US" dirty="0"/>
              <a:t>, … , </a:t>
            </a:r>
            <a:r>
              <a:rPr lang="en-US" i="1" dirty="0"/>
              <a:t>z</a:t>
            </a:r>
            <a:r>
              <a:rPr lang="en-US" dirty="0"/>
              <a:t>, only </a:t>
            </a:r>
            <a:r>
              <a:rPr lang="en-US" i="1" dirty="0"/>
              <a:t>u </a:t>
            </a:r>
            <a:r>
              <a:rPr lang="en-US" dirty="0"/>
              <a:t>and </a:t>
            </a:r>
            <a:r>
              <a:rPr lang="en-US" i="1" dirty="0"/>
              <a:t>v </a:t>
            </a:r>
            <a:r>
              <a:rPr lang="en-US" dirty="0"/>
              <a:t>are free, because they appear to the left of the bar and hence should not be bound to a quantifier</a:t>
            </a:r>
          </a:p>
        </p:txBody>
      </p:sp>
      <p:sp>
        <p:nvSpPr>
          <p:cNvPr id="4" name="Slide Number Placeholder 3">
            <a:extLst>
              <a:ext uri="{FF2B5EF4-FFF2-40B4-BE49-F238E27FC236}">
                <a16:creationId xmlns:a16="http://schemas.microsoft.com/office/drawing/2014/main" id="{3F0F4B19-7A7F-BB1D-BE1A-F6989A66D7A2}"/>
              </a:ext>
            </a:extLst>
          </p:cNvPr>
          <p:cNvSpPr>
            <a:spLocks noGrp="1"/>
          </p:cNvSpPr>
          <p:nvPr>
            <p:ph type="sldNum" sz="quarter" idx="12"/>
          </p:nvPr>
        </p:nvSpPr>
        <p:spPr/>
        <p:txBody>
          <a:bodyPr/>
          <a:lstStyle/>
          <a:p>
            <a:fld id="{6264BDCF-5269-49AC-A246-ED26C2B980E3}" type="slidenum">
              <a:rPr lang="en-US" smtClean="0"/>
              <a:t>128</a:t>
            </a:fld>
            <a:endParaRPr lang="en-US"/>
          </a:p>
        </p:txBody>
      </p:sp>
    </p:spTree>
    <p:extLst>
      <p:ext uri="{BB962C8B-B14F-4D97-AF65-F5344CB8AC3E}">
        <p14:creationId xmlns:p14="http://schemas.microsoft.com/office/powerpoint/2010/main" val="189502447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43AA-55EC-0EA0-8EC1-62E6EC72E7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5ACF0D-5563-CF86-3EC4-1024063F2550}"/>
              </a:ext>
            </a:extLst>
          </p:cNvPr>
          <p:cNvSpPr>
            <a:spLocks noGrp="1"/>
          </p:cNvSpPr>
          <p:nvPr>
            <p:ph idx="1"/>
          </p:nvPr>
        </p:nvSpPr>
        <p:spPr/>
        <p:txBody>
          <a:bodyPr/>
          <a:lstStyle/>
          <a:p>
            <a:r>
              <a:rPr lang="en-US" dirty="0"/>
              <a:t>alternative shorthand notation, used in QBE, for writing this query is to assign the constants ‘John’, ‘B’, and ‘Smith’ directly</a:t>
            </a:r>
          </a:p>
          <a:p>
            <a:r>
              <a:rPr lang="en-US" dirty="0"/>
              <a:t>{</a:t>
            </a:r>
            <a:r>
              <a:rPr lang="en-US" i="1" dirty="0"/>
              <a:t>u</a:t>
            </a:r>
            <a:r>
              <a:rPr lang="en-US" dirty="0"/>
              <a:t>, </a:t>
            </a:r>
            <a:r>
              <a:rPr lang="en-US" i="1" dirty="0"/>
              <a:t>v </a:t>
            </a:r>
            <a:r>
              <a:rPr lang="en-US" dirty="0"/>
              <a:t>| EMPLOYEE(‘John’, ‘B’, ‘Smith’, </a:t>
            </a:r>
            <a:r>
              <a:rPr lang="en-US" i="1" dirty="0"/>
              <a:t>t</a:t>
            </a:r>
            <a:r>
              <a:rPr lang="en-US" dirty="0"/>
              <a:t>, </a:t>
            </a:r>
            <a:r>
              <a:rPr lang="en-US" i="1" dirty="0"/>
              <a:t>u</a:t>
            </a:r>
            <a:r>
              <a:rPr lang="en-US" dirty="0"/>
              <a:t>, </a:t>
            </a:r>
            <a:r>
              <a:rPr lang="en-US" i="1" dirty="0"/>
              <a:t>v</a:t>
            </a:r>
            <a:r>
              <a:rPr lang="en-US" dirty="0"/>
              <a:t>, </a:t>
            </a:r>
            <a:r>
              <a:rPr lang="en-US" i="1" dirty="0"/>
              <a:t>w</a:t>
            </a:r>
            <a:r>
              <a:rPr lang="en-US" dirty="0"/>
              <a:t>, </a:t>
            </a:r>
            <a:r>
              <a:rPr lang="en-US" i="1" dirty="0"/>
              <a:t>x</a:t>
            </a:r>
            <a:r>
              <a:rPr lang="en-US" dirty="0"/>
              <a:t>, </a:t>
            </a:r>
            <a:r>
              <a:rPr lang="en-US" i="1" dirty="0"/>
              <a:t>y</a:t>
            </a:r>
            <a:r>
              <a:rPr lang="en-US" dirty="0"/>
              <a:t>, </a:t>
            </a:r>
            <a:r>
              <a:rPr lang="en-US" i="1" dirty="0"/>
              <a:t>z</a:t>
            </a:r>
            <a:r>
              <a:rPr lang="en-US" dirty="0"/>
              <a:t>)}</a:t>
            </a:r>
          </a:p>
        </p:txBody>
      </p:sp>
      <p:sp>
        <p:nvSpPr>
          <p:cNvPr id="4" name="Slide Number Placeholder 3">
            <a:extLst>
              <a:ext uri="{FF2B5EF4-FFF2-40B4-BE49-F238E27FC236}">
                <a16:creationId xmlns:a16="http://schemas.microsoft.com/office/drawing/2014/main" id="{A17C1409-CB40-4B9A-25B1-437A65A0A934}"/>
              </a:ext>
            </a:extLst>
          </p:cNvPr>
          <p:cNvSpPr>
            <a:spLocks noGrp="1"/>
          </p:cNvSpPr>
          <p:nvPr>
            <p:ph type="sldNum" sz="quarter" idx="12"/>
          </p:nvPr>
        </p:nvSpPr>
        <p:spPr/>
        <p:txBody>
          <a:bodyPr/>
          <a:lstStyle/>
          <a:p>
            <a:fld id="{6264BDCF-5269-49AC-A246-ED26C2B980E3}" type="slidenum">
              <a:rPr lang="en-US" smtClean="0"/>
              <a:t>129</a:t>
            </a:fld>
            <a:endParaRPr lang="en-US"/>
          </a:p>
        </p:txBody>
      </p:sp>
    </p:spTree>
    <p:extLst>
      <p:ext uri="{BB962C8B-B14F-4D97-AF65-F5344CB8AC3E}">
        <p14:creationId xmlns:p14="http://schemas.microsoft.com/office/powerpoint/2010/main" val="8012022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AF687-D284-D1D6-617C-37F64211A0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81DE2B-625C-81BB-ADC9-5A54DD043453}"/>
              </a:ext>
            </a:extLst>
          </p:cNvPr>
          <p:cNvSpPr>
            <a:spLocks noGrp="1"/>
          </p:cNvSpPr>
          <p:nvPr>
            <p:ph idx="1"/>
          </p:nvPr>
        </p:nvSpPr>
        <p:spPr/>
        <p:txBody>
          <a:bodyPr/>
          <a:lstStyle/>
          <a:p>
            <a:r>
              <a:rPr lang="en-US" dirty="0"/>
              <a:t>Retrieve the name and address of all employees who work for the ‘Research’ department.</a:t>
            </a:r>
          </a:p>
          <a:p>
            <a:r>
              <a:rPr lang="en-US" dirty="0"/>
              <a:t>{</a:t>
            </a:r>
            <a:r>
              <a:rPr lang="en-US" i="1" dirty="0"/>
              <a:t>q</a:t>
            </a:r>
            <a:r>
              <a:rPr lang="en-US" dirty="0"/>
              <a:t>, </a:t>
            </a:r>
            <a:r>
              <a:rPr lang="en-US" i="1" dirty="0"/>
              <a:t>s</a:t>
            </a:r>
            <a:r>
              <a:rPr lang="en-US" dirty="0"/>
              <a:t>, </a:t>
            </a:r>
            <a:r>
              <a:rPr lang="en-US" i="1" dirty="0"/>
              <a:t>v </a:t>
            </a:r>
            <a:r>
              <a:rPr lang="en-US" dirty="0"/>
              <a:t>| (∃</a:t>
            </a:r>
            <a:r>
              <a:rPr lang="en-US" i="1" dirty="0"/>
              <a:t>z</a:t>
            </a:r>
            <a:r>
              <a:rPr lang="en-US" dirty="0"/>
              <a:t>) (∃</a:t>
            </a:r>
            <a:r>
              <a:rPr lang="en-US" i="1" dirty="0"/>
              <a:t>l</a:t>
            </a:r>
            <a:r>
              <a:rPr lang="en-US" dirty="0"/>
              <a:t>) (∃</a:t>
            </a:r>
            <a:r>
              <a:rPr lang="en-US" i="1" dirty="0"/>
              <a:t>m</a:t>
            </a:r>
            <a:r>
              <a:rPr lang="en-US" dirty="0"/>
              <a:t>) (EMPLOYEE(</a:t>
            </a:r>
            <a:r>
              <a:rPr lang="en-US" i="1" dirty="0" err="1"/>
              <a:t>qrstuvwxyz</a:t>
            </a:r>
            <a:r>
              <a:rPr lang="en-US" dirty="0"/>
              <a:t>) </a:t>
            </a:r>
            <a:r>
              <a:rPr lang="en-US" b="1" dirty="0"/>
              <a:t>AND </a:t>
            </a:r>
            <a:r>
              <a:rPr lang="en-US" dirty="0"/>
              <a:t>DEPARTMENT(</a:t>
            </a:r>
            <a:r>
              <a:rPr lang="en-US" i="1" dirty="0" err="1"/>
              <a:t>lmno</a:t>
            </a:r>
            <a:r>
              <a:rPr lang="en-US" dirty="0"/>
              <a:t>) </a:t>
            </a:r>
            <a:r>
              <a:rPr lang="en-US" b="1" dirty="0"/>
              <a:t>AND </a:t>
            </a:r>
            <a:r>
              <a:rPr lang="en-US" i="1" dirty="0"/>
              <a:t>l</a:t>
            </a:r>
            <a:r>
              <a:rPr lang="en-US" dirty="0"/>
              <a:t>=‘Research’ </a:t>
            </a:r>
            <a:r>
              <a:rPr lang="en-US" b="1" dirty="0"/>
              <a:t>AND </a:t>
            </a:r>
            <a:r>
              <a:rPr lang="en-US" i="1" dirty="0"/>
              <a:t>m=z</a:t>
            </a:r>
            <a:r>
              <a:rPr lang="en-US" dirty="0"/>
              <a:t>)}</a:t>
            </a:r>
          </a:p>
          <a:p>
            <a:endParaRPr lang="en-US" dirty="0"/>
          </a:p>
        </p:txBody>
      </p:sp>
      <p:sp>
        <p:nvSpPr>
          <p:cNvPr id="4" name="Slide Number Placeholder 3">
            <a:extLst>
              <a:ext uri="{FF2B5EF4-FFF2-40B4-BE49-F238E27FC236}">
                <a16:creationId xmlns:a16="http://schemas.microsoft.com/office/drawing/2014/main" id="{AD66D7BD-AD5B-ADA3-2C97-1C5371CD2738}"/>
              </a:ext>
            </a:extLst>
          </p:cNvPr>
          <p:cNvSpPr>
            <a:spLocks noGrp="1"/>
          </p:cNvSpPr>
          <p:nvPr>
            <p:ph type="sldNum" sz="quarter" idx="12"/>
          </p:nvPr>
        </p:nvSpPr>
        <p:spPr/>
        <p:txBody>
          <a:bodyPr/>
          <a:lstStyle/>
          <a:p>
            <a:fld id="{6264BDCF-5269-49AC-A246-ED26C2B980E3}" type="slidenum">
              <a:rPr lang="en-US" smtClean="0"/>
              <a:t>130</a:t>
            </a:fld>
            <a:endParaRPr lang="en-US"/>
          </a:p>
        </p:txBody>
      </p:sp>
    </p:spTree>
    <p:extLst>
      <p:ext uri="{BB962C8B-B14F-4D97-AF65-F5344CB8AC3E}">
        <p14:creationId xmlns:p14="http://schemas.microsoft.com/office/powerpoint/2010/main" val="176952425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2D0AD-AA37-1040-2705-C200221884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E13FC0-5BB7-0280-D589-C25C9E56C16D}"/>
              </a:ext>
            </a:extLst>
          </p:cNvPr>
          <p:cNvSpPr>
            <a:spLocks noGrp="1"/>
          </p:cNvSpPr>
          <p:nvPr>
            <p:ph idx="1"/>
          </p:nvPr>
        </p:nvSpPr>
        <p:spPr/>
        <p:txBody>
          <a:bodyPr>
            <a:normAutofit/>
          </a:bodyPr>
          <a:lstStyle/>
          <a:p>
            <a:r>
              <a:rPr lang="en-US" dirty="0"/>
              <a:t>QBE language was based on the domain relational calculus, although this was realized later, after the domain calculus was formalized</a:t>
            </a:r>
          </a:p>
          <a:p>
            <a:r>
              <a:rPr lang="en-US" dirty="0"/>
              <a:t>QBE was one of the first graphical query languages with minimum syntax developed for database systems</a:t>
            </a:r>
          </a:p>
          <a:p>
            <a:r>
              <a:rPr lang="en-US" dirty="0"/>
              <a:t>is available as an IBM commercial product as part of the Query Management Facility (QMF) interface option to DB2</a:t>
            </a:r>
          </a:p>
          <a:p>
            <a:r>
              <a:rPr lang="en-US" dirty="0"/>
              <a:t>ideas used in QBE have been applied in several other commercial products</a:t>
            </a:r>
          </a:p>
        </p:txBody>
      </p:sp>
      <p:sp>
        <p:nvSpPr>
          <p:cNvPr id="4" name="Slide Number Placeholder 3">
            <a:extLst>
              <a:ext uri="{FF2B5EF4-FFF2-40B4-BE49-F238E27FC236}">
                <a16:creationId xmlns:a16="http://schemas.microsoft.com/office/drawing/2014/main" id="{B260E4E5-5A61-02A9-BA4C-2A86E14C0ABB}"/>
              </a:ext>
            </a:extLst>
          </p:cNvPr>
          <p:cNvSpPr>
            <a:spLocks noGrp="1"/>
          </p:cNvSpPr>
          <p:nvPr>
            <p:ph type="sldNum" sz="quarter" idx="12"/>
          </p:nvPr>
        </p:nvSpPr>
        <p:spPr/>
        <p:txBody>
          <a:bodyPr/>
          <a:lstStyle/>
          <a:p>
            <a:fld id="{6264BDCF-5269-49AC-A246-ED26C2B980E3}" type="slidenum">
              <a:rPr lang="en-US" smtClean="0"/>
              <a:t>131</a:t>
            </a:fld>
            <a:endParaRPr lang="en-US"/>
          </a:p>
        </p:txBody>
      </p:sp>
    </p:spTree>
    <p:extLst>
      <p:ext uri="{BB962C8B-B14F-4D97-AF65-F5344CB8AC3E}">
        <p14:creationId xmlns:p14="http://schemas.microsoft.com/office/powerpoint/2010/main" val="206801365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82E7-22D7-0088-4685-D1BE53B343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8FCA77-BAAF-EFD8-B01B-030C4267DFB8}"/>
              </a:ext>
            </a:extLst>
          </p:cNvPr>
          <p:cNvSpPr>
            <a:spLocks noGrp="1"/>
          </p:cNvSpPr>
          <p:nvPr>
            <p:ph idx="1"/>
          </p:nvPr>
        </p:nvSpPr>
        <p:spPr/>
        <p:txBody>
          <a:bodyPr>
            <a:normAutofit/>
          </a:bodyPr>
          <a:lstStyle/>
          <a:p>
            <a:endParaRPr lang="en-US" sz="3300" dirty="0"/>
          </a:p>
          <a:p>
            <a:r>
              <a:rPr lang="en-US" sz="3300" dirty="0"/>
              <a:t>any </a:t>
            </a:r>
            <a:r>
              <a:rPr lang="en-US" sz="3300" i="1" dirty="0"/>
              <a:t>safe expression </a:t>
            </a:r>
            <a:r>
              <a:rPr lang="en-US" sz="3300" dirty="0"/>
              <a:t>in tuple or </a:t>
            </a:r>
            <a:r>
              <a:rPr lang="en-US" sz="3300"/>
              <a:t>domain relational </a:t>
            </a:r>
            <a:r>
              <a:rPr lang="en-US" sz="3300" dirty="0"/>
              <a:t>calculus </a:t>
            </a:r>
            <a:r>
              <a:rPr lang="en-US" sz="3300"/>
              <a:t>can be expressed </a:t>
            </a:r>
            <a:r>
              <a:rPr lang="en-US" sz="3300" dirty="0"/>
              <a:t>in the basic </a:t>
            </a:r>
            <a:r>
              <a:rPr lang="en-US" sz="3300"/>
              <a:t>relational algebra</a:t>
            </a:r>
            <a:endParaRPr lang="en-US" sz="3300" dirty="0"/>
          </a:p>
          <a:p>
            <a:endParaRPr lang="en-US" sz="3300" dirty="0"/>
          </a:p>
        </p:txBody>
      </p:sp>
      <p:sp>
        <p:nvSpPr>
          <p:cNvPr id="4" name="Slide Number Placeholder 3">
            <a:extLst>
              <a:ext uri="{FF2B5EF4-FFF2-40B4-BE49-F238E27FC236}">
                <a16:creationId xmlns:a16="http://schemas.microsoft.com/office/drawing/2014/main" id="{C19EB93A-1DF9-1F9D-8414-8FE8EB29AD64}"/>
              </a:ext>
            </a:extLst>
          </p:cNvPr>
          <p:cNvSpPr>
            <a:spLocks noGrp="1"/>
          </p:cNvSpPr>
          <p:nvPr>
            <p:ph type="sldNum" sz="quarter" idx="12"/>
          </p:nvPr>
        </p:nvSpPr>
        <p:spPr/>
        <p:txBody>
          <a:bodyPr/>
          <a:lstStyle/>
          <a:p>
            <a:fld id="{6264BDCF-5269-49AC-A246-ED26C2B980E3}" type="slidenum">
              <a:rPr lang="en-US" smtClean="0"/>
              <a:t>132</a:t>
            </a:fld>
            <a:endParaRPr lang="en-US"/>
          </a:p>
        </p:txBody>
      </p:sp>
    </p:spTree>
    <p:extLst>
      <p:ext uri="{BB962C8B-B14F-4D97-AF65-F5344CB8AC3E}">
        <p14:creationId xmlns:p14="http://schemas.microsoft.com/office/powerpoint/2010/main" val="240611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F4AD3F-BED0-4CCC-97CB-88C8D4B713F4}"/>
</file>

<file path=customXml/itemProps2.xml><?xml version="1.0" encoding="utf-8"?>
<ds:datastoreItem xmlns:ds="http://schemas.openxmlformats.org/officeDocument/2006/customXml" ds:itemID="{0F6654E0-6EFB-4780-87E5-A9D145C951DE}"/>
</file>

<file path=customXml/itemProps3.xml><?xml version="1.0" encoding="utf-8"?>
<ds:datastoreItem xmlns:ds="http://schemas.openxmlformats.org/officeDocument/2006/customXml" ds:itemID="{4D47E166-72B1-4A27-A359-0125DACBFC17}"/>
</file>

<file path=docProps/app.xml><?xml version="1.0" encoding="utf-8"?>
<Properties xmlns="http://schemas.openxmlformats.org/officeDocument/2006/extended-properties" xmlns:vt="http://schemas.openxmlformats.org/officeDocument/2006/docPropsVTypes">
  <TotalTime>3797</TotalTime>
  <Words>8662</Words>
  <Application>Microsoft Office PowerPoint</Application>
  <PresentationFormat>Widescreen</PresentationFormat>
  <Paragraphs>627</Paragraphs>
  <Slides>132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Arial</vt:lpstr>
      <vt:lpstr>Calibri</vt:lpstr>
      <vt:lpstr>Calibri Light</vt:lpstr>
      <vt:lpstr>MinionPro-Bold</vt:lpstr>
      <vt:lpstr>MinionPro-It</vt:lpstr>
      <vt:lpstr>MinionPro-Regular</vt:lpstr>
      <vt:lpstr>Office Theme</vt:lpstr>
      <vt:lpstr>DataBase</vt:lpstr>
      <vt:lpstr>Relational Data Model</vt:lpstr>
      <vt:lpstr>Relation</vt:lpstr>
      <vt:lpstr>PowerPoint Presentation</vt:lpstr>
      <vt:lpstr>Relational Algebra</vt:lpstr>
      <vt:lpstr>Relational Algebra</vt:lpstr>
      <vt:lpstr>Relational Calculus</vt:lpstr>
      <vt:lpstr>Relational Algebra</vt:lpstr>
      <vt:lpstr>Relational Algebra</vt:lpstr>
      <vt:lpstr>Relational Algebra</vt:lpstr>
      <vt:lpstr>Relational Calculus</vt:lpstr>
      <vt:lpstr>SELECT Operation</vt:lpstr>
      <vt:lpstr>PowerPoint Presentation</vt:lpstr>
      <vt:lpstr>SELECT Operation</vt:lpstr>
      <vt:lpstr>SELECT Operation</vt:lpstr>
      <vt:lpstr>SELECT Operation</vt:lpstr>
      <vt:lpstr>PowerPoint Presentation</vt:lpstr>
      <vt:lpstr>SELECT Operation</vt:lpstr>
      <vt:lpstr>SELECT Operation</vt:lpstr>
      <vt:lpstr>SELECT Operation</vt:lpstr>
      <vt:lpstr>SELECT Operation</vt:lpstr>
      <vt:lpstr>SELECT Operation</vt:lpstr>
      <vt:lpstr>PROJECT Operation</vt:lpstr>
      <vt:lpstr>PROJECT Operation</vt:lpstr>
      <vt:lpstr>PowerPoint Presentation</vt:lpstr>
      <vt:lpstr>PROJECT Operation</vt:lpstr>
      <vt:lpstr>PROJECT Operation</vt:lpstr>
      <vt:lpstr>πLname, Fname, Salary(EMPLOYEE) πSex, Salary(EMPLOYEE)</vt:lpstr>
      <vt:lpstr>PROJECT Operation</vt:lpstr>
      <vt:lpstr>PROJECT Operation</vt:lpstr>
      <vt:lpstr>PROJECT Operation</vt:lpstr>
      <vt:lpstr>PROJECT Operation</vt:lpstr>
      <vt:lpstr>Sequences of Operations</vt:lpstr>
      <vt:lpstr>PowerPoint Presentation</vt:lpstr>
      <vt:lpstr>Rename operation</vt:lpstr>
      <vt:lpstr>RENAME operation</vt:lpstr>
      <vt:lpstr>PowerPoint Presentation</vt:lpstr>
      <vt:lpstr>RENAME operation</vt:lpstr>
      <vt:lpstr>UNION, INTERSECTION, and MINUS Operations</vt:lpstr>
      <vt:lpstr>PowerPoint Presentation</vt:lpstr>
      <vt:lpstr>PowerPoint Presentation</vt:lpstr>
      <vt:lpstr>PowerPoint Presentation</vt:lpstr>
      <vt:lpstr>CARTESIAN PRODUCT (CROSS PRODUCT) Operation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JOIN Operation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EQUIJOIN</vt:lpstr>
      <vt:lpstr>NATURAL JOIN</vt:lpstr>
      <vt:lpstr>Inner JOIN </vt:lpstr>
      <vt:lpstr>Complete Set of Relational Algebra Operations</vt:lpstr>
      <vt:lpstr>PowerPoint Presentation</vt:lpstr>
      <vt:lpstr>DIVISION Operation</vt:lpstr>
      <vt:lpstr>PowerPoint Presentation</vt:lpstr>
      <vt:lpstr>PowerPoint Presentation</vt:lpstr>
      <vt:lpstr>PowerPoint Presentation</vt:lpstr>
      <vt:lpstr>PowerPoint Presentation</vt:lpstr>
      <vt:lpstr>T ← R ÷ S.</vt:lpstr>
      <vt:lpstr>PowerPoint Presentation</vt:lpstr>
      <vt:lpstr>PowerPoint Presentation</vt:lpstr>
      <vt:lpstr>Notation for Query Trees</vt:lpstr>
      <vt:lpstr>PowerPoint Presentation</vt:lpstr>
      <vt:lpstr>PowerPoint Presentation</vt:lpstr>
      <vt:lpstr>PowerPoint Presentation</vt:lpstr>
      <vt:lpstr>PowerPoint Presentation</vt:lpstr>
      <vt:lpstr>Generalized Projection</vt:lpstr>
      <vt:lpstr>Aggregate Functions and Grouping</vt:lpstr>
      <vt:lpstr>PowerPoint Presentation</vt:lpstr>
      <vt:lpstr>PowerPoint Presentation</vt:lpstr>
      <vt:lpstr>PowerPoint Presentation</vt:lpstr>
      <vt:lpstr>Recursive Closure Operations</vt:lpstr>
      <vt:lpstr>PowerPoint Presentation</vt:lpstr>
      <vt:lpstr>PowerPoint Presentation</vt:lpstr>
      <vt:lpstr>PowerPoint Presentation</vt:lpstr>
      <vt:lpstr>PowerPoint Presentation</vt:lpstr>
      <vt:lpstr>OUTER JOIN Operations</vt:lpstr>
      <vt:lpstr>PowerPoint Presentation</vt:lpstr>
      <vt:lpstr>PowerPoint Presentation</vt:lpstr>
      <vt:lpstr>Relational Calculus</vt:lpstr>
      <vt:lpstr>Relational Calculus</vt:lpstr>
      <vt:lpstr>PowerPoint Presentation</vt:lpstr>
      <vt:lpstr>PowerPoint Presentation</vt:lpstr>
      <vt:lpstr>PowerPoint Presentation</vt:lpstr>
      <vt:lpstr>PowerPoint Presentation</vt:lpstr>
      <vt:lpstr>Tuple Relational Calculus</vt:lpstr>
      <vt:lpstr>Tuple Variables and Range Relations</vt:lpstr>
      <vt:lpstr>PowerPoint Presentation</vt:lpstr>
      <vt:lpstr>PowerPoint Presentation</vt:lpstr>
      <vt:lpstr>PowerPoint Presentation</vt:lpstr>
      <vt:lpstr>PowerPoint Presentation</vt:lpstr>
      <vt:lpstr>PowerPoint Presentation</vt:lpstr>
      <vt:lpstr>Expressions and Formulas in Tuple Relational Calculus</vt:lpstr>
      <vt:lpstr>atom of the form R(ti)</vt:lpstr>
      <vt:lpstr>atom of the form ti.A op tj.B</vt:lpstr>
      <vt:lpstr>atom of the form ti.A op c or c op tj.B,</vt:lpstr>
      <vt:lpstr>PowerPoint Presentation</vt:lpstr>
      <vt:lpstr>Existential and Universal Quantifiers</vt:lpstr>
      <vt:lpstr>PowerPoint Presentation</vt:lpstr>
      <vt:lpstr>PowerPoint Presentation</vt:lpstr>
      <vt:lpstr>PowerPoint Presentation</vt:lpstr>
      <vt:lpstr>PowerPoint Presentation</vt:lpstr>
      <vt:lpstr>PowerPoint Presentation</vt:lpstr>
      <vt:lpstr>Notation for Query Graphs</vt:lpstr>
      <vt:lpstr>PowerPoint Presentation</vt:lpstr>
      <vt:lpstr>Transforming Universal and Existential Quantifiers</vt:lpstr>
      <vt:lpstr>PowerPoint Presentation</vt:lpstr>
      <vt:lpstr>PowerPoint Presentation</vt:lpstr>
      <vt:lpstr>PowerPoint Presentation</vt:lpstr>
      <vt:lpstr>Safe Expressions</vt:lpstr>
      <vt:lpstr>Domain Relational Calculus</vt:lpstr>
      <vt:lpstr>PowerPoint Presentation</vt:lpstr>
      <vt:lpstr>Domain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144</cp:revision>
  <dcterms:created xsi:type="dcterms:W3CDTF">2023-08-06T12:55:35Z</dcterms:created>
  <dcterms:modified xsi:type="dcterms:W3CDTF">2025-08-10T08:45:31Z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