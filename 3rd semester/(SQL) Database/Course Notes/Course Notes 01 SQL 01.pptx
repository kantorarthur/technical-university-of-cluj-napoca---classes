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0" r:id="rId17"/>
    <p:sldId id="273" r:id="rId18"/>
    <p:sldId id="274" r:id="rId19"/>
    <p:sldId id="275" r:id="rId20"/>
    <p:sldId id="290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4" r:id="rId31"/>
    <p:sldId id="286" r:id="rId32"/>
    <p:sldId id="287" r:id="rId33"/>
    <p:sldId id="288" r:id="rId34"/>
    <p:sldId id="289" r:id="rId35"/>
    <p:sldId id="292" r:id="rId36"/>
    <p:sldId id="291" r:id="rId37"/>
    <p:sldId id="293" r:id="rId38"/>
    <p:sldId id="294" r:id="rId39"/>
    <p:sldId id="295" r:id="rId40"/>
    <p:sldId id="296" r:id="rId41"/>
    <p:sldId id="297" r:id="rId42"/>
    <p:sldId id="300" r:id="rId43"/>
    <p:sldId id="299" r:id="rId44"/>
    <p:sldId id="298" r:id="rId45"/>
    <p:sldId id="301" r:id="rId46"/>
    <p:sldId id="303" r:id="rId47"/>
    <p:sldId id="305" r:id="rId48"/>
    <p:sldId id="306" r:id="rId49"/>
    <p:sldId id="304" r:id="rId50"/>
    <p:sldId id="309" r:id="rId51"/>
    <p:sldId id="310" r:id="rId52"/>
    <p:sldId id="308" r:id="rId53"/>
    <p:sldId id="311" r:id="rId54"/>
    <p:sldId id="312" r:id="rId55"/>
    <p:sldId id="30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2" r:id="rId65"/>
    <p:sldId id="321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customXml" Target="../customXml/item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85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86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28022-3C0D-418B-A8D0-6F07DD708D64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C1943-EA29-41FC-8FD0-B2CFE14359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8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F0693-3796-4872-A646-36E9DD818325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15C6B-A99D-4376-B85D-B9F8AA4AA6C2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61B2-CFBA-4340-AEA4-5D8542C068CF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B736-50EF-48EA-AB03-2E3302D67BCB}" type="datetime1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244C6-2BE6-4274-9647-B45DDA121EF7}" type="datetime1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68B19-1A13-4694-8113-01153F41A6A1}" type="datetime1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223B1-26B7-4927-8A17-9A12A0387197}" type="datetime1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A93DA-D41D-4C3D-9F59-01152E6E7804}" type="datetime1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753F7-2318-4A49-BA8C-91D00DE5893F}" type="datetime1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A11B2-A719-45B9-A2C8-422707F433E0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0C866-4B19-4831-BC60-0FCF548618BC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DA98C-EC19-43B6-9880-785FFE0C27DA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Structured Query Language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23D44-A265-4C35-B3D9-34A1C005FE0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713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4B181-C43E-6B7D-324A-5D4B9798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</a:t>
            </a:r>
            <a:r>
              <a:rPr lang="en-US" dirty="0" err="1"/>
              <a:t>DataBase</a:t>
            </a:r>
            <a:r>
              <a:rPr lang="en-US" dirty="0"/>
              <a:t>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BEBC4-21EB-5FB6-C604-9A72DFF8E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document databases</a:t>
            </a:r>
          </a:p>
          <a:p>
            <a:pPr lvl="1"/>
            <a:r>
              <a:rPr lang="en-US" sz="2700" dirty="0"/>
              <a:t>a SQLite database, a file, a document</a:t>
            </a:r>
          </a:p>
          <a:p>
            <a:pPr lvl="1"/>
            <a:r>
              <a:rPr lang="en-US" sz="2700" dirty="0"/>
              <a:t>an Access database, a file, a document</a:t>
            </a:r>
          </a:p>
          <a:p>
            <a:pPr lvl="1"/>
            <a:r>
              <a:rPr lang="en-US" sz="2700" dirty="0"/>
              <a:t>a FileMaker database, a file, a document</a:t>
            </a:r>
          </a:p>
          <a:p>
            <a:r>
              <a:rPr lang="en-US" sz="2800" dirty="0"/>
              <a:t>database server</a:t>
            </a:r>
          </a:p>
          <a:p>
            <a:pPr lvl="1"/>
            <a:r>
              <a:rPr lang="en-US" sz="2700" dirty="0" err="1"/>
              <a:t>PostGreSQL</a:t>
            </a:r>
            <a:endParaRPr lang="en-US" sz="2700" dirty="0"/>
          </a:p>
          <a:p>
            <a:pPr lvl="1"/>
            <a:r>
              <a:rPr lang="en-US" sz="2700" dirty="0"/>
              <a:t>SQL Server</a:t>
            </a:r>
          </a:p>
          <a:p>
            <a:pPr lvl="1"/>
            <a:r>
              <a:rPr lang="en-US" sz="2700" dirty="0"/>
              <a:t>Oracle </a:t>
            </a:r>
          </a:p>
          <a:p>
            <a:pPr lvl="1"/>
            <a:r>
              <a:rPr lang="en-US" sz="2700" dirty="0"/>
              <a:t>MySQL, MariaDB</a:t>
            </a:r>
          </a:p>
          <a:p>
            <a:pPr lvl="1"/>
            <a:endParaRPr lang="en-US" sz="2700" dirty="0"/>
          </a:p>
          <a:p>
            <a:pPr lvl="1"/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5B58D-B7E8-57EE-09DE-43407DE72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36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2043A-C088-122F-40AC-7F3BFA8CF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FA3B1-1139-AB1D-2DD6-FA4D6DE40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3DAF4-BAE0-2E5A-6109-EA6A6AC1F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database is a named, self-contained collection of objects, like tables and functions</a:t>
            </a:r>
          </a:p>
          <a:p>
            <a:r>
              <a:rPr lang="en-US" sz="2800" dirty="0"/>
              <a:t>stored together and managed by the server</a:t>
            </a:r>
          </a:p>
          <a:p>
            <a:r>
              <a:rPr lang="en-US" sz="2800" dirty="0"/>
              <a:t>acts as a logical container for organizing and structuring related data</a:t>
            </a:r>
          </a:p>
          <a:p>
            <a:pPr lvl="1"/>
            <a:r>
              <a:rPr lang="en-US" sz="2700" dirty="0"/>
              <a:t>holds all the information and structures related to a specific application or project</a:t>
            </a:r>
          </a:p>
          <a:p>
            <a:endParaRPr lang="en-US" sz="2800" dirty="0"/>
          </a:p>
          <a:p>
            <a:r>
              <a:rPr lang="en-US" sz="2800" i="1" dirty="0"/>
              <a:t>object names are unique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377F5-48C4-E8E6-332C-5982342E5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952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80D9C-AE83-7FFF-3D72-7437936F6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71A39-50BA-9905-A6D2-166DF48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1A51C-E0DB-FF29-06E9-5B6F5185C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11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D9CBD-529E-D3F7-C4B2-D5576B915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containers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26ABA-42DF-1F26-CD80-A6ED8CB78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in some database no (SQLite) in some database yes (</a:t>
            </a:r>
            <a:r>
              <a:rPr lang="en-US" sz="2800" dirty="0" err="1"/>
              <a:t>PostGreSQL</a:t>
            </a:r>
            <a:r>
              <a:rPr lang="en-US" sz="2800" dirty="0"/>
              <a:t>)</a:t>
            </a:r>
          </a:p>
          <a:p>
            <a:r>
              <a:rPr lang="en-US" sz="2800" dirty="0"/>
              <a:t>a schema is a named collection of database objects like tables, views, functions, and more</a:t>
            </a:r>
          </a:p>
          <a:p>
            <a:r>
              <a:rPr lang="en-US" sz="2800" dirty="0"/>
              <a:t>acts as a namespace within a database, allowing you to organize and group related objects, making it easier to manage and maintain database structures </a:t>
            </a:r>
          </a:p>
          <a:p>
            <a:r>
              <a:rPr lang="en-US" sz="2800" dirty="0"/>
              <a:t>used to group related files - schemas group related database objects</a:t>
            </a:r>
          </a:p>
          <a:p>
            <a:r>
              <a:rPr lang="en-US" sz="2800" i="1" dirty="0"/>
              <a:t>object names are unique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9C1C4-9CA3-5929-BF31-49DA94C18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90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DEE73-686C-0286-1821-6EA70B901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0A1DB-CE16-1320-5C20-A59FAD55A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D0D2F5-676E-8882-EEEC-E4A62EE69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Container inside container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834A2D-6D4D-45FA-B1C2-93AA87A6A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another Container inside container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68AFA-4118-ABA7-0522-C545EB88F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59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065C5-8429-9B99-19E2-DB039E523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2352C-787D-9CD4-BE5F-5523E6CEF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named collection of rows</a:t>
            </a:r>
          </a:p>
          <a:p>
            <a:pPr lvl="1"/>
            <a:r>
              <a:rPr lang="en-US" sz="2700" dirty="0"/>
              <a:t>entity set</a:t>
            </a:r>
          </a:p>
          <a:p>
            <a:r>
              <a:rPr lang="en-US" sz="2800" dirty="0"/>
              <a:t>each row has the same set of named columns, and each column is of a specific type</a:t>
            </a:r>
            <a:endParaRPr lang="en-US" sz="2700" dirty="0"/>
          </a:p>
          <a:p>
            <a:pPr lvl="1"/>
            <a:r>
              <a:rPr lang="en-US" sz="2700" dirty="0"/>
              <a:t>entity</a:t>
            </a:r>
          </a:p>
          <a:p>
            <a:r>
              <a:rPr lang="en-US" sz="2700" dirty="0"/>
              <a:t>tables are made up of rows and columns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B0CA6-4D86-85EC-001C-741947058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8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BBD1C-CF5F-3EF2-7435-209A731C0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6F430-EE0C-F2F0-4367-ACB5CBB25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sz="2800" dirty="0"/>
              <a:t>a database table is a structured collection of data organized into rows and columns, similar to a Excel spreadsheet</a:t>
            </a:r>
          </a:p>
          <a:p>
            <a:pPr fontAlgn="ctr"/>
            <a:r>
              <a:rPr lang="en-US" sz="2800" dirty="0"/>
              <a:t>fundamental component of relational databases</a:t>
            </a:r>
          </a:p>
          <a:p>
            <a:pPr fontAlgn="ctr"/>
            <a:r>
              <a:rPr lang="en-US" sz="2800" dirty="0"/>
              <a:t>used to store information about specific entities</a:t>
            </a:r>
          </a:p>
          <a:p>
            <a:pPr fontAlgn="ctr"/>
            <a:r>
              <a:rPr lang="en-US" sz="2800" dirty="0"/>
              <a:t>each row in table represents a record (entity)</a:t>
            </a:r>
          </a:p>
          <a:p>
            <a:pPr fontAlgn="ctr"/>
            <a:r>
              <a:rPr lang="en-US" sz="2800" dirty="0"/>
              <a:t>each column represents an attribute or field of that record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8FF83-26A8-CFA7-60EB-6EF4F0B2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21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B78F0-9489-A3A2-C8B0-7888FD8C8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D99A-5EE5-78B2-44E1-B5FED5B72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Rows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866A6-1546-BEED-289F-92D7C4221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sz="2800" dirty="0"/>
              <a:t>rows or records </a:t>
            </a:r>
          </a:p>
          <a:p>
            <a:pPr fontAlgn="ctr"/>
            <a:r>
              <a:rPr lang="en-US" sz="2800" dirty="0"/>
              <a:t>each row contains a set of related data for a single instance of the subject / object / entity the table represents</a:t>
            </a:r>
          </a:p>
          <a:p>
            <a:pPr lvl="1" fontAlgn="ctr"/>
            <a:r>
              <a:rPr lang="en-US" sz="2700" dirty="0"/>
              <a:t>for example, in a </a:t>
            </a:r>
            <a:r>
              <a:rPr lang="en-US" sz="2700" i="1" dirty="0"/>
              <a:t>Customers</a:t>
            </a:r>
            <a:r>
              <a:rPr lang="en-US" sz="2700" dirty="0"/>
              <a:t> table, each row would represent a single customer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E39A9-737F-4D30-C449-06CAA67F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803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7C115-E898-5057-6BF7-20CA4558D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5568A-B186-A8CA-3FC0-EE8FECD85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13743-ADA1-D483-D21C-B08EB41B2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sz="2800" dirty="0"/>
              <a:t>columns or fields</a:t>
            </a:r>
          </a:p>
          <a:p>
            <a:pPr fontAlgn="ctr"/>
            <a:r>
              <a:rPr lang="en-US" sz="2800" dirty="0"/>
              <a:t>each column represents a specific attribute or characteristic of the subject / object / entity</a:t>
            </a:r>
          </a:p>
          <a:p>
            <a:pPr lvl="1" fontAlgn="ctr"/>
            <a:r>
              <a:rPr lang="en-US" sz="2700" dirty="0"/>
              <a:t>for example, in a </a:t>
            </a:r>
            <a:r>
              <a:rPr lang="en-US" sz="2700" i="1" dirty="0"/>
              <a:t>Customers</a:t>
            </a:r>
            <a:r>
              <a:rPr lang="en-US" sz="2700" dirty="0"/>
              <a:t> table, columns might include </a:t>
            </a:r>
            <a:r>
              <a:rPr lang="en-US" sz="2700" i="1" dirty="0" err="1"/>
              <a:t>CustomerID</a:t>
            </a:r>
            <a:r>
              <a:rPr lang="en-US" sz="2700" dirty="0"/>
              <a:t>, </a:t>
            </a:r>
            <a:r>
              <a:rPr lang="en-US" sz="2700" i="1" dirty="0" err="1"/>
              <a:t>CustomerName</a:t>
            </a:r>
            <a:r>
              <a:rPr lang="en-US" sz="2700" dirty="0"/>
              <a:t>, </a:t>
            </a:r>
            <a:r>
              <a:rPr lang="en-US" sz="2700" i="1" dirty="0"/>
              <a:t>Address</a:t>
            </a:r>
            <a:r>
              <a:rPr lang="en-US" sz="2700" dirty="0"/>
              <a:t>, </a:t>
            </a:r>
            <a:r>
              <a:rPr lang="en-US" sz="2700" i="1" dirty="0"/>
              <a:t>City</a:t>
            </a:r>
            <a:r>
              <a:rPr lang="en-US" sz="2700" dirty="0"/>
              <a:t>, etc.  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F8397-B2F7-54DB-42E6-E011139E9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18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36D24-2A4C-E6CB-1372-43FFEA161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21246-4B2A-C8CE-BE64-02A4648B7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5CDB0-4A63-8002-BE88-0F9014693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sz="2800" dirty="0"/>
              <a:t>the intersection of a row and a column is called a field, which contains the specific value for that attribute for that record</a:t>
            </a:r>
          </a:p>
          <a:p>
            <a:pPr lvl="1" fontAlgn="ctr"/>
            <a:r>
              <a:rPr lang="en-US" sz="2700" dirty="0"/>
              <a:t>for example, in the </a:t>
            </a:r>
            <a:r>
              <a:rPr lang="en-US" sz="2700" i="1" dirty="0"/>
              <a:t>Customers</a:t>
            </a:r>
            <a:r>
              <a:rPr lang="en-US" sz="2700" dirty="0"/>
              <a:t> table, a field in the </a:t>
            </a:r>
            <a:r>
              <a:rPr lang="en-US" sz="2700" i="1" dirty="0"/>
              <a:t>City</a:t>
            </a:r>
            <a:r>
              <a:rPr lang="en-US" sz="2700" dirty="0"/>
              <a:t> column might be </a:t>
            </a:r>
            <a:r>
              <a:rPr lang="en-US" sz="2700" i="1" dirty="0"/>
              <a:t>New York</a:t>
            </a:r>
            <a:r>
              <a:rPr lang="en-US" sz="2700" dirty="0"/>
              <a:t> for a specific customer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FDF23-59F6-E9BE-B030-98900D0F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969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09C4B-631F-6775-E429-516B8A001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BB0D2-64E0-E45D-EB7A-43DFADFE0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70F8D-6F1A-8B06-40F9-3BE29F65B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 a relational database, tables are related to each other through shared columns, often called primary and foreign keys, enabling complex data relationships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BFF6E-966B-1F6E-EA29-2FC1DCBD7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47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C5A5B-D86D-45FB-C98A-47F599316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4AA60-C66D-0A32-6A5B-253ED5555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relational database are called relation because the data model was based on the mathematics theory of relation and not because relationship are formed between tables – tables are relations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09D97-C32E-6B5B-D542-17449A48B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40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82A5C3E-A73C-8FA1-AD38-F3575B8FD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406900"/>
            <a:ext cx="8269287" cy="1362075"/>
          </a:xfrm>
        </p:spPr>
        <p:txBody>
          <a:bodyPr/>
          <a:lstStyle/>
          <a:p>
            <a:r>
              <a:rPr lang="en-US" dirty="0"/>
              <a:t>Structured Query Language SQL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7001C3-D56B-B8B5-5F76-6427CDD83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ED1D5-F651-2F57-303E-5CF382AA2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2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82501-8409-1C3F-20D5-C3BE00C04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E867E-B912-7D23-8FFE-5FD86F9E7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Structured Query Language </a:t>
            </a:r>
            <a:br>
              <a:rPr lang="en-US" dirty="0"/>
            </a:br>
            <a:r>
              <a:rPr lang="en-US" dirty="0"/>
              <a:t>SQL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1A06F-ECAA-4B10-F5F6-F12FE6FF0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Data Manipulation Language (DML): subset of SQL allows users to pose queries and do CRUD operations: insert, delete, and modify rows</a:t>
            </a:r>
          </a:p>
          <a:p>
            <a:pPr lvl="1"/>
            <a:r>
              <a:rPr lang="en-US" sz="2700" dirty="0"/>
              <a:t>SELECT Queries are the main focus of this part</a:t>
            </a:r>
          </a:p>
          <a:p>
            <a:r>
              <a:rPr lang="en-US" sz="2800" dirty="0"/>
              <a:t>Data Definition Language (DDL): subset of SQL supports the creation, deletion, and modification of definitions for tables and views and Integrity Constraints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10F31-C6E3-A302-8E6D-8585FFFA5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277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9F886-9DF9-86C5-6B6A-E5A8694A5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F3E87-2498-03A6-5858-9B3775D9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Structured Query Language </a:t>
            </a:r>
            <a:br>
              <a:rPr lang="en-US" dirty="0"/>
            </a:br>
            <a:r>
              <a:rPr lang="en-US" dirty="0"/>
              <a:t>SQL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491BC-F14A-3333-B84F-D1B92EEE9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Embedded and Dynamic SQL: embedded SQL features allow SQL code to be called from a host language such as C, Java or Python. </a:t>
            </a:r>
          </a:p>
          <a:p>
            <a:r>
              <a:rPr lang="en-US" sz="2800" dirty="0"/>
              <a:t>Security: SQL provides mechanisms to control users' access to data objects.</a:t>
            </a:r>
          </a:p>
          <a:p>
            <a:r>
              <a:rPr lang="en-US" sz="2800" dirty="0"/>
              <a:t>Advanced features: the SQL:1999 standard includes object-oriented features and many others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2046C-E6B4-0167-6EFD-62B07EEB5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671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B8A76-A30D-4D90-4791-796FFDB72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A4C2-8EF4-578F-E92A-8E0B32E7E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R="0" algn="just" rtl="0"/>
            <a:r>
              <a:rPr lang="en-US" sz="2800" b="0" i="0" u="none" strike="noStrike" kern="100" baseline="0" dirty="0"/>
              <a:t>we will present a number of sample queries using the following table definitions:</a:t>
            </a:r>
          </a:p>
          <a:p>
            <a:pPr lvl="1" algn="just"/>
            <a:r>
              <a:rPr lang="en-US" sz="2700" b="0" i="0" u="none" strike="noStrike" kern="100" baseline="0" dirty="0"/>
              <a:t>Sailors( </a:t>
            </a:r>
            <a:r>
              <a:rPr lang="en-US" sz="2700" b="0" i="0" u="sng" strike="noStrike" kern="100" baseline="0" dirty="0" err="1"/>
              <a:t>sid</a:t>
            </a:r>
            <a:r>
              <a:rPr lang="en-US" sz="2700" b="0" i="0" u="none" strike="noStrike" kern="100" baseline="0" dirty="0"/>
              <a:t>: integer, </a:t>
            </a:r>
            <a:r>
              <a:rPr lang="en-US" sz="2700" b="0" i="0" u="none" strike="noStrike" kern="100" baseline="0" dirty="0" err="1"/>
              <a:t>sname</a:t>
            </a:r>
            <a:r>
              <a:rPr lang="en-US" sz="2700" b="0" i="0" u="none" strike="noStrike" kern="100" baseline="0" dirty="0"/>
              <a:t>: string, rating: integer, age: real)</a:t>
            </a:r>
          </a:p>
          <a:p>
            <a:pPr lvl="1" algn="just"/>
            <a:r>
              <a:rPr lang="en-US" sz="2700" b="0" i="0" u="none" strike="noStrike" kern="100" baseline="0" dirty="0"/>
              <a:t>Boats( </a:t>
            </a:r>
            <a:r>
              <a:rPr lang="en-US" sz="2700" b="0" i="0" u="sng" strike="noStrike" kern="100" baseline="0" dirty="0"/>
              <a:t>bid</a:t>
            </a:r>
            <a:r>
              <a:rPr lang="en-US" sz="2700" b="0" i="0" u="none" strike="noStrike" kern="100" baseline="0" dirty="0"/>
              <a:t>: integer, </a:t>
            </a:r>
            <a:r>
              <a:rPr lang="en-US" sz="2700" b="0" i="0" u="none" strike="noStrike" kern="100" baseline="0" dirty="0" err="1"/>
              <a:t>bname</a:t>
            </a:r>
            <a:r>
              <a:rPr lang="en-US" sz="2700" b="0" i="0" u="none" strike="noStrike" kern="100" baseline="0" dirty="0"/>
              <a:t>: string, color: string)</a:t>
            </a:r>
          </a:p>
          <a:p>
            <a:pPr lvl="1" algn="just"/>
            <a:r>
              <a:rPr lang="en-US" sz="2700" b="0" i="0" u="none" strike="noStrike" kern="100" baseline="0" dirty="0"/>
              <a:t>Reserves (</a:t>
            </a:r>
            <a:r>
              <a:rPr lang="en-US" sz="2700" b="0" i="0" u="sng" strike="noStrike" kern="100" baseline="0" dirty="0" err="1"/>
              <a:t>sid</a:t>
            </a:r>
            <a:r>
              <a:rPr lang="en-US" sz="2700" b="0" i="0" u="none" strike="noStrike" kern="100" baseline="0" dirty="0"/>
              <a:t>: integer, </a:t>
            </a:r>
            <a:r>
              <a:rPr lang="en-US" sz="2700" b="0" i="0" u="sng" strike="noStrike" kern="100" baseline="0" dirty="0"/>
              <a:t>bid</a:t>
            </a:r>
            <a:r>
              <a:rPr lang="en-US" sz="2700" b="0" i="0" u="none" strike="noStrike" kern="100" baseline="0" dirty="0"/>
              <a:t>: integer, </a:t>
            </a:r>
            <a:r>
              <a:rPr lang="en-US" sz="2700" b="0" i="0" u="sng" strike="noStrike" kern="100" baseline="0" dirty="0"/>
              <a:t>day</a:t>
            </a:r>
            <a:r>
              <a:rPr lang="en-US" sz="2700" b="0" i="0" u="none" strike="noStrike" kern="100" baseline="0" dirty="0"/>
              <a:t>: date)</a:t>
            </a:r>
          </a:p>
          <a:p>
            <a:pPr marR="0" algn="just" rtl="0"/>
            <a:r>
              <a:rPr lang="en-US" sz="2800" b="0" i="0" u="none" strike="noStrike" kern="100" baseline="0" dirty="0"/>
              <a:t>the key fields are underlined, and the domain of each field is listed after the field name. Thus, </a:t>
            </a:r>
            <a:r>
              <a:rPr lang="en-US" sz="2800" b="0" i="0" u="none" strike="noStrike" kern="100" baseline="0" dirty="0" err="1"/>
              <a:t>sid</a:t>
            </a:r>
            <a:r>
              <a:rPr lang="en-US" sz="2800" b="0" i="0" u="none" strike="noStrike" kern="100" baseline="0" dirty="0"/>
              <a:t> is the key for Sailors, bid is the key for Boats, and all three fields together form the key for Reserves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CD958-71EA-7C34-A4A5-08AD8C0AF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93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9CA21-2AA1-E15B-4B5F-313E9B2C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form of an SQL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4D846-5B21-D2F0-BBFC-DD4304592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[DISTINCT] select-list</a:t>
            </a:r>
          </a:p>
          <a:p>
            <a:r>
              <a:rPr lang="en-US" dirty="0"/>
              <a:t>FROM from-list</a:t>
            </a:r>
          </a:p>
          <a:p>
            <a:r>
              <a:rPr lang="en-US" dirty="0"/>
              <a:t>WHERE qualification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2C61A-851E-5E13-C464-E74AAC32E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69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8CF15-4B6F-8AB4-4D35-635DD265D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653E4-3DA0-80CF-7237-928D3F7CC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every query must have a SELECT clause, which specifies expression and columns to be retained in the result</a:t>
            </a:r>
          </a:p>
          <a:p>
            <a:pPr lvl="1"/>
            <a:r>
              <a:rPr lang="en-US" sz="2700" dirty="0"/>
              <a:t>SELECT 1 -- simplest query </a:t>
            </a:r>
          </a:p>
          <a:p>
            <a:r>
              <a:rPr lang="en-US" sz="2800" dirty="0"/>
              <a:t>every query must have a FROM clause, which specifies a cross-product of tables</a:t>
            </a:r>
          </a:p>
          <a:p>
            <a:r>
              <a:rPr lang="en-US" sz="2800" dirty="0"/>
              <a:t>an optional WHERE clause specifies selection conditions on tables mentioned in FROM clause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C3528-0EDD-8445-309C-77AF68520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114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54423-5CDB-C455-F27E-8247D7465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0B45-BC64-DA9D-FC13-9CB426CBF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/>
              <a:t>some </a:t>
            </a:r>
            <a:r>
              <a:rPr lang="en-US" sz="2800" i="1" dirty="0" err="1"/>
              <a:t>DataBase</a:t>
            </a:r>
            <a:r>
              <a:rPr lang="en-US" sz="2800" i="1" dirty="0"/>
              <a:t> Management System enforce the mandatory FROM clause in SELECT</a:t>
            </a:r>
          </a:p>
          <a:p>
            <a:pPr lvl="1"/>
            <a:r>
              <a:rPr lang="en-US" i="1" dirty="0"/>
              <a:t>and model SELECT value FROM special table </a:t>
            </a:r>
          </a:p>
          <a:p>
            <a:pPr lvl="2"/>
            <a:r>
              <a:rPr lang="en-US" sz="2800" i="1" dirty="0"/>
              <a:t>with 1 single row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375B6-68A8-8629-C8F6-3A19163A5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67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1D68-F4CF-198B-12C6-B0C26B32D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Find the names and ages of all sailors.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DCF8A-2774-9A17-CA03-6CD0B8E81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SELECT DISTINCT </a:t>
            </a:r>
            <a:r>
              <a:rPr lang="en-US" sz="2800" dirty="0" err="1"/>
              <a:t>S.sname</a:t>
            </a:r>
            <a:r>
              <a:rPr lang="en-US" sz="2800" dirty="0"/>
              <a:t>, </a:t>
            </a:r>
            <a:r>
              <a:rPr lang="en-US" sz="2800" dirty="0" err="1"/>
              <a:t>S.age</a:t>
            </a:r>
            <a:endParaRPr lang="en-US" sz="2800" dirty="0"/>
          </a:p>
          <a:p>
            <a:r>
              <a:rPr lang="en-US" sz="2800" dirty="0"/>
              <a:t>FROM Sailors S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E83E3-A428-A46B-1A70-AA4824DE7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91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92A97-5B77-83AC-A672-17740043C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303B6-CD79-2A8F-2C5D-A05CE6B47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answer is a set of rows, each of which is a pair (</a:t>
            </a:r>
            <a:r>
              <a:rPr lang="en-US" sz="2800" dirty="0" err="1"/>
              <a:t>sname</a:t>
            </a:r>
            <a:r>
              <a:rPr lang="en-US" sz="2800" dirty="0"/>
              <a:t>, age)</a:t>
            </a:r>
          </a:p>
          <a:p>
            <a:r>
              <a:rPr lang="en-US" sz="2800" dirty="0"/>
              <a:t>if two or more sailors have the same name and age, the answer still contains just one pair with that name and age</a:t>
            </a:r>
          </a:p>
          <a:p>
            <a:r>
              <a:rPr lang="en-US" sz="2800" dirty="0"/>
              <a:t>input is a relation (and relation is a set, and in a set elements are unique), output is a relation</a:t>
            </a:r>
          </a:p>
          <a:p>
            <a:r>
              <a:rPr lang="en-US" sz="2800" dirty="0"/>
              <a:t>query is equivalent to applying the projection operator of relational algebra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098D4-1E0A-EEFE-ADE0-9D4F480E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670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F3697-6FA4-8C97-BB0C-7E6C1F34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86EA3-B927-DE20-B1A4-A04FED3A9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dirty="0"/>
              <a:t>if we omit the keyword DISTINCT, we will get a copy of the rows (</a:t>
            </a:r>
            <a:r>
              <a:rPr lang="en-US" sz="3000" dirty="0" err="1"/>
              <a:t>sname</a:t>
            </a:r>
            <a:r>
              <a:rPr lang="en-US" sz="3000" dirty="0"/>
              <a:t>, age) for each sailor </a:t>
            </a:r>
          </a:p>
          <a:p>
            <a:r>
              <a:rPr lang="en-US" sz="3000" dirty="0"/>
              <a:t>answer would be a multiset of rows; a multiset is similar to a set in that it is an unordered collection of elements, but there could be several copies of each element, and the number of copies is significant </a:t>
            </a:r>
          </a:p>
          <a:p>
            <a:r>
              <a:rPr lang="en-US" sz="3000" dirty="0"/>
              <a:t>DISTINCT keyword is optional - indicates that the table computed as answer to this query should not contain duplicates, that is, two copies of the same row; default is that duplicates are not eliminated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30681-A628-981E-CF10-484E0213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81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054C-4F8F-55F2-6E75-F2243EBAA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Find the names and ages of all sailors.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6DF8FB-C4D0-6E01-9914-55F21A702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4040188" cy="1031875"/>
          </a:xfrm>
        </p:spPr>
        <p:txBody>
          <a:bodyPr>
            <a:normAutofit/>
          </a:bodyPr>
          <a:lstStyle/>
          <a:p>
            <a:r>
              <a:rPr lang="en-US" dirty="0"/>
              <a:t>SELECT DISTINCT </a:t>
            </a:r>
            <a:r>
              <a:rPr lang="en-US" dirty="0" err="1"/>
              <a:t>sname</a:t>
            </a:r>
            <a:r>
              <a:rPr lang="en-US" dirty="0"/>
              <a:t>, age</a:t>
            </a:r>
          </a:p>
          <a:p>
            <a:r>
              <a:rPr lang="en-US" dirty="0"/>
              <a:t>FROM sailors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FE9776-499A-A487-D2DC-5DB5C22A45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Dustin	45.0</a:t>
            </a:r>
          </a:p>
          <a:p>
            <a:r>
              <a:rPr lang="en-US" dirty="0"/>
              <a:t>Brutus	33.0</a:t>
            </a:r>
          </a:p>
          <a:p>
            <a:r>
              <a:rPr lang="en-US" dirty="0"/>
              <a:t>Lubber	55.5</a:t>
            </a:r>
          </a:p>
          <a:p>
            <a:r>
              <a:rPr lang="en-US" dirty="0"/>
              <a:t>Andy	25.5</a:t>
            </a:r>
          </a:p>
          <a:p>
            <a:r>
              <a:rPr lang="en-US" dirty="0"/>
              <a:t>Rusty	35.0</a:t>
            </a:r>
          </a:p>
          <a:p>
            <a:r>
              <a:rPr lang="en-US" dirty="0"/>
              <a:t>Horatio	35.0</a:t>
            </a:r>
          </a:p>
          <a:p>
            <a:r>
              <a:rPr lang="en-US" dirty="0"/>
              <a:t>Zorba	16.0</a:t>
            </a:r>
          </a:p>
          <a:p>
            <a:r>
              <a:rPr lang="en-US" dirty="0"/>
              <a:t>Horatio	35.0</a:t>
            </a:r>
          </a:p>
          <a:p>
            <a:r>
              <a:rPr lang="en-US" dirty="0"/>
              <a:t>Art		25.5</a:t>
            </a:r>
          </a:p>
          <a:p>
            <a:r>
              <a:rPr lang="en-US" dirty="0"/>
              <a:t>Bob		63.5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1B17D7-24E0-150D-74C7-112A35635D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5" y="1143000"/>
            <a:ext cx="4041775" cy="1031875"/>
          </a:xfrm>
        </p:spPr>
        <p:txBody>
          <a:bodyPr>
            <a:normAutofit/>
          </a:bodyPr>
          <a:lstStyle/>
          <a:p>
            <a:r>
              <a:rPr lang="en-US" dirty="0"/>
              <a:t>SELECT </a:t>
            </a:r>
            <a:r>
              <a:rPr lang="en-US" dirty="0" err="1"/>
              <a:t>sname</a:t>
            </a:r>
            <a:r>
              <a:rPr lang="en-US" dirty="0"/>
              <a:t>, age</a:t>
            </a:r>
          </a:p>
          <a:p>
            <a:r>
              <a:rPr lang="en-US" dirty="0"/>
              <a:t>FROM sailors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07915E0-FCDC-ACDC-27DF-6BAFD0D39D9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Dustin	45.0</a:t>
            </a:r>
          </a:p>
          <a:p>
            <a:r>
              <a:rPr lang="en-US" dirty="0"/>
              <a:t>Brutus	33.0</a:t>
            </a:r>
          </a:p>
          <a:p>
            <a:r>
              <a:rPr lang="en-US" dirty="0"/>
              <a:t>Lubber	55.5</a:t>
            </a:r>
          </a:p>
          <a:p>
            <a:r>
              <a:rPr lang="en-US" dirty="0"/>
              <a:t>Andy	25.5</a:t>
            </a:r>
          </a:p>
          <a:p>
            <a:r>
              <a:rPr lang="en-US" dirty="0"/>
              <a:t>Rusty	35.0</a:t>
            </a:r>
          </a:p>
          <a:p>
            <a:r>
              <a:rPr lang="en-US" dirty="0"/>
              <a:t>Horatio	35.0</a:t>
            </a:r>
          </a:p>
          <a:p>
            <a:r>
              <a:rPr lang="en-US" dirty="0"/>
              <a:t>Zorba	16.0</a:t>
            </a:r>
          </a:p>
          <a:p>
            <a:r>
              <a:rPr lang="en-US" dirty="0"/>
              <a:t>Art		25.5</a:t>
            </a:r>
          </a:p>
          <a:p>
            <a:r>
              <a:rPr lang="en-US" dirty="0"/>
              <a:t>Bob		63.5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9D84C-A992-82E3-F2A5-25FD7BD6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53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38A0-E379-C73C-58AF-82F3E4AC7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Find all sailors with a rating above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3FF84-2905-D38A-2225-EEDDE2F90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SELECT </a:t>
            </a:r>
            <a:r>
              <a:rPr lang="en-US" sz="2800" dirty="0" err="1"/>
              <a:t>S.sid</a:t>
            </a:r>
            <a:r>
              <a:rPr lang="en-US" sz="2800" dirty="0"/>
              <a:t>, </a:t>
            </a:r>
            <a:r>
              <a:rPr lang="en-US" sz="2800" dirty="0" err="1"/>
              <a:t>S.sname</a:t>
            </a:r>
            <a:r>
              <a:rPr lang="en-US" sz="2800" dirty="0"/>
              <a:t>, </a:t>
            </a:r>
            <a:r>
              <a:rPr lang="en-US" sz="2800" dirty="0" err="1"/>
              <a:t>S.rating</a:t>
            </a:r>
            <a:r>
              <a:rPr lang="en-US" sz="2800" dirty="0"/>
              <a:t>, </a:t>
            </a:r>
            <a:r>
              <a:rPr lang="en-US" sz="2800" dirty="0" err="1"/>
              <a:t>S.age</a:t>
            </a:r>
            <a:endParaRPr lang="en-US" sz="2800" dirty="0"/>
          </a:p>
          <a:p>
            <a:r>
              <a:rPr lang="en-US" sz="2800" dirty="0"/>
              <a:t>FROM Sailors AS S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S.rating</a:t>
            </a:r>
            <a:r>
              <a:rPr lang="en-US" sz="2800" dirty="0"/>
              <a:t> &gt; 7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31E9-AD8F-A125-C0E5-90B97DDC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40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875CF-D6BD-9E5C-565B-61A14FA88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7D1BC-3E78-B89E-9AE1-75AFCEBE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query is equivalent to an application of the selection operator of relational algebra follow by projection</a:t>
            </a:r>
          </a:p>
          <a:p>
            <a:r>
              <a:rPr lang="en-US" sz="2800" dirty="0"/>
              <a:t>SELECT clause is used to do projection, whereas selections in the relational algebra sense are expressed using the WHERE clause! </a:t>
            </a:r>
          </a:p>
          <a:p>
            <a:pPr lvl="1"/>
            <a:r>
              <a:rPr lang="en-US" sz="2700" i="1" dirty="0"/>
              <a:t>mismatch between the naming of the selection and projection operators in relational algebra and the syntax of SQL is an unfortunate historical accident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39040-0067-A0C3-D086-2A61AB1A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60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306E8-86A7-E146-936C-37868ACAC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4D9EF-1D28-EF39-EC61-2F2F3796A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query uses the optional keyword AS to introduce a range variable</a:t>
            </a:r>
          </a:p>
          <a:p>
            <a:r>
              <a:rPr lang="en-US" sz="2800" dirty="0"/>
              <a:t>use of range variables is optional, unless they are needed to resolve an ambiguity</a:t>
            </a:r>
          </a:p>
          <a:p>
            <a:r>
              <a:rPr lang="en-US" sz="2800" dirty="0"/>
              <a:t>to retrieve all columns SQL provides a convenient shorthand: can simply write SELECT *</a:t>
            </a:r>
          </a:p>
          <a:p>
            <a:pPr lvl="1"/>
            <a:r>
              <a:rPr lang="en-US" sz="2700" dirty="0"/>
              <a:t>notation is useful for interactive querying</a:t>
            </a:r>
          </a:p>
          <a:p>
            <a:pPr lvl="1"/>
            <a:r>
              <a:rPr lang="en-US" sz="2700" dirty="0"/>
              <a:t>but it is poor style for queries that are intended to be reused and maintained because the schema of the result is not clear from the query itself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13911-93E1-15CB-0A79-0A8BC2C8A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220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76D3A-49B8-B828-5088-A62448EA3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243A6-C0FA-F23E-6DEE-3A97926E8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39" y="1600200"/>
            <a:ext cx="8229600" cy="4525963"/>
          </a:xfrm>
        </p:spPr>
        <p:txBody>
          <a:bodyPr>
            <a:noAutofit/>
          </a:bodyPr>
          <a:lstStyle/>
          <a:p>
            <a:r>
              <a:rPr lang="en-US" sz="2800" b="1" i="1" dirty="0"/>
              <a:t>from-list</a:t>
            </a:r>
            <a:r>
              <a:rPr lang="en-US" sz="2800" dirty="0"/>
              <a:t> in the FROM clause is a list of table names</a:t>
            </a:r>
          </a:p>
          <a:p>
            <a:r>
              <a:rPr lang="en-US" sz="2800" dirty="0"/>
              <a:t>table name can be followed by a range variable</a:t>
            </a:r>
          </a:p>
          <a:p>
            <a:pPr lvl="1"/>
            <a:r>
              <a:rPr lang="en-US" sz="2700" dirty="0"/>
              <a:t>range variable is particularly useful when the same table name appears more than once in the </a:t>
            </a:r>
            <a:r>
              <a:rPr lang="en-US" sz="2700" i="1" dirty="0"/>
              <a:t>from-list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ED18D-14B7-6A1A-8E3D-E3615C0FB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447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D2EA6-6586-4841-7F9E-E98B090F3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1FDBA-3165-A813-6A64-DDA82B542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21E31-D98C-79BE-D01E-0543C5198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39" y="1600200"/>
            <a:ext cx="8229600" cy="4525963"/>
          </a:xfrm>
        </p:spPr>
        <p:txBody>
          <a:bodyPr>
            <a:noAutofit/>
          </a:bodyPr>
          <a:lstStyle/>
          <a:p>
            <a:r>
              <a:rPr lang="en-US" sz="2800" b="1" i="1" dirty="0"/>
              <a:t>select-list</a:t>
            </a:r>
            <a:r>
              <a:rPr lang="en-US" sz="2800" dirty="0"/>
              <a:t> is a list of expressions involving column names of tables named in </a:t>
            </a:r>
            <a:r>
              <a:rPr lang="en-US" sz="2800" i="1" dirty="0"/>
              <a:t>from-list</a:t>
            </a:r>
          </a:p>
          <a:p>
            <a:pPr lvl="1"/>
            <a:r>
              <a:rPr lang="en-US" sz="2700" dirty="0"/>
              <a:t>column names can be prefixed by a range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0658-4171-A5F0-99AE-D991E015A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3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983D6-5145-E32E-AC9E-9ABACC6E5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1AA29-AD7D-ECCE-7FB4-397464397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qualification in the </a:t>
            </a:r>
            <a:r>
              <a:rPr lang="en-US" sz="2800" b="1" dirty="0"/>
              <a:t>WHERE</a:t>
            </a:r>
            <a:r>
              <a:rPr lang="en-US" sz="2800" dirty="0"/>
              <a:t> clause is a Boolean combination (i.e., an expression using logical connectives AND, OR, and NOT) of conditions of the form:</a:t>
            </a:r>
          </a:p>
          <a:p>
            <a:pPr lvl="1"/>
            <a:r>
              <a:rPr lang="en-US" sz="2700" dirty="0"/>
              <a:t>expression op expression</a:t>
            </a:r>
          </a:p>
          <a:p>
            <a:pPr lvl="2"/>
            <a:r>
              <a:rPr lang="en-US" sz="2700" dirty="0"/>
              <a:t>where op is one of the comparison operators {&lt;, &lt;=, =, &lt;&gt;, &gt;=, &gt;} </a:t>
            </a:r>
          </a:p>
          <a:p>
            <a:pPr lvl="2"/>
            <a:r>
              <a:rPr lang="en-US" sz="2700" dirty="0"/>
              <a:t>and an expression is a column name, a constant, or an (arithmetic or string) expression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F12AF-8BEC-11D4-178B-B1B96CCC7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112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4DE1B-149D-F986-FD68-764CC394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rules describe (informally) the syntax of a basic SQL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F7C3C-C1F8-3503-AC52-0FC90C075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525963"/>
          </a:xfrm>
        </p:spPr>
        <p:txBody>
          <a:bodyPr>
            <a:noAutofit/>
          </a:bodyPr>
          <a:lstStyle/>
          <a:p>
            <a:r>
              <a:rPr lang="en-US" sz="2800" dirty="0"/>
              <a:t>answer to a query is itself a relation which is a multiset of rows whose contents can be understood by considering following conceptual evaluation strategy: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compute cross-product of tables in </a:t>
            </a:r>
            <a:r>
              <a:rPr lang="en-US" sz="2800" i="1" dirty="0"/>
              <a:t>from-list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eliminate rows in cross-product that fail WHERE </a:t>
            </a:r>
            <a:r>
              <a:rPr lang="en-US" sz="2800" i="1" dirty="0"/>
              <a:t>qualification</a:t>
            </a:r>
            <a:r>
              <a:rPr lang="en-US" sz="2800" dirty="0"/>
              <a:t> conditions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eliminate columns that do not appear in </a:t>
            </a:r>
            <a:r>
              <a:rPr lang="en-US" sz="2800" i="1" dirty="0"/>
              <a:t>select-list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if DISTINCT is specified, eliminate duplicate rows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10BF9-C001-DB4D-BDF0-D45DC8058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7806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87A46-6C35-4997-F600-9EAD2AF62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Find the names of sailors who have reserved boat number 103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7A60E-6D33-2037-1FD7-F346AAE1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SELECT </a:t>
            </a:r>
            <a:r>
              <a:rPr lang="en-US" sz="2800" dirty="0" err="1"/>
              <a:t>S.sname</a:t>
            </a:r>
            <a:endParaRPr lang="en-US" sz="2800" dirty="0"/>
          </a:p>
          <a:p>
            <a:r>
              <a:rPr lang="en-US" sz="2800" dirty="0"/>
              <a:t>FROM Sailors S, Reserves R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S.sid</a:t>
            </a:r>
            <a:r>
              <a:rPr lang="en-US" sz="2800" dirty="0"/>
              <a:t> = </a:t>
            </a:r>
            <a:r>
              <a:rPr lang="en-US" sz="2800" dirty="0" err="1"/>
              <a:t>R.sid</a:t>
            </a:r>
            <a:r>
              <a:rPr lang="en-US" sz="2800" dirty="0"/>
              <a:t> AND </a:t>
            </a:r>
            <a:r>
              <a:rPr lang="en-US" sz="2800" dirty="0" err="1"/>
              <a:t>R.bid</a:t>
            </a:r>
            <a:r>
              <a:rPr lang="en-US" sz="2800" dirty="0"/>
              <a:t>=103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BAD33-59BC-661D-1A1C-B317148BF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543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CE354-C4DE-AD58-BD88-0EB919308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0CB8E-F63A-10D3-D500-0BE4CE41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FC0032-AC44-BB16-4D7A-7DDDD8911B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" y="914400"/>
            <a:ext cx="8827462" cy="502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868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3D5-BA48-2968-1625-B376B8C5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FDC57-7D24-036D-DDB3-A016E2323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/>
              <a:t>things get complicated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78B5C-751D-365F-B11E-EEDA6CE76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936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43FDA-A44C-6B44-5027-928481259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B7BF5-5663-2772-660D-D7B11EF2A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rules describe (informally) the syntax of a basic SQL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6348B-AB08-5B3A-D69F-BB4ED9A02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525963"/>
          </a:xfrm>
        </p:spPr>
        <p:txBody>
          <a:bodyPr>
            <a:noAutofit/>
          </a:bodyPr>
          <a:lstStyle/>
          <a:p>
            <a:r>
              <a:rPr lang="en-US" sz="2800" dirty="0"/>
              <a:t>answer to a query is itself a relation which is a multiset of rows whose contents can be understood by considering following conceptual evaluation strategy: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compute cross-product of tables in </a:t>
            </a:r>
            <a:r>
              <a:rPr lang="en-US" sz="2800" i="1" dirty="0"/>
              <a:t>from-list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eliminate rows in </a:t>
            </a:r>
            <a:r>
              <a:rPr lang="en-US" sz="2800" b="1" dirty="0"/>
              <a:t>cross-product</a:t>
            </a:r>
            <a:r>
              <a:rPr lang="en-US" sz="2800" dirty="0"/>
              <a:t> that fail WHERE </a:t>
            </a:r>
            <a:r>
              <a:rPr lang="en-US" sz="2800" i="1" dirty="0"/>
              <a:t>qualification</a:t>
            </a:r>
            <a:r>
              <a:rPr lang="en-US" sz="2800" dirty="0"/>
              <a:t> conditions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eliminate columns that do not appear in </a:t>
            </a:r>
            <a:r>
              <a:rPr lang="en-US" sz="2800" i="1" dirty="0"/>
              <a:t>select-list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if DISTINCT is specified, eliminate duplicate rows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49286-B64A-C1DF-B08E-18126804C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270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4A61B-9B16-2602-5FB2-BEA32ADFE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Find the </a:t>
            </a:r>
            <a:r>
              <a:rPr lang="en-US" i="1" dirty="0" err="1"/>
              <a:t>sid</a:t>
            </a:r>
            <a:r>
              <a:rPr lang="en-US" i="1" dirty="0"/>
              <a:t> of sailors who have reserved a red boat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B67AA-A688-26FF-81FD-2326191B1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SELECT DISTINCT </a:t>
            </a:r>
            <a:r>
              <a:rPr lang="en-US" sz="2800" dirty="0" err="1"/>
              <a:t>R.sid</a:t>
            </a:r>
            <a:endParaRPr lang="en-US" sz="2800" dirty="0"/>
          </a:p>
          <a:p>
            <a:r>
              <a:rPr lang="en-US" sz="2800" dirty="0"/>
              <a:t>FROM Boats B, Reserves R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B.bid</a:t>
            </a:r>
            <a:r>
              <a:rPr lang="en-US" sz="2800" dirty="0"/>
              <a:t> = </a:t>
            </a:r>
            <a:r>
              <a:rPr lang="en-US" sz="2800" dirty="0" err="1"/>
              <a:t>R.bid</a:t>
            </a:r>
            <a:r>
              <a:rPr lang="en-US" sz="2800" dirty="0"/>
              <a:t> AND </a:t>
            </a:r>
            <a:r>
              <a:rPr lang="en-US" sz="2800" dirty="0" err="1"/>
              <a:t>B.color</a:t>
            </a:r>
            <a:r>
              <a:rPr lang="en-US" sz="2800" dirty="0"/>
              <a:t> = 'red</a:t>
            </a:r>
            <a:r>
              <a:rPr lang="en-US" b="1" dirty="0">
                <a:solidFill>
                  <a:srgbClr val="FF0000"/>
                </a:solidFill>
              </a:rPr>
              <a:t>’</a:t>
            </a:r>
          </a:p>
          <a:p>
            <a:endParaRPr lang="en-US" sz="2800" dirty="0"/>
          </a:p>
          <a:p>
            <a:r>
              <a:rPr lang="en-US" sz="2800" dirty="0"/>
              <a:t>22</a:t>
            </a:r>
          </a:p>
          <a:p>
            <a:r>
              <a:rPr lang="en-US" sz="2800" dirty="0"/>
              <a:t>31</a:t>
            </a:r>
          </a:p>
          <a:p>
            <a:r>
              <a:rPr lang="en-US" sz="2800" dirty="0"/>
              <a:t>64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DD820-870C-117A-20DD-047305AC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163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1A9C9-E5A3-0EF0-3E7C-17D284302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Find the names of sailors who have reserved a red boat.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ABE4C-47F2-03C6-AE11-051BD7B76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SELECT DISTINCT </a:t>
            </a:r>
            <a:r>
              <a:rPr lang="en-US" sz="2800" dirty="0" err="1"/>
              <a:t>S.sname</a:t>
            </a:r>
            <a:endParaRPr lang="en-US" sz="2800" dirty="0"/>
          </a:p>
          <a:p>
            <a:r>
              <a:rPr lang="en-US" sz="2800" dirty="0"/>
              <a:t>FROM Boats B, Reserves R, Sailors S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B.bid</a:t>
            </a:r>
            <a:r>
              <a:rPr lang="en-US" sz="2800" dirty="0"/>
              <a:t> = </a:t>
            </a:r>
            <a:r>
              <a:rPr lang="en-US" sz="2800" dirty="0" err="1"/>
              <a:t>R.bid</a:t>
            </a:r>
            <a:r>
              <a:rPr lang="en-US" sz="2800" dirty="0"/>
              <a:t> AND </a:t>
            </a:r>
            <a:r>
              <a:rPr lang="en-US" sz="2800" dirty="0" err="1"/>
              <a:t>S.sid</a:t>
            </a:r>
            <a:r>
              <a:rPr lang="en-US" sz="2800" dirty="0"/>
              <a:t> = </a:t>
            </a:r>
            <a:r>
              <a:rPr lang="en-US" sz="2800" dirty="0" err="1"/>
              <a:t>R.sid</a:t>
            </a:r>
            <a:r>
              <a:rPr lang="en-US" sz="2800" dirty="0"/>
              <a:t> AND </a:t>
            </a:r>
            <a:r>
              <a:rPr lang="en-US" sz="2800" dirty="0" err="1"/>
              <a:t>B.color</a:t>
            </a:r>
            <a:r>
              <a:rPr lang="en-US" sz="2800" dirty="0"/>
              <a:t> = 'red</a:t>
            </a:r>
            <a:r>
              <a:rPr lang="en-US" b="1" dirty="0"/>
              <a:t>'</a:t>
            </a:r>
            <a:endParaRPr lang="en-US" sz="2800" b="1" dirty="0"/>
          </a:p>
          <a:p>
            <a:endParaRPr lang="en-US" sz="2800" dirty="0"/>
          </a:p>
          <a:p>
            <a:r>
              <a:rPr lang="en-US" sz="2800" dirty="0"/>
              <a:t>Dustin</a:t>
            </a:r>
          </a:p>
          <a:p>
            <a:r>
              <a:rPr lang="en-US" sz="2800" dirty="0"/>
              <a:t>Lubber</a:t>
            </a:r>
          </a:p>
          <a:p>
            <a:r>
              <a:rPr lang="en-US" sz="2800" dirty="0"/>
              <a:t>Horatio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0EEB7-9AEE-43E5-8723-16B2D74C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9007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04493-B193-3E41-55E3-AB28673C8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B7BEC-0FC1-DB78-1DA4-DBF2EAFD8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previous two queries contains a join of two or three tables - cross-product - followed by a selection on the color of boats</a:t>
            </a:r>
          </a:p>
          <a:p>
            <a:r>
              <a:rPr lang="en-US" sz="2800" dirty="0"/>
              <a:t>join with Sailors allows us to find the name of the sailor S who, according to Reserves tuple R, has reserved a red boat described by tuple 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907C3-4834-C804-EA51-E4484991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1032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A74DC-EA94-6A44-4D62-0E4DC5088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Find the colors of boats reserved by Lubber.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F0630-2B26-702B-A8C5-478837F5F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SELECT </a:t>
            </a:r>
            <a:r>
              <a:rPr lang="en-US" sz="2800" dirty="0" err="1"/>
              <a:t>B.color</a:t>
            </a:r>
            <a:endParaRPr lang="en-US" sz="2800" dirty="0"/>
          </a:p>
          <a:p>
            <a:r>
              <a:rPr lang="en-US" sz="2800" dirty="0"/>
              <a:t>FROM Sailors S, Reserves R, Boats B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S.sid</a:t>
            </a:r>
            <a:r>
              <a:rPr lang="en-US" sz="2800" dirty="0"/>
              <a:t> = </a:t>
            </a:r>
            <a:r>
              <a:rPr lang="en-US" sz="2800" dirty="0" err="1"/>
              <a:t>R.sid</a:t>
            </a:r>
            <a:r>
              <a:rPr lang="en-US" sz="2800" dirty="0"/>
              <a:t> AND </a:t>
            </a:r>
            <a:r>
              <a:rPr lang="en-US" sz="2800" dirty="0" err="1"/>
              <a:t>R.bid</a:t>
            </a:r>
            <a:r>
              <a:rPr lang="en-US" sz="2800" dirty="0"/>
              <a:t> = </a:t>
            </a:r>
            <a:r>
              <a:rPr lang="en-US" sz="2800" dirty="0" err="1"/>
              <a:t>B.bid</a:t>
            </a:r>
            <a:r>
              <a:rPr lang="en-US" sz="2800" dirty="0"/>
              <a:t> </a:t>
            </a:r>
          </a:p>
          <a:p>
            <a:pPr lvl="1"/>
            <a:r>
              <a:rPr lang="en-US" dirty="0"/>
              <a:t>AND </a:t>
            </a:r>
            <a:r>
              <a:rPr lang="en-US" dirty="0" err="1"/>
              <a:t>S.sname</a:t>
            </a:r>
            <a:r>
              <a:rPr lang="en-US" dirty="0"/>
              <a:t> = 'Lubber'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A6424-E16A-6D14-F774-1AA18407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575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FED5E-14F9-7557-7DF6-2CDC67D5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Find the colors of boats reserved by </a:t>
            </a:r>
            <a:r>
              <a:rPr lang="en-US" b="1" i="1" dirty="0"/>
              <a:t>some </a:t>
            </a:r>
            <a:r>
              <a:rPr lang="en-US" i="1" dirty="0"/>
              <a:t>Lubber.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32318-EC70-A185-CD77-47F4F5341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there may be more than one sailor called Lubber (since </a:t>
            </a:r>
            <a:r>
              <a:rPr lang="en-US" sz="2800" dirty="0" err="1"/>
              <a:t>sname</a:t>
            </a:r>
            <a:r>
              <a:rPr lang="en-US" sz="2800" dirty="0"/>
              <a:t> is not a key for Sailors)</a:t>
            </a:r>
          </a:p>
          <a:p>
            <a:r>
              <a:rPr lang="en-US" sz="2800" dirty="0"/>
              <a:t>query is still correct in that it will return the colors of boats reserved by some Lubber, if there are several such sailors called Lubber </a:t>
            </a:r>
          </a:p>
          <a:p>
            <a:r>
              <a:rPr lang="en-US" sz="2800" dirty="0"/>
              <a:t>or none if the color of boats reserved by Lubber is unknown, NULL, inexistent in database, or Lubber doesn’t reserve any boats or there is no Sailors Lubber in database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ED598-E17A-FBCD-DA5B-A46005E92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891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BE93B-BE02-4206-EC3D-51A07923C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Find the names of sailors who have reserved at least one boat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5B77C-2F9C-2D0F-755B-E50CC93BF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SELECT DISTINCT </a:t>
            </a:r>
            <a:r>
              <a:rPr lang="en-US" sz="2800" dirty="0" err="1"/>
              <a:t>S.sname</a:t>
            </a:r>
            <a:endParaRPr lang="en-US" sz="2800" dirty="0"/>
          </a:p>
          <a:p>
            <a:r>
              <a:rPr lang="en-US" sz="2800" dirty="0"/>
              <a:t>FROM Sailors S, Reserves R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S.sid</a:t>
            </a:r>
            <a:r>
              <a:rPr lang="en-US" sz="2800" dirty="0"/>
              <a:t> = </a:t>
            </a:r>
            <a:r>
              <a:rPr lang="en-US" sz="2800" dirty="0" err="1"/>
              <a:t>R.sid</a:t>
            </a:r>
            <a:endParaRPr lang="en-US" sz="2800" dirty="0"/>
          </a:p>
          <a:p>
            <a:endParaRPr lang="en-US" sz="28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05EE9-9725-7046-56E3-6A0764DAE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73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72719-FFF7-A77C-065D-BEC3A5E93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1BE30-217D-79CA-AFF6-C106EAD0A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Find the names of sailors who have reserved at least one boat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59EB5-E53F-AEB1-7605-25A0DAE08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SELECT DISTINCT </a:t>
            </a:r>
            <a:r>
              <a:rPr lang="en-US" sz="2800" dirty="0" err="1"/>
              <a:t>S.sname</a:t>
            </a:r>
            <a:endParaRPr lang="en-US" sz="2800" dirty="0"/>
          </a:p>
          <a:p>
            <a:r>
              <a:rPr lang="en-US" sz="2800" dirty="0"/>
              <a:t>FROM Sailors S, Reserves R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S.sid</a:t>
            </a:r>
            <a:r>
              <a:rPr lang="en-US" sz="2800" dirty="0"/>
              <a:t> = </a:t>
            </a:r>
            <a:r>
              <a:rPr lang="en-US" sz="2800" dirty="0" err="1"/>
              <a:t>R.sid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Dustin</a:t>
            </a:r>
          </a:p>
          <a:p>
            <a:r>
              <a:rPr lang="en-US" sz="2800" dirty="0"/>
              <a:t>Lubber</a:t>
            </a:r>
          </a:p>
          <a:p>
            <a:r>
              <a:rPr lang="en-US" sz="2800" dirty="0"/>
              <a:t>Horatio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E59C0-DC94-00D5-C384-A2336799A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664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36A4D-B8B2-34EC-7EA0-D1DC0699B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 the names of sailors who have NOT reserved at least one boat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02BC2-3178-642F-33ED-A825037BA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SELECT DISTINCT </a:t>
            </a:r>
            <a:r>
              <a:rPr lang="en-US" sz="2800" dirty="0" err="1"/>
              <a:t>S.sname</a:t>
            </a:r>
            <a:endParaRPr lang="en-US" sz="2800" dirty="0"/>
          </a:p>
          <a:p>
            <a:r>
              <a:rPr lang="en-US" sz="2800" dirty="0"/>
              <a:t>FROM Sailors S, Reserves R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S.sid</a:t>
            </a:r>
            <a:r>
              <a:rPr lang="en-US" sz="2800" dirty="0"/>
              <a:t> </a:t>
            </a:r>
            <a:r>
              <a:rPr lang="en-US" sz="2800" b="1" dirty="0"/>
              <a:t>!=</a:t>
            </a:r>
            <a:r>
              <a:rPr lang="en-US" sz="2800" dirty="0"/>
              <a:t> </a:t>
            </a:r>
            <a:r>
              <a:rPr lang="en-US" sz="2800" dirty="0" err="1"/>
              <a:t>R.sid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BC66A-BB6F-325E-1EB2-AF986A5B5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400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97605-E93B-E2D8-A463-E5ECA11C7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gotcha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2E814-3C7C-0AF4-A475-7DD269D0F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contraction of “got you,”</a:t>
            </a:r>
          </a:p>
          <a:p>
            <a:r>
              <a:rPr lang="en-US" sz="2800" dirty="0"/>
              <a:t>and it has two meanings: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“I understand you.” For example: “Hey, </a:t>
            </a:r>
            <a:r>
              <a:rPr lang="en-US" sz="2800" dirty="0" err="1"/>
              <a:t>wanna</a:t>
            </a:r>
            <a:r>
              <a:rPr lang="en-US" sz="2800" dirty="0"/>
              <a:t> get some coffee after class?”/ˈ</a:t>
            </a:r>
            <a:r>
              <a:rPr lang="en-US" sz="2800" dirty="0" err="1"/>
              <a:t>ɡɒtʃə</a:t>
            </a:r>
            <a:r>
              <a:rPr lang="en-US" sz="2800" dirty="0"/>
              <a:t>/ informal exclamation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“I have got you.” Used to express satisfaction at having captured or defeated someone or uncovered their faults</a:t>
            </a:r>
          </a:p>
          <a:p>
            <a:r>
              <a:rPr lang="en-US" sz="2800" dirty="0"/>
              <a:t>in this case it is both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2678F-57F4-587B-F4A1-1832CD60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196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BFDE8-140D-426C-86EB-306A51EDC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C6FBF-97B1-C88E-E668-2D0A9AAA4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 the names of sailors who have NOT reserved at least one boat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59AD3-DD14-524F-12C4-A76A09395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SELECT DISTINCT </a:t>
            </a:r>
            <a:r>
              <a:rPr lang="en-US" sz="2800" dirty="0" err="1"/>
              <a:t>S.sname</a:t>
            </a:r>
            <a:endParaRPr lang="en-US" sz="2800" dirty="0"/>
          </a:p>
          <a:p>
            <a:r>
              <a:rPr lang="en-US" sz="2800" dirty="0"/>
              <a:t>FROM Sailors S, Reserves R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S.sid</a:t>
            </a:r>
            <a:r>
              <a:rPr lang="en-US" sz="2800" dirty="0"/>
              <a:t> </a:t>
            </a:r>
            <a:r>
              <a:rPr lang="en-US" sz="2800" b="1" dirty="0"/>
              <a:t>!=</a:t>
            </a:r>
            <a:r>
              <a:rPr lang="en-US" sz="2800" dirty="0"/>
              <a:t> </a:t>
            </a:r>
            <a:r>
              <a:rPr lang="en-US" sz="2800" dirty="0" err="1"/>
              <a:t>R.sid</a:t>
            </a:r>
            <a:endParaRPr lang="en-US" sz="2800" dirty="0"/>
          </a:p>
          <a:p>
            <a:endParaRPr lang="en-US" sz="2800" dirty="0"/>
          </a:p>
          <a:p>
            <a:r>
              <a:rPr lang="en-US" sz="2800" b="1" i="1" dirty="0"/>
              <a:t>Dustin</a:t>
            </a:r>
            <a:r>
              <a:rPr lang="en-US" sz="2800" dirty="0"/>
              <a:t>			Rusty</a:t>
            </a:r>
          </a:p>
          <a:p>
            <a:r>
              <a:rPr lang="en-US" sz="2800" dirty="0"/>
              <a:t>Brutus			</a:t>
            </a:r>
            <a:r>
              <a:rPr lang="en-US" sz="2800" b="1" i="1" dirty="0"/>
              <a:t>Horatio</a:t>
            </a:r>
            <a:endParaRPr lang="en-US" sz="2800" dirty="0"/>
          </a:p>
          <a:p>
            <a:r>
              <a:rPr lang="en-US" sz="2800" b="1" i="1" dirty="0"/>
              <a:t>Lubber</a:t>
            </a:r>
            <a:r>
              <a:rPr lang="en-US" sz="2800" dirty="0"/>
              <a:t>			Zorba</a:t>
            </a:r>
          </a:p>
          <a:p>
            <a:r>
              <a:rPr lang="en-US" sz="2800" dirty="0"/>
              <a:t>Andy			Art</a:t>
            </a:r>
          </a:p>
          <a:p>
            <a:r>
              <a:rPr lang="en-US" sz="2800" dirty="0"/>
              <a:t>Bob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49E21-77C5-5656-7681-8C5065E0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387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A9DB5-2208-4948-7FAF-B280977BD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53C19-E2B6-A4DB-E625-149B242A7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SQL supports a more general version of the </a:t>
            </a:r>
            <a:r>
              <a:rPr lang="en-US" sz="2800" i="1" dirty="0"/>
              <a:t>select-list</a:t>
            </a:r>
            <a:r>
              <a:rPr lang="en-US" sz="2800" dirty="0"/>
              <a:t> than just a list of columns</a:t>
            </a:r>
          </a:p>
          <a:p>
            <a:r>
              <a:rPr lang="en-US" sz="2800" dirty="0"/>
              <a:t>each item in a </a:t>
            </a:r>
            <a:r>
              <a:rPr lang="en-US" sz="2800" i="1" dirty="0"/>
              <a:t>select-list</a:t>
            </a:r>
            <a:r>
              <a:rPr lang="en-US" sz="2800" dirty="0"/>
              <a:t> can be an expression, arithmetic or string expression AS column-name, over column names (possibly prefixed by range variables) and constants, and column-name </a:t>
            </a:r>
          </a:p>
          <a:p>
            <a:r>
              <a:rPr lang="en-US" sz="2800" dirty="0"/>
              <a:t>it can also contain aggregates functions such as sum and count</a:t>
            </a:r>
          </a:p>
          <a:p>
            <a:r>
              <a:rPr lang="en-US" sz="2800" dirty="0"/>
              <a:t>SQL standard also includes expressions over date and time 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5B08C-561A-6DD8-0BDF-29C7AB7E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346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4F314-5A17-E02E-0DF8-03AB987B5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646BD-DB46-C5F1-B492-559237602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300" i="1" dirty="0"/>
              <a:t>Compute increments for ratings of people who have sailed two different boats on same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072AD-6506-ED44-8600-FD4E587F1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SELECT </a:t>
            </a:r>
            <a:r>
              <a:rPr lang="en-US" sz="2800" dirty="0" err="1"/>
              <a:t>S.sname</a:t>
            </a:r>
            <a:r>
              <a:rPr lang="en-US" sz="2800" dirty="0"/>
              <a:t>, S.rating+1 AS rating</a:t>
            </a:r>
          </a:p>
          <a:p>
            <a:r>
              <a:rPr lang="en-US" sz="2800" dirty="0"/>
              <a:t>FROM Sailors S, Reserves R1, Reserves R2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S.sid</a:t>
            </a:r>
            <a:r>
              <a:rPr lang="en-US" sz="2800" dirty="0"/>
              <a:t> = R1.sid AND </a:t>
            </a:r>
            <a:r>
              <a:rPr lang="en-US" sz="2800" dirty="0" err="1"/>
              <a:t>S.sid</a:t>
            </a:r>
            <a:r>
              <a:rPr lang="en-US" sz="2800" dirty="0"/>
              <a:t> = R2.sid</a:t>
            </a:r>
          </a:p>
          <a:p>
            <a:r>
              <a:rPr lang="en-US" sz="2800" dirty="0"/>
              <a:t>AND R1.day = R2.day AND R1.bid &lt;&gt; R2.bid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6B4CD-B246-CC8F-038B-E44521DE4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901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A2F70-7F29-2B93-3380-8AD84B9EC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AEC7F-03F5-1893-D626-32E66F1A8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also, each item in a qualification can be as general as expression1 </a:t>
            </a:r>
            <a:r>
              <a:rPr lang="en-US" sz="2800" i="1" dirty="0"/>
              <a:t>op</a:t>
            </a:r>
            <a:r>
              <a:rPr lang="en-US" sz="2800" dirty="0"/>
              <a:t> expression2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DD257-1B5D-6EDA-C807-785006EE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0529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DF9E0-87CC-2CE3-5FDB-A777D70E3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B5209-FD3B-408A-1706-C328D33B7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7C412-12AA-C1CE-17B4-DDE3767E8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for string comparisons, we can use comparison operators (=, &lt;, &gt;, etc.) with ordering of strings determined alphabetically as usual based on </a:t>
            </a:r>
            <a:r>
              <a:rPr lang="en-US" sz="2800" b="1" i="1" dirty="0"/>
              <a:t>collation</a:t>
            </a:r>
          </a:p>
          <a:p>
            <a:r>
              <a:rPr lang="en-US" sz="2800" dirty="0"/>
              <a:t>if we need to sort strings by order other than alphabetical (e.g., sort strings denoting month names in calendar order January, February, March, etc.), SQL supports a general concept of a collation, or sort order, for a character 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2499D-F57D-1DEC-8964-E3184353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476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C77D1-F7C0-D619-4724-6B3326FC3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C4C34-5EAB-D4C9-923C-9BCF2F3E9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A0994-AEAA-B698-D7ED-350718191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allows the user to specify which characters are 'less than' which others and provides great flexibility in string manipulation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A6D8B-D545-B30C-24C8-123C68945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412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C2853-EBBB-30AA-9F9D-0D52B5F08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BAD69-660A-B760-DC42-E57800F97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SQL provides support for pattern matching through the LIKE operator, along with the use of wild-card symbols</a:t>
            </a:r>
          </a:p>
          <a:p>
            <a:r>
              <a:rPr lang="en-US" sz="2800" dirty="0"/>
              <a:t>% which stands for zero or more arbitrary characters</a:t>
            </a:r>
          </a:p>
          <a:p>
            <a:r>
              <a:rPr lang="en-US" sz="2800" dirty="0"/>
              <a:t>_ which stands for exactly one, arbitrary, character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87C97-AD26-B53F-6021-99F0BFF9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884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FC2CF-A3E2-0257-70E8-05C87F82D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478CB-00BA-366C-3948-00DB15ED1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534400" cy="1143000"/>
          </a:xfrm>
        </p:spPr>
        <p:txBody>
          <a:bodyPr>
            <a:noAutofit/>
          </a:bodyPr>
          <a:lstStyle/>
          <a:p>
            <a:r>
              <a:rPr lang="en-US" sz="3300" i="1" dirty="0"/>
              <a:t>Find the ages of sailors whose name begins and ends with B and has at least three characters.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F2C33-DEEA-EF80-600D-13B4CAD63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SELECT </a:t>
            </a:r>
            <a:r>
              <a:rPr lang="en-US" sz="2800" dirty="0" err="1"/>
              <a:t>S.age</a:t>
            </a:r>
            <a:r>
              <a:rPr lang="en-US" sz="2800" dirty="0"/>
              <a:t> FROM Sailors S 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S.sname</a:t>
            </a:r>
            <a:r>
              <a:rPr lang="en-US" sz="2800" dirty="0"/>
              <a:t> LIKE 'B_%B'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C5209-6762-4A19-2DFC-5FB3A224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45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AE1DB-A265-EAE0-B062-70B84461E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E7D34-D969-B04E-EE23-8347F2118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FA381-ECCA-1F4F-5389-37961DAFA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800" dirty="0"/>
              <a:t>important to note that SQL is not whitespace sensitive in its interpretation </a:t>
            </a:r>
          </a:p>
          <a:p>
            <a:r>
              <a:rPr lang="en-US" sz="2800" dirty="0"/>
              <a:t>that means that any principles we apply here are entirely for the benefit of humans</a:t>
            </a:r>
          </a:p>
          <a:p>
            <a:r>
              <a:rPr lang="en-US" sz="2800" dirty="0"/>
              <a:t>your Database Management Systems doesn't care</a:t>
            </a:r>
          </a:p>
          <a:p>
            <a:r>
              <a:rPr lang="en-US" sz="2800" dirty="0"/>
              <a:t>SQL keywords are generally not case-sensitive across major Database Management Systems like PostgreSQL, SQLite, MySQL, SQL Server, and Oracle</a:t>
            </a:r>
          </a:p>
          <a:p>
            <a:r>
              <a:rPr lang="en-US" sz="2800" dirty="0"/>
              <a:t>this means whether you write SELECT, select, or </a:t>
            </a:r>
            <a:r>
              <a:rPr lang="en-US" sz="2800" dirty="0" err="1"/>
              <a:t>SeLeCt</a:t>
            </a:r>
            <a:r>
              <a:rPr lang="en-US" sz="2800" dirty="0"/>
              <a:t>, the functionality of your SQL queries stays unaffected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CE97B-B927-57D5-B24C-07D8AF7E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624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8BF17-90C5-2B00-1233-64C444B6B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7EC8-2E91-3E3B-19FE-E673EA11E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 the names of sailors who have NOT reserved at least one boat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495D7-D15C-7662-EB72-A9850C254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SELECT DISTINCT </a:t>
            </a:r>
            <a:r>
              <a:rPr lang="en-US" sz="2800" dirty="0" err="1"/>
              <a:t>S.sname</a:t>
            </a:r>
            <a:endParaRPr lang="en-US" sz="2800" dirty="0"/>
          </a:p>
          <a:p>
            <a:r>
              <a:rPr lang="en-US" sz="2800" dirty="0"/>
              <a:t>FROM Sailors S, Reserves R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S.sid</a:t>
            </a:r>
            <a:r>
              <a:rPr lang="en-US" sz="2800" dirty="0"/>
              <a:t> </a:t>
            </a:r>
            <a:r>
              <a:rPr lang="en-US" sz="2800" b="1" dirty="0"/>
              <a:t>!=</a:t>
            </a:r>
            <a:r>
              <a:rPr lang="en-US" sz="2800" dirty="0"/>
              <a:t> </a:t>
            </a:r>
            <a:r>
              <a:rPr lang="en-US" sz="2800" dirty="0" err="1"/>
              <a:t>R.sid</a:t>
            </a:r>
            <a:endParaRPr lang="en-US" sz="2800" dirty="0"/>
          </a:p>
          <a:p>
            <a:endParaRPr lang="en-US" sz="2800" dirty="0"/>
          </a:p>
          <a:p>
            <a:r>
              <a:rPr lang="en-US" sz="2800" b="1" i="1" dirty="0"/>
              <a:t>Dustin</a:t>
            </a:r>
            <a:r>
              <a:rPr lang="en-US" sz="2800" dirty="0"/>
              <a:t>			Rusty</a:t>
            </a:r>
          </a:p>
          <a:p>
            <a:r>
              <a:rPr lang="en-US" sz="2800" dirty="0"/>
              <a:t>Brutus			</a:t>
            </a:r>
            <a:r>
              <a:rPr lang="en-US" sz="2800" b="1" i="1" dirty="0"/>
              <a:t>Horatio</a:t>
            </a:r>
            <a:endParaRPr lang="en-US" sz="2800" dirty="0"/>
          </a:p>
          <a:p>
            <a:r>
              <a:rPr lang="en-US" sz="2800" b="1" i="1" dirty="0"/>
              <a:t>Lubber</a:t>
            </a:r>
            <a:r>
              <a:rPr lang="en-US" sz="2800" dirty="0"/>
              <a:t>			Zorba</a:t>
            </a:r>
          </a:p>
          <a:p>
            <a:r>
              <a:rPr lang="en-US" sz="2800" dirty="0"/>
              <a:t>Andy			Art</a:t>
            </a:r>
          </a:p>
          <a:p>
            <a:r>
              <a:rPr lang="en-US" sz="2800" dirty="0"/>
              <a:t>Bob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0EF7D-589D-AA03-24D5-868836751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232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BC27D-12DE-7571-ADF5-6D04578F4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UNION, INTERSECT, AND EXCEPT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EB426-621C-E655-F13B-D1DE2CBE1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SQL provides three set-manipulation constructs that extend the basic query form presented earlier</a:t>
            </a:r>
          </a:p>
          <a:p>
            <a:r>
              <a:rPr lang="en-US" sz="2800" dirty="0"/>
              <a:t>since the answer to a query is a multi</a:t>
            </a:r>
            <a:r>
              <a:rPr lang="en-US" sz="2800" b="1" i="1" dirty="0"/>
              <a:t>set</a:t>
            </a:r>
            <a:r>
              <a:rPr lang="en-US" sz="2800" dirty="0"/>
              <a:t> of rows, it is natural to consider the use of operations such as union, intersection, and </a:t>
            </a:r>
            <a:r>
              <a:rPr lang="en-US" sz="2800" b="1" i="1" dirty="0"/>
              <a:t>set</a:t>
            </a:r>
            <a:r>
              <a:rPr lang="en-US" sz="2800" dirty="0"/>
              <a:t> difference</a:t>
            </a:r>
          </a:p>
          <a:p>
            <a:r>
              <a:rPr lang="en-US" sz="2800" dirty="0"/>
              <a:t>SQL supports these operations under the names UNION, INTERSECT, and EXCEPT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2F491-F4AF-ED18-4814-721A763E6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6959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27711-4D81-B20C-62AB-264A4DA3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CD690-D1BD-27FB-16B7-5663B5862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SQL also provides other set operations: </a:t>
            </a:r>
          </a:p>
          <a:p>
            <a:pPr lvl="1"/>
            <a:r>
              <a:rPr lang="en-US" dirty="0"/>
              <a:t>IN (to check if an element is in a given set)</a:t>
            </a:r>
          </a:p>
          <a:p>
            <a:pPr lvl="1"/>
            <a:r>
              <a:rPr lang="en-US" i="1" dirty="0"/>
              <a:t>op</a:t>
            </a:r>
            <a:r>
              <a:rPr lang="en-US" dirty="0"/>
              <a:t> ANY, </a:t>
            </a:r>
            <a:r>
              <a:rPr lang="en-US" i="1" dirty="0"/>
              <a:t>op</a:t>
            </a:r>
            <a:r>
              <a:rPr lang="en-US" dirty="0"/>
              <a:t> ALL (to compare a value with the elements in a given set, using comparison operator </a:t>
            </a:r>
            <a:r>
              <a:rPr lang="en-US" i="1" dirty="0"/>
              <a:t>op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EXISTS (to check if a set is empty)</a:t>
            </a:r>
          </a:p>
          <a:p>
            <a:r>
              <a:rPr lang="en-US" sz="2800" dirty="0"/>
              <a:t>IN and EXISTS can be prefixed by NOT, with the obvious modification to their meaning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6535B-E117-58CA-F45D-E984D632C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024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BD9FE-F81B-658D-6FB1-65FE30E10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Find the names of sailors who have reserved a red </a:t>
            </a:r>
            <a:r>
              <a:rPr lang="en-US" b="1" i="1" dirty="0"/>
              <a:t>or</a:t>
            </a:r>
            <a:r>
              <a:rPr lang="en-US" i="1" dirty="0"/>
              <a:t> a green boat.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6CEDF-D8FD-E4E2-489A-3C0F7AA37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SELECT DISTINCT </a:t>
            </a:r>
            <a:r>
              <a:rPr lang="en-US" sz="2800" dirty="0" err="1"/>
              <a:t>S.sname</a:t>
            </a:r>
            <a:endParaRPr lang="en-US" sz="2800" dirty="0"/>
          </a:p>
          <a:p>
            <a:r>
              <a:rPr lang="en-US" sz="2800" dirty="0"/>
              <a:t>FROM Sailors S, Reserves R, Boats B</a:t>
            </a:r>
          </a:p>
          <a:p>
            <a:r>
              <a:rPr lang="en-US" sz="2800" dirty="0"/>
              <a:t>WHERE </a:t>
            </a:r>
          </a:p>
          <a:p>
            <a:r>
              <a:rPr lang="en-US" sz="2800" dirty="0" err="1"/>
              <a:t>S.sid</a:t>
            </a:r>
            <a:r>
              <a:rPr lang="en-US" sz="2800" dirty="0"/>
              <a:t> = </a:t>
            </a:r>
            <a:r>
              <a:rPr lang="en-US" sz="2800" dirty="0" err="1"/>
              <a:t>R.sid</a:t>
            </a:r>
            <a:r>
              <a:rPr lang="en-US" sz="2800" dirty="0"/>
              <a:t> AND </a:t>
            </a:r>
            <a:r>
              <a:rPr lang="en-US" sz="2800" dirty="0" err="1"/>
              <a:t>R.bid</a:t>
            </a:r>
            <a:r>
              <a:rPr lang="en-US" sz="2800" dirty="0"/>
              <a:t> = </a:t>
            </a:r>
            <a:r>
              <a:rPr lang="en-US" sz="2800" dirty="0" err="1"/>
              <a:t>B.bid</a:t>
            </a:r>
            <a:r>
              <a:rPr lang="en-US" sz="2800" dirty="0"/>
              <a:t> AND (</a:t>
            </a:r>
            <a:r>
              <a:rPr lang="en-US" sz="2800" dirty="0" err="1"/>
              <a:t>B.color</a:t>
            </a:r>
            <a:r>
              <a:rPr lang="en-US" sz="2800" dirty="0"/>
              <a:t> = 'red' </a:t>
            </a:r>
            <a:r>
              <a:rPr lang="en-US" sz="2800" b="1" dirty="0"/>
              <a:t>OR</a:t>
            </a:r>
            <a:r>
              <a:rPr lang="en-US" sz="2800" dirty="0"/>
              <a:t> </a:t>
            </a:r>
            <a:r>
              <a:rPr lang="en-US" sz="2800" dirty="0" err="1"/>
              <a:t>B.color</a:t>
            </a:r>
            <a:r>
              <a:rPr lang="en-US" sz="2800" dirty="0"/>
              <a:t> = 'green')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45362-00B4-CDBD-0273-6AB5841BA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474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43D4-1254-AD03-228E-E561F1FE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Find the names of sailors who have reserved a red </a:t>
            </a:r>
            <a:r>
              <a:rPr lang="en-US" b="1" i="1" dirty="0"/>
              <a:t>and</a:t>
            </a:r>
            <a:r>
              <a:rPr lang="en-US" i="1" dirty="0"/>
              <a:t> a green boat.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AC85F-C39E-1FCD-A3CE-41AFFBAB7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SELECT DISTINCT </a:t>
            </a:r>
            <a:r>
              <a:rPr lang="en-US" sz="2800" dirty="0" err="1"/>
              <a:t>S.sname</a:t>
            </a:r>
            <a:endParaRPr lang="en-US" sz="2800" dirty="0"/>
          </a:p>
          <a:p>
            <a:r>
              <a:rPr lang="en-US" sz="2800" dirty="0"/>
              <a:t>FROM Sailors S, Reserves R, Boats B</a:t>
            </a:r>
          </a:p>
          <a:p>
            <a:r>
              <a:rPr lang="en-US" sz="2800" dirty="0"/>
              <a:t>WHERE </a:t>
            </a:r>
          </a:p>
          <a:p>
            <a:r>
              <a:rPr lang="en-US" sz="2800" dirty="0" err="1"/>
              <a:t>S.sid</a:t>
            </a:r>
            <a:r>
              <a:rPr lang="en-US" sz="2800" dirty="0"/>
              <a:t> = </a:t>
            </a:r>
            <a:r>
              <a:rPr lang="en-US" sz="2800" dirty="0" err="1"/>
              <a:t>R.sid</a:t>
            </a:r>
            <a:r>
              <a:rPr lang="en-US" sz="2800" dirty="0"/>
              <a:t> AND </a:t>
            </a:r>
            <a:r>
              <a:rPr lang="en-US" sz="2800" dirty="0" err="1"/>
              <a:t>R.bid</a:t>
            </a:r>
            <a:r>
              <a:rPr lang="en-US" sz="2800" dirty="0"/>
              <a:t> = </a:t>
            </a:r>
            <a:r>
              <a:rPr lang="en-US" sz="2800" dirty="0" err="1"/>
              <a:t>B.bid</a:t>
            </a:r>
            <a:r>
              <a:rPr lang="en-US" sz="2800" dirty="0"/>
              <a:t> AND (</a:t>
            </a:r>
            <a:r>
              <a:rPr lang="en-US" sz="2800" dirty="0" err="1"/>
              <a:t>B.color</a:t>
            </a:r>
            <a:r>
              <a:rPr lang="en-US" sz="2800" dirty="0"/>
              <a:t> = 'red' </a:t>
            </a:r>
            <a:r>
              <a:rPr lang="en-US" sz="2800" b="1" dirty="0"/>
              <a:t>AND</a:t>
            </a:r>
            <a:r>
              <a:rPr lang="en-US" sz="2800" dirty="0"/>
              <a:t> </a:t>
            </a:r>
            <a:r>
              <a:rPr lang="en-US" sz="2800" dirty="0" err="1"/>
              <a:t>B.color</a:t>
            </a:r>
            <a:r>
              <a:rPr lang="en-US" sz="2800" dirty="0"/>
              <a:t> = 'green')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EFD9F-BD4A-0D55-48DE-1317CB11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188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C04AA-7BDA-961B-AEEE-0B8C5BABA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Gotcha!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5F72D-C9BE-C43A-95DA-59C129D15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first query is easily expressed using the OR connective in the WHERE clause</a:t>
            </a:r>
          </a:p>
          <a:p>
            <a:r>
              <a:rPr lang="en-US" sz="2800" dirty="0"/>
              <a:t>second query, which is identical except for the use of 'and' rather than 'or' in the English version, turns out to be much more difficult: if we were to just replace the use of OR in the previous query by AND, in analogy to the English statements of the two queries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47C17-9C3A-75F0-CBB1-517F3BDC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152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A353D-306E-7688-A500-763715285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AC2AB-4D4F-2914-3B2C-C50AF5F9B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retrieve the names of sailors who have reserved a boat that is both red and green – there are none such sailors!</a:t>
            </a:r>
          </a:p>
          <a:p>
            <a:r>
              <a:rPr lang="en-US" sz="2800" dirty="0"/>
              <a:t>attributes with atomic values and integrity constraint that bid is a key for Boats tells us that the same boat cannot have two colors</a:t>
            </a:r>
          </a:p>
          <a:p>
            <a:r>
              <a:rPr lang="en-US" sz="2800" dirty="0"/>
              <a:t>variant of the previous query with AND in place of OR will always return an empty answer 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1478A-EF61-F25D-2B93-E29604FB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2108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0BC65-C13E-10E4-6163-C11D0CDCC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256F-856C-7669-43D3-2A44F7C28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Find the names of sailors who have reserved a red </a:t>
            </a:r>
            <a:r>
              <a:rPr lang="en-US" b="1" i="1" dirty="0"/>
              <a:t>and</a:t>
            </a:r>
            <a:r>
              <a:rPr lang="en-US" i="1" dirty="0"/>
              <a:t> a green boat.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64E72-55A4-2717-20CC-DEF6FEA38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SELECT DISTINCT </a:t>
            </a:r>
            <a:r>
              <a:rPr lang="en-US" sz="2800" dirty="0" err="1"/>
              <a:t>S.sname</a:t>
            </a:r>
            <a:endParaRPr lang="en-US" sz="2800" dirty="0"/>
          </a:p>
          <a:p>
            <a:r>
              <a:rPr lang="en-US" sz="2800" dirty="0"/>
              <a:t>FROM Sailors S, </a:t>
            </a:r>
          </a:p>
          <a:p>
            <a:r>
              <a:rPr lang="en-US" sz="2800" dirty="0"/>
              <a:t>Reserves R1, Boats B1, Reserves R2, Boats B2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S.sid</a:t>
            </a:r>
            <a:r>
              <a:rPr lang="en-US" sz="2800" dirty="0"/>
              <a:t> = R1.sid AND R1.bid = B1.bid</a:t>
            </a:r>
          </a:p>
          <a:p>
            <a:r>
              <a:rPr lang="en-US" sz="2800" dirty="0"/>
              <a:t>AND </a:t>
            </a:r>
            <a:r>
              <a:rPr lang="en-US" sz="2800" dirty="0" err="1"/>
              <a:t>S.sid</a:t>
            </a:r>
            <a:r>
              <a:rPr lang="en-US" sz="2800" dirty="0"/>
              <a:t> = R2.sid AND R2.bid = B2.bid</a:t>
            </a:r>
          </a:p>
          <a:p>
            <a:r>
              <a:rPr lang="en-US" sz="2800" dirty="0"/>
              <a:t>AND B1.color='red' AND B2.color = 'green'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203FE-965B-EA92-762B-6F2D8ACA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8139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0B555-FEE7-6AB4-6C39-23CD0CC8A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8DAA4-0247-7095-904D-ADADAC19B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R1 and B1 as rows that prove that sailor </a:t>
            </a:r>
            <a:r>
              <a:rPr lang="en-US" sz="2800" dirty="0" err="1"/>
              <a:t>S.sid</a:t>
            </a:r>
            <a:r>
              <a:rPr lang="en-US" sz="2800" dirty="0"/>
              <a:t> has reserved a red boat</a:t>
            </a:r>
          </a:p>
          <a:p>
            <a:r>
              <a:rPr lang="en-US" sz="2800" dirty="0"/>
              <a:t>R2 and B2 similarly prove that the same sailor has reserved a green boat</a:t>
            </a:r>
          </a:p>
          <a:p>
            <a:r>
              <a:rPr lang="en-US" sz="2800" dirty="0"/>
              <a:t>previous query is difficult to understand (and also quite inefficient to execute, as it turns out)</a:t>
            </a:r>
          </a:p>
          <a:p>
            <a:r>
              <a:rPr lang="en-US" sz="2800" dirty="0"/>
              <a:t>similarity to the previous OR query is completely lost</a:t>
            </a:r>
          </a:p>
          <a:p>
            <a:r>
              <a:rPr lang="en-US" sz="2800" dirty="0"/>
              <a:t>better solution for these two queries is to use UNION and INTERSECT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1A364-07FC-1083-8EF1-650B62D21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344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B49F2-AD3E-09B8-2D6E-A61C77F41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FE0B1-F36F-B3CC-0103-16ED411DB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these queries, without </a:t>
            </a:r>
            <a:r>
              <a:rPr lang="en-US" sz="2700" dirty="0" err="1"/>
              <a:t>sid</a:t>
            </a:r>
            <a:r>
              <a:rPr lang="en-US" sz="2700" dirty="0"/>
              <a:t>, SELECT DISTINCT </a:t>
            </a:r>
            <a:r>
              <a:rPr lang="en-US" sz="2700" dirty="0" err="1"/>
              <a:t>S.sname</a:t>
            </a:r>
            <a:r>
              <a:rPr lang="en-US" sz="2700" dirty="0"/>
              <a:t> only, contains a subtle bug-if there are two sailors such as Horatio in our example instances one of whom has reserved a red boat and the other has reserved a green boat, the name Horatio is returned even though no one individual called Horatio has reserved both a red and a green boat</a:t>
            </a:r>
          </a:p>
          <a:p>
            <a:r>
              <a:rPr lang="en-US" sz="2700" dirty="0"/>
              <a:t>thus, query actually computes sailor names such that some sailor with this name has reserved a red boat and some sailor with the same name (perhaps a different sailor) has reserved a green boat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2D25F-A336-1CE6-BF02-B4B3E883A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7571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9ADA6-303F-5918-7141-82F8FBF9C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B52E-95BF-DE58-69AE-36C96ADC1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Find the names of sailors who have reserved a red </a:t>
            </a:r>
            <a:r>
              <a:rPr lang="en-US" b="1" i="1" dirty="0"/>
              <a:t>and</a:t>
            </a:r>
            <a:r>
              <a:rPr lang="en-US" i="1" dirty="0"/>
              <a:t> a green boat.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D725D-FE65-F410-2C20-8B572B43F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SELECT DISTINCT </a:t>
            </a:r>
            <a:r>
              <a:rPr lang="en-US" sz="2800" dirty="0" err="1"/>
              <a:t>S.sname</a:t>
            </a:r>
            <a:endParaRPr lang="en-US" sz="2800" dirty="0"/>
          </a:p>
          <a:p>
            <a:r>
              <a:rPr lang="en-US" sz="2800" dirty="0"/>
              <a:t>FROM Sailors S, </a:t>
            </a:r>
          </a:p>
          <a:p>
            <a:r>
              <a:rPr lang="en-US" sz="2800" dirty="0"/>
              <a:t>Reserves R1, Boats B1, Reserves R2, Boats B2</a:t>
            </a:r>
          </a:p>
          <a:p>
            <a:r>
              <a:rPr lang="en-US" sz="2800" dirty="0"/>
              <a:t>WHERE </a:t>
            </a:r>
            <a:r>
              <a:rPr lang="en-US" sz="2800" dirty="0" err="1"/>
              <a:t>S.sid</a:t>
            </a:r>
            <a:r>
              <a:rPr lang="en-US" sz="2800" dirty="0"/>
              <a:t> = R1.sid AND R1.bid = B1.bid</a:t>
            </a:r>
          </a:p>
          <a:p>
            <a:r>
              <a:rPr lang="en-US" sz="2800" dirty="0"/>
              <a:t>AND </a:t>
            </a:r>
            <a:r>
              <a:rPr lang="en-US" sz="2800" dirty="0" err="1"/>
              <a:t>S.sid</a:t>
            </a:r>
            <a:r>
              <a:rPr lang="en-US" sz="2800" dirty="0"/>
              <a:t> = R2.sid AND R2.bid = B2.bid</a:t>
            </a:r>
          </a:p>
          <a:p>
            <a:r>
              <a:rPr lang="en-US" sz="2800" dirty="0"/>
              <a:t>AND B1.color='red' AND B2.color = 'green'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2A764-C51C-FC3A-9C89-0F31681F9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786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C876A-36FE-C7CC-3C1C-88B5D96E4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8C1A2-F62C-7DFC-8105-8864C066E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FB759-FC57-DEBB-F6E9-FC467F577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R1 and B1 as rows that prove that sailor </a:t>
            </a:r>
            <a:r>
              <a:rPr lang="en-US" sz="2800" dirty="0" err="1"/>
              <a:t>S.sid</a:t>
            </a:r>
            <a:r>
              <a:rPr lang="en-US" sz="2800" dirty="0"/>
              <a:t> has reserved a red boat</a:t>
            </a:r>
          </a:p>
          <a:p>
            <a:r>
              <a:rPr lang="en-US" sz="2800" dirty="0"/>
              <a:t>R2 and B2 similarly prove that the same sailor has reserved a green boat</a:t>
            </a:r>
          </a:p>
          <a:p>
            <a:r>
              <a:rPr lang="en-US" sz="2800" dirty="0"/>
              <a:t>previous query is difficult to understand (and also quite inefficient to execute, as it turns out)</a:t>
            </a:r>
          </a:p>
          <a:p>
            <a:r>
              <a:rPr lang="en-US" sz="2800" dirty="0"/>
              <a:t>similarity to the previous OR query is completely lost</a:t>
            </a:r>
          </a:p>
          <a:p>
            <a:r>
              <a:rPr lang="en-US" sz="2800" dirty="0"/>
              <a:t>better solution for these two queries is to use UNION and INTERSECT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B1787-015A-0F54-30AB-AA6AB2DAD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4321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C56D1-1FFD-6093-DD58-1172503F7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Find the names of sailors who have reserved a red </a:t>
            </a:r>
            <a:r>
              <a:rPr lang="en-US" b="1" i="1" dirty="0"/>
              <a:t>or</a:t>
            </a:r>
            <a:r>
              <a:rPr lang="en-US" i="1" dirty="0"/>
              <a:t> a green boat.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5D435-9BEF-AE9F-3B59-526F59B34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SELECT DISTINCT S1.sname, S1.sid</a:t>
            </a:r>
          </a:p>
          <a:p>
            <a:r>
              <a:rPr lang="en-US" sz="2800" dirty="0"/>
              <a:t>FROM Sailors S1, Reserves R1, Boats B1</a:t>
            </a:r>
          </a:p>
          <a:p>
            <a:r>
              <a:rPr lang="en-US" sz="2800" dirty="0"/>
              <a:t>WHERE S1.sid = R1.sid AND R1.bid = B1.bid AND B1.color = 'red'</a:t>
            </a:r>
          </a:p>
          <a:p>
            <a:r>
              <a:rPr lang="en-US" sz="2800" b="1" dirty="0"/>
              <a:t>UNION</a:t>
            </a:r>
          </a:p>
          <a:p>
            <a:r>
              <a:rPr lang="en-US" sz="2800" dirty="0"/>
              <a:t>SELECT DISTINCT S2.sname, S2.sid</a:t>
            </a:r>
          </a:p>
          <a:p>
            <a:r>
              <a:rPr lang="en-US" sz="2800" dirty="0"/>
              <a:t>FROM Sailors S2, Reserves R2, Boats B2</a:t>
            </a:r>
          </a:p>
          <a:p>
            <a:r>
              <a:rPr lang="en-US" sz="2800" dirty="0"/>
              <a:t>WHERE S2.sid = R2.sid AND R2.bid = B2.bid AND B2.color = 'green'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EE6D3-4313-9D42-950C-F6FA50E3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20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6347C-0F97-AD83-13D2-231F7AE48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F811B-1A7F-3D5A-D95A-6F6C2B9FB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9CECC-C356-BDC1-63A7-3F1DBCCED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Dustin		22</a:t>
            </a:r>
          </a:p>
          <a:p>
            <a:r>
              <a:rPr lang="en-US" sz="2800" dirty="0"/>
              <a:t>Horatio		64</a:t>
            </a:r>
          </a:p>
          <a:p>
            <a:r>
              <a:rPr lang="en-US" sz="2800" dirty="0"/>
              <a:t>Horatio		74</a:t>
            </a:r>
          </a:p>
          <a:p>
            <a:r>
              <a:rPr lang="en-US" sz="2800" dirty="0"/>
              <a:t>Lubber		31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A89C9-2816-4474-B12F-FCDA414D1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0881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55E26-33D8-4FC9-3315-69A6A1D14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Find the names of sailors who have reserved a red and a green boat.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5E64F-8654-45E2-1329-05CAD590A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SELECT DISTINCT S1.sname, S1.sid</a:t>
            </a:r>
          </a:p>
          <a:p>
            <a:r>
              <a:rPr lang="en-US" dirty="0"/>
              <a:t>FROM Sailors S1, Reserves R1, Boats B1</a:t>
            </a:r>
          </a:p>
          <a:p>
            <a:r>
              <a:rPr lang="en-US" dirty="0"/>
              <a:t>WHERE S1.sid = R1.sid AND R1.bid = B1.bid AND B1.color = 'red'</a:t>
            </a:r>
          </a:p>
          <a:p>
            <a:r>
              <a:rPr lang="en-US" b="1" dirty="0"/>
              <a:t>INTERSECT</a:t>
            </a:r>
          </a:p>
          <a:p>
            <a:r>
              <a:rPr lang="en-US" dirty="0"/>
              <a:t>SELECT DISTINCT S2.sname, S2.sid</a:t>
            </a:r>
          </a:p>
          <a:p>
            <a:r>
              <a:rPr lang="en-US" dirty="0"/>
              <a:t>FROM Sailors S2, Reserves R2, Boats B2</a:t>
            </a:r>
          </a:p>
          <a:p>
            <a:r>
              <a:rPr lang="en-US" dirty="0"/>
              <a:t>WHERE S2.sid = R2.sid AND R2.bid = B2.bid AND B2.color = 'green'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32832-F8D2-EAC8-20FA-24D19431C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689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70B49-F812-5972-A69A-87AEE1FBE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AFBF4-FA49-93B2-B711-CCF5601F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35EFF-7FF1-5318-1AB4-5F78097C5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Dustin		22</a:t>
            </a:r>
          </a:p>
          <a:p>
            <a:r>
              <a:rPr lang="en-US" sz="2800" dirty="0"/>
              <a:t>Lubber		31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3FDEA-FD02-2330-3571-22BE28C3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325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BA608-44FA-EE94-D99D-5F9EC3882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7D296-667A-7CB2-41BA-2577B5ED2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problem arises because we are using </a:t>
            </a:r>
            <a:r>
              <a:rPr lang="en-US" sz="2800" dirty="0" err="1"/>
              <a:t>sname</a:t>
            </a:r>
            <a:r>
              <a:rPr lang="en-US" sz="2800" dirty="0"/>
              <a:t> to identify sailors, and </a:t>
            </a:r>
            <a:r>
              <a:rPr lang="en-US" sz="2800" dirty="0" err="1"/>
              <a:t>sname</a:t>
            </a:r>
            <a:r>
              <a:rPr lang="en-US" sz="2800" dirty="0"/>
              <a:t> is not a key for Sailors!</a:t>
            </a:r>
          </a:p>
          <a:p>
            <a:r>
              <a:rPr lang="en-US" sz="2800" dirty="0"/>
              <a:t>if we select </a:t>
            </a:r>
            <a:r>
              <a:rPr lang="en-US" sz="2800" dirty="0" err="1"/>
              <a:t>sid</a:t>
            </a:r>
            <a:r>
              <a:rPr lang="en-US" sz="2800" dirty="0"/>
              <a:t> instead of </a:t>
            </a:r>
            <a:r>
              <a:rPr lang="en-US" sz="2800" dirty="0" err="1"/>
              <a:t>sname</a:t>
            </a:r>
            <a:r>
              <a:rPr lang="en-US" sz="2800" dirty="0"/>
              <a:t> in the previous queries, we will compute the set of </a:t>
            </a:r>
            <a:r>
              <a:rPr lang="en-US" sz="2800" dirty="0" err="1"/>
              <a:t>sids</a:t>
            </a:r>
            <a:r>
              <a:rPr lang="en-US" sz="2800" dirty="0"/>
              <a:t> of sailors who have reserved both red and green boats and to compute the names of such sailors requires a nested query or the previously presented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8FBD4-D87C-4922-F92B-95BCD2279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8113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DAFC8-7279-3975-9DE9-131863967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700" i="1" dirty="0"/>
              <a:t>Find the </a:t>
            </a:r>
            <a:r>
              <a:rPr lang="en-US" sz="3700" i="1" dirty="0" err="1"/>
              <a:t>sids</a:t>
            </a:r>
            <a:r>
              <a:rPr lang="en-US" sz="3700" i="1" dirty="0"/>
              <a:t> of all sailors who have reserved red boats but not green boats.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50868-C0E4-698E-7CEB-C9BA35D79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SELECT S1.sid</a:t>
            </a:r>
          </a:p>
          <a:p>
            <a:r>
              <a:rPr lang="en-US" sz="2800" dirty="0"/>
              <a:t>FROM Sailors S1, Reserves R1, Boats B1</a:t>
            </a:r>
          </a:p>
          <a:p>
            <a:r>
              <a:rPr lang="en-US" sz="2800" dirty="0"/>
              <a:t>WHERE S1.sid = R1.sid AND R1.bid = B1.bid AND B1.color = 'red'</a:t>
            </a:r>
          </a:p>
          <a:p>
            <a:r>
              <a:rPr lang="en-US" sz="2800" b="1" dirty="0"/>
              <a:t>EXCEPT</a:t>
            </a:r>
          </a:p>
          <a:p>
            <a:r>
              <a:rPr lang="en-US" sz="2800" dirty="0"/>
              <a:t>SELECT S2.sid</a:t>
            </a:r>
          </a:p>
          <a:p>
            <a:r>
              <a:rPr lang="en-US" sz="2800" dirty="0"/>
              <a:t>FROM Sailors S2, Reserves R2, Boats B2</a:t>
            </a:r>
          </a:p>
          <a:p>
            <a:r>
              <a:rPr lang="en-US" sz="2800" dirty="0"/>
              <a:t>WHERE S2.sid = R2.sid AND R2.bid = B2.bid AND B2.color = 'green'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01BDE-17EE-4794-8641-0414DC0D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056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9BF01-B8AA-DA11-942C-7F4060237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453CB-183D-431A-B481-8F008C262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88392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Sailors with </a:t>
            </a:r>
            <a:r>
              <a:rPr lang="en-US" sz="2800" dirty="0" err="1"/>
              <a:t>sid</a:t>
            </a:r>
            <a:r>
              <a:rPr lang="en-US" sz="2800" dirty="0"/>
              <a:t> 22, 64, and 31 have reserved red boats</a:t>
            </a:r>
          </a:p>
          <a:p>
            <a:r>
              <a:rPr lang="en-US" sz="2800" dirty="0"/>
              <a:t>Sailors with </a:t>
            </a:r>
            <a:r>
              <a:rPr lang="en-US" sz="2800" dirty="0" err="1"/>
              <a:t>sid</a:t>
            </a:r>
            <a:r>
              <a:rPr lang="en-US" sz="2800" dirty="0"/>
              <a:t> 22, 74, and 31 have reserved green boats</a:t>
            </a:r>
          </a:p>
          <a:p>
            <a:r>
              <a:rPr lang="en-US" sz="2800" dirty="0"/>
              <a:t>hence, the answer contains just the </a:t>
            </a:r>
            <a:r>
              <a:rPr lang="en-US" sz="2800" dirty="0" err="1"/>
              <a:t>sid</a:t>
            </a:r>
            <a:r>
              <a:rPr lang="en-US" sz="2800" dirty="0"/>
              <a:t> 64</a:t>
            </a:r>
          </a:p>
          <a:p>
            <a:endParaRPr lang="en-US" sz="2800" dirty="0"/>
          </a:p>
          <a:p>
            <a:r>
              <a:rPr lang="en-US" sz="2800" dirty="0"/>
              <a:t>observe that this query relies on referential integrity; that is, there are no reservations for non-existing sailors and </a:t>
            </a:r>
            <a:r>
              <a:rPr lang="en-US" sz="2800" b="1" i="1" dirty="0"/>
              <a:t>closed world assumption! 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4D592-D73B-17E3-E7EF-F33B204F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080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8EE24-F997-6D1E-82EA-1F70E31D1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10600" cy="1143000"/>
          </a:xfrm>
        </p:spPr>
        <p:txBody>
          <a:bodyPr>
            <a:noAutofit/>
          </a:bodyPr>
          <a:lstStyle/>
          <a:p>
            <a:r>
              <a:rPr lang="en-US" sz="3600" dirty="0"/>
              <a:t>UNION, INTERSECT, and EXCEPT can be used on any two tables that are union-compatible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A5DBA-AA62-4DEA-135D-74587C307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have the same number of columns and the columns, taken in order, have the same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1E888-3A3F-B962-F3CB-F9218559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981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2D04-A538-5CAF-5E3A-045B3969A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C6DF6-3B44-21C6-2CB8-CFC5361EF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 contrast to the default that duplicates are not eliminated unless DISTINCT is specified in the basic query form, the default for UNION queries is that duplicates are eliminated!</a:t>
            </a:r>
          </a:p>
          <a:p>
            <a:r>
              <a:rPr lang="en-US" sz="2800" dirty="0"/>
              <a:t>to retain duplicates, UNION ALL must be used</a:t>
            </a:r>
          </a:p>
          <a:p>
            <a:r>
              <a:rPr lang="en-US" sz="2800" dirty="0"/>
              <a:t>number of copies of a row in the result is always m + n, where m and n are the numbers of times that the row appears in the two parts of the union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FCB4D-3960-3364-9003-BAD034E5D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770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3C6CC-394C-1A67-3A89-6640B2D6B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B6386-33E0-5E89-285D-DC137B178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INTERSECT ALL retains duplicates</a:t>
            </a:r>
          </a:p>
          <a:p>
            <a:r>
              <a:rPr lang="en-US" sz="2800" dirty="0"/>
              <a:t>number of copies of a row in the result is min(m, n) , where m and n are the numbers of times that the row appears in the two parts of the intersection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47A02-9429-BEED-B069-8F8E1C2F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2821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1A9C8-053B-403B-D240-3FC76C141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F2BBF-FCED-9325-55CA-CA84FEF28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EXCEPT ALL also retains duplicates</a:t>
            </a:r>
          </a:p>
          <a:p>
            <a:r>
              <a:rPr lang="en-US" sz="2800" dirty="0"/>
              <a:t>number of copies of a row in the result is m – n, where m and n are the numbers of times that the row appears in the two parts of the set difference</a:t>
            </a:r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B8BE3-5175-D0FC-2757-9D4D26F47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118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CB64-1813-8FD0-15E9-C9D88E82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4D393-D883-B3FC-64C2-D5D5B6679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CC386-4ECB-E20E-0AC4-7ECFDD42B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06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D1F13D339BA04089B6530E3063BBB0" ma:contentTypeVersion="3" ma:contentTypeDescription="Create a new document." ma:contentTypeScope="" ma:versionID="53edffdedc90a5cc23417a2d239f45a4">
  <xsd:schema xmlns:xsd="http://www.w3.org/2001/XMLSchema" xmlns:xs="http://www.w3.org/2001/XMLSchema" xmlns:p="http://schemas.microsoft.com/office/2006/metadata/properties" xmlns:ns2="a1338ef3-f957-4fbb-b33a-3b606fe126b3" targetNamespace="http://schemas.microsoft.com/office/2006/metadata/properties" ma:root="true" ma:fieldsID="9f407ff9521a5dcbcc967750435157a3" ns2:_="">
    <xsd:import namespace="a1338ef3-f957-4fbb-b33a-3b606fe126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38ef3-f957-4fbb-b33a-3b606fe126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464EC95-ECF1-4C99-8357-EA78DA6E20A3}"/>
</file>

<file path=customXml/itemProps2.xml><?xml version="1.0" encoding="utf-8"?>
<ds:datastoreItem xmlns:ds="http://schemas.openxmlformats.org/officeDocument/2006/customXml" ds:itemID="{0CB44C09-4A40-4357-9673-77BED71976A5}"/>
</file>

<file path=customXml/itemProps3.xml><?xml version="1.0" encoding="utf-8"?>
<ds:datastoreItem xmlns:ds="http://schemas.openxmlformats.org/officeDocument/2006/customXml" ds:itemID="{9D644EE5-F4B4-4A9C-9157-C75DF37ACAB9}"/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3974</Words>
  <Application>Microsoft Office PowerPoint</Application>
  <PresentationFormat>On-screen Show (4:3)</PresentationFormat>
  <Paragraphs>424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0" baseType="lpstr">
      <vt:lpstr>Arial</vt:lpstr>
      <vt:lpstr>Calibri</vt:lpstr>
      <vt:lpstr>Office Theme</vt:lpstr>
      <vt:lpstr>Structured Query Language</vt:lpstr>
      <vt:lpstr>One DataBase Server</vt:lpstr>
      <vt:lpstr>Many Databases</vt:lpstr>
      <vt:lpstr>Container</vt:lpstr>
      <vt:lpstr>Many containers </vt:lpstr>
      <vt:lpstr>Container</vt:lpstr>
      <vt:lpstr>Many Table</vt:lpstr>
      <vt:lpstr>PowerPoint Presentation</vt:lpstr>
      <vt:lpstr>Many Rows</vt:lpstr>
      <vt:lpstr>Many Columns</vt:lpstr>
      <vt:lpstr>Fields</vt:lpstr>
      <vt:lpstr>Relationship</vt:lpstr>
      <vt:lpstr>PowerPoint Presentation</vt:lpstr>
      <vt:lpstr>Structured Query Language SQL</vt:lpstr>
      <vt:lpstr>Structured Query Language  SQL language</vt:lpstr>
      <vt:lpstr>Structured Query Language  SQL language</vt:lpstr>
      <vt:lpstr>PowerPoint Presentation</vt:lpstr>
      <vt:lpstr>basic form of an SQL query</vt:lpstr>
      <vt:lpstr>PowerPoint Presentation</vt:lpstr>
      <vt:lpstr>PowerPoint Presentation</vt:lpstr>
      <vt:lpstr>Find the names and ages of all sailors.</vt:lpstr>
      <vt:lpstr>PowerPoint Presentation</vt:lpstr>
      <vt:lpstr>PowerPoint Presentation</vt:lpstr>
      <vt:lpstr>Find the names and ages of all sailors.</vt:lpstr>
      <vt:lpstr>Find all sailors with a rating above 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rules describe (informally) the syntax of a basic SQL query</vt:lpstr>
      <vt:lpstr>Find the names of sailors who have reserved boat number 103</vt:lpstr>
      <vt:lpstr>PowerPoint Presentation</vt:lpstr>
      <vt:lpstr>PowerPoint Presentation</vt:lpstr>
      <vt:lpstr>rules describe (informally) the syntax of a basic SQL query</vt:lpstr>
      <vt:lpstr>Find the sid of sailors who have reserved a red boat</vt:lpstr>
      <vt:lpstr>Find the names of sailors who have reserved a red boat.</vt:lpstr>
      <vt:lpstr>PowerPoint Presentation</vt:lpstr>
      <vt:lpstr>Find the colors of boats reserved by Lubber.</vt:lpstr>
      <vt:lpstr>Find the colors of boats reserved by some Lubber.</vt:lpstr>
      <vt:lpstr>Find the names of sailors who have reserved at least one boat</vt:lpstr>
      <vt:lpstr>Find the names of sailors who have reserved at least one boat</vt:lpstr>
      <vt:lpstr>Find the names of sailors who have NOT reserved at least one boat</vt:lpstr>
      <vt:lpstr>gotcha</vt:lpstr>
      <vt:lpstr>Find the names of sailors who have NOT reserved at least one boat</vt:lpstr>
      <vt:lpstr>PowerPoint Presentation</vt:lpstr>
      <vt:lpstr>Compute increments for ratings of people who have sailed two different boats on same day</vt:lpstr>
      <vt:lpstr>PowerPoint Presentation</vt:lpstr>
      <vt:lpstr>PowerPoint Presentation</vt:lpstr>
      <vt:lpstr>collation</vt:lpstr>
      <vt:lpstr>LIKE</vt:lpstr>
      <vt:lpstr>Find the ages of sailors whose name begins and ends with B and has at least three characters.</vt:lpstr>
      <vt:lpstr>PowerPoint Presentation</vt:lpstr>
      <vt:lpstr>Find the names of sailors who have NOT reserved at least one boat</vt:lpstr>
      <vt:lpstr>UNION, INTERSECT, AND EXCEPT</vt:lpstr>
      <vt:lpstr>PowerPoint Presentation</vt:lpstr>
      <vt:lpstr>Find the names of sailors who have reserved a red or a green boat.</vt:lpstr>
      <vt:lpstr>Find the names of sailors who have reserved a red and a green boat.</vt:lpstr>
      <vt:lpstr>Gotcha!</vt:lpstr>
      <vt:lpstr>PowerPoint Presentation</vt:lpstr>
      <vt:lpstr>Find the names of sailors who have reserved a red and a green boat.</vt:lpstr>
      <vt:lpstr>PowerPoint Presentation</vt:lpstr>
      <vt:lpstr>PowerPoint Presentation</vt:lpstr>
      <vt:lpstr>Find the names of sailors who have reserved a red and a green boat.</vt:lpstr>
      <vt:lpstr>PowerPoint Presentation</vt:lpstr>
      <vt:lpstr>Find the names of sailors who have reserved a red or a green boat.</vt:lpstr>
      <vt:lpstr>PowerPoint Presentation</vt:lpstr>
      <vt:lpstr>Find the names of sailors who have reserved a red and a green boat.</vt:lpstr>
      <vt:lpstr>PowerPoint Presentation</vt:lpstr>
      <vt:lpstr>PowerPoint Presentation</vt:lpstr>
      <vt:lpstr>Find the sids of all sailors who have reserved red boats but not green boats.</vt:lpstr>
      <vt:lpstr>PowerPoint Presentation</vt:lpstr>
      <vt:lpstr>UNION, INTERSECT, and EXCEPT can be used on any two tables that are union-compatible</vt:lpstr>
      <vt:lpstr>UNION</vt:lpstr>
      <vt:lpstr>INTERSECT</vt:lpstr>
      <vt:lpstr>EXCEPT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Structured Query Language</dc:title>
  <dc:creator>User</dc:creator>
  <cp:lastModifiedBy>Calin Cenan</cp:lastModifiedBy>
  <cp:revision>125</cp:revision>
  <dcterms:created xsi:type="dcterms:W3CDTF">2006-08-16T00:00:00Z</dcterms:created>
  <dcterms:modified xsi:type="dcterms:W3CDTF">2025-07-22T06:54:14Z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2023-10-01T19:39:36Z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2454985f-5804-4626-9bb0-7c76d223e4a8</vt:lpwstr>
  </property>
  <property fmtid="{D5CDD505-2E9C-101B-9397-08002B2CF9AE}" pid="8" name="MSIP_Label_5b58b62f-6f94-46bd-8089-18e64b0a9abb_ContentBits">
    <vt:lpwstr>0</vt:lpwstr>
  </property>
  <property fmtid="{D5CDD505-2E9C-101B-9397-08002B2CF9AE}" pid="9" name="ContentTypeId">
    <vt:lpwstr>0x01010042D1F13D339BA04089B6530E3063BBB0</vt:lpwstr>
  </property>
</Properties>
</file>