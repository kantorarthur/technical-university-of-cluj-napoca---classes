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8"/>
  </p:notesMasterIdLst>
  <p:sldIdLst>
    <p:sldId id="256" r:id="rId2"/>
    <p:sldId id="726" r:id="rId3"/>
    <p:sldId id="657" r:id="rId4"/>
    <p:sldId id="658" r:id="rId5"/>
    <p:sldId id="660" r:id="rId6"/>
    <p:sldId id="661" r:id="rId7"/>
    <p:sldId id="662" r:id="rId8"/>
    <p:sldId id="663" r:id="rId9"/>
    <p:sldId id="664" r:id="rId10"/>
    <p:sldId id="665" r:id="rId11"/>
    <p:sldId id="666" r:id="rId12"/>
    <p:sldId id="667" r:id="rId13"/>
    <p:sldId id="668" r:id="rId14"/>
    <p:sldId id="669" r:id="rId15"/>
    <p:sldId id="670" r:id="rId16"/>
    <p:sldId id="671" r:id="rId17"/>
    <p:sldId id="672" r:id="rId18"/>
    <p:sldId id="673" r:id="rId19"/>
    <p:sldId id="674" r:id="rId20"/>
    <p:sldId id="675" r:id="rId21"/>
    <p:sldId id="676" r:id="rId22"/>
    <p:sldId id="693" r:id="rId23"/>
    <p:sldId id="694" r:id="rId24"/>
    <p:sldId id="584" r:id="rId25"/>
    <p:sldId id="585" r:id="rId26"/>
    <p:sldId id="586" r:id="rId27"/>
    <p:sldId id="587" r:id="rId28"/>
    <p:sldId id="588" r:id="rId29"/>
    <p:sldId id="589" r:id="rId30"/>
    <p:sldId id="590" r:id="rId31"/>
    <p:sldId id="591" r:id="rId32"/>
    <p:sldId id="592" r:id="rId33"/>
    <p:sldId id="593" r:id="rId34"/>
    <p:sldId id="594" r:id="rId35"/>
    <p:sldId id="595" r:id="rId36"/>
    <p:sldId id="596" r:id="rId37"/>
    <p:sldId id="597" r:id="rId38"/>
    <p:sldId id="598" r:id="rId39"/>
    <p:sldId id="599" r:id="rId40"/>
    <p:sldId id="600" r:id="rId41"/>
    <p:sldId id="601" r:id="rId42"/>
    <p:sldId id="602" r:id="rId43"/>
    <p:sldId id="603" r:id="rId44"/>
    <p:sldId id="604" r:id="rId45"/>
    <p:sldId id="605" r:id="rId46"/>
    <p:sldId id="606" r:id="rId47"/>
    <p:sldId id="607" r:id="rId48"/>
    <p:sldId id="608" r:id="rId49"/>
    <p:sldId id="609" r:id="rId50"/>
    <p:sldId id="610" r:id="rId51"/>
    <p:sldId id="410" r:id="rId52"/>
    <p:sldId id="354" r:id="rId53"/>
    <p:sldId id="351" r:id="rId54"/>
    <p:sldId id="352" r:id="rId55"/>
    <p:sldId id="355" r:id="rId56"/>
    <p:sldId id="356" r:id="rId57"/>
    <p:sldId id="357" r:id="rId58"/>
    <p:sldId id="358" r:id="rId59"/>
    <p:sldId id="359" r:id="rId60"/>
    <p:sldId id="360" r:id="rId61"/>
    <p:sldId id="361" r:id="rId62"/>
    <p:sldId id="362" r:id="rId63"/>
    <p:sldId id="363" r:id="rId64"/>
    <p:sldId id="364" r:id="rId65"/>
    <p:sldId id="365" r:id="rId66"/>
    <p:sldId id="366" r:id="rId67"/>
    <p:sldId id="367" r:id="rId68"/>
    <p:sldId id="368" r:id="rId69"/>
    <p:sldId id="369" r:id="rId70"/>
    <p:sldId id="370" r:id="rId71"/>
    <p:sldId id="371" r:id="rId72"/>
    <p:sldId id="372" r:id="rId73"/>
    <p:sldId id="373" r:id="rId74"/>
    <p:sldId id="374" r:id="rId75"/>
    <p:sldId id="375" r:id="rId76"/>
    <p:sldId id="382" r:id="rId77"/>
    <p:sldId id="376" r:id="rId78"/>
    <p:sldId id="377" r:id="rId79"/>
    <p:sldId id="378" r:id="rId80"/>
    <p:sldId id="379" r:id="rId81"/>
    <p:sldId id="380" r:id="rId82"/>
    <p:sldId id="381" r:id="rId83"/>
    <p:sldId id="383" r:id="rId84"/>
    <p:sldId id="384" r:id="rId85"/>
    <p:sldId id="386" r:id="rId86"/>
    <p:sldId id="385" r:id="rId87"/>
    <p:sldId id="387" r:id="rId88"/>
    <p:sldId id="388" r:id="rId89"/>
    <p:sldId id="389" r:id="rId90"/>
    <p:sldId id="392" r:id="rId91"/>
    <p:sldId id="393" r:id="rId92"/>
    <p:sldId id="394" r:id="rId93"/>
    <p:sldId id="395" r:id="rId94"/>
    <p:sldId id="396" r:id="rId95"/>
    <p:sldId id="397" r:id="rId96"/>
    <p:sldId id="398" r:id="rId97"/>
    <p:sldId id="399" r:id="rId98"/>
    <p:sldId id="400" r:id="rId99"/>
    <p:sldId id="406" r:id="rId100"/>
    <p:sldId id="401" r:id="rId101"/>
    <p:sldId id="407" r:id="rId102"/>
    <p:sldId id="402" r:id="rId103"/>
    <p:sldId id="403" r:id="rId104"/>
    <p:sldId id="404" r:id="rId105"/>
    <p:sldId id="405" r:id="rId106"/>
    <p:sldId id="408" r:id="rId107"/>
    <p:sldId id="409" r:id="rId108"/>
    <p:sldId id="411" r:id="rId109"/>
    <p:sldId id="413" r:id="rId110"/>
    <p:sldId id="419" r:id="rId111"/>
    <p:sldId id="420" r:id="rId112"/>
    <p:sldId id="421" r:id="rId113"/>
    <p:sldId id="422" r:id="rId114"/>
    <p:sldId id="423" r:id="rId115"/>
    <p:sldId id="424" r:id="rId116"/>
    <p:sldId id="425" r:id="rId117"/>
    <p:sldId id="426" r:id="rId118"/>
    <p:sldId id="427" r:id="rId119"/>
    <p:sldId id="428" r:id="rId120"/>
    <p:sldId id="429" r:id="rId121"/>
    <p:sldId id="430" r:id="rId122"/>
    <p:sldId id="431" r:id="rId123"/>
    <p:sldId id="432" r:id="rId124"/>
    <p:sldId id="433" r:id="rId125"/>
    <p:sldId id="434" r:id="rId126"/>
    <p:sldId id="435" r:id="rId127"/>
    <p:sldId id="436" r:id="rId128"/>
    <p:sldId id="437" r:id="rId129"/>
    <p:sldId id="438" r:id="rId130"/>
    <p:sldId id="439" r:id="rId131"/>
    <p:sldId id="440" r:id="rId132"/>
    <p:sldId id="441" r:id="rId133"/>
    <p:sldId id="442" r:id="rId134"/>
    <p:sldId id="443" r:id="rId135"/>
    <p:sldId id="444" r:id="rId136"/>
    <p:sldId id="445" r:id="rId137"/>
    <p:sldId id="446" r:id="rId138"/>
    <p:sldId id="447" r:id="rId139"/>
    <p:sldId id="448" r:id="rId140"/>
    <p:sldId id="449" r:id="rId141"/>
    <p:sldId id="450" r:id="rId142"/>
    <p:sldId id="451" r:id="rId143"/>
    <p:sldId id="452" r:id="rId144"/>
    <p:sldId id="453" r:id="rId145"/>
    <p:sldId id="454" r:id="rId146"/>
    <p:sldId id="455" r:id="rId147"/>
    <p:sldId id="456" r:id="rId148"/>
    <p:sldId id="457" r:id="rId149"/>
    <p:sldId id="458" r:id="rId150"/>
    <p:sldId id="459" r:id="rId151"/>
    <p:sldId id="460" r:id="rId152"/>
    <p:sldId id="461" r:id="rId153"/>
    <p:sldId id="462" r:id="rId154"/>
    <p:sldId id="463" r:id="rId155"/>
    <p:sldId id="464" r:id="rId156"/>
    <p:sldId id="465" r:id="rId157"/>
    <p:sldId id="466" r:id="rId158"/>
    <p:sldId id="467" r:id="rId159"/>
    <p:sldId id="468" r:id="rId160"/>
    <p:sldId id="469" r:id="rId161"/>
    <p:sldId id="470" r:id="rId162"/>
    <p:sldId id="471" r:id="rId163"/>
    <p:sldId id="472" r:id="rId164"/>
    <p:sldId id="473" r:id="rId165"/>
    <p:sldId id="474" r:id="rId166"/>
    <p:sldId id="475" r:id="rId167"/>
    <p:sldId id="476" r:id="rId168"/>
    <p:sldId id="477" r:id="rId169"/>
    <p:sldId id="478" r:id="rId170"/>
    <p:sldId id="479" r:id="rId171"/>
    <p:sldId id="480" r:id="rId172"/>
    <p:sldId id="481" r:id="rId173"/>
    <p:sldId id="482" r:id="rId174"/>
    <p:sldId id="483" r:id="rId175"/>
    <p:sldId id="484" r:id="rId176"/>
    <p:sldId id="485" r:id="rId177"/>
    <p:sldId id="486" r:id="rId178"/>
    <p:sldId id="487" r:id="rId179"/>
    <p:sldId id="488" r:id="rId180"/>
    <p:sldId id="489" r:id="rId181"/>
    <p:sldId id="490" r:id="rId182"/>
    <p:sldId id="491" r:id="rId183"/>
    <p:sldId id="492" r:id="rId184"/>
    <p:sldId id="493" r:id="rId185"/>
    <p:sldId id="494" r:id="rId186"/>
    <p:sldId id="495" r:id="rId187"/>
    <p:sldId id="496" r:id="rId188"/>
    <p:sldId id="497" r:id="rId189"/>
    <p:sldId id="498" r:id="rId190"/>
    <p:sldId id="499" r:id="rId191"/>
    <p:sldId id="500" r:id="rId192"/>
    <p:sldId id="501" r:id="rId193"/>
    <p:sldId id="502" r:id="rId194"/>
    <p:sldId id="503" r:id="rId195"/>
    <p:sldId id="504" r:id="rId196"/>
    <p:sldId id="505" r:id="rId197"/>
    <p:sldId id="506" r:id="rId198"/>
    <p:sldId id="507" r:id="rId199"/>
    <p:sldId id="508" r:id="rId200"/>
    <p:sldId id="509" r:id="rId201"/>
    <p:sldId id="510" r:id="rId202"/>
    <p:sldId id="511" r:id="rId203"/>
    <p:sldId id="512" r:id="rId204"/>
    <p:sldId id="513" r:id="rId205"/>
    <p:sldId id="514" r:id="rId206"/>
    <p:sldId id="515" r:id="rId207"/>
    <p:sldId id="516" r:id="rId208"/>
    <p:sldId id="517" r:id="rId209"/>
    <p:sldId id="518" r:id="rId210"/>
    <p:sldId id="519" r:id="rId211"/>
    <p:sldId id="520" r:id="rId212"/>
    <p:sldId id="521" r:id="rId213"/>
    <p:sldId id="522" r:id="rId214"/>
    <p:sldId id="523" r:id="rId215"/>
    <p:sldId id="524" r:id="rId216"/>
    <p:sldId id="525" r:id="rId217"/>
    <p:sldId id="526" r:id="rId218"/>
    <p:sldId id="527" r:id="rId219"/>
    <p:sldId id="528" r:id="rId220"/>
    <p:sldId id="529" r:id="rId221"/>
    <p:sldId id="530" r:id="rId222"/>
    <p:sldId id="531" r:id="rId223"/>
    <p:sldId id="532" r:id="rId224"/>
    <p:sldId id="533" r:id="rId225"/>
    <p:sldId id="534" r:id="rId226"/>
    <p:sldId id="535" r:id="rId227"/>
    <p:sldId id="536" r:id="rId228"/>
    <p:sldId id="414" r:id="rId229"/>
    <p:sldId id="415" r:id="rId230"/>
    <p:sldId id="416" r:id="rId231"/>
    <p:sldId id="417" r:id="rId232"/>
    <p:sldId id="418" r:id="rId233"/>
    <p:sldId id="729" r:id="rId234"/>
    <p:sldId id="730" r:id="rId235"/>
    <p:sldId id="731" r:id="rId236"/>
    <p:sldId id="732" r:id="rId237"/>
    <p:sldId id="733" r:id="rId238"/>
    <p:sldId id="734" r:id="rId239"/>
    <p:sldId id="735" r:id="rId240"/>
    <p:sldId id="736" r:id="rId241"/>
    <p:sldId id="737" r:id="rId242"/>
    <p:sldId id="738" r:id="rId243"/>
    <p:sldId id="739" r:id="rId244"/>
    <p:sldId id="740" r:id="rId245"/>
    <p:sldId id="741" r:id="rId246"/>
    <p:sldId id="742" r:id="rId247"/>
    <p:sldId id="743" r:id="rId248"/>
    <p:sldId id="744" r:id="rId249"/>
    <p:sldId id="745" r:id="rId250"/>
    <p:sldId id="746" r:id="rId251"/>
    <p:sldId id="747" r:id="rId252"/>
    <p:sldId id="748" r:id="rId253"/>
    <p:sldId id="749" r:id="rId254"/>
    <p:sldId id="750" r:id="rId255"/>
    <p:sldId id="751" r:id="rId256"/>
    <p:sldId id="752" r:id="rId257"/>
    <p:sldId id="753" r:id="rId258"/>
    <p:sldId id="754" r:id="rId259"/>
    <p:sldId id="755" r:id="rId260"/>
    <p:sldId id="294" r:id="rId261"/>
    <p:sldId id="295" r:id="rId262"/>
    <p:sldId id="296" r:id="rId263"/>
    <p:sldId id="297" r:id="rId264"/>
    <p:sldId id="298" r:id="rId265"/>
    <p:sldId id="299" r:id="rId266"/>
    <p:sldId id="300" r:id="rId267"/>
    <p:sldId id="301" r:id="rId268"/>
    <p:sldId id="302" r:id="rId269"/>
    <p:sldId id="303" r:id="rId270"/>
    <p:sldId id="304" r:id="rId271"/>
    <p:sldId id="305" r:id="rId272"/>
    <p:sldId id="306" r:id="rId273"/>
    <p:sldId id="307" r:id="rId274"/>
    <p:sldId id="308" r:id="rId275"/>
    <p:sldId id="309" r:id="rId276"/>
    <p:sldId id="310" r:id="rId277"/>
    <p:sldId id="311" r:id="rId278"/>
    <p:sldId id="312" r:id="rId279"/>
    <p:sldId id="314" r:id="rId280"/>
    <p:sldId id="313" r:id="rId281"/>
    <p:sldId id="315" r:id="rId282"/>
    <p:sldId id="316" r:id="rId283"/>
    <p:sldId id="317" r:id="rId284"/>
    <p:sldId id="318" r:id="rId285"/>
    <p:sldId id="319" r:id="rId286"/>
    <p:sldId id="320" r:id="rId287"/>
    <p:sldId id="322" r:id="rId288"/>
    <p:sldId id="321" r:id="rId289"/>
    <p:sldId id="323" r:id="rId290"/>
    <p:sldId id="324" r:id="rId291"/>
    <p:sldId id="325" r:id="rId292"/>
    <p:sldId id="326" r:id="rId293"/>
    <p:sldId id="327" r:id="rId294"/>
    <p:sldId id="328" r:id="rId295"/>
    <p:sldId id="329" r:id="rId296"/>
    <p:sldId id="330" r:id="rId297"/>
    <p:sldId id="331" r:id="rId298"/>
    <p:sldId id="333" r:id="rId299"/>
    <p:sldId id="334" r:id="rId300"/>
    <p:sldId id="335" r:id="rId301"/>
    <p:sldId id="336" r:id="rId302"/>
    <p:sldId id="332" r:id="rId303"/>
    <p:sldId id="337" r:id="rId304"/>
    <p:sldId id="338" r:id="rId305"/>
    <p:sldId id="339" r:id="rId306"/>
    <p:sldId id="696" r:id="rId307"/>
    <p:sldId id="695" r:id="rId308"/>
    <p:sldId id="697" r:id="rId309"/>
    <p:sldId id="698" r:id="rId310"/>
    <p:sldId id="699" r:id="rId311"/>
    <p:sldId id="700" r:id="rId312"/>
    <p:sldId id="701" r:id="rId313"/>
    <p:sldId id="702" r:id="rId314"/>
    <p:sldId id="703" r:id="rId315"/>
    <p:sldId id="704" r:id="rId316"/>
    <p:sldId id="705" r:id="rId317"/>
    <p:sldId id="706" r:id="rId318"/>
    <p:sldId id="707" r:id="rId319"/>
    <p:sldId id="708" r:id="rId320"/>
    <p:sldId id="709" r:id="rId321"/>
    <p:sldId id="711" r:id="rId322"/>
    <p:sldId id="710" r:id="rId323"/>
    <p:sldId id="712" r:id="rId324"/>
    <p:sldId id="713" r:id="rId325"/>
    <p:sldId id="714" r:id="rId326"/>
    <p:sldId id="715" r:id="rId327"/>
    <p:sldId id="716" r:id="rId328"/>
    <p:sldId id="717" r:id="rId329"/>
    <p:sldId id="718" r:id="rId330"/>
    <p:sldId id="719" r:id="rId331"/>
    <p:sldId id="720" r:id="rId332"/>
    <p:sldId id="721" r:id="rId333"/>
    <p:sldId id="722" r:id="rId334"/>
    <p:sldId id="723" r:id="rId335"/>
    <p:sldId id="724" r:id="rId336"/>
    <p:sldId id="725" r:id="rId33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7" autoAdjust="0"/>
    <p:restoredTop sz="94604" autoAdjust="0"/>
  </p:normalViewPr>
  <p:slideViewPr>
    <p:cSldViewPr>
      <p:cViewPr varScale="1">
        <p:scale>
          <a:sx n="78" d="100"/>
          <a:sy n="78" d="100"/>
        </p:scale>
        <p:origin x="989"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notesMaster" Target="notesMasters/notesMaster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presProps" Target="presProps.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viewProps" Target="viewProps.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theme" Target="theme/theme1.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tableStyles" Target="tableStyles.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customXml" Target="../customXml/item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customXml" Target="../customXml/item3.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173" Type="http://schemas.openxmlformats.org/officeDocument/2006/relationships/slide" Target="slides/slide172.xml"/><Relationship Id="rId229" Type="http://schemas.openxmlformats.org/officeDocument/2006/relationships/slide" Target="slides/slide228.xml"/><Relationship Id="rId240" Type="http://schemas.openxmlformats.org/officeDocument/2006/relationships/slide" Target="slides/slide2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35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604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35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5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35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AD15D9B5-564F-4F6A-ACAC-134F14C3B87D}" type="slidenum">
              <a:rPr lang="en-US"/>
              <a:pPr>
                <a:defRPr/>
              </a:pPr>
              <a:t>‹#›</a:t>
            </a:fld>
            <a:endParaRPr lang="en-US"/>
          </a:p>
        </p:txBody>
      </p:sp>
    </p:spTree>
    <p:extLst>
      <p:ext uri="{BB962C8B-B14F-4D97-AF65-F5344CB8AC3E}">
        <p14:creationId xmlns:p14="http://schemas.microsoft.com/office/powerpoint/2010/main" val="34370831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6" name="Rectangle 6"/>
          <p:cNvSpPr>
            <a:spLocks noGrp="1" noChangeArrowheads="1"/>
          </p:cNvSpPr>
          <p:nvPr>
            <p:ph type="sldNum" sz="quarter" idx="12"/>
          </p:nvPr>
        </p:nvSpPr>
        <p:spPr>
          <a:ln/>
        </p:spPr>
        <p:txBody>
          <a:bodyPr/>
          <a:lstStyle>
            <a:lvl1pPr>
              <a:defRPr/>
            </a:lvl1pPr>
          </a:lstStyle>
          <a:p>
            <a:pPr>
              <a:defRPr/>
            </a:pPr>
            <a:fld id="{30AB5E0A-44F7-4403-A0CC-481FEEEECB8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6" name="Rectangle 6"/>
          <p:cNvSpPr>
            <a:spLocks noGrp="1" noChangeArrowheads="1"/>
          </p:cNvSpPr>
          <p:nvPr>
            <p:ph type="sldNum" sz="quarter" idx="12"/>
          </p:nvPr>
        </p:nvSpPr>
        <p:spPr>
          <a:ln/>
        </p:spPr>
        <p:txBody>
          <a:bodyPr/>
          <a:lstStyle>
            <a:lvl1pPr>
              <a:defRPr/>
            </a:lvl1pPr>
          </a:lstStyle>
          <a:p>
            <a:pPr>
              <a:defRPr/>
            </a:pPr>
            <a:fld id="{66350268-9CA4-4D89-B8EF-522C69547310}"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6" name="Rectangle 6"/>
          <p:cNvSpPr>
            <a:spLocks noGrp="1" noChangeArrowheads="1"/>
          </p:cNvSpPr>
          <p:nvPr>
            <p:ph type="sldNum" sz="quarter" idx="12"/>
          </p:nvPr>
        </p:nvSpPr>
        <p:spPr>
          <a:ln/>
        </p:spPr>
        <p:txBody>
          <a:bodyPr/>
          <a:lstStyle>
            <a:lvl1pPr>
              <a:defRPr/>
            </a:lvl1pPr>
          </a:lstStyle>
          <a:p>
            <a:pPr>
              <a:defRPr/>
            </a:pPr>
            <a:fld id="{6653E6B3-F591-48D9-B091-76FAD72FFFE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7" name="Rectangle 6"/>
          <p:cNvSpPr>
            <a:spLocks noGrp="1" noChangeArrowheads="1"/>
          </p:cNvSpPr>
          <p:nvPr>
            <p:ph type="sldNum" sz="quarter" idx="12"/>
          </p:nvPr>
        </p:nvSpPr>
        <p:spPr>
          <a:ln/>
        </p:spPr>
        <p:txBody>
          <a:bodyPr/>
          <a:lstStyle>
            <a:lvl1pPr>
              <a:defRPr/>
            </a:lvl1pPr>
          </a:lstStyle>
          <a:p>
            <a:pPr>
              <a:defRPr/>
            </a:pPr>
            <a:fld id="{EB7C6601-9124-4F91-AC56-4D7B464434F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9" name="Rectangle 6"/>
          <p:cNvSpPr>
            <a:spLocks noGrp="1" noChangeArrowheads="1"/>
          </p:cNvSpPr>
          <p:nvPr>
            <p:ph type="sldNum" sz="quarter" idx="12"/>
          </p:nvPr>
        </p:nvSpPr>
        <p:spPr>
          <a:ln/>
        </p:spPr>
        <p:txBody>
          <a:bodyPr/>
          <a:lstStyle>
            <a:lvl1pPr>
              <a:defRPr/>
            </a:lvl1pPr>
          </a:lstStyle>
          <a:p>
            <a:pPr>
              <a:defRPr/>
            </a:pPr>
            <a:fld id="{D53C7C11-4236-43A2-8C71-FA5856CD9E0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5" name="Rectangle 6"/>
          <p:cNvSpPr>
            <a:spLocks noGrp="1" noChangeArrowheads="1"/>
          </p:cNvSpPr>
          <p:nvPr>
            <p:ph type="sldNum" sz="quarter" idx="12"/>
          </p:nvPr>
        </p:nvSpPr>
        <p:spPr>
          <a:ln/>
        </p:spPr>
        <p:txBody>
          <a:bodyPr/>
          <a:lstStyle>
            <a:lvl1pPr>
              <a:defRPr/>
            </a:lvl1pPr>
          </a:lstStyle>
          <a:p>
            <a:pPr>
              <a:defRPr/>
            </a:pPr>
            <a:fld id="{BC257443-29B0-4DDB-8910-4F099132CE3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4" name="Rectangle 6"/>
          <p:cNvSpPr>
            <a:spLocks noGrp="1" noChangeArrowheads="1"/>
          </p:cNvSpPr>
          <p:nvPr>
            <p:ph type="sldNum" sz="quarter" idx="12"/>
          </p:nvPr>
        </p:nvSpPr>
        <p:spPr>
          <a:ln/>
        </p:spPr>
        <p:txBody>
          <a:bodyPr/>
          <a:lstStyle>
            <a:lvl1pPr>
              <a:defRPr/>
            </a:lvl1pPr>
          </a:lstStyle>
          <a:p>
            <a:pPr>
              <a:defRPr/>
            </a:pPr>
            <a:fld id="{25261EE3-2DBA-4CF5-A866-DEEB1874E6D6}"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7" name="Rectangle 6"/>
          <p:cNvSpPr>
            <a:spLocks noGrp="1" noChangeArrowheads="1"/>
          </p:cNvSpPr>
          <p:nvPr>
            <p:ph type="sldNum" sz="quarter" idx="12"/>
          </p:nvPr>
        </p:nvSpPr>
        <p:spPr>
          <a:ln/>
        </p:spPr>
        <p:txBody>
          <a:bodyPr/>
          <a:lstStyle>
            <a:lvl1pPr>
              <a:defRPr/>
            </a:lvl1pPr>
          </a:lstStyle>
          <a:p>
            <a:pPr>
              <a:defRPr/>
            </a:pPr>
            <a:fld id="{77B98734-2ABB-4B16-9842-83CAC1AA8B8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7" name="Rectangle 6"/>
          <p:cNvSpPr>
            <a:spLocks noGrp="1" noChangeArrowheads="1"/>
          </p:cNvSpPr>
          <p:nvPr>
            <p:ph type="sldNum" sz="quarter" idx="12"/>
          </p:nvPr>
        </p:nvSpPr>
        <p:spPr>
          <a:ln/>
        </p:spPr>
        <p:txBody>
          <a:bodyPr/>
          <a:lstStyle>
            <a:lvl1pPr>
              <a:defRPr/>
            </a:lvl1pPr>
          </a:lstStyle>
          <a:p>
            <a:pPr>
              <a:defRPr/>
            </a:pPr>
            <a:fld id="{B2EB1D68-9C9E-4AA0-9101-5D9A5D5A702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6" name="Rectangle 6"/>
          <p:cNvSpPr>
            <a:spLocks noGrp="1" noChangeArrowheads="1"/>
          </p:cNvSpPr>
          <p:nvPr>
            <p:ph type="sldNum" sz="quarter" idx="12"/>
          </p:nvPr>
        </p:nvSpPr>
        <p:spPr>
          <a:ln/>
        </p:spPr>
        <p:txBody>
          <a:bodyPr/>
          <a:lstStyle>
            <a:lvl1pPr>
              <a:defRPr/>
            </a:lvl1pPr>
          </a:lstStyle>
          <a:p>
            <a:pPr>
              <a:defRPr/>
            </a:pPr>
            <a:fld id="{F6A0BD27-0505-4B91-8111-BE46EA23AEA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DataBase Design Course Notes 03 - Normalization</a:t>
            </a:r>
          </a:p>
        </p:txBody>
      </p:sp>
      <p:sp>
        <p:nvSpPr>
          <p:cNvPr id="6" name="Rectangle 6"/>
          <p:cNvSpPr>
            <a:spLocks noGrp="1" noChangeArrowheads="1"/>
          </p:cNvSpPr>
          <p:nvPr>
            <p:ph type="sldNum" sz="quarter" idx="12"/>
          </p:nvPr>
        </p:nvSpPr>
        <p:spPr>
          <a:ln/>
        </p:spPr>
        <p:txBody>
          <a:bodyPr/>
          <a:lstStyle>
            <a:lvl1pPr>
              <a:defRPr/>
            </a:lvl1pPr>
          </a:lstStyle>
          <a:p>
            <a:pPr>
              <a:defRPr/>
            </a:pPr>
            <a:fld id="{25EE9077-F3F9-40E9-9476-5E4073ADA0C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r>
              <a:rPr lang="en-US"/>
              <a:t>DataBase Design Course Notes 03 - Normalization</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1499B2CC-0DA1-49CE-B662-74FEDF7E092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mailto:name1@domain1.com"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7.xml.rels><?xml version="1.0" encoding="UTF-8" standalone="yes"?>
<Relationships xmlns="http://schemas.openxmlformats.org/package/2006/relationships"><Relationship Id="rId2" Type="http://schemas.openxmlformats.org/officeDocument/2006/relationships/hyperlink" Target="https://www.formula1.com/" TargetMode="External"/><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Footer Placeholder 4"/>
          <p:cNvSpPr>
            <a:spLocks noGrp="1"/>
          </p:cNvSpPr>
          <p:nvPr>
            <p:ph type="ftr" sz="quarter" idx="11"/>
          </p:nvPr>
        </p:nvSpPr>
        <p:spPr>
          <a:noFill/>
        </p:spPr>
        <p:txBody>
          <a:bodyPr/>
          <a:lstStyle/>
          <a:p>
            <a:r>
              <a:rPr lang="en-US"/>
              <a:t>DataBase Design Course Notes 03 - Normalization</a:t>
            </a:r>
            <a:endParaRPr lang="en-US" dirty="0"/>
          </a:p>
        </p:txBody>
      </p:sp>
      <p:sp>
        <p:nvSpPr>
          <p:cNvPr id="2051" name="Rectangle 2"/>
          <p:cNvSpPr>
            <a:spLocks noGrp="1" noChangeArrowheads="1"/>
          </p:cNvSpPr>
          <p:nvPr>
            <p:ph type="ctrTitle"/>
          </p:nvPr>
        </p:nvSpPr>
        <p:spPr/>
        <p:txBody>
          <a:bodyPr/>
          <a:lstStyle/>
          <a:p>
            <a:pPr eaLnBrk="1" hangingPunct="1"/>
            <a:r>
              <a:rPr lang="en-US" dirty="0" err="1"/>
              <a:t>DataBases</a:t>
            </a:r>
            <a:endParaRPr lang="en-US" dirty="0"/>
          </a:p>
        </p:txBody>
      </p:sp>
      <p:sp>
        <p:nvSpPr>
          <p:cNvPr id="2052" name="Rectangle 3"/>
          <p:cNvSpPr>
            <a:spLocks noGrp="1" noChangeArrowheads="1"/>
          </p:cNvSpPr>
          <p:nvPr>
            <p:ph type="subTitle" idx="1"/>
          </p:nvPr>
        </p:nvSpPr>
        <p:spPr/>
        <p:txBody>
          <a:bodyPr/>
          <a:lstStyle/>
          <a:p>
            <a:pPr eaLnBrk="1" hangingPunct="1"/>
            <a:r>
              <a:rPr lang="en-US"/>
              <a:t>DataBase Design</a:t>
            </a:r>
          </a:p>
          <a:p>
            <a:pPr eaLnBrk="1" hangingPunct="1"/>
            <a:r>
              <a:rPr lang="en-US"/>
              <a:t>Normalization Process</a:t>
            </a:r>
          </a:p>
        </p:txBody>
      </p:sp>
      <p:sp>
        <p:nvSpPr>
          <p:cNvPr id="2053" name="Slide Number Placeholder 5"/>
          <p:cNvSpPr>
            <a:spLocks noGrp="1"/>
          </p:cNvSpPr>
          <p:nvPr>
            <p:ph type="sldNum" sz="quarter" idx="12"/>
          </p:nvPr>
        </p:nvSpPr>
        <p:spPr>
          <a:noFill/>
        </p:spPr>
        <p:txBody>
          <a:bodyPr/>
          <a:lstStyle/>
          <a:p>
            <a:fld id="{E59C19C2-1F99-4867-9E5C-7B5F3F1BFE95}"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lstStyle/>
          <a:p>
            <a:r>
              <a:rPr lang="en-US" dirty="0"/>
              <a:t>Which database structures are considered Normal?</a:t>
            </a:r>
          </a:p>
          <a:p>
            <a:endParaRPr lang="en-US"/>
          </a:p>
          <a:p>
            <a:r>
              <a:rPr lang="en-US" dirty="0"/>
              <a:t>Difference between snapshot and temporal databases</a:t>
            </a:r>
          </a:p>
          <a:p>
            <a:r>
              <a:rPr lang="en-US" dirty="0"/>
              <a:t>Store Binary Large </a:t>
            </a:r>
            <a:r>
              <a:rPr lang="en-US" dirty="0" err="1"/>
              <a:t>OBjects</a:t>
            </a:r>
            <a:r>
              <a:rPr lang="en-US" dirty="0"/>
              <a:t> in databases</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2</a:t>
            </a:fld>
            <a:endParaRPr lang="en-US"/>
          </a:p>
        </p:txBody>
      </p:sp>
    </p:spTree>
    <p:extLst>
      <p:ext uri="{BB962C8B-B14F-4D97-AF65-F5344CB8AC3E}">
        <p14:creationId xmlns:p14="http://schemas.microsoft.com/office/powerpoint/2010/main" val="1244593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SQL Power Architect </a:t>
            </a:r>
            <a:br>
              <a:rPr lang="en-US" dirty="0"/>
            </a:br>
            <a:r>
              <a:rPr lang="en-US" dirty="0"/>
              <a:t>Data Modeling</a:t>
            </a:r>
          </a:p>
        </p:txBody>
      </p:sp>
      <p:sp>
        <p:nvSpPr>
          <p:cNvPr id="6" name="Text Placeholder 5"/>
          <p:cNvSpPr>
            <a:spLocks noGrp="1"/>
          </p:cNvSpPr>
          <p:nvPr>
            <p:ph type="body" idx="1"/>
          </p:nvPr>
        </p:nvSpPr>
        <p:spPr/>
        <p:txBody>
          <a:bodyPr/>
          <a:lstStyle/>
          <a:p>
            <a:endParaRPr lang="en-US"/>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2" name="Slide Number Placeholder 1"/>
          <p:cNvSpPr>
            <a:spLocks noGrp="1"/>
          </p:cNvSpPr>
          <p:nvPr>
            <p:ph type="sldNum" sz="quarter" idx="12"/>
          </p:nvPr>
        </p:nvSpPr>
        <p:spPr/>
        <p:txBody>
          <a:bodyPr/>
          <a:lstStyle/>
          <a:p>
            <a:pPr>
              <a:defRPr/>
            </a:pPr>
            <a:fld id="{6653E6B3-F591-48D9-B091-76FAD72FFFE7}" type="slidenum">
              <a:rPr lang="en-US" smtClean="0"/>
              <a:pPr>
                <a:defRPr/>
              </a:pPr>
              <a:t>3</a:t>
            </a:fld>
            <a:endParaRPr lang="en-US"/>
          </a:p>
        </p:txBody>
      </p:sp>
    </p:spTree>
    <p:extLst>
      <p:ext uri="{BB962C8B-B14F-4D97-AF65-F5344CB8AC3E}">
        <p14:creationId xmlns:p14="http://schemas.microsoft.com/office/powerpoint/2010/main" val="4140802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SQL Power Architect – Data Modeling</a:t>
            </a:r>
          </a:p>
        </p:txBody>
      </p:sp>
      <p:sp>
        <p:nvSpPr>
          <p:cNvPr id="3" name="Content Placeholder 2"/>
          <p:cNvSpPr>
            <a:spLocks noGrp="1"/>
          </p:cNvSpPr>
          <p:nvPr>
            <p:ph idx="1"/>
          </p:nvPr>
        </p:nvSpPr>
        <p:spPr/>
        <p:txBody>
          <a:bodyPr>
            <a:normAutofit/>
          </a:bodyPr>
          <a:lstStyle/>
          <a:p>
            <a:r>
              <a:rPr lang="en-US" dirty="0"/>
              <a:t>http://www.sqlpower.ca/page/architect</a:t>
            </a:r>
          </a:p>
          <a:p>
            <a:r>
              <a:rPr lang="en-US" dirty="0"/>
              <a:t>free database tool to design data models; forward/reverse engineer to/from any database platform; works with any database using  generic framework; runs on every platform: PC, Mac, Unix</a:t>
            </a:r>
          </a:p>
          <a:p>
            <a:endParaRPr lang="en-US" dirty="0"/>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4</a:t>
            </a:fld>
            <a:endParaRPr lang="en-US"/>
          </a:p>
        </p:txBody>
      </p:sp>
    </p:spTree>
    <p:extLst>
      <p:ext uri="{BB962C8B-B14F-4D97-AF65-F5344CB8AC3E}">
        <p14:creationId xmlns:p14="http://schemas.microsoft.com/office/powerpoint/2010/main" val="3420469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SQL Power Architect – Data Modeling</a:t>
            </a:r>
          </a:p>
        </p:txBody>
      </p:sp>
      <p:pic>
        <p:nvPicPr>
          <p:cNvPr id="5" name="Content Placeholder 4"/>
          <p:cNvPicPr>
            <a:picLocks noGrp="1"/>
          </p:cNvPicPr>
          <p:nvPr>
            <p:ph idx="1"/>
          </p:nvPr>
        </p:nvPicPr>
        <p:blipFill>
          <a:blip r:embed="rId2"/>
          <a:stretch>
            <a:fillRect/>
          </a:stretch>
        </p:blipFill>
        <p:spPr>
          <a:xfrm>
            <a:off x="457199" y="1371600"/>
            <a:ext cx="8229600" cy="475488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5</a:t>
            </a:fld>
            <a:endParaRPr lang="en-US"/>
          </a:p>
        </p:txBody>
      </p:sp>
    </p:spTree>
    <p:extLst>
      <p:ext uri="{BB962C8B-B14F-4D97-AF65-F5344CB8AC3E}">
        <p14:creationId xmlns:p14="http://schemas.microsoft.com/office/powerpoint/2010/main" val="2397139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SQL Power Architect – Data Modeling</a:t>
            </a:r>
          </a:p>
        </p:txBody>
      </p:sp>
      <p:pic>
        <p:nvPicPr>
          <p:cNvPr id="5" name="Content Placeholder 4"/>
          <p:cNvPicPr>
            <a:picLocks noGrp="1"/>
          </p:cNvPicPr>
          <p:nvPr>
            <p:ph idx="1"/>
          </p:nvPr>
        </p:nvPicPr>
        <p:blipFill>
          <a:blip r:embed="rId2"/>
          <a:stretch>
            <a:fillRect/>
          </a:stretch>
        </p:blipFill>
        <p:spPr>
          <a:xfrm>
            <a:off x="457200" y="1371600"/>
            <a:ext cx="8229600" cy="475488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6</a:t>
            </a:fld>
            <a:endParaRPr lang="en-US"/>
          </a:p>
        </p:txBody>
      </p:sp>
    </p:spTree>
    <p:extLst>
      <p:ext uri="{BB962C8B-B14F-4D97-AF65-F5344CB8AC3E}">
        <p14:creationId xmlns:p14="http://schemas.microsoft.com/office/powerpoint/2010/main" val="2564432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Reverse Engineering </a:t>
            </a:r>
          </a:p>
        </p:txBody>
      </p:sp>
      <p:pic>
        <p:nvPicPr>
          <p:cNvPr id="5" name="Content Placeholder 4"/>
          <p:cNvPicPr>
            <a:picLocks noGrp="1"/>
          </p:cNvPicPr>
          <p:nvPr>
            <p:ph idx="1"/>
          </p:nvPr>
        </p:nvPicPr>
        <p:blipFill>
          <a:blip r:embed="rId2"/>
          <a:stretch>
            <a:fillRect/>
          </a:stretch>
        </p:blipFill>
        <p:spPr>
          <a:xfrm>
            <a:off x="1371599" y="1371599"/>
            <a:ext cx="6309360" cy="475488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7</a:t>
            </a:fld>
            <a:endParaRPr lang="en-US"/>
          </a:p>
        </p:txBody>
      </p:sp>
    </p:spTree>
    <p:extLst>
      <p:ext uri="{BB962C8B-B14F-4D97-AF65-F5344CB8AC3E}">
        <p14:creationId xmlns:p14="http://schemas.microsoft.com/office/powerpoint/2010/main" val="1167678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Sample database </a:t>
            </a:r>
            <a:br>
              <a:rPr lang="en-US" dirty="0"/>
            </a:br>
            <a:r>
              <a:rPr lang="en-US" dirty="0"/>
              <a:t>Entity Relationship diagram</a:t>
            </a:r>
          </a:p>
        </p:txBody>
      </p:sp>
      <p:pic>
        <p:nvPicPr>
          <p:cNvPr id="5" name="Content Placeholder 4"/>
          <p:cNvPicPr>
            <a:picLocks noGrp="1" noChangeAspect="1"/>
          </p:cNvPicPr>
          <p:nvPr>
            <p:ph idx="1"/>
          </p:nvPr>
        </p:nvPicPr>
        <p:blipFill>
          <a:blip r:embed="rId2"/>
          <a:stretch>
            <a:fillRect/>
          </a:stretch>
        </p:blipFill>
        <p:spPr>
          <a:xfrm>
            <a:off x="719860" y="1600200"/>
            <a:ext cx="7704280" cy="4525963"/>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8</a:t>
            </a:fld>
            <a:endParaRPr lang="en-US"/>
          </a:p>
        </p:txBody>
      </p:sp>
    </p:spTree>
    <p:extLst>
      <p:ext uri="{BB962C8B-B14F-4D97-AF65-F5344CB8AC3E}">
        <p14:creationId xmlns:p14="http://schemas.microsoft.com/office/powerpoint/2010/main" val="1411020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Forward Engineering</a:t>
            </a:r>
            <a:br>
              <a:rPr lang="en-US" dirty="0"/>
            </a:br>
            <a:r>
              <a:rPr lang="en-US" dirty="0"/>
              <a:t>Create Entity – Relationship diagram</a:t>
            </a:r>
          </a:p>
        </p:txBody>
      </p:sp>
      <p:pic>
        <p:nvPicPr>
          <p:cNvPr id="5" name="Content Placeholder 4"/>
          <p:cNvPicPr>
            <a:picLocks noGrp="1"/>
          </p:cNvPicPr>
          <p:nvPr>
            <p:ph idx="1"/>
          </p:nvPr>
        </p:nvPicPr>
        <p:blipFill>
          <a:blip r:embed="rId2"/>
          <a:stretch>
            <a:fillRect/>
          </a:stretch>
        </p:blipFill>
        <p:spPr>
          <a:xfrm>
            <a:off x="457199" y="1371600"/>
            <a:ext cx="8229600" cy="475488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9</a:t>
            </a:fld>
            <a:endParaRPr lang="en-US"/>
          </a:p>
        </p:txBody>
      </p:sp>
    </p:spTree>
    <p:extLst>
      <p:ext uri="{BB962C8B-B14F-4D97-AF65-F5344CB8AC3E}">
        <p14:creationId xmlns:p14="http://schemas.microsoft.com/office/powerpoint/2010/main" val="3177908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p:cNvPicPr>
          <p:nvPr>
            <p:ph idx="1"/>
          </p:nvPr>
        </p:nvPicPr>
        <p:blipFill>
          <a:blip r:embed="rId2"/>
          <a:stretch>
            <a:fillRect/>
          </a:stretch>
        </p:blipFill>
        <p:spPr>
          <a:xfrm>
            <a:off x="457200" y="1554479"/>
            <a:ext cx="8229600" cy="475488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10</a:t>
            </a:fld>
            <a:endParaRPr lang="en-US"/>
          </a:p>
        </p:txBody>
      </p:sp>
    </p:spTree>
    <p:extLst>
      <p:ext uri="{BB962C8B-B14F-4D97-AF65-F5344CB8AC3E}">
        <p14:creationId xmlns:p14="http://schemas.microsoft.com/office/powerpoint/2010/main" val="155293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p:cNvPicPr>
          <p:nvPr>
            <p:ph idx="1"/>
          </p:nvPr>
        </p:nvPicPr>
        <p:blipFill>
          <a:blip r:embed="rId2"/>
          <a:stretch>
            <a:fillRect/>
          </a:stretch>
        </p:blipFill>
        <p:spPr>
          <a:xfrm>
            <a:off x="457200" y="1554480"/>
            <a:ext cx="8229600" cy="475488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11</a:t>
            </a:fld>
            <a:endParaRPr lang="en-US"/>
          </a:p>
        </p:txBody>
      </p:sp>
    </p:spTree>
    <p:extLst>
      <p:ext uri="{BB962C8B-B14F-4D97-AF65-F5344CB8AC3E}">
        <p14:creationId xmlns:p14="http://schemas.microsoft.com/office/powerpoint/2010/main" val="1135621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p:cNvPicPr>
          <p:nvPr>
            <p:ph idx="1"/>
          </p:nvPr>
        </p:nvPicPr>
        <p:blipFill>
          <a:blip r:embed="rId2"/>
          <a:stretch>
            <a:fillRect/>
          </a:stretch>
        </p:blipFill>
        <p:spPr>
          <a:xfrm>
            <a:off x="457200" y="1554480"/>
            <a:ext cx="8229600" cy="457200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12</a:t>
            </a:fld>
            <a:endParaRPr lang="en-US"/>
          </a:p>
        </p:txBody>
      </p:sp>
    </p:spTree>
    <p:extLst>
      <p:ext uri="{BB962C8B-B14F-4D97-AF65-F5344CB8AC3E}">
        <p14:creationId xmlns:p14="http://schemas.microsoft.com/office/powerpoint/2010/main" val="3078701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p:cNvPicPr>
          <p:nvPr>
            <p:ph idx="1"/>
          </p:nvPr>
        </p:nvPicPr>
        <p:blipFill>
          <a:blip r:embed="rId2"/>
          <a:stretch>
            <a:fillRect/>
          </a:stretch>
        </p:blipFill>
        <p:spPr>
          <a:xfrm>
            <a:off x="914400" y="1371600"/>
            <a:ext cx="7315200" cy="484632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13</a:t>
            </a:fld>
            <a:endParaRPr lang="en-US"/>
          </a:p>
        </p:txBody>
      </p:sp>
    </p:spTree>
    <p:extLst>
      <p:ext uri="{BB962C8B-B14F-4D97-AF65-F5344CB8AC3E}">
        <p14:creationId xmlns:p14="http://schemas.microsoft.com/office/powerpoint/2010/main" val="121040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p:cNvPicPr>
          <p:nvPr>
            <p:ph idx="1"/>
          </p:nvPr>
        </p:nvPicPr>
        <p:blipFill>
          <a:blip r:embed="rId2"/>
          <a:stretch>
            <a:fillRect/>
          </a:stretch>
        </p:blipFill>
        <p:spPr>
          <a:xfrm>
            <a:off x="457200" y="1554480"/>
            <a:ext cx="8229600" cy="475488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14</a:t>
            </a:fld>
            <a:endParaRPr lang="en-US"/>
          </a:p>
        </p:txBody>
      </p:sp>
    </p:spTree>
    <p:extLst>
      <p:ext uri="{BB962C8B-B14F-4D97-AF65-F5344CB8AC3E}">
        <p14:creationId xmlns:p14="http://schemas.microsoft.com/office/powerpoint/2010/main" val="3787509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 name="Content Placeholder 4"/>
          <p:cNvPicPr>
            <a:picLocks noGrp="1"/>
          </p:cNvPicPr>
          <p:nvPr>
            <p:ph idx="1"/>
          </p:nvPr>
        </p:nvPicPr>
        <p:blipFill>
          <a:blip r:embed="rId2"/>
          <a:stretch>
            <a:fillRect/>
          </a:stretch>
        </p:blipFill>
        <p:spPr>
          <a:xfrm>
            <a:off x="457200" y="1554480"/>
            <a:ext cx="8229600" cy="475488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15</a:t>
            </a:fld>
            <a:endParaRPr lang="en-US"/>
          </a:p>
        </p:txBody>
      </p:sp>
    </p:spTree>
    <p:extLst>
      <p:ext uri="{BB962C8B-B14F-4D97-AF65-F5344CB8AC3E}">
        <p14:creationId xmlns:p14="http://schemas.microsoft.com/office/powerpoint/2010/main" val="460500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p:cNvPicPr>
          <p:nvPr>
            <p:ph idx="1"/>
          </p:nvPr>
        </p:nvPicPr>
        <p:blipFill>
          <a:blip r:embed="rId2"/>
          <a:stretch>
            <a:fillRect/>
          </a:stretch>
        </p:blipFill>
        <p:spPr>
          <a:xfrm>
            <a:off x="457200" y="1828800"/>
            <a:ext cx="8229600" cy="457200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16</a:t>
            </a:fld>
            <a:endParaRPr lang="en-US"/>
          </a:p>
        </p:txBody>
      </p:sp>
    </p:spTree>
    <p:extLst>
      <p:ext uri="{BB962C8B-B14F-4D97-AF65-F5344CB8AC3E}">
        <p14:creationId xmlns:p14="http://schemas.microsoft.com/office/powerpoint/2010/main" val="1023247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 name="Content Placeholder 4"/>
          <p:cNvPicPr>
            <a:picLocks noGrp="1"/>
          </p:cNvPicPr>
          <p:nvPr>
            <p:ph idx="1"/>
          </p:nvPr>
        </p:nvPicPr>
        <p:blipFill>
          <a:blip r:embed="rId2"/>
          <a:stretch>
            <a:fillRect/>
          </a:stretch>
        </p:blipFill>
        <p:spPr>
          <a:xfrm>
            <a:off x="457199" y="1554479"/>
            <a:ext cx="8229600" cy="457200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17</a:t>
            </a:fld>
            <a:endParaRPr lang="en-US"/>
          </a:p>
        </p:txBody>
      </p:sp>
    </p:spTree>
    <p:extLst>
      <p:ext uri="{BB962C8B-B14F-4D97-AF65-F5344CB8AC3E}">
        <p14:creationId xmlns:p14="http://schemas.microsoft.com/office/powerpoint/2010/main" val="162024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6" name="Content Placeholder 5"/>
          <p:cNvSpPr>
            <a:spLocks noGrp="1"/>
          </p:cNvSpPr>
          <p:nvPr>
            <p:ph idx="1"/>
          </p:nvPr>
        </p:nvSpPr>
        <p:spPr/>
        <p:txBody>
          <a:bodyPr/>
          <a:lstStyle/>
          <a:p>
            <a:endParaRPr lang="en-US"/>
          </a:p>
        </p:txBody>
      </p:sp>
      <p:pic>
        <p:nvPicPr>
          <p:cNvPr id="7" name="Picture 6"/>
          <p:cNvPicPr>
            <a:picLocks/>
          </p:cNvPicPr>
          <p:nvPr/>
        </p:nvPicPr>
        <p:blipFill>
          <a:blip r:embed="rId2"/>
          <a:stretch>
            <a:fillRect/>
          </a:stretch>
        </p:blipFill>
        <p:spPr>
          <a:xfrm>
            <a:off x="457200" y="1463040"/>
            <a:ext cx="8229600" cy="4754880"/>
          </a:xfrm>
          <a:prstGeom prst="rect">
            <a:avLst/>
          </a:prstGeom>
        </p:spPr>
      </p:pic>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18</a:t>
            </a:fld>
            <a:endParaRPr lang="en-US"/>
          </a:p>
        </p:txBody>
      </p:sp>
    </p:spTree>
    <p:extLst>
      <p:ext uri="{BB962C8B-B14F-4D97-AF65-F5344CB8AC3E}">
        <p14:creationId xmlns:p14="http://schemas.microsoft.com/office/powerpoint/2010/main" val="2661627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Forward Engineering</a:t>
            </a:r>
          </a:p>
        </p:txBody>
      </p:sp>
      <p:pic>
        <p:nvPicPr>
          <p:cNvPr id="5" name="Content Placeholder 4"/>
          <p:cNvPicPr>
            <a:picLocks noGrp="1"/>
          </p:cNvPicPr>
          <p:nvPr>
            <p:ph idx="1"/>
          </p:nvPr>
        </p:nvPicPr>
        <p:blipFill>
          <a:blip r:embed="rId2"/>
          <a:stretch>
            <a:fillRect/>
          </a:stretch>
        </p:blipFill>
        <p:spPr>
          <a:xfrm>
            <a:off x="457199" y="1554479"/>
            <a:ext cx="8229600" cy="457200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19</a:t>
            </a:fld>
            <a:endParaRPr lang="en-US"/>
          </a:p>
        </p:txBody>
      </p:sp>
    </p:spTree>
    <p:extLst>
      <p:ext uri="{BB962C8B-B14F-4D97-AF65-F5344CB8AC3E}">
        <p14:creationId xmlns:p14="http://schemas.microsoft.com/office/powerpoint/2010/main" val="445566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Forward Engineering</a:t>
            </a:r>
          </a:p>
        </p:txBody>
      </p:sp>
      <p:pic>
        <p:nvPicPr>
          <p:cNvPr id="5" name="Content Placeholder 4"/>
          <p:cNvPicPr>
            <a:picLocks noGrp="1"/>
          </p:cNvPicPr>
          <p:nvPr>
            <p:ph idx="1"/>
          </p:nvPr>
        </p:nvPicPr>
        <p:blipFill>
          <a:blip r:embed="rId2"/>
          <a:stretch>
            <a:fillRect/>
          </a:stretch>
        </p:blipFill>
        <p:spPr>
          <a:xfrm>
            <a:off x="457199" y="1554480"/>
            <a:ext cx="8229600" cy="4572000"/>
          </a:xfrm>
          <a:prstGeom prst="rect">
            <a:avLst/>
          </a:prstGeo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66350268-9CA4-4D89-B8EF-522C69547310}" type="slidenum">
              <a:rPr lang="en-US" smtClean="0"/>
              <a:pPr>
                <a:defRPr/>
              </a:pPr>
              <a:t>20</a:t>
            </a:fld>
            <a:endParaRPr lang="en-US"/>
          </a:p>
        </p:txBody>
      </p:sp>
    </p:spTree>
    <p:extLst>
      <p:ext uri="{BB962C8B-B14F-4D97-AF65-F5344CB8AC3E}">
        <p14:creationId xmlns:p14="http://schemas.microsoft.com/office/powerpoint/2010/main" val="4182929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Forward Engineering</a:t>
            </a:r>
          </a:p>
        </p:txBody>
      </p:sp>
      <p:sp>
        <p:nvSpPr>
          <p:cNvPr id="3" name="Content Placeholder 2"/>
          <p:cNvSpPr>
            <a:spLocks noGrp="1"/>
          </p:cNvSpPr>
          <p:nvPr>
            <p:ph idx="1"/>
          </p:nvPr>
        </p:nvSpPr>
        <p:spPr/>
        <p:txBody>
          <a:bodyPr>
            <a:normAutofit lnSpcReduction="10000"/>
          </a:bodyPr>
          <a:lstStyle/>
          <a:p>
            <a:r>
              <a:rPr lang="en-US" dirty="0"/>
              <a:t>Save SQL file</a:t>
            </a:r>
          </a:p>
          <a:p>
            <a:endParaRPr lang="en-US" dirty="0"/>
          </a:p>
          <a:p>
            <a:r>
              <a:rPr lang="en-US" dirty="0"/>
              <a:t>Start </a:t>
            </a:r>
            <a:r>
              <a:rPr lang="en-US" dirty="0" err="1"/>
              <a:t>DataBase</a:t>
            </a:r>
            <a:r>
              <a:rPr lang="en-US" dirty="0"/>
              <a:t> Engine</a:t>
            </a:r>
          </a:p>
          <a:p>
            <a:pPr lvl="1"/>
            <a:r>
              <a:rPr lang="en-US" dirty="0"/>
              <a:t>MySQL / Microsoft SQL Server</a:t>
            </a:r>
          </a:p>
          <a:p>
            <a:r>
              <a:rPr lang="en-US" dirty="0"/>
              <a:t>Start Front-End tool</a:t>
            </a:r>
          </a:p>
          <a:p>
            <a:pPr lvl="1"/>
            <a:r>
              <a:rPr lang="en-US" dirty="0"/>
              <a:t>MySQL </a:t>
            </a:r>
            <a:r>
              <a:rPr lang="en-US" dirty="0" err="1"/>
              <a:t>WorkBench</a:t>
            </a:r>
            <a:r>
              <a:rPr lang="en-US" dirty="0"/>
              <a:t> / Management Studio</a:t>
            </a:r>
          </a:p>
          <a:p>
            <a:r>
              <a:rPr lang="en-US" dirty="0"/>
              <a:t>CREATE SCHEMA / DATABASE</a:t>
            </a:r>
          </a:p>
          <a:p>
            <a:r>
              <a:rPr lang="en-US" dirty="0"/>
              <a:t>Run SQL file</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21</a:t>
            </a:fld>
            <a:endParaRPr lang="en-US"/>
          </a:p>
        </p:txBody>
      </p:sp>
    </p:spTree>
    <p:extLst>
      <p:ext uri="{BB962C8B-B14F-4D97-AF65-F5344CB8AC3E}">
        <p14:creationId xmlns:p14="http://schemas.microsoft.com/office/powerpoint/2010/main" val="1525006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Generic SQL 92 standard</a:t>
            </a:r>
          </a:p>
          <a:p>
            <a:r>
              <a:rPr lang="en-US" dirty="0"/>
              <a:t>Oracle</a:t>
            </a:r>
          </a:p>
          <a:p>
            <a:r>
              <a:rPr lang="en-US" dirty="0"/>
              <a:t>PostgreSQL</a:t>
            </a:r>
          </a:p>
          <a:p>
            <a:r>
              <a:rPr lang="en-US" dirty="0"/>
              <a:t>Microsoft SQL Server</a:t>
            </a:r>
          </a:p>
          <a:p>
            <a:r>
              <a:rPr lang="en-US" dirty="0"/>
              <a:t>MySQL</a:t>
            </a:r>
          </a:p>
          <a:p>
            <a:r>
              <a:rPr lang="en-US" dirty="0"/>
              <a:t>IBM DB2</a:t>
            </a:r>
          </a:p>
          <a:p>
            <a:r>
              <a:rPr lang="en-US" dirty="0"/>
              <a:t>HSQLDB</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22</a:t>
            </a:fld>
            <a:endParaRPr lang="en-US"/>
          </a:p>
        </p:txBody>
      </p:sp>
    </p:spTree>
    <p:extLst>
      <p:ext uri="{BB962C8B-B14F-4D97-AF65-F5344CB8AC3E}">
        <p14:creationId xmlns:p14="http://schemas.microsoft.com/office/powerpoint/2010/main" val="572677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Footer Placeholder 4"/>
          <p:cNvSpPr>
            <a:spLocks noGrp="1"/>
          </p:cNvSpPr>
          <p:nvPr>
            <p:ph type="ftr" sz="quarter" idx="11"/>
          </p:nvPr>
        </p:nvSpPr>
        <p:spPr>
          <a:noFill/>
        </p:spPr>
        <p:txBody>
          <a:bodyPr/>
          <a:lstStyle/>
          <a:p>
            <a:r>
              <a:rPr lang="en-US"/>
              <a:t>DataBase Design Course Notes 03 - Normalization</a:t>
            </a:r>
            <a:endParaRPr lang="en-US" dirty="0"/>
          </a:p>
        </p:txBody>
      </p:sp>
      <p:sp>
        <p:nvSpPr>
          <p:cNvPr id="2051" name="Rectangle 2"/>
          <p:cNvSpPr>
            <a:spLocks noGrp="1" noChangeArrowheads="1"/>
          </p:cNvSpPr>
          <p:nvPr>
            <p:ph type="ctrTitle"/>
          </p:nvPr>
        </p:nvSpPr>
        <p:spPr/>
        <p:txBody>
          <a:bodyPr/>
          <a:lstStyle/>
          <a:p>
            <a:pPr eaLnBrk="1" hangingPunct="1"/>
            <a:r>
              <a:rPr lang="en-US" dirty="0" err="1"/>
              <a:t>DataBases</a:t>
            </a:r>
            <a:endParaRPr lang="en-US" dirty="0"/>
          </a:p>
        </p:txBody>
      </p:sp>
      <p:sp>
        <p:nvSpPr>
          <p:cNvPr id="2052" name="Rectangle 3"/>
          <p:cNvSpPr>
            <a:spLocks noGrp="1" noChangeArrowheads="1"/>
          </p:cNvSpPr>
          <p:nvPr>
            <p:ph type="subTitle" idx="1"/>
          </p:nvPr>
        </p:nvSpPr>
        <p:spPr/>
        <p:txBody>
          <a:bodyPr/>
          <a:lstStyle/>
          <a:p>
            <a:pPr eaLnBrk="1" hangingPunct="1"/>
            <a:r>
              <a:rPr lang="en-US"/>
              <a:t>DataBase Design</a:t>
            </a:r>
          </a:p>
          <a:p>
            <a:pPr eaLnBrk="1" hangingPunct="1"/>
            <a:r>
              <a:rPr lang="en-US"/>
              <a:t>Normalization Process</a:t>
            </a:r>
          </a:p>
        </p:txBody>
      </p:sp>
      <p:sp>
        <p:nvSpPr>
          <p:cNvPr id="2053" name="Slide Number Placeholder 5"/>
          <p:cNvSpPr>
            <a:spLocks noGrp="1"/>
          </p:cNvSpPr>
          <p:nvPr>
            <p:ph type="sldNum" sz="quarter" idx="12"/>
          </p:nvPr>
        </p:nvSpPr>
        <p:spPr>
          <a:noFill/>
        </p:spPr>
        <p:txBody>
          <a:bodyPr/>
          <a:lstStyle/>
          <a:p>
            <a:fld id="{E59C19C2-1F99-4867-9E5C-7B5F3F1BFE95}" type="slidenum">
              <a:rPr lang="en-US" smtClean="0"/>
              <a:pPr/>
              <a:t>23</a:t>
            </a:fld>
            <a:endParaRPr lang="en-US"/>
          </a:p>
        </p:txBody>
      </p:sp>
    </p:spTree>
    <p:extLst>
      <p:ext uri="{BB962C8B-B14F-4D97-AF65-F5344CB8AC3E}">
        <p14:creationId xmlns:p14="http://schemas.microsoft.com/office/powerpoint/2010/main" val="884596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5"/>
          <p:cNvSpPr>
            <a:spLocks noGrp="1"/>
          </p:cNvSpPr>
          <p:nvPr>
            <p:ph type="ctrTitle"/>
          </p:nvPr>
        </p:nvSpPr>
        <p:spPr/>
        <p:txBody>
          <a:bodyPr/>
          <a:lstStyle/>
          <a:p>
            <a:r>
              <a:rPr lang="en-US"/>
              <a:t>“</a:t>
            </a:r>
            <a:r>
              <a:rPr lang="en-US" b="1"/>
              <a:t>Data modeling</a:t>
            </a:r>
            <a:r>
              <a:rPr lang="en-US"/>
              <a:t> is not optional”</a:t>
            </a:r>
          </a:p>
        </p:txBody>
      </p:sp>
      <p:sp>
        <p:nvSpPr>
          <p:cNvPr id="7" name="Subtitle 6"/>
          <p:cNvSpPr>
            <a:spLocks noGrp="1"/>
          </p:cNvSpPr>
          <p:nvPr>
            <p:ph type="subTitle" idx="1"/>
          </p:nvPr>
        </p:nvSpPr>
        <p:spPr/>
        <p:txBody>
          <a:bodyPr/>
          <a:lstStyle/>
          <a:p>
            <a:pPr>
              <a:defRPr/>
            </a:pPr>
            <a:r>
              <a:rPr lang="en-US" dirty="0"/>
              <a:t>no database or system was ever built without at least an implicit model</a:t>
            </a:r>
          </a:p>
        </p:txBody>
      </p:sp>
      <p:sp>
        <p:nvSpPr>
          <p:cNvPr id="2" name="Footer Placeholder 1"/>
          <p:cNvSpPr>
            <a:spLocks noGrp="1"/>
          </p:cNvSpPr>
          <p:nvPr>
            <p:ph type="ftr" sz="quarter" idx="11"/>
          </p:nvPr>
        </p:nvSpPr>
        <p:spPr/>
        <p:txBody>
          <a:bodyPr/>
          <a:lstStyle/>
          <a:p>
            <a:pPr>
              <a:defRPr/>
            </a:pPr>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30AB5E0A-44F7-4403-A0CC-481FEEEECB85}" type="slidenum">
              <a:rPr lang="en-US" smtClean="0"/>
              <a:pPr>
                <a:defRPr/>
              </a:pPr>
              <a:t>24</a:t>
            </a:fld>
            <a:endParaRPr lang="en-US"/>
          </a:p>
        </p:txBody>
      </p:sp>
    </p:spTree>
    <p:extLst>
      <p:ext uri="{BB962C8B-B14F-4D97-AF65-F5344CB8AC3E}">
        <p14:creationId xmlns:p14="http://schemas.microsoft.com/office/powerpoint/2010/main" val="1067603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endParaRPr lang="en-US"/>
          </a:p>
        </p:txBody>
      </p:sp>
      <p:sp>
        <p:nvSpPr>
          <p:cNvPr id="63491" name="Content Placeholder 2"/>
          <p:cNvSpPr>
            <a:spLocks noGrp="1"/>
          </p:cNvSpPr>
          <p:nvPr>
            <p:ph idx="1"/>
          </p:nvPr>
        </p:nvSpPr>
        <p:spPr/>
        <p:txBody>
          <a:bodyPr/>
          <a:lstStyle/>
          <a:p>
            <a:r>
              <a:rPr lang="en-US"/>
              <a:t>software programs are designed to implement a process model (or functional specification)</a:t>
            </a:r>
          </a:p>
          <a:p>
            <a:pPr lvl="1"/>
            <a:r>
              <a:rPr lang="en-US"/>
              <a:t>specifying business processes that the system is to perform</a:t>
            </a:r>
          </a:p>
          <a:p>
            <a:r>
              <a:rPr lang="en-US"/>
              <a:t>same way, database is specified by </a:t>
            </a:r>
            <a:r>
              <a:rPr lang="en-US" b="1"/>
              <a:t>data model</a:t>
            </a:r>
            <a:r>
              <a:rPr lang="en-US"/>
              <a:t>, describing what sort of data will be held and how it will be organized</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C194125B-A3AB-4BF2-A08A-7AB62B0A59CB}" type="slidenum">
              <a:rPr lang="en-US" smtClean="0"/>
              <a:pPr>
                <a:defRPr/>
              </a:pPr>
              <a:t>25</a:t>
            </a:fld>
            <a:endParaRPr lang="en-US"/>
          </a:p>
        </p:txBody>
      </p:sp>
    </p:spTree>
    <p:extLst>
      <p:ext uri="{BB962C8B-B14F-4D97-AF65-F5344CB8AC3E}">
        <p14:creationId xmlns:p14="http://schemas.microsoft.com/office/powerpoint/2010/main" val="202408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t>Design – Choice &amp; Creativity</a:t>
            </a:r>
          </a:p>
        </p:txBody>
      </p:sp>
      <p:sp>
        <p:nvSpPr>
          <p:cNvPr id="64515" name="Content Placeholder 2"/>
          <p:cNvSpPr>
            <a:spLocks noGrp="1"/>
          </p:cNvSpPr>
          <p:nvPr>
            <p:ph idx="1"/>
          </p:nvPr>
        </p:nvSpPr>
        <p:spPr/>
        <p:txBody>
          <a:bodyPr/>
          <a:lstStyle/>
          <a:p>
            <a:r>
              <a:rPr lang="en-US"/>
              <a:t>in design, we do not expect to find a single correct answer, although we will certainly be able to identify many that are incorrect</a:t>
            </a:r>
          </a:p>
          <a:p>
            <a:r>
              <a:rPr lang="en-US"/>
              <a:t>2 data modelers given same set of requirements may produce quite different solutions</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5842CADF-8E61-4911-AB39-1411DF736CA1}" type="slidenum">
              <a:rPr lang="en-US" smtClean="0"/>
              <a:pPr>
                <a:defRPr/>
              </a:pPr>
              <a:t>26</a:t>
            </a:fld>
            <a:endParaRPr lang="en-US"/>
          </a:p>
        </p:txBody>
      </p:sp>
    </p:spTree>
    <p:extLst>
      <p:ext uri="{BB962C8B-B14F-4D97-AF65-F5344CB8AC3E}">
        <p14:creationId xmlns:p14="http://schemas.microsoft.com/office/powerpoint/2010/main" val="2420069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endParaRPr lang="en-US"/>
          </a:p>
        </p:txBody>
      </p:sp>
      <p:sp>
        <p:nvSpPr>
          <p:cNvPr id="65539" name="Content Placeholder 2"/>
          <p:cNvSpPr>
            <a:spLocks noGrp="1"/>
          </p:cNvSpPr>
          <p:nvPr>
            <p:ph idx="1"/>
          </p:nvPr>
        </p:nvSpPr>
        <p:spPr/>
        <p:txBody>
          <a:bodyPr/>
          <a:lstStyle/>
          <a:p>
            <a:r>
              <a:rPr lang="en-US"/>
              <a:t>First choice of what symbols or codes we use to represent real-world facts in database</a:t>
            </a:r>
          </a:p>
          <a:p>
            <a:r>
              <a:rPr lang="en-US"/>
              <a:t>person’s age could be represented by Birth Date, Age at Date of …, or even by code corresponding to range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23CA4183-3B79-45E5-B8E6-BA3BE15C4A3C}" type="slidenum">
              <a:rPr lang="en-US" smtClean="0"/>
              <a:pPr>
                <a:defRPr/>
              </a:pPr>
              <a:t>27</a:t>
            </a:fld>
            <a:endParaRPr lang="en-US"/>
          </a:p>
        </p:txBody>
      </p:sp>
    </p:spTree>
    <p:extLst>
      <p:ext uri="{BB962C8B-B14F-4D97-AF65-F5344CB8AC3E}">
        <p14:creationId xmlns:p14="http://schemas.microsoft.com/office/powerpoint/2010/main" val="251047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endParaRPr lang="en-US"/>
          </a:p>
        </p:txBody>
      </p:sp>
      <p:sp>
        <p:nvSpPr>
          <p:cNvPr id="66563" name="Content Placeholder 2"/>
          <p:cNvSpPr>
            <a:spLocks noGrp="1"/>
          </p:cNvSpPr>
          <p:nvPr>
            <p:ph idx="1"/>
          </p:nvPr>
        </p:nvSpPr>
        <p:spPr/>
        <p:txBody>
          <a:bodyPr/>
          <a:lstStyle/>
          <a:p>
            <a:r>
              <a:rPr lang="en-US"/>
              <a:t>Second choice there is usually more than one way to organize (classify) data </a:t>
            </a:r>
          </a:p>
          <a:p>
            <a:pPr lvl="1"/>
            <a:r>
              <a:rPr lang="en-US"/>
              <a:t>into tables and columns in relational model</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9EFE0722-33FD-4229-BE95-5494595242D2}" type="slidenum">
              <a:rPr lang="en-US" smtClean="0"/>
              <a:pPr>
                <a:defRPr/>
              </a:pPr>
              <a:t>28</a:t>
            </a:fld>
            <a:endParaRPr lang="en-US"/>
          </a:p>
        </p:txBody>
      </p:sp>
    </p:spTree>
    <p:extLst>
      <p:ext uri="{BB962C8B-B14F-4D97-AF65-F5344CB8AC3E}">
        <p14:creationId xmlns:p14="http://schemas.microsoft.com/office/powerpoint/2010/main" val="650562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endParaRPr lang="en-US"/>
          </a:p>
        </p:txBody>
      </p:sp>
      <p:sp>
        <p:nvSpPr>
          <p:cNvPr id="67587" name="Content Placeholder 2"/>
          <p:cNvSpPr>
            <a:spLocks noGrp="1"/>
          </p:cNvSpPr>
          <p:nvPr>
            <p:ph idx="1"/>
          </p:nvPr>
        </p:nvSpPr>
        <p:spPr/>
        <p:txBody>
          <a:bodyPr/>
          <a:lstStyle/>
          <a:p>
            <a:r>
              <a:rPr lang="en-US"/>
              <a:t>Third choice requirements from which we work in practice are usually incomplete, or at least loose enough to accommodate a variety of different solutions</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8D73B59B-E8C8-4D23-B21D-5C1717C0967E}" type="slidenum">
              <a:rPr lang="en-US" smtClean="0"/>
              <a:pPr>
                <a:defRPr/>
              </a:pPr>
              <a:t>29</a:t>
            </a:fld>
            <a:endParaRPr lang="en-US"/>
          </a:p>
        </p:txBody>
      </p:sp>
    </p:spTree>
    <p:extLst>
      <p:ext uri="{BB962C8B-B14F-4D97-AF65-F5344CB8AC3E}">
        <p14:creationId xmlns:p14="http://schemas.microsoft.com/office/powerpoint/2010/main" val="4209314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endParaRPr lang="en-US"/>
          </a:p>
        </p:txBody>
      </p:sp>
      <p:sp>
        <p:nvSpPr>
          <p:cNvPr id="68611" name="Content Placeholder 2"/>
          <p:cNvSpPr>
            <a:spLocks noGrp="1"/>
          </p:cNvSpPr>
          <p:nvPr>
            <p:ph idx="1"/>
          </p:nvPr>
        </p:nvSpPr>
        <p:spPr/>
        <p:txBody>
          <a:bodyPr/>
          <a:lstStyle/>
          <a:p>
            <a:r>
              <a:rPr lang="en-US"/>
              <a:t>Fourth choice we have some options as to which part of system will handle each business requirement</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1E694B67-F24B-481F-94D5-BFE818B5B5DC}" type="slidenum">
              <a:rPr lang="en-US" smtClean="0"/>
              <a:pPr>
                <a:defRPr/>
              </a:pPr>
              <a:t>30</a:t>
            </a:fld>
            <a:endParaRPr lang="en-US"/>
          </a:p>
        </p:txBody>
      </p:sp>
    </p:spTree>
    <p:extLst>
      <p:ext uri="{BB962C8B-B14F-4D97-AF65-F5344CB8AC3E}">
        <p14:creationId xmlns:p14="http://schemas.microsoft.com/office/powerpoint/2010/main" val="1107469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endParaRPr lang="en-US"/>
          </a:p>
        </p:txBody>
      </p:sp>
      <p:sp>
        <p:nvSpPr>
          <p:cNvPr id="69635" name="Content Placeholder 2"/>
          <p:cNvSpPr>
            <a:spLocks noGrp="1"/>
          </p:cNvSpPr>
          <p:nvPr>
            <p:ph idx="1"/>
          </p:nvPr>
        </p:nvSpPr>
        <p:spPr/>
        <p:txBody>
          <a:bodyPr/>
          <a:lstStyle/>
          <a:p>
            <a:r>
              <a:rPr lang="en-US" sz="2800" dirty="0"/>
              <a:t>Finally, and perhaps most importantly</a:t>
            </a:r>
          </a:p>
          <a:p>
            <a:pPr lvl="1"/>
            <a:r>
              <a:rPr lang="en-US" sz="2400" dirty="0"/>
              <a:t>new information systems seldom deliver value simply by automating current way of doing things</a:t>
            </a:r>
          </a:p>
          <a:p>
            <a:r>
              <a:rPr lang="en-US" sz="2800" dirty="0"/>
              <a:t>to exploit information technology fully, we generally need to change our business processes and data required to support them</a:t>
            </a:r>
          </a:p>
          <a:p>
            <a:r>
              <a:rPr lang="en-US" sz="2800" dirty="0"/>
              <a:t>data modeler becomes a player in helping to design new way of doing business, rather than merely reflecting the old</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FF6EACD-4A05-4DDF-906E-88D5145CCF07}" type="slidenum">
              <a:rPr lang="en-US" smtClean="0"/>
              <a:pPr>
                <a:defRPr/>
              </a:pPr>
              <a:t>31</a:t>
            </a:fld>
            <a:endParaRPr lang="en-US"/>
          </a:p>
        </p:txBody>
      </p:sp>
    </p:spTree>
    <p:extLst>
      <p:ext uri="{BB962C8B-B14F-4D97-AF65-F5344CB8AC3E}">
        <p14:creationId xmlns:p14="http://schemas.microsoft.com/office/powerpoint/2010/main" val="182260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endParaRPr lang="en-US"/>
          </a:p>
        </p:txBody>
      </p:sp>
      <p:sp>
        <p:nvSpPr>
          <p:cNvPr id="70659" name="Content Placeholder 2"/>
          <p:cNvSpPr>
            <a:spLocks noGrp="1"/>
          </p:cNvSpPr>
          <p:nvPr>
            <p:ph idx="1"/>
          </p:nvPr>
        </p:nvSpPr>
        <p:spPr/>
        <p:txBody>
          <a:bodyPr/>
          <a:lstStyle/>
          <a:p>
            <a:r>
              <a:rPr lang="en-US"/>
              <a:t>We want you to learn not only to produce sound, workable models (that will not fall down) but to be able to develop and compare different options</a:t>
            </a:r>
          </a:p>
          <a:p>
            <a:endParaRPr lang="en-US"/>
          </a:p>
          <a:p>
            <a:r>
              <a:rPr lang="en-US" i="1"/>
              <a:t>not throw away rule book, not suggest that anything goes</a:t>
            </a:r>
          </a:p>
          <a:p>
            <a:endParaRPr lang="en-US"/>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AB655FF1-C88D-4265-AF4E-3BBC4B67B9AC}" type="slidenum">
              <a:rPr lang="en-US" smtClean="0"/>
              <a:pPr>
                <a:defRPr/>
              </a:pPr>
              <a:t>32</a:t>
            </a:fld>
            <a:endParaRPr lang="en-US"/>
          </a:p>
        </p:txBody>
      </p:sp>
    </p:spTree>
    <p:extLst>
      <p:ext uri="{BB962C8B-B14F-4D97-AF65-F5344CB8AC3E}">
        <p14:creationId xmlns:p14="http://schemas.microsoft.com/office/powerpoint/2010/main" val="19057171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t>Data Model Important</a:t>
            </a:r>
          </a:p>
        </p:txBody>
      </p:sp>
      <p:sp>
        <p:nvSpPr>
          <p:cNvPr id="71683" name="Content Placeholder 2"/>
          <p:cNvSpPr>
            <a:spLocks noGrp="1"/>
          </p:cNvSpPr>
          <p:nvPr>
            <p:ph idx="1"/>
          </p:nvPr>
        </p:nvSpPr>
        <p:spPr/>
        <p:txBody>
          <a:bodyPr/>
          <a:lstStyle/>
          <a:p>
            <a:r>
              <a:rPr lang="en-US"/>
              <a:t>Leverage</a:t>
            </a:r>
          </a:p>
          <a:p>
            <a:r>
              <a:rPr lang="en-US"/>
              <a:t>Conciseness</a:t>
            </a:r>
          </a:p>
          <a:p>
            <a:r>
              <a:rPr lang="en-US"/>
              <a:t>Data Quality</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2CD5D6A3-D5EA-4A3B-AB06-D75175455AE6}" type="slidenum">
              <a:rPr lang="en-US" smtClean="0"/>
              <a:pPr>
                <a:defRPr/>
              </a:pPr>
              <a:t>33</a:t>
            </a:fld>
            <a:endParaRPr lang="en-US"/>
          </a:p>
        </p:txBody>
      </p:sp>
    </p:spTree>
    <p:extLst>
      <p:ext uri="{BB962C8B-B14F-4D97-AF65-F5344CB8AC3E}">
        <p14:creationId xmlns:p14="http://schemas.microsoft.com/office/powerpoint/2010/main" val="368323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US"/>
              <a:t>Leverage</a:t>
            </a:r>
          </a:p>
        </p:txBody>
      </p:sp>
      <p:sp>
        <p:nvSpPr>
          <p:cNvPr id="72707" name="Content Placeholder 2"/>
          <p:cNvSpPr>
            <a:spLocks noGrp="1"/>
          </p:cNvSpPr>
          <p:nvPr>
            <p:ph idx="1"/>
          </p:nvPr>
        </p:nvSpPr>
        <p:spPr/>
        <p:txBody>
          <a:bodyPr/>
          <a:lstStyle/>
          <a:p>
            <a:r>
              <a:rPr lang="en-US"/>
              <a:t>small change to data model may have major impact on system as whole</a:t>
            </a:r>
          </a:p>
          <a:p>
            <a:r>
              <a:rPr lang="en-US"/>
              <a:t>programs are far more complex and take longer to specify and construct than database</a:t>
            </a:r>
          </a:p>
          <a:p>
            <a:pPr lvl="1"/>
            <a:r>
              <a:rPr lang="en-US"/>
              <a:t>their content and structure are heavily influenced by database design</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318492DA-D766-420A-9A8A-40985CA43BDB}" type="slidenum">
              <a:rPr lang="en-US" smtClean="0"/>
              <a:pPr>
                <a:defRPr/>
              </a:pPr>
              <a:t>34</a:t>
            </a:fld>
            <a:endParaRPr lang="en-US"/>
          </a:p>
        </p:txBody>
      </p:sp>
    </p:spTree>
    <p:extLst>
      <p:ext uri="{BB962C8B-B14F-4D97-AF65-F5344CB8AC3E}">
        <p14:creationId xmlns:p14="http://schemas.microsoft.com/office/powerpoint/2010/main" val="8471457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US"/>
              <a:t>Leverage</a:t>
            </a:r>
          </a:p>
        </p:txBody>
      </p:sp>
      <p:sp>
        <p:nvSpPr>
          <p:cNvPr id="73731" name="Content Placeholder 2"/>
          <p:cNvSpPr>
            <a:spLocks noGrp="1"/>
          </p:cNvSpPr>
          <p:nvPr>
            <p:ph idx="1"/>
          </p:nvPr>
        </p:nvSpPr>
        <p:spPr/>
        <p:txBody>
          <a:bodyPr/>
          <a:lstStyle/>
          <a:p>
            <a:r>
              <a:rPr lang="en-US"/>
              <a:t>well-designed data model can make programming simpler and cheaper</a:t>
            </a:r>
          </a:p>
          <a:p>
            <a:r>
              <a:rPr lang="en-US"/>
              <a:t>poor data organization can be expensive to fix</a:t>
            </a:r>
          </a:p>
          <a:p>
            <a:endParaRPr lang="en-US"/>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2BF82366-3F5C-45A1-A152-0EB7D1EA9F0B}" type="slidenum">
              <a:rPr lang="en-US" smtClean="0"/>
              <a:pPr>
                <a:defRPr/>
              </a:pPr>
              <a:t>35</a:t>
            </a:fld>
            <a:endParaRPr lang="en-US"/>
          </a:p>
        </p:txBody>
      </p:sp>
    </p:spTree>
    <p:extLst>
      <p:ext uri="{BB962C8B-B14F-4D97-AF65-F5344CB8AC3E}">
        <p14:creationId xmlns:p14="http://schemas.microsoft.com/office/powerpoint/2010/main" val="27711197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a:t>Conciseness</a:t>
            </a:r>
          </a:p>
        </p:txBody>
      </p:sp>
      <p:sp>
        <p:nvSpPr>
          <p:cNvPr id="74755" name="Content Placeholder 2"/>
          <p:cNvSpPr>
            <a:spLocks noGrp="1"/>
          </p:cNvSpPr>
          <p:nvPr>
            <p:ph idx="1"/>
          </p:nvPr>
        </p:nvSpPr>
        <p:spPr/>
        <p:txBody>
          <a:bodyPr/>
          <a:lstStyle/>
          <a:p>
            <a:r>
              <a:rPr lang="en-US"/>
              <a:t>data model is powerful tool for expressing information systems requirements and capabilities</a:t>
            </a:r>
          </a:p>
          <a:p>
            <a:r>
              <a:rPr lang="en-US"/>
              <a:t>implicitly defines whole set of screens, reports, and processes needed to capture, update, retrieve, and delete specified data</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C58E499A-0C47-4435-A1D7-6C98C273BBFF}" type="slidenum">
              <a:rPr lang="en-US" smtClean="0"/>
              <a:pPr>
                <a:defRPr/>
              </a:pPr>
              <a:t>36</a:t>
            </a:fld>
            <a:endParaRPr lang="en-US"/>
          </a:p>
        </p:txBody>
      </p:sp>
    </p:spTree>
    <p:extLst>
      <p:ext uri="{BB962C8B-B14F-4D97-AF65-F5344CB8AC3E}">
        <p14:creationId xmlns:p14="http://schemas.microsoft.com/office/powerpoint/2010/main" val="2464872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r>
              <a:rPr lang="en-US"/>
              <a:t>Data Quality</a:t>
            </a:r>
          </a:p>
        </p:txBody>
      </p:sp>
      <p:sp>
        <p:nvSpPr>
          <p:cNvPr id="75779" name="Content Placeholder 2"/>
          <p:cNvSpPr>
            <a:spLocks noGrp="1"/>
          </p:cNvSpPr>
          <p:nvPr>
            <p:ph idx="1"/>
          </p:nvPr>
        </p:nvSpPr>
        <p:spPr/>
        <p:txBody>
          <a:bodyPr/>
          <a:lstStyle/>
          <a:p>
            <a:r>
              <a:rPr lang="en-US" sz="2800" dirty="0"/>
              <a:t>database is usually valuable business asset built up over long period</a:t>
            </a:r>
          </a:p>
          <a:p>
            <a:r>
              <a:rPr lang="en-US" sz="2800" dirty="0"/>
              <a:t>establishing common understanding of what is to be held in each table and column, and how it is to be interpreted</a:t>
            </a:r>
          </a:p>
          <a:p>
            <a:r>
              <a:rPr lang="en-US" sz="2800" dirty="0"/>
              <a:t>problems with data quality can be traced to lack of consistency </a:t>
            </a:r>
          </a:p>
          <a:p>
            <a:pPr lvl="1"/>
            <a:r>
              <a:rPr lang="en-US" sz="2400" dirty="0"/>
              <a:t>in defining and interpreting data</a:t>
            </a:r>
          </a:p>
          <a:p>
            <a:pPr lvl="1"/>
            <a:r>
              <a:rPr lang="en-US" sz="2400" dirty="0"/>
              <a:t>implementing mechanisms to enforce definitions</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D76ED479-ADB9-42A5-8F30-E0080142A0A7}" type="slidenum">
              <a:rPr lang="en-US" smtClean="0"/>
              <a:pPr>
                <a:defRPr/>
              </a:pPr>
              <a:t>37</a:t>
            </a:fld>
            <a:endParaRPr lang="en-US"/>
          </a:p>
        </p:txBody>
      </p:sp>
    </p:spTree>
    <p:extLst>
      <p:ext uri="{BB962C8B-B14F-4D97-AF65-F5344CB8AC3E}">
        <p14:creationId xmlns:p14="http://schemas.microsoft.com/office/powerpoint/2010/main" val="225739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r>
              <a:rPr lang="en-US"/>
              <a:t>What Makes a Good Data Model?</a:t>
            </a:r>
          </a:p>
        </p:txBody>
      </p:sp>
      <p:sp>
        <p:nvSpPr>
          <p:cNvPr id="76803" name="Content Placeholder 2"/>
          <p:cNvSpPr>
            <a:spLocks noGrp="1"/>
          </p:cNvSpPr>
          <p:nvPr>
            <p:ph idx="1"/>
          </p:nvPr>
        </p:nvSpPr>
        <p:spPr/>
        <p:txBody>
          <a:bodyPr/>
          <a:lstStyle/>
          <a:p>
            <a:r>
              <a:rPr lang="en-US" sz="2600"/>
              <a:t>Completeness</a:t>
            </a:r>
          </a:p>
          <a:p>
            <a:r>
              <a:rPr lang="en-US" sz="2600"/>
              <a:t>Non-redundancy</a:t>
            </a:r>
          </a:p>
          <a:p>
            <a:r>
              <a:rPr lang="en-US" sz="2600"/>
              <a:t>Enforcement of Business Rules</a:t>
            </a:r>
          </a:p>
          <a:p>
            <a:r>
              <a:rPr lang="en-US" sz="2600"/>
              <a:t>Data Reusability</a:t>
            </a:r>
          </a:p>
          <a:p>
            <a:r>
              <a:rPr lang="en-US" sz="2600"/>
              <a:t>Stability and Flexibility</a:t>
            </a:r>
          </a:p>
          <a:p>
            <a:r>
              <a:rPr lang="en-US" sz="2600"/>
              <a:t>Elegance</a:t>
            </a:r>
          </a:p>
          <a:p>
            <a:r>
              <a:rPr lang="en-US" sz="2600"/>
              <a:t>Communication</a:t>
            </a:r>
          </a:p>
          <a:p>
            <a:r>
              <a:rPr lang="en-US" sz="2600"/>
              <a:t>Integration</a:t>
            </a:r>
          </a:p>
          <a:p>
            <a:r>
              <a:rPr lang="en-US" sz="2600"/>
              <a:t>Conflicting Objectives</a:t>
            </a:r>
          </a:p>
          <a:p>
            <a:r>
              <a:rPr lang="en-US" sz="2400"/>
              <a:t>Performance</a:t>
            </a:r>
            <a:endParaRPr lang="en-US" sz="260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C77D9C86-93D4-4615-AC2B-5CE4B0A9BDF7}" type="slidenum">
              <a:rPr lang="en-US" smtClean="0"/>
              <a:pPr>
                <a:defRPr/>
              </a:pPr>
              <a:t>38</a:t>
            </a:fld>
            <a:endParaRPr lang="en-US"/>
          </a:p>
        </p:txBody>
      </p:sp>
    </p:spTree>
    <p:extLst>
      <p:ext uri="{BB962C8B-B14F-4D97-AF65-F5344CB8AC3E}">
        <p14:creationId xmlns:p14="http://schemas.microsoft.com/office/powerpoint/2010/main" val="8692047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r>
              <a:rPr lang="en-US"/>
              <a:t>Completeness</a:t>
            </a:r>
          </a:p>
        </p:txBody>
      </p:sp>
      <p:sp>
        <p:nvSpPr>
          <p:cNvPr id="77827" name="Content Placeholder 2"/>
          <p:cNvSpPr>
            <a:spLocks noGrp="1"/>
          </p:cNvSpPr>
          <p:nvPr>
            <p:ph idx="1"/>
          </p:nvPr>
        </p:nvSpPr>
        <p:spPr/>
        <p:txBody>
          <a:bodyPr/>
          <a:lstStyle/>
          <a:p>
            <a:r>
              <a:rPr lang="en-US"/>
              <a:t>Does the model support all the necessary data?</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9F696A06-E627-4617-B2D2-4E962D54E804}" type="slidenum">
              <a:rPr lang="en-US" smtClean="0"/>
              <a:pPr>
                <a:defRPr/>
              </a:pPr>
              <a:t>39</a:t>
            </a:fld>
            <a:endParaRPr lang="en-US"/>
          </a:p>
        </p:txBody>
      </p:sp>
    </p:spTree>
    <p:extLst>
      <p:ext uri="{BB962C8B-B14F-4D97-AF65-F5344CB8AC3E}">
        <p14:creationId xmlns:p14="http://schemas.microsoft.com/office/powerpoint/2010/main" val="1660119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a:t>Non-redundancy</a:t>
            </a:r>
          </a:p>
        </p:txBody>
      </p:sp>
      <p:sp>
        <p:nvSpPr>
          <p:cNvPr id="78851" name="Content Placeholder 2"/>
          <p:cNvSpPr>
            <a:spLocks noGrp="1"/>
          </p:cNvSpPr>
          <p:nvPr>
            <p:ph idx="1"/>
          </p:nvPr>
        </p:nvSpPr>
        <p:spPr/>
        <p:txBody>
          <a:bodyPr/>
          <a:lstStyle/>
          <a:p>
            <a:r>
              <a:rPr lang="en-US"/>
              <a:t>Does the model specify a database in which the same fact could be recorded more than once?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78C08198-0E05-4CBA-BB79-5B17D934E31C}" type="slidenum">
              <a:rPr lang="en-US" smtClean="0"/>
              <a:pPr>
                <a:defRPr/>
              </a:pPr>
              <a:t>40</a:t>
            </a:fld>
            <a:endParaRPr lang="en-US"/>
          </a:p>
        </p:txBody>
      </p:sp>
    </p:spTree>
    <p:extLst>
      <p:ext uri="{BB962C8B-B14F-4D97-AF65-F5344CB8AC3E}">
        <p14:creationId xmlns:p14="http://schemas.microsoft.com/office/powerpoint/2010/main" val="19186050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r>
              <a:rPr lang="en-US"/>
              <a:t>Enforcement of Business Rules</a:t>
            </a:r>
          </a:p>
        </p:txBody>
      </p:sp>
      <p:sp>
        <p:nvSpPr>
          <p:cNvPr id="79875" name="Content Placeholder 2"/>
          <p:cNvSpPr>
            <a:spLocks noGrp="1"/>
          </p:cNvSpPr>
          <p:nvPr>
            <p:ph idx="1"/>
          </p:nvPr>
        </p:nvSpPr>
        <p:spPr/>
        <p:txBody>
          <a:bodyPr/>
          <a:lstStyle/>
          <a:p>
            <a:r>
              <a:rPr lang="en-US"/>
              <a:t>How accurately does the model reflect and enforce the rules that apply to the business’ data?</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DA1F042E-78B8-45FB-8518-B935F0ED11C3}" type="slidenum">
              <a:rPr lang="en-US" smtClean="0"/>
              <a:pPr>
                <a:defRPr/>
              </a:pPr>
              <a:t>41</a:t>
            </a:fld>
            <a:endParaRPr lang="en-US"/>
          </a:p>
        </p:txBody>
      </p:sp>
    </p:spTree>
    <p:extLst>
      <p:ext uri="{BB962C8B-B14F-4D97-AF65-F5344CB8AC3E}">
        <p14:creationId xmlns:p14="http://schemas.microsoft.com/office/powerpoint/2010/main" val="29797347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a:t>Data Reusability</a:t>
            </a:r>
          </a:p>
        </p:txBody>
      </p:sp>
      <p:sp>
        <p:nvSpPr>
          <p:cNvPr id="80899" name="Content Placeholder 2"/>
          <p:cNvSpPr>
            <a:spLocks noGrp="1"/>
          </p:cNvSpPr>
          <p:nvPr>
            <p:ph idx="1"/>
          </p:nvPr>
        </p:nvSpPr>
        <p:spPr/>
        <p:txBody>
          <a:bodyPr/>
          <a:lstStyle/>
          <a:p>
            <a:r>
              <a:rPr lang="en-US"/>
              <a:t>Will data stored in database be re-useable for purposes beyond those anticipated in process model? </a:t>
            </a:r>
          </a:p>
          <a:p>
            <a:r>
              <a:rPr lang="en-US"/>
              <a:t>once an organization has captured data to serve particular requirement, other potential uses and users almost invariably emerge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7B0D14B3-2B8C-4FCA-BFCE-85E2A02B3D86}" type="slidenum">
              <a:rPr lang="en-US" smtClean="0"/>
              <a:pPr>
                <a:defRPr/>
              </a:pPr>
              <a:t>42</a:t>
            </a:fld>
            <a:endParaRPr lang="en-US"/>
          </a:p>
        </p:txBody>
      </p:sp>
    </p:spTree>
    <p:extLst>
      <p:ext uri="{BB962C8B-B14F-4D97-AF65-F5344CB8AC3E}">
        <p14:creationId xmlns:p14="http://schemas.microsoft.com/office/powerpoint/2010/main" val="1138585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a:t>Stability and Flexibility</a:t>
            </a:r>
          </a:p>
        </p:txBody>
      </p:sp>
      <p:sp>
        <p:nvSpPr>
          <p:cNvPr id="81923" name="Content Placeholder 2"/>
          <p:cNvSpPr>
            <a:spLocks noGrp="1"/>
          </p:cNvSpPr>
          <p:nvPr>
            <p:ph idx="1"/>
          </p:nvPr>
        </p:nvSpPr>
        <p:spPr/>
        <p:txBody>
          <a:bodyPr/>
          <a:lstStyle/>
          <a:p>
            <a:r>
              <a:rPr lang="en-US"/>
              <a:t>How well will the model cope with possible changes to business requirements? </a:t>
            </a:r>
          </a:p>
          <a:p>
            <a:r>
              <a:rPr lang="en-US"/>
              <a:t>can any new data required to support such changes be accommodated in existing tables?</a:t>
            </a:r>
          </a:p>
          <a:p>
            <a:pPr lvl="1"/>
            <a:r>
              <a:rPr lang="en-US"/>
              <a:t>or will we be forced to make major structural changes, with corresponding impact on the rest of the system?</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15E8DC44-FE7A-4601-8CE1-5A768280724E}" type="slidenum">
              <a:rPr lang="en-US" smtClean="0"/>
              <a:pPr>
                <a:defRPr/>
              </a:pPr>
              <a:t>43</a:t>
            </a:fld>
            <a:endParaRPr lang="en-US"/>
          </a:p>
        </p:txBody>
      </p:sp>
    </p:spTree>
    <p:extLst>
      <p:ext uri="{BB962C8B-B14F-4D97-AF65-F5344CB8AC3E}">
        <p14:creationId xmlns:p14="http://schemas.microsoft.com/office/powerpoint/2010/main" val="39751319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r>
              <a:rPr lang="en-US"/>
              <a:t>Stability and Flexibility</a:t>
            </a:r>
          </a:p>
        </p:txBody>
      </p:sp>
      <p:sp>
        <p:nvSpPr>
          <p:cNvPr id="82947" name="Content Placeholder 2"/>
          <p:cNvSpPr>
            <a:spLocks noGrp="1"/>
          </p:cNvSpPr>
          <p:nvPr>
            <p:ph idx="1"/>
          </p:nvPr>
        </p:nvSpPr>
        <p:spPr/>
        <p:txBody>
          <a:bodyPr/>
          <a:lstStyle/>
          <a:p>
            <a:r>
              <a:rPr lang="en-US" sz="3000" dirty="0"/>
              <a:t>data model is </a:t>
            </a:r>
            <a:r>
              <a:rPr lang="en-US" sz="3000" b="1" dirty="0"/>
              <a:t>stable</a:t>
            </a:r>
            <a:r>
              <a:rPr lang="en-US" sz="3000" dirty="0"/>
              <a:t> in the face of a change to requirements if we do not need to modify it at all</a:t>
            </a:r>
          </a:p>
          <a:p>
            <a:pPr lvl="1"/>
            <a:r>
              <a:rPr lang="en-US" sz="2700" dirty="0"/>
              <a:t>we can talk of models being more or less stable, depending on level of change required </a:t>
            </a:r>
          </a:p>
          <a:p>
            <a:r>
              <a:rPr lang="en-US" sz="3000" dirty="0"/>
              <a:t>data model is </a:t>
            </a:r>
            <a:r>
              <a:rPr lang="en-US" sz="3000" b="1" dirty="0"/>
              <a:t>flexible </a:t>
            </a:r>
            <a:r>
              <a:rPr lang="en-US" sz="3000" dirty="0"/>
              <a:t>if it can be readily extended to accommodate likely new requirements with only minimal impact on existing structure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376567A5-0AA0-40B5-BDF3-909CAA9A5AD0}" type="slidenum">
              <a:rPr lang="en-US" smtClean="0"/>
              <a:pPr>
                <a:defRPr/>
              </a:pPr>
              <a:t>44</a:t>
            </a:fld>
            <a:endParaRPr lang="en-US"/>
          </a:p>
        </p:txBody>
      </p:sp>
    </p:spTree>
    <p:extLst>
      <p:ext uri="{BB962C8B-B14F-4D97-AF65-F5344CB8AC3E}">
        <p14:creationId xmlns:p14="http://schemas.microsoft.com/office/powerpoint/2010/main" val="3031894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r>
              <a:rPr lang="en-US"/>
              <a:t>Elegance</a:t>
            </a:r>
          </a:p>
        </p:txBody>
      </p:sp>
      <p:sp>
        <p:nvSpPr>
          <p:cNvPr id="83971" name="Content Placeholder 2"/>
          <p:cNvSpPr>
            <a:spLocks noGrp="1"/>
          </p:cNvSpPr>
          <p:nvPr>
            <p:ph idx="1"/>
          </p:nvPr>
        </p:nvSpPr>
        <p:spPr/>
        <p:txBody>
          <a:bodyPr/>
          <a:lstStyle/>
          <a:p>
            <a:r>
              <a:rPr lang="en-US"/>
              <a:t>Does the data model provide a reasonably neat and simple classification of the data?</a:t>
            </a:r>
          </a:p>
          <a:p>
            <a:r>
              <a:rPr lang="en-US"/>
              <a:t>simple</a:t>
            </a:r>
          </a:p>
          <a:p>
            <a:r>
              <a:rPr lang="en-US"/>
              <a:t>consistent</a:t>
            </a:r>
          </a:p>
          <a:p>
            <a:r>
              <a:rPr lang="en-US"/>
              <a:t>easily described and summarized</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52F44655-CD42-4BD8-B81D-2A545053D75B}" type="slidenum">
              <a:rPr lang="en-US" smtClean="0"/>
              <a:pPr>
                <a:defRPr/>
              </a:pPr>
              <a:t>45</a:t>
            </a:fld>
            <a:endParaRPr lang="en-US"/>
          </a:p>
        </p:txBody>
      </p:sp>
    </p:spTree>
    <p:extLst>
      <p:ext uri="{BB962C8B-B14F-4D97-AF65-F5344CB8AC3E}">
        <p14:creationId xmlns:p14="http://schemas.microsoft.com/office/powerpoint/2010/main" val="2152427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r>
              <a:rPr lang="en-US"/>
              <a:t>Communication</a:t>
            </a:r>
          </a:p>
        </p:txBody>
      </p:sp>
      <p:sp>
        <p:nvSpPr>
          <p:cNvPr id="84995" name="Content Placeholder 2"/>
          <p:cNvSpPr>
            <a:spLocks noGrp="1"/>
          </p:cNvSpPr>
          <p:nvPr>
            <p:ph idx="1"/>
          </p:nvPr>
        </p:nvSpPr>
        <p:spPr/>
        <p:txBody>
          <a:bodyPr/>
          <a:lstStyle/>
          <a:p>
            <a:r>
              <a:rPr lang="en-US"/>
              <a:t>How effective is the model in supporting communication among various stakeholders in the design of a system? </a:t>
            </a:r>
          </a:p>
          <a:p>
            <a:r>
              <a:rPr lang="en-US"/>
              <a:t>Do tables and columns represent business concepts that users and business specialists are familiar with and can easily verify? </a:t>
            </a:r>
          </a:p>
          <a:p>
            <a:r>
              <a:rPr lang="en-US"/>
              <a:t>Will programmers interpret model correctly?</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7A414AFD-FE37-4108-8F75-1A7DF75DC890}" type="slidenum">
              <a:rPr lang="en-US" smtClean="0"/>
              <a:pPr>
                <a:defRPr/>
              </a:pPr>
              <a:t>46</a:t>
            </a:fld>
            <a:endParaRPr lang="en-US"/>
          </a:p>
        </p:txBody>
      </p:sp>
    </p:spTree>
    <p:extLst>
      <p:ext uri="{BB962C8B-B14F-4D97-AF65-F5344CB8AC3E}">
        <p14:creationId xmlns:p14="http://schemas.microsoft.com/office/powerpoint/2010/main" val="23188360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r>
              <a:rPr lang="en-US"/>
              <a:t>Integration</a:t>
            </a:r>
          </a:p>
        </p:txBody>
      </p:sp>
      <p:sp>
        <p:nvSpPr>
          <p:cNvPr id="86019" name="Content Placeholder 2"/>
          <p:cNvSpPr>
            <a:spLocks noGrp="1"/>
          </p:cNvSpPr>
          <p:nvPr>
            <p:ph idx="1"/>
          </p:nvPr>
        </p:nvSpPr>
        <p:spPr/>
        <p:txBody>
          <a:bodyPr/>
          <a:lstStyle/>
          <a:p>
            <a:r>
              <a:rPr lang="en-US"/>
              <a:t>How will the proposed database fit with organization’s existing and future databases?</a:t>
            </a:r>
          </a:p>
          <a:p>
            <a:pPr lvl="1"/>
            <a:r>
              <a:rPr lang="en-US"/>
              <a:t>common for the same data to appear in more than one database and for problems to arise</a:t>
            </a:r>
          </a:p>
          <a:p>
            <a:r>
              <a:rPr lang="en-US"/>
              <a:t>How easy is it to keep different versions in step, or to assemble a complete picture?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914ED7B-C427-4447-8266-5938D9AE3E13}" type="slidenum">
              <a:rPr lang="en-US" smtClean="0"/>
              <a:pPr>
                <a:defRPr/>
              </a:pPr>
              <a:t>47</a:t>
            </a:fld>
            <a:endParaRPr lang="en-US"/>
          </a:p>
        </p:txBody>
      </p:sp>
    </p:spTree>
    <p:extLst>
      <p:ext uri="{BB962C8B-B14F-4D97-AF65-F5344CB8AC3E}">
        <p14:creationId xmlns:p14="http://schemas.microsoft.com/office/powerpoint/2010/main" val="12534146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a:t>Conflicting Objectives</a:t>
            </a:r>
          </a:p>
        </p:txBody>
      </p:sp>
      <p:sp>
        <p:nvSpPr>
          <p:cNvPr id="87043" name="Content Placeholder 2"/>
          <p:cNvSpPr>
            <a:spLocks noGrp="1"/>
          </p:cNvSpPr>
          <p:nvPr>
            <p:ph idx="1"/>
          </p:nvPr>
        </p:nvSpPr>
        <p:spPr/>
        <p:txBody>
          <a:bodyPr/>
          <a:lstStyle/>
          <a:p>
            <a:r>
              <a:rPr lang="en-US" sz="2400" dirty="0"/>
              <a:t>above aims will conflict with one another</a:t>
            </a:r>
          </a:p>
          <a:p>
            <a:r>
              <a:rPr lang="en-US" sz="2400" dirty="0"/>
              <a:t>elegant but radical solution may be difficult to communicate to conservative users</a:t>
            </a:r>
          </a:p>
          <a:p>
            <a:r>
              <a:rPr lang="en-US" sz="2400" dirty="0"/>
              <a:t>can be attracted to elegant model that we exclude requirements that do not fit</a:t>
            </a:r>
          </a:p>
          <a:p>
            <a:r>
              <a:rPr lang="en-US" sz="2400" dirty="0"/>
              <a:t>model that accurately enforces large number of business rules will be unstable if some rules change</a:t>
            </a:r>
          </a:p>
          <a:p>
            <a:r>
              <a:rPr lang="en-US" sz="2400" dirty="0"/>
              <a:t>model that is easy to understand because (reflects perspectives of immediate system users) may not support reusability or integrate well with other</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F502E89-A323-4C0D-8CAC-8ABF1084C7D1}" type="slidenum">
              <a:rPr lang="en-US" smtClean="0"/>
              <a:pPr>
                <a:defRPr/>
              </a:pPr>
              <a:t>48</a:t>
            </a:fld>
            <a:endParaRPr lang="en-US"/>
          </a:p>
        </p:txBody>
      </p:sp>
    </p:spTree>
    <p:extLst>
      <p:ext uri="{BB962C8B-B14F-4D97-AF65-F5344CB8AC3E}">
        <p14:creationId xmlns:p14="http://schemas.microsoft.com/office/powerpoint/2010/main" val="39563567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r>
              <a:rPr lang="en-US"/>
              <a:t>Performance</a:t>
            </a:r>
          </a:p>
        </p:txBody>
      </p:sp>
      <p:sp>
        <p:nvSpPr>
          <p:cNvPr id="88067" name="Content Placeholder 2"/>
          <p:cNvSpPr>
            <a:spLocks noGrp="1"/>
          </p:cNvSpPr>
          <p:nvPr>
            <p:ph idx="1"/>
          </p:nvPr>
        </p:nvSpPr>
        <p:spPr/>
        <p:txBody>
          <a:bodyPr/>
          <a:lstStyle/>
          <a:p>
            <a:r>
              <a:rPr lang="en-US" sz="2800" dirty="0"/>
              <a:t>system user will not be satisfied if our complete, non-redundant, flexible, and elegant database cannot meet throughput and response-time requirements</a:t>
            </a:r>
          </a:p>
          <a:p>
            <a:r>
              <a:rPr lang="en-US" sz="2800" dirty="0"/>
              <a:t>differs from our other criteria because it depends heavily on software and hardware platforms on which database will run</a:t>
            </a:r>
          </a:p>
          <a:p>
            <a:pPr lvl="1"/>
            <a:r>
              <a:rPr lang="en-US" sz="2400" dirty="0"/>
              <a:t>exploiting their capabilities is technical task</a:t>
            </a:r>
          </a:p>
          <a:p>
            <a:pPr lvl="1"/>
            <a:r>
              <a:rPr lang="en-US" sz="2400" dirty="0"/>
              <a:t>quite different from more business-focused modeling</a:t>
            </a:r>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1210CADE-09AF-4488-9D04-7349FA5524C5}" type="slidenum">
              <a:rPr lang="en-US" smtClean="0"/>
              <a:pPr>
                <a:defRPr/>
              </a:pPr>
              <a:t>49</a:t>
            </a:fld>
            <a:endParaRPr lang="en-US"/>
          </a:p>
        </p:txBody>
      </p:sp>
    </p:spTree>
    <p:extLst>
      <p:ext uri="{BB962C8B-B14F-4D97-AF65-F5344CB8AC3E}">
        <p14:creationId xmlns:p14="http://schemas.microsoft.com/office/powerpoint/2010/main" val="35682577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t>Performance</a:t>
            </a:r>
          </a:p>
        </p:txBody>
      </p:sp>
      <p:sp>
        <p:nvSpPr>
          <p:cNvPr id="89091" name="Content Placeholder 2"/>
          <p:cNvSpPr>
            <a:spLocks noGrp="1"/>
          </p:cNvSpPr>
          <p:nvPr>
            <p:ph idx="1"/>
          </p:nvPr>
        </p:nvSpPr>
        <p:spPr/>
        <p:txBody>
          <a:bodyPr/>
          <a:lstStyle/>
          <a:p>
            <a:r>
              <a:rPr lang="en-US" sz="2700" dirty="0"/>
              <a:t>performance requirements are usually “added to the mix” at a later stage than other criteria, and then only when necessary</a:t>
            </a:r>
          </a:p>
          <a:p>
            <a:r>
              <a:rPr lang="en-US" sz="2700" dirty="0"/>
              <a:t>usual (and recommended) procedure is to develop data model without considering performance</a:t>
            </a:r>
          </a:p>
          <a:p>
            <a:r>
              <a:rPr lang="en-US" sz="2700" dirty="0"/>
              <a:t>attempt to implement it with available hardware and software</a:t>
            </a:r>
          </a:p>
          <a:p>
            <a:r>
              <a:rPr lang="en-US" sz="2700" dirty="0"/>
              <a:t>if it is not possible to achieve adequate performance in this way do we consider modifying the model itself</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722499D9-47F1-4C53-968B-C1D591A1BD89}" type="slidenum">
              <a:rPr lang="en-US" smtClean="0"/>
              <a:pPr>
                <a:defRPr/>
              </a:pPr>
              <a:t>50</a:t>
            </a:fld>
            <a:endParaRPr lang="en-US"/>
          </a:p>
        </p:txBody>
      </p:sp>
    </p:spTree>
    <p:extLst>
      <p:ext uri="{BB962C8B-B14F-4D97-AF65-F5344CB8AC3E}">
        <p14:creationId xmlns:p14="http://schemas.microsoft.com/office/powerpoint/2010/main" val="15259800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lstStyle/>
          <a:p>
            <a:r>
              <a:rPr lang="en-US" dirty="0"/>
              <a:t>Describe data normalization process</a:t>
            </a:r>
          </a:p>
          <a:p>
            <a:r>
              <a:rPr lang="en-US" dirty="0"/>
              <a:t>Perform data normalization process</a:t>
            </a:r>
          </a:p>
          <a:p>
            <a:r>
              <a:rPr lang="en-US" dirty="0"/>
              <a:t>Test tables for irregularities using data normalization process</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a:t>Database Design</a:t>
            </a:r>
          </a:p>
        </p:txBody>
      </p:sp>
      <p:sp>
        <p:nvSpPr>
          <p:cNvPr id="3075" name="Content Placeholder 2"/>
          <p:cNvSpPr>
            <a:spLocks noGrp="1"/>
          </p:cNvSpPr>
          <p:nvPr>
            <p:ph idx="1"/>
          </p:nvPr>
        </p:nvSpPr>
        <p:spPr/>
        <p:txBody>
          <a:bodyPr/>
          <a:lstStyle/>
          <a:p>
            <a:r>
              <a:rPr lang="en-US"/>
              <a:t>Conceptual Data Modeling</a:t>
            </a:r>
          </a:p>
          <a:p>
            <a:r>
              <a:rPr lang="en-US"/>
              <a:t>Normalization Process</a:t>
            </a:r>
          </a:p>
          <a:p>
            <a:r>
              <a:rPr lang="en-US"/>
              <a:t>Implementing Base Table Structures</a:t>
            </a:r>
          </a:p>
        </p:txBody>
      </p:sp>
      <p:sp>
        <p:nvSpPr>
          <p:cNvPr id="3076" name="Footer Placeholder 3"/>
          <p:cNvSpPr>
            <a:spLocks noGrp="1"/>
          </p:cNvSpPr>
          <p:nvPr>
            <p:ph type="ftr" sz="quarter" idx="11"/>
          </p:nvPr>
        </p:nvSpPr>
        <p:spPr>
          <a:noFill/>
        </p:spPr>
        <p:txBody>
          <a:bodyPr/>
          <a:lstStyle/>
          <a:p>
            <a:r>
              <a:rPr lang="en-US"/>
              <a:t>DataBase Design Course Notes 03 - Normalization</a:t>
            </a:r>
          </a:p>
        </p:txBody>
      </p:sp>
      <p:sp>
        <p:nvSpPr>
          <p:cNvPr id="3077" name="Slide Number Placeholder 4"/>
          <p:cNvSpPr>
            <a:spLocks noGrp="1"/>
          </p:cNvSpPr>
          <p:nvPr>
            <p:ph type="sldNum" sz="quarter" idx="12"/>
          </p:nvPr>
        </p:nvSpPr>
        <p:spPr>
          <a:noFill/>
        </p:spPr>
        <p:txBody>
          <a:bodyPr/>
          <a:lstStyle/>
          <a:p>
            <a:fld id="{0F2FDF9E-6176-4C38-886F-C81E9670CEE2}"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defRPr/>
            </a:pPr>
            <a:r>
              <a:rPr lang="en-US" dirty="0"/>
              <a:t>Normalization Process</a:t>
            </a:r>
          </a:p>
        </p:txBody>
      </p:sp>
      <p:sp>
        <p:nvSpPr>
          <p:cNvPr id="4099" name="Text Placeholder 6"/>
          <p:cNvSpPr>
            <a:spLocks noGrp="1"/>
          </p:cNvSpPr>
          <p:nvPr>
            <p:ph type="body" idx="1"/>
          </p:nvPr>
        </p:nvSpPr>
        <p:spPr/>
        <p:txBody>
          <a:bodyPr/>
          <a:lstStyle/>
          <a:p>
            <a:endParaRPr lang="en-US"/>
          </a:p>
        </p:txBody>
      </p:sp>
      <p:sp>
        <p:nvSpPr>
          <p:cNvPr id="4100" name="Footer Placeholder 3"/>
          <p:cNvSpPr>
            <a:spLocks noGrp="1"/>
          </p:cNvSpPr>
          <p:nvPr>
            <p:ph type="ftr" sz="quarter" idx="11"/>
          </p:nvPr>
        </p:nvSpPr>
        <p:spPr>
          <a:noFill/>
        </p:spPr>
        <p:txBody>
          <a:bodyPr/>
          <a:lstStyle/>
          <a:p>
            <a:r>
              <a:rPr lang="en-US"/>
              <a:t>DataBase Design Course Notes 03 - Normalization</a:t>
            </a:r>
          </a:p>
        </p:txBody>
      </p:sp>
      <p:sp>
        <p:nvSpPr>
          <p:cNvPr id="4101" name="Slide Number Placeholder 4"/>
          <p:cNvSpPr>
            <a:spLocks noGrp="1"/>
          </p:cNvSpPr>
          <p:nvPr>
            <p:ph type="sldNum" sz="quarter" idx="12"/>
          </p:nvPr>
        </p:nvSpPr>
        <p:spPr>
          <a:noFill/>
        </p:spPr>
        <p:txBody>
          <a:bodyPr/>
          <a:lstStyle/>
          <a:p>
            <a:fld id="{30AEFDB4-5209-466E-9D01-4EADB27B9D84}"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
          <p:cNvSpPr>
            <a:spLocks noGrp="1"/>
          </p:cNvSpPr>
          <p:nvPr>
            <p:ph type="title"/>
          </p:nvPr>
        </p:nvSpPr>
        <p:spPr/>
        <p:txBody>
          <a:bodyPr/>
          <a:lstStyle/>
          <a:p>
            <a:r>
              <a:rPr lang="en-US">
                <a:solidFill>
                  <a:schemeClr val="tx1"/>
                </a:solidFill>
              </a:rPr>
              <a:t>Normalization</a:t>
            </a:r>
            <a:endParaRPr lang="en-US" sz="3200"/>
          </a:p>
        </p:txBody>
      </p:sp>
      <p:sp>
        <p:nvSpPr>
          <p:cNvPr id="5123" name="Content Placeholder 6"/>
          <p:cNvSpPr>
            <a:spLocks noGrp="1"/>
          </p:cNvSpPr>
          <p:nvPr>
            <p:ph idx="1"/>
          </p:nvPr>
        </p:nvSpPr>
        <p:spPr/>
        <p:txBody>
          <a:bodyPr/>
          <a:lstStyle/>
          <a:p>
            <a:r>
              <a:rPr lang="en-US"/>
              <a:t>process of taking entities and attributes that have been discovered and making them suitable for the relational database</a:t>
            </a:r>
          </a:p>
          <a:p>
            <a:r>
              <a:rPr lang="en-US"/>
              <a:t>process does this by removing redundancies and shaping data in manner that the relational engine desires</a:t>
            </a:r>
          </a:p>
        </p:txBody>
      </p:sp>
      <p:sp>
        <p:nvSpPr>
          <p:cNvPr id="5124" name="Footer Placeholder 3"/>
          <p:cNvSpPr>
            <a:spLocks noGrp="1"/>
          </p:cNvSpPr>
          <p:nvPr>
            <p:ph type="ftr" sz="quarter" idx="11"/>
          </p:nvPr>
        </p:nvSpPr>
        <p:spPr>
          <a:noFill/>
        </p:spPr>
        <p:txBody>
          <a:bodyPr/>
          <a:lstStyle/>
          <a:p>
            <a:r>
              <a:rPr lang="en-US"/>
              <a:t>DataBase Design Course Notes 03 - Normalization</a:t>
            </a:r>
          </a:p>
        </p:txBody>
      </p:sp>
      <p:sp>
        <p:nvSpPr>
          <p:cNvPr id="5125" name="Slide Number Placeholder 4"/>
          <p:cNvSpPr>
            <a:spLocks noGrp="1"/>
          </p:cNvSpPr>
          <p:nvPr>
            <p:ph type="sldNum" sz="quarter" idx="12"/>
          </p:nvPr>
        </p:nvSpPr>
        <p:spPr>
          <a:noFill/>
        </p:spPr>
        <p:txBody>
          <a:bodyPr/>
          <a:lstStyle/>
          <a:p>
            <a:fld id="{DA92AE98-E94C-41EA-A077-865413752651}"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solidFill>
                  <a:schemeClr val="tx1"/>
                </a:solidFill>
              </a:rPr>
              <a:t>Normalization</a:t>
            </a:r>
            <a:endParaRPr lang="en-US"/>
          </a:p>
        </p:txBody>
      </p:sp>
      <p:sp>
        <p:nvSpPr>
          <p:cNvPr id="3" name="Content Placeholder 2"/>
          <p:cNvSpPr>
            <a:spLocks noGrp="1"/>
          </p:cNvSpPr>
          <p:nvPr>
            <p:ph idx="1"/>
          </p:nvPr>
        </p:nvSpPr>
        <p:spPr/>
        <p:txBody>
          <a:bodyPr/>
          <a:lstStyle/>
          <a:p>
            <a:pPr>
              <a:defRPr/>
            </a:pPr>
            <a:r>
              <a:rPr lang="en-US" sz="2800" dirty="0"/>
              <a:t>based on a set of levels, each of which achieves level of correctness or adherence to a particular set of rules</a:t>
            </a:r>
          </a:p>
          <a:p>
            <a:pPr>
              <a:defRPr/>
            </a:pPr>
            <a:r>
              <a:rPr lang="en-US" sz="2800" dirty="0"/>
              <a:t>rules formally known as forms, normal forms</a:t>
            </a:r>
          </a:p>
          <a:p>
            <a:pPr>
              <a:defRPr/>
            </a:pPr>
            <a:r>
              <a:rPr lang="en-US" sz="2800" dirty="0"/>
              <a:t>First Normal Form(1NF) </a:t>
            </a:r>
          </a:p>
          <a:p>
            <a:pPr lvl="1">
              <a:defRPr/>
            </a:pPr>
            <a:r>
              <a:rPr lang="en-US" sz="2400" dirty="0"/>
              <a:t>w</a:t>
            </a:r>
            <a:r>
              <a:rPr lang="en-US" sz="2400" dirty="0">
                <a:ea typeface="+mn-ea"/>
                <a:cs typeface="+mn-cs"/>
              </a:rPr>
              <a:t>hich</a:t>
            </a:r>
            <a:r>
              <a:rPr lang="en-US" sz="2400" dirty="0"/>
              <a:t> </a:t>
            </a:r>
            <a:r>
              <a:rPr lang="en-US" sz="2400" dirty="0">
                <a:ea typeface="+mn-ea"/>
                <a:cs typeface="+mn-cs"/>
              </a:rPr>
              <a:t>eliminates data redundancy </a:t>
            </a:r>
          </a:p>
          <a:p>
            <a:pPr>
              <a:defRPr/>
            </a:pPr>
            <a:r>
              <a:rPr lang="en-US" sz="2400" dirty="0"/>
              <a:t>and continue through to </a:t>
            </a:r>
          </a:p>
          <a:p>
            <a:pPr>
              <a:defRPr/>
            </a:pPr>
            <a:r>
              <a:rPr lang="en-US" sz="2800" dirty="0"/>
              <a:t>Fifth Normal Form (5NF)</a:t>
            </a:r>
          </a:p>
          <a:p>
            <a:pPr lvl="1">
              <a:defRPr/>
            </a:pPr>
            <a:r>
              <a:rPr lang="en-US" sz="2400" dirty="0">
                <a:ea typeface="+mn-ea"/>
                <a:cs typeface="+mn-cs"/>
              </a:rPr>
              <a:t>which deals with decomposition of ternary relationships</a:t>
            </a:r>
          </a:p>
        </p:txBody>
      </p:sp>
      <p:sp>
        <p:nvSpPr>
          <p:cNvPr id="6148" name="Footer Placeholder 3"/>
          <p:cNvSpPr>
            <a:spLocks noGrp="1"/>
          </p:cNvSpPr>
          <p:nvPr>
            <p:ph type="ftr" sz="quarter" idx="11"/>
          </p:nvPr>
        </p:nvSpPr>
        <p:spPr>
          <a:noFill/>
        </p:spPr>
        <p:txBody>
          <a:bodyPr/>
          <a:lstStyle/>
          <a:p>
            <a:r>
              <a:rPr lang="en-US"/>
              <a:t>DataBase Design Course Notes 03 - Normalization</a:t>
            </a:r>
            <a:endParaRPr lang="en-US" dirty="0"/>
          </a:p>
        </p:txBody>
      </p:sp>
      <p:sp>
        <p:nvSpPr>
          <p:cNvPr id="6149" name="Slide Number Placeholder 4"/>
          <p:cNvSpPr>
            <a:spLocks noGrp="1"/>
          </p:cNvSpPr>
          <p:nvPr>
            <p:ph type="sldNum" sz="quarter" idx="12"/>
          </p:nvPr>
        </p:nvSpPr>
        <p:spPr>
          <a:noFill/>
        </p:spPr>
        <p:txBody>
          <a:bodyPr/>
          <a:lstStyle/>
          <a:p>
            <a:fld id="{02BB9773-D530-46E1-AD61-DC94BDD355C4}"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solidFill>
                  <a:schemeClr val="tx1"/>
                </a:solidFill>
              </a:rPr>
              <a:t>Normalization</a:t>
            </a:r>
            <a:endParaRPr lang="en-US"/>
          </a:p>
        </p:txBody>
      </p:sp>
      <p:sp>
        <p:nvSpPr>
          <p:cNvPr id="7171" name="Content Placeholder 2"/>
          <p:cNvSpPr>
            <a:spLocks noGrp="1"/>
          </p:cNvSpPr>
          <p:nvPr>
            <p:ph idx="1"/>
          </p:nvPr>
        </p:nvSpPr>
        <p:spPr/>
        <p:txBody>
          <a:bodyPr/>
          <a:lstStyle/>
          <a:p>
            <a:r>
              <a:rPr lang="en-US"/>
              <a:t>each level of normalization indicates an increasing degree of adherence to the recognized standards of database design</a:t>
            </a:r>
          </a:p>
          <a:p>
            <a:r>
              <a:rPr lang="en-US"/>
              <a:t>as you increase degree of normalization of your data, you’ll naturally tend to create an increasing number of tables of decreasing width (fewer columns)</a:t>
            </a:r>
          </a:p>
          <a:p>
            <a:endParaRPr lang="en-US"/>
          </a:p>
        </p:txBody>
      </p:sp>
      <p:sp>
        <p:nvSpPr>
          <p:cNvPr id="7172" name="Footer Placeholder 3"/>
          <p:cNvSpPr>
            <a:spLocks noGrp="1"/>
          </p:cNvSpPr>
          <p:nvPr>
            <p:ph type="ftr" sz="quarter" idx="11"/>
          </p:nvPr>
        </p:nvSpPr>
        <p:spPr>
          <a:noFill/>
        </p:spPr>
        <p:txBody>
          <a:bodyPr/>
          <a:lstStyle/>
          <a:p>
            <a:r>
              <a:rPr lang="en-US"/>
              <a:t>DataBase Design Course Notes 03 - Normalization</a:t>
            </a:r>
          </a:p>
        </p:txBody>
      </p:sp>
      <p:sp>
        <p:nvSpPr>
          <p:cNvPr id="7173" name="Slide Number Placeholder 4"/>
          <p:cNvSpPr>
            <a:spLocks noGrp="1"/>
          </p:cNvSpPr>
          <p:nvPr>
            <p:ph type="sldNum" sz="quarter" idx="12"/>
          </p:nvPr>
        </p:nvSpPr>
        <p:spPr>
          <a:noFill/>
        </p:spPr>
        <p:txBody>
          <a:bodyPr/>
          <a:lstStyle/>
          <a:p>
            <a:fld id="{8786F3C0-5B9A-47F1-9142-466E02ED302F}" type="slidenum">
              <a:rPr lang="en-US" smtClean="0"/>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solidFill>
                  <a:schemeClr val="tx1"/>
                </a:solidFill>
              </a:rPr>
              <a:t>Why Normalize?</a:t>
            </a:r>
            <a:endParaRPr lang="en-US"/>
          </a:p>
        </p:txBody>
      </p:sp>
      <p:sp>
        <p:nvSpPr>
          <p:cNvPr id="8195" name="Content Placeholder 2"/>
          <p:cNvSpPr>
            <a:spLocks noGrp="1"/>
          </p:cNvSpPr>
          <p:nvPr>
            <p:ph idx="1"/>
          </p:nvPr>
        </p:nvSpPr>
        <p:spPr/>
        <p:txBody>
          <a:bodyPr/>
          <a:lstStyle/>
          <a:p>
            <a:r>
              <a:rPr lang="en-US" sz="2400"/>
              <a:t>eliminate data that’s duplicated, chance it won’t match when you need it</a:t>
            </a:r>
          </a:p>
          <a:p>
            <a:r>
              <a:rPr lang="en-US" sz="2400"/>
              <a:t>avoid unnecessary coding needed to keep duplicated data in sync</a:t>
            </a:r>
          </a:p>
          <a:p>
            <a:endParaRPr lang="en-US" sz="2400"/>
          </a:p>
          <a:p>
            <a:r>
              <a:rPr lang="en-US" sz="2400"/>
              <a:t>keep tables thin, increase number of values that will fit on a page </a:t>
            </a:r>
            <a:r>
              <a:rPr lang="it-IT" sz="2400"/>
              <a:t>(</a:t>
            </a:r>
            <a:r>
              <a:rPr lang="en-US" sz="2400"/>
              <a:t>8K) – decrease number of reads that will be needed </a:t>
            </a:r>
          </a:p>
          <a:p>
            <a:r>
              <a:rPr lang="en-US" sz="2400"/>
              <a:t>maximizing use of clustered indexes – allow for more optimum data access and joins</a:t>
            </a:r>
          </a:p>
          <a:p>
            <a:r>
              <a:rPr lang="en-US" sz="2400"/>
              <a:t>lowering number of indexes per table - indexes are costly to maintain</a:t>
            </a:r>
          </a:p>
        </p:txBody>
      </p:sp>
      <p:sp>
        <p:nvSpPr>
          <p:cNvPr id="8196" name="Footer Placeholder 3"/>
          <p:cNvSpPr>
            <a:spLocks noGrp="1"/>
          </p:cNvSpPr>
          <p:nvPr>
            <p:ph type="ftr" sz="quarter" idx="11"/>
          </p:nvPr>
        </p:nvSpPr>
        <p:spPr>
          <a:noFill/>
        </p:spPr>
        <p:txBody>
          <a:bodyPr/>
          <a:lstStyle/>
          <a:p>
            <a:r>
              <a:rPr lang="en-US"/>
              <a:t>DataBase Design Course Notes 03 - Normalization</a:t>
            </a:r>
          </a:p>
        </p:txBody>
      </p:sp>
      <p:sp>
        <p:nvSpPr>
          <p:cNvPr id="8197" name="Slide Number Placeholder 4"/>
          <p:cNvSpPr>
            <a:spLocks noGrp="1"/>
          </p:cNvSpPr>
          <p:nvPr>
            <p:ph type="sldNum" sz="quarter" idx="12"/>
          </p:nvPr>
        </p:nvSpPr>
        <p:spPr>
          <a:noFill/>
        </p:spPr>
        <p:txBody>
          <a:bodyPr/>
          <a:lstStyle/>
          <a:p>
            <a:fld id="{5B99D0CA-71A3-431C-B467-4A00C892F1CA}"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solidFill>
                  <a:schemeClr val="tx1"/>
                </a:solidFill>
              </a:rPr>
              <a:t>Eliminating duplicated data</a:t>
            </a:r>
            <a:endParaRPr lang="en-US" sz="3200"/>
          </a:p>
        </p:txBody>
      </p:sp>
      <p:sp>
        <p:nvSpPr>
          <p:cNvPr id="9219" name="Content Placeholder 2"/>
          <p:cNvSpPr>
            <a:spLocks noGrp="1"/>
          </p:cNvSpPr>
          <p:nvPr>
            <p:ph idx="1"/>
          </p:nvPr>
        </p:nvSpPr>
        <p:spPr/>
        <p:txBody>
          <a:bodyPr/>
          <a:lstStyle/>
          <a:p>
            <a:r>
              <a:rPr lang="en-US"/>
              <a:t>any piece of data that occurs more than once in database is an error waiting to happen</a:t>
            </a:r>
          </a:p>
        </p:txBody>
      </p:sp>
      <p:sp>
        <p:nvSpPr>
          <p:cNvPr id="9220" name="Footer Placeholder 3"/>
          <p:cNvSpPr>
            <a:spLocks noGrp="1"/>
          </p:cNvSpPr>
          <p:nvPr>
            <p:ph type="ftr" sz="quarter" idx="11"/>
          </p:nvPr>
        </p:nvSpPr>
        <p:spPr>
          <a:noFill/>
        </p:spPr>
        <p:txBody>
          <a:bodyPr/>
          <a:lstStyle/>
          <a:p>
            <a:r>
              <a:rPr lang="en-US"/>
              <a:t>DataBase Design Course Notes 03 - Normalization</a:t>
            </a:r>
          </a:p>
        </p:txBody>
      </p:sp>
      <p:sp>
        <p:nvSpPr>
          <p:cNvPr id="9221" name="Slide Number Placeholder 4"/>
          <p:cNvSpPr>
            <a:spLocks noGrp="1"/>
          </p:cNvSpPr>
          <p:nvPr>
            <p:ph type="sldNum" sz="quarter" idx="12"/>
          </p:nvPr>
        </p:nvSpPr>
        <p:spPr>
          <a:noFill/>
        </p:spPr>
        <p:txBody>
          <a:bodyPr/>
          <a:lstStyle/>
          <a:p>
            <a:fld id="{BCE4D7BA-F6A7-4280-B6DC-D453CF1880D9}" type="slidenum">
              <a:rPr lang="en-US" smtClean="0"/>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solidFill>
                  <a:schemeClr val="tx1"/>
                </a:solidFill>
              </a:rPr>
              <a:t>Process of Normalization</a:t>
            </a:r>
            <a:endParaRPr lang="en-US" sz="3200"/>
          </a:p>
        </p:txBody>
      </p:sp>
      <p:sp>
        <p:nvSpPr>
          <p:cNvPr id="10243" name="Content Placeholder 2"/>
          <p:cNvSpPr>
            <a:spLocks noGrp="1"/>
          </p:cNvSpPr>
          <p:nvPr>
            <p:ph idx="1"/>
          </p:nvPr>
        </p:nvSpPr>
        <p:spPr/>
        <p:txBody>
          <a:bodyPr/>
          <a:lstStyle/>
          <a:p>
            <a:r>
              <a:rPr lang="en-US"/>
              <a:t>take entities that are complex and extract simpler entities from them</a:t>
            </a:r>
          </a:p>
          <a:p>
            <a:r>
              <a:rPr lang="en-US"/>
              <a:t>continues until every table in database represents one thing and every column describes that thing</a:t>
            </a:r>
          </a:p>
        </p:txBody>
      </p:sp>
      <p:sp>
        <p:nvSpPr>
          <p:cNvPr id="10244" name="Footer Placeholder 3"/>
          <p:cNvSpPr>
            <a:spLocks noGrp="1"/>
          </p:cNvSpPr>
          <p:nvPr>
            <p:ph type="ftr" sz="quarter" idx="11"/>
          </p:nvPr>
        </p:nvSpPr>
        <p:spPr>
          <a:noFill/>
        </p:spPr>
        <p:txBody>
          <a:bodyPr/>
          <a:lstStyle/>
          <a:p>
            <a:r>
              <a:rPr lang="en-US"/>
              <a:t>DataBase Design Course Notes 03 - Normalization</a:t>
            </a:r>
          </a:p>
        </p:txBody>
      </p:sp>
      <p:sp>
        <p:nvSpPr>
          <p:cNvPr id="10245" name="Slide Number Placeholder 4"/>
          <p:cNvSpPr>
            <a:spLocks noGrp="1"/>
          </p:cNvSpPr>
          <p:nvPr>
            <p:ph type="sldNum" sz="quarter" idx="12"/>
          </p:nvPr>
        </p:nvSpPr>
        <p:spPr>
          <a:noFill/>
        </p:spPr>
        <p:txBody>
          <a:bodyPr/>
          <a:lstStyle/>
          <a:p>
            <a:fld id="{01E82057-FD24-4FAF-8393-B770E649B442}" type="slidenum">
              <a:rPr lang="en-US" smtClean="0"/>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z="4000">
                <a:solidFill>
                  <a:schemeClr val="tx1"/>
                </a:solidFill>
              </a:rPr>
              <a:t>3 categories of normalization steps</a:t>
            </a:r>
            <a:endParaRPr lang="en-US" sz="4000"/>
          </a:p>
        </p:txBody>
      </p:sp>
      <p:sp>
        <p:nvSpPr>
          <p:cNvPr id="11267" name="Content Placeholder 2"/>
          <p:cNvSpPr>
            <a:spLocks noGrp="1"/>
          </p:cNvSpPr>
          <p:nvPr>
            <p:ph idx="1"/>
          </p:nvPr>
        </p:nvSpPr>
        <p:spPr/>
        <p:txBody>
          <a:bodyPr/>
          <a:lstStyle/>
          <a:p>
            <a:r>
              <a:rPr lang="en-US"/>
              <a:t>entity and attribute shape</a:t>
            </a:r>
          </a:p>
          <a:p>
            <a:r>
              <a:rPr lang="en-US"/>
              <a:t>relationships between attributes</a:t>
            </a:r>
          </a:p>
          <a:p>
            <a:r>
              <a:rPr lang="en-US"/>
              <a:t>multi-valued and join dependencies in entities</a:t>
            </a:r>
          </a:p>
        </p:txBody>
      </p:sp>
      <p:sp>
        <p:nvSpPr>
          <p:cNvPr id="11268" name="Footer Placeholder 3"/>
          <p:cNvSpPr>
            <a:spLocks noGrp="1"/>
          </p:cNvSpPr>
          <p:nvPr>
            <p:ph type="ftr" sz="quarter" idx="11"/>
          </p:nvPr>
        </p:nvSpPr>
        <p:spPr>
          <a:noFill/>
        </p:spPr>
        <p:txBody>
          <a:bodyPr/>
          <a:lstStyle/>
          <a:p>
            <a:r>
              <a:rPr lang="en-US"/>
              <a:t>DataBase Design Course Notes 03 - Normalization</a:t>
            </a:r>
          </a:p>
        </p:txBody>
      </p:sp>
      <p:sp>
        <p:nvSpPr>
          <p:cNvPr id="11269" name="Slide Number Placeholder 4"/>
          <p:cNvSpPr>
            <a:spLocks noGrp="1"/>
          </p:cNvSpPr>
          <p:nvPr>
            <p:ph type="sldNum" sz="quarter" idx="12"/>
          </p:nvPr>
        </p:nvSpPr>
        <p:spPr>
          <a:noFill/>
        </p:spPr>
        <p:txBody>
          <a:bodyPr/>
          <a:lstStyle/>
          <a:p>
            <a:fld id="{6AE7E8C8-780E-4841-A874-91E284EC3D97}"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solidFill>
                  <a:schemeClr val="tx1"/>
                </a:solidFill>
              </a:rPr>
              <a:t>Entity and attribute shape</a:t>
            </a:r>
            <a:br>
              <a:rPr lang="en-US">
                <a:solidFill>
                  <a:schemeClr val="tx1"/>
                </a:solidFill>
              </a:rPr>
            </a:br>
            <a:r>
              <a:rPr lang="en-US">
                <a:solidFill>
                  <a:schemeClr val="tx1"/>
                </a:solidFill>
              </a:rPr>
              <a:t>First Normal Form</a:t>
            </a:r>
            <a:endParaRPr lang="en-US"/>
          </a:p>
        </p:txBody>
      </p:sp>
      <p:sp>
        <p:nvSpPr>
          <p:cNvPr id="12291" name="Content Placeholder 2"/>
          <p:cNvSpPr>
            <a:spLocks noGrp="1"/>
          </p:cNvSpPr>
          <p:nvPr>
            <p:ph idx="1"/>
          </p:nvPr>
        </p:nvSpPr>
        <p:spPr/>
        <p:txBody>
          <a:bodyPr/>
          <a:lstStyle/>
          <a:p>
            <a:r>
              <a:rPr lang="en-US"/>
              <a:t>all attributes must be atomic, that is, only a single value represented in a single attribute in a single instance of an entity</a:t>
            </a:r>
          </a:p>
          <a:p>
            <a:r>
              <a:rPr lang="en-US"/>
              <a:t>all instances of an entity must contain the same number of values</a:t>
            </a:r>
          </a:p>
          <a:p>
            <a:r>
              <a:rPr lang="en-US"/>
              <a:t>all instances of an entity must be different</a:t>
            </a:r>
          </a:p>
        </p:txBody>
      </p:sp>
      <p:sp>
        <p:nvSpPr>
          <p:cNvPr id="12292" name="Footer Placeholder 3"/>
          <p:cNvSpPr>
            <a:spLocks noGrp="1"/>
          </p:cNvSpPr>
          <p:nvPr>
            <p:ph type="ftr" sz="quarter" idx="11"/>
          </p:nvPr>
        </p:nvSpPr>
        <p:spPr>
          <a:noFill/>
        </p:spPr>
        <p:txBody>
          <a:bodyPr/>
          <a:lstStyle/>
          <a:p>
            <a:r>
              <a:rPr lang="en-US"/>
              <a:t>DataBase Design Course Notes 03 - Normalization</a:t>
            </a:r>
          </a:p>
        </p:txBody>
      </p:sp>
      <p:sp>
        <p:nvSpPr>
          <p:cNvPr id="12293" name="Slide Number Placeholder 4"/>
          <p:cNvSpPr>
            <a:spLocks noGrp="1"/>
          </p:cNvSpPr>
          <p:nvPr>
            <p:ph type="sldNum" sz="quarter" idx="12"/>
          </p:nvPr>
        </p:nvSpPr>
        <p:spPr>
          <a:noFill/>
        </p:spPr>
        <p:txBody>
          <a:bodyPr/>
          <a:lstStyle/>
          <a:p>
            <a:fld id="{57C7BACC-F05A-403C-9E30-A71D164C8D24}" type="slidenum">
              <a:rPr lang="en-US" smtClean="0"/>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solidFill>
                  <a:schemeClr val="tx1"/>
                </a:solidFill>
              </a:rPr>
              <a:t>First Normal Form</a:t>
            </a:r>
            <a:endParaRPr lang="en-US"/>
          </a:p>
        </p:txBody>
      </p:sp>
      <p:sp>
        <p:nvSpPr>
          <p:cNvPr id="13315" name="Content Placeholder 2"/>
          <p:cNvSpPr>
            <a:spLocks noGrp="1"/>
          </p:cNvSpPr>
          <p:nvPr>
            <p:ph idx="1"/>
          </p:nvPr>
        </p:nvSpPr>
        <p:spPr/>
        <p:txBody>
          <a:bodyPr/>
          <a:lstStyle/>
          <a:p>
            <a:r>
              <a:rPr lang="en-US"/>
              <a:t>violations often manifest themselves in implemented model with data handling being far less optimal, usually because of having to decode multiple values stored where a single one should be or because of having duplicated rows that cannot be distinguished from one another</a:t>
            </a:r>
          </a:p>
          <a:p>
            <a:endParaRPr lang="en-US"/>
          </a:p>
        </p:txBody>
      </p:sp>
      <p:sp>
        <p:nvSpPr>
          <p:cNvPr id="13316" name="Footer Placeholder 3"/>
          <p:cNvSpPr>
            <a:spLocks noGrp="1"/>
          </p:cNvSpPr>
          <p:nvPr>
            <p:ph type="ftr" sz="quarter" idx="11"/>
          </p:nvPr>
        </p:nvSpPr>
        <p:spPr>
          <a:noFill/>
        </p:spPr>
        <p:txBody>
          <a:bodyPr/>
          <a:lstStyle/>
          <a:p>
            <a:r>
              <a:rPr lang="en-US"/>
              <a:t>DataBase Design Course Notes 03 - Normalization</a:t>
            </a:r>
          </a:p>
        </p:txBody>
      </p:sp>
      <p:sp>
        <p:nvSpPr>
          <p:cNvPr id="13317" name="Slide Number Placeholder 4"/>
          <p:cNvSpPr>
            <a:spLocks noGrp="1"/>
          </p:cNvSpPr>
          <p:nvPr>
            <p:ph type="sldNum" sz="quarter" idx="12"/>
          </p:nvPr>
        </p:nvSpPr>
        <p:spPr>
          <a:noFill/>
        </p:spPr>
        <p:txBody>
          <a:bodyPr/>
          <a:lstStyle/>
          <a:p>
            <a:fld id="{CB3683DA-D5FE-4458-AE51-87FDD155AE88}"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endParaRPr lang="en-US"/>
          </a:p>
        </p:txBody>
      </p:sp>
      <p:sp>
        <p:nvSpPr>
          <p:cNvPr id="14339" name="Content Placeholder 2"/>
          <p:cNvSpPr>
            <a:spLocks noGrp="1"/>
          </p:cNvSpPr>
          <p:nvPr>
            <p:ph idx="1"/>
          </p:nvPr>
        </p:nvSpPr>
        <p:spPr/>
        <p:txBody>
          <a:bodyPr/>
          <a:lstStyle/>
          <a:p>
            <a:r>
              <a:rPr lang="en-US" sz="2400"/>
              <a:t>for example, consider group of data like 1, 2, 3, 5, 7</a:t>
            </a:r>
          </a:p>
          <a:p>
            <a:r>
              <a:rPr lang="en-US" sz="2400"/>
              <a:t>likely represents five separate values</a:t>
            </a:r>
          </a:p>
          <a:p>
            <a:r>
              <a:rPr lang="en-US" sz="2400"/>
              <a:t>atomicity is to consider whether you would ever need to deal with part of column without other parts of data in that same column</a:t>
            </a:r>
          </a:p>
          <a:p>
            <a:r>
              <a:rPr lang="en-US" sz="2400"/>
              <a:t>1, 2, 3, 5, 7 list always treated as single value, it might be acceptable to store value in single column</a:t>
            </a:r>
          </a:p>
          <a:p>
            <a:r>
              <a:rPr lang="en-US" sz="2400"/>
              <a:t>if you might need to deal with value 3 individually, then the list is definitely not in First Normal Form</a:t>
            </a:r>
          </a:p>
          <a:p>
            <a:r>
              <a:rPr lang="en-US" sz="2000"/>
              <a:t>if there is not plan to use list elements individually, you should consider whether it is still better to store each value individually to allow for future possible usage</a:t>
            </a:r>
          </a:p>
        </p:txBody>
      </p:sp>
      <p:sp>
        <p:nvSpPr>
          <p:cNvPr id="14340" name="Footer Placeholder 3"/>
          <p:cNvSpPr>
            <a:spLocks noGrp="1"/>
          </p:cNvSpPr>
          <p:nvPr>
            <p:ph type="ftr" sz="quarter" idx="11"/>
          </p:nvPr>
        </p:nvSpPr>
        <p:spPr>
          <a:noFill/>
        </p:spPr>
        <p:txBody>
          <a:bodyPr/>
          <a:lstStyle/>
          <a:p>
            <a:r>
              <a:rPr lang="en-US"/>
              <a:t>DataBase Design Course Notes 03 - Normalization</a:t>
            </a:r>
          </a:p>
        </p:txBody>
      </p:sp>
      <p:sp>
        <p:nvSpPr>
          <p:cNvPr id="14341" name="Slide Number Placeholder 4"/>
          <p:cNvSpPr>
            <a:spLocks noGrp="1"/>
          </p:cNvSpPr>
          <p:nvPr>
            <p:ph type="sldNum" sz="quarter" idx="12"/>
          </p:nvPr>
        </p:nvSpPr>
        <p:spPr>
          <a:noFill/>
        </p:spPr>
        <p:txBody>
          <a:bodyPr/>
          <a:lstStyle/>
          <a:p>
            <a:fld id="{1928163E-5649-4B3B-8DA3-37FE1CC285CD}"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solidFill>
                  <a:schemeClr val="tx1"/>
                </a:solidFill>
              </a:rPr>
              <a:t>E-Mail Addresses</a:t>
            </a:r>
            <a:endParaRPr lang="en-US" sz="3200"/>
          </a:p>
        </p:txBody>
      </p:sp>
      <p:sp>
        <p:nvSpPr>
          <p:cNvPr id="15363" name="Content Placeholder 2"/>
          <p:cNvSpPr>
            <a:spLocks noGrp="1"/>
          </p:cNvSpPr>
          <p:nvPr>
            <p:ph idx="1"/>
          </p:nvPr>
        </p:nvSpPr>
        <p:spPr/>
        <p:txBody>
          <a:bodyPr/>
          <a:lstStyle/>
          <a:p>
            <a:r>
              <a:rPr lang="en-US">
                <a:hlinkClick r:id="rId2"/>
              </a:rPr>
              <a:t>name1@domain1.com</a:t>
            </a:r>
            <a:r>
              <a:rPr lang="en-US"/>
              <a:t> </a:t>
            </a:r>
          </a:p>
          <a:p>
            <a:r>
              <a:rPr lang="en-US"/>
              <a:t>AccountName: name1</a:t>
            </a:r>
          </a:p>
          <a:p>
            <a:r>
              <a:rPr lang="en-US"/>
              <a:t>Domain: domain1.com</a:t>
            </a:r>
          </a:p>
        </p:txBody>
      </p:sp>
      <p:sp>
        <p:nvSpPr>
          <p:cNvPr id="15364" name="Footer Placeholder 3"/>
          <p:cNvSpPr>
            <a:spLocks noGrp="1"/>
          </p:cNvSpPr>
          <p:nvPr>
            <p:ph type="ftr" sz="quarter" idx="11"/>
          </p:nvPr>
        </p:nvSpPr>
        <p:spPr>
          <a:noFill/>
        </p:spPr>
        <p:txBody>
          <a:bodyPr/>
          <a:lstStyle/>
          <a:p>
            <a:r>
              <a:rPr lang="en-US"/>
              <a:t>DataBase Design Course Notes 03 - Normalization</a:t>
            </a:r>
          </a:p>
        </p:txBody>
      </p:sp>
      <p:sp>
        <p:nvSpPr>
          <p:cNvPr id="15365" name="Slide Number Placeholder 4"/>
          <p:cNvSpPr>
            <a:spLocks noGrp="1"/>
          </p:cNvSpPr>
          <p:nvPr>
            <p:ph type="sldNum" sz="quarter" idx="12"/>
          </p:nvPr>
        </p:nvSpPr>
        <p:spPr>
          <a:noFill/>
        </p:spPr>
        <p:txBody>
          <a:bodyPr/>
          <a:lstStyle/>
          <a:p>
            <a:fld id="{79D7C62E-194A-4B08-8E98-221E98F8B288}" type="slidenum">
              <a:rPr lang="en-US" smtClean="0"/>
              <a:p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solidFill>
                  <a:schemeClr val="tx1"/>
                </a:solidFill>
              </a:rPr>
              <a:t>E-Mail Addresses</a:t>
            </a:r>
            <a:endParaRPr lang="en-US"/>
          </a:p>
        </p:txBody>
      </p:sp>
      <p:sp>
        <p:nvSpPr>
          <p:cNvPr id="16387" name="Content Placeholder 2"/>
          <p:cNvSpPr>
            <a:spLocks noGrp="1"/>
          </p:cNvSpPr>
          <p:nvPr>
            <p:ph idx="1"/>
          </p:nvPr>
        </p:nvSpPr>
        <p:spPr/>
        <p:txBody>
          <a:bodyPr/>
          <a:lstStyle/>
          <a:p>
            <a:r>
              <a:rPr lang="en-US"/>
              <a:t>intend to access individual parts</a:t>
            </a:r>
          </a:p>
          <a:p>
            <a:r>
              <a:rPr lang="en-US"/>
              <a:t>all you’ll ever do is send e-mail, then single column is perfectly acceptable</a:t>
            </a:r>
          </a:p>
          <a:p>
            <a:r>
              <a:rPr lang="en-US"/>
              <a:t>need to consider what domains you have e-mail addresses stored for, then it’s a completely different matter</a:t>
            </a:r>
          </a:p>
        </p:txBody>
      </p:sp>
      <p:sp>
        <p:nvSpPr>
          <p:cNvPr id="16388" name="Footer Placeholder 3"/>
          <p:cNvSpPr>
            <a:spLocks noGrp="1"/>
          </p:cNvSpPr>
          <p:nvPr>
            <p:ph type="ftr" sz="quarter" idx="11"/>
          </p:nvPr>
        </p:nvSpPr>
        <p:spPr>
          <a:noFill/>
        </p:spPr>
        <p:txBody>
          <a:bodyPr/>
          <a:lstStyle/>
          <a:p>
            <a:r>
              <a:rPr lang="en-US"/>
              <a:t>DataBase Design Course Notes 03 - Normalization</a:t>
            </a:r>
          </a:p>
        </p:txBody>
      </p:sp>
      <p:sp>
        <p:nvSpPr>
          <p:cNvPr id="16389" name="Slide Number Placeholder 4"/>
          <p:cNvSpPr>
            <a:spLocks noGrp="1"/>
          </p:cNvSpPr>
          <p:nvPr>
            <p:ph type="sldNum" sz="quarter" idx="12"/>
          </p:nvPr>
        </p:nvSpPr>
        <p:spPr>
          <a:noFill/>
        </p:spPr>
        <p:txBody>
          <a:bodyPr/>
          <a:lstStyle/>
          <a:p>
            <a:fld id="{D5492AA5-7FBF-446E-9AE7-A667BAF4B151}" type="slidenum">
              <a:rPr lang="en-US" smtClean="0"/>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solidFill>
                  <a:schemeClr val="tx1"/>
                </a:solidFill>
              </a:rPr>
              <a:t>Telephone Numbers</a:t>
            </a:r>
            <a:endParaRPr lang="en-US" sz="3200"/>
          </a:p>
        </p:txBody>
      </p:sp>
      <p:sp>
        <p:nvSpPr>
          <p:cNvPr id="17411" name="Content Placeholder 2"/>
          <p:cNvSpPr>
            <a:spLocks noGrp="1"/>
          </p:cNvSpPr>
          <p:nvPr>
            <p:ph idx="1"/>
          </p:nvPr>
        </p:nvSpPr>
        <p:spPr/>
        <p:txBody>
          <a:bodyPr/>
          <a:lstStyle/>
          <a:p>
            <a:r>
              <a:rPr lang="en-US" sz="2800"/>
              <a:t>AAA-EEE-NNNN (XXXX):</a:t>
            </a:r>
          </a:p>
          <a:p>
            <a:r>
              <a:rPr lang="en-US" sz="2800"/>
              <a:t>AAA area code – indicates calling area located within a state</a:t>
            </a:r>
          </a:p>
          <a:p>
            <a:r>
              <a:rPr lang="en-US" sz="2800"/>
              <a:t>EEE exchange - indicates a set of numbers within an area code</a:t>
            </a:r>
          </a:p>
          <a:p>
            <a:r>
              <a:rPr lang="en-US" sz="2800"/>
              <a:t>NNNN number - used to make individual phone numbers unique</a:t>
            </a:r>
          </a:p>
          <a:p>
            <a:r>
              <a:rPr lang="en-US" sz="2800"/>
              <a:t>XXXX extension - number that must be dialed after connecting</a:t>
            </a:r>
          </a:p>
        </p:txBody>
      </p:sp>
      <p:sp>
        <p:nvSpPr>
          <p:cNvPr id="17412" name="Footer Placeholder 3"/>
          <p:cNvSpPr>
            <a:spLocks noGrp="1"/>
          </p:cNvSpPr>
          <p:nvPr>
            <p:ph type="ftr" sz="quarter" idx="11"/>
          </p:nvPr>
        </p:nvSpPr>
        <p:spPr>
          <a:noFill/>
        </p:spPr>
        <p:txBody>
          <a:bodyPr/>
          <a:lstStyle/>
          <a:p>
            <a:r>
              <a:rPr lang="en-US"/>
              <a:t>DataBase Design Course Notes 03 - Normalization</a:t>
            </a:r>
          </a:p>
        </p:txBody>
      </p:sp>
      <p:sp>
        <p:nvSpPr>
          <p:cNvPr id="17413" name="Slide Number Placeholder 4"/>
          <p:cNvSpPr>
            <a:spLocks noGrp="1"/>
          </p:cNvSpPr>
          <p:nvPr>
            <p:ph type="sldNum" sz="quarter" idx="12"/>
          </p:nvPr>
        </p:nvSpPr>
        <p:spPr>
          <a:noFill/>
        </p:spPr>
        <p:txBody>
          <a:bodyPr/>
          <a:lstStyle/>
          <a:p>
            <a:fld id="{B9BDCED6-707C-49BF-BBD0-0CDE96707DC9}" type="slidenum">
              <a:rPr lang="en-US" smtClean="0"/>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Mailing Addresses</a:t>
            </a:r>
          </a:p>
        </p:txBody>
      </p:sp>
      <p:sp>
        <p:nvSpPr>
          <p:cNvPr id="18435" name="Footer Placeholder 3"/>
          <p:cNvSpPr>
            <a:spLocks noGrp="1"/>
          </p:cNvSpPr>
          <p:nvPr>
            <p:ph type="ftr" sz="quarter" idx="11"/>
          </p:nvPr>
        </p:nvSpPr>
        <p:spPr>
          <a:noFill/>
        </p:spPr>
        <p:txBody>
          <a:bodyPr/>
          <a:lstStyle/>
          <a:p>
            <a:r>
              <a:rPr lang="en-US"/>
              <a:t>DataBase Design Course Notes 03 - Normalization</a:t>
            </a:r>
          </a:p>
        </p:txBody>
      </p:sp>
      <p:sp>
        <p:nvSpPr>
          <p:cNvPr id="18436" name="Slide Number Placeholder 4"/>
          <p:cNvSpPr>
            <a:spLocks noGrp="1"/>
          </p:cNvSpPr>
          <p:nvPr>
            <p:ph type="sldNum" sz="quarter" idx="12"/>
          </p:nvPr>
        </p:nvSpPr>
        <p:spPr>
          <a:noFill/>
        </p:spPr>
        <p:txBody>
          <a:bodyPr/>
          <a:lstStyle/>
          <a:p>
            <a:fld id="{CBB5C910-7ECA-4F07-832A-3D69D7800407}" type="slidenum">
              <a:rPr lang="en-US" smtClean="0"/>
              <a:pPr/>
              <a:t>67</a:t>
            </a:fld>
            <a:endParaRPr lang="en-US"/>
          </a:p>
        </p:txBody>
      </p:sp>
      <p:pic>
        <p:nvPicPr>
          <p:cNvPr id="18437" name="Picture 2"/>
          <p:cNvPicPr>
            <a:picLocks noGrp="1" noChangeArrowheads="1"/>
          </p:cNvPicPr>
          <p:nvPr>
            <p:ph sz="half" idx="1"/>
          </p:nvPr>
        </p:nvPicPr>
        <p:blipFill>
          <a:blip r:embed="rId2" cstate="print"/>
          <a:srcRect/>
          <a:stretch>
            <a:fillRect/>
          </a:stretch>
        </p:blipFill>
        <p:spPr>
          <a:xfrm>
            <a:off x="1096963" y="1646238"/>
            <a:ext cx="3314700" cy="3657600"/>
          </a:xfrm>
          <a:noFill/>
        </p:spPr>
      </p:pic>
      <p:pic>
        <p:nvPicPr>
          <p:cNvPr id="18438" name="Picture 3"/>
          <p:cNvPicPr>
            <a:picLocks noGrp="1" noChangeArrowheads="1"/>
          </p:cNvPicPr>
          <p:nvPr>
            <p:ph sz="half" idx="2"/>
          </p:nvPr>
        </p:nvPicPr>
        <p:blipFill>
          <a:blip r:embed="rId3" cstate="print"/>
          <a:srcRect/>
          <a:stretch>
            <a:fillRect/>
          </a:stretch>
        </p:blipFill>
        <p:spPr>
          <a:xfrm>
            <a:off x="4754563" y="1646238"/>
            <a:ext cx="3314700" cy="4071937"/>
          </a:xfr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6"/>
          <p:cNvSpPr>
            <a:spLocks noGrp="1"/>
          </p:cNvSpPr>
          <p:nvPr>
            <p:ph type="title"/>
          </p:nvPr>
        </p:nvSpPr>
        <p:spPr/>
        <p:txBody>
          <a:bodyPr/>
          <a:lstStyle/>
          <a:p>
            <a:r>
              <a:rPr lang="en-US"/>
              <a:t>Mailing Addresses</a:t>
            </a:r>
          </a:p>
        </p:txBody>
      </p:sp>
      <p:sp>
        <p:nvSpPr>
          <p:cNvPr id="19459" name="Footer Placeholder 4"/>
          <p:cNvSpPr>
            <a:spLocks noGrp="1"/>
          </p:cNvSpPr>
          <p:nvPr>
            <p:ph type="ftr" sz="quarter" idx="11"/>
          </p:nvPr>
        </p:nvSpPr>
        <p:spPr>
          <a:noFill/>
        </p:spPr>
        <p:txBody>
          <a:bodyPr/>
          <a:lstStyle/>
          <a:p>
            <a:r>
              <a:rPr lang="en-US"/>
              <a:t>DataBase Design Course Notes 03 - Normalization</a:t>
            </a:r>
          </a:p>
        </p:txBody>
      </p:sp>
      <p:sp>
        <p:nvSpPr>
          <p:cNvPr id="19460" name="Slide Number Placeholder 5"/>
          <p:cNvSpPr>
            <a:spLocks noGrp="1"/>
          </p:cNvSpPr>
          <p:nvPr>
            <p:ph type="sldNum" sz="quarter" idx="12"/>
          </p:nvPr>
        </p:nvSpPr>
        <p:spPr>
          <a:noFill/>
        </p:spPr>
        <p:txBody>
          <a:bodyPr/>
          <a:lstStyle/>
          <a:p>
            <a:fld id="{0FCE71AA-CE5B-4B87-BE0D-82BAFEB3978B}" type="slidenum">
              <a:rPr lang="en-US" smtClean="0"/>
              <a:pPr/>
              <a:t>68</a:t>
            </a:fld>
            <a:endParaRPr lang="en-US"/>
          </a:p>
        </p:txBody>
      </p:sp>
      <p:pic>
        <p:nvPicPr>
          <p:cNvPr id="19461" name="Picture 2"/>
          <p:cNvPicPr>
            <a:picLocks noGrp="1" noChangeArrowheads="1"/>
          </p:cNvPicPr>
          <p:nvPr>
            <p:ph idx="1"/>
          </p:nvPr>
        </p:nvPicPr>
        <p:blipFill>
          <a:blip r:embed="rId2" cstate="print"/>
          <a:srcRect/>
          <a:stretch>
            <a:fillRect/>
          </a:stretch>
        </p:blipFill>
        <p:spPr>
          <a:xfrm>
            <a:off x="533400" y="1447800"/>
            <a:ext cx="7745413" cy="4530725"/>
          </a:xfr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solidFill>
                  <a:schemeClr val="tx1"/>
                </a:solidFill>
              </a:rPr>
              <a:t>All instances in entity contain same number of values</a:t>
            </a:r>
            <a:endParaRPr lang="en-US" sz="3200"/>
          </a:p>
        </p:txBody>
      </p:sp>
      <p:sp>
        <p:nvSpPr>
          <p:cNvPr id="3" name="Content Placeholder 2"/>
          <p:cNvSpPr>
            <a:spLocks noGrp="1"/>
          </p:cNvSpPr>
          <p:nvPr>
            <p:ph idx="1"/>
          </p:nvPr>
        </p:nvSpPr>
        <p:spPr/>
        <p:txBody>
          <a:bodyPr/>
          <a:lstStyle/>
          <a:p>
            <a:pPr>
              <a:defRPr/>
            </a:pPr>
            <a:r>
              <a:rPr lang="en-US" dirty="0"/>
              <a:t>entities have a fixed number of attributes</a:t>
            </a:r>
          </a:p>
          <a:p>
            <a:pPr lvl="1">
              <a:defRPr/>
            </a:pPr>
            <a:r>
              <a:rPr lang="en-US" dirty="0">
                <a:ea typeface="+mn-ea"/>
                <a:cs typeface="+mn-cs"/>
              </a:rPr>
              <a:t>and tables have a fixed number of columns</a:t>
            </a:r>
          </a:p>
          <a:p>
            <a:pPr>
              <a:defRPr/>
            </a:pPr>
            <a:r>
              <a:rPr lang="en-US" dirty="0"/>
              <a:t>entities should be designed such that every attribute has a fixed number of values associated with it</a:t>
            </a:r>
          </a:p>
          <a:p>
            <a:pPr>
              <a:defRPr/>
            </a:pPr>
            <a:r>
              <a:rPr lang="en-US" sz="2800" dirty="0"/>
              <a:t>example of a violation of this rule in entities that have several attributes with same base name suffixed (or prefixed) with a number, such as Payment1, Payment2, and so on,</a:t>
            </a:r>
          </a:p>
        </p:txBody>
      </p:sp>
      <p:sp>
        <p:nvSpPr>
          <p:cNvPr id="20484" name="Footer Placeholder 3"/>
          <p:cNvSpPr>
            <a:spLocks noGrp="1"/>
          </p:cNvSpPr>
          <p:nvPr>
            <p:ph type="ftr" sz="quarter" idx="11"/>
          </p:nvPr>
        </p:nvSpPr>
        <p:spPr>
          <a:noFill/>
        </p:spPr>
        <p:txBody>
          <a:bodyPr/>
          <a:lstStyle/>
          <a:p>
            <a:r>
              <a:rPr lang="en-US"/>
              <a:t>DataBase Design Course Notes 03 - Normalization</a:t>
            </a:r>
          </a:p>
        </p:txBody>
      </p:sp>
      <p:sp>
        <p:nvSpPr>
          <p:cNvPr id="20485" name="Slide Number Placeholder 4"/>
          <p:cNvSpPr>
            <a:spLocks noGrp="1"/>
          </p:cNvSpPr>
          <p:nvPr>
            <p:ph type="sldNum" sz="quarter" idx="12"/>
          </p:nvPr>
        </p:nvSpPr>
        <p:spPr>
          <a:noFill/>
        </p:spPr>
        <p:txBody>
          <a:bodyPr/>
          <a:lstStyle/>
          <a:p>
            <a:fld id="{846521E4-AA69-482B-AE9B-549DC1410C43}" type="slidenum">
              <a:rPr lang="en-US" smtClean="0"/>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solidFill>
                  <a:schemeClr val="tx1"/>
                </a:solidFill>
              </a:rPr>
              <a:t>Programming Anomalies avoided by First Normal Form</a:t>
            </a:r>
            <a:endParaRPr lang="en-US" sz="3200"/>
          </a:p>
        </p:txBody>
      </p:sp>
      <p:sp>
        <p:nvSpPr>
          <p:cNvPr id="21507" name="Content Placeholder 2"/>
          <p:cNvSpPr>
            <a:spLocks noGrp="1"/>
          </p:cNvSpPr>
          <p:nvPr>
            <p:ph idx="1"/>
          </p:nvPr>
        </p:nvSpPr>
        <p:spPr/>
        <p:txBody>
          <a:bodyPr/>
          <a:lstStyle/>
          <a:p>
            <a:r>
              <a:rPr lang="en-US"/>
              <a:t>modifying lists in single column</a:t>
            </a:r>
          </a:p>
          <a:p>
            <a:r>
              <a:rPr lang="en-US"/>
              <a:t>modifying multipart values</a:t>
            </a:r>
          </a:p>
          <a:p>
            <a:r>
              <a:rPr lang="en-US"/>
              <a:t>dealing with a variable number of facts in an instance</a:t>
            </a:r>
          </a:p>
        </p:txBody>
      </p:sp>
      <p:sp>
        <p:nvSpPr>
          <p:cNvPr id="21508" name="Footer Placeholder 3"/>
          <p:cNvSpPr>
            <a:spLocks noGrp="1"/>
          </p:cNvSpPr>
          <p:nvPr>
            <p:ph type="ftr" sz="quarter" idx="11"/>
          </p:nvPr>
        </p:nvSpPr>
        <p:spPr>
          <a:noFill/>
        </p:spPr>
        <p:txBody>
          <a:bodyPr/>
          <a:lstStyle/>
          <a:p>
            <a:r>
              <a:rPr lang="en-US"/>
              <a:t>DataBase Design Course Notes 03 - Normalization</a:t>
            </a:r>
          </a:p>
        </p:txBody>
      </p:sp>
      <p:sp>
        <p:nvSpPr>
          <p:cNvPr id="21509" name="Slide Number Placeholder 4"/>
          <p:cNvSpPr>
            <a:spLocks noGrp="1"/>
          </p:cNvSpPr>
          <p:nvPr>
            <p:ph type="sldNum" sz="quarter" idx="12"/>
          </p:nvPr>
        </p:nvSpPr>
        <p:spPr>
          <a:noFill/>
        </p:spPr>
        <p:txBody>
          <a:bodyPr/>
          <a:lstStyle/>
          <a:p>
            <a:fld id="{8BD56631-59E3-403E-84AD-0EAAC7267A7A}" type="slidenum">
              <a:rPr lang="en-US" smtClean="0"/>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solidFill>
                  <a:schemeClr val="tx1"/>
                </a:solidFill>
              </a:rPr>
              <a:t>Clues that design is not in First Normal Form</a:t>
            </a:r>
            <a:endParaRPr lang="en-US" sz="3200"/>
          </a:p>
        </p:txBody>
      </p:sp>
      <p:sp>
        <p:nvSpPr>
          <p:cNvPr id="22531" name="Content Placeholder 2"/>
          <p:cNvSpPr>
            <a:spLocks noGrp="1"/>
          </p:cNvSpPr>
          <p:nvPr>
            <p:ph idx="1"/>
          </p:nvPr>
        </p:nvSpPr>
        <p:spPr/>
        <p:txBody>
          <a:bodyPr/>
          <a:lstStyle/>
          <a:p>
            <a:r>
              <a:rPr lang="en-US"/>
              <a:t>string data that contains separator-type characters</a:t>
            </a:r>
          </a:p>
          <a:p>
            <a:r>
              <a:rPr lang="en-US"/>
              <a:t>attribute names with numbers at the end</a:t>
            </a:r>
          </a:p>
          <a:p>
            <a:r>
              <a:rPr lang="en-US"/>
              <a:t>tables with no or poorly defined keys</a:t>
            </a:r>
          </a:p>
        </p:txBody>
      </p:sp>
      <p:sp>
        <p:nvSpPr>
          <p:cNvPr id="22532" name="Footer Placeholder 3"/>
          <p:cNvSpPr>
            <a:spLocks noGrp="1"/>
          </p:cNvSpPr>
          <p:nvPr>
            <p:ph type="ftr" sz="quarter" idx="11"/>
          </p:nvPr>
        </p:nvSpPr>
        <p:spPr>
          <a:noFill/>
        </p:spPr>
        <p:txBody>
          <a:bodyPr/>
          <a:lstStyle/>
          <a:p>
            <a:r>
              <a:rPr lang="en-US"/>
              <a:t>DataBase Design Course Notes 03 - Normalization</a:t>
            </a:r>
          </a:p>
        </p:txBody>
      </p:sp>
      <p:sp>
        <p:nvSpPr>
          <p:cNvPr id="22533" name="Slide Number Placeholder 4"/>
          <p:cNvSpPr>
            <a:spLocks noGrp="1"/>
          </p:cNvSpPr>
          <p:nvPr>
            <p:ph type="sldNum" sz="quarter" idx="12"/>
          </p:nvPr>
        </p:nvSpPr>
        <p:spPr>
          <a:noFill/>
        </p:spPr>
        <p:txBody>
          <a:bodyPr/>
          <a:lstStyle/>
          <a:p>
            <a:fld id="{56F3C0D0-CADA-4375-8076-8C2703636D68}" type="slidenum">
              <a:rPr lang="en-US" smtClean="0"/>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solidFill>
                  <a:schemeClr val="tx1"/>
                </a:solidFill>
              </a:rPr>
              <a:t>Relationships Between Attributes</a:t>
            </a:r>
            <a:endParaRPr lang="en-US" sz="3200"/>
          </a:p>
        </p:txBody>
      </p:sp>
      <p:sp>
        <p:nvSpPr>
          <p:cNvPr id="3" name="Content Placeholder 2"/>
          <p:cNvSpPr>
            <a:spLocks noGrp="1"/>
          </p:cNvSpPr>
          <p:nvPr>
            <p:ph idx="1"/>
          </p:nvPr>
        </p:nvSpPr>
        <p:spPr/>
        <p:txBody>
          <a:bodyPr/>
          <a:lstStyle/>
          <a:p>
            <a:pPr>
              <a:defRPr/>
            </a:pPr>
            <a:r>
              <a:rPr lang="en-US" sz="2800" dirty="0"/>
              <a:t>Second Normal Form</a:t>
            </a:r>
          </a:p>
          <a:p>
            <a:pPr lvl="1">
              <a:defRPr/>
            </a:pPr>
            <a:r>
              <a:rPr lang="en-US" sz="2400" dirty="0">
                <a:ea typeface="+mn-ea"/>
                <a:cs typeface="+mn-cs"/>
              </a:rPr>
              <a:t>relationships between non-key attributes and part of the primary key</a:t>
            </a:r>
          </a:p>
          <a:p>
            <a:pPr>
              <a:defRPr/>
            </a:pPr>
            <a:r>
              <a:rPr lang="en-US" sz="2800" dirty="0"/>
              <a:t>Third Normal Form</a:t>
            </a:r>
          </a:p>
          <a:p>
            <a:pPr lvl="1">
              <a:defRPr/>
            </a:pPr>
            <a:r>
              <a:rPr lang="en-US" sz="2400" dirty="0">
                <a:ea typeface="+mn-ea"/>
                <a:cs typeface="+mn-cs"/>
              </a:rPr>
              <a:t>relationships between non-key attributes</a:t>
            </a:r>
          </a:p>
          <a:p>
            <a:pPr>
              <a:defRPr/>
            </a:pPr>
            <a:r>
              <a:rPr lang="en-US" sz="2800" dirty="0"/>
              <a:t>BCNF (Boyce </a:t>
            </a:r>
            <a:r>
              <a:rPr lang="en-US" sz="2800" dirty="0" err="1"/>
              <a:t>Codd</a:t>
            </a:r>
            <a:r>
              <a:rPr lang="en-US" sz="2800" dirty="0"/>
              <a:t> Normal Form)</a:t>
            </a:r>
          </a:p>
          <a:p>
            <a:pPr lvl="1">
              <a:defRPr/>
            </a:pPr>
            <a:r>
              <a:rPr lang="en-US" sz="2400" dirty="0"/>
              <a:t>re</a:t>
            </a:r>
            <a:r>
              <a:rPr lang="en-US" sz="2400" dirty="0">
                <a:ea typeface="+mn-ea"/>
                <a:cs typeface="+mn-cs"/>
              </a:rPr>
              <a:t>lationships between non-key attributes and any key</a:t>
            </a:r>
          </a:p>
          <a:p>
            <a:pPr>
              <a:defRPr/>
            </a:pPr>
            <a:endParaRPr lang="en-US" sz="2400" i="1" dirty="0"/>
          </a:p>
          <a:p>
            <a:pPr>
              <a:defRPr/>
            </a:pPr>
            <a:r>
              <a:rPr lang="en-US" sz="2400" i="1" dirty="0"/>
              <a:t>Non-key attributes must provide a detail about the key, the whole key, and nothing but the key.</a:t>
            </a:r>
            <a:endParaRPr lang="en-US" sz="2400" dirty="0"/>
          </a:p>
        </p:txBody>
      </p:sp>
      <p:sp>
        <p:nvSpPr>
          <p:cNvPr id="23556" name="Footer Placeholder 3"/>
          <p:cNvSpPr>
            <a:spLocks noGrp="1"/>
          </p:cNvSpPr>
          <p:nvPr>
            <p:ph type="ftr" sz="quarter" idx="11"/>
          </p:nvPr>
        </p:nvSpPr>
        <p:spPr>
          <a:noFill/>
        </p:spPr>
        <p:txBody>
          <a:bodyPr/>
          <a:lstStyle/>
          <a:p>
            <a:r>
              <a:rPr lang="en-US"/>
              <a:t>DataBase Design Course Notes 03 - Normalization</a:t>
            </a:r>
          </a:p>
        </p:txBody>
      </p:sp>
      <p:sp>
        <p:nvSpPr>
          <p:cNvPr id="23557" name="Slide Number Placeholder 4"/>
          <p:cNvSpPr>
            <a:spLocks noGrp="1"/>
          </p:cNvSpPr>
          <p:nvPr>
            <p:ph type="sldNum" sz="quarter" idx="12"/>
          </p:nvPr>
        </p:nvSpPr>
        <p:spPr>
          <a:noFill/>
        </p:spPr>
        <p:txBody>
          <a:bodyPr/>
          <a:lstStyle/>
          <a:p>
            <a:fld id="{FAE7BC2E-B07B-4AC4-B7AB-A626AB75B84F}" type="slidenum">
              <a:rPr lang="en-US" smtClean="0"/>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solidFill>
                  <a:schemeClr val="tx1"/>
                </a:solidFill>
              </a:rPr>
              <a:t>Second Normal Form</a:t>
            </a:r>
          </a:p>
        </p:txBody>
      </p:sp>
      <p:sp>
        <p:nvSpPr>
          <p:cNvPr id="24579" name="Content Placeholder 2"/>
          <p:cNvSpPr>
            <a:spLocks noGrp="1"/>
          </p:cNvSpPr>
          <p:nvPr>
            <p:ph idx="1"/>
          </p:nvPr>
        </p:nvSpPr>
        <p:spPr/>
        <p:txBody>
          <a:bodyPr/>
          <a:lstStyle/>
          <a:p>
            <a:r>
              <a:rPr lang="en-US"/>
              <a:t>entity must be in First Normal Form.</a:t>
            </a:r>
          </a:p>
          <a:p>
            <a:r>
              <a:rPr lang="en-US"/>
              <a:t>each attribute must be a fact describing the entire key</a:t>
            </a:r>
          </a:p>
          <a:p>
            <a:endParaRPr lang="en-US"/>
          </a:p>
          <a:p>
            <a:r>
              <a:rPr lang="en-US"/>
              <a:t>technically relevant only when a composite key (a key composed of two or more columns) exists in the entity</a:t>
            </a:r>
          </a:p>
        </p:txBody>
      </p:sp>
      <p:sp>
        <p:nvSpPr>
          <p:cNvPr id="24580" name="Footer Placeholder 3"/>
          <p:cNvSpPr>
            <a:spLocks noGrp="1"/>
          </p:cNvSpPr>
          <p:nvPr>
            <p:ph type="ftr" sz="quarter" idx="11"/>
          </p:nvPr>
        </p:nvSpPr>
        <p:spPr>
          <a:noFill/>
        </p:spPr>
        <p:txBody>
          <a:bodyPr/>
          <a:lstStyle/>
          <a:p>
            <a:r>
              <a:rPr lang="en-US"/>
              <a:t>DataBase Design Course Notes 03 - Normalization</a:t>
            </a:r>
          </a:p>
        </p:txBody>
      </p:sp>
      <p:sp>
        <p:nvSpPr>
          <p:cNvPr id="24581" name="Slide Number Placeholder 4"/>
          <p:cNvSpPr>
            <a:spLocks noGrp="1"/>
          </p:cNvSpPr>
          <p:nvPr>
            <p:ph type="sldNum" sz="quarter" idx="12"/>
          </p:nvPr>
        </p:nvSpPr>
        <p:spPr>
          <a:noFill/>
        </p:spPr>
        <p:txBody>
          <a:bodyPr/>
          <a:lstStyle/>
          <a:p>
            <a:fld id="{0368DD46-C764-4CDE-A0E8-75B3A113B791}" type="slidenum">
              <a:rPr lang="en-US" smtClean="0"/>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Each non-key attribute must describe entire key</a:t>
            </a:r>
          </a:p>
        </p:txBody>
      </p:sp>
      <p:sp>
        <p:nvSpPr>
          <p:cNvPr id="25603" name="Footer Placeholder 3"/>
          <p:cNvSpPr>
            <a:spLocks noGrp="1"/>
          </p:cNvSpPr>
          <p:nvPr>
            <p:ph type="ftr" sz="quarter" idx="11"/>
          </p:nvPr>
        </p:nvSpPr>
        <p:spPr>
          <a:noFill/>
        </p:spPr>
        <p:txBody>
          <a:bodyPr/>
          <a:lstStyle/>
          <a:p>
            <a:r>
              <a:rPr lang="en-US"/>
              <a:t>DataBase Design Course Notes 03 - Normalization</a:t>
            </a:r>
          </a:p>
        </p:txBody>
      </p:sp>
      <p:sp>
        <p:nvSpPr>
          <p:cNvPr id="25604" name="Slide Number Placeholder 4"/>
          <p:cNvSpPr>
            <a:spLocks noGrp="1"/>
          </p:cNvSpPr>
          <p:nvPr>
            <p:ph type="sldNum" sz="quarter" idx="12"/>
          </p:nvPr>
        </p:nvSpPr>
        <p:spPr>
          <a:noFill/>
        </p:spPr>
        <p:txBody>
          <a:bodyPr/>
          <a:lstStyle/>
          <a:p>
            <a:fld id="{823F2CDD-CD34-463D-B07C-5B355D7FD143}" type="slidenum">
              <a:rPr lang="en-US" smtClean="0"/>
              <a:pPr/>
              <a:t>74</a:t>
            </a:fld>
            <a:endParaRPr lang="en-US"/>
          </a:p>
        </p:txBody>
      </p:sp>
      <p:pic>
        <p:nvPicPr>
          <p:cNvPr id="25605" name="Picture 2"/>
          <p:cNvPicPr>
            <a:picLocks noGrp="1" noChangeAspect="1" noChangeArrowheads="1"/>
          </p:cNvPicPr>
          <p:nvPr>
            <p:ph idx="1"/>
          </p:nvPr>
        </p:nvPicPr>
        <p:blipFill>
          <a:blip r:embed="rId2" cstate="print"/>
          <a:srcRect/>
          <a:stretch>
            <a:fillRect/>
          </a:stretch>
        </p:blipFill>
        <p:spPr>
          <a:xfrm>
            <a:off x="1524000" y="1690688"/>
            <a:ext cx="6356350" cy="4530725"/>
          </a:xfr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defRPr/>
            </a:pPr>
            <a:r>
              <a:rPr lang="en-US" sz="2800" dirty="0" err="1"/>
              <a:t>BookIsbnNumber</a:t>
            </a:r>
            <a:r>
              <a:rPr lang="en-US" sz="2800" dirty="0"/>
              <a:t> attribute uniquely identifies book</a:t>
            </a:r>
          </a:p>
          <a:p>
            <a:pPr>
              <a:defRPr/>
            </a:pPr>
            <a:r>
              <a:rPr lang="en-US" sz="2800" dirty="0" err="1"/>
              <a:t>AuthorSocialSecurityNumber</a:t>
            </a:r>
            <a:r>
              <a:rPr lang="en-US" sz="2800" dirty="0"/>
              <a:t> uniquely identifies author</a:t>
            </a:r>
          </a:p>
          <a:p>
            <a:pPr>
              <a:defRPr/>
            </a:pPr>
            <a:r>
              <a:rPr lang="en-US" sz="2800" dirty="0"/>
              <a:t>two columns create key that uniquely identifies an author for book</a:t>
            </a:r>
          </a:p>
          <a:p>
            <a:pPr>
              <a:defRPr/>
            </a:pPr>
            <a:r>
              <a:rPr lang="en-US" sz="2800" dirty="0" err="1"/>
              <a:t>BookTitle</a:t>
            </a:r>
            <a:r>
              <a:rPr lang="en-US" sz="2800" dirty="0"/>
              <a:t> describes book</a:t>
            </a:r>
          </a:p>
          <a:p>
            <a:pPr lvl="1">
              <a:defRPr/>
            </a:pPr>
            <a:r>
              <a:rPr lang="en-US" sz="2400" dirty="0">
                <a:ea typeface="+mn-ea"/>
                <a:cs typeface="+mn-cs"/>
              </a:rPr>
              <a:t>but doesn’t describe author at all</a:t>
            </a:r>
          </a:p>
          <a:p>
            <a:pPr>
              <a:defRPr/>
            </a:pPr>
            <a:r>
              <a:rPr lang="en-US" sz="2800" dirty="0" err="1"/>
              <a:t>AuthorFirstName</a:t>
            </a:r>
            <a:r>
              <a:rPr lang="en-US" sz="2800" dirty="0"/>
              <a:t> and </a:t>
            </a:r>
            <a:r>
              <a:rPr lang="en-US" sz="2800" dirty="0" err="1"/>
              <a:t>AuthorLastName</a:t>
            </a:r>
            <a:r>
              <a:rPr lang="en-US" sz="2800" dirty="0"/>
              <a:t>, describe author</a:t>
            </a:r>
          </a:p>
          <a:p>
            <a:pPr lvl="1">
              <a:defRPr/>
            </a:pPr>
            <a:r>
              <a:rPr lang="en-US" sz="2400" dirty="0">
                <a:ea typeface="+mn-ea"/>
                <a:cs typeface="+mn-cs"/>
              </a:rPr>
              <a:t>but not book</a:t>
            </a:r>
            <a:endParaRPr lang="en-US" sz="2400" dirty="0"/>
          </a:p>
        </p:txBody>
      </p:sp>
      <p:sp>
        <p:nvSpPr>
          <p:cNvPr id="26628" name="Footer Placeholder 3"/>
          <p:cNvSpPr>
            <a:spLocks noGrp="1"/>
          </p:cNvSpPr>
          <p:nvPr>
            <p:ph type="ftr" sz="quarter" idx="11"/>
          </p:nvPr>
        </p:nvSpPr>
        <p:spPr>
          <a:noFill/>
        </p:spPr>
        <p:txBody>
          <a:bodyPr/>
          <a:lstStyle/>
          <a:p>
            <a:r>
              <a:rPr lang="en-US"/>
              <a:t>DataBase Design Course Notes 03 - Normalization</a:t>
            </a:r>
          </a:p>
        </p:txBody>
      </p:sp>
      <p:sp>
        <p:nvSpPr>
          <p:cNvPr id="26629" name="Slide Number Placeholder 4"/>
          <p:cNvSpPr>
            <a:spLocks noGrp="1"/>
          </p:cNvSpPr>
          <p:nvPr>
            <p:ph type="sldNum" sz="quarter" idx="12"/>
          </p:nvPr>
        </p:nvSpPr>
        <p:spPr>
          <a:noFill/>
        </p:spPr>
        <p:txBody>
          <a:bodyPr/>
          <a:lstStyle/>
          <a:p>
            <a:fld id="{981B8E14-3A11-416D-94F3-D9D8885A9E89}" type="slidenum">
              <a:rPr lang="en-US" smtClean="0"/>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endParaRPr lang="en-US"/>
          </a:p>
        </p:txBody>
      </p:sp>
      <p:sp>
        <p:nvSpPr>
          <p:cNvPr id="27651" name="Content Placeholder 2"/>
          <p:cNvSpPr>
            <a:spLocks noGrp="1"/>
          </p:cNvSpPr>
          <p:nvPr>
            <p:ph idx="1"/>
          </p:nvPr>
        </p:nvSpPr>
        <p:spPr/>
        <p:txBody>
          <a:bodyPr/>
          <a:lstStyle/>
          <a:p>
            <a:r>
              <a:rPr lang="en-US"/>
              <a:t>BookIsbnNumber </a:t>
            </a:r>
            <a:r>
              <a:rPr lang="en-US">
                <a:sym typeface="Symbol" pitchFamily="18" charset="2"/>
              </a:rPr>
              <a:t> </a:t>
            </a:r>
            <a:r>
              <a:rPr lang="en-US"/>
              <a:t>BookTitle </a:t>
            </a:r>
          </a:p>
          <a:p>
            <a:r>
              <a:rPr lang="en-US"/>
              <a:t>AuthorSocialSecurityNumber </a:t>
            </a:r>
            <a:r>
              <a:rPr lang="en-US">
                <a:sym typeface="Symbol" pitchFamily="18" charset="2"/>
              </a:rPr>
              <a:t> </a:t>
            </a:r>
            <a:r>
              <a:rPr lang="en-US"/>
              <a:t>AuthorFirstName</a:t>
            </a:r>
          </a:p>
          <a:p>
            <a:r>
              <a:rPr lang="en-US"/>
              <a:t>AuthorSocialSecurityNumber </a:t>
            </a:r>
            <a:r>
              <a:rPr lang="en-US">
                <a:sym typeface="Symbol" pitchFamily="18" charset="2"/>
              </a:rPr>
              <a:t> </a:t>
            </a:r>
            <a:r>
              <a:rPr lang="en-US"/>
              <a:t>AuthorLastName</a:t>
            </a:r>
          </a:p>
          <a:p>
            <a:r>
              <a:rPr lang="en-US"/>
              <a:t>BookIsbnNumber, AuthorSocialSecurityNumber </a:t>
            </a:r>
            <a:r>
              <a:rPr lang="en-US">
                <a:sym typeface="Symbol" pitchFamily="18" charset="2"/>
              </a:rPr>
              <a:t> RoyaltyPercentage</a:t>
            </a:r>
          </a:p>
        </p:txBody>
      </p:sp>
      <p:sp>
        <p:nvSpPr>
          <p:cNvPr id="27652" name="Footer Placeholder 3"/>
          <p:cNvSpPr>
            <a:spLocks noGrp="1"/>
          </p:cNvSpPr>
          <p:nvPr>
            <p:ph type="ftr" sz="quarter" idx="11"/>
          </p:nvPr>
        </p:nvSpPr>
        <p:spPr>
          <a:noFill/>
        </p:spPr>
        <p:txBody>
          <a:bodyPr/>
          <a:lstStyle/>
          <a:p>
            <a:r>
              <a:rPr lang="en-US"/>
              <a:t>DataBase Design Course Notes 03 - Normalization</a:t>
            </a:r>
          </a:p>
        </p:txBody>
      </p:sp>
      <p:sp>
        <p:nvSpPr>
          <p:cNvPr id="27653" name="Slide Number Placeholder 4"/>
          <p:cNvSpPr>
            <a:spLocks noGrp="1"/>
          </p:cNvSpPr>
          <p:nvPr>
            <p:ph type="sldNum" sz="quarter" idx="12"/>
          </p:nvPr>
        </p:nvSpPr>
        <p:spPr>
          <a:noFill/>
        </p:spPr>
        <p:txBody>
          <a:bodyPr/>
          <a:lstStyle/>
          <a:p>
            <a:fld id="{BBA5572F-FABA-4261-89B5-FFB5F1D72CD2}" type="slidenum">
              <a:rPr lang="en-US" smtClean="0"/>
              <a:p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endParaRPr lang="en-US"/>
          </a:p>
        </p:txBody>
      </p:sp>
      <p:sp>
        <p:nvSpPr>
          <p:cNvPr id="28675" name="Footer Placeholder 3"/>
          <p:cNvSpPr>
            <a:spLocks noGrp="1"/>
          </p:cNvSpPr>
          <p:nvPr>
            <p:ph type="ftr" sz="quarter" idx="11"/>
          </p:nvPr>
        </p:nvSpPr>
        <p:spPr>
          <a:noFill/>
        </p:spPr>
        <p:txBody>
          <a:bodyPr/>
          <a:lstStyle/>
          <a:p>
            <a:r>
              <a:rPr lang="en-US"/>
              <a:t>DataBase Design Course Notes 03 - Normalization</a:t>
            </a:r>
          </a:p>
        </p:txBody>
      </p:sp>
      <p:sp>
        <p:nvSpPr>
          <p:cNvPr id="28676" name="Slide Number Placeholder 4"/>
          <p:cNvSpPr>
            <a:spLocks noGrp="1"/>
          </p:cNvSpPr>
          <p:nvPr>
            <p:ph type="sldNum" sz="quarter" idx="12"/>
          </p:nvPr>
        </p:nvSpPr>
        <p:spPr>
          <a:noFill/>
        </p:spPr>
        <p:txBody>
          <a:bodyPr/>
          <a:lstStyle/>
          <a:p>
            <a:fld id="{7D8333DA-5CEA-4737-AAC2-9D24BB794299}" type="slidenum">
              <a:rPr lang="en-US" smtClean="0"/>
              <a:pPr/>
              <a:t>77</a:t>
            </a:fld>
            <a:endParaRPr lang="en-US"/>
          </a:p>
        </p:txBody>
      </p:sp>
      <p:pic>
        <p:nvPicPr>
          <p:cNvPr id="28677" name="Picture 2"/>
          <p:cNvPicPr>
            <a:picLocks noGrp="1" noChangeArrowheads="1"/>
          </p:cNvPicPr>
          <p:nvPr>
            <p:ph idx="1"/>
          </p:nvPr>
        </p:nvPicPr>
        <p:blipFill>
          <a:blip r:embed="rId2" cstate="print"/>
          <a:srcRect/>
          <a:stretch>
            <a:fillRect/>
          </a:stretch>
        </p:blipFill>
        <p:spPr>
          <a:xfrm>
            <a:off x="457200" y="1676400"/>
            <a:ext cx="8102600" cy="4081463"/>
          </a:xfr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solidFill>
                  <a:schemeClr val="tx1"/>
                </a:solidFill>
              </a:rPr>
              <a:t>Programming problems avoided</a:t>
            </a:r>
            <a:endParaRPr lang="en-US" sz="3200"/>
          </a:p>
        </p:txBody>
      </p:sp>
      <p:sp>
        <p:nvSpPr>
          <p:cNvPr id="29699" name="Content Placeholder 2"/>
          <p:cNvSpPr>
            <a:spLocks noGrp="1"/>
          </p:cNvSpPr>
          <p:nvPr>
            <p:ph idx="1"/>
          </p:nvPr>
        </p:nvSpPr>
        <p:spPr/>
        <p:txBody>
          <a:bodyPr/>
          <a:lstStyle/>
          <a:p>
            <a:r>
              <a:rPr lang="en-US"/>
              <a:t>all programming issues that arise with Second Normal Form (as well as Third and Boyce-Codd Normal Forms) deal with functional dependencies that can end up corrupting data</a:t>
            </a:r>
          </a:p>
        </p:txBody>
      </p:sp>
      <p:sp>
        <p:nvSpPr>
          <p:cNvPr id="29700" name="Footer Placeholder 3"/>
          <p:cNvSpPr>
            <a:spLocks noGrp="1"/>
          </p:cNvSpPr>
          <p:nvPr>
            <p:ph type="ftr" sz="quarter" idx="11"/>
          </p:nvPr>
        </p:nvSpPr>
        <p:spPr>
          <a:noFill/>
        </p:spPr>
        <p:txBody>
          <a:bodyPr/>
          <a:lstStyle/>
          <a:p>
            <a:r>
              <a:rPr lang="en-US"/>
              <a:t>DataBase Design Course Notes 03 - Normalization</a:t>
            </a:r>
          </a:p>
        </p:txBody>
      </p:sp>
      <p:sp>
        <p:nvSpPr>
          <p:cNvPr id="29701" name="Slide Number Placeholder 4"/>
          <p:cNvSpPr>
            <a:spLocks noGrp="1"/>
          </p:cNvSpPr>
          <p:nvPr>
            <p:ph type="sldNum" sz="quarter" idx="12"/>
          </p:nvPr>
        </p:nvSpPr>
        <p:spPr>
          <a:noFill/>
        </p:spPr>
        <p:txBody>
          <a:bodyPr/>
          <a:lstStyle/>
          <a:p>
            <a:fld id="{6B4466CB-6B5B-456E-A6DF-FA9186DC9471}"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endParaRPr lang="en-US"/>
          </a:p>
        </p:txBody>
      </p:sp>
      <p:sp>
        <p:nvSpPr>
          <p:cNvPr id="30723" name="Footer Placeholder 3"/>
          <p:cNvSpPr>
            <a:spLocks noGrp="1"/>
          </p:cNvSpPr>
          <p:nvPr>
            <p:ph type="ftr" sz="quarter" idx="11"/>
          </p:nvPr>
        </p:nvSpPr>
        <p:spPr>
          <a:noFill/>
        </p:spPr>
        <p:txBody>
          <a:bodyPr/>
          <a:lstStyle/>
          <a:p>
            <a:r>
              <a:rPr lang="en-US"/>
              <a:t>DataBase Design Course Notes 03 - Normalization</a:t>
            </a:r>
          </a:p>
        </p:txBody>
      </p:sp>
      <p:sp>
        <p:nvSpPr>
          <p:cNvPr id="30724" name="Slide Number Placeholder 4"/>
          <p:cNvSpPr>
            <a:spLocks noGrp="1"/>
          </p:cNvSpPr>
          <p:nvPr>
            <p:ph type="sldNum" sz="quarter" idx="12"/>
          </p:nvPr>
        </p:nvSpPr>
        <p:spPr>
          <a:noFill/>
        </p:spPr>
        <p:txBody>
          <a:bodyPr/>
          <a:lstStyle/>
          <a:p>
            <a:fld id="{F5BF3B08-3437-4094-BCB2-5625A2C2A838}" type="slidenum">
              <a:rPr lang="en-US" smtClean="0"/>
              <a:pPr/>
              <a:t>79</a:t>
            </a:fld>
            <a:endParaRPr lang="en-US"/>
          </a:p>
        </p:txBody>
      </p:sp>
      <p:pic>
        <p:nvPicPr>
          <p:cNvPr id="30725" name="Picture 2"/>
          <p:cNvPicPr>
            <a:picLocks noGrp="1" noChangeArrowheads="1"/>
          </p:cNvPicPr>
          <p:nvPr>
            <p:ph idx="1"/>
          </p:nvPr>
        </p:nvPicPr>
        <p:blipFill>
          <a:blip r:embed="rId2" cstate="print"/>
          <a:srcRect/>
          <a:stretch>
            <a:fillRect/>
          </a:stretch>
        </p:blipFill>
        <p:spPr>
          <a:xfrm>
            <a:off x="533400" y="1524000"/>
            <a:ext cx="7961313" cy="4598988"/>
          </a:xfr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endParaRPr lang="en-US"/>
          </a:p>
        </p:txBody>
      </p:sp>
      <p:sp>
        <p:nvSpPr>
          <p:cNvPr id="31747" name="Content Placeholder 2"/>
          <p:cNvSpPr>
            <a:spLocks noGrp="1"/>
          </p:cNvSpPr>
          <p:nvPr>
            <p:ph idx="1"/>
          </p:nvPr>
        </p:nvSpPr>
        <p:spPr/>
        <p:txBody>
          <a:bodyPr/>
          <a:lstStyle/>
          <a:p>
            <a:r>
              <a:rPr lang="en-US"/>
              <a:t>same author’s information would have to be duplicated amongst all books</a:t>
            </a:r>
          </a:p>
          <a:p>
            <a:r>
              <a:rPr lang="en-US"/>
              <a:t>cannot delete only book and keep author around</a:t>
            </a:r>
          </a:p>
          <a:p>
            <a:r>
              <a:rPr lang="it-IT"/>
              <a:t>cannot insert only author whitout book</a:t>
            </a:r>
          </a:p>
        </p:txBody>
      </p:sp>
      <p:sp>
        <p:nvSpPr>
          <p:cNvPr id="31748" name="Footer Placeholder 3"/>
          <p:cNvSpPr>
            <a:spLocks noGrp="1"/>
          </p:cNvSpPr>
          <p:nvPr>
            <p:ph type="ftr" sz="quarter" idx="11"/>
          </p:nvPr>
        </p:nvSpPr>
        <p:spPr>
          <a:noFill/>
        </p:spPr>
        <p:txBody>
          <a:bodyPr/>
          <a:lstStyle/>
          <a:p>
            <a:r>
              <a:rPr lang="en-US"/>
              <a:t>DataBase Design Course Notes 03 - Normalization</a:t>
            </a:r>
          </a:p>
        </p:txBody>
      </p:sp>
      <p:sp>
        <p:nvSpPr>
          <p:cNvPr id="31749" name="Slide Number Placeholder 4"/>
          <p:cNvSpPr>
            <a:spLocks noGrp="1"/>
          </p:cNvSpPr>
          <p:nvPr>
            <p:ph type="sldNum" sz="quarter" idx="12"/>
          </p:nvPr>
        </p:nvSpPr>
        <p:spPr>
          <a:noFill/>
        </p:spPr>
        <p:txBody>
          <a:bodyPr/>
          <a:lstStyle/>
          <a:p>
            <a:fld id="{D0B50BFB-F054-4F34-958C-5B77C7ECAD9C}"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it-IT"/>
              <a:t>Annomalies</a:t>
            </a:r>
            <a:endParaRPr lang="en-US"/>
          </a:p>
        </p:txBody>
      </p:sp>
      <p:sp>
        <p:nvSpPr>
          <p:cNvPr id="32771" name="Content Placeholder 2"/>
          <p:cNvSpPr>
            <a:spLocks noGrp="1"/>
          </p:cNvSpPr>
          <p:nvPr>
            <p:ph idx="1"/>
          </p:nvPr>
        </p:nvSpPr>
        <p:spPr/>
        <p:txBody>
          <a:bodyPr/>
          <a:lstStyle/>
          <a:p>
            <a:r>
              <a:rPr lang="it-IT"/>
              <a:t>UPDATE</a:t>
            </a:r>
          </a:p>
          <a:p>
            <a:pPr lvl="1"/>
            <a:r>
              <a:rPr lang="it-IT"/>
              <a:t>duplicate date, have to update multiple rows</a:t>
            </a:r>
          </a:p>
          <a:p>
            <a:r>
              <a:rPr lang="it-IT"/>
              <a:t>INSERT</a:t>
            </a:r>
          </a:p>
          <a:p>
            <a:pPr lvl="1"/>
            <a:r>
              <a:rPr lang="it-IT"/>
              <a:t>cannot insert data for an entity whitout relationship to any other entity</a:t>
            </a:r>
          </a:p>
          <a:p>
            <a:r>
              <a:rPr lang="it-IT"/>
              <a:t>DELETE</a:t>
            </a:r>
          </a:p>
          <a:p>
            <a:pPr lvl="1"/>
            <a:r>
              <a:rPr lang="it-IT"/>
              <a:t>cannot delete data for an entity whitout risk of looseing info. about related entity  </a:t>
            </a:r>
            <a:endParaRPr lang="en-US"/>
          </a:p>
        </p:txBody>
      </p:sp>
      <p:sp>
        <p:nvSpPr>
          <p:cNvPr id="32772" name="Footer Placeholder 3"/>
          <p:cNvSpPr>
            <a:spLocks noGrp="1"/>
          </p:cNvSpPr>
          <p:nvPr>
            <p:ph type="ftr" sz="quarter" idx="11"/>
          </p:nvPr>
        </p:nvSpPr>
        <p:spPr>
          <a:noFill/>
        </p:spPr>
        <p:txBody>
          <a:bodyPr/>
          <a:lstStyle/>
          <a:p>
            <a:r>
              <a:rPr lang="en-US"/>
              <a:t>DataBase Design Course Notes 03 - Normalization</a:t>
            </a:r>
          </a:p>
        </p:txBody>
      </p:sp>
      <p:sp>
        <p:nvSpPr>
          <p:cNvPr id="32773" name="Slide Number Placeholder 4"/>
          <p:cNvSpPr>
            <a:spLocks noGrp="1"/>
          </p:cNvSpPr>
          <p:nvPr>
            <p:ph type="sldNum" sz="quarter" idx="12"/>
          </p:nvPr>
        </p:nvSpPr>
        <p:spPr>
          <a:noFill/>
        </p:spPr>
        <p:txBody>
          <a:bodyPr/>
          <a:lstStyle/>
          <a:p>
            <a:fld id="{23484F68-F07D-4C79-BF08-C31A6E12CF65}" type="slidenum">
              <a:rPr lang="en-US" smtClean="0"/>
              <a:p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533400" y="381000"/>
            <a:ext cx="8229600" cy="1143000"/>
          </a:xfrm>
        </p:spPr>
        <p:txBody>
          <a:bodyPr/>
          <a:lstStyle/>
          <a:p>
            <a:r>
              <a:rPr lang="en-US">
                <a:solidFill>
                  <a:schemeClr val="tx1"/>
                </a:solidFill>
              </a:rPr>
              <a:t>Clues that entity is not in Second Normal Form</a:t>
            </a:r>
            <a:endParaRPr lang="en-US" sz="3200"/>
          </a:p>
        </p:txBody>
      </p:sp>
      <p:sp>
        <p:nvSpPr>
          <p:cNvPr id="33795" name="Content Placeholder 2"/>
          <p:cNvSpPr>
            <a:spLocks noGrp="1"/>
          </p:cNvSpPr>
          <p:nvPr>
            <p:ph idx="1"/>
          </p:nvPr>
        </p:nvSpPr>
        <p:spPr/>
        <p:txBody>
          <a:bodyPr/>
          <a:lstStyle/>
          <a:p>
            <a:r>
              <a:rPr lang="en-US"/>
              <a:t>repeating key attribute name prefixes, indicating that values are probably describing some additional entity</a:t>
            </a:r>
          </a:p>
          <a:p>
            <a:r>
              <a:rPr lang="en-US"/>
              <a:t>data in repeating groups, showing signs of functional dependencies between attributes</a:t>
            </a:r>
          </a:p>
          <a:p>
            <a:r>
              <a:rPr lang="en-US"/>
              <a:t>composite keys without foreign key, which might be sign you have key values that identify multiple things in key</a:t>
            </a:r>
          </a:p>
        </p:txBody>
      </p:sp>
      <p:sp>
        <p:nvSpPr>
          <p:cNvPr id="33796" name="Footer Placeholder 3"/>
          <p:cNvSpPr>
            <a:spLocks noGrp="1"/>
          </p:cNvSpPr>
          <p:nvPr>
            <p:ph type="ftr" sz="quarter" idx="11"/>
          </p:nvPr>
        </p:nvSpPr>
        <p:spPr>
          <a:noFill/>
        </p:spPr>
        <p:txBody>
          <a:bodyPr/>
          <a:lstStyle/>
          <a:p>
            <a:r>
              <a:rPr lang="en-US"/>
              <a:t>DataBase Design Course Notes 03 - Normalization</a:t>
            </a:r>
          </a:p>
        </p:txBody>
      </p:sp>
      <p:sp>
        <p:nvSpPr>
          <p:cNvPr id="33797" name="Slide Number Placeholder 4"/>
          <p:cNvSpPr>
            <a:spLocks noGrp="1"/>
          </p:cNvSpPr>
          <p:nvPr>
            <p:ph type="sldNum" sz="quarter" idx="12"/>
          </p:nvPr>
        </p:nvSpPr>
        <p:spPr>
          <a:noFill/>
        </p:spPr>
        <p:txBody>
          <a:bodyPr/>
          <a:lstStyle/>
          <a:p>
            <a:fld id="{C6FE3F76-2365-416D-AAEA-3E89E7FA2646}" type="slidenum">
              <a:rPr lang="en-US" smtClean="0"/>
              <a:pPr/>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solidFill>
                  <a:schemeClr val="tx1"/>
                </a:solidFill>
              </a:rPr>
              <a:t>Third Normal Form</a:t>
            </a:r>
            <a:endParaRPr lang="en-US" sz="3200"/>
          </a:p>
        </p:txBody>
      </p:sp>
      <p:sp>
        <p:nvSpPr>
          <p:cNvPr id="34819" name="Content Placeholder 2"/>
          <p:cNvSpPr>
            <a:spLocks noGrp="1"/>
          </p:cNvSpPr>
          <p:nvPr>
            <p:ph idx="1"/>
          </p:nvPr>
        </p:nvSpPr>
        <p:spPr/>
        <p:txBody>
          <a:bodyPr/>
          <a:lstStyle/>
          <a:p>
            <a:r>
              <a:rPr lang="en-US"/>
              <a:t>entity must be in Second Normal Form.</a:t>
            </a:r>
          </a:p>
          <a:p>
            <a:r>
              <a:rPr lang="en-US"/>
              <a:t>non-key attributes cannot describe other non-key attributes</a:t>
            </a:r>
          </a:p>
        </p:txBody>
      </p:sp>
      <p:sp>
        <p:nvSpPr>
          <p:cNvPr id="34820" name="Footer Placeholder 3"/>
          <p:cNvSpPr>
            <a:spLocks noGrp="1"/>
          </p:cNvSpPr>
          <p:nvPr>
            <p:ph type="ftr" sz="quarter" idx="11"/>
          </p:nvPr>
        </p:nvSpPr>
        <p:spPr>
          <a:noFill/>
        </p:spPr>
        <p:txBody>
          <a:bodyPr/>
          <a:lstStyle/>
          <a:p>
            <a:r>
              <a:rPr lang="en-US"/>
              <a:t>DataBase Design Course Notes 03 - Normalization</a:t>
            </a:r>
          </a:p>
        </p:txBody>
      </p:sp>
      <p:sp>
        <p:nvSpPr>
          <p:cNvPr id="34821" name="Slide Number Placeholder 4"/>
          <p:cNvSpPr>
            <a:spLocks noGrp="1"/>
          </p:cNvSpPr>
          <p:nvPr>
            <p:ph type="sldNum" sz="quarter" idx="12"/>
          </p:nvPr>
        </p:nvSpPr>
        <p:spPr>
          <a:noFill/>
        </p:spPr>
        <p:txBody>
          <a:bodyPr/>
          <a:lstStyle/>
          <a:p>
            <a:fld id="{632F10C5-9CA2-4D96-8B8A-86298585CB13}" type="slidenum">
              <a:rPr lang="en-US" smtClean="0"/>
              <a:pPr/>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sz="4000">
                <a:solidFill>
                  <a:schemeClr val="tx1"/>
                </a:solidFill>
              </a:rPr>
              <a:t>non-key attributes cannot describe other non-key attributes</a:t>
            </a:r>
            <a:endParaRPr lang="en-US" sz="2800"/>
          </a:p>
        </p:txBody>
      </p:sp>
      <p:sp>
        <p:nvSpPr>
          <p:cNvPr id="35843" name="Footer Placeholder 3"/>
          <p:cNvSpPr>
            <a:spLocks noGrp="1"/>
          </p:cNvSpPr>
          <p:nvPr>
            <p:ph type="ftr" sz="quarter" idx="11"/>
          </p:nvPr>
        </p:nvSpPr>
        <p:spPr>
          <a:noFill/>
        </p:spPr>
        <p:txBody>
          <a:bodyPr/>
          <a:lstStyle/>
          <a:p>
            <a:r>
              <a:rPr lang="en-US"/>
              <a:t>DataBase Design Course Notes 03 - Normalization</a:t>
            </a:r>
          </a:p>
        </p:txBody>
      </p:sp>
      <p:sp>
        <p:nvSpPr>
          <p:cNvPr id="35844" name="Slide Number Placeholder 4"/>
          <p:cNvSpPr>
            <a:spLocks noGrp="1"/>
          </p:cNvSpPr>
          <p:nvPr>
            <p:ph type="sldNum" sz="quarter" idx="12"/>
          </p:nvPr>
        </p:nvSpPr>
        <p:spPr>
          <a:noFill/>
        </p:spPr>
        <p:txBody>
          <a:bodyPr/>
          <a:lstStyle/>
          <a:p>
            <a:fld id="{AB55AED0-72E8-4D7E-8B06-B24640936489}" type="slidenum">
              <a:rPr lang="en-US" smtClean="0"/>
              <a:pPr/>
              <a:t>84</a:t>
            </a:fld>
            <a:endParaRPr lang="en-US"/>
          </a:p>
        </p:txBody>
      </p:sp>
      <p:pic>
        <p:nvPicPr>
          <p:cNvPr id="35845" name="Picture 2"/>
          <p:cNvPicPr>
            <a:picLocks noGrp="1" noChangeArrowheads="1"/>
          </p:cNvPicPr>
          <p:nvPr>
            <p:ph idx="1"/>
          </p:nvPr>
        </p:nvPicPr>
        <p:blipFill>
          <a:blip r:embed="rId2" cstate="print"/>
          <a:srcRect/>
          <a:stretch>
            <a:fillRect/>
          </a:stretch>
        </p:blipFill>
        <p:spPr>
          <a:xfrm>
            <a:off x="914400" y="1752600"/>
            <a:ext cx="7580313" cy="4114800"/>
          </a:xfr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endParaRPr lang="en-US"/>
          </a:p>
        </p:txBody>
      </p:sp>
      <p:sp>
        <p:nvSpPr>
          <p:cNvPr id="36867" name="Content Placeholder 2"/>
          <p:cNvSpPr>
            <a:spLocks noGrp="1"/>
          </p:cNvSpPr>
          <p:nvPr>
            <p:ph idx="1"/>
          </p:nvPr>
        </p:nvSpPr>
        <p:spPr/>
        <p:txBody>
          <a:bodyPr/>
          <a:lstStyle/>
          <a:p>
            <a:r>
              <a:rPr lang="en-US" sz="2800"/>
              <a:t>Title defines title for the book defined by BookIsbnNumber</a:t>
            </a:r>
          </a:p>
          <a:p>
            <a:r>
              <a:rPr lang="en-US" sz="2800"/>
              <a:t>Price indicates price of the book</a:t>
            </a:r>
          </a:p>
          <a:p>
            <a:r>
              <a:rPr lang="en-US" sz="2800"/>
              <a:t>PublisherName describes the book’s publisher</a:t>
            </a:r>
          </a:p>
          <a:p>
            <a:r>
              <a:rPr lang="en-US" sz="2800"/>
              <a:t>PublisherCity also sort of describes something about the book, in that it tells where the publisher was located</a:t>
            </a:r>
          </a:p>
          <a:p>
            <a:r>
              <a:rPr lang="en-US" sz="2800"/>
              <a:t>doesn’t make sense in this context, because location of publisher is directly dependent on what publisher is represented by PublisherName</a:t>
            </a:r>
          </a:p>
        </p:txBody>
      </p:sp>
      <p:sp>
        <p:nvSpPr>
          <p:cNvPr id="36868" name="Footer Placeholder 3"/>
          <p:cNvSpPr>
            <a:spLocks noGrp="1"/>
          </p:cNvSpPr>
          <p:nvPr>
            <p:ph type="ftr" sz="quarter" idx="11"/>
          </p:nvPr>
        </p:nvSpPr>
        <p:spPr>
          <a:noFill/>
        </p:spPr>
        <p:txBody>
          <a:bodyPr/>
          <a:lstStyle/>
          <a:p>
            <a:r>
              <a:rPr lang="en-US"/>
              <a:t>DataBase Design Course Notes 03 - Normalization</a:t>
            </a:r>
          </a:p>
        </p:txBody>
      </p:sp>
      <p:sp>
        <p:nvSpPr>
          <p:cNvPr id="36869" name="Slide Number Placeholder 4"/>
          <p:cNvSpPr>
            <a:spLocks noGrp="1"/>
          </p:cNvSpPr>
          <p:nvPr>
            <p:ph type="sldNum" sz="quarter" idx="12"/>
          </p:nvPr>
        </p:nvSpPr>
        <p:spPr>
          <a:noFill/>
        </p:spPr>
        <p:txBody>
          <a:bodyPr/>
          <a:lstStyle/>
          <a:p>
            <a:fld id="{E23C9417-3B2A-442B-BA6B-7B97504771B9}" type="slidenum">
              <a:rPr lang="en-US" smtClean="0"/>
              <a:pPr/>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endParaRPr lang="en-US"/>
          </a:p>
        </p:txBody>
      </p:sp>
      <p:sp>
        <p:nvSpPr>
          <p:cNvPr id="37891" name="Footer Placeholder 3"/>
          <p:cNvSpPr>
            <a:spLocks noGrp="1"/>
          </p:cNvSpPr>
          <p:nvPr>
            <p:ph type="ftr" sz="quarter" idx="11"/>
          </p:nvPr>
        </p:nvSpPr>
        <p:spPr>
          <a:noFill/>
        </p:spPr>
        <p:txBody>
          <a:bodyPr/>
          <a:lstStyle/>
          <a:p>
            <a:r>
              <a:rPr lang="en-US"/>
              <a:t>DataBase Design Course Notes 03 - Normalization</a:t>
            </a:r>
          </a:p>
        </p:txBody>
      </p:sp>
      <p:sp>
        <p:nvSpPr>
          <p:cNvPr id="37892" name="Slide Number Placeholder 4"/>
          <p:cNvSpPr>
            <a:spLocks noGrp="1"/>
          </p:cNvSpPr>
          <p:nvPr>
            <p:ph type="sldNum" sz="quarter" idx="12"/>
          </p:nvPr>
        </p:nvSpPr>
        <p:spPr>
          <a:noFill/>
        </p:spPr>
        <p:txBody>
          <a:bodyPr/>
          <a:lstStyle/>
          <a:p>
            <a:fld id="{EF8B6023-4C0F-4B97-8209-39F68E6BB14A}" type="slidenum">
              <a:rPr lang="en-US" smtClean="0"/>
              <a:pPr/>
              <a:t>86</a:t>
            </a:fld>
            <a:endParaRPr lang="en-US"/>
          </a:p>
        </p:txBody>
      </p:sp>
      <p:pic>
        <p:nvPicPr>
          <p:cNvPr id="37893" name="Picture 2"/>
          <p:cNvPicPr>
            <a:picLocks noGrp="1" noChangeArrowheads="1"/>
          </p:cNvPicPr>
          <p:nvPr>
            <p:ph idx="1"/>
          </p:nvPr>
        </p:nvPicPr>
        <p:blipFill>
          <a:blip r:embed="rId2" cstate="print"/>
          <a:srcRect/>
          <a:stretch>
            <a:fillRect/>
          </a:stretch>
        </p:blipFill>
        <p:spPr>
          <a:xfrm>
            <a:off x="533400" y="1981200"/>
            <a:ext cx="8094663" cy="4051300"/>
          </a:xfr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defRPr/>
            </a:pPr>
            <a:r>
              <a:rPr lang="en-US" dirty="0"/>
              <a:t>Publisher entity has data concerning only publisher</a:t>
            </a:r>
          </a:p>
          <a:p>
            <a:pPr>
              <a:defRPr/>
            </a:pPr>
            <a:r>
              <a:rPr lang="en-US" dirty="0"/>
              <a:t>Book entity has book information</a:t>
            </a:r>
          </a:p>
          <a:p>
            <a:pPr lvl="1">
              <a:defRPr/>
            </a:pPr>
            <a:r>
              <a:rPr lang="en-US" dirty="0">
                <a:ea typeface="+mn-ea"/>
                <a:cs typeface="+mn-cs"/>
              </a:rPr>
              <a:t>now if we want to add information to our schema concerning the publisher, contact information or address, it’s obvious where we add that information</a:t>
            </a:r>
          </a:p>
          <a:p>
            <a:pPr>
              <a:defRPr/>
            </a:pPr>
            <a:r>
              <a:rPr lang="en-US" dirty="0"/>
              <a:t>City attribute clearly identifying publisher</a:t>
            </a:r>
          </a:p>
          <a:p>
            <a:pPr lvl="1">
              <a:defRPr/>
            </a:pPr>
            <a:r>
              <a:rPr lang="en-US" dirty="0">
                <a:ea typeface="+mn-ea"/>
                <a:cs typeface="+mn-cs"/>
              </a:rPr>
              <a:t>not the book</a:t>
            </a:r>
            <a:endParaRPr lang="en-US" dirty="0"/>
          </a:p>
        </p:txBody>
      </p:sp>
      <p:sp>
        <p:nvSpPr>
          <p:cNvPr id="38916" name="Footer Placeholder 3"/>
          <p:cNvSpPr>
            <a:spLocks noGrp="1"/>
          </p:cNvSpPr>
          <p:nvPr>
            <p:ph type="ftr" sz="quarter" idx="11"/>
          </p:nvPr>
        </p:nvSpPr>
        <p:spPr>
          <a:noFill/>
        </p:spPr>
        <p:txBody>
          <a:bodyPr/>
          <a:lstStyle/>
          <a:p>
            <a:r>
              <a:rPr lang="en-US"/>
              <a:t>DataBase Design Course Notes 03 - Normalization</a:t>
            </a:r>
          </a:p>
        </p:txBody>
      </p:sp>
      <p:sp>
        <p:nvSpPr>
          <p:cNvPr id="38917" name="Slide Number Placeholder 4"/>
          <p:cNvSpPr>
            <a:spLocks noGrp="1"/>
          </p:cNvSpPr>
          <p:nvPr>
            <p:ph type="sldNum" sz="quarter" idx="12"/>
          </p:nvPr>
        </p:nvSpPr>
        <p:spPr>
          <a:noFill/>
        </p:spPr>
        <p:txBody>
          <a:bodyPr/>
          <a:lstStyle/>
          <a:p>
            <a:fld id="{1656DC87-F598-4E80-9A04-C7BEE7A60195}" type="slidenum">
              <a:rPr lang="en-US" smtClean="0"/>
              <a:pPr/>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solidFill>
                  <a:schemeClr val="tx1"/>
                </a:solidFill>
              </a:rPr>
              <a:t>Clues that entities are not in Third Normal Form</a:t>
            </a:r>
            <a:endParaRPr lang="en-US" sz="3200"/>
          </a:p>
        </p:txBody>
      </p:sp>
      <p:sp>
        <p:nvSpPr>
          <p:cNvPr id="3" name="Content Placeholder 2"/>
          <p:cNvSpPr>
            <a:spLocks noGrp="1"/>
          </p:cNvSpPr>
          <p:nvPr>
            <p:ph idx="1"/>
          </p:nvPr>
        </p:nvSpPr>
        <p:spPr/>
        <p:txBody>
          <a:bodyPr/>
          <a:lstStyle/>
          <a:p>
            <a:pPr>
              <a:defRPr/>
            </a:pPr>
            <a:r>
              <a:rPr lang="en-US" dirty="0"/>
              <a:t>multiple attributes with same prefix</a:t>
            </a:r>
          </a:p>
          <a:p>
            <a:pPr lvl="1">
              <a:defRPr/>
            </a:pPr>
            <a:r>
              <a:rPr lang="en-US" dirty="0">
                <a:ea typeface="+mn-ea"/>
                <a:cs typeface="+mn-cs"/>
              </a:rPr>
              <a:t>much like Second Normal Form, only this time not in the key</a:t>
            </a:r>
          </a:p>
          <a:p>
            <a:pPr>
              <a:defRPr/>
            </a:pPr>
            <a:r>
              <a:rPr lang="en-US" dirty="0"/>
              <a:t>repeating groups of data</a:t>
            </a:r>
          </a:p>
          <a:p>
            <a:pPr>
              <a:defRPr/>
            </a:pPr>
            <a:r>
              <a:rPr lang="en-US" dirty="0"/>
              <a:t>summary data that refers to data in a different entity altogether</a:t>
            </a:r>
          </a:p>
          <a:p>
            <a:pPr lvl="1">
              <a:defRPr/>
            </a:pPr>
            <a:r>
              <a:rPr lang="en-US" dirty="0"/>
              <a:t>Price in Invoice as SUM</a:t>
            </a:r>
            <a:r>
              <a:rPr lang="it-IT" dirty="0"/>
              <a:t>(Quantity*ProductCost) from LineItems</a:t>
            </a:r>
            <a:endParaRPr lang="en-US" dirty="0"/>
          </a:p>
        </p:txBody>
      </p:sp>
      <p:sp>
        <p:nvSpPr>
          <p:cNvPr id="39940" name="Footer Placeholder 3"/>
          <p:cNvSpPr>
            <a:spLocks noGrp="1"/>
          </p:cNvSpPr>
          <p:nvPr>
            <p:ph type="ftr" sz="quarter" idx="11"/>
          </p:nvPr>
        </p:nvSpPr>
        <p:spPr>
          <a:noFill/>
        </p:spPr>
        <p:txBody>
          <a:bodyPr/>
          <a:lstStyle/>
          <a:p>
            <a:r>
              <a:rPr lang="en-US"/>
              <a:t>DataBase Design Course Notes 03 - Normalization</a:t>
            </a:r>
          </a:p>
        </p:txBody>
      </p:sp>
      <p:sp>
        <p:nvSpPr>
          <p:cNvPr id="39941" name="Slide Number Placeholder 4"/>
          <p:cNvSpPr>
            <a:spLocks noGrp="1"/>
          </p:cNvSpPr>
          <p:nvPr>
            <p:ph type="sldNum" sz="quarter" idx="12"/>
          </p:nvPr>
        </p:nvSpPr>
        <p:spPr>
          <a:noFill/>
        </p:spPr>
        <p:txBody>
          <a:bodyPr/>
          <a:lstStyle/>
          <a:p>
            <a:fld id="{B99CA2D9-685C-4A74-99D3-37DAE4904EAB}" type="slidenum">
              <a:rPr lang="en-US" smtClean="0"/>
              <a:pPr/>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solidFill>
                  <a:schemeClr val="tx1"/>
                </a:solidFill>
              </a:rPr>
              <a:t>Boyce-Codd Normal Form</a:t>
            </a:r>
            <a:endParaRPr lang="en-US" sz="3200"/>
          </a:p>
        </p:txBody>
      </p:sp>
      <p:sp>
        <p:nvSpPr>
          <p:cNvPr id="40963" name="Content Placeholder 2"/>
          <p:cNvSpPr>
            <a:spLocks noGrp="1"/>
          </p:cNvSpPr>
          <p:nvPr>
            <p:ph idx="1"/>
          </p:nvPr>
        </p:nvSpPr>
        <p:spPr/>
        <p:txBody>
          <a:bodyPr/>
          <a:lstStyle/>
          <a:p>
            <a:r>
              <a:rPr lang="en-US"/>
              <a:t>Ray Boyce, Edgar F. Codd</a:t>
            </a:r>
          </a:p>
          <a:p>
            <a:r>
              <a:rPr lang="en-US"/>
              <a:t>entity is in First Normal Form.</a:t>
            </a:r>
          </a:p>
          <a:p>
            <a:r>
              <a:rPr lang="en-US"/>
              <a:t>all attributes are fully dependent on a key</a:t>
            </a:r>
          </a:p>
          <a:p>
            <a:r>
              <a:rPr lang="en-US"/>
              <a:t>every determinant is a key</a:t>
            </a:r>
          </a:p>
        </p:txBody>
      </p:sp>
      <p:sp>
        <p:nvSpPr>
          <p:cNvPr id="40964" name="Footer Placeholder 3"/>
          <p:cNvSpPr>
            <a:spLocks noGrp="1"/>
          </p:cNvSpPr>
          <p:nvPr>
            <p:ph type="ftr" sz="quarter" idx="11"/>
          </p:nvPr>
        </p:nvSpPr>
        <p:spPr>
          <a:noFill/>
        </p:spPr>
        <p:txBody>
          <a:bodyPr/>
          <a:lstStyle/>
          <a:p>
            <a:r>
              <a:rPr lang="en-US"/>
              <a:t>DataBase Design Course Notes 03 - Normalization</a:t>
            </a:r>
          </a:p>
        </p:txBody>
      </p:sp>
      <p:sp>
        <p:nvSpPr>
          <p:cNvPr id="40965" name="Slide Number Placeholder 4"/>
          <p:cNvSpPr>
            <a:spLocks noGrp="1"/>
          </p:cNvSpPr>
          <p:nvPr>
            <p:ph type="sldNum" sz="quarter" idx="12"/>
          </p:nvPr>
        </p:nvSpPr>
        <p:spPr>
          <a:noFill/>
        </p:spPr>
        <p:txBody>
          <a:bodyPr/>
          <a:lstStyle/>
          <a:p>
            <a:fld id="{18F95D0B-A8A1-42BF-9580-DAF1C584EDE3}" type="slidenum">
              <a:rPr lang="en-US" smtClean="0"/>
              <a:pPr/>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solidFill>
                  <a:schemeClr val="tx1"/>
                </a:solidFill>
              </a:rPr>
              <a:t>Entity in BCNF if every Determinant is key</a:t>
            </a:r>
            <a:endParaRPr lang="en-US" sz="3200"/>
          </a:p>
        </p:txBody>
      </p:sp>
      <p:sp>
        <p:nvSpPr>
          <p:cNvPr id="41987" name="Content Placeholder 2"/>
          <p:cNvSpPr>
            <a:spLocks noGrp="1"/>
          </p:cNvSpPr>
          <p:nvPr>
            <p:ph idx="1"/>
          </p:nvPr>
        </p:nvSpPr>
        <p:spPr/>
        <p:txBody>
          <a:bodyPr/>
          <a:lstStyle/>
          <a:p>
            <a:r>
              <a:rPr lang="en-US" i="1"/>
              <a:t>Any attribute or combination of attributes on which any other attribute or combination of attributes is functionally dependent.</a:t>
            </a:r>
          </a:p>
          <a:p>
            <a:r>
              <a:rPr lang="en-US"/>
              <a:t>BCNF extends previous normal forms by saying that entity might have many keys, and all attributes must be dependent on one of these keys</a:t>
            </a:r>
          </a:p>
        </p:txBody>
      </p:sp>
      <p:sp>
        <p:nvSpPr>
          <p:cNvPr id="41988" name="Footer Placeholder 3"/>
          <p:cNvSpPr>
            <a:spLocks noGrp="1"/>
          </p:cNvSpPr>
          <p:nvPr>
            <p:ph type="ftr" sz="quarter" idx="11"/>
          </p:nvPr>
        </p:nvSpPr>
        <p:spPr>
          <a:noFill/>
        </p:spPr>
        <p:txBody>
          <a:bodyPr/>
          <a:lstStyle/>
          <a:p>
            <a:r>
              <a:rPr lang="en-US"/>
              <a:t>DataBase Design Course Notes 03 - Normalization</a:t>
            </a:r>
          </a:p>
        </p:txBody>
      </p:sp>
      <p:sp>
        <p:nvSpPr>
          <p:cNvPr id="41989" name="Slide Number Placeholder 4"/>
          <p:cNvSpPr>
            <a:spLocks noGrp="1"/>
          </p:cNvSpPr>
          <p:nvPr>
            <p:ph type="sldNum" sz="quarter" idx="12"/>
          </p:nvPr>
        </p:nvSpPr>
        <p:spPr>
          <a:noFill/>
        </p:spPr>
        <p:txBody>
          <a:bodyPr/>
          <a:lstStyle/>
          <a:p>
            <a:fld id="{8B95AC81-1DC6-4171-B3DA-FD7D81DF22BE}" type="slidenum">
              <a:rPr lang="en-US" smtClean="0"/>
              <a:pPr/>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endParaRPr lang="en-US"/>
          </a:p>
        </p:txBody>
      </p:sp>
      <p:sp>
        <p:nvSpPr>
          <p:cNvPr id="43011" name="Content Placeholder 2"/>
          <p:cNvSpPr>
            <a:spLocks noGrp="1"/>
          </p:cNvSpPr>
          <p:nvPr>
            <p:ph idx="1"/>
          </p:nvPr>
        </p:nvSpPr>
        <p:spPr/>
        <p:txBody>
          <a:bodyPr/>
          <a:lstStyle/>
          <a:p>
            <a:r>
              <a:rPr lang="en-US"/>
              <a:t>Third Normal Form table which does not have multiple overlapping candidate keys is guaranteed to be in BCNF</a:t>
            </a:r>
          </a:p>
          <a:p>
            <a:r>
              <a:rPr lang="en-US"/>
              <a:t>Third Normal Form table with two or more overlapping candidate keys may or may not be in BCNF</a:t>
            </a:r>
          </a:p>
        </p:txBody>
      </p:sp>
      <p:sp>
        <p:nvSpPr>
          <p:cNvPr id="43012" name="Footer Placeholder 3"/>
          <p:cNvSpPr>
            <a:spLocks noGrp="1"/>
          </p:cNvSpPr>
          <p:nvPr>
            <p:ph type="ftr" sz="quarter" idx="11"/>
          </p:nvPr>
        </p:nvSpPr>
        <p:spPr>
          <a:noFill/>
        </p:spPr>
        <p:txBody>
          <a:bodyPr/>
          <a:lstStyle/>
          <a:p>
            <a:r>
              <a:rPr lang="en-US"/>
              <a:t>DataBase Design Course Notes 03 - Normalization</a:t>
            </a:r>
          </a:p>
        </p:txBody>
      </p:sp>
      <p:sp>
        <p:nvSpPr>
          <p:cNvPr id="43013" name="Slide Number Placeholder 4"/>
          <p:cNvSpPr>
            <a:spLocks noGrp="1"/>
          </p:cNvSpPr>
          <p:nvPr>
            <p:ph type="sldNum" sz="quarter" idx="12"/>
          </p:nvPr>
        </p:nvSpPr>
        <p:spPr>
          <a:noFill/>
        </p:spPr>
        <p:txBody>
          <a:bodyPr/>
          <a:lstStyle/>
          <a:p>
            <a:fld id="{805E53C9-068F-4C07-B49D-6EC195F21A18}" type="slidenum">
              <a:rPr lang="en-US" smtClean="0"/>
              <a:pPr/>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t>Court Bookings</a:t>
            </a:r>
          </a:p>
        </p:txBody>
      </p:sp>
      <p:graphicFrame>
        <p:nvGraphicFramePr>
          <p:cNvPr id="6" name="Content Placeholder 5"/>
          <p:cNvGraphicFramePr>
            <a:graphicFrameLocks noGrp="1"/>
          </p:cNvGraphicFramePr>
          <p:nvPr>
            <p:ph idx="1"/>
          </p:nvPr>
        </p:nvGraphicFramePr>
        <p:xfrm>
          <a:off x="457200" y="1600200"/>
          <a:ext cx="8229600" cy="259588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r>
                        <a:rPr lang="en-US" dirty="0"/>
                        <a:t>Court</a:t>
                      </a:r>
                    </a:p>
                  </a:txBody>
                  <a:tcPr anchor="ctr"/>
                </a:tc>
                <a:tc>
                  <a:txBody>
                    <a:bodyPr/>
                    <a:lstStyle/>
                    <a:p>
                      <a:r>
                        <a:rPr lang="en-US"/>
                        <a:t>Start Time</a:t>
                      </a:r>
                    </a:p>
                  </a:txBody>
                  <a:tcPr anchor="ctr"/>
                </a:tc>
                <a:tc>
                  <a:txBody>
                    <a:bodyPr/>
                    <a:lstStyle/>
                    <a:p>
                      <a:r>
                        <a:rPr lang="en-US"/>
                        <a:t>End Time</a:t>
                      </a:r>
                    </a:p>
                  </a:txBody>
                  <a:tcPr anchor="ctr"/>
                </a:tc>
                <a:tc>
                  <a:txBody>
                    <a:bodyPr/>
                    <a:lstStyle/>
                    <a:p>
                      <a:r>
                        <a:rPr lang="en-US" dirty="0"/>
                        <a:t>Rate Type</a:t>
                      </a:r>
                    </a:p>
                  </a:txBody>
                  <a:tcPr anchor="ctr"/>
                </a:tc>
                <a:extLst>
                  <a:ext uri="{0D108BD9-81ED-4DB2-BD59-A6C34878D82A}">
                    <a16:rowId xmlns:a16="http://schemas.microsoft.com/office/drawing/2014/main" val="10000"/>
                  </a:ext>
                </a:extLst>
              </a:tr>
              <a:tr h="370840">
                <a:tc>
                  <a:txBody>
                    <a:bodyPr/>
                    <a:lstStyle/>
                    <a:p>
                      <a:r>
                        <a:rPr lang="en-US" dirty="0"/>
                        <a:t>1</a:t>
                      </a:r>
                    </a:p>
                  </a:txBody>
                  <a:tcPr anchor="ctr"/>
                </a:tc>
                <a:tc>
                  <a:txBody>
                    <a:bodyPr/>
                    <a:lstStyle/>
                    <a:p>
                      <a:r>
                        <a:rPr lang="en-US"/>
                        <a:t>09:30</a:t>
                      </a:r>
                    </a:p>
                  </a:txBody>
                  <a:tcPr anchor="ctr"/>
                </a:tc>
                <a:tc>
                  <a:txBody>
                    <a:bodyPr/>
                    <a:lstStyle/>
                    <a:p>
                      <a:r>
                        <a:rPr lang="en-US"/>
                        <a:t>10:30</a:t>
                      </a:r>
                    </a:p>
                  </a:txBody>
                  <a:tcPr anchor="ctr"/>
                </a:tc>
                <a:tc>
                  <a:txBody>
                    <a:bodyPr/>
                    <a:lstStyle/>
                    <a:p>
                      <a:r>
                        <a:rPr lang="en-US"/>
                        <a:t>SAVER</a:t>
                      </a:r>
                    </a:p>
                  </a:txBody>
                  <a:tcPr anchor="ctr"/>
                </a:tc>
                <a:extLst>
                  <a:ext uri="{0D108BD9-81ED-4DB2-BD59-A6C34878D82A}">
                    <a16:rowId xmlns:a16="http://schemas.microsoft.com/office/drawing/2014/main" val="10001"/>
                  </a:ext>
                </a:extLst>
              </a:tr>
              <a:tr h="370840">
                <a:tc>
                  <a:txBody>
                    <a:bodyPr/>
                    <a:lstStyle/>
                    <a:p>
                      <a:r>
                        <a:rPr lang="en-US"/>
                        <a:t>1</a:t>
                      </a:r>
                    </a:p>
                  </a:txBody>
                  <a:tcPr anchor="ctr"/>
                </a:tc>
                <a:tc>
                  <a:txBody>
                    <a:bodyPr/>
                    <a:lstStyle/>
                    <a:p>
                      <a:r>
                        <a:rPr lang="en-US"/>
                        <a:t>11:00</a:t>
                      </a:r>
                    </a:p>
                  </a:txBody>
                  <a:tcPr anchor="ctr"/>
                </a:tc>
                <a:tc>
                  <a:txBody>
                    <a:bodyPr/>
                    <a:lstStyle/>
                    <a:p>
                      <a:r>
                        <a:rPr lang="en-US"/>
                        <a:t>12:00</a:t>
                      </a:r>
                    </a:p>
                  </a:txBody>
                  <a:tcPr anchor="ctr"/>
                </a:tc>
                <a:tc>
                  <a:txBody>
                    <a:bodyPr/>
                    <a:lstStyle/>
                    <a:p>
                      <a:r>
                        <a:rPr lang="en-US"/>
                        <a:t>SAVER</a:t>
                      </a:r>
                    </a:p>
                  </a:txBody>
                  <a:tcPr anchor="ctr"/>
                </a:tc>
                <a:extLst>
                  <a:ext uri="{0D108BD9-81ED-4DB2-BD59-A6C34878D82A}">
                    <a16:rowId xmlns:a16="http://schemas.microsoft.com/office/drawing/2014/main" val="10002"/>
                  </a:ext>
                </a:extLst>
              </a:tr>
              <a:tr h="370840">
                <a:tc>
                  <a:txBody>
                    <a:bodyPr/>
                    <a:lstStyle/>
                    <a:p>
                      <a:r>
                        <a:rPr lang="en-US"/>
                        <a:t>1</a:t>
                      </a:r>
                    </a:p>
                  </a:txBody>
                  <a:tcPr anchor="ctr"/>
                </a:tc>
                <a:tc>
                  <a:txBody>
                    <a:bodyPr/>
                    <a:lstStyle/>
                    <a:p>
                      <a:r>
                        <a:rPr lang="en-US"/>
                        <a:t>14:00</a:t>
                      </a:r>
                    </a:p>
                  </a:txBody>
                  <a:tcPr anchor="ctr"/>
                </a:tc>
                <a:tc>
                  <a:txBody>
                    <a:bodyPr/>
                    <a:lstStyle/>
                    <a:p>
                      <a:r>
                        <a:rPr lang="en-US"/>
                        <a:t>15:30</a:t>
                      </a:r>
                    </a:p>
                  </a:txBody>
                  <a:tcPr anchor="ctr"/>
                </a:tc>
                <a:tc>
                  <a:txBody>
                    <a:bodyPr/>
                    <a:lstStyle/>
                    <a:p>
                      <a:r>
                        <a:rPr lang="en-US"/>
                        <a:t>STANDARD</a:t>
                      </a:r>
                    </a:p>
                  </a:txBody>
                  <a:tcPr anchor="ctr"/>
                </a:tc>
                <a:extLst>
                  <a:ext uri="{0D108BD9-81ED-4DB2-BD59-A6C34878D82A}">
                    <a16:rowId xmlns:a16="http://schemas.microsoft.com/office/drawing/2014/main" val="10003"/>
                  </a:ext>
                </a:extLst>
              </a:tr>
              <a:tr h="370840">
                <a:tc>
                  <a:txBody>
                    <a:bodyPr/>
                    <a:lstStyle/>
                    <a:p>
                      <a:r>
                        <a:rPr lang="en-US"/>
                        <a:t>2</a:t>
                      </a:r>
                    </a:p>
                  </a:txBody>
                  <a:tcPr anchor="ctr"/>
                </a:tc>
                <a:tc>
                  <a:txBody>
                    <a:bodyPr/>
                    <a:lstStyle/>
                    <a:p>
                      <a:r>
                        <a:rPr lang="en-US"/>
                        <a:t>10:00</a:t>
                      </a:r>
                    </a:p>
                  </a:txBody>
                  <a:tcPr anchor="ctr"/>
                </a:tc>
                <a:tc>
                  <a:txBody>
                    <a:bodyPr/>
                    <a:lstStyle/>
                    <a:p>
                      <a:r>
                        <a:rPr lang="en-US"/>
                        <a:t>11:30</a:t>
                      </a:r>
                    </a:p>
                  </a:txBody>
                  <a:tcPr anchor="ctr"/>
                </a:tc>
                <a:tc>
                  <a:txBody>
                    <a:bodyPr/>
                    <a:lstStyle/>
                    <a:p>
                      <a:r>
                        <a:rPr lang="en-US"/>
                        <a:t>PREMIUM-B</a:t>
                      </a:r>
                    </a:p>
                  </a:txBody>
                  <a:tcPr anchor="ctr"/>
                </a:tc>
                <a:extLst>
                  <a:ext uri="{0D108BD9-81ED-4DB2-BD59-A6C34878D82A}">
                    <a16:rowId xmlns:a16="http://schemas.microsoft.com/office/drawing/2014/main" val="10004"/>
                  </a:ext>
                </a:extLst>
              </a:tr>
              <a:tr h="370840">
                <a:tc>
                  <a:txBody>
                    <a:bodyPr/>
                    <a:lstStyle/>
                    <a:p>
                      <a:r>
                        <a:rPr lang="en-US"/>
                        <a:t>2</a:t>
                      </a:r>
                    </a:p>
                  </a:txBody>
                  <a:tcPr anchor="ctr"/>
                </a:tc>
                <a:tc>
                  <a:txBody>
                    <a:bodyPr/>
                    <a:lstStyle/>
                    <a:p>
                      <a:r>
                        <a:rPr lang="en-US"/>
                        <a:t>11:30</a:t>
                      </a:r>
                    </a:p>
                  </a:txBody>
                  <a:tcPr anchor="ctr"/>
                </a:tc>
                <a:tc>
                  <a:txBody>
                    <a:bodyPr/>
                    <a:lstStyle/>
                    <a:p>
                      <a:r>
                        <a:rPr lang="en-US"/>
                        <a:t>13:30</a:t>
                      </a:r>
                    </a:p>
                  </a:txBody>
                  <a:tcPr anchor="ctr"/>
                </a:tc>
                <a:tc>
                  <a:txBody>
                    <a:bodyPr/>
                    <a:lstStyle/>
                    <a:p>
                      <a:r>
                        <a:rPr lang="en-US"/>
                        <a:t>PREMIUM-B</a:t>
                      </a:r>
                    </a:p>
                  </a:txBody>
                  <a:tcPr anchor="ctr"/>
                </a:tc>
                <a:extLst>
                  <a:ext uri="{0D108BD9-81ED-4DB2-BD59-A6C34878D82A}">
                    <a16:rowId xmlns:a16="http://schemas.microsoft.com/office/drawing/2014/main" val="10005"/>
                  </a:ext>
                </a:extLst>
              </a:tr>
              <a:tr h="370840">
                <a:tc>
                  <a:txBody>
                    <a:bodyPr/>
                    <a:lstStyle/>
                    <a:p>
                      <a:r>
                        <a:rPr lang="en-US" dirty="0"/>
                        <a:t>2</a:t>
                      </a:r>
                    </a:p>
                  </a:txBody>
                  <a:tcPr anchor="ctr"/>
                </a:tc>
                <a:tc>
                  <a:txBody>
                    <a:bodyPr/>
                    <a:lstStyle/>
                    <a:p>
                      <a:r>
                        <a:rPr lang="en-US"/>
                        <a:t>15:00</a:t>
                      </a:r>
                    </a:p>
                  </a:txBody>
                  <a:tcPr anchor="ctr"/>
                </a:tc>
                <a:tc>
                  <a:txBody>
                    <a:bodyPr/>
                    <a:lstStyle/>
                    <a:p>
                      <a:r>
                        <a:rPr lang="en-US"/>
                        <a:t>16:30</a:t>
                      </a:r>
                    </a:p>
                  </a:txBody>
                  <a:tcPr anchor="ctr"/>
                </a:tc>
                <a:tc>
                  <a:txBody>
                    <a:bodyPr/>
                    <a:lstStyle/>
                    <a:p>
                      <a:r>
                        <a:rPr lang="en-US" dirty="0"/>
                        <a:t>PREMIUM-A</a:t>
                      </a:r>
                    </a:p>
                  </a:txBody>
                  <a:tcPr anchor="ctr"/>
                </a:tc>
                <a:extLst>
                  <a:ext uri="{0D108BD9-81ED-4DB2-BD59-A6C34878D82A}">
                    <a16:rowId xmlns:a16="http://schemas.microsoft.com/office/drawing/2014/main" val="10006"/>
                  </a:ext>
                </a:extLst>
              </a:tr>
            </a:tbl>
          </a:graphicData>
        </a:graphic>
      </p:graphicFrame>
      <p:sp>
        <p:nvSpPr>
          <p:cNvPr id="44077" name="Footer Placeholder 3"/>
          <p:cNvSpPr>
            <a:spLocks noGrp="1"/>
          </p:cNvSpPr>
          <p:nvPr>
            <p:ph type="ftr" sz="quarter" idx="11"/>
          </p:nvPr>
        </p:nvSpPr>
        <p:spPr>
          <a:noFill/>
        </p:spPr>
        <p:txBody>
          <a:bodyPr/>
          <a:lstStyle/>
          <a:p>
            <a:r>
              <a:rPr lang="en-US"/>
              <a:t>DataBase Design Course Notes 03 - Normalization</a:t>
            </a:r>
          </a:p>
        </p:txBody>
      </p:sp>
      <p:sp>
        <p:nvSpPr>
          <p:cNvPr id="44078" name="Slide Number Placeholder 4"/>
          <p:cNvSpPr>
            <a:spLocks noGrp="1"/>
          </p:cNvSpPr>
          <p:nvPr>
            <p:ph type="sldNum" sz="quarter" idx="12"/>
          </p:nvPr>
        </p:nvSpPr>
        <p:spPr>
          <a:noFill/>
        </p:spPr>
        <p:txBody>
          <a:bodyPr/>
          <a:lstStyle/>
          <a:p>
            <a:fld id="{34EAEE48-665A-4860-9AEB-F993AEF44D34}" type="slidenum">
              <a:rPr lang="en-US" smtClean="0"/>
              <a:pPr/>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t>Court Bookings</a:t>
            </a:r>
          </a:p>
        </p:txBody>
      </p:sp>
      <p:sp>
        <p:nvSpPr>
          <p:cNvPr id="45059" name="Content Placeholder 2"/>
          <p:cNvSpPr>
            <a:spLocks noGrp="1"/>
          </p:cNvSpPr>
          <p:nvPr>
            <p:ph idx="1"/>
          </p:nvPr>
        </p:nvSpPr>
        <p:spPr/>
        <p:txBody>
          <a:bodyPr/>
          <a:lstStyle/>
          <a:p>
            <a:r>
              <a:rPr lang="en-US"/>
              <a:t>hard court </a:t>
            </a:r>
            <a:r>
              <a:rPr lang="en-US" sz="2800"/>
              <a:t>(Court1)</a:t>
            </a:r>
            <a:r>
              <a:rPr lang="en-US"/>
              <a:t> and grass court </a:t>
            </a:r>
            <a:r>
              <a:rPr lang="en-US" sz="2800"/>
              <a:t>(Court2)</a:t>
            </a:r>
            <a:endParaRPr lang="en-US"/>
          </a:p>
          <a:p>
            <a:r>
              <a:rPr lang="en-US"/>
              <a:t>booking defined by Court and period for which the Court is reserved </a:t>
            </a:r>
          </a:p>
          <a:p>
            <a:r>
              <a:rPr lang="en-US"/>
              <a:t>booking has Rate Type associated</a:t>
            </a:r>
          </a:p>
          <a:p>
            <a:pPr lvl="1"/>
            <a:r>
              <a:rPr lang="en-US"/>
              <a:t>SAVER for hard made by members </a:t>
            </a:r>
          </a:p>
          <a:p>
            <a:pPr lvl="1"/>
            <a:r>
              <a:rPr lang="en-US"/>
              <a:t>STANDARD for hard made by non-members </a:t>
            </a:r>
          </a:p>
          <a:p>
            <a:pPr lvl="1"/>
            <a:r>
              <a:rPr lang="en-US"/>
              <a:t>PREMIUM-A for grass made by members </a:t>
            </a:r>
          </a:p>
          <a:p>
            <a:pPr lvl="1"/>
            <a:r>
              <a:rPr lang="en-US"/>
              <a:t>PREMIUM-B for grass made by non</a:t>
            </a:r>
            <a:r>
              <a:rPr lang="it-IT"/>
              <a:t>-</a:t>
            </a:r>
            <a:r>
              <a:rPr lang="en-US"/>
              <a:t>members </a:t>
            </a:r>
          </a:p>
        </p:txBody>
      </p:sp>
      <p:sp>
        <p:nvSpPr>
          <p:cNvPr id="45060" name="Footer Placeholder 3"/>
          <p:cNvSpPr>
            <a:spLocks noGrp="1"/>
          </p:cNvSpPr>
          <p:nvPr>
            <p:ph type="ftr" sz="quarter" idx="11"/>
          </p:nvPr>
        </p:nvSpPr>
        <p:spPr>
          <a:noFill/>
        </p:spPr>
        <p:txBody>
          <a:bodyPr/>
          <a:lstStyle/>
          <a:p>
            <a:r>
              <a:rPr lang="en-US"/>
              <a:t>DataBase Design Course Notes 03 - Normalization</a:t>
            </a:r>
          </a:p>
        </p:txBody>
      </p:sp>
      <p:sp>
        <p:nvSpPr>
          <p:cNvPr id="45061" name="Slide Number Placeholder 4"/>
          <p:cNvSpPr>
            <a:spLocks noGrp="1"/>
          </p:cNvSpPr>
          <p:nvPr>
            <p:ph type="sldNum" sz="quarter" idx="12"/>
          </p:nvPr>
        </p:nvSpPr>
        <p:spPr>
          <a:noFill/>
        </p:spPr>
        <p:txBody>
          <a:bodyPr/>
          <a:lstStyle/>
          <a:p>
            <a:fld id="{C88D147E-AFC9-41F7-B404-A49F51377123}" type="slidenum">
              <a:rPr lang="en-US" smtClean="0"/>
              <a:pPr/>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sz="4000"/>
              <a:t>Court Bookings - </a:t>
            </a:r>
            <a:r>
              <a:rPr lang="en-US"/>
              <a:t>candidate keys </a:t>
            </a:r>
            <a:endParaRPr lang="en-US" sz="4000"/>
          </a:p>
        </p:txBody>
      </p:sp>
      <p:sp>
        <p:nvSpPr>
          <p:cNvPr id="46083" name="Content Placeholder 2"/>
          <p:cNvSpPr>
            <a:spLocks noGrp="1"/>
          </p:cNvSpPr>
          <p:nvPr>
            <p:ph idx="1"/>
          </p:nvPr>
        </p:nvSpPr>
        <p:spPr/>
        <p:txBody>
          <a:bodyPr/>
          <a:lstStyle/>
          <a:p>
            <a:r>
              <a:rPr lang="en-US"/>
              <a:t>{Court, Start Time} </a:t>
            </a:r>
          </a:p>
          <a:p>
            <a:r>
              <a:rPr lang="en-US"/>
              <a:t>{Court, End Time} </a:t>
            </a:r>
          </a:p>
          <a:p>
            <a:r>
              <a:rPr lang="en-US"/>
              <a:t>{Rate Type, Start Time} </a:t>
            </a:r>
          </a:p>
          <a:p>
            <a:r>
              <a:rPr lang="en-US"/>
              <a:t>{Rate Type, End Time} </a:t>
            </a:r>
          </a:p>
        </p:txBody>
      </p:sp>
      <p:sp>
        <p:nvSpPr>
          <p:cNvPr id="46084" name="Footer Placeholder 3"/>
          <p:cNvSpPr>
            <a:spLocks noGrp="1"/>
          </p:cNvSpPr>
          <p:nvPr>
            <p:ph type="ftr" sz="quarter" idx="11"/>
          </p:nvPr>
        </p:nvSpPr>
        <p:spPr>
          <a:noFill/>
        </p:spPr>
        <p:txBody>
          <a:bodyPr/>
          <a:lstStyle/>
          <a:p>
            <a:r>
              <a:rPr lang="en-US"/>
              <a:t>DataBase Design Course Notes 03 - Normalization</a:t>
            </a:r>
          </a:p>
        </p:txBody>
      </p:sp>
      <p:sp>
        <p:nvSpPr>
          <p:cNvPr id="46085" name="Slide Number Placeholder 4"/>
          <p:cNvSpPr>
            <a:spLocks noGrp="1"/>
          </p:cNvSpPr>
          <p:nvPr>
            <p:ph type="sldNum" sz="quarter" idx="12"/>
          </p:nvPr>
        </p:nvSpPr>
        <p:spPr>
          <a:noFill/>
        </p:spPr>
        <p:txBody>
          <a:bodyPr/>
          <a:lstStyle/>
          <a:p>
            <a:fld id="{2FEE094E-0B90-431D-9848-18F93888E645}" type="slidenum">
              <a:rPr lang="en-US" smtClean="0"/>
              <a:pPr/>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endParaRPr lang="en-US"/>
          </a:p>
        </p:txBody>
      </p:sp>
      <p:sp>
        <p:nvSpPr>
          <p:cNvPr id="47107" name="Content Placeholder 2"/>
          <p:cNvSpPr>
            <a:spLocks noGrp="1"/>
          </p:cNvSpPr>
          <p:nvPr>
            <p:ph idx="1"/>
          </p:nvPr>
        </p:nvSpPr>
        <p:spPr/>
        <p:txBody>
          <a:bodyPr/>
          <a:lstStyle/>
          <a:p>
            <a:r>
              <a:rPr lang="en-US"/>
              <a:t>table adheres to both 2NF and 3NF</a:t>
            </a:r>
          </a:p>
          <a:p>
            <a:r>
              <a:rPr lang="en-US"/>
              <a:t>table does not adhere to BCNF</a:t>
            </a:r>
          </a:p>
          <a:p>
            <a:r>
              <a:rPr lang="en-US"/>
              <a:t>because of dependency Rate Type </a:t>
            </a:r>
            <a:r>
              <a:rPr lang="en-US">
                <a:sym typeface="Symbol" pitchFamily="18" charset="2"/>
              </a:rPr>
              <a:t> </a:t>
            </a:r>
            <a:r>
              <a:rPr lang="en-US"/>
              <a:t> Court, in which the determining attribute (Rate Type) is neither a candidate key nor a superset of a candidate key</a:t>
            </a:r>
          </a:p>
          <a:p>
            <a:endParaRPr lang="en-US"/>
          </a:p>
          <a:p>
            <a:endParaRPr lang="en-US"/>
          </a:p>
        </p:txBody>
      </p:sp>
      <p:sp>
        <p:nvSpPr>
          <p:cNvPr id="47108" name="Footer Placeholder 3"/>
          <p:cNvSpPr>
            <a:spLocks noGrp="1"/>
          </p:cNvSpPr>
          <p:nvPr>
            <p:ph type="ftr" sz="quarter" idx="11"/>
          </p:nvPr>
        </p:nvSpPr>
        <p:spPr>
          <a:noFill/>
        </p:spPr>
        <p:txBody>
          <a:bodyPr/>
          <a:lstStyle/>
          <a:p>
            <a:r>
              <a:rPr lang="en-US"/>
              <a:t>DataBase Design Course Notes 03 - Normalization</a:t>
            </a:r>
          </a:p>
        </p:txBody>
      </p:sp>
      <p:sp>
        <p:nvSpPr>
          <p:cNvPr id="47109" name="Slide Number Placeholder 4"/>
          <p:cNvSpPr>
            <a:spLocks noGrp="1"/>
          </p:cNvSpPr>
          <p:nvPr>
            <p:ph type="sldNum" sz="quarter" idx="12"/>
          </p:nvPr>
        </p:nvSpPr>
        <p:spPr>
          <a:noFill/>
        </p:spPr>
        <p:txBody>
          <a:bodyPr/>
          <a:lstStyle/>
          <a:p>
            <a:fld id="{B8FCC1AB-43BE-4964-9950-0C1DC4DFDB27}" type="slidenum">
              <a:rPr lang="en-US" smtClean="0"/>
              <a:pPr/>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5"/>
          <p:cNvSpPr>
            <a:spLocks noGrp="1"/>
          </p:cNvSpPr>
          <p:nvPr>
            <p:ph type="title"/>
          </p:nvPr>
        </p:nvSpPr>
        <p:spPr/>
        <p:txBody>
          <a:bodyPr/>
          <a:lstStyle/>
          <a:p>
            <a:endParaRPr lang="en-US"/>
          </a:p>
        </p:txBody>
      </p:sp>
      <p:sp>
        <p:nvSpPr>
          <p:cNvPr id="48131" name="Text Placeholder 6"/>
          <p:cNvSpPr>
            <a:spLocks noGrp="1"/>
          </p:cNvSpPr>
          <p:nvPr>
            <p:ph type="body" idx="1"/>
          </p:nvPr>
        </p:nvSpPr>
        <p:spPr/>
        <p:txBody>
          <a:bodyPr/>
          <a:lstStyle/>
          <a:p>
            <a:r>
              <a:rPr lang="en-US"/>
              <a:t>Rate Types</a:t>
            </a:r>
          </a:p>
        </p:txBody>
      </p:sp>
      <p:graphicFrame>
        <p:nvGraphicFramePr>
          <p:cNvPr id="11" name="Content Placeholder 10"/>
          <p:cNvGraphicFramePr>
            <a:graphicFrameLocks noGrp="1"/>
          </p:cNvGraphicFramePr>
          <p:nvPr>
            <p:ph sz="half" idx="2"/>
          </p:nvPr>
        </p:nvGraphicFramePr>
        <p:xfrm>
          <a:off x="457200" y="2174875"/>
          <a:ext cx="4040187" cy="2616200"/>
        </p:xfrm>
        <a:graphic>
          <a:graphicData uri="http://schemas.openxmlformats.org/drawingml/2006/table">
            <a:tbl>
              <a:tblPr firstRow="1" bandRow="1">
                <a:tableStyleId>{5C22544A-7EE6-4342-B048-85BDC9FD1C3A}</a:tableStyleId>
              </a:tblPr>
              <a:tblGrid>
                <a:gridCol w="1346729">
                  <a:extLst>
                    <a:ext uri="{9D8B030D-6E8A-4147-A177-3AD203B41FA5}">
                      <a16:colId xmlns:a16="http://schemas.microsoft.com/office/drawing/2014/main" val="20000"/>
                    </a:ext>
                  </a:extLst>
                </a:gridCol>
                <a:gridCol w="1346729">
                  <a:extLst>
                    <a:ext uri="{9D8B030D-6E8A-4147-A177-3AD203B41FA5}">
                      <a16:colId xmlns:a16="http://schemas.microsoft.com/office/drawing/2014/main" val="20001"/>
                    </a:ext>
                  </a:extLst>
                </a:gridCol>
                <a:gridCol w="1346729">
                  <a:extLst>
                    <a:ext uri="{9D8B030D-6E8A-4147-A177-3AD203B41FA5}">
                      <a16:colId xmlns:a16="http://schemas.microsoft.com/office/drawing/2014/main" val="20002"/>
                    </a:ext>
                  </a:extLst>
                </a:gridCol>
              </a:tblGrid>
              <a:tr h="370840">
                <a:tc>
                  <a:txBody>
                    <a:bodyPr/>
                    <a:lstStyle/>
                    <a:p>
                      <a:r>
                        <a:rPr lang="en-US" dirty="0"/>
                        <a:t>Rate Type</a:t>
                      </a:r>
                    </a:p>
                  </a:txBody>
                  <a:tcPr marL="38100" marR="38100" marT="38100" marB="38100" anchor="ctr"/>
                </a:tc>
                <a:tc>
                  <a:txBody>
                    <a:bodyPr/>
                    <a:lstStyle/>
                    <a:p>
                      <a:r>
                        <a:rPr lang="en-US" dirty="0"/>
                        <a:t>Court</a:t>
                      </a:r>
                    </a:p>
                  </a:txBody>
                  <a:tcPr marL="38100" marR="38100" marT="38100" marB="38100" anchor="ctr"/>
                </a:tc>
                <a:tc>
                  <a:txBody>
                    <a:bodyPr/>
                    <a:lstStyle/>
                    <a:p>
                      <a:r>
                        <a:rPr lang="en-US" dirty="0"/>
                        <a:t>Member Flag</a:t>
                      </a:r>
                    </a:p>
                  </a:txBody>
                  <a:tcPr marL="38100" marR="38100" marT="38100" marB="38100" anchor="ctr"/>
                </a:tc>
                <a:extLst>
                  <a:ext uri="{0D108BD9-81ED-4DB2-BD59-A6C34878D82A}">
                    <a16:rowId xmlns:a16="http://schemas.microsoft.com/office/drawing/2014/main" val="10000"/>
                  </a:ext>
                </a:extLst>
              </a:tr>
              <a:tr h="370840">
                <a:tc>
                  <a:txBody>
                    <a:bodyPr/>
                    <a:lstStyle/>
                    <a:p>
                      <a:r>
                        <a:rPr lang="en-US" dirty="0"/>
                        <a:t>SAVER</a:t>
                      </a:r>
                    </a:p>
                  </a:txBody>
                  <a:tcPr marL="38100" marR="38100" marT="38100" marB="38100" anchor="ctr"/>
                </a:tc>
                <a:tc>
                  <a:txBody>
                    <a:bodyPr/>
                    <a:lstStyle/>
                    <a:p>
                      <a:r>
                        <a:rPr lang="en-US"/>
                        <a:t>1</a:t>
                      </a:r>
                    </a:p>
                  </a:txBody>
                  <a:tcPr marL="38100" marR="38100" marT="38100" marB="38100" anchor="ctr"/>
                </a:tc>
                <a:tc>
                  <a:txBody>
                    <a:bodyPr/>
                    <a:lstStyle/>
                    <a:p>
                      <a:r>
                        <a:rPr lang="en-US"/>
                        <a:t>Yes</a:t>
                      </a:r>
                    </a:p>
                  </a:txBody>
                  <a:tcPr marL="38100" marR="38100" marT="38100" marB="38100" anchor="ctr"/>
                </a:tc>
                <a:extLst>
                  <a:ext uri="{0D108BD9-81ED-4DB2-BD59-A6C34878D82A}">
                    <a16:rowId xmlns:a16="http://schemas.microsoft.com/office/drawing/2014/main" val="10001"/>
                  </a:ext>
                </a:extLst>
              </a:tr>
              <a:tr h="370840">
                <a:tc>
                  <a:txBody>
                    <a:bodyPr/>
                    <a:lstStyle/>
                    <a:p>
                      <a:r>
                        <a:rPr lang="en-US"/>
                        <a:t>STANDARD</a:t>
                      </a:r>
                    </a:p>
                  </a:txBody>
                  <a:tcPr marL="38100" marR="38100" marT="38100" marB="38100" anchor="ctr"/>
                </a:tc>
                <a:tc>
                  <a:txBody>
                    <a:bodyPr/>
                    <a:lstStyle/>
                    <a:p>
                      <a:r>
                        <a:rPr lang="en-US"/>
                        <a:t>1</a:t>
                      </a:r>
                    </a:p>
                  </a:txBody>
                  <a:tcPr marL="38100" marR="38100" marT="38100" marB="38100" anchor="ctr"/>
                </a:tc>
                <a:tc>
                  <a:txBody>
                    <a:bodyPr/>
                    <a:lstStyle/>
                    <a:p>
                      <a:r>
                        <a:rPr lang="en-US"/>
                        <a:t>No</a:t>
                      </a:r>
                    </a:p>
                  </a:txBody>
                  <a:tcPr marL="38100" marR="38100" marT="38100" marB="38100" anchor="ctr"/>
                </a:tc>
                <a:extLst>
                  <a:ext uri="{0D108BD9-81ED-4DB2-BD59-A6C34878D82A}">
                    <a16:rowId xmlns:a16="http://schemas.microsoft.com/office/drawing/2014/main" val="10002"/>
                  </a:ext>
                </a:extLst>
              </a:tr>
              <a:tr h="370840">
                <a:tc>
                  <a:txBody>
                    <a:bodyPr/>
                    <a:lstStyle/>
                    <a:p>
                      <a:r>
                        <a:rPr lang="en-US"/>
                        <a:t>PREMIUM-A</a:t>
                      </a:r>
                    </a:p>
                  </a:txBody>
                  <a:tcPr marL="38100" marR="38100" marT="38100" marB="38100" anchor="ctr"/>
                </a:tc>
                <a:tc>
                  <a:txBody>
                    <a:bodyPr/>
                    <a:lstStyle/>
                    <a:p>
                      <a:r>
                        <a:rPr lang="en-US"/>
                        <a:t>2</a:t>
                      </a:r>
                    </a:p>
                  </a:txBody>
                  <a:tcPr marL="38100" marR="38100" marT="38100" marB="38100" anchor="ctr"/>
                </a:tc>
                <a:tc>
                  <a:txBody>
                    <a:bodyPr/>
                    <a:lstStyle/>
                    <a:p>
                      <a:r>
                        <a:rPr lang="en-US"/>
                        <a:t>Yes</a:t>
                      </a:r>
                    </a:p>
                  </a:txBody>
                  <a:tcPr marL="38100" marR="38100" marT="38100" marB="38100" anchor="ctr"/>
                </a:tc>
                <a:extLst>
                  <a:ext uri="{0D108BD9-81ED-4DB2-BD59-A6C34878D82A}">
                    <a16:rowId xmlns:a16="http://schemas.microsoft.com/office/drawing/2014/main" val="10003"/>
                  </a:ext>
                </a:extLst>
              </a:tr>
              <a:tr h="370840">
                <a:tc>
                  <a:txBody>
                    <a:bodyPr/>
                    <a:lstStyle/>
                    <a:p>
                      <a:r>
                        <a:rPr lang="en-US" dirty="0"/>
                        <a:t>PREMIUM-B</a:t>
                      </a:r>
                    </a:p>
                  </a:txBody>
                  <a:tcPr marL="38100" marR="38100" marT="38100" marB="38100" anchor="ctr"/>
                </a:tc>
                <a:tc>
                  <a:txBody>
                    <a:bodyPr/>
                    <a:lstStyle/>
                    <a:p>
                      <a:r>
                        <a:rPr lang="en-US"/>
                        <a:t>2</a:t>
                      </a:r>
                    </a:p>
                  </a:txBody>
                  <a:tcPr marL="38100" marR="38100" marT="38100" marB="38100" anchor="ctr"/>
                </a:tc>
                <a:tc>
                  <a:txBody>
                    <a:bodyPr/>
                    <a:lstStyle/>
                    <a:p>
                      <a:r>
                        <a:rPr lang="en-US" dirty="0"/>
                        <a:t>No</a:t>
                      </a:r>
                    </a:p>
                  </a:txBody>
                  <a:tcPr marL="38100" marR="38100" marT="38100" marB="38100" anchor="ctr"/>
                </a:tc>
                <a:extLst>
                  <a:ext uri="{0D108BD9-81ED-4DB2-BD59-A6C34878D82A}">
                    <a16:rowId xmlns:a16="http://schemas.microsoft.com/office/drawing/2014/main" val="10004"/>
                  </a:ext>
                </a:extLst>
              </a:tr>
            </a:tbl>
          </a:graphicData>
        </a:graphic>
      </p:graphicFrame>
      <p:sp>
        <p:nvSpPr>
          <p:cNvPr id="48158" name="Text Placeholder 8"/>
          <p:cNvSpPr>
            <a:spLocks noGrp="1"/>
          </p:cNvSpPr>
          <p:nvPr>
            <p:ph type="body" sz="quarter" idx="3"/>
          </p:nvPr>
        </p:nvSpPr>
        <p:spPr/>
        <p:txBody>
          <a:bodyPr/>
          <a:lstStyle/>
          <a:p>
            <a:r>
              <a:rPr lang="it-IT"/>
              <a:t>Court Bookings</a:t>
            </a:r>
            <a:endParaRPr lang="en-US"/>
          </a:p>
        </p:txBody>
      </p:sp>
      <p:graphicFrame>
        <p:nvGraphicFramePr>
          <p:cNvPr id="12" name="Content Placeholder 11"/>
          <p:cNvGraphicFramePr>
            <a:graphicFrameLocks noGrp="1"/>
          </p:cNvGraphicFramePr>
          <p:nvPr>
            <p:ph sz="quarter" idx="4"/>
          </p:nvPr>
        </p:nvGraphicFramePr>
        <p:xfrm>
          <a:off x="4645025" y="2174875"/>
          <a:ext cx="4041776" cy="2849880"/>
        </p:xfrm>
        <a:graphic>
          <a:graphicData uri="http://schemas.openxmlformats.org/drawingml/2006/table">
            <a:tbl>
              <a:tblPr firstRow="1" bandRow="1">
                <a:tableStyleId>{5C22544A-7EE6-4342-B048-85BDC9FD1C3A}</a:tableStyleId>
              </a:tblPr>
              <a:tblGrid>
                <a:gridCol w="1010444">
                  <a:extLst>
                    <a:ext uri="{9D8B030D-6E8A-4147-A177-3AD203B41FA5}">
                      <a16:colId xmlns:a16="http://schemas.microsoft.com/office/drawing/2014/main" val="20000"/>
                    </a:ext>
                  </a:extLst>
                </a:gridCol>
                <a:gridCol w="1010444">
                  <a:extLst>
                    <a:ext uri="{9D8B030D-6E8A-4147-A177-3AD203B41FA5}">
                      <a16:colId xmlns:a16="http://schemas.microsoft.com/office/drawing/2014/main" val="20001"/>
                    </a:ext>
                  </a:extLst>
                </a:gridCol>
                <a:gridCol w="1010444">
                  <a:extLst>
                    <a:ext uri="{9D8B030D-6E8A-4147-A177-3AD203B41FA5}">
                      <a16:colId xmlns:a16="http://schemas.microsoft.com/office/drawing/2014/main" val="20002"/>
                    </a:ext>
                  </a:extLst>
                </a:gridCol>
                <a:gridCol w="1010444">
                  <a:extLst>
                    <a:ext uri="{9D8B030D-6E8A-4147-A177-3AD203B41FA5}">
                      <a16:colId xmlns:a16="http://schemas.microsoft.com/office/drawing/2014/main" val="20003"/>
                    </a:ext>
                  </a:extLst>
                </a:gridCol>
              </a:tblGrid>
              <a:tr h="370840">
                <a:tc>
                  <a:txBody>
                    <a:bodyPr/>
                    <a:lstStyle/>
                    <a:p>
                      <a:r>
                        <a:rPr lang="en-US" dirty="0"/>
                        <a:t>Court</a:t>
                      </a:r>
                    </a:p>
                  </a:txBody>
                  <a:tcPr marL="38100" marR="38100" marT="38100" marB="38100" anchor="ctr"/>
                </a:tc>
                <a:tc>
                  <a:txBody>
                    <a:bodyPr/>
                    <a:lstStyle/>
                    <a:p>
                      <a:r>
                        <a:rPr lang="en-US" dirty="0"/>
                        <a:t>Start Time</a:t>
                      </a:r>
                    </a:p>
                  </a:txBody>
                  <a:tcPr marL="38100" marR="38100" marT="38100" marB="38100" anchor="ctr"/>
                </a:tc>
                <a:tc>
                  <a:txBody>
                    <a:bodyPr/>
                    <a:lstStyle/>
                    <a:p>
                      <a:r>
                        <a:rPr lang="en-US" dirty="0"/>
                        <a:t>End Time</a:t>
                      </a:r>
                    </a:p>
                  </a:txBody>
                  <a:tcPr marL="38100" marR="38100" marT="38100" marB="38100" anchor="ctr"/>
                </a:tc>
                <a:tc>
                  <a:txBody>
                    <a:bodyPr/>
                    <a:lstStyle/>
                    <a:p>
                      <a:r>
                        <a:rPr lang="en-US" dirty="0"/>
                        <a:t>Member Flag</a:t>
                      </a:r>
                    </a:p>
                  </a:txBody>
                  <a:tcPr marL="38100" marR="38100" marT="38100" marB="38100" anchor="ctr"/>
                </a:tc>
                <a:extLst>
                  <a:ext uri="{0D108BD9-81ED-4DB2-BD59-A6C34878D82A}">
                    <a16:rowId xmlns:a16="http://schemas.microsoft.com/office/drawing/2014/main" val="10000"/>
                  </a:ext>
                </a:extLst>
              </a:tr>
              <a:tr h="370840">
                <a:tc>
                  <a:txBody>
                    <a:bodyPr/>
                    <a:lstStyle/>
                    <a:p>
                      <a:r>
                        <a:rPr lang="en-US" dirty="0"/>
                        <a:t>1</a:t>
                      </a:r>
                    </a:p>
                  </a:txBody>
                  <a:tcPr marL="38100" marR="38100" marT="38100" marB="38100" anchor="ctr"/>
                </a:tc>
                <a:tc>
                  <a:txBody>
                    <a:bodyPr/>
                    <a:lstStyle/>
                    <a:p>
                      <a:r>
                        <a:rPr lang="en-US"/>
                        <a:t>09:30</a:t>
                      </a:r>
                    </a:p>
                  </a:txBody>
                  <a:tcPr marL="38100" marR="38100" marT="38100" marB="38100" anchor="ctr"/>
                </a:tc>
                <a:tc>
                  <a:txBody>
                    <a:bodyPr/>
                    <a:lstStyle/>
                    <a:p>
                      <a:r>
                        <a:rPr lang="en-US"/>
                        <a:t>10:30</a:t>
                      </a:r>
                    </a:p>
                  </a:txBody>
                  <a:tcPr marL="38100" marR="38100" marT="38100" marB="38100" anchor="ctr"/>
                </a:tc>
                <a:tc>
                  <a:txBody>
                    <a:bodyPr/>
                    <a:lstStyle/>
                    <a:p>
                      <a:r>
                        <a:rPr lang="en-US"/>
                        <a:t>Yes</a:t>
                      </a:r>
                    </a:p>
                  </a:txBody>
                  <a:tcPr marL="38100" marR="38100" marT="38100" marB="38100" anchor="ctr"/>
                </a:tc>
                <a:extLst>
                  <a:ext uri="{0D108BD9-81ED-4DB2-BD59-A6C34878D82A}">
                    <a16:rowId xmlns:a16="http://schemas.microsoft.com/office/drawing/2014/main" val="10001"/>
                  </a:ext>
                </a:extLst>
              </a:tr>
              <a:tr h="370840">
                <a:tc>
                  <a:txBody>
                    <a:bodyPr/>
                    <a:lstStyle/>
                    <a:p>
                      <a:r>
                        <a:rPr lang="en-US"/>
                        <a:t>1</a:t>
                      </a:r>
                    </a:p>
                  </a:txBody>
                  <a:tcPr marL="38100" marR="38100" marT="38100" marB="38100" anchor="ctr"/>
                </a:tc>
                <a:tc>
                  <a:txBody>
                    <a:bodyPr/>
                    <a:lstStyle/>
                    <a:p>
                      <a:r>
                        <a:rPr lang="en-US"/>
                        <a:t>11:00</a:t>
                      </a:r>
                    </a:p>
                  </a:txBody>
                  <a:tcPr marL="38100" marR="38100" marT="38100" marB="38100" anchor="ctr"/>
                </a:tc>
                <a:tc>
                  <a:txBody>
                    <a:bodyPr/>
                    <a:lstStyle/>
                    <a:p>
                      <a:r>
                        <a:rPr lang="en-US"/>
                        <a:t>12:00</a:t>
                      </a:r>
                    </a:p>
                  </a:txBody>
                  <a:tcPr marL="38100" marR="38100" marT="38100" marB="38100" anchor="ctr"/>
                </a:tc>
                <a:tc>
                  <a:txBody>
                    <a:bodyPr/>
                    <a:lstStyle/>
                    <a:p>
                      <a:r>
                        <a:rPr lang="en-US"/>
                        <a:t>Yes</a:t>
                      </a:r>
                    </a:p>
                  </a:txBody>
                  <a:tcPr marL="38100" marR="38100" marT="38100" marB="38100" anchor="ctr"/>
                </a:tc>
                <a:extLst>
                  <a:ext uri="{0D108BD9-81ED-4DB2-BD59-A6C34878D82A}">
                    <a16:rowId xmlns:a16="http://schemas.microsoft.com/office/drawing/2014/main" val="10002"/>
                  </a:ext>
                </a:extLst>
              </a:tr>
              <a:tr h="370840">
                <a:tc>
                  <a:txBody>
                    <a:bodyPr/>
                    <a:lstStyle/>
                    <a:p>
                      <a:r>
                        <a:rPr lang="en-US"/>
                        <a:t>1</a:t>
                      </a:r>
                    </a:p>
                  </a:txBody>
                  <a:tcPr marL="38100" marR="38100" marT="38100" marB="38100" anchor="ctr"/>
                </a:tc>
                <a:tc>
                  <a:txBody>
                    <a:bodyPr/>
                    <a:lstStyle/>
                    <a:p>
                      <a:r>
                        <a:rPr lang="en-US"/>
                        <a:t>14:00</a:t>
                      </a:r>
                    </a:p>
                  </a:txBody>
                  <a:tcPr marL="38100" marR="38100" marT="38100" marB="38100" anchor="ctr"/>
                </a:tc>
                <a:tc>
                  <a:txBody>
                    <a:bodyPr/>
                    <a:lstStyle/>
                    <a:p>
                      <a:r>
                        <a:rPr lang="en-US"/>
                        <a:t>15:30</a:t>
                      </a:r>
                    </a:p>
                  </a:txBody>
                  <a:tcPr marL="38100" marR="38100" marT="38100" marB="38100" anchor="ctr"/>
                </a:tc>
                <a:tc>
                  <a:txBody>
                    <a:bodyPr/>
                    <a:lstStyle/>
                    <a:p>
                      <a:r>
                        <a:rPr lang="en-US"/>
                        <a:t>No</a:t>
                      </a:r>
                    </a:p>
                  </a:txBody>
                  <a:tcPr marL="38100" marR="38100" marT="38100" marB="38100" anchor="ctr"/>
                </a:tc>
                <a:extLst>
                  <a:ext uri="{0D108BD9-81ED-4DB2-BD59-A6C34878D82A}">
                    <a16:rowId xmlns:a16="http://schemas.microsoft.com/office/drawing/2014/main" val="10003"/>
                  </a:ext>
                </a:extLst>
              </a:tr>
              <a:tr h="370840">
                <a:tc>
                  <a:txBody>
                    <a:bodyPr/>
                    <a:lstStyle/>
                    <a:p>
                      <a:r>
                        <a:rPr lang="en-US"/>
                        <a:t>2</a:t>
                      </a:r>
                    </a:p>
                  </a:txBody>
                  <a:tcPr marL="38100" marR="38100" marT="38100" marB="38100" anchor="ctr"/>
                </a:tc>
                <a:tc>
                  <a:txBody>
                    <a:bodyPr/>
                    <a:lstStyle/>
                    <a:p>
                      <a:r>
                        <a:rPr lang="en-US"/>
                        <a:t>10:00</a:t>
                      </a:r>
                    </a:p>
                  </a:txBody>
                  <a:tcPr marL="38100" marR="38100" marT="38100" marB="38100" anchor="ctr"/>
                </a:tc>
                <a:tc>
                  <a:txBody>
                    <a:bodyPr/>
                    <a:lstStyle/>
                    <a:p>
                      <a:r>
                        <a:rPr lang="en-US"/>
                        <a:t>11:30</a:t>
                      </a:r>
                    </a:p>
                  </a:txBody>
                  <a:tcPr marL="38100" marR="38100" marT="38100" marB="38100" anchor="ctr"/>
                </a:tc>
                <a:tc>
                  <a:txBody>
                    <a:bodyPr/>
                    <a:lstStyle/>
                    <a:p>
                      <a:r>
                        <a:rPr lang="en-US"/>
                        <a:t>No</a:t>
                      </a:r>
                    </a:p>
                  </a:txBody>
                  <a:tcPr marL="38100" marR="38100" marT="38100" marB="38100" anchor="ctr"/>
                </a:tc>
                <a:extLst>
                  <a:ext uri="{0D108BD9-81ED-4DB2-BD59-A6C34878D82A}">
                    <a16:rowId xmlns:a16="http://schemas.microsoft.com/office/drawing/2014/main" val="10004"/>
                  </a:ext>
                </a:extLst>
              </a:tr>
              <a:tr h="370840">
                <a:tc>
                  <a:txBody>
                    <a:bodyPr/>
                    <a:lstStyle/>
                    <a:p>
                      <a:r>
                        <a:rPr lang="en-US" dirty="0"/>
                        <a:t>2</a:t>
                      </a:r>
                    </a:p>
                  </a:txBody>
                  <a:tcPr marL="38100" marR="38100" marT="38100" marB="38100" anchor="ctr"/>
                </a:tc>
                <a:tc>
                  <a:txBody>
                    <a:bodyPr/>
                    <a:lstStyle/>
                    <a:p>
                      <a:r>
                        <a:rPr lang="en-US"/>
                        <a:t>11:30</a:t>
                      </a:r>
                    </a:p>
                  </a:txBody>
                  <a:tcPr marL="38100" marR="38100" marT="38100" marB="38100" anchor="ctr"/>
                </a:tc>
                <a:tc>
                  <a:txBody>
                    <a:bodyPr/>
                    <a:lstStyle/>
                    <a:p>
                      <a:r>
                        <a:rPr lang="en-US"/>
                        <a:t>13:30</a:t>
                      </a:r>
                    </a:p>
                  </a:txBody>
                  <a:tcPr marL="38100" marR="38100" marT="38100" marB="38100" anchor="ctr"/>
                </a:tc>
                <a:tc>
                  <a:txBody>
                    <a:bodyPr/>
                    <a:lstStyle/>
                    <a:p>
                      <a:r>
                        <a:rPr lang="en-US"/>
                        <a:t>No</a:t>
                      </a:r>
                    </a:p>
                  </a:txBody>
                  <a:tcPr marL="38100" marR="38100" marT="38100" marB="38100" anchor="ctr"/>
                </a:tc>
                <a:extLst>
                  <a:ext uri="{0D108BD9-81ED-4DB2-BD59-A6C34878D82A}">
                    <a16:rowId xmlns:a16="http://schemas.microsoft.com/office/drawing/2014/main" val="10005"/>
                  </a:ext>
                </a:extLst>
              </a:tr>
              <a:tr h="370840">
                <a:tc>
                  <a:txBody>
                    <a:bodyPr/>
                    <a:lstStyle/>
                    <a:p>
                      <a:r>
                        <a:rPr lang="en-US"/>
                        <a:t>2</a:t>
                      </a:r>
                    </a:p>
                  </a:txBody>
                  <a:tcPr marL="38100" marR="38100" marT="38100" marB="38100" anchor="ctr"/>
                </a:tc>
                <a:tc>
                  <a:txBody>
                    <a:bodyPr/>
                    <a:lstStyle/>
                    <a:p>
                      <a:r>
                        <a:rPr lang="en-US"/>
                        <a:t>15:00</a:t>
                      </a:r>
                    </a:p>
                  </a:txBody>
                  <a:tcPr marL="38100" marR="38100" marT="38100" marB="38100" anchor="ctr"/>
                </a:tc>
                <a:tc>
                  <a:txBody>
                    <a:bodyPr/>
                    <a:lstStyle/>
                    <a:p>
                      <a:r>
                        <a:rPr lang="en-US"/>
                        <a:t>16:30</a:t>
                      </a:r>
                    </a:p>
                  </a:txBody>
                  <a:tcPr marL="38100" marR="38100" marT="38100" marB="38100" anchor="ctr"/>
                </a:tc>
                <a:tc>
                  <a:txBody>
                    <a:bodyPr/>
                    <a:lstStyle/>
                    <a:p>
                      <a:r>
                        <a:rPr lang="en-US" dirty="0"/>
                        <a:t>Yes</a:t>
                      </a:r>
                    </a:p>
                  </a:txBody>
                  <a:tcPr marL="38100" marR="38100" marT="38100" marB="38100" anchor="ctr"/>
                </a:tc>
                <a:extLst>
                  <a:ext uri="{0D108BD9-81ED-4DB2-BD59-A6C34878D82A}">
                    <a16:rowId xmlns:a16="http://schemas.microsoft.com/office/drawing/2014/main" val="10006"/>
                  </a:ext>
                </a:extLst>
              </a:tr>
            </a:tbl>
          </a:graphicData>
        </a:graphic>
      </p:graphicFrame>
      <p:sp>
        <p:nvSpPr>
          <p:cNvPr id="48201" name="Footer Placeholder 3"/>
          <p:cNvSpPr>
            <a:spLocks noGrp="1"/>
          </p:cNvSpPr>
          <p:nvPr>
            <p:ph type="ftr" sz="quarter" idx="11"/>
          </p:nvPr>
        </p:nvSpPr>
        <p:spPr>
          <a:noFill/>
        </p:spPr>
        <p:txBody>
          <a:bodyPr/>
          <a:lstStyle/>
          <a:p>
            <a:r>
              <a:rPr lang="en-US"/>
              <a:t>DataBase Design Course Notes 03 - Normalization</a:t>
            </a:r>
          </a:p>
        </p:txBody>
      </p:sp>
      <p:sp>
        <p:nvSpPr>
          <p:cNvPr id="48202" name="Slide Number Placeholder 4"/>
          <p:cNvSpPr>
            <a:spLocks noGrp="1"/>
          </p:cNvSpPr>
          <p:nvPr>
            <p:ph type="sldNum" sz="quarter" idx="12"/>
          </p:nvPr>
        </p:nvSpPr>
        <p:spPr>
          <a:noFill/>
        </p:spPr>
        <p:txBody>
          <a:bodyPr/>
          <a:lstStyle/>
          <a:p>
            <a:fld id="{EAA5D1BD-BC56-4605-8EFA-9B821DABEB1C}" type="slidenum">
              <a:rPr lang="en-US" smtClean="0"/>
              <a:pPr/>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8"/>
          <p:cNvSpPr>
            <a:spLocks noGrp="1"/>
          </p:cNvSpPr>
          <p:nvPr>
            <p:ph type="title"/>
          </p:nvPr>
        </p:nvSpPr>
        <p:spPr/>
        <p:txBody>
          <a:bodyPr/>
          <a:lstStyle/>
          <a:p>
            <a:endParaRPr lang="en-US"/>
          </a:p>
        </p:txBody>
      </p:sp>
      <p:sp>
        <p:nvSpPr>
          <p:cNvPr id="49155" name="Content Placeholder 9"/>
          <p:cNvSpPr>
            <a:spLocks noGrp="1"/>
          </p:cNvSpPr>
          <p:nvPr>
            <p:ph idx="1"/>
          </p:nvPr>
        </p:nvSpPr>
        <p:spPr/>
        <p:txBody>
          <a:bodyPr/>
          <a:lstStyle/>
          <a:p>
            <a:r>
              <a:rPr lang="en-US"/>
              <a:t>candidate keys for Rate Types table are {Rate Type} and {Court, Member Flag}</a:t>
            </a:r>
          </a:p>
          <a:p>
            <a:r>
              <a:rPr lang="en-US"/>
              <a:t>candidate keys for Court Bookings table are {Court, Start Time} and {Court, End Time}</a:t>
            </a:r>
          </a:p>
          <a:p>
            <a:r>
              <a:rPr lang="en-US"/>
              <a:t>both tables are in BCNF</a:t>
            </a:r>
          </a:p>
          <a:p>
            <a:r>
              <a:rPr lang="en-US" sz="2800"/>
              <a:t>having one Rate Type associated with two different Courts is now impossible</a:t>
            </a:r>
          </a:p>
          <a:p>
            <a:r>
              <a:rPr lang="en-US" sz="2800"/>
              <a:t>anomaly affecting original table has been eliminated</a:t>
            </a:r>
          </a:p>
          <a:p>
            <a:endParaRPr lang="en-US"/>
          </a:p>
        </p:txBody>
      </p:sp>
      <p:sp>
        <p:nvSpPr>
          <p:cNvPr id="49156" name="Footer Placeholder 6"/>
          <p:cNvSpPr>
            <a:spLocks noGrp="1"/>
          </p:cNvSpPr>
          <p:nvPr>
            <p:ph type="ftr" sz="quarter" idx="11"/>
          </p:nvPr>
        </p:nvSpPr>
        <p:spPr>
          <a:noFill/>
        </p:spPr>
        <p:txBody>
          <a:bodyPr/>
          <a:lstStyle/>
          <a:p>
            <a:r>
              <a:rPr lang="en-US"/>
              <a:t>DataBase Design Course Notes 03 - Normalization</a:t>
            </a:r>
          </a:p>
        </p:txBody>
      </p:sp>
      <p:sp>
        <p:nvSpPr>
          <p:cNvPr id="49157" name="Slide Number Placeholder 7"/>
          <p:cNvSpPr>
            <a:spLocks noGrp="1"/>
          </p:cNvSpPr>
          <p:nvPr>
            <p:ph type="sldNum" sz="quarter" idx="12"/>
          </p:nvPr>
        </p:nvSpPr>
        <p:spPr>
          <a:noFill/>
        </p:spPr>
        <p:txBody>
          <a:bodyPr/>
          <a:lstStyle/>
          <a:p>
            <a:fld id="{6B65635A-5C33-4366-B8B8-A8F5031B8F5A}" type="slidenum">
              <a:rPr lang="en-US" smtClean="0"/>
              <a:pPr/>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solidFill>
                  <a:schemeClr val="tx1"/>
                </a:solidFill>
              </a:rPr>
              <a:t>Multivalued Dependencies</a:t>
            </a:r>
            <a:endParaRPr lang="en-US" sz="3200"/>
          </a:p>
        </p:txBody>
      </p:sp>
      <p:sp>
        <p:nvSpPr>
          <p:cNvPr id="50179" name="Content Placeholder 2"/>
          <p:cNvSpPr>
            <a:spLocks noGrp="1"/>
          </p:cNvSpPr>
          <p:nvPr>
            <p:ph idx="1"/>
          </p:nvPr>
        </p:nvSpPr>
        <p:spPr/>
        <p:txBody>
          <a:bodyPr/>
          <a:lstStyle/>
          <a:p>
            <a:r>
              <a:rPr lang="en-US"/>
              <a:t>Third Normal Form is generally considered pinnacle of proper database design</a:t>
            </a:r>
          </a:p>
          <a:p>
            <a:r>
              <a:rPr lang="en-US"/>
              <a:t>serious problems might still remain in logical design</a:t>
            </a:r>
          </a:p>
        </p:txBody>
      </p:sp>
      <p:sp>
        <p:nvSpPr>
          <p:cNvPr id="50180" name="Footer Placeholder 3"/>
          <p:cNvSpPr>
            <a:spLocks noGrp="1"/>
          </p:cNvSpPr>
          <p:nvPr>
            <p:ph type="ftr" sz="quarter" idx="11"/>
          </p:nvPr>
        </p:nvSpPr>
        <p:spPr>
          <a:noFill/>
        </p:spPr>
        <p:txBody>
          <a:bodyPr/>
          <a:lstStyle/>
          <a:p>
            <a:r>
              <a:rPr lang="en-US"/>
              <a:t>DataBase Design Course Notes 03 - Normalization</a:t>
            </a:r>
          </a:p>
        </p:txBody>
      </p:sp>
      <p:sp>
        <p:nvSpPr>
          <p:cNvPr id="50181" name="Slide Number Placeholder 4"/>
          <p:cNvSpPr>
            <a:spLocks noGrp="1"/>
          </p:cNvSpPr>
          <p:nvPr>
            <p:ph type="sldNum" sz="quarter" idx="12"/>
          </p:nvPr>
        </p:nvSpPr>
        <p:spPr>
          <a:noFill/>
        </p:spPr>
        <p:txBody>
          <a:bodyPr/>
          <a:lstStyle/>
          <a:p>
            <a:fld id="{194605EB-F694-486D-9FAA-8A0F56869858}" type="slidenum">
              <a:rPr lang="en-US" smtClean="0"/>
              <a:pPr/>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solidFill>
                  <a:schemeClr val="tx1"/>
                </a:solidFill>
              </a:rPr>
              <a:t>Fourth Normal Form</a:t>
            </a:r>
            <a:endParaRPr lang="en-US"/>
          </a:p>
        </p:txBody>
      </p:sp>
      <p:sp>
        <p:nvSpPr>
          <p:cNvPr id="51203" name="Content Placeholder 2"/>
          <p:cNvSpPr>
            <a:spLocks noGrp="1"/>
          </p:cNvSpPr>
          <p:nvPr>
            <p:ph idx="1"/>
          </p:nvPr>
        </p:nvSpPr>
        <p:spPr/>
        <p:txBody>
          <a:bodyPr/>
          <a:lstStyle/>
          <a:p>
            <a:r>
              <a:rPr lang="en-US"/>
              <a:t>entity must be in BCNF</a:t>
            </a:r>
          </a:p>
          <a:p>
            <a:r>
              <a:rPr lang="en-US"/>
              <a:t>there must not be more than one multivalued dependency between an attribute and the key of the entity</a:t>
            </a:r>
          </a:p>
        </p:txBody>
      </p:sp>
      <p:sp>
        <p:nvSpPr>
          <p:cNvPr id="51204" name="Footer Placeholder 3"/>
          <p:cNvSpPr>
            <a:spLocks noGrp="1"/>
          </p:cNvSpPr>
          <p:nvPr>
            <p:ph type="ftr" sz="quarter" idx="11"/>
          </p:nvPr>
        </p:nvSpPr>
        <p:spPr>
          <a:noFill/>
        </p:spPr>
        <p:txBody>
          <a:bodyPr/>
          <a:lstStyle/>
          <a:p>
            <a:r>
              <a:rPr lang="en-US"/>
              <a:t>DataBase Design Course Notes 03 - Normalization</a:t>
            </a:r>
          </a:p>
        </p:txBody>
      </p:sp>
      <p:sp>
        <p:nvSpPr>
          <p:cNvPr id="51205" name="Slide Number Placeholder 4"/>
          <p:cNvSpPr>
            <a:spLocks noGrp="1"/>
          </p:cNvSpPr>
          <p:nvPr>
            <p:ph type="sldNum" sz="quarter" idx="12"/>
          </p:nvPr>
        </p:nvSpPr>
        <p:spPr>
          <a:noFill/>
        </p:spPr>
        <p:txBody>
          <a:bodyPr/>
          <a:lstStyle/>
          <a:p>
            <a:fld id="{A2CB45E5-4993-4D0D-B540-60D375DEABD1}" type="slidenum">
              <a:rPr lang="en-US" smtClean="0"/>
              <a:pPr/>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solidFill>
                  <a:schemeClr val="tx1"/>
                </a:solidFill>
              </a:rPr>
              <a:t>Fourth Normal Form</a:t>
            </a:r>
            <a:endParaRPr lang="en-US" sz="3200"/>
          </a:p>
        </p:txBody>
      </p:sp>
      <p:sp>
        <p:nvSpPr>
          <p:cNvPr id="52227" name="Content Placeholder 2"/>
          <p:cNvSpPr>
            <a:spLocks noGrp="1"/>
          </p:cNvSpPr>
          <p:nvPr>
            <p:ph idx="1"/>
          </p:nvPr>
        </p:nvSpPr>
        <p:spPr/>
        <p:txBody>
          <a:bodyPr/>
          <a:lstStyle/>
          <a:p>
            <a:r>
              <a:rPr lang="en-US"/>
              <a:t>table is in 4NF if and only if, for every one of its non-trivial multivalued dependencies </a:t>
            </a:r>
            <a:r>
              <a:rPr lang="en-US" i="1"/>
              <a:t>X </a:t>
            </a:r>
            <a:r>
              <a:rPr lang="en-US">
                <a:sym typeface="Symbol" pitchFamily="18" charset="2"/>
              </a:rPr>
              <a:t> </a:t>
            </a:r>
            <a:r>
              <a:rPr lang="en-US" i="1"/>
              <a:t>Y</a:t>
            </a:r>
            <a:r>
              <a:rPr lang="en-US"/>
              <a:t>, </a:t>
            </a:r>
            <a:r>
              <a:rPr lang="en-US" i="1"/>
              <a:t>X</a:t>
            </a:r>
            <a:r>
              <a:rPr lang="en-US"/>
              <a:t> is a super key, </a:t>
            </a:r>
            <a:r>
              <a:rPr lang="en-US" i="1"/>
              <a:t>X</a:t>
            </a:r>
            <a:r>
              <a:rPr lang="en-US"/>
              <a:t> is either candidate key or superset thereof</a:t>
            </a:r>
          </a:p>
        </p:txBody>
      </p:sp>
      <p:sp>
        <p:nvSpPr>
          <p:cNvPr id="52228" name="Footer Placeholder 3"/>
          <p:cNvSpPr>
            <a:spLocks noGrp="1"/>
          </p:cNvSpPr>
          <p:nvPr>
            <p:ph type="ftr" sz="quarter" idx="11"/>
          </p:nvPr>
        </p:nvSpPr>
        <p:spPr>
          <a:noFill/>
        </p:spPr>
        <p:txBody>
          <a:bodyPr/>
          <a:lstStyle/>
          <a:p>
            <a:r>
              <a:rPr lang="en-US"/>
              <a:t>DataBase Design Course Notes 03 - Normalization</a:t>
            </a:r>
          </a:p>
        </p:txBody>
      </p:sp>
      <p:sp>
        <p:nvSpPr>
          <p:cNvPr id="52229" name="Slide Number Placeholder 4"/>
          <p:cNvSpPr>
            <a:spLocks noGrp="1"/>
          </p:cNvSpPr>
          <p:nvPr>
            <p:ph type="sldNum" sz="quarter" idx="12"/>
          </p:nvPr>
        </p:nvSpPr>
        <p:spPr>
          <a:noFill/>
        </p:spPr>
        <p:txBody>
          <a:bodyPr/>
          <a:lstStyle/>
          <a:p>
            <a:fld id="{145FF251-176D-40D9-A0E6-A94336906F46}" type="slidenum">
              <a:rPr lang="en-US" smtClean="0"/>
              <a:pPr/>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solidFill>
                  <a:schemeClr val="tx1"/>
                </a:solidFill>
              </a:rPr>
              <a:t>Fourth Normal Form violations</a:t>
            </a:r>
            <a:endParaRPr lang="en-US" sz="3200"/>
          </a:p>
        </p:txBody>
      </p:sp>
      <p:sp>
        <p:nvSpPr>
          <p:cNvPr id="53251" name="Content Placeholder 2"/>
          <p:cNvSpPr>
            <a:spLocks noGrp="1"/>
          </p:cNvSpPr>
          <p:nvPr>
            <p:ph idx="1"/>
          </p:nvPr>
        </p:nvSpPr>
        <p:spPr/>
        <p:txBody>
          <a:bodyPr/>
          <a:lstStyle/>
          <a:p>
            <a:r>
              <a:rPr lang="en-US"/>
              <a:t>ternary relationships</a:t>
            </a:r>
          </a:p>
          <a:p>
            <a:r>
              <a:rPr lang="en-US"/>
              <a:t>lurking multivalued attributes</a:t>
            </a:r>
          </a:p>
          <a:p>
            <a:r>
              <a:rPr lang="en-US"/>
              <a:t>temporal data/value history</a:t>
            </a:r>
          </a:p>
        </p:txBody>
      </p:sp>
      <p:sp>
        <p:nvSpPr>
          <p:cNvPr id="53252" name="Footer Placeholder 3"/>
          <p:cNvSpPr>
            <a:spLocks noGrp="1"/>
          </p:cNvSpPr>
          <p:nvPr>
            <p:ph type="ftr" sz="quarter" idx="11"/>
          </p:nvPr>
        </p:nvSpPr>
        <p:spPr>
          <a:noFill/>
        </p:spPr>
        <p:txBody>
          <a:bodyPr/>
          <a:lstStyle/>
          <a:p>
            <a:r>
              <a:rPr lang="en-US"/>
              <a:t>DataBase Design Course Notes 03 - Normalization</a:t>
            </a:r>
          </a:p>
        </p:txBody>
      </p:sp>
      <p:sp>
        <p:nvSpPr>
          <p:cNvPr id="53253" name="Slide Number Placeholder 4"/>
          <p:cNvSpPr>
            <a:spLocks noGrp="1"/>
          </p:cNvSpPr>
          <p:nvPr>
            <p:ph type="sldNum" sz="quarter" idx="12"/>
          </p:nvPr>
        </p:nvSpPr>
        <p:spPr>
          <a:noFill/>
        </p:spPr>
        <p:txBody>
          <a:bodyPr/>
          <a:lstStyle/>
          <a:p>
            <a:fld id="{0CC7F504-52D5-4F87-A55A-2E0BD10CE042}" type="slidenum">
              <a:rPr lang="en-US" smtClean="0"/>
              <a:pPr/>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endParaRPr lang="en-US"/>
          </a:p>
        </p:txBody>
      </p:sp>
      <p:graphicFrame>
        <p:nvGraphicFramePr>
          <p:cNvPr id="6" name="Content Placeholder 5"/>
          <p:cNvGraphicFramePr>
            <a:graphicFrameLocks noGrp="1"/>
          </p:cNvGraphicFramePr>
          <p:nvPr>
            <p:ph idx="1"/>
          </p:nvPr>
        </p:nvGraphicFramePr>
        <p:xfrm>
          <a:off x="457200" y="1600200"/>
          <a:ext cx="8229600" cy="48209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en-US" u="none" dirty="0"/>
                        <a:t>Restaurant</a:t>
                      </a:r>
                    </a:p>
                  </a:txBody>
                  <a:tcPr anchor="ctr"/>
                </a:tc>
                <a:tc>
                  <a:txBody>
                    <a:bodyPr/>
                    <a:lstStyle/>
                    <a:p>
                      <a:r>
                        <a:rPr lang="en-US" u="none"/>
                        <a:t>Pizza Variety</a:t>
                      </a:r>
                    </a:p>
                  </a:txBody>
                  <a:tcPr anchor="ctr"/>
                </a:tc>
                <a:tc>
                  <a:txBody>
                    <a:bodyPr/>
                    <a:lstStyle/>
                    <a:p>
                      <a:r>
                        <a:rPr lang="en-US" u="none" dirty="0"/>
                        <a:t>Delivery Area</a:t>
                      </a:r>
                    </a:p>
                  </a:txBody>
                  <a:tcPr anchor="ctr"/>
                </a:tc>
                <a:extLst>
                  <a:ext uri="{0D108BD9-81ED-4DB2-BD59-A6C34878D82A}">
                    <a16:rowId xmlns:a16="http://schemas.microsoft.com/office/drawing/2014/main" val="10000"/>
                  </a:ext>
                </a:extLst>
              </a:tr>
              <a:tr h="370840">
                <a:tc>
                  <a:txBody>
                    <a:bodyPr/>
                    <a:lstStyle/>
                    <a:p>
                      <a:r>
                        <a:rPr lang="en-US" dirty="0"/>
                        <a:t>A1 Pizza</a:t>
                      </a:r>
                    </a:p>
                  </a:txBody>
                  <a:tcPr anchor="ctr"/>
                </a:tc>
                <a:tc>
                  <a:txBody>
                    <a:bodyPr/>
                    <a:lstStyle/>
                    <a:p>
                      <a:r>
                        <a:rPr lang="en-US"/>
                        <a:t>Thick Crust</a:t>
                      </a:r>
                    </a:p>
                  </a:txBody>
                  <a:tcPr anchor="ctr"/>
                </a:tc>
                <a:tc>
                  <a:txBody>
                    <a:bodyPr/>
                    <a:lstStyle/>
                    <a:p>
                      <a:r>
                        <a:rPr lang="en-US" dirty="0"/>
                        <a:t>Springfield</a:t>
                      </a:r>
                    </a:p>
                  </a:txBody>
                  <a:tcPr anchor="ctr"/>
                </a:tc>
                <a:extLst>
                  <a:ext uri="{0D108BD9-81ED-4DB2-BD59-A6C34878D82A}">
                    <a16:rowId xmlns:a16="http://schemas.microsoft.com/office/drawing/2014/main" val="10001"/>
                  </a:ext>
                </a:extLst>
              </a:tr>
              <a:tr h="370840">
                <a:tc>
                  <a:txBody>
                    <a:bodyPr/>
                    <a:lstStyle/>
                    <a:p>
                      <a:r>
                        <a:rPr lang="en-US"/>
                        <a:t>A1 Pizza</a:t>
                      </a:r>
                    </a:p>
                  </a:txBody>
                  <a:tcPr anchor="ctr"/>
                </a:tc>
                <a:tc>
                  <a:txBody>
                    <a:bodyPr/>
                    <a:lstStyle/>
                    <a:p>
                      <a:r>
                        <a:rPr lang="en-US"/>
                        <a:t>Thick Crust</a:t>
                      </a:r>
                    </a:p>
                  </a:txBody>
                  <a:tcPr anchor="ctr"/>
                </a:tc>
                <a:tc>
                  <a:txBody>
                    <a:bodyPr/>
                    <a:lstStyle/>
                    <a:p>
                      <a:r>
                        <a:rPr lang="en-US"/>
                        <a:t>Shelbyville</a:t>
                      </a:r>
                    </a:p>
                  </a:txBody>
                  <a:tcPr anchor="ctr"/>
                </a:tc>
                <a:extLst>
                  <a:ext uri="{0D108BD9-81ED-4DB2-BD59-A6C34878D82A}">
                    <a16:rowId xmlns:a16="http://schemas.microsoft.com/office/drawing/2014/main" val="10002"/>
                  </a:ext>
                </a:extLst>
              </a:tr>
              <a:tr h="370840">
                <a:tc>
                  <a:txBody>
                    <a:bodyPr/>
                    <a:lstStyle/>
                    <a:p>
                      <a:r>
                        <a:rPr lang="en-US"/>
                        <a:t>A1 Pizza</a:t>
                      </a:r>
                    </a:p>
                  </a:txBody>
                  <a:tcPr anchor="ctr"/>
                </a:tc>
                <a:tc>
                  <a:txBody>
                    <a:bodyPr/>
                    <a:lstStyle/>
                    <a:p>
                      <a:r>
                        <a:rPr lang="en-US"/>
                        <a:t>Thick Crust</a:t>
                      </a:r>
                    </a:p>
                  </a:txBody>
                  <a:tcPr anchor="ctr"/>
                </a:tc>
                <a:tc>
                  <a:txBody>
                    <a:bodyPr/>
                    <a:lstStyle/>
                    <a:p>
                      <a:r>
                        <a:rPr lang="en-US"/>
                        <a:t>Capital City</a:t>
                      </a:r>
                    </a:p>
                  </a:txBody>
                  <a:tcPr anchor="ctr"/>
                </a:tc>
                <a:extLst>
                  <a:ext uri="{0D108BD9-81ED-4DB2-BD59-A6C34878D82A}">
                    <a16:rowId xmlns:a16="http://schemas.microsoft.com/office/drawing/2014/main" val="10003"/>
                  </a:ext>
                </a:extLst>
              </a:tr>
              <a:tr h="370840">
                <a:tc>
                  <a:txBody>
                    <a:bodyPr/>
                    <a:lstStyle/>
                    <a:p>
                      <a:r>
                        <a:rPr lang="en-US"/>
                        <a:t>A1 Pizza</a:t>
                      </a:r>
                    </a:p>
                  </a:txBody>
                  <a:tcPr anchor="ctr"/>
                </a:tc>
                <a:tc>
                  <a:txBody>
                    <a:bodyPr/>
                    <a:lstStyle/>
                    <a:p>
                      <a:r>
                        <a:rPr lang="en-US"/>
                        <a:t>Stuffed Crust</a:t>
                      </a:r>
                    </a:p>
                  </a:txBody>
                  <a:tcPr anchor="ctr"/>
                </a:tc>
                <a:tc>
                  <a:txBody>
                    <a:bodyPr/>
                    <a:lstStyle/>
                    <a:p>
                      <a:r>
                        <a:rPr lang="en-US"/>
                        <a:t>Springfield</a:t>
                      </a:r>
                    </a:p>
                  </a:txBody>
                  <a:tcPr anchor="ctr"/>
                </a:tc>
                <a:extLst>
                  <a:ext uri="{0D108BD9-81ED-4DB2-BD59-A6C34878D82A}">
                    <a16:rowId xmlns:a16="http://schemas.microsoft.com/office/drawing/2014/main" val="10004"/>
                  </a:ext>
                </a:extLst>
              </a:tr>
              <a:tr h="370840">
                <a:tc>
                  <a:txBody>
                    <a:bodyPr/>
                    <a:lstStyle/>
                    <a:p>
                      <a:r>
                        <a:rPr lang="en-US"/>
                        <a:t>A1 Pizza</a:t>
                      </a:r>
                    </a:p>
                  </a:txBody>
                  <a:tcPr anchor="ctr"/>
                </a:tc>
                <a:tc>
                  <a:txBody>
                    <a:bodyPr/>
                    <a:lstStyle/>
                    <a:p>
                      <a:r>
                        <a:rPr lang="en-US"/>
                        <a:t>Stuffed Crust</a:t>
                      </a:r>
                    </a:p>
                  </a:txBody>
                  <a:tcPr anchor="ctr"/>
                </a:tc>
                <a:tc>
                  <a:txBody>
                    <a:bodyPr/>
                    <a:lstStyle/>
                    <a:p>
                      <a:r>
                        <a:rPr lang="en-US"/>
                        <a:t>Shelbyville</a:t>
                      </a:r>
                    </a:p>
                  </a:txBody>
                  <a:tcPr anchor="ctr"/>
                </a:tc>
                <a:extLst>
                  <a:ext uri="{0D108BD9-81ED-4DB2-BD59-A6C34878D82A}">
                    <a16:rowId xmlns:a16="http://schemas.microsoft.com/office/drawing/2014/main" val="10005"/>
                  </a:ext>
                </a:extLst>
              </a:tr>
              <a:tr h="370840">
                <a:tc>
                  <a:txBody>
                    <a:bodyPr/>
                    <a:lstStyle/>
                    <a:p>
                      <a:r>
                        <a:rPr lang="en-US"/>
                        <a:t>A1 Pizza</a:t>
                      </a:r>
                    </a:p>
                  </a:txBody>
                  <a:tcPr anchor="ctr"/>
                </a:tc>
                <a:tc>
                  <a:txBody>
                    <a:bodyPr/>
                    <a:lstStyle/>
                    <a:p>
                      <a:r>
                        <a:rPr lang="en-US"/>
                        <a:t>Stuffed Crust</a:t>
                      </a:r>
                    </a:p>
                  </a:txBody>
                  <a:tcPr anchor="ctr"/>
                </a:tc>
                <a:tc>
                  <a:txBody>
                    <a:bodyPr/>
                    <a:lstStyle/>
                    <a:p>
                      <a:r>
                        <a:rPr lang="en-US"/>
                        <a:t>Capital City</a:t>
                      </a:r>
                    </a:p>
                  </a:txBody>
                  <a:tcPr anchor="ctr"/>
                </a:tc>
                <a:extLst>
                  <a:ext uri="{0D108BD9-81ED-4DB2-BD59-A6C34878D82A}">
                    <a16:rowId xmlns:a16="http://schemas.microsoft.com/office/drawing/2014/main" val="10006"/>
                  </a:ext>
                </a:extLst>
              </a:tr>
              <a:tr h="370840">
                <a:tc>
                  <a:txBody>
                    <a:bodyPr/>
                    <a:lstStyle/>
                    <a:p>
                      <a:r>
                        <a:rPr lang="en-US"/>
                        <a:t>Elite Pizza</a:t>
                      </a:r>
                    </a:p>
                  </a:txBody>
                  <a:tcPr anchor="ctr"/>
                </a:tc>
                <a:tc>
                  <a:txBody>
                    <a:bodyPr/>
                    <a:lstStyle/>
                    <a:p>
                      <a:r>
                        <a:rPr lang="en-US"/>
                        <a:t>Thin Crust</a:t>
                      </a:r>
                    </a:p>
                  </a:txBody>
                  <a:tcPr anchor="ctr"/>
                </a:tc>
                <a:tc>
                  <a:txBody>
                    <a:bodyPr/>
                    <a:lstStyle/>
                    <a:p>
                      <a:r>
                        <a:rPr lang="en-US"/>
                        <a:t>Capital City</a:t>
                      </a:r>
                    </a:p>
                  </a:txBody>
                  <a:tcPr anchor="ctr"/>
                </a:tc>
                <a:extLst>
                  <a:ext uri="{0D108BD9-81ED-4DB2-BD59-A6C34878D82A}">
                    <a16:rowId xmlns:a16="http://schemas.microsoft.com/office/drawing/2014/main" val="10007"/>
                  </a:ext>
                </a:extLst>
              </a:tr>
              <a:tr h="370840">
                <a:tc>
                  <a:txBody>
                    <a:bodyPr/>
                    <a:lstStyle/>
                    <a:p>
                      <a:r>
                        <a:rPr lang="en-US"/>
                        <a:t>Elite Pizza</a:t>
                      </a:r>
                    </a:p>
                  </a:txBody>
                  <a:tcPr anchor="ctr"/>
                </a:tc>
                <a:tc>
                  <a:txBody>
                    <a:bodyPr/>
                    <a:lstStyle/>
                    <a:p>
                      <a:r>
                        <a:rPr lang="en-US"/>
                        <a:t>Stuffed Crust</a:t>
                      </a:r>
                    </a:p>
                  </a:txBody>
                  <a:tcPr anchor="ctr"/>
                </a:tc>
                <a:tc>
                  <a:txBody>
                    <a:bodyPr/>
                    <a:lstStyle/>
                    <a:p>
                      <a:r>
                        <a:rPr lang="en-US"/>
                        <a:t>Capital City</a:t>
                      </a:r>
                    </a:p>
                  </a:txBody>
                  <a:tcPr anchor="ctr"/>
                </a:tc>
                <a:extLst>
                  <a:ext uri="{0D108BD9-81ED-4DB2-BD59-A6C34878D82A}">
                    <a16:rowId xmlns:a16="http://schemas.microsoft.com/office/drawing/2014/main" val="10008"/>
                  </a:ext>
                </a:extLst>
              </a:tr>
              <a:tr h="370840">
                <a:tc>
                  <a:txBody>
                    <a:bodyPr/>
                    <a:lstStyle/>
                    <a:p>
                      <a:r>
                        <a:rPr lang="en-US"/>
                        <a:t>Vincenzo's Pizza</a:t>
                      </a:r>
                    </a:p>
                  </a:txBody>
                  <a:tcPr anchor="ctr"/>
                </a:tc>
                <a:tc>
                  <a:txBody>
                    <a:bodyPr/>
                    <a:lstStyle/>
                    <a:p>
                      <a:r>
                        <a:rPr lang="en-US"/>
                        <a:t>Thick Crust</a:t>
                      </a:r>
                    </a:p>
                  </a:txBody>
                  <a:tcPr anchor="ctr"/>
                </a:tc>
                <a:tc>
                  <a:txBody>
                    <a:bodyPr/>
                    <a:lstStyle/>
                    <a:p>
                      <a:r>
                        <a:rPr lang="en-US"/>
                        <a:t>Springfield</a:t>
                      </a:r>
                    </a:p>
                  </a:txBody>
                  <a:tcPr anchor="ctr"/>
                </a:tc>
                <a:extLst>
                  <a:ext uri="{0D108BD9-81ED-4DB2-BD59-A6C34878D82A}">
                    <a16:rowId xmlns:a16="http://schemas.microsoft.com/office/drawing/2014/main" val="10009"/>
                  </a:ext>
                </a:extLst>
              </a:tr>
              <a:tr h="370840">
                <a:tc>
                  <a:txBody>
                    <a:bodyPr/>
                    <a:lstStyle/>
                    <a:p>
                      <a:r>
                        <a:rPr lang="en-US"/>
                        <a:t>Vincenzo's Pizza</a:t>
                      </a:r>
                    </a:p>
                  </a:txBody>
                  <a:tcPr anchor="ctr"/>
                </a:tc>
                <a:tc>
                  <a:txBody>
                    <a:bodyPr/>
                    <a:lstStyle/>
                    <a:p>
                      <a:r>
                        <a:rPr lang="en-US"/>
                        <a:t>Thick Crust</a:t>
                      </a:r>
                    </a:p>
                  </a:txBody>
                  <a:tcPr anchor="ctr"/>
                </a:tc>
                <a:tc>
                  <a:txBody>
                    <a:bodyPr/>
                    <a:lstStyle/>
                    <a:p>
                      <a:r>
                        <a:rPr lang="en-US"/>
                        <a:t>Shelbyville</a:t>
                      </a:r>
                    </a:p>
                  </a:txBody>
                  <a:tcPr anchor="ctr"/>
                </a:tc>
                <a:extLst>
                  <a:ext uri="{0D108BD9-81ED-4DB2-BD59-A6C34878D82A}">
                    <a16:rowId xmlns:a16="http://schemas.microsoft.com/office/drawing/2014/main" val="10010"/>
                  </a:ext>
                </a:extLst>
              </a:tr>
              <a:tr h="370840">
                <a:tc>
                  <a:txBody>
                    <a:bodyPr/>
                    <a:lstStyle/>
                    <a:p>
                      <a:r>
                        <a:rPr lang="en-US"/>
                        <a:t>Vincenzo's Pizza</a:t>
                      </a:r>
                    </a:p>
                  </a:txBody>
                  <a:tcPr anchor="ctr"/>
                </a:tc>
                <a:tc>
                  <a:txBody>
                    <a:bodyPr/>
                    <a:lstStyle/>
                    <a:p>
                      <a:r>
                        <a:rPr lang="en-US"/>
                        <a:t>Thin Crust</a:t>
                      </a:r>
                    </a:p>
                  </a:txBody>
                  <a:tcPr anchor="ctr"/>
                </a:tc>
                <a:tc>
                  <a:txBody>
                    <a:bodyPr/>
                    <a:lstStyle/>
                    <a:p>
                      <a:r>
                        <a:rPr lang="en-US"/>
                        <a:t>Springfield</a:t>
                      </a:r>
                    </a:p>
                  </a:txBody>
                  <a:tcPr anchor="ctr"/>
                </a:tc>
                <a:extLst>
                  <a:ext uri="{0D108BD9-81ED-4DB2-BD59-A6C34878D82A}">
                    <a16:rowId xmlns:a16="http://schemas.microsoft.com/office/drawing/2014/main" val="10011"/>
                  </a:ext>
                </a:extLst>
              </a:tr>
              <a:tr h="370840">
                <a:tc>
                  <a:txBody>
                    <a:bodyPr/>
                    <a:lstStyle/>
                    <a:p>
                      <a:r>
                        <a:rPr lang="en-US"/>
                        <a:t>Vincenzo's Pizza</a:t>
                      </a:r>
                    </a:p>
                  </a:txBody>
                  <a:tcPr anchor="ctr"/>
                </a:tc>
                <a:tc>
                  <a:txBody>
                    <a:bodyPr/>
                    <a:lstStyle/>
                    <a:p>
                      <a:r>
                        <a:rPr lang="en-US"/>
                        <a:t>Thin Crust</a:t>
                      </a:r>
                    </a:p>
                  </a:txBody>
                  <a:tcPr anchor="ctr"/>
                </a:tc>
                <a:tc>
                  <a:txBody>
                    <a:bodyPr/>
                    <a:lstStyle/>
                    <a:p>
                      <a:r>
                        <a:rPr lang="en-US" dirty="0"/>
                        <a:t>Shelbyville</a:t>
                      </a:r>
                    </a:p>
                  </a:txBody>
                  <a:tcPr anchor="ctr"/>
                </a:tc>
                <a:extLst>
                  <a:ext uri="{0D108BD9-81ED-4DB2-BD59-A6C34878D82A}">
                    <a16:rowId xmlns:a16="http://schemas.microsoft.com/office/drawing/2014/main" val="10012"/>
                  </a:ext>
                </a:extLst>
              </a:tr>
            </a:tbl>
          </a:graphicData>
        </a:graphic>
      </p:graphicFrame>
      <p:sp>
        <p:nvSpPr>
          <p:cNvPr id="54333" name="Footer Placeholder 3"/>
          <p:cNvSpPr>
            <a:spLocks noGrp="1"/>
          </p:cNvSpPr>
          <p:nvPr>
            <p:ph type="ftr" sz="quarter" idx="11"/>
          </p:nvPr>
        </p:nvSpPr>
        <p:spPr>
          <a:noFill/>
        </p:spPr>
        <p:txBody>
          <a:bodyPr/>
          <a:lstStyle/>
          <a:p>
            <a:r>
              <a:rPr lang="en-US"/>
              <a:t>DataBase Design Course Notes 03 - Normalization</a:t>
            </a:r>
          </a:p>
        </p:txBody>
      </p:sp>
      <p:sp>
        <p:nvSpPr>
          <p:cNvPr id="54334" name="Slide Number Placeholder 4"/>
          <p:cNvSpPr>
            <a:spLocks noGrp="1"/>
          </p:cNvSpPr>
          <p:nvPr>
            <p:ph type="sldNum" sz="quarter" idx="12"/>
          </p:nvPr>
        </p:nvSpPr>
        <p:spPr>
          <a:noFill/>
        </p:spPr>
        <p:txBody>
          <a:bodyPr/>
          <a:lstStyle/>
          <a:p>
            <a:fld id="{7DEBA238-4E6C-4BEF-BB4E-4DF2BB2D8A8A}" type="slidenum">
              <a:rPr lang="en-US" smtClean="0"/>
              <a:pPr/>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endParaRPr lang="en-US"/>
          </a:p>
        </p:txBody>
      </p:sp>
      <p:sp>
        <p:nvSpPr>
          <p:cNvPr id="55299" name="Content Placeholder 2"/>
          <p:cNvSpPr>
            <a:spLocks noGrp="1"/>
          </p:cNvSpPr>
          <p:nvPr>
            <p:ph idx="1"/>
          </p:nvPr>
        </p:nvSpPr>
        <p:spPr/>
        <p:txBody>
          <a:bodyPr/>
          <a:lstStyle/>
          <a:p>
            <a:r>
              <a:rPr lang="en-US"/>
              <a:t>table has no non-key attributes</a:t>
            </a:r>
          </a:p>
          <a:p>
            <a:r>
              <a:rPr lang="en-US"/>
              <a:t>meets all normal forms up to BCNF</a:t>
            </a:r>
          </a:p>
          <a:p>
            <a:r>
              <a:rPr lang="it-IT"/>
              <a:t>not in 4NF</a:t>
            </a:r>
            <a:r>
              <a:rPr lang="en-US"/>
              <a:t>, non-trivial multivalued dependencies</a:t>
            </a:r>
          </a:p>
          <a:p>
            <a:r>
              <a:rPr lang="en-US"/>
              <a:t>{Restaurant} </a:t>
            </a:r>
            <a:r>
              <a:rPr lang="en-US">
                <a:sym typeface="Symbol" pitchFamily="18" charset="2"/>
              </a:rPr>
              <a:t></a:t>
            </a:r>
            <a:r>
              <a:rPr lang="en-US"/>
              <a:t> {Pizza Variety} </a:t>
            </a:r>
          </a:p>
          <a:p>
            <a:r>
              <a:rPr lang="en-US"/>
              <a:t>{Restaurant} </a:t>
            </a:r>
            <a:r>
              <a:rPr lang="en-US">
                <a:sym typeface="Symbol" pitchFamily="18" charset="2"/>
              </a:rPr>
              <a:t></a:t>
            </a:r>
            <a:r>
              <a:rPr lang="en-US"/>
              <a:t> {Delivery Area}</a:t>
            </a:r>
          </a:p>
          <a:p>
            <a:r>
              <a:rPr lang="en-US"/>
              <a:t>eliminate possibility of anomalies</a:t>
            </a:r>
          </a:p>
        </p:txBody>
      </p:sp>
      <p:sp>
        <p:nvSpPr>
          <p:cNvPr id="55300" name="Footer Placeholder 3"/>
          <p:cNvSpPr>
            <a:spLocks noGrp="1"/>
          </p:cNvSpPr>
          <p:nvPr>
            <p:ph type="ftr" sz="quarter" idx="11"/>
          </p:nvPr>
        </p:nvSpPr>
        <p:spPr>
          <a:noFill/>
        </p:spPr>
        <p:txBody>
          <a:bodyPr/>
          <a:lstStyle/>
          <a:p>
            <a:r>
              <a:rPr lang="en-US"/>
              <a:t>DataBase Design Course Notes 03 - Normalization</a:t>
            </a:r>
          </a:p>
        </p:txBody>
      </p:sp>
      <p:sp>
        <p:nvSpPr>
          <p:cNvPr id="55301" name="Slide Number Placeholder 4"/>
          <p:cNvSpPr>
            <a:spLocks noGrp="1"/>
          </p:cNvSpPr>
          <p:nvPr>
            <p:ph type="sldNum" sz="quarter" idx="12"/>
          </p:nvPr>
        </p:nvSpPr>
        <p:spPr>
          <a:noFill/>
        </p:spPr>
        <p:txBody>
          <a:bodyPr/>
          <a:lstStyle/>
          <a:p>
            <a:fld id="{03F6FF01-DE3D-44A9-9D87-4AFBC799051F}" type="slidenum">
              <a:rPr lang="en-US" smtClean="0"/>
              <a:pPr/>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5"/>
          <p:cNvSpPr>
            <a:spLocks noGrp="1"/>
          </p:cNvSpPr>
          <p:nvPr>
            <p:ph type="title"/>
          </p:nvPr>
        </p:nvSpPr>
        <p:spPr/>
        <p:txBody>
          <a:bodyPr/>
          <a:lstStyle/>
          <a:p>
            <a:endParaRPr lang="en-US"/>
          </a:p>
        </p:txBody>
      </p:sp>
      <p:sp>
        <p:nvSpPr>
          <p:cNvPr id="56323" name="Text Placeholder 6"/>
          <p:cNvSpPr>
            <a:spLocks noGrp="1"/>
          </p:cNvSpPr>
          <p:nvPr>
            <p:ph type="body" idx="1"/>
          </p:nvPr>
        </p:nvSpPr>
        <p:spPr/>
        <p:txBody>
          <a:bodyPr/>
          <a:lstStyle/>
          <a:p>
            <a:endParaRPr lang="en-US"/>
          </a:p>
        </p:txBody>
      </p:sp>
      <p:graphicFrame>
        <p:nvGraphicFramePr>
          <p:cNvPr id="11" name="Content Placeholder 10"/>
          <p:cNvGraphicFramePr>
            <a:graphicFrameLocks noGrp="1"/>
          </p:cNvGraphicFramePr>
          <p:nvPr>
            <p:ph sz="half" idx="2"/>
          </p:nvPr>
        </p:nvGraphicFramePr>
        <p:xfrm>
          <a:off x="457200" y="2174875"/>
          <a:ext cx="4040188" cy="2595880"/>
        </p:xfrm>
        <a:graphic>
          <a:graphicData uri="http://schemas.openxmlformats.org/drawingml/2006/table">
            <a:tbl>
              <a:tblPr firstRow="1" bandRow="1">
                <a:tableStyleId>{5C22544A-7EE6-4342-B048-85BDC9FD1C3A}</a:tableStyleId>
              </a:tblPr>
              <a:tblGrid>
                <a:gridCol w="2020094">
                  <a:extLst>
                    <a:ext uri="{9D8B030D-6E8A-4147-A177-3AD203B41FA5}">
                      <a16:colId xmlns:a16="http://schemas.microsoft.com/office/drawing/2014/main" val="20000"/>
                    </a:ext>
                  </a:extLst>
                </a:gridCol>
                <a:gridCol w="2020094">
                  <a:extLst>
                    <a:ext uri="{9D8B030D-6E8A-4147-A177-3AD203B41FA5}">
                      <a16:colId xmlns:a16="http://schemas.microsoft.com/office/drawing/2014/main" val="20001"/>
                    </a:ext>
                  </a:extLst>
                </a:gridCol>
              </a:tblGrid>
              <a:tr h="370840">
                <a:tc>
                  <a:txBody>
                    <a:bodyPr/>
                    <a:lstStyle/>
                    <a:p>
                      <a:r>
                        <a:rPr lang="en-US" u="none" dirty="0"/>
                        <a:t>Restaurant</a:t>
                      </a:r>
                    </a:p>
                  </a:txBody>
                  <a:tcPr marL="38100" marR="38100" marT="38100" marB="38100" anchor="ctr"/>
                </a:tc>
                <a:tc>
                  <a:txBody>
                    <a:bodyPr/>
                    <a:lstStyle/>
                    <a:p>
                      <a:r>
                        <a:rPr lang="en-US" u="none" dirty="0"/>
                        <a:t>Pizza Variety</a:t>
                      </a:r>
                    </a:p>
                  </a:txBody>
                  <a:tcPr marL="38100" marR="38100" marT="38100" marB="38100" anchor="ctr"/>
                </a:tc>
                <a:extLst>
                  <a:ext uri="{0D108BD9-81ED-4DB2-BD59-A6C34878D82A}">
                    <a16:rowId xmlns:a16="http://schemas.microsoft.com/office/drawing/2014/main" val="10000"/>
                  </a:ext>
                </a:extLst>
              </a:tr>
              <a:tr h="370840">
                <a:tc>
                  <a:txBody>
                    <a:bodyPr/>
                    <a:lstStyle/>
                    <a:p>
                      <a:r>
                        <a:rPr lang="en-US" dirty="0"/>
                        <a:t>A1 Pizza</a:t>
                      </a:r>
                    </a:p>
                  </a:txBody>
                  <a:tcPr marL="38100" marR="38100" marT="38100" marB="38100" anchor="ctr"/>
                </a:tc>
                <a:tc>
                  <a:txBody>
                    <a:bodyPr/>
                    <a:lstStyle/>
                    <a:p>
                      <a:r>
                        <a:rPr lang="en-US" dirty="0"/>
                        <a:t>Thick Crust</a:t>
                      </a:r>
                    </a:p>
                  </a:txBody>
                  <a:tcPr marL="38100" marR="38100" marT="38100" marB="38100" anchor="ctr"/>
                </a:tc>
                <a:extLst>
                  <a:ext uri="{0D108BD9-81ED-4DB2-BD59-A6C34878D82A}">
                    <a16:rowId xmlns:a16="http://schemas.microsoft.com/office/drawing/2014/main" val="10001"/>
                  </a:ext>
                </a:extLst>
              </a:tr>
              <a:tr h="370840">
                <a:tc>
                  <a:txBody>
                    <a:bodyPr/>
                    <a:lstStyle/>
                    <a:p>
                      <a:r>
                        <a:rPr lang="en-US"/>
                        <a:t>A1 Pizza</a:t>
                      </a:r>
                    </a:p>
                  </a:txBody>
                  <a:tcPr marL="38100" marR="38100" marT="38100" marB="38100" anchor="ctr"/>
                </a:tc>
                <a:tc>
                  <a:txBody>
                    <a:bodyPr/>
                    <a:lstStyle/>
                    <a:p>
                      <a:r>
                        <a:rPr lang="en-US"/>
                        <a:t>Stuffed Crust</a:t>
                      </a:r>
                    </a:p>
                  </a:txBody>
                  <a:tcPr marL="38100" marR="38100" marT="38100" marB="38100" anchor="ctr"/>
                </a:tc>
                <a:extLst>
                  <a:ext uri="{0D108BD9-81ED-4DB2-BD59-A6C34878D82A}">
                    <a16:rowId xmlns:a16="http://schemas.microsoft.com/office/drawing/2014/main" val="10002"/>
                  </a:ext>
                </a:extLst>
              </a:tr>
              <a:tr h="370840">
                <a:tc>
                  <a:txBody>
                    <a:bodyPr/>
                    <a:lstStyle/>
                    <a:p>
                      <a:r>
                        <a:rPr lang="en-US"/>
                        <a:t>Elite Pizza</a:t>
                      </a:r>
                    </a:p>
                  </a:txBody>
                  <a:tcPr marL="38100" marR="38100" marT="38100" marB="38100" anchor="ctr"/>
                </a:tc>
                <a:tc>
                  <a:txBody>
                    <a:bodyPr/>
                    <a:lstStyle/>
                    <a:p>
                      <a:r>
                        <a:rPr lang="en-US"/>
                        <a:t>Thin Crust</a:t>
                      </a:r>
                    </a:p>
                  </a:txBody>
                  <a:tcPr marL="38100" marR="38100" marT="38100" marB="38100" anchor="ctr"/>
                </a:tc>
                <a:extLst>
                  <a:ext uri="{0D108BD9-81ED-4DB2-BD59-A6C34878D82A}">
                    <a16:rowId xmlns:a16="http://schemas.microsoft.com/office/drawing/2014/main" val="10003"/>
                  </a:ext>
                </a:extLst>
              </a:tr>
              <a:tr h="370840">
                <a:tc>
                  <a:txBody>
                    <a:bodyPr/>
                    <a:lstStyle/>
                    <a:p>
                      <a:r>
                        <a:rPr lang="en-US"/>
                        <a:t>Elite Pizza</a:t>
                      </a:r>
                    </a:p>
                  </a:txBody>
                  <a:tcPr marL="38100" marR="38100" marT="38100" marB="38100" anchor="ctr"/>
                </a:tc>
                <a:tc>
                  <a:txBody>
                    <a:bodyPr/>
                    <a:lstStyle/>
                    <a:p>
                      <a:r>
                        <a:rPr lang="en-US"/>
                        <a:t>Stuffed Crust</a:t>
                      </a:r>
                    </a:p>
                  </a:txBody>
                  <a:tcPr marL="38100" marR="38100" marT="38100" marB="38100" anchor="ctr"/>
                </a:tc>
                <a:extLst>
                  <a:ext uri="{0D108BD9-81ED-4DB2-BD59-A6C34878D82A}">
                    <a16:rowId xmlns:a16="http://schemas.microsoft.com/office/drawing/2014/main" val="10004"/>
                  </a:ext>
                </a:extLst>
              </a:tr>
              <a:tr h="370840">
                <a:tc>
                  <a:txBody>
                    <a:bodyPr/>
                    <a:lstStyle/>
                    <a:p>
                      <a:r>
                        <a:rPr lang="en-US"/>
                        <a:t>Vincenzo's Pizza</a:t>
                      </a:r>
                    </a:p>
                  </a:txBody>
                  <a:tcPr marL="38100" marR="38100" marT="38100" marB="38100" anchor="ctr"/>
                </a:tc>
                <a:tc>
                  <a:txBody>
                    <a:bodyPr/>
                    <a:lstStyle/>
                    <a:p>
                      <a:r>
                        <a:rPr lang="en-US"/>
                        <a:t>Thick Crust</a:t>
                      </a:r>
                    </a:p>
                  </a:txBody>
                  <a:tcPr marL="38100" marR="38100" marT="38100" marB="38100" anchor="ctr"/>
                </a:tc>
                <a:extLst>
                  <a:ext uri="{0D108BD9-81ED-4DB2-BD59-A6C34878D82A}">
                    <a16:rowId xmlns:a16="http://schemas.microsoft.com/office/drawing/2014/main" val="10005"/>
                  </a:ext>
                </a:extLst>
              </a:tr>
              <a:tr h="370840">
                <a:tc>
                  <a:txBody>
                    <a:bodyPr/>
                    <a:lstStyle/>
                    <a:p>
                      <a:r>
                        <a:rPr lang="en-US"/>
                        <a:t>Vincenzo's Pizza</a:t>
                      </a:r>
                    </a:p>
                  </a:txBody>
                  <a:tcPr marL="38100" marR="38100" marT="38100" marB="38100" anchor="ctr"/>
                </a:tc>
                <a:tc>
                  <a:txBody>
                    <a:bodyPr/>
                    <a:lstStyle/>
                    <a:p>
                      <a:r>
                        <a:rPr lang="en-US" dirty="0"/>
                        <a:t>Thin Crust</a:t>
                      </a:r>
                    </a:p>
                  </a:txBody>
                  <a:tcPr marL="38100" marR="38100" marT="38100" marB="38100" anchor="ctr"/>
                </a:tc>
                <a:extLst>
                  <a:ext uri="{0D108BD9-81ED-4DB2-BD59-A6C34878D82A}">
                    <a16:rowId xmlns:a16="http://schemas.microsoft.com/office/drawing/2014/main" val="10006"/>
                  </a:ext>
                </a:extLst>
              </a:tr>
            </a:tbl>
          </a:graphicData>
        </a:graphic>
      </p:graphicFrame>
      <p:sp>
        <p:nvSpPr>
          <p:cNvPr id="56350" name="Text Placeholder 8"/>
          <p:cNvSpPr>
            <a:spLocks noGrp="1"/>
          </p:cNvSpPr>
          <p:nvPr>
            <p:ph type="body" sz="quarter" idx="3"/>
          </p:nvPr>
        </p:nvSpPr>
        <p:spPr/>
        <p:txBody>
          <a:bodyPr/>
          <a:lstStyle/>
          <a:p>
            <a:endParaRPr lang="en-US"/>
          </a:p>
        </p:txBody>
      </p:sp>
      <p:graphicFrame>
        <p:nvGraphicFramePr>
          <p:cNvPr id="12" name="Content Placeholder 11"/>
          <p:cNvGraphicFramePr>
            <a:graphicFrameLocks noGrp="1"/>
          </p:cNvGraphicFramePr>
          <p:nvPr>
            <p:ph sz="quarter" idx="4"/>
          </p:nvPr>
        </p:nvGraphicFramePr>
        <p:xfrm>
          <a:off x="4645025" y="2174875"/>
          <a:ext cx="4041776" cy="2595880"/>
        </p:xfrm>
        <a:graphic>
          <a:graphicData uri="http://schemas.openxmlformats.org/drawingml/2006/table">
            <a:tbl>
              <a:tblPr firstRow="1" bandRow="1">
                <a:tableStyleId>{5C22544A-7EE6-4342-B048-85BDC9FD1C3A}</a:tableStyleId>
              </a:tblPr>
              <a:tblGrid>
                <a:gridCol w="2020888">
                  <a:extLst>
                    <a:ext uri="{9D8B030D-6E8A-4147-A177-3AD203B41FA5}">
                      <a16:colId xmlns:a16="http://schemas.microsoft.com/office/drawing/2014/main" val="20000"/>
                    </a:ext>
                  </a:extLst>
                </a:gridCol>
                <a:gridCol w="2020888">
                  <a:extLst>
                    <a:ext uri="{9D8B030D-6E8A-4147-A177-3AD203B41FA5}">
                      <a16:colId xmlns:a16="http://schemas.microsoft.com/office/drawing/2014/main" val="20001"/>
                    </a:ext>
                  </a:extLst>
                </a:gridCol>
              </a:tblGrid>
              <a:tr h="370840">
                <a:tc>
                  <a:txBody>
                    <a:bodyPr/>
                    <a:lstStyle/>
                    <a:p>
                      <a:r>
                        <a:rPr lang="en-US" u="none" dirty="0"/>
                        <a:t>Restaurant</a:t>
                      </a:r>
                    </a:p>
                  </a:txBody>
                  <a:tcPr marL="38100" marR="38100" marT="38100" marB="38100" anchor="ctr"/>
                </a:tc>
                <a:tc>
                  <a:txBody>
                    <a:bodyPr/>
                    <a:lstStyle/>
                    <a:p>
                      <a:r>
                        <a:rPr lang="en-US" u="none" dirty="0"/>
                        <a:t>Delivery Area</a:t>
                      </a:r>
                    </a:p>
                  </a:txBody>
                  <a:tcPr marL="38100" marR="38100" marT="38100" marB="38100" anchor="ctr"/>
                </a:tc>
                <a:extLst>
                  <a:ext uri="{0D108BD9-81ED-4DB2-BD59-A6C34878D82A}">
                    <a16:rowId xmlns:a16="http://schemas.microsoft.com/office/drawing/2014/main" val="10000"/>
                  </a:ext>
                </a:extLst>
              </a:tr>
              <a:tr h="370840">
                <a:tc>
                  <a:txBody>
                    <a:bodyPr/>
                    <a:lstStyle/>
                    <a:p>
                      <a:r>
                        <a:rPr lang="en-US" dirty="0"/>
                        <a:t>A1 Pizza</a:t>
                      </a:r>
                    </a:p>
                  </a:txBody>
                  <a:tcPr marL="38100" marR="38100" marT="38100" marB="38100" anchor="ctr"/>
                </a:tc>
                <a:tc>
                  <a:txBody>
                    <a:bodyPr/>
                    <a:lstStyle/>
                    <a:p>
                      <a:r>
                        <a:rPr lang="en-US"/>
                        <a:t>Springfield</a:t>
                      </a:r>
                    </a:p>
                  </a:txBody>
                  <a:tcPr marL="38100" marR="38100" marT="38100" marB="38100" anchor="ctr"/>
                </a:tc>
                <a:extLst>
                  <a:ext uri="{0D108BD9-81ED-4DB2-BD59-A6C34878D82A}">
                    <a16:rowId xmlns:a16="http://schemas.microsoft.com/office/drawing/2014/main" val="10001"/>
                  </a:ext>
                </a:extLst>
              </a:tr>
              <a:tr h="370840">
                <a:tc>
                  <a:txBody>
                    <a:bodyPr/>
                    <a:lstStyle/>
                    <a:p>
                      <a:r>
                        <a:rPr lang="en-US"/>
                        <a:t>A1 Pizza</a:t>
                      </a:r>
                    </a:p>
                  </a:txBody>
                  <a:tcPr marL="38100" marR="38100" marT="38100" marB="38100" anchor="ctr"/>
                </a:tc>
                <a:tc>
                  <a:txBody>
                    <a:bodyPr/>
                    <a:lstStyle/>
                    <a:p>
                      <a:r>
                        <a:rPr lang="en-US"/>
                        <a:t>Shelbyville</a:t>
                      </a:r>
                    </a:p>
                  </a:txBody>
                  <a:tcPr marL="38100" marR="38100" marT="38100" marB="38100" anchor="ctr"/>
                </a:tc>
                <a:extLst>
                  <a:ext uri="{0D108BD9-81ED-4DB2-BD59-A6C34878D82A}">
                    <a16:rowId xmlns:a16="http://schemas.microsoft.com/office/drawing/2014/main" val="10002"/>
                  </a:ext>
                </a:extLst>
              </a:tr>
              <a:tr h="370840">
                <a:tc>
                  <a:txBody>
                    <a:bodyPr/>
                    <a:lstStyle/>
                    <a:p>
                      <a:r>
                        <a:rPr lang="en-US"/>
                        <a:t>A1 Pizza</a:t>
                      </a:r>
                    </a:p>
                  </a:txBody>
                  <a:tcPr marL="38100" marR="38100" marT="38100" marB="38100" anchor="ctr"/>
                </a:tc>
                <a:tc>
                  <a:txBody>
                    <a:bodyPr/>
                    <a:lstStyle/>
                    <a:p>
                      <a:r>
                        <a:rPr lang="en-US"/>
                        <a:t>Capital City</a:t>
                      </a:r>
                    </a:p>
                  </a:txBody>
                  <a:tcPr marL="38100" marR="38100" marT="38100" marB="38100" anchor="ctr"/>
                </a:tc>
                <a:extLst>
                  <a:ext uri="{0D108BD9-81ED-4DB2-BD59-A6C34878D82A}">
                    <a16:rowId xmlns:a16="http://schemas.microsoft.com/office/drawing/2014/main" val="10003"/>
                  </a:ext>
                </a:extLst>
              </a:tr>
              <a:tr h="370840">
                <a:tc>
                  <a:txBody>
                    <a:bodyPr/>
                    <a:lstStyle/>
                    <a:p>
                      <a:r>
                        <a:rPr lang="en-US"/>
                        <a:t>Elite Pizza</a:t>
                      </a:r>
                    </a:p>
                  </a:txBody>
                  <a:tcPr marL="38100" marR="38100" marT="38100" marB="38100" anchor="ctr"/>
                </a:tc>
                <a:tc>
                  <a:txBody>
                    <a:bodyPr/>
                    <a:lstStyle/>
                    <a:p>
                      <a:r>
                        <a:rPr lang="en-US"/>
                        <a:t>Capital City</a:t>
                      </a:r>
                    </a:p>
                  </a:txBody>
                  <a:tcPr marL="38100" marR="38100" marT="38100" marB="38100" anchor="ctr"/>
                </a:tc>
                <a:extLst>
                  <a:ext uri="{0D108BD9-81ED-4DB2-BD59-A6C34878D82A}">
                    <a16:rowId xmlns:a16="http://schemas.microsoft.com/office/drawing/2014/main" val="10004"/>
                  </a:ext>
                </a:extLst>
              </a:tr>
              <a:tr h="370840">
                <a:tc>
                  <a:txBody>
                    <a:bodyPr/>
                    <a:lstStyle/>
                    <a:p>
                      <a:r>
                        <a:rPr lang="en-US"/>
                        <a:t>Vincenzo's Pizza</a:t>
                      </a:r>
                    </a:p>
                  </a:txBody>
                  <a:tcPr marL="38100" marR="38100" marT="38100" marB="38100" anchor="ctr"/>
                </a:tc>
                <a:tc>
                  <a:txBody>
                    <a:bodyPr/>
                    <a:lstStyle/>
                    <a:p>
                      <a:r>
                        <a:rPr lang="en-US"/>
                        <a:t>Springfield</a:t>
                      </a:r>
                    </a:p>
                  </a:txBody>
                  <a:tcPr marL="38100" marR="38100" marT="38100" marB="38100" anchor="ctr"/>
                </a:tc>
                <a:extLst>
                  <a:ext uri="{0D108BD9-81ED-4DB2-BD59-A6C34878D82A}">
                    <a16:rowId xmlns:a16="http://schemas.microsoft.com/office/drawing/2014/main" val="10005"/>
                  </a:ext>
                </a:extLst>
              </a:tr>
              <a:tr h="370840">
                <a:tc>
                  <a:txBody>
                    <a:bodyPr/>
                    <a:lstStyle/>
                    <a:p>
                      <a:r>
                        <a:rPr lang="en-US"/>
                        <a:t>Vincenzo's Pizza</a:t>
                      </a:r>
                    </a:p>
                  </a:txBody>
                  <a:tcPr marL="38100" marR="38100" marT="38100" marB="38100" anchor="ctr"/>
                </a:tc>
                <a:tc>
                  <a:txBody>
                    <a:bodyPr/>
                    <a:lstStyle/>
                    <a:p>
                      <a:r>
                        <a:rPr lang="en-US" dirty="0" err="1"/>
                        <a:t>Shelb</a:t>
                      </a:r>
                      <a:endParaRPr lang="en-US" dirty="0"/>
                    </a:p>
                  </a:txBody>
                  <a:tcPr marL="38100" marR="38100" marT="38100" marB="38100" anchor="ctr"/>
                </a:tc>
                <a:extLst>
                  <a:ext uri="{0D108BD9-81ED-4DB2-BD59-A6C34878D82A}">
                    <a16:rowId xmlns:a16="http://schemas.microsoft.com/office/drawing/2014/main" val="10006"/>
                  </a:ext>
                </a:extLst>
              </a:tr>
            </a:tbl>
          </a:graphicData>
        </a:graphic>
      </p:graphicFrame>
      <p:sp>
        <p:nvSpPr>
          <p:cNvPr id="56377" name="Footer Placeholder 3"/>
          <p:cNvSpPr>
            <a:spLocks noGrp="1"/>
          </p:cNvSpPr>
          <p:nvPr>
            <p:ph type="ftr" sz="quarter" idx="11"/>
          </p:nvPr>
        </p:nvSpPr>
        <p:spPr>
          <a:noFill/>
        </p:spPr>
        <p:txBody>
          <a:bodyPr/>
          <a:lstStyle/>
          <a:p>
            <a:r>
              <a:rPr lang="en-US"/>
              <a:t>DataBase Design Course Notes 03 - Normalization</a:t>
            </a:r>
          </a:p>
        </p:txBody>
      </p:sp>
      <p:sp>
        <p:nvSpPr>
          <p:cNvPr id="56378" name="Slide Number Placeholder 4"/>
          <p:cNvSpPr>
            <a:spLocks noGrp="1"/>
          </p:cNvSpPr>
          <p:nvPr>
            <p:ph type="sldNum" sz="quarter" idx="12"/>
          </p:nvPr>
        </p:nvSpPr>
        <p:spPr>
          <a:noFill/>
        </p:spPr>
        <p:txBody>
          <a:bodyPr/>
          <a:lstStyle/>
          <a:p>
            <a:fld id="{1F49A171-68FD-47CC-B133-E80D6D0CD9AF}" type="slidenum">
              <a:rPr lang="en-US" smtClean="0"/>
              <a:pPr/>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8"/>
          <p:cNvSpPr>
            <a:spLocks noGrp="1"/>
          </p:cNvSpPr>
          <p:nvPr>
            <p:ph type="title"/>
          </p:nvPr>
        </p:nvSpPr>
        <p:spPr/>
        <p:txBody>
          <a:bodyPr/>
          <a:lstStyle/>
          <a:p>
            <a:endParaRPr lang="en-US"/>
          </a:p>
        </p:txBody>
      </p:sp>
      <p:sp>
        <p:nvSpPr>
          <p:cNvPr id="57347" name="Content Placeholder 9"/>
          <p:cNvSpPr>
            <a:spLocks noGrp="1"/>
          </p:cNvSpPr>
          <p:nvPr>
            <p:ph idx="1"/>
          </p:nvPr>
        </p:nvSpPr>
        <p:spPr/>
        <p:txBody>
          <a:bodyPr/>
          <a:lstStyle/>
          <a:p>
            <a:r>
              <a:rPr lang="en-US"/>
              <a:t>in contrast, if pizza varieties offered by restaurant sometimes did legitimately vary from one delivery area to another, the original three-column table would satisfy 4NF</a:t>
            </a:r>
          </a:p>
        </p:txBody>
      </p:sp>
      <p:sp>
        <p:nvSpPr>
          <p:cNvPr id="57348" name="Footer Placeholder 6"/>
          <p:cNvSpPr>
            <a:spLocks noGrp="1"/>
          </p:cNvSpPr>
          <p:nvPr>
            <p:ph type="ftr" sz="quarter" idx="11"/>
          </p:nvPr>
        </p:nvSpPr>
        <p:spPr>
          <a:noFill/>
        </p:spPr>
        <p:txBody>
          <a:bodyPr/>
          <a:lstStyle/>
          <a:p>
            <a:r>
              <a:rPr lang="en-US"/>
              <a:t>DataBase Design Course Notes 03 - Normalization</a:t>
            </a:r>
          </a:p>
        </p:txBody>
      </p:sp>
      <p:sp>
        <p:nvSpPr>
          <p:cNvPr id="57349" name="Slide Number Placeholder 7"/>
          <p:cNvSpPr>
            <a:spLocks noGrp="1"/>
          </p:cNvSpPr>
          <p:nvPr>
            <p:ph type="sldNum" sz="quarter" idx="12"/>
          </p:nvPr>
        </p:nvSpPr>
        <p:spPr>
          <a:noFill/>
        </p:spPr>
        <p:txBody>
          <a:bodyPr/>
          <a:lstStyle/>
          <a:p>
            <a:fld id="{4BE56F02-C850-4742-BA96-63E7A5D69BAB}" type="slidenum">
              <a:rPr lang="en-US" smtClean="0"/>
              <a:pPr/>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it-IT"/>
              <a:t>Fifth Normal Form</a:t>
            </a:r>
            <a:endParaRPr lang="en-US"/>
          </a:p>
        </p:txBody>
      </p:sp>
      <p:sp>
        <p:nvSpPr>
          <p:cNvPr id="3" name="Content Placeholder 2"/>
          <p:cNvSpPr>
            <a:spLocks noGrp="1"/>
          </p:cNvSpPr>
          <p:nvPr>
            <p:ph idx="1"/>
          </p:nvPr>
        </p:nvSpPr>
        <p:spPr/>
        <p:txBody>
          <a:bodyPr/>
          <a:lstStyle/>
          <a:p>
            <a:pPr>
              <a:defRPr/>
            </a:pPr>
            <a:r>
              <a:rPr lang="en-US" sz="2800" dirty="0"/>
              <a:t>not every ternary relationship can be broken down into two entities related to a third</a:t>
            </a:r>
          </a:p>
          <a:p>
            <a:pPr>
              <a:defRPr/>
            </a:pPr>
            <a:r>
              <a:rPr lang="en-US" sz="2800" dirty="0"/>
              <a:t>aim of 5NF is to ensure that any ternary relationships that still exist in 4NF that can be decomposed into entities are decomposed</a:t>
            </a:r>
          </a:p>
          <a:p>
            <a:pPr>
              <a:defRPr/>
            </a:pPr>
            <a:r>
              <a:rPr lang="en-US" sz="2800" dirty="0"/>
              <a:t>eliminates problems with update anomalies due to </a:t>
            </a:r>
            <a:r>
              <a:rPr lang="en-US" sz="2800" dirty="0" err="1"/>
              <a:t>multivalued</a:t>
            </a:r>
            <a:r>
              <a:rPr lang="en-US" sz="2800" dirty="0"/>
              <a:t> dependencies</a:t>
            </a:r>
          </a:p>
          <a:p>
            <a:pPr lvl="1">
              <a:defRPr/>
            </a:pPr>
            <a:r>
              <a:rPr lang="en-US" sz="2400" dirty="0">
                <a:ea typeface="+mn-ea"/>
                <a:cs typeface="+mn-cs"/>
              </a:rPr>
              <a:t>much like in 4NF only these are trickier to find.</a:t>
            </a:r>
            <a:endParaRPr lang="en-US" sz="2400" dirty="0"/>
          </a:p>
        </p:txBody>
      </p:sp>
      <p:sp>
        <p:nvSpPr>
          <p:cNvPr id="58372" name="Footer Placeholder 3"/>
          <p:cNvSpPr>
            <a:spLocks noGrp="1"/>
          </p:cNvSpPr>
          <p:nvPr>
            <p:ph type="ftr" sz="quarter" idx="11"/>
          </p:nvPr>
        </p:nvSpPr>
        <p:spPr>
          <a:noFill/>
        </p:spPr>
        <p:txBody>
          <a:bodyPr/>
          <a:lstStyle/>
          <a:p>
            <a:r>
              <a:rPr lang="en-US"/>
              <a:t>DataBase Design Course Notes 03 - Normalization</a:t>
            </a:r>
          </a:p>
        </p:txBody>
      </p:sp>
      <p:sp>
        <p:nvSpPr>
          <p:cNvPr id="58373" name="Slide Number Placeholder 4"/>
          <p:cNvSpPr>
            <a:spLocks noGrp="1"/>
          </p:cNvSpPr>
          <p:nvPr>
            <p:ph type="sldNum" sz="quarter" idx="12"/>
          </p:nvPr>
        </p:nvSpPr>
        <p:spPr>
          <a:noFill/>
        </p:spPr>
        <p:txBody>
          <a:bodyPr/>
          <a:lstStyle/>
          <a:p>
            <a:fld id="{0C8B4948-47A8-4854-972A-C995006BB686}" type="slidenum">
              <a:rPr lang="en-US" smtClean="0"/>
              <a:pPr/>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b="1">
                <a:solidFill>
                  <a:schemeClr val="tx1"/>
                </a:solidFill>
              </a:rPr>
              <a:t>Denormalization</a:t>
            </a:r>
            <a:endParaRPr lang="en-US" sz="3200"/>
          </a:p>
        </p:txBody>
      </p:sp>
      <p:sp>
        <p:nvSpPr>
          <p:cNvPr id="59395" name="Content Placeholder 2"/>
          <p:cNvSpPr>
            <a:spLocks noGrp="1"/>
          </p:cNvSpPr>
          <p:nvPr>
            <p:ph idx="1"/>
          </p:nvPr>
        </p:nvSpPr>
        <p:spPr/>
        <p:txBody>
          <a:bodyPr/>
          <a:lstStyle/>
          <a:p>
            <a:r>
              <a:rPr lang="en-US"/>
              <a:t>used primarily to improve performance in cases where overnormalized structures are causing overhead to query processor</a:t>
            </a:r>
          </a:p>
          <a:p>
            <a:r>
              <a:rPr lang="en-US"/>
              <a:t>whether slightly slower (but 100 percent accurate) application is preferable to a faster application of lower accuracy</a:t>
            </a:r>
          </a:p>
          <a:p>
            <a:r>
              <a:rPr lang="en-US"/>
              <a:t>during logical modeling, we should never step back from our normalized structures to performance-tune our applications proactively</a:t>
            </a:r>
          </a:p>
        </p:txBody>
      </p:sp>
      <p:sp>
        <p:nvSpPr>
          <p:cNvPr id="59396" name="Footer Placeholder 3"/>
          <p:cNvSpPr>
            <a:spLocks noGrp="1"/>
          </p:cNvSpPr>
          <p:nvPr>
            <p:ph type="ftr" sz="quarter" idx="11"/>
          </p:nvPr>
        </p:nvSpPr>
        <p:spPr>
          <a:noFill/>
        </p:spPr>
        <p:txBody>
          <a:bodyPr/>
          <a:lstStyle/>
          <a:p>
            <a:r>
              <a:rPr lang="en-US"/>
              <a:t>DataBase Design Course Notes 03 - Normalization</a:t>
            </a:r>
          </a:p>
        </p:txBody>
      </p:sp>
      <p:sp>
        <p:nvSpPr>
          <p:cNvPr id="59397" name="Slide Number Placeholder 4"/>
          <p:cNvSpPr>
            <a:spLocks noGrp="1"/>
          </p:cNvSpPr>
          <p:nvPr>
            <p:ph type="sldNum" sz="quarter" idx="12"/>
          </p:nvPr>
        </p:nvSpPr>
        <p:spPr>
          <a:noFill/>
        </p:spPr>
        <p:txBody>
          <a:bodyPr/>
          <a:lstStyle/>
          <a:p>
            <a:fld id="{7909D9AE-C982-40CB-B393-E0AB66028FDD}" type="slidenum">
              <a:rPr lang="en-US" smtClean="0"/>
              <a:pPr/>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Terms</a:t>
            </a:r>
          </a:p>
        </p:txBody>
      </p:sp>
      <p:sp>
        <p:nvSpPr>
          <p:cNvPr id="3" name="Content Placeholder 2"/>
          <p:cNvSpPr>
            <a:spLocks noGrp="1"/>
          </p:cNvSpPr>
          <p:nvPr>
            <p:ph idx="1"/>
          </p:nvPr>
        </p:nvSpPr>
        <p:spPr/>
        <p:txBody>
          <a:bodyPr/>
          <a:lstStyle/>
          <a:p>
            <a:r>
              <a:rPr lang="en-US" dirty="0"/>
              <a:t>Data normalization</a:t>
            </a:r>
          </a:p>
          <a:p>
            <a:r>
              <a:rPr lang="en-US" dirty="0"/>
              <a:t>Database design / Data structures</a:t>
            </a:r>
          </a:p>
          <a:p>
            <a:r>
              <a:rPr lang="en-US" dirty="0"/>
              <a:t>Logical database design</a:t>
            </a:r>
          </a:p>
          <a:p>
            <a:r>
              <a:rPr lang="en-US" dirty="0"/>
              <a:t>Entity-relationship diagram conversion</a:t>
            </a:r>
          </a:p>
          <a:p>
            <a:r>
              <a:rPr lang="en-US" dirty="0"/>
              <a:t>Functional dependencies</a:t>
            </a:r>
          </a:p>
          <a:p>
            <a:r>
              <a:rPr lang="en-US" dirty="0"/>
              <a:t>Redundant data</a:t>
            </a:r>
          </a:p>
          <a:p>
            <a:r>
              <a:rPr lang="en-US" dirty="0"/>
              <a:t>1</a:t>
            </a:r>
            <a:r>
              <a:rPr lang="en-US" baseline="30000" dirty="0"/>
              <a:t>st</a:t>
            </a:r>
            <a:r>
              <a:rPr lang="en-US" dirty="0"/>
              <a:t> Normal Form, 2</a:t>
            </a:r>
            <a:r>
              <a:rPr lang="en-US" baseline="30000" dirty="0"/>
              <a:t>nd</a:t>
            </a:r>
            <a:r>
              <a:rPr lang="en-US" dirty="0"/>
              <a:t> NF, 3</a:t>
            </a:r>
            <a:r>
              <a:rPr lang="en-US" baseline="30000" dirty="0"/>
              <a:t>rd</a:t>
            </a:r>
            <a:r>
              <a:rPr lang="en-US" dirty="0"/>
              <a:t> NF</a:t>
            </a:r>
          </a:p>
          <a:p>
            <a:r>
              <a:rPr lang="en-US" dirty="0"/>
              <a:t>Boyce – </a:t>
            </a:r>
            <a:r>
              <a:rPr lang="en-US" dirty="0" err="1"/>
              <a:t>Codd</a:t>
            </a:r>
            <a:r>
              <a:rPr lang="en-US" dirty="0"/>
              <a:t> Normal Form</a:t>
            </a:r>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r>
              <a:rPr lang="en-US" dirty="0"/>
              <a:t>Normalization of Database Tables</a:t>
            </a:r>
          </a:p>
          <a:p>
            <a:r>
              <a:rPr lang="en-US" dirty="0"/>
              <a:t>Another Example</a:t>
            </a:r>
          </a:p>
        </p:txBody>
      </p:sp>
      <p:sp>
        <p:nvSpPr>
          <p:cNvPr id="4" name="Slide Number Placeholder 3"/>
          <p:cNvSpPr>
            <a:spLocks noGrp="1"/>
          </p:cNvSpPr>
          <p:nvPr>
            <p:ph type="sldNum" sz="quarter" idx="12"/>
          </p:nvPr>
        </p:nvSpPr>
        <p:spPr/>
        <p:txBody>
          <a:bodyPr/>
          <a:lstStyle/>
          <a:p>
            <a:pPr>
              <a:defRPr/>
            </a:pPr>
            <a:fld id="{30AB5E0A-44F7-4403-A0CC-481FEEEECB85}" type="slidenum">
              <a:rPr lang="en-US" smtClean="0"/>
              <a:pPr>
                <a:defRPr/>
              </a:pPr>
              <a:t>109</a:t>
            </a:fld>
            <a:endParaRPr lang="en-US"/>
          </a:p>
        </p:txBody>
      </p:sp>
      <p:sp>
        <p:nvSpPr>
          <p:cNvPr id="5" name="Footer Placeholder 4"/>
          <p:cNvSpPr>
            <a:spLocks noGrp="1"/>
          </p:cNvSpPr>
          <p:nvPr>
            <p:ph type="ftr" sz="quarter" idx="11"/>
          </p:nvPr>
        </p:nvSpPr>
        <p:spPr/>
        <p:txBody>
          <a:bodyPr/>
          <a:lstStyle/>
          <a:p>
            <a:pPr>
              <a:defRPr/>
            </a:pPr>
            <a:r>
              <a:rPr lang="en-US"/>
              <a:t>DataBase Design Course Notes 03 - Normalization</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Report generated</a:t>
            </a:r>
          </a:p>
        </p:txBody>
      </p:sp>
      <p:pic>
        <p:nvPicPr>
          <p:cNvPr id="6" name="Content Placeholder 5" descr="Clipboard02.jpg"/>
          <p:cNvPicPr>
            <a:picLocks noGrp="1" noChangeAspect="1"/>
          </p:cNvPicPr>
          <p:nvPr>
            <p:ph idx="1"/>
          </p:nvPr>
        </p:nvPicPr>
        <p:blipFill>
          <a:blip r:embed="rId2" cstate="print"/>
          <a:stretch>
            <a:fillRect/>
          </a:stretch>
        </p:blipFill>
        <p:spPr>
          <a:xfrm>
            <a:off x="1042987" y="1791494"/>
            <a:ext cx="7058025" cy="4143375"/>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an employee can be assigned to more than one project</a:t>
            </a:r>
          </a:p>
          <a:p>
            <a:r>
              <a:rPr lang="en-US" dirty="0"/>
              <a:t>each project includes only a single occurrence of any one employee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project number (PROJ_NUM) is apparently intended to be a primary key or at least a part of a PK, but it contains nulls</a:t>
            </a:r>
          </a:p>
          <a:p>
            <a:pPr lvl="1"/>
            <a:r>
              <a:rPr lang="en-US" dirty="0"/>
              <a:t>PROJ_NUM + EMP_NUM will define each row</a:t>
            </a:r>
          </a:p>
          <a:p>
            <a:r>
              <a:rPr lang="en-US" dirty="0"/>
              <a:t>table entries invite data inconsistencies</a:t>
            </a:r>
          </a:p>
          <a:p>
            <a:pPr lvl="1"/>
            <a:r>
              <a:rPr lang="en-US" dirty="0"/>
              <a:t>for example, JOB_CLASS value “Elect. Engineer” might be entered as “</a:t>
            </a:r>
            <a:r>
              <a:rPr lang="en-US" dirty="0" err="1"/>
              <a:t>Elect.Eng</a:t>
            </a:r>
            <a:r>
              <a:rPr lang="en-US" dirty="0"/>
              <a:t>.” in some cases, “El. Eng.” in others, and “EE” in still others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redundancies yield the following anomalies:</a:t>
            </a:r>
          </a:p>
        </p:txBody>
      </p:sp>
      <p:sp>
        <p:nvSpPr>
          <p:cNvPr id="3" name="Content Placeholder 2"/>
          <p:cNvSpPr>
            <a:spLocks noGrp="1"/>
          </p:cNvSpPr>
          <p:nvPr>
            <p:ph idx="1"/>
          </p:nvPr>
        </p:nvSpPr>
        <p:spPr/>
        <p:txBody>
          <a:bodyPr>
            <a:normAutofit/>
          </a:bodyPr>
          <a:lstStyle/>
          <a:p>
            <a:r>
              <a:rPr lang="en-US" dirty="0"/>
              <a:t>Update anomalies</a:t>
            </a:r>
          </a:p>
          <a:p>
            <a:r>
              <a:rPr lang="en-US" dirty="0"/>
              <a:t>Insertion anomalies</a:t>
            </a:r>
          </a:p>
          <a:p>
            <a:r>
              <a:rPr lang="en-US" dirty="0"/>
              <a:t>Deletion anomalies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anomalies</a:t>
            </a:r>
          </a:p>
        </p:txBody>
      </p:sp>
      <p:sp>
        <p:nvSpPr>
          <p:cNvPr id="3" name="Content Placeholder 2"/>
          <p:cNvSpPr>
            <a:spLocks noGrp="1"/>
          </p:cNvSpPr>
          <p:nvPr>
            <p:ph idx="1"/>
          </p:nvPr>
        </p:nvSpPr>
        <p:spPr/>
        <p:txBody>
          <a:bodyPr/>
          <a:lstStyle/>
          <a:p>
            <a:r>
              <a:rPr lang="en-US" dirty="0"/>
              <a:t>Modifying the JOB_CLASS for employee number 105 requires (potentially) many alterations, one for each EMP_NUM = 105.</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anomalies</a:t>
            </a:r>
          </a:p>
        </p:txBody>
      </p:sp>
      <p:sp>
        <p:nvSpPr>
          <p:cNvPr id="3" name="Content Placeholder 2"/>
          <p:cNvSpPr>
            <a:spLocks noGrp="1"/>
          </p:cNvSpPr>
          <p:nvPr>
            <p:ph idx="1"/>
          </p:nvPr>
        </p:nvSpPr>
        <p:spPr/>
        <p:txBody>
          <a:bodyPr/>
          <a:lstStyle/>
          <a:p>
            <a:r>
              <a:rPr lang="en-US" dirty="0"/>
              <a:t>Just to complete a row definition, a new employee must be assigned to a project</a:t>
            </a:r>
          </a:p>
          <a:p>
            <a:r>
              <a:rPr lang="en-US" dirty="0"/>
              <a:t>If the employee is not yet assigned, a phantom project must be created to complete the employee data entry</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Deletion anomalies</a:t>
            </a:r>
          </a:p>
        </p:txBody>
      </p:sp>
      <p:sp>
        <p:nvSpPr>
          <p:cNvPr id="3" name="Content Placeholder 2"/>
          <p:cNvSpPr>
            <a:spLocks noGrp="1"/>
          </p:cNvSpPr>
          <p:nvPr>
            <p:ph idx="1"/>
          </p:nvPr>
        </p:nvSpPr>
        <p:spPr/>
        <p:txBody>
          <a:bodyPr>
            <a:normAutofit/>
          </a:bodyPr>
          <a:lstStyle/>
          <a:p>
            <a:r>
              <a:rPr lang="en-US" dirty="0"/>
              <a:t>Suppose that only one employee is associated with a given project</a:t>
            </a:r>
          </a:p>
          <a:p>
            <a:r>
              <a:rPr lang="en-US" dirty="0"/>
              <a:t>If that employee leaves the company and the employee data are deleted, the project information will also be deleted</a:t>
            </a:r>
          </a:p>
          <a:p>
            <a:r>
              <a:rPr lang="en-US" dirty="0"/>
              <a:t>To prevent the loss of the project information, a fictitious employee must be created just to save the project information</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well-formed relations</a:t>
            </a:r>
          </a:p>
        </p:txBody>
      </p:sp>
      <p:sp>
        <p:nvSpPr>
          <p:cNvPr id="3" name="Content Placeholder 2"/>
          <p:cNvSpPr>
            <a:spLocks noGrp="1"/>
          </p:cNvSpPr>
          <p:nvPr>
            <p:ph idx="1"/>
          </p:nvPr>
        </p:nvSpPr>
        <p:spPr/>
        <p:txBody>
          <a:bodyPr/>
          <a:lstStyle/>
          <a:p>
            <a:r>
              <a:rPr lang="en-US" dirty="0"/>
              <a:t>objective of normalization is to ensure that each table conforms to the concept of </a:t>
            </a:r>
            <a:r>
              <a:rPr lang="en-US" i="1" dirty="0"/>
              <a:t>well-formed relations, </a:t>
            </a:r>
            <a:r>
              <a:rPr lang="en-US" dirty="0"/>
              <a:t>that is, tables that have the following characteristics: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Each table represents a single subject</a:t>
            </a:r>
          </a:p>
          <a:p>
            <a:pPr lvl="1"/>
            <a:r>
              <a:rPr lang="en-US" dirty="0"/>
              <a:t>for example, course table will contain only data that directly pertain to courses</a:t>
            </a:r>
          </a:p>
          <a:p>
            <a:pPr lvl="1"/>
            <a:r>
              <a:rPr lang="en-US" dirty="0"/>
              <a:t>similarly, student table will contain only student data</a:t>
            </a:r>
          </a:p>
          <a:p>
            <a:r>
              <a:rPr lang="en-US" dirty="0"/>
              <a:t>No data item will be unnecessarily stored in more than one table (tables have minimum controlled redundancy)</a:t>
            </a:r>
          </a:p>
          <a:p>
            <a:pPr lvl="1"/>
            <a:r>
              <a:rPr lang="en-US" dirty="0"/>
              <a:t>the reason for this requirement is to ensure that the data are updated in only one place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All nonprime attributes in a table are dependent on the primary key, the entire primary key and nothing but the primary key</a:t>
            </a:r>
          </a:p>
          <a:p>
            <a:pPr lvl="1"/>
            <a:r>
              <a:rPr lang="en-US" dirty="0"/>
              <a:t>reason for this requirement is to ensure that the data are uniquely identifiable by primary key value</a:t>
            </a:r>
          </a:p>
          <a:p>
            <a:r>
              <a:rPr lang="en-US" dirty="0"/>
              <a:t>each table is void of insertion, update, or deletion anomalies</a:t>
            </a:r>
          </a:p>
          <a:p>
            <a:pPr lvl="1"/>
            <a:r>
              <a:rPr lang="en-US" dirty="0"/>
              <a:t>to ensure integrity and consistency of data</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dependence</a:t>
            </a:r>
          </a:p>
        </p:txBody>
      </p:sp>
      <p:sp>
        <p:nvSpPr>
          <p:cNvPr id="3" name="Content Placeholder 2"/>
          <p:cNvSpPr>
            <a:spLocks noGrp="1"/>
          </p:cNvSpPr>
          <p:nvPr>
            <p:ph idx="1"/>
          </p:nvPr>
        </p:nvSpPr>
        <p:spPr/>
        <p:txBody>
          <a:bodyPr>
            <a:normAutofit lnSpcReduction="10000"/>
          </a:bodyPr>
          <a:lstStyle/>
          <a:p>
            <a:r>
              <a:rPr lang="en-US" dirty="0"/>
              <a:t>attribute B is fully functionally dependent on attribute A if each value of A determines one and only one value of B</a:t>
            </a:r>
          </a:p>
          <a:p>
            <a:r>
              <a:rPr lang="en-US" dirty="0"/>
              <a:t>Example: PROJ_NUM → PROJ_NAME</a:t>
            </a:r>
          </a:p>
          <a:p>
            <a:pPr lvl="1"/>
            <a:r>
              <a:rPr lang="en-US" dirty="0"/>
              <a:t>read as “PROJ_NUM functionally determines PROJ_NAME”</a:t>
            </a:r>
          </a:p>
          <a:p>
            <a:pPr lvl="1"/>
            <a:r>
              <a:rPr lang="en-US" dirty="0"/>
              <a:t>attribute PROJ_NUM is known as “determinant” attribute, and attribute PROJ_NAME is known as “dependent” attribute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dependence</a:t>
            </a:r>
          </a:p>
        </p:txBody>
      </p:sp>
      <p:sp>
        <p:nvSpPr>
          <p:cNvPr id="3" name="Content Placeholder 2"/>
          <p:cNvSpPr>
            <a:spLocks noGrp="1"/>
          </p:cNvSpPr>
          <p:nvPr>
            <p:ph idx="1"/>
          </p:nvPr>
        </p:nvSpPr>
        <p:spPr/>
        <p:txBody>
          <a:bodyPr>
            <a:normAutofit/>
          </a:bodyPr>
          <a:lstStyle/>
          <a:p>
            <a:r>
              <a:rPr lang="en-US" dirty="0"/>
              <a:t>Attribute A determines attribute B (that is, B is functionally dependent on A) if all of the rows in table that agree in value for attribute A also agree in value for attribute B</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1:</a:t>
            </a:r>
            <a:br>
              <a:rPr lang="en-US" dirty="0"/>
            </a:br>
            <a:r>
              <a:rPr lang="en-US" dirty="0"/>
              <a:t>Eliminate the Repeating Groups</a:t>
            </a:r>
          </a:p>
        </p:txBody>
      </p:sp>
      <p:sp>
        <p:nvSpPr>
          <p:cNvPr id="3" name="Content Placeholder 2"/>
          <p:cNvSpPr>
            <a:spLocks noGrp="1"/>
          </p:cNvSpPr>
          <p:nvPr>
            <p:ph idx="1"/>
          </p:nvPr>
        </p:nvSpPr>
        <p:spPr/>
        <p:txBody>
          <a:bodyPr/>
          <a:lstStyle/>
          <a:p>
            <a:r>
              <a:rPr lang="en-US" dirty="0"/>
              <a:t>Start by presenting the data in a tabular format, where each cell has a single value and there are no repeating groups.</a:t>
            </a:r>
          </a:p>
          <a:p>
            <a:r>
              <a:rPr lang="en-US" dirty="0"/>
              <a:t>To eliminate the repeating groups, eliminate the nulls by making sure that each repeating group attribute contains an appropriate data value. </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in first normal form 1NF</a:t>
            </a:r>
          </a:p>
        </p:txBody>
      </p:sp>
      <p:pic>
        <p:nvPicPr>
          <p:cNvPr id="6" name="Content Placeholder 5" descr="Clipboard02.jpg"/>
          <p:cNvPicPr>
            <a:picLocks noGrp="1" noChangeAspect="1"/>
          </p:cNvPicPr>
          <p:nvPr>
            <p:ph idx="1"/>
          </p:nvPr>
        </p:nvPicPr>
        <p:blipFill>
          <a:blip r:embed="rId2" cstate="print"/>
          <a:stretch>
            <a:fillRect/>
          </a:stretch>
        </p:blipFill>
        <p:spPr>
          <a:xfrm>
            <a:off x="1028700" y="1810544"/>
            <a:ext cx="7086600" cy="4105275"/>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 (1NF)</a:t>
            </a:r>
          </a:p>
        </p:txBody>
      </p:sp>
      <p:sp>
        <p:nvSpPr>
          <p:cNvPr id="3" name="Content Placeholder 2"/>
          <p:cNvSpPr>
            <a:spLocks noGrp="1"/>
          </p:cNvSpPr>
          <p:nvPr>
            <p:ph idx="1"/>
          </p:nvPr>
        </p:nvSpPr>
        <p:spPr/>
        <p:txBody>
          <a:bodyPr>
            <a:normAutofit fontScale="92500"/>
          </a:bodyPr>
          <a:lstStyle/>
          <a:p>
            <a:r>
              <a:rPr lang="en-US" dirty="0"/>
              <a:t>describes tabular format in which:</a:t>
            </a:r>
          </a:p>
          <a:p>
            <a:r>
              <a:rPr lang="en-US" dirty="0"/>
              <a:t>all of key attributes are defined</a:t>
            </a:r>
          </a:p>
          <a:p>
            <a:r>
              <a:rPr lang="en-US" dirty="0"/>
              <a:t>there are no repeating groups in the table</a:t>
            </a:r>
          </a:p>
          <a:p>
            <a:r>
              <a:rPr lang="en-US" dirty="0"/>
              <a:t>each row/column intersection contains only atomic values, one and only one value, not set of values</a:t>
            </a:r>
          </a:p>
          <a:p>
            <a:r>
              <a:rPr lang="en-US" dirty="0"/>
              <a:t>all attributes are dependent on primary key</a:t>
            </a:r>
          </a:p>
          <a:p>
            <a:r>
              <a:rPr lang="en-US" dirty="0"/>
              <a:t>all relational tables satisfy 1NF requirements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2: </a:t>
            </a:r>
            <a:br>
              <a:rPr lang="en-US" dirty="0"/>
            </a:br>
            <a:r>
              <a:rPr lang="en-US" dirty="0"/>
              <a:t>Identify the Primary Key</a:t>
            </a:r>
          </a:p>
        </p:txBody>
      </p:sp>
      <p:sp>
        <p:nvSpPr>
          <p:cNvPr id="3" name="Content Placeholder 2"/>
          <p:cNvSpPr>
            <a:spLocks noGrp="1"/>
          </p:cNvSpPr>
          <p:nvPr>
            <p:ph idx="1"/>
          </p:nvPr>
        </p:nvSpPr>
        <p:spPr/>
        <p:txBody>
          <a:bodyPr/>
          <a:lstStyle/>
          <a:p>
            <a:r>
              <a:rPr lang="en-US" dirty="0"/>
              <a:t>that will uniquely identify any attribute value must be composed of a combination of PROJ_NUM and EMP_NUM</a:t>
            </a:r>
          </a:p>
          <a:p>
            <a:r>
              <a:rPr lang="en-US" dirty="0"/>
              <a:t>identification of PK in Step 2 means that you have already identified following dependency:</a:t>
            </a:r>
          </a:p>
          <a:p>
            <a:r>
              <a:rPr lang="en-US" dirty="0"/>
              <a:t>PROJ_NUM, EMP_NUM → PROJ_NAME, EMP_NAME, JOB_CLASS, CHG_HOUR, HOURS</a:t>
            </a:r>
          </a:p>
          <a:p>
            <a:endParaRPr lang="en-US" dirty="0"/>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3: Identify All Dependencies</a:t>
            </a:r>
          </a:p>
        </p:txBody>
      </p:sp>
      <p:sp>
        <p:nvSpPr>
          <p:cNvPr id="3" name="Content Placeholder 2"/>
          <p:cNvSpPr>
            <a:spLocks noGrp="1"/>
          </p:cNvSpPr>
          <p:nvPr>
            <p:ph idx="1"/>
          </p:nvPr>
        </p:nvSpPr>
        <p:spPr/>
        <p:txBody>
          <a:bodyPr>
            <a:normAutofit/>
          </a:bodyPr>
          <a:lstStyle/>
          <a:p>
            <a:r>
              <a:rPr lang="en-US" dirty="0"/>
              <a:t>PROJ_NUM → PROJ_NAME</a:t>
            </a:r>
          </a:p>
          <a:p>
            <a:r>
              <a:rPr lang="en-US" dirty="0"/>
              <a:t>EMP_NUM → EMP_NAME, JOB_CLASS, CHG_HOUR</a:t>
            </a:r>
          </a:p>
          <a:p>
            <a:r>
              <a:rPr lang="en-US" dirty="0"/>
              <a:t>JOB_CLASS → CHG_HOUR</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Dependency Diagram</a:t>
            </a:r>
          </a:p>
        </p:txBody>
      </p:sp>
      <p:pic>
        <p:nvPicPr>
          <p:cNvPr id="6" name="Content Placeholder 5" descr="Clipboard04.jpg"/>
          <p:cNvPicPr>
            <a:picLocks noGrp="1" noChangeAspect="1"/>
          </p:cNvPicPr>
          <p:nvPr>
            <p:ph idx="1"/>
          </p:nvPr>
        </p:nvPicPr>
        <p:blipFill>
          <a:blip r:embed="rId2" cstate="print"/>
          <a:stretch>
            <a:fillRect/>
          </a:stretch>
        </p:blipFill>
        <p:spPr>
          <a:xfrm>
            <a:off x="457200" y="1771067"/>
            <a:ext cx="8229600" cy="4184229"/>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Dependency Diagram</a:t>
            </a:r>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dirty="0"/>
              <a:t>primary key attributes are bold, underlined, and shaded in different color.</a:t>
            </a:r>
          </a:p>
          <a:p>
            <a:pPr marL="514350" indent="-514350">
              <a:buFont typeface="+mj-lt"/>
              <a:buAutoNum type="arabicPeriod"/>
            </a:pPr>
            <a:r>
              <a:rPr lang="en-US" dirty="0"/>
              <a:t>arrows above attributes indicate all desirable dependencies, that is, dependencies that are based on PK; entity’s attributes are dependent on </a:t>
            </a:r>
            <a:r>
              <a:rPr lang="en-US" i="1" dirty="0"/>
              <a:t>combination of PROJ_NUM </a:t>
            </a:r>
            <a:r>
              <a:rPr lang="en-US" dirty="0"/>
              <a:t>and EMP_NUM</a:t>
            </a:r>
          </a:p>
          <a:p>
            <a:pPr marL="514350" indent="-514350">
              <a:buFont typeface="+mj-lt"/>
              <a:buAutoNum type="arabicPeriod"/>
            </a:pPr>
            <a:r>
              <a:rPr lang="en-US" dirty="0"/>
              <a:t>arrows below indicate less desirable dependencies; Two types of such dependencies exist:</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marL="514350" indent="-514350">
              <a:buFont typeface="+mj-lt"/>
              <a:buAutoNum type="arabicPeriod"/>
            </a:pPr>
            <a:r>
              <a:rPr lang="en-US" i="1" dirty="0"/>
              <a:t>Partial dependencies</a:t>
            </a:r>
            <a:r>
              <a:rPr lang="en-US" dirty="0"/>
              <a:t> - you need to know only PROJ_NUM to determine the PROJ_NAME; that is, PROJ_NAME is dependent on only part of PK; and you need to know only EMP_NUM to find EMP_NAME, JOB_CLASS, and CHG_HOUR. Dependency based on only a part of a composite primary key is a partial dependency</a:t>
            </a:r>
          </a:p>
          <a:p>
            <a:pPr marL="514350" indent="-514350">
              <a:buFont typeface="+mj-lt"/>
              <a:buAutoNum type="arabicPeriod"/>
            </a:pPr>
            <a:r>
              <a:rPr lang="en-US" dirty="0"/>
              <a:t>Transitive dependencies - CHG_HOUR is dependent on JOB_CLASS; neither CHG_HOUR nor JOB_CLASS is prime attribute (at least part of key) condition is transitive dependency. Transitive dependency is a dependency of one nonprime attribute on another. Transitive dependencies still yield data anomalies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Redundancies … Anomalies</a:t>
            </a:r>
          </a:p>
        </p:txBody>
      </p:sp>
      <p:sp>
        <p:nvSpPr>
          <p:cNvPr id="3" name="Content Placeholder 2"/>
          <p:cNvSpPr>
            <a:spLocks noGrp="1"/>
          </p:cNvSpPr>
          <p:nvPr>
            <p:ph idx="1"/>
          </p:nvPr>
        </p:nvSpPr>
        <p:spPr/>
        <p:txBody>
          <a:bodyPr>
            <a:noAutofit/>
          </a:bodyPr>
          <a:lstStyle/>
          <a:p>
            <a:r>
              <a:rPr lang="en-US" sz="2400" dirty="0"/>
              <a:t>occur because row entry requires duplication of data</a:t>
            </a:r>
          </a:p>
          <a:p>
            <a:r>
              <a:rPr lang="en-US" sz="2400" dirty="0"/>
              <a:t>if Alice K. Johnson submits her work log, user would have to make multiple entries during course of a day</a:t>
            </a:r>
          </a:p>
          <a:p>
            <a:pPr lvl="1"/>
            <a:r>
              <a:rPr lang="en-US" sz="2000" dirty="0"/>
              <a:t>for each entry, EMP_NAME, JOB_CLASS, and CHG_HOUR must be entered each time, even though attribute values are identical for each row entered</a:t>
            </a:r>
          </a:p>
          <a:p>
            <a:r>
              <a:rPr lang="en-US" sz="2400" dirty="0"/>
              <a:t>duplicate effort inefficient, helps create anomalies: nothing prevents from typing slightly different versions of employee name, position, hourly pay</a:t>
            </a:r>
          </a:p>
          <a:p>
            <a:r>
              <a:rPr lang="en-US" sz="2400" dirty="0"/>
              <a:t>data anomalies violate relational database’s integrity and consistency rules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Conversion to Second Normal Form</a:t>
            </a:r>
          </a:p>
        </p:txBody>
      </p:sp>
      <p:sp>
        <p:nvSpPr>
          <p:cNvPr id="3" name="Content Placeholder 2"/>
          <p:cNvSpPr>
            <a:spLocks noGrp="1"/>
          </p:cNvSpPr>
          <p:nvPr>
            <p:ph idx="1"/>
          </p:nvPr>
        </p:nvSpPr>
        <p:spPr/>
        <p:txBody>
          <a:bodyPr/>
          <a:lstStyle/>
          <a:p>
            <a:r>
              <a:rPr lang="en-US" dirty="0"/>
              <a:t>Converting to 2NF is done only when the 1NF has a composite primary key.</a:t>
            </a:r>
          </a:p>
          <a:p>
            <a:r>
              <a:rPr lang="en-US" dirty="0"/>
              <a:t>If the 1NF has a single-attribute primary key, then the table is automatically in 2NF.</a:t>
            </a:r>
          </a:p>
          <a:p>
            <a:endParaRPr lang="en-US" dirty="0"/>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1: Make New Tables to Eliminate Partial Dependencies</a:t>
            </a:r>
          </a:p>
        </p:txBody>
      </p:sp>
      <p:sp>
        <p:nvSpPr>
          <p:cNvPr id="3" name="Content Placeholder 2"/>
          <p:cNvSpPr>
            <a:spLocks noGrp="1"/>
          </p:cNvSpPr>
          <p:nvPr>
            <p:ph idx="1"/>
          </p:nvPr>
        </p:nvSpPr>
        <p:spPr/>
        <p:txBody>
          <a:bodyPr>
            <a:normAutofit fontScale="92500"/>
          </a:bodyPr>
          <a:lstStyle/>
          <a:p>
            <a:r>
              <a:rPr lang="en-US" dirty="0"/>
              <a:t>for each component of primary key that acts as determinant in a partial dependency, create a new table with copy of that component as primary key</a:t>
            </a:r>
          </a:p>
          <a:p>
            <a:r>
              <a:rPr lang="en-US" dirty="0"/>
              <a:t>while these components are placed in new tables, it is important that they also remain in original table as well - they will be foreign keys for the relationships that are needed to relate these new tables to original table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PROJ_NUM</a:t>
            </a:r>
          </a:p>
          <a:p>
            <a:r>
              <a:rPr lang="en-US" dirty="0"/>
              <a:t>EMP_NUM</a:t>
            </a:r>
          </a:p>
          <a:p>
            <a:r>
              <a:rPr lang="en-US" dirty="0"/>
              <a:t>PROJ_NUM EMP_NUM</a:t>
            </a:r>
          </a:p>
          <a:p>
            <a:r>
              <a:rPr lang="en-US" dirty="0"/>
              <a:t>each component will become key in new table</a:t>
            </a:r>
          </a:p>
          <a:p>
            <a:r>
              <a:rPr lang="en-US" dirty="0"/>
              <a:t>original table is now divided into three tables (PROJECT, EMPLOYEE, and ASSIGNMENT)</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2: Reassign Corresponding Dependent Attributes</a:t>
            </a:r>
          </a:p>
        </p:txBody>
      </p:sp>
      <p:sp>
        <p:nvSpPr>
          <p:cNvPr id="3" name="Content Placeholder 2"/>
          <p:cNvSpPr>
            <a:spLocks noGrp="1"/>
          </p:cNvSpPr>
          <p:nvPr>
            <p:ph idx="1"/>
          </p:nvPr>
        </p:nvSpPr>
        <p:spPr/>
        <p:txBody>
          <a:bodyPr>
            <a:normAutofit fontScale="92500"/>
          </a:bodyPr>
          <a:lstStyle/>
          <a:p>
            <a:r>
              <a:rPr lang="en-US" dirty="0"/>
              <a:t>dependencies for original key components are found by examining arrows below dependency diagram</a:t>
            </a:r>
          </a:p>
          <a:p>
            <a:r>
              <a:rPr lang="en-US" dirty="0"/>
              <a:t>attributes that are dependent in a partial dependency are removed from original table and placed in new table with its determinant</a:t>
            </a:r>
          </a:p>
          <a:p>
            <a:r>
              <a:rPr lang="en-US" dirty="0"/>
              <a:t>any attributes that are not dependent in partial dependency will remain in original table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PROJECT (</a:t>
            </a:r>
            <a:r>
              <a:rPr lang="en-US" u="sng" dirty="0"/>
              <a:t>PROJ_NUM</a:t>
            </a:r>
            <a:r>
              <a:rPr lang="en-US" dirty="0"/>
              <a:t>, PROJ_NAME)</a:t>
            </a:r>
          </a:p>
          <a:p>
            <a:r>
              <a:rPr lang="en-US" dirty="0"/>
              <a:t>EMPLOYEE (</a:t>
            </a:r>
            <a:r>
              <a:rPr lang="en-US" u="sng" dirty="0"/>
              <a:t>EMP_NUM</a:t>
            </a:r>
            <a:r>
              <a:rPr lang="en-US" dirty="0"/>
              <a:t>, EMP_NAME, JOB_CLASS, CHG_HOUR)</a:t>
            </a:r>
          </a:p>
          <a:p>
            <a:r>
              <a:rPr lang="en-US" dirty="0"/>
              <a:t>ASSIGNMENT (</a:t>
            </a:r>
            <a:r>
              <a:rPr lang="en-US" u="sng" dirty="0"/>
              <a:t>PROJ_NUM, EMP_NUM</a:t>
            </a:r>
            <a:r>
              <a:rPr lang="en-US" dirty="0"/>
              <a:t>, ASSIGN_HOURS)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 (2NF)</a:t>
            </a:r>
          </a:p>
        </p:txBody>
      </p:sp>
      <p:pic>
        <p:nvPicPr>
          <p:cNvPr id="6" name="Content Placeholder 5" descr="Clipboard06.jpg"/>
          <p:cNvPicPr>
            <a:picLocks noGrp="1" noChangeAspect="1"/>
          </p:cNvPicPr>
          <p:nvPr>
            <p:ph idx="1"/>
          </p:nvPr>
        </p:nvPicPr>
        <p:blipFill>
          <a:blip r:embed="rId2" cstate="print"/>
          <a:stretch>
            <a:fillRect/>
          </a:stretch>
        </p:blipFill>
        <p:spPr>
          <a:xfrm>
            <a:off x="846162" y="1600200"/>
            <a:ext cx="7451675" cy="4525963"/>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 (2NF)</a:t>
            </a:r>
          </a:p>
        </p:txBody>
      </p:sp>
      <p:sp>
        <p:nvSpPr>
          <p:cNvPr id="3" name="Content Placeholder 2"/>
          <p:cNvSpPr>
            <a:spLocks noGrp="1"/>
          </p:cNvSpPr>
          <p:nvPr>
            <p:ph idx="1"/>
          </p:nvPr>
        </p:nvSpPr>
        <p:spPr/>
        <p:txBody>
          <a:bodyPr/>
          <a:lstStyle/>
          <a:p>
            <a:r>
              <a:rPr lang="en-US" dirty="0"/>
              <a:t>table is in second normal form (2NF) when:</a:t>
            </a:r>
          </a:p>
          <a:p>
            <a:r>
              <a:rPr lang="en-US" dirty="0"/>
              <a:t>it is in 1NF</a:t>
            </a:r>
          </a:p>
          <a:p>
            <a:r>
              <a:rPr lang="en-US" dirty="0"/>
              <a:t>and</a:t>
            </a:r>
          </a:p>
          <a:p>
            <a:r>
              <a:rPr lang="en-US" dirty="0"/>
              <a:t>it includes no partial dependencies; that is, no attribute is dependent on only portion of  primary key</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Because number of hours spent on each project by each employee is dependent on both PROJ_NUM and EMP_NUM in ASSIGNMENT table, you leave those hours in ASSIGNMENT table</a:t>
            </a:r>
          </a:p>
          <a:p>
            <a:r>
              <a:rPr lang="en-US" dirty="0"/>
              <a:t>ASSIGNMENT table contains composite primary key composed of attributes PROJ_NUM and EMP_NUM</a:t>
            </a:r>
          </a:p>
          <a:p>
            <a:r>
              <a:rPr lang="en-US" dirty="0"/>
              <a:t>primary key/foreign key relationships have been created</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most of the anomalies discussed earlier have been eliminated</a:t>
            </a:r>
          </a:p>
          <a:p>
            <a:r>
              <a:rPr lang="en-US" dirty="0"/>
              <a:t>for example, if you now want to add, change, or delete a PROJECT record, you need to go only to PROJECT table and make the change to only one row</a:t>
            </a:r>
          </a:p>
          <a:p>
            <a:r>
              <a:rPr lang="en-US" dirty="0"/>
              <a:t>transitive dependency can generate anomalies</a:t>
            </a:r>
          </a:p>
          <a:p>
            <a:r>
              <a:rPr lang="en-US" dirty="0"/>
              <a:t>for example, if charge per hour changes for job classification held by many employees, that change must be made for each of those employees</a:t>
            </a:r>
          </a:p>
          <a:p>
            <a:r>
              <a:rPr lang="en-US" dirty="0"/>
              <a:t>if you forget to update some of employee records that are affected by charge per hour change, different employees with same job description will generate different hourly charges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Conversion to Third Normal Form</a:t>
            </a:r>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1: Make New Tables to Eliminate Transitive Dependencies</a:t>
            </a:r>
          </a:p>
        </p:txBody>
      </p:sp>
      <p:sp>
        <p:nvSpPr>
          <p:cNvPr id="3" name="Content Placeholder 2"/>
          <p:cNvSpPr>
            <a:spLocks noGrp="1"/>
          </p:cNvSpPr>
          <p:nvPr>
            <p:ph idx="1"/>
          </p:nvPr>
        </p:nvSpPr>
        <p:spPr/>
        <p:txBody>
          <a:bodyPr>
            <a:normAutofit fontScale="92500" lnSpcReduction="10000"/>
          </a:bodyPr>
          <a:lstStyle/>
          <a:p>
            <a:r>
              <a:rPr lang="en-US" dirty="0"/>
              <a:t>for every transitive dependency, write a copy of its determinant as primary key for new table</a:t>
            </a:r>
          </a:p>
          <a:p>
            <a:r>
              <a:rPr lang="en-US" dirty="0"/>
              <a:t>determinant is any attribute whose value determines other values within a row</a:t>
            </a:r>
          </a:p>
          <a:p>
            <a:r>
              <a:rPr lang="en-US" dirty="0"/>
              <a:t>if you have three different transitive dependencies, you will have three different determinants</a:t>
            </a:r>
          </a:p>
          <a:p>
            <a:r>
              <a:rPr lang="en-US" dirty="0"/>
              <a:t>determinant remain in original table to serve as foreign key</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determinant for this transitive dependency as:</a:t>
            </a:r>
          </a:p>
          <a:p>
            <a:r>
              <a:rPr lang="en-US" dirty="0"/>
              <a:t>JOB_CLASS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2: Reassign Corresponding Dependent Attributes</a:t>
            </a:r>
          </a:p>
        </p:txBody>
      </p:sp>
      <p:sp>
        <p:nvSpPr>
          <p:cNvPr id="3" name="Content Placeholder 2"/>
          <p:cNvSpPr>
            <a:spLocks noGrp="1"/>
          </p:cNvSpPr>
          <p:nvPr>
            <p:ph idx="1"/>
          </p:nvPr>
        </p:nvSpPr>
        <p:spPr/>
        <p:txBody>
          <a:bodyPr>
            <a:normAutofit/>
          </a:bodyPr>
          <a:lstStyle/>
          <a:p>
            <a:r>
              <a:rPr lang="en-US" dirty="0"/>
              <a:t>identify the attributes that are dependent on each determinant identified </a:t>
            </a:r>
          </a:p>
          <a:p>
            <a:r>
              <a:rPr lang="en-US" dirty="0"/>
              <a:t>place dependent attributes in new tables with their determinants and remove them from their original tables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 (3NF)</a:t>
            </a:r>
          </a:p>
        </p:txBody>
      </p:sp>
      <p:pic>
        <p:nvPicPr>
          <p:cNvPr id="6" name="Content Placeholder 5" descr="Clipboard08.jpg"/>
          <p:cNvPicPr>
            <a:picLocks noGrp="1" noChangeAspect="1"/>
          </p:cNvPicPr>
          <p:nvPr>
            <p:ph idx="1"/>
          </p:nvPr>
        </p:nvPicPr>
        <p:blipFill>
          <a:blip r:embed="rId2" cstate="print"/>
          <a:stretch>
            <a:fillRect/>
          </a:stretch>
        </p:blipFill>
        <p:spPr>
          <a:xfrm>
            <a:off x="457200" y="1997686"/>
            <a:ext cx="8229600" cy="3730990"/>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 (3NF)</a:t>
            </a:r>
          </a:p>
        </p:txBody>
      </p:sp>
      <p:sp>
        <p:nvSpPr>
          <p:cNvPr id="3" name="Content Placeholder 2"/>
          <p:cNvSpPr>
            <a:spLocks noGrp="1"/>
          </p:cNvSpPr>
          <p:nvPr>
            <p:ph idx="1"/>
          </p:nvPr>
        </p:nvSpPr>
        <p:spPr/>
        <p:txBody>
          <a:bodyPr/>
          <a:lstStyle/>
          <a:p>
            <a:r>
              <a:rPr lang="en-US" dirty="0"/>
              <a:t>table is in third normal form (3NF) when:</a:t>
            </a:r>
          </a:p>
          <a:p>
            <a:r>
              <a:rPr lang="en-US" dirty="0"/>
              <a:t>it is in 2NF</a:t>
            </a:r>
          </a:p>
          <a:p>
            <a:r>
              <a:rPr lang="en-US" dirty="0"/>
              <a:t>and</a:t>
            </a:r>
          </a:p>
          <a:p>
            <a:r>
              <a:rPr lang="en-US" dirty="0"/>
              <a:t>it contains no transitive dependencies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PROJECT (</a:t>
            </a:r>
            <a:r>
              <a:rPr lang="en-US" u="sng" dirty="0"/>
              <a:t>PROJ_NUM</a:t>
            </a:r>
            <a:r>
              <a:rPr lang="en-US" dirty="0"/>
              <a:t>, PROJ_NAME)</a:t>
            </a:r>
          </a:p>
          <a:p>
            <a:r>
              <a:rPr lang="en-US" dirty="0"/>
              <a:t>EMPLOYEE (</a:t>
            </a:r>
            <a:r>
              <a:rPr lang="en-US" u="sng" dirty="0"/>
              <a:t>EMP_NUM</a:t>
            </a:r>
            <a:r>
              <a:rPr lang="en-US" dirty="0"/>
              <a:t>, EMP_NAME, JOB_CLASS)</a:t>
            </a:r>
          </a:p>
          <a:p>
            <a:r>
              <a:rPr lang="en-US" dirty="0"/>
              <a:t>JOB (</a:t>
            </a:r>
            <a:r>
              <a:rPr lang="en-US" u="sng" dirty="0"/>
              <a:t>JOB_CLASS</a:t>
            </a:r>
            <a:r>
              <a:rPr lang="en-US" dirty="0"/>
              <a:t>, CHG_HOUR)</a:t>
            </a:r>
          </a:p>
          <a:p>
            <a:r>
              <a:rPr lang="en-US" dirty="0"/>
              <a:t>ASSIGNMENT (</a:t>
            </a:r>
            <a:r>
              <a:rPr lang="en-US" u="sng" dirty="0"/>
              <a:t>PROJ_NUM, EMP_NUM</a:t>
            </a:r>
            <a:r>
              <a:rPr lang="en-US" dirty="0"/>
              <a:t>, ASSIGN_HOURS)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technique is the same, …</a:t>
            </a:r>
          </a:p>
          <a:p>
            <a:r>
              <a:rPr lang="en-US" dirty="0"/>
              <a:t>it is imperative that 2NF be achieved before moving on to 3NF; </a:t>
            </a:r>
          </a:p>
          <a:p>
            <a:r>
              <a:rPr lang="en-US" dirty="0"/>
              <a:t>be certain to resolve partial dependencies before resolving transitive dependencies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Design</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148</a:t>
            </a:fld>
            <a:endParaRPr lang="en-US"/>
          </a:p>
        </p:txBody>
      </p:sp>
      <p:pic>
        <p:nvPicPr>
          <p:cNvPr id="8" name="Content Placeholder 7" descr="Clipboard02.jpg"/>
          <p:cNvPicPr>
            <a:picLocks noGrp="1" noChangeAspect="1"/>
          </p:cNvPicPr>
          <p:nvPr>
            <p:ph idx="1"/>
          </p:nvPr>
        </p:nvPicPr>
        <p:blipFill>
          <a:blip r:embed="rId2" cstate="print"/>
          <a:stretch>
            <a:fillRect/>
          </a:stretch>
        </p:blipFill>
        <p:spPr>
          <a:xfrm>
            <a:off x="457200" y="1722221"/>
            <a:ext cx="8229600" cy="4281921"/>
          </a:xfr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Completed Database</a:t>
            </a:r>
          </a:p>
        </p:txBody>
      </p:sp>
      <p:pic>
        <p:nvPicPr>
          <p:cNvPr id="6" name="Content Placeholder 5" descr="Clipboard04.jpg"/>
          <p:cNvPicPr>
            <a:picLocks noGrp="1" noChangeAspect="1"/>
          </p:cNvPicPr>
          <p:nvPr>
            <p:ph idx="1"/>
          </p:nvPr>
        </p:nvPicPr>
        <p:blipFill>
          <a:blip r:embed="rId2" cstate="print"/>
          <a:stretch>
            <a:fillRect/>
          </a:stretch>
        </p:blipFill>
        <p:spPr>
          <a:xfrm>
            <a:off x="1471298" y="1600200"/>
            <a:ext cx="6201403" cy="4525963"/>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Clipboard06.jpg"/>
          <p:cNvPicPr>
            <a:picLocks noGrp="1" noChangeAspect="1"/>
          </p:cNvPicPr>
          <p:nvPr>
            <p:ph idx="1"/>
          </p:nvPr>
        </p:nvPicPr>
        <p:blipFill>
          <a:blip r:embed="rId2" cstate="print"/>
          <a:stretch>
            <a:fillRect/>
          </a:stretch>
        </p:blipFill>
        <p:spPr>
          <a:xfrm>
            <a:off x="1443145" y="1600200"/>
            <a:ext cx="6257709" cy="4525963"/>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Higher Level Normal Forms</a:t>
            </a:r>
          </a:p>
        </p:txBody>
      </p:sp>
      <p:sp>
        <p:nvSpPr>
          <p:cNvPr id="3" name="Content Placeholder 2"/>
          <p:cNvSpPr>
            <a:spLocks noGrp="1"/>
          </p:cNvSpPr>
          <p:nvPr>
            <p:ph idx="1"/>
          </p:nvPr>
        </p:nvSpPr>
        <p:spPr/>
        <p:txBody>
          <a:bodyPr/>
          <a:lstStyle/>
          <a:p>
            <a:r>
              <a:rPr lang="en-US" dirty="0"/>
              <a:t>Tables in 3NF will perform suitably in business transactional databases. </a:t>
            </a:r>
          </a:p>
          <a:p>
            <a:r>
              <a:rPr lang="en-US" dirty="0"/>
              <a:t>However, there are occasions when higher normal forms are useful</a:t>
            </a:r>
          </a:p>
          <a:p>
            <a:r>
              <a:rPr lang="en-US" dirty="0"/>
              <a:t>special case of 3NF, known as Boyce-</a:t>
            </a:r>
            <a:r>
              <a:rPr lang="en-US" dirty="0" err="1"/>
              <a:t>Codd</a:t>
            </a:r>
            <a:r>
              <a:rPr lang="en-US" dirty="0"/>
              <a:t> normal form(BCNF)</a:t>
            </a:r>
          </a:p>
          <a:p>
            <a:r>
              <a:rPr lang="en-US" dirty="0"/>
              <a:t>fourth normal form (4NF)</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Boyce-</a:t>
            </a:r>
            <a:r>
              <a:rPr lang="en-US" dirty="0" err="1"/>
              <a:t>Codd</a:t>
            </a:r>
            <a:r>
              <a:rPr lang="en-US" dirty="0"/>
              <a:t> normal form (BCNF)</a:t>
            </a:r>
          </a:p>
        </p:txBody>
      </p:sp>
      <p:sp>
        <p:nvSpPr>
          <p:cNvPr id="3" name="Content Placeholder 2"/>
          <p:cNvSpPr>
            <a:spLocks noGrp="1"/>
          </p:cNvSpPr>
          <p:nvPr>
            <p:ph idx="1"/>
          </p:nvPr>
        </p:nvSpPr>
        <p:spPr/>
        <p:txBody>
          <a:bodyPr>
            <a:normAutofit/>
          </a:bodyPr>
          <a:lstStyle/>
          <a:p>
            <a:r>
              <a:rPr lang="en-US" dirty="0"/>
              <a:t>when every determinant in table is candidate key </a:t>
            </a:r>
          </a:p>
          <a:p>
            <a:r>
              <a:rPr lang="en-US" dirty="0"/>
              <a:t>when table contains only one candidate key, the 3NF and the BCNF are equivalent</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Boyce-</a:t>
            </a:r>
            <a:r>
              <a:rPr lang="en-US" dirty="0" err="1"/>
              <a:t>Codd</a:t>
            </a:r>
            <a:r>
              <a:rPr lang="en-US" dirty="0"/>
              <a:t> normal form (BCNF)</a:t>
            </a:r>
          </a:p>
        </p:txBody>
      </p:sp>
      <p:sp>
        <p:nvSpPr>
          <p:cNvPr id="3" name="Content Placeholder 2"/>
          <p:cNvSpPr>
            <a:spLocks noGrp="1"/>
          </p:cNvSpPr>
          <p:nvPr>
            <p:ph idx="1"/>
          </p:nvPr>
        </p:nvSpPr>
        <p:spPr/>
        <p:txBody>
          <a:bodyPr>
            <a:normAutofit/>
          </a:bodyPr>
          <a:lstStyle/>
          <a:p>
            <a:r>
              <a:rPr lang="en-US" dirty="0"/>
              <a:t>table is in 3NF when it is in 2NF and there are no transitive dependencies</a:t>
            </a:r>
          </a:p>
          <a:p>
            <a:r>
              <a:rPr lang="en-US" dirty="0" err="1"/>
              <a:t>nonkey</a:t>
            </a:r>
            <a:r>
              <a:rPr lang="en-US" dirty="0"/>
              <a:t> attribute is determinant of key attribute</a:t>
            </a:r>
          </a:p>
          <a:p>
            <a:r>
              <a:rPr lang="en-US" dirty="0"/>
              <a:t>condition does not violate 3NF, yet it fails to meet the BCNF requirements because BCNF requires that every determinant in the table be candidate key</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table that is in 3NF but not in BCNF</a:t>
            </a:r>
          </a:p>
        </p:txBody>
      </p:sp>
      <p:pic>
        <p:nvPicPr>
          <p:cNvPr id="6" name="Content Placeholder 5" descr="Clipboard02.jpg"/>
          <p:cNvPicPr>
            <a:picLocks noGrp="1" noChangeAspect="1"/>
          </p:cNvPicPr>
          <p:nvPr>
            <p:ph idx="1"/>
          </p:nvPr>
        </p:nvPicPr>
        <p:blipFill>
          <a:blip r:embed="rId2" cstate="print"/>
          <a:stretch>
            <a:fillRect/>
          </a:stretch>
        </p:blipFill>
        <p:spPr>
          <a:xfrm>
            <a:off x="2600325" y="2853531"/>
            <a:ext cx="3943350" cy="2019300"/>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dependencies</a:t>
            </a:r>
          </a:p>
        </p:txBody>
      </p:sp>
      <p:sp>
        <p:nvSpPr>
          <p:cNvPr id="3" name="Content Placeholder 2"/>
          <p:cNvSpPr>
            <a:spLocks noGrp="1"/>
          </p:cNvSpPr>
          <p:nvPr>
            <p:ph idx="1"/>
          </p:nvPr>
        </p:nvSpPr>
        <p:spPr/>
        <p:txBody>
          <a:bodyPr>
            <a:normAutofit fontScale="92500" lnSpcReduction="20000"/>
          </a:bodyPr>
          <a:lstStyle/>
          <a:p>
            <a:r>
              <a:rPr lang="en-US" dirty="0"/>
              <a:t>A + B → C, D</a:t>
            </a:r>
          </a:p>
          <a:p>
            <a:r>
              <a:rPr lang="en-US" dirty="0"/>
              <a:t>A + C → B, D</a:t>
            </a:r>
          </a:p>
          <a:p>
            <a:r>
              <a:rPr lang="en-US" dirty="0"/>
              <a:t>C → B</a:t>
            </a:r>
          </a:p>
          <a:p>
            <a:r>
              <a:rPr lang="en-US" dirty="0"/>
              <a:t>two candidate keys: (A + B) and (A + C)</a:t>
            </a:r>
          </a:p>
          <a:p>
            <a:r>
              <a:rPr lang="en-US" dirty="0"/>
              <a:t>has no partial dependencies, nor does it contain transitive dependencies</a:t>
            </a:r>
          </a:p>
          <a:p>
            <a:r>
              <a:rPr lang="en-US" dirty="0"/>
              <a:t>C → B indicates that </a:t>
            </a:r>
            <a:r>
              <a:rPr lang="en-US" dirty="0" err="1"/>
              <a:t>nonkey</a:t>
            </a:r>
            <a:r>
              <a:rPr lang="en-US" dirty="0"/>
              <a:t> attribute determines part of the PK and that dependency is not transitive or partial because dependent is prime attribute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convert into BCNF</a:t>
            </a:r>
          </a:p>
        </p:txBody>
      </p:sp>
      <p:sp>
        <p:nvSpPr>
          <p:cNvPr id="3" name="Content Placeholder 2"/>
          <p:cNvSpPr>
            <a:spLocks noGrp="1"/>
          </p:cNvSpPr>
          <p:nvPr>
            <p:ph idx="1"/>
          </p:nvPr>
        </p:nvSpPr>
        <p:spPr/>
        <p:txBody>
          <a:bodyPr>
            <a:normAutofit/>
          </a:bodyPr>
          <a:lstStyle/>
          <a:p>
            <a:r>
              <a:rPr lang="en-US" dirty="0"/>
              <a:t>change the primary key to A + C</a:t>
            </a:r>
          </a:p>
          <a:p>
            <a:r>
              <a:rPr lang="en-US" dirty="0"/>
              <a:t>appropriate action because dependency C → B means that C is, in effect, superset of B</a:t>
            </a:r>
          </a:p>
          <a:p>
            <a:r>
              <a:rPr lang="en-US" dirty="0"/>
              <a:t>at this point, table is in 1NF because it contains partial dependency, C → B</a:t>
            </a:r>
          </a:p>
          <a:p>
            <a:r>
              <a:rPr lang="en-US" dirty="0"/>
              <a:t>next, follow standard decomposition procedures to produce results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Decomposition to BCNF</a:t>
            </a:r>
          </a:p>
        </p:txBody>
      </p:sp>
      <p:pic>
        <p:nvPicPr>
          <p:cNvPr id="6" name="Content Placeholder 5" descr="Clipboard02.jpg"/>
          <p:cNvPicPr>
            <a:picLocks noGrp="1" noChangeAspect="1"/>
          </p:cNvPicPr>
          <p:nvPr>
            <p:ph idx="1"/>
          </p:nvPr>
        </p:nvPicPr>
        <p:blipFill>
          <a:blip r:embed="rId2" cstate="print"/>
          <a:stretch>
            <a:fillRect/>
          </a:stretch>
        </p:blipFill>
        <p:spPr>
          <a:xfrm>
            <a:off x="1928812" y="2015331"/>
            <a:ext cx="5286375" cy="3695700"/>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Decomposition to BCNF</a:t>
            </a:r>
          </a:p>
        </p:txBody>
      </p:sp>
      <p:pic>
        <p:nvPicPr>
          <p:cNvPr id="6" name="Content Placeholder 5" descr="Clipboard04.jpg"/>
          <p:cNvPicPr>
            <a:picLocks noGrp="1" noChangeAspect="1"/>
          </p:cNvPicPr>
          <p:nvPr>
            <p:ph idx="1"/>
          </p:nvPr>
        </p:nvPicPr>
        <p:blipFill>
          <a:blip r:embed="rId2" cstate="print"/>
          <a:stretch>
            <a:fillRect/>
          </a:stretch>
        </p:blipFill>
        <p:spPr>
          <a:xfrm>
            <a:off x="1776412" y="2839244"/>
            <a:ext cx="5591175" cy="2047875"/>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Data for a BCNF Conversion</a:t>
            </a:r>
          </a:p>
        </p:txBody>
      </p:sp>
      <p:pic>
        <p:nvPicPr>
          <p:cNvPr id="6" name="Content Placeholder 5" descr="Clipboard02.jpg"/>
          <p:cNvPicPr>
            <a:picLocks noGrp="1" noChangeAspect="1"/>
          </p:cNvPicPr>
          <p:nvPr>
            <p:ph idx="1"/>
          </p:nvPr>
        </p:nvPicPr>
        <p:blipFill>
          <a:blip r:embed="rId2" cstate="print"/>
          <a:stretch>
            <a:fillRect/>
          </a:stretch>
        </p:blipFill>
        <p:spPr>
          <a:xfrm>
            <a:off x="457200" y="3167232"/>
            <a:ext cx="8229600" cy="1391899"/>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each CLASS_CODE identifies class uniquely, course might generate many classes</a:t>
            </a:r>
          </a:p>
          <a:p>
            <a:pPr lvl="1"/>
            <a:r>
              <a:rPr lang="en-US" dirty="0"/>
              <a:t>for example, course labeled INFS 420 might be taught in two classes (sections), each identified by unique code to facilitate registration</a:t>
            </a:r>
          </a:p>
          <a:p>
            <a:pPr lvl="1"/>
            <a:r>
              <a:rPr lang="en-US" dirty="0"/>
              <a:t>CLASS_CODE 32456 might identify INFS 420, class section 1</a:t>
            </a:r>
          </a:p>
          <a:p>
            <a:pPr lvl="1"/>
            <a:r>
              <a:rPr lang="en-US" dirty="0"/>
              <a:t>CLASS_CODE 32457 might identify INFS 420, class section 2</a:t>
            </a:r>
          </a:p>
          <a:p>
            <a:pPr lvl="1"/>
            <a:r>
              <a:rPr lang="en-US" dirty="0"/>
              <a:t>CLASS_CODE 28458 might identify QM 362, class section 5</a:t>
            </a:r>
          </a:p>
          <a:p>
            <a:r>
              <a:rPr lang="en-US" dirty="0"/>
              <a:t>student can take many classes</a:t>
            </a:r>
          </a:p>
          <a:p>
            <a:r>
              <a:rPr lang="en-US" dirty="0"/>
              <a:t>staff member can teach many classes, but each class is taught by only one staff member</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Clipboard04.jpg"/>
          <p:cNvPicPr>
            <a:picLocks noGrp="1" noChangeAspect="1"/>
          </p:cNvPicPr>
          <p:nvPr>
            <p:ph idx="1"/>
          </p:nvPr>
        </p:nvPicPr>
        <p:blipFill>
          <a:blip r:embed="rId2" cstate="print"/>
          <a:stretch>
            <a:fillRect/>
          </a:stretch>
        </p:blipFill>
        <p:spPr>
          <a:xfrm>
            <a:off x="1895475" y="2929731"/>
            <a:ext cx="5353050" cy="1866900"/>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STU_ID + STAFF_ID → CLASS_CODE, ENROLL_GRADE</a:t>
            </a:r>
          </a:p>
          <a:p>
            <a:r>
              <a:rPr lang="en-US" dirty="0"/>
              <a:t>CLASS_CODE → STAFF_ID</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table represented by this structure has major problem, because it is trying to describe two things: staff assignments to classes and student enrollment information</a:t>
            </a:r>
          </a:p>
          <a:p>
            <a:r>
              <a:rPr lang="en-US" dirty="0"/>
              <a:t>dual-purpose table structure will cause anomalies</a:t>
            </a:r>
          </a:p>
          <a:p>
            <a:r>
              <a:rPr lang="en-US" dirty="0"/>
              <a:t>if different staff member is assigned to teach class 32456, two rows will require updates, thus producing an update anomaly</a:t>
            </a:r>
          </a:p>
          <a:p>
            <a:r>
              <a:rPr lang="en-US" dirty="0"/>
              <a:t>if student 135 drops class 28458, information about who taught that class is lost, thus producing a deletion anomaly</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Clipboard06.jpg"/>
          <p:cNvPicPr>
            <a:picLocks noGrp="1" noChangeAspect="1"/>
          </p:cNvPicPr>
          <p:nvPr>
            <p:ph idx="1"/>
          </p:nvPr>
        </p:nvPicPr>
        <p:blipFill>
          <a:blip r:embed="rId2" cstate="print"/>
          <a:stretch>
            <a:fillRect/>
          </a:stretch>
        </p:blipFill>
        <p:spPr>
          <a:xfrm>
            <a:off x="1081087" y="3096419"/>
            <a:ext cx="6981825" cy="1533525"/>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forth normal form (4NF)</a:t>
            </a:r>
          </a:p>
        </p:txBody>
      </p:sp>
      <p:sp>
        <p:nvSpPr>
          <p:cNvPr id="3" name="Content Placeholder 2"/>
          <p:cNvSpPr>
            <a:spLocks noGrp="1"/>
          </p:cNvSpPr>
          <p:nvPr>
            <p:ph idx="1"/>
          </p:nvPr>
        </p:nvSpPr>
        <p:spPr/>
        <p:txBody>
          <a:bodyPr>
            <a:normAutofit lnSpcReduction="10000"/>
          </a:bodyPr>
          <a:lstStyle/>
          <a:p>
            <a:r>
              <a:rPr lang="en-US" dirty="0" err="1"/>
              <a:t>multivalued</a:t>
            </a:r>
            <a:r>
              <a:rPr lang="en-US" dirty="0"/>
              <a:t> attributes exist</a:t>
            </a:r>
          </a:p>
          <a:p>
            <a:r>
              <a:rPr lang="en-US" dirty="0"/>
              <a:t>Consider possibility that an employee can have multiple assignments and can also be involved in multiple service organizations</a:t>
            </a:r>
          </a:p>
          <a:p>
            <a:r>
              <a:rPr lang="en-US" dirty="0"/>
              <a:t>Suppose employee 10123 does volunteer work for Red Cross and United Way; same employee might be assigned to work on three projects: 1, 3, and 4</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Clipboard02.jpg"/>
          <p:cNvPicPr>
            <a:picLocks noGrp="1" noChangeAspect="1"/>
          </p:cNvPicPr>
          <p:nvPr>
            <p:ph idx="1"/>
          </p:nvPr>
        </p:nvPicPr>
        <p:blipFill>
          <a:blip r:embed="rId2" cstate="print"/>
          <a:stretch>
            <a:fillRect/>
          </a:stretch>
        </p:blipFill>
        <p:spPr>
          <a:xfrm>
            <a:off x="1285875" y="2682081"/>
            <a:ext cx="6572250" cy="2362200"/>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attributes ORG_CODE and ASSIGN_NUM each may have many different values</a:t>
            </a:r>
          </a:p>
          <a:p>
            <a:r>
              <a:rPr lang="en-US" dirty="0"/>
              <a:t>situation is referred to as </a:t>
            </a:r>
            <a:r>
              <a:rPr lang="en-US" dirty="0" err="1"/>
              <a:t>multivalued</a:t>
            </a:r>
            <a:r>
              <a:rPr lang="en-US" dirty="0"/>
              <a:t> dependency</a:t>
            </a:r>
          </a:p>
          <a:p>
            <a:r>
              <a:rPr lang="en-US" dirty="0"/>
              <a:t>one key determines multiple values of two other attributes and those attributes are independent of each other</a:t>
            </a:r>
          </a:p>
          <a:p>
            <a:r>
              <a:rPr lang="en-US" dirty="0"/>
              <a:t>one employee can have many service entries and many assignment entries</a:t>
            </a:r>
          </a:p>
          <a:p>
            <a:r>
              <a:rPr lang="en-US" dirty="0"/>
              <a:t>one EMP_NUM can determine multiple values of ORG_CODE and multiple values of ASSIGN_NUM</a:t>
            </a:r>
          </a:p>
          <a:p>
            <a:r>
              <a:rPr lang="en-US" dirty="0"/>
              <a:t>ORG_CODE and ASSIGN_NUM are independent</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if versions 1 and 2 are implemented, tables are likely to contain quite a few null values; do not even have a viable candidate </a:t>
            </a:r>
            <a:r>
              <a:rPr lang="en-US" dirty="0" err="1"/>
              <a:t>keyv</a:t>
            </a:r>
            <a:endParaRPr lang="en-US" dirty="0"/>
          </a:p>
          <a:p>
            <a:r>
              <a:rPr lang="en-US" dirty="0"/>
              <a:t>version 3 at least has a PK, but it is composed of all of attributes in the table; meets 3NF requirements, yet it contains many redundancies that are clearly undesirable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of tables in 4NF</a:t>
            </a:r>
          </a:p>
        </p:txBody>
      </p:sp>
      <p:pic>
        <p:nvPicPr>
          <p:cNvPr id="6" name="Content Placeholder 5" descr="Clipboard02.jpg"/>
          <p:cNvPicPr>
            <a:picLocks noGrp="1" noChangeAspect="1"/>
          </p:cNvPicPr>
          <p:nvPr>
            <p:ph idx="1"/>
          </p:nvPr>
        </p:nvPicPr>
        <p:blipFill>
          <a:blip r:embed="rId2" cstate="print"/>
          <a:stretch>
            <a:fillRect/>
          </a:stretch>
        </p:blipFill>
        <p:spPr>
          <a:xfrm>
            <a:off x="1433512" y="2010569"/>
            <a:ext cx="6276975" cy="3705225"/>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diagram</a:t>
            </a:r>
          </a:p>
        </p:txBody>
      </p:sp>
      <p:pic>
        <p:nvPicPr>
          <p:cNvPr id="6" name="Content Placeholder 5" descr="Clipboard04.jpg"/>
          <p:cNvPicPr>
            <a:picLocks noGrp="1" noChangeAspect="1"/>
          </p:cNvPicPr>
          <p:nvPr>
            <p:ph idx="1"/>
          </p:nvPr>
        </p:nvPicPr>
        <p:blipFill>
          <a:blip r:embed="rId2" cstate="print"/>
          <a:stretch>
            <a:fillRect/>
          </a:stretch>
        </p:blipFill>
        <p:spPr>
          <a:xfrm>
            <a:off x="1685925" y="2782094"/>
            <a:ext cx="5772150" cy="2162175"/>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fourth normal form (4NF)</a:t>
            </a:r>
          </a:p>
        </p:txBody>
      </p:sp>
      <p:sp>
        <p:nvSpPr>
          <p:cNvPr id="3" name="Content Placeholder 2"/>
          <p:cNvSpPr>
            <a:spLocks noGrp="1"/>
          </p:cNvSpPr>
          <p:nvPr>
            <p:ph idx="1"/>
          </p:nvPr>
        </p:nvSpPr>
        <p:spPr/>
        <p:txBody>
          <a:bodyPr/>
          <a:lstStyle/>
          <a:p>
            <a:r>
              <a:rPr lang="en-US" dirty="0"/>
              <a:t>table is in fourth normal form (4NF) when it is in 3NF and has no </a:t>
            </a:r>
            <a:r>
              <a:rPr lang="en-US" dirty="0" err="1"/>
              <a:t>multivalued</a:t>
            </a:r>
            <a:r>
              <a:rPr lang="en-US" dirty="0"/>
              <a:t> dependencies</a:t>
            </a:r>
          </a:p>
          <a:p>
            <a:endParaRPr lang="en-US" dirty="0"/>
          </a:p>
          <a:p>
            <a:r>
              <a:rPr lang="en-US" i="1" dirty="0"/>
              <a:t>Normalization should be part of the design process</a:t>
            </a:r>
            <a:endParaRPr lang="en-US" dirty="0"/>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endParaRPr lang="en-US" dirty="0"/>
          </a:p>
        </p:txBody>
      </p:sp>
      <p:sp>
        <p:nvSpPr>
          <p:cNvPr id="7" name="Subtitle 6"/>
          <p:cNvSpPr>
            <a:spLocks noGrp="1"/>
          </p:cNvSpPr>
          <p:nvPr>
            <p:ph type="subTitle" idx="1"/>
          </p:nvPr>
        </p:nvSpPr>
        <p:spPr/>
        <p:txBody>
          <a:bodyPr/>
          <a:lstStyle/>
          <a:p>
            <a:r>
              <a:rPr lang="en-US" dirty="0"/>
              <a:t>Data-Modeling Checklist</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rules</a:t>
            </a:r>
          </a:p>
        </p:txBody>
      </p:sp>
      <p:sp>
        <p:nvSpPr>
          <p:cNvPr id="3" name="Content Placeholder 2"/>
          <p:cNvSpPr>
            <a:spLocks noGrp="1"/>
          </p:cNvSpPr>
          <p:nvPr>
            <p:ph idx="1"/>
          </p:nvPr>
        </p:nvSpPr>
        <p:spPr/>
        <p:txBody>
          <a:bodyPr>
            <a:normAutofit fontScale="92500" lnSpcReduction="10000"/>
          </a:bodyPr>
          <a:lstStyle/>
          <a:p>
            <a:r>
              <a:rPr lang="en-US" dirty="0"/>
              <a:t>Properly document and verify all business rules with the end users.</a:t>
            </a:r>
          </a:p>
          <a:p>
            <a:r>
              <a:rPr lang="en-US" dirty="0"/>
              <a:t>Ensure that all business rules are written precisely, clearly, and simply. The business rules must help identify entities, attributes, relationships, and constraints.</a:t>
            </a:r>
          </a:p>
          <a:p>
            <a:r>
              <a:rPr lang="en-US" dirty="0"/>
              <a:t>Identify the source of all business rules, and ensure that each business rule is justified, dated, and signed off by an approving authority.</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Naming Conventions</a:t>
            </a:r>
          </a:p>
        </p:txBody>
      </p:sp>
      <p:sp>
        <p:nvSpPr>
          <p:cNvPr id="3" name="Content Placeholder 2"/>
          <p:cNvSpPr>
            <a:spLocks noGrp="1"/>
          </p:cNvSpPr>
          <p:nvPr>
            <p:ph idx="1"/>
          </p:nvPr>
        </p:nvSpPr>
        <p:spPr/>
        <p:txBody>
          <a:bodyPr>
            <a:normAutofit fontScale="92500" lnSpcReduction="20000"/>
          </a:bodyPr>
          <a:lstStyle/>
          <a:p>
            <a:r>
              <a:rPr lang="en-US" dirty="0"/>
              <a:t>All names should be limited in length (database-dependent size).</a:t>
            </a:r>
          </a:p>
          <a:p>
            <a:r>
              <a:rPr lang="en-US" dirty="0"/>
              <a:t>Entity Names:</a:t>
            </a:r>
          </a:p>
          <a:p>
            <a:pPr lvl="1"/>
            <a:r>
              <a:rPr lang="en-US" dirty="0"/>
              <a:t>Should be nouns that are familiar to business and should be short and meaningful</a:t>
            </a:r>
          </a:p>
          <a:p>
            <a:pPr lvl="1"/>
            <a:r>
              <a:rPr lang="en-US" dirty="0"/>
              <a:t>Should document abbreviations, synonyms, and aliases for each entity</a:t>
            </a:r>
          </a:p>
          <a:p>
            <a:pPr lvl="1"/>
            <a:r>
              <a:rPr lang="en-US" dirty="0"/>
              <a:t>Should be unique within the model</a:t>
            </a:r>
          </a:p>
          <a:p>
            <a:pPr lvl="1"/>
            <a:r>
              <a:rPr lang="en-US" dirty="0"/>
              <a:t>For composite entities, may include a combination of abbreviated names of the entities linked through the composite entity</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Naming Conventions</a:t>
            </a:r>
          </a:p>
        </p:txBody>
      </p:sp>
      <p:sp>
        <p:nvSpPr>
          <p:cNvPr id="3" name="Content Placeholder 2"/>
          <p:cNvSpPr>
            <a:spLocks noGrp="1"/>
          </p:cNvSpPr>
          <p:nvPr>
            <p:ph idx="1"/>
          </p:nvPr>
        </p:nvSpPr>
        <p:spPr/>
        <p:txBody>
          <a:bodyPr>
            <a:normAutofit/>
          </a:bodyPr>
          <a:lstStyle/>
          <a:p>
            <a:r>
              <a:rPr lang="en-US" dirty="0"/>
              <a:t>Attribute Names:</a:t>
            </a:r>
          </a:p>
          <a:p>
            <a:pPr lvl="1"/>
            <a:r>
              <a:rPr lang="en-US" dirty="0"/>
              <a:t>Should be unique within the entity</a:t>
            </a:r>
          </a:p>
          <a:p>
            <a:pPr lvl="1"/>
            <a:r>
              <a:rPr lang="en-US" dirty="0"/>
              <a:t>Should use the entity abbreviation as a prefix</a:t>
            </a:r>
          </a:p>
          <a:p>
            <a:pPr lvl="1"/>
            <a:r>
              <a:rPr lang="en-US" dirty="0"/>
              <a:t>Should be descriptive of the characteristic</a:t>
            </a:r>
          </a:p>
          <a:p>
            <a:pPr lvl="1"/>
            <a:r>
              <a:rPr lang="en-US" dirty="0"/>
              <a:t>Should use suffixes such as _ID, _NUM, or _CODE for the PK attribute</a:t>
            </a:r>
          </a:p>
          <a:p>
            <a:pPr lvl="1"/>
            <a:r>
              <a:rPr lang="en-US" dirty="0"/>
              <a:t>Should not be a reserved word</a:t>
            </a:r>
          </a:p>
          <a:p>
            <a:pPr lvl="1"/>
            <a:r>
              <a:rPr lang="en-US" dirty="0"/>
              <a:t>Should not contain spaces or special characters such as @, !, or &amp;</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Naming Conventions</a:t>
            </a:r>
          </a:p>
        </p:txBody>
      </p:sp>
      <p:sp>
        <p:nvSpPr>
          <p:cNvPr id="3" name="Content Placeholder 2"/>
          <p:cNvSpPr>
            <a:spLocks noGrp="1"/>
          </p:cNvSpPr>
          <p:nvPr>
            <p:ph idx="1"/>
          </p:nvPr>
        </p:nvSpPr>
        <p:spPr/>
        <p:txBody>
          <a:bodyPr/>
          <a:lstStyle/>
          <a:p>
            <a:r>
              <a:rPr lang="en-US" dirty="0"/>
              <a:t>Relationship Names:</a:t>
            </a:r>
          </a:p>
          <a:p>
            <a:pPr lvl="1"/>
            <a:r>
              <a:rPr lang="en-US" dirty="0"/>
              <a:t>Should be active or passive verbs that clearly indicate the nature of the relationship</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Entities</a:t>
            </a:r>
          </a:p>
        </p:txBody>
      </p:sp>
      <p:sp>
        <p:nvSpPr>
          <p:cNvPr id="3" name="Content Placeholder 2"/>
          <p:cNvSpPr>
            <a:spLocks noGrp="1"/>
          </p:cNvSpPr>
          <p:nvPr>
            <p:ph idx="1"/>
          </p:nvPr>
        </p:nvSpPr>
        <p:spPr/>
        <p:txBody>
          <a:bodyPr>
            <a:normAutofit fontScale="92500" lnSpcReduction="10000"/>
          </a:bodyPr>
          <a:lstStyle/>
          <a:p>
            <a:r>
              <a:rPr lang="en-US" dirty="0"/>
              <a:t>Each entity should represent a single subject.</a:t>
            </a:r>
          </a:p>
          <a:p>
            <a:r>
              <a:rPr lang="en-US" dirty="0"/>
              <a:t>Each entity should represent a set of distinguishable entity instances.</a:t>
            </a:r>
          </a:p>
          <a:p>
            <a:r>
              <a:rPr lang="en-US" dirty="0"/>
              <a:t>All entities should be in 3NF or higher. Any entities below 3NF should be justified.</a:t>
            </a:r>
          </a:p>
          <a:p>
            <a:r>
              <a:rPr lang="en-US" dirty="0"/>
              <a:t>The granularity of the entity instance should be clearly defined.</a:t>
            </a:r>
          </a:p>
          <a:p>
            <a:r>
              <a:rPr lang="en-US" dirty="0"/>
              <a:t>The PK should be clearly defined and support the selected data granularity.</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Attributes</a:t>
            </a:r>
          </a:p>
        </p:txBody>
      </p:sp>
      <p:sp>
        <p:nvSpPr>
          <p:cNvPr id="3" name="Content Placeholder 2"/>
          <p:cNvSpPr>
            <a:spLocks noGrp="1"/>
          </p:cNvSpPr>
          <p:nvPr>
            <p:ph idx="1"/>
          </p:nvPr>
        </p:nvSpPr>
        <p:spPr/>
        <p:txBody>
          <a:bodyPr>
            <a:normAutofit fontScale="92500" lnSpcReduction="20000"/>
          </a:bodyPr>
          <a:lstStyle/>
          <a:p>
            <a:r>
              <a:rPr lang="en-US" dirty="0"/>
              <a:t>Should be simple and single-valued (atomic data)</a:t>
            </a:r>
          </a:p>
          <a:p>
            <a:r>
              <a:rPr lang="en-US" dirty="0"/>
              <a:t>Should document default values, constraints, synonyms, and aliases</a:t>
            </a:r>
          </a:p>
          <a:p>
            <a:r>
              <a:rPr lang="en-US" dirty="0"/>
              <a:t>Derived attributes should be clearly identified and include source(s)</a:t>
            </a:r>
          </a:p>
          <a:p>
            <a:r>
              <a:rPr lang="en-US" dirty="0"/>
              <a:t>Should not be redundant unless this is required for transaction accuracy, performance, or maintaining a history</a:t>
            </a:r>
          </a:p>
          <a:p>
            <a:r>
              <a:rPr lang="en-US" dirty="0" err="1"/>
              <a:t>Nonkey</a:t>
            </a:r>
            <a:r>
              <a:rPr lang="en-US" dirty="0"/>
              <a:t> attributes must be fully dependent on the PK attribute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Relationships</a:t>
            </a:r>
          </a:p>
        </p:txBody>
      </p:sp>
      <p:sp>
        <p:nvSpPr>
          <p:cNvPr id="3" name="Content Placeholder 2"/>
          <p:cNvSpPr>
            <a:spLocks noGrp="1"/>
          </p:cNvSpPr>
          <p:nvPr>
            <p:ph idx="1"/>
          </p:nvPr>
        </p:nvSpPr>
        <p:spPr/>
        <p:txBody>
          <a:bodyPr/>
          <a:lstStyle/>
          <a:p>
            <a:r>
              <a:rPr lang="en-US" dirty="0"/>
              <a:t>Should clearly identify relationship participants</a:t>
            </a:r>
          </a:p>
          <a:p>
            <a:r>
              <a:rPr lang="en-US" dirty="0"/>
              <a:t>Should clearly define participation, connectivity, and document cardinality</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Model</a:t>
            </a:r>
          </a:p>
        </p:txBody>
      </p:sp>
      <p:sp>
        <p:nvSpPr>
          <p:cNvPr id="3" name="Content Placeholder 2"/>
          <p:cNvSpPr>
            <a:spLocks noGrp="1"/>
          </p:cNvSpPr>
          <p:nvPr>
            <p:ph idx="1"/>
          </p:nvPr>
        </p:nvSpPr>
        <p:spPr/>
        <p:txBody>
          <a:bodyPr>
            <a:normAutofit fontScale="92500" lnSpcReduction="20000"/>
          </a:bodyPr>
          <a:lstStyle/>
          <a:p>
            <a:r>
              <a:rPr lang="en-US" dirty="0"/>
              <a:t>Should be validated against expected processes: inserts, updates, and deletes</a:t>
            </a:r>
          </a:p>
          <a:p>
            <a:r>
              <a:rPr lang="en-US" dirty="0"/>
              <a:t>Should evaluate where, when, and how to maintain a history</a:t>
            </a:r>
          </a:p>
          <a:p>
            <a:r>
              <a:rPr lang="en-US" dirty="0"/>
              <a:t>Should not contain redundant relationships except as required (see attributes)</a:t>
            </a:r>
          </a:p>
          <a:p>
            <a:r>
              <a:rPr lang="en-US"/>
              <a:t>Should </a:t>
            </a:r>
            <a:r>
              <a:rPr lang="en-US" dirty="0"/>
              <a:t>minimize data redundancy to ensure single-place updates</a:t>
            </a:r>
          </a:p>
          <a:p>
            <a:r>
              <a:rPr lang="en-US"/>
              <a:t>Should </a:t>
            </a:r>
            <a:r>
              <a:rPr lang="en-US" dirty="0"/>
              <a:t>conform to the minimal data rule: </a:t>
            </a:r>
            <a:r>
              <a:rPr lang="en-US" i="1" dirty="0"/>
              <a:t>“All that is needed is there, and all that is there is needed.”</a:t>
            </a:r>
            <a:endParaRPr lang="en-US" dirty="0"/>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DataBase</a:t>
            </a:r>
            <a:endParaRPr lang="en-US" dirty="0"/>
          </a:p>
        </p:txBody>
      </p:sp>
      <p:sp>
        <p:nvSpPr>
          <p:cNvPr id="3" name="Subtitle 2"/>
          <p:cNvSpPr>
            <a:spLocks noGrp="1"/>
          </p:cNvSpPr>
          <p:nvPr>
            <p:ph type="subTitle" idx="1"/>
          </p:nvPr>
        </p:nvSpPr>
        <p:spPr/>
        <p:txBody>
          <a:bodyPr/>
          <a:lstStyle/>
          <a:p>
            <a:r>
              <a:rPr lang="en-US" dirty="0"/>
              <a:t>Database Design</a:t>
            </a:r>
          </a:p>
        </p:txBody>
      </p:sp>
      <p:sp>
        <p:nvSpPr>
          <p:cNvPr id="4" name="Slide Number Placeholder 3"/>
          <p:cNvSpPr>
            <a:spLocks noGrp="1"/>
          </p:cNvSpPr>
          <p:nvPr>
            <p:ph type="sldNum" sz="quarter" idx="12"/>
          </p:nvPr>
        </p:nvSpPr>
        <p:spPr/>
        <p:txBody>
          <a:bodyPr/>
          <a:lstStyle/>
          <a:p>
            <a:pPr>
              <a:defRPr/>
            </a:pPr>
            <a:fld id="{30AB5E0A-44F7-4403-A0CC-481FEEEECB85}" type="slidenum">
              <a:rPr lang="en-US" smtClean="0"/>
              <a:pPr>
                <a:defRPr/>
              </a:pPr>
              <a:t>181</a:t>
            </a:fld>
            <a:endParaRPr lang="en-US"/>
          </a:p>
        </p:txBody>
      </p:sp>
      <p:sp>
        <p:nvSpPr>
          <p:cNvPr id="5" name="Footer Placeholder 4"/>
          <p:cNvSpPr>
            <a:spLocks noGrp="1"/>
          </p:cNvSpPr>
          <p:nvPr>
            <p:ph type="ftr" sz="quarter" idx="11"/>
          </p:nvPr>
        </p:nvSpPr>
        <p:spPr/>
        <p:txBody>
          <a:bodyPr/>
          <a:lstStyle/>
          <a:p>
            <a:pPr>
              <a:defRPr/>
            </a:pPr>
            <a:r>
              <a:rPr lang="en-US"/>
              <a:t>DataBase Design Course Notes 03 - Normalization</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System</a:t>
            </a:r>
          </a:p>
        </p:txBody>
      </p:sp>
      <p:sp>
        <p:nvSpPr>
          <p:cNvPr id="3" name="Content Placeholder 2"/>
          <p:cNvSpPr>
            <a:spLocks noGrp="1"/>
          </p:cNvSpPr>
          <p:nvPr>
            <p:ph idx="1"/>
          </p:nvPr>
        </p:nvSpPr>
        <p:spPr/>
        <p:txBody>
          <a:bodyPr>
            <a:normAutofit lnSpcReduction="10000"/>
          </a:bodyPr>
          <a:lstStyle/>
          <a:p>
            <a:r>
              <a:rPr lang="en-US" dirty="0"/>
              <a:t>Databases are a part of a larger picture called an information system</a:t>
            </a:r>
          </a:p>
          <a:p>
            <a:r>
              <a:rPr lang="en-US" dirty="0"/>
              <a:t>database designers must recognize that database is a critical means to an end rather than an end in itself</a:t>
            </a:r>
          </a:p>
          <a:p>
            <a:pPr lvl="1"/>
            <a:r>
              <a:rPr lang="en-US" dirty="0"/>
              <a:t>managers want the database to serve their management needs</a:t>
            </a:r>
          </a:p>
          <a:p>
            <a:pPr lvl="1"/>
            <a:r>
              <a:rPr lang="en-US" dirty="0"/>
              <a:t>many databases seem to require that managers alter their routines to fit database requirements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Systems Development Life Cycle (SDLC)</a:t>
            </a:r>
          </a:p>
        </p:txBody>
      </p:sp>
      <p:sp>
        <p:nvSpPr>
          <p:cNvPr id="3" name="Content Placeholder 2"/>
          <p:cNvSpPr>
            <a:spLocks noGrp="1"/>
          </p:cNvSpPr>
          <p:nvPr>
            <p:ph idx="1"/>
          </p:nvPr>
        </p:nvSpPr>
        <p:spPr/>
        <p:txBody>
          <a:bodyPr>
            <a:normAutofit/>
          </a:bodyPr>
          <a:lstStyle/>
          <a:p>
            <a:r>
              <a:rPr lang="en-US" dirty="0"/>
              <a:t>creation and evolution of information systems follows an iterative pattern called  the Systems Development Life Cycle (SDLC)</a:t>
            </a:r>
          </a:p>
          <a:p>
            <a:r>
              <a:rPr lang="en-US" dirty="0"/>
              <a:t>continuous process of creation, maintenance, enhancement, and replacement of the information system</a:t>
            </a:r>
          </a:p>
          <a:p>
            <a:r>
              <a:rPr lang="en-US" dirty="0"/>
              <a:t>similar cycle applies to databases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System</a:t>
            </a:r>
          </a:p>
        </p:txBody>
      </p:sp>
      <p:sp>
        <p:nvSpPr>
          <p:cNvPr id="3" name="Content Placeholder 2"/>
          <p:cNvSpPr>
            <a:spLocks noGrp="1"/>
          </p:cNvSpPr>
          <p:nvPr>
            <p:ph idx="1"/>
          </p:nvPr>
        </p:nvSpPr>
        <p:spPr/>
        <p:txBody>
          <a:bodyPr>
            <a:normAutofit fontScale="77500" lnSpcReduction="20000"/>
          </a:bodyPr>
          <a:lstStyle/>
          <a:p>
            <a:r>
              <a:rPr lang="en-US" dirty="0"/>
              <a:t>facilitates the transformation of data into information</a:t>
            </a:r>
          </a:p>
          <a:p>
            <a:r>
              <a:rPr lang="en-US" dirty="0"/>
              <a:t>it allows for management of both data and information</a:t>
            </a:r>
          </a:p>
          <a:p>
            <a:r>
              <a:rPr lang="en-US" dirty="0"/>
              <a:t>composed of people, hardware, software, database(s), application programs, and procedures</a:t>
            </a:r>
          </a:p>
          <a:p>
            <a:r>
              <a:rPr lang="en-US" dirty="0"/>
              <a:t>Systems analysis</a:t>
            </a:r>
          </a:p>
          <a:p>
            <a:pPr lvl="1"/>
            <a:r>
              <a:rPr lang="en-US" dirty="0"/>
              <a:t>process that establishes need for and extent of an information system</a:t>
            </a:r>
          </a:p>
          <a:p>
            <a:r>
              <a:rPr lang="en-US" dirty="0"/>
              <a:t>Systems development</a:t>
            </a:r>
          </a:p>
          <a:p>
            <a:pPr lvl="1"/>
            <a:r>
              <a:rPr lang="en-US" dirty="0"/>
              <a:t>process of creating an information system</a:t>
            </a:r>
          </a:p>
          <a:p>
            <a:r>
              <a:rPr lang="en-US" dirty="0"/>
              <a:t>Purpose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Generating information for decision making</a:t>
            </a:r>
          </a:p>
        </p:txBody>
      </p:sp>
      <p:pic>
        <p:nvPicPr>
          <p:cNvPr id="6" name="Content Placeholder 5" descr="Clipboard02.jpg"/>
          <p:cNvPicPr>
            <a:picLocks noGrp="1" noChangeAspect="1"/>
          </p:cNvPicPr>
          <p:nvPr>
            <p:ph idx="1"/>
          </p:nvPr>
        </p:nvPicPr>
        <p:blipFill>
          <a:blip r:embed="rId2" cstate="print"/>
          <a:stretch>
            <a:fillRect/>
          </a:stretch>
        </p:blipFill>
        <p:spPr>
          <a:xfrm>
            <a:off x="1281112" y="2615406"/>
            <a:ext cx="6581775" cy="2495550"/>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Performance of information system</a:t>
            </a:r>
          </a:p>
        </p:txBody>
      </p:sp>
      <p:sp>
        <p:nvSpPr>
          <p:cNvPr id="3" name="Content Placeholder 2"/>
          <p:cNvSpPr>
            <a:spLocks noGrp="1"/>
          </p:cNvSpPr>
          <p:nvPr>
            <p:ph idx="1"/>
          </p:nvPr>
        </p:nvSpPr>
        <p:spPr/>
        <p:txBody>
          <a:bodyPr/>
          <a:lstStyle/>
          <a:p>
            <a:r>
              <a:rPr lang="en-US" dirty="0"/>
              <a:t>Database design and implementation</a:t>
            </a:r>
          </a:p>
          <a:p>
            <a:r>
              <a:rPr lang="en-US" dirty="0"/>
              <a:t>Application design and implementation</a:t>
            </a:r>
          </a:p>
          <a:p>
            <a:r>
              <a:rPr lang="en-US" dirty="0"/>
              <a:t>Administrative procedures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Development Life Cycle</a:t>
            </a:r>
          </a:p>
        </p:txBody>
      </p:sp>
      <p:sp>
        <p:nvSpPr>
          <p:cNvPr id="3" name="Content Placeholder 2"/>
          <p:cNvSpPr>
            <a:spLocks noGrp="1"/>
          </p:cNvSpPr>
          <p:nvPr>
            <p:ph idx="1"/>
          </p:nvPr>
        </p:nvSpPr>
        <p:spPr/>
        <p:txBody>
          <a:bodyPr>
            <a:normAutofit/>
          </a:bodyPr>
          <a:lstStyle/>
          <a:p>
            <a:r>
              <a:rPr lang="en-US" dirty="0"/>
              <a:t>general framework through which you can track and understand activities required to develop and maintain information systems</a:t>
            </a:r>
          </a:p>
          <a:p>
            <a:r>
              <a:rPr lang="en-US" dirty="0"/>
              <a:t>there are alternative methodologies, such as:</a:t>
            </a:r>
          </a:p>
          <a:p>
            <a:r>
              <a:rPr lang="en-US" dirty="0"/>
              <a:t>Unified Modeling Language (UML)</a:t>
            </a:r>
          </a:p>
          <a:p>
            <a:r>
              <a:rPr lang="en-US" dirty="0"/>
              <a:t>Rapid Application Development (RAD)</a:t>
            </a:r>
          </a:p>
          <a:p>
            <a:r>
              <a:rPr lang="en-US" dirty="0"/>
              <a:t>Agile Software Development</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Development Life Cycle</a:t>
            </a:r>
          </a:p>
        </p:txBody>
      </p:sp>
      <p:pic>
        <p:nvPicPr>
          <p:cNvPr id="6" name="Content Placeholder 5" descr="Clipboard04.jpg"/>
          <p:cNvPicPr>
            <a:picLocks noGrp="1" noChangeAspect="1"/>
          </p:cNvPicPr>
          <p:nvPr>
            <p:ph idx="1"/>
          </p:nvPr>
        </p:nvPicPr>
        <p:blipFill>
          <a:blip r:embed="rId2" cstate="print"/>
          <a:stretch>
            <a:fillRect/>
          </a:stretch>
        </p:blipFill>
        <p:spPr>
          <a:xfrm>
            <a:off x="2211208" y="1600200"/>
            <a:ext cx="4721584" cy="4525963"/>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Development Life Cycle</a:t>
            </a:r>
          </a:p>
        </p:txBody>
      </p:sp>
      <p:sp>
        <p:nvSpPr>
          <p:cNvPr id="3" name="Content Placeholder 2"/>
          <p:cNvSpPr>
            <a:spLocks noGrp="1"/>
          </p:cNvSpPr>
          <p:nvPr>
            <p:ph idx="1"/>
          </p:nvPr>
        </p:nvSpPr>
        <p:spPr/>
        <p:txBody>
          <a:bodyPr>
            <a:normAutofit/>
          </a:bodyPr>
          <a:lstStyle/>
          <a:p>
            <a:r>
              <a:rPr lang="en-US" dirty="0"/>
              <a:t>traces the history (life cycle) of an information system</a:t>
            </a:r>
          </a:p>
          <a:p>
            <a:r>
              <a:rPr lang="en-US" dirty="0"/>
              <a:t>traditional is divided into five phases</a:t>
            </a:r>
          </a:p>
          <a:p>
            <a:pPr lvl="1"/>
            <a:r>
              <a:rPr lang="en-US" dirty="0"/>
              <a:t>planning, analysis, detailed systems design, implementation, and maintenance</a:t>
            </a:r>
          </a:p>
          <a:p>
            <a:r>
              <a:rPr lang="en-US" dirty="0"/>
              <a:t>iterative process, rather than sequential</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a:t>
            </a:r>
          </a:p>
        </p:txBody>
      </p:sp>
      <p:sp>
        <p:nvSpPr>
          <p:cNvPr id="3" name="Content Placeholder 2"/>
          <p:cNvSpPr>
            <a:spLocks noGrp="1"/>
          </p:cNvSpPr>
          <p:nvPr>
            <p:ph idx="1"/>
          </p:nvPr>
        </p:nvSpPr>
        <p:spPr/>
        <p:txBody>
          <a:bodyPr>
            <a:normAutofit/>
          </a:bodyPr>
          <a:lstStyle/>
          <a:p>
            <a:r>
              <a:rPr lang="en-US" dirty="0"/>
              <a:t>yields a general overview of objectives</a:t>
            </a:r>
          </a:p>
          <a:p>
            <a:r>
              <a:rPr lang="en-US" dirty="0"/>
              <a:t>Should the existing system be continued? </a:t>
            </a:r>
          </a:p>
          <a:p>
            <a:r>
              <a:rPr lang="en-US" dirty="0"/>
              <a:t>Should the existing system be modified? </a:t>
            </a:r>
          </a:p>
          <a:p>
            <a:endParaRPr lang="en-US" dirty="0"/>
          </a:p>
          <a:p>
            <a:r>
              <a:rPr lang="en-US" dirty="0"/>
              <a:t>Should the existing system be replaced?</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Feasibility study</a:t>
            </a:r>
          </a:p>
        </p:txBody>
      </p:sp>
      <p:sp>
        <p:nvSpPr>
          <p:cNvPr id="3" name="Content Placeholder 2"/>
          <p:cNvSpPr>
            <a:spLocks noGrp="1"/>
          </p:cNvSpPr>
          <p:nvPr>
            <p:ph idx="1"/>
          </p:nvPr>
        </p:nvSpPr>
        <p:spPr/>
        <p:txBody>
          <a:bodyPr>
            <a:normAutofit/>
          </a:bodyPr>
          <a:lstStyle/>
          <a:p>
            <a:r>
              <a:rPr lang="en-US" dirty="0"/>
              <a:t>technical aspects of hardware and software requirements</a:t>
            </a:r>
          </a:p>
          <a:p>
            <a:r>
              <a:rPr lang="en-US" dirty="0"/>
              <a:t>system cost</a:t>
            </a:r>
          </a:p>
          <a:p>
            <a:r>
              <a:rPr lang="en-US" dirty="0"/>
              <a:t>operational cost</a:t>
            </a:r>
          </a:p>
          <a:p>
            <a:pPr lvl="1"/>
            <a:r>
              <a:rPr lang="en-US" dirty="0"/>
              <a:t>human, technical, and financial resources to keep system operational</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Analysis</a:t>
            </a:r>
          </a:p>
        </p:txBody>
      </p:sp>
      <p:sp>
        <p:nvSpPr>
          <p:cNvPr id="3" name="Content Placeholder 2"/>
          <p:cNvSpPr>
            <a:spLocks noGrp="1"/>
          </p:cNvSpPr>
          <p:nvPr>
            <p:ph idx="1"/>
          </p:nvPr>
        </p:nvSpPr>
        <p:spPr/>
        <p:txBody>
          <a:bodyPr>
            <a:normAutofit/>
          </a:bodyPr>
          <a:lstStyle/>
          <a:p>
            <a:r>
              <a:rPr lang="en-US" dirty="0"/>
              <a:t>problems defined during planning phase are examined in greater detail of both individual needs and organizational needs</a:t>
            </a:r>
          </a:p>
          <a:p>
            <a:r>
              <a:rPr lang="en-US" dirty="0"/>
              <a:t>What are the requirements of the current system’s end users?</a:t>
            </a:r>
          </a:p>
          <a:p>
            <a:r>
              <a:rPr lang="en-US" dirty="0"/>
              <a:t>Do those requirements fit into the overall information requirements?</a:t>
            </a:r>
          </a:p>
          <a:p>
            <a:r>
              <a:rPr lang="en-US" dirty="0"/>
              <a:t>Is a thorough audit of user requirements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Detailed Systems Design</a:t>
            </a:r>
          </a:p>
        </p:txBody>
      </p:sp>
      <p:sp>
        <p:nvSpPr>
          <p:cNvPr id="3" name="Content Placeholder 2"/>
          <p:cNvSpPr>
            <a:spLocks noGrp="1"/>
          </p:cNvSpPr>
          <p:nvPr>
            <p:ph idx="1"/>
          </p:nvPr>
        </p:nvSpPr>
        <p:spPr/>
        <p:txBody>
          <a:bodyPr>
            <a:normAutofit fontScale="92500" lnSpcReduction="10000"/>
          </a:bodyPr>
          <a:lstStyle/>
          <a:p>
            <a:r>
              <a:rPr lang="en-US" dirty="0"/>
              <a:t>completes the design of the system’s processes</a:t>
            </a:r>
          </a:p>
          <a:p>
            <a:r>
              <a:rPr lang="en-US" dirty="0"/>
              <a:t>includes all necessary technical specifications for screens, menus, reports, and other </a:t>
            </a:r>
          </a:p>
          <a:p>
            <a:r>
              <a:rPr lang="en-US" dirty="0"/>
              <a:t>steps are laid out for conversion from the old to the new system</a:t>
            </a:r>
          </a:p>
          <a:p>
            <a:r>
              <a:rPr lang="en-US" dirty="0"/>
              <a:t>training principles and methodologies are also planned and must be submitted for management’s approval</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p>
        </p:txBody>
      </p:sp>
      <p:sp>
        <p:nvSpPr>
          <p:cNvPr id="3" name="Content Placeholder 2"/>
          <p:cNvSpPr>
            <a:spLocks noGrp="1"/>
          </p:cNvSpPr>
          <p:nvPr>
            <p:ph idx="1"/>
          </p:nvPr>
        </p:nvSpPr>
        <p:spPr/>
        <p:txBody>
          <a:bodyPr>
            <a:normAutofit fontScale="62500" lnSpcReduction="20000"/>
          </a:bodyPr>
          <a:lstStyle/>
          <a:p>
            <a:r>
              <a:rPr lang="en-US" dirty="0"/>
              <a:t>hardware, software, DBMS and application programs are installed</a:t>
            </a:r>
          </a:p>
          <a:p>
            <a:r>
              <a:rPr lang="en-US" dirty="0"/>
              <a:t>database design is implemented</a:t>
            </a:r>
          </a:p>
          <a:p>
            <a:r>
              <a:rPr lang="en-US" dirty="0"/>
              <a:t>system enters into cycle of coding, testing, and debugging until it is ready to be delivered</a:t>
            </a:r>
          </a:p>
          <a:p>
            <a:r>
              <a:rPr lang="en-US" dirty="0"/>
              <a:t>database contents loaded </a:t>
            </a:r>
          </a:p>
          <a:p>
            <a:pPr lvl="1"/>
            <a:r>
              <a:rPr lang="en-US" dirty="0"/>
              <a:t>customized user programs</a:t>
            </a:r>
          </a:p>
          <a:p>
            <a:pPr lvl="1"/>
            <a:r>
              <a:rPr lang="en-US" dirty="0"/>
              <a:t>database interface programs.</a:t>
            </a:r>
          </a:p>
          <a:p>
            <a:pPr lvl="1"/>
            <a:r>
              <a:rPr lang="en-US" dirty="0"/>
              <a:t>conversion programs </a:t>
            </a:r>
          </a:p>
          <a:p>
            <a:r>
              <a:rPr lang="en-US" dirty="0"/>
              <a:t>system is subjected to exhaustive testing until it is ready for use</a:t>
            </a:r>
          </a:p>
          <a:p>
            <a:r>
              <a:rPr lang="en-US" dirty="0"/>
              <a:t>final documentation is reviewed and printed </a:t>
            </a:r>
          </a:p>
          <a:p>
            <a:r>
              <a:rPr lang="en-US" dirty="0"/>
              <a:t>end users are trained</a:t>
            </a:r>
          </a:p>
          <a:p>
            <a:r>
              <a:rPr lang="en-US" dirty="0"/>
              <a:t>system is in full operation </a:t>
            </a:r>
          </a:p>
          <a:p>
            <a:r>
              <a:rPr lang="en-US" dirty="0"/>
              <a:t>will be continuously evaluated and fine-tuned</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Maintenance</a:t>
            </a:r>
          </a:p>
        </p:txBody>
      </p:sp>
      <p:sp>
        <p:nvSpPr>
          <p:cNvPr id="3" name="Content Placeholder 2"/>
          <p:cNvSpPr>
            <a:spLocks noGrp="1"/>
          </p:cNvSpPr>
          <p:nvPr>
            <p:ph idx="1"/>
          </p:nvPr>
        </p:nvSpPr>
        <p:spPr/>
        <p:txBody>
          <a:bodyPr>
            <a:normAutofit/>
          </a:bodyPr>
          <a:lstStyle/>
          <a:p>
            <a:r>
              <a:rPr lang="en-US" dirty="0"/>
              <a:t>almost as soon as system is operational, end users begin to request changes </a:t>
            </a:r>
          </a:p>
          <a:p>
            <a:r>
              <a:rPr lang="en-US" dirty="0"/>
              <a:t>corrective maintenance in response to systems errors</a:t>
            </a:r>
          </a:p>
          <a:p>
            <a:r>
              <a:rPr lang="en-US" dirty="0"/>
              <a:t>adaptive maintenance due to changes in the business environment</a:t>
            </a:r>
          </a:p>
          <a:p>
            <a:r>
              <a:rPr lang="en-US" dirty="0"/>
              <a:t>perfective maintenance to enhance the system</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Life Cycle</a:t>
            </a:r>
          </a:p>
        </p:txBody>
      </p:sp>
      <p:pic>
        <p:nvPicPr>
          <p:cNvPr id="6" name="Content Placeholder 5" descr="Clipboard06.jpg"/>
          <p:cNvPicPr>
            <a:picLocks noGrp="1" noChangeAspect="1"/>
          </p:cNvPicPr>
          <p:nvPr>
            <p:ph idx="1"/>
          </p:nvPr>
        </p:nvPicPr>
        <p:blipFill>
          <a:blip r:embed="rId2" cstate="print"/>
          <a:stretch>
            <a:fillRect/>
          </a:stretch>
        </p:blipFill>
        <p:spPr>
          <a:xfrm>
            <a:off x="2256107" y="1600200"/>
            <a:ext cx="4631786" cy="4525963"/>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Life Cycle</a:t>
            </a:r>
          </a:p>
        </p:txBody>
      </p:sp>
      <p:sp>
        <p:nvSpPr>
          <p:cNvPr id="3" name="Content Placeholder 2"/>
          <p:cNvSpPr>
            <a:spLocks noGrp="1"/>
          </p:cNvSpPr>
          <p:nvPr>
            <p:ph idx="1"/>
          </p:nvPr>
        </p:nvSpPr>
        <p:spPr/>
        <p:txBody>
          <a:bodyPr/>
          <a:lstStyle/>
          <a:p>
            <a:r>
              <a:rPr lang="en-US" dirty="0"/>
              <a:t>within larger information system, database is subject to a life cycle</a:t>
            </a:r>
            <a:endParaRPr lang="en-US" b="1" dirty="0"/>
          </a:p>
          <a:p>
            <a:r>
              <a:rPr lang="en-US" dirty="0"/>
              <a:t>contains six phases:</a:t>
            </a:r>
          </a:p>
          <a:p>
            <a:pPr lvl="1"/>
            <a:r>
              <a:rPr lang="en-US" dirty="0"/>
              <a:t>database initial study, database design, implementation and loading, testing and evaluation, operation, and maintenance and evolution</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Database Initial Study</a:t>
            </a:r>
          </a:p>
        </p:txBody>
      </p:sp>
      <p:sp>
        <p:nvSpPr>
          <p:cNvPr id="3" name="Content Placeholder 2"/>
          <p:cNvSpPr>
            <a:spLocks noGrp="1"/>
          </p:cNvSpPr>
          <p:nvPr>
            <p:ph idx="1"/>
          </p:nvPr>
        </p:nvSpPr>
        <p:spPr/>
        <p:txBody>
          <a:bodyPr>
            <a:normAutofit/>
          </a:bodyPr>
          <a:lstStyle/>
          <a:p>
            <a:r>
              <a:rPr lang="en-US" sz="2800" dirty="0"/>
              <a:t>examine current system’s operation </a:t>
            </a:r>
          </a:p>
          <a:p>
            <a:pPr lvl="1"/>
            <a:r>
              <a:rPr lang="en-US" sz="2400" dirty="0"/>
              <a:t>determine how and why current system fails</a:t>
            </a:r>
          </a:p>
          <a:p>
            <a:r>
              <a:rPr lang="en-US" sz="2800" dirty="0"/>
              <a:t>database design is a technical business,</a:t>
            </a:r>
          </a:p>
          <a:p>
            <a:r>
              <a:rPr lang="en-US" sz="2800" dirty="0"/>
              <a:t>it is also people-oriented</a:t>
            </a:r>
          </a:p>
          <a:p>
            <a:r>
              <a:rPr lang="en-US" sz="2800" dirty="0"/>
              <a:t>overall purpose of database initial study is to:</a:t>
            </a:r>
          </a:p>
          <a:p>
            <a:pPr lvl="1"/>
            <a:r>
              <a:rPr lang="en-US" sz="2400" dirty="0"/>
              <a:t>analyze company situation</a:t>
            </a:r>
          </a:p>
          <a:p>
            <a:pPr lvl="1"/>
            <a:r>
              <a:rPr lang="en-US" sz="2400" dirty="0"/>
              <a:t>define problems and constraints</a:t>
            </a:r>
          </a:p>
          <a:p>
            <a:pPr lvl="1"/>
            <a:r>
              <a:rPr lang="en-US" sz="2400" dirty="0"/>
              <a:t>define objectives</a:t>
            </a:r>
          </a:p>
          <a:p>
            <a:pPr lvl="1"/>
            <a:r>
              <a:rPr lang="en-US" sz="2400" dirty="0"/>
              <a:t>define scope and boundaries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Database Design</a:t>
            </a:r>
          </a:p>
        </p:txBody>
      </p:sp>
      <p:sp>
        <p:nvSpPr>
          <p:cNvPr id="3" name="Content Placeholder 2"/>
          <p:cNvSpPr>
            <a:spLocks noGrp="1"/>
          </p:cNvSpPr>
          <p:nvPr>
            <p:ph idx="1"/>
          </p:nvPr>
        </p:nvSpPr>
        <p:spPr/>
        <p:txBody>
          <a:bodyPr>
            <a:normAutofit/>
          </a:bodyPr>
          <a:lstStyle/>
          <a:p>
            <a:r>
              <a:rPr lang="en-US" dirty="0"/>
              <a:t>arguably the most critical DBLC phase</a:t>
            </a:r>
          </a:p>
          <a:p>
            <a:pPr lvl="1"/>
            <a:r>
              <a:rPr lang="en-US" dirty="0"/>
              <a:t>making sure that final product meets user and system requirements</a:t>
            </a:r>
          </a:p>
          <a:p>
            <a:r>
              <a:rPr lang="en-US" dirty="0"/>
              <a:t>business view of data as a source of information</a:t>
            </a:r>
          </a:p>
          <a:p>
            <a:r>
              <a:rPr lang="en-US" dirty="0"/>
              <a:t>designer’s view of data structure, its access, and activities required to transform data into information</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 process</a:t>
            </a:r>
          </a:p>
        </p:txBody>
      </p:sp>
      <p:pic>
        <p:nvPicPr>
          <p:cNvPr id="7" name="Content Placeholder 6" descr="Clipboard02.jpg"/>
          <p:cNvPicPr>
            <a:picLocks noGrp="1" noChangeAspect="1"/>
          </p:cNvPicPr>
          <p:nvPr>
            <p:ph idx="1"/>
          </p:nvPr>
        </p:nvPicPr>
        <p:blipFill>
          <a:blip r:embed="rId2" cstate="print"/>
          <a:stretch>
            <a:fillRect/>
          </a:stretch>
        </p:blipFill>
        <p:spPr>
          <a:xfrm>
            <a:off x="1533525" y="1967706"/>
            <a:ext cx="6076950" cy="3790950"/>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 and Loading</a:t>
            </a:r>
          </a:p>
        </p:txBody>
      </p:sp>
      <p:sp>
        <p:nvSpPr>
          <p:cNvPr id="3" name="Content Placeholder 2"/>
          <p:cNvSpPr>
            <a:spLocks noGrp="1"/>
          </p:cNvSpPr>
          <p:nvPr>
            <p:ph idx="1"/>
          </p:nvPr>
        </p:nvSpPr>
        <p:spPr/>
        <p:txBody>
          <a:bodyPr>
            <a:normAutofit fontScale="85000" lnSpcReduction="10000"/>
          </a:bodyPr>
          <a:lstStyle/>
          <a:p>
            <a:r>
              <a:rPr lang="en-US" dirty="0"/>
              <a:t>output of database design phase is a series of instructions detailing creation of tables, attributes, domains, views, indexes, security constraints, and storage and performance guidelines</a:t>
            </a:r>
          </a:p>
          <a:p>
            <a:r>
              <a:rPr lang="en-US" dirty="0"/>
              <a:t>actually implement all these design specifications</a:t>
            </a:r>
          </a:p>
          <a:p>
            <a:r>
              <a:rPr lang="en-US" dirty="0"/>
              <a:t>install DBMS</a:t>
            </a:r>
          </a:p>
          <a:p>
            <a:r>
              <a:rPr lang="en-US" dirty="0"/>
              <a:t>create database(s)</a:t>
            </a:r>
          </a:p>
          <a:p>
            <a:r>
              <a:rPr lang="en-US" dirty="0"/>
              <a:t>load or convert data</a:t>
            </a:r>
          </a:p>
          <a:p>
            <a:pPr lvl="1"/>
            <a:r>
              <a:rPr lang="en-US" dirty="0"/>
              <a:t>typically, data migrated from prior version of system</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 and Evaluation</a:t>
            </a:r>
          </a:p>
        </p:txBody>
      </p:sp>
      <p:sp>
        <p:nvSpPr>
          <p:cNvPr id="3" name="Content Placeholder 2"/>
          <p:cNvSpPr>
            <a:spLocks noGrp="1"/>
          </p:cNvSpPr>
          <p:nvPr>
            <p:ph idx="1"/>
          </p:nvPr>
        </p:nvSpPr>
        <p:spPr/>
        <p:txBody>
          <a:bodyPr>
            <a:normAutofit/>
          </a:bodyPr>
          <a:lstStyle/>
          <a:p>
            <a:r>
              <a:rPr lang="en-US" dirty="0"/>
              <a:t>occurs in conjunction with applications programming </a:t>
            </a:r>
          </a:p>
          <a:p>
            <a:r>
              <a:rPr lang="en-US" dirty="0"/>
              <a:t>ensure integrity, security, performance, and recoverability of the database</a:t>
            </a:r>
          </a:p>
          <a:p>
            <a:endParaRPr lang="en-US" dirty="0"/>
          </a:p>
          <a:p>
            <a:r>
              <a:rPr lang="en-US" dirty="0"/>
              <a:t>evaluate the database and its application programs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202</a:t>
            </a:fld>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and Evaluation</a:t>
            </a:r>
          </a:p>
        </p:txBody>
      </p:sp>
      <p:sp>
        <p:nvSpPr>
          <p:cNvPr id="3" name="Content Placeholder 2"/>
          <p:cNvSpPr>
            <a:spLocks noGrp="1"/>
          </p:cNvSpPr>
          <p:nvPr>
            <p:ph idx="1"/>
          </p:nvPr>
        </p:nvSpPr>
        <p:spPr/>
        <p:txBody>
          <a:bodyPr>
            <a:normAutofit fontScale="70000" lnSpcReduction="20000"/>
          </a:bodyPr>
          <a:lstStyle/>
          <a:p>
            <a:r>
              <a:rPr lang="en-US" dirty="0"/>
              <a:t>physical security allows only authorized personnel physical access to specific areas</a:t>
            </a:r>
          </a:p>
          <a:p>
            <a:r>
              <a:rPr lang="en-US" dirty="0"/>
              <a:t>password security allows assignment of access rights to specific authorized users</a:t>
            </a:r>
          </a:p>
          <a:p>
            <a:r>
              <a:rPr lang="en-US" dirty="0"/>
              <a:t>access rights can be established through the use of database software</a:t>
            </a:r>
          </a:p>
          <a:p>
            <a:pPr lvl="1"/>
            <a:r>
              <a:rPr lang="en-US" dirty="0"/>
              <a:t>restrict operations (CREATE, UPDATE, DELETE, and so on) on predetermined objects such as databases, tables, views, queries, and reports</a:t>
            </a:r>
          </a:p>
          <a:p>
            <a:r>
              <a:rPr lang="en-US" dirty="0"/>
              <a:t>audit trails are usually provided by DBMS to check for access violations</a:t>
            </a:r>
          </a:p>
          <a:p>
            <a:r>
              <a:rPr lang="en-US" dirty="0"/>
              <a:t>data encryption can be used to render data useless to unauthorized users who might have violated some of database security layers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203</a:t>
            </a:fld>
            <a:endParaRPr 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Fine-Tune database</a:t>
            </a:r>
          </a:p>
        </p:txBody>
      </p:sp>
      <p:sp>
        <p:nvSpPr>
          <p:cNvPr id="3" name="Content Placeholder 2"/>
          <p:cNvSpPr>
            <a:spLocks noGrp="1"/>
          </p:cNvSpPr>
          <p:nvPr>
            <p:ph idx="1"/>
          </p:nvPr>
        </p:nvSpPr>
        <p:spPr/>
        <p:txBody>
          <a:bodyPr>
            <a:normAutofit/>
          </a:bodyPr>
          <a:lstStyle/>
          <a:p>
            <a:r>
              <a:rPr lang="en-US" dirty="0"/>
              <a:t>different systems will place different performance requirements on database</a:t>
            </a:r>
          </a:p>
          <a:p>
            <a:r>
              <a:rPr lang="en-US" dirty="0"/>
              <a:t>database performance tuning and query optimization</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204</a:t>
            </a:fld>
            <a:endParaRPr 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 sources of database failure</a:t>
            </a:r>
          </a:p>
        </p:txBody>
      </p:sp>
      <p:sp>
        <p:nvSpPr>
          <p:cNvPr id="3" name="Content Placeholder 2"/>
          <p:cNvSpPr>
            <a:spLocks noGrp="1"/>
          </p:cNvSpPr>
          <p:nvPr>
            <p:ph idx="1"/>
          </p:nvPr>
        </p:nvSpPr>
        <p:spPr/>
        <p:txBody>
          <a:bodyPr>
            <a:normAutofit fontScale="92500" lnSpcReduction="10000"/>
          </a:bodyPr>
          <a:lstStyle/>
          <a:p>
            <a:r>
              <a:rPr lang="en-US" dirty="0"/>
              <a:t>Software </a:t>
            </a:r>
          </a:p>
          <a:p>
            <a:pPr lvl="1"/>
            <a:r>
              <a:rPr lang="en-US" dirty="0"/>
              <a:t>traceable to operating system, DBMS software, application programs, or viruses</a:t>
            </a:r>
          </a:p>
          <a:p>
            <a:r>
              <a:rPr lang="en-US" dirty="0"/>
              <a:t>Hardware </a:t>
            </a:r>
          </a:p>
          <a:p>
            <a:pPr lvl="1"/>
            <a:r>
              <a:rPr lang="en-US" dirty="0"/>
              <a:t>may include memory chip errors, disk crashes, bad disk sectors, and </a:t>
            </a:r>
            <a:r>
              <a:rPr lang="en-US" i="1" dirty="0"/>
              <a:t>“disk full” errors</a:t>
            </a:r>
          </a:p>
          <a:p>
            <a:r>
              <a:rPr lang="en-US" dirty="0"/>
              <a:t>Programming exemptions</a:t>
            </a:r>
          </a:p>
          <a:p>
            <a:pPr lvl="1"/>
            <a:r>
              <a:rPr lang="en-US" dirty="0"/>
              <a:t>application programs or end users may roll back transactions when certain conditions are defined</a:t>
            </a:r>
          </a:p>
          <a:p>
            <a:pPr lvl="1"/>
            <a:r>
              <a:rPr lang="en-US" dirty="0"/>
              <a:t>caused by malicious or improperly tested code</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205</a:t>
            </a:fld>
            <a:endParaRPr 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 sources of database failure</a:t>
            </a:r>
          </a:p>
        </p:txBody>
      </p:sp>
      <p:sp>
        <p:nvSpPr>
          <p:cNvPr id="3" name="Content Placeholder 2"/>
          <p:cNvSpPr>
            <a:spLocks noGrp="1"/>
          </p:cNvSpPr>
          <p:nvPr>
            <p:ph idx="1"/>
          </p:nvPr>
        </p:nvSpPr>
        <p:spPr/>
        <p:txBody>
          <a:bodyPr>
            <a:normAutofit/>
          </a:bodyPr>
          <a:lstStyle/>
          <a:p>
            <a:r>
              <a:rPr lang="en-US" dirty="0"/>
              <a:t>Transactions</a:t>
            </a:r>
          </a:p>
          <a:p>
            <a:pPr lvl="1"/>
            <a:r>
              <a:rPr lang="en-US" dirty="0"/>
              <a:t>system detects deadlocks and aborts one of transactions</a:t>
            </a:r>
          </a:p>
          <a:p>
            <a:r>
              <a:rPr lang="en-US" dirty="0"/>
              <a:t>External factors </a:t>
            </a:r>
          </a:p>
          <a:p>
            <a:pPr lvl="1"/>
            <a:r>
              <a:rPr lang="en-US" dirty="0"/>
              <a:t>backups are especially important when a system suffers complete destruction from natural disaster</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206</a:t>
            </a:fld>
            <a:endParaRPr 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Operation</a:t>
            </a:r>
          </a:p>
        </p:txBody>
      </p:sp>
      <p:sp>
        <p:nvSpPr>
          <p:cNvPr id="3" name="Content Placeholder 2"/>
          <p:cNvSpPr>
            <a:spLocks noGrp="1"/>
          </p:cNvSpPr>
          <p:nvPr>
            <p:ph idx="1"/>
          </p:nvPr>
        </p:nvSpPr>
        <p:spPr/>
        <p:txBody>
          <a:bodyPr>
            <a:normAutofit/>
          </a:bodyPr>
          <a:lstStyle/>
          <a:p>
            <a:r>
              <a:rPr lang="en-US" dirty="0"/>
              <a:t>database passed evaluation stage, it is considered to be operational</a:t>
            </a:r>
          </a:p>
          <a:p>
            <a:r>
              <a:rPr lang="en-US" dirty="0"/>
              <a:t>database, management, users, application programs constitute a complete information system</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207</a:t>
            </a:fld>
            <a:endParaRPr 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Maintenance and Evolution</a:t>
            </a:r>
          </a:p>
        </p:txBody>
      </p:sp>
      <p:sp>
        <p:nvSpPr>
          <p:cNvPr id="3" name="Content Placeholder 2"/>
          <p:cNvSpPr>
            <a:spLocks noGrp="1"/>
          </p:cNvSpPr>
          <p:nvPr>
            <p:ph idx="1"/>
          </p:nvPr>
        </p:nvSpPr>
        <p:spPr/>
        <p:txBody>
          <a:bodyPr>
            <a:noAutofit/>
          </a:bodyPr>
          <a:lstStyle/>
          <a:p>
            <a:r>
              <a:rPr lang="en-US" sz="2400" dirty="0"/>
              <a:t>DBA perform routine maintenance activities</a:t>
            </a:r>
          </a:p>
          <a:p>
            <a:r>
              <a:rPr lang="en-US" sz="2400" dirty="0"/>
              <a:t>preventive maintenance (backup)</a:t>
            </a:r>
          </a:p>
          <a:p>
            <a:r>
              <a:rPr lang="en-US" sz="2400" dirty="0"/>
              <a:t>corrective maintenance (recovery)</a:t>
            </a:r>
          </a:p>
          <a:p>
            <a:r>
              <a:rPr lang="en-US" sz="2400" dirty="0"/>
              <a:t>adaptive maintenance </a:t>
            </a:r>
          </a:p>
          <a:p>
            <a:pPr lvl="1"/>
            <a:r>
              <a:rPr lang="en-US" sz="2400" dirty="0"/>
              <a:t>enhancing performance, add entities and attributes …</a:t>
            </a:r>
          </a:p>
          <a:p>
            <a:r>
              <a:rPr lang="en-US" sz="2400" dirty="0"/>
              <a:t>assignment of access permissions for new and old users</a:t>
            </a:r>
          </a:p>
          <a:p>
            <a:r>
              <a:rPr lang="en-US" sz="2400" dirty="0"/>
              <a:t>generation of database access statistics to improve efficiency of system audits , to monitor system performance</a:t>
            </a:r>
          </a:p>
          <a:p>
            <a:r>
              <a:rPr lang="en-US" sz="2400" dirty="0"/>
              <a:t>periodic security audits, system-usage summaries for internal billing or budgeting purposes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208</a:t>
            </a:fld>
            <a:endParaRPr 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 process</a:t>
            </a:r>
          </a:p>
        </p:txBody>
      </p:sp>
      <p:pic>
        <p:nvPicPr>
          <p:cNvPr id="7" name="Content Placeholder 6" descr="Clipboard02.jpg"/>
          <p:cNvPicPr>
            <a:picLocks noGrp="1" noChangeAspect="1"/>
          </p:cNvPicPr>
          <p:nvPr>
            <p:ph idx="1"/>
          </p:nvPr>
        </p:nvPicPr>
        <p:blipFill>
          <a:blip r:embed="rId2" cstate="print"/>
          <a:stretch>
            <a:fillRect/>
          </a:stretch>
        </p:blipFill>
        <p:spPr>
          <a:xfrm>
            <a:off x="1533525" y="1967706"/>
            <a:ext cx="6076950" cy="3790950"/>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209</a:t>
            </a:fld>
            <a:endParaRPr 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Conceptual design</a:t>
            </a:r>
          </a:p>
        </p:txBody>
      </p:sp>
      <p:sp>
        <p:nvSpPr>
          <p:cNvPr id="3" name="Content Placeholder 2"/>
          <p:cNvSpPr>
            <a:spLocks noGrp="1"/>
          </p:cNvSpPr>
          <p:nvPr>
            <p:ph idx="1"/>
          </p:nvPr>
        </p:nvSpPr>
        <p:spPr/>
        <p:txBody>
          <a:bodyPr>
            <a:normAutofit fontScale="92500" lnSpcReduction="20000"/>
          </a:bodyPr>
          <a:lstStyle/>
          <a:p>
            <a:r>
              <a:rPr lang="en-US" dirty="0"/>
              <a:t>design database that is independent of database software and physical details</a:t>
            </a:r>
          </a:p>
          <a:p>
            <a:r>
              <a:rPr lang="en-US" dirty="0"/>
              <a:t>output of this process is a conceptual data model that describes the main data entities, attributes, relationships, and constraints of a given problem domain - descriptive and narrative in form</a:t>
            </a:r>
          </a:p>
          <a:p>
            <a:r>
              <a:rPr lang="en-US" dirty="0"/>
              <a:t>generally composed of a graphical representation</a:t>
            </a:r>
          </a:p>
          <a:p>
            <a:r>
              <a:rPr lang="en-US" dirty="0"/>
              <a:t>textual descriptions of main data elements, relationships, and constraints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210</a:t>
            </a:fld>
            <a:endParaRPr lang="en-US"/>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design</a:t>
            </a:r>
          </a:p>
        </p:txBody>
      </p:sp>
      <p:sp>
        <p:nvSpPr>
          <p:cNvPr id="3" name="Content Placeholder 2"/>
          <p:cNvSpPr>
            <a:spLocks noGrp="1"/>
          </p:cNvSpPr>
          <p:nvPr>
            <p:ph idx="1"/>
          </p:nvPr>
        </p:nvSpPr>
        <p:spPr/>
        <p:txBody>
          <a:bodyPr>
            <a:normAutofit/>
          </a:bodyPr>
          <a:lstStyle/>
          <a:p>
            <a:r>
              <a:rPr lang="en-US" dirty="0"/>
              <a:t>Data analysis and requirements</a:t>
            </a:r>
          </a:p>
          <a:p>
            <a:r>
              <a:rPr lang="en-US" dirty="0"/>
              <a:t>Entity relationship modeling and normalization</a:t>
            </a:r>
          </a:p>
          <a:p>
            <a:r>
              <a:rPr lang="en-US" dirty="0"/>
              <a:t>Data model verification</a:t>
            </a:r>
          </a:p>
          <a:p>
            <a:r>
              <a:rPr lang="en-US" dirty="0"/>
              <a:t>Distributed database design</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211</a:t>
            </a:fld>
            <a:endParaRPr lang="en-US"/>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analysis and requirements</a:t>
            </a:r>
          </a:p>
        </p:txBody>
      </p:sp>
      <p:sp>
        <p:nvSpPr>
          <p:cNvPr id="3" name="Content Placeholder 2"/>
          <p:cNvSpPr>
            <a:spLocks noGrp="1"/>
          </p:cNvSpPr>
          <p:nvPr>
            <p:ph idx="1"/>
          </p:nvPr>
        </p:nvSpPr>
        <p:spPr/>
        <p:txBody>
          <a:bodyPr>
            <a:normAutofit/>
          </a:bodyPr>
          <a:lstStyle/>
          <a:p>
            <a:r>
              <a:rPr lang="en-US" dirty="0"/>
              <a:t>information needs</a:t>
            </a:r>
          </a:p>
          <a:p>
            <a:r>
              <a:rPr lang="en-US" dirty="0"/>
              <a:t>information users</a:t>
            </a:r>
          </a:p>
          <a:p>
            <a:r>
              <a:rPr lang="en-US" dirty="0"/>
              <a:t>information sources</a:t>
            </a:r>
          </a:p>
          <a:p>
            <a:r>
              <a:rPr lang="en-US" dirty="0"/>
              <a:t>information constitution</a:t>
            </a:r>
          </a:p>
          <a:p>
            <a:pPr lvl="1"/>
            <a:r>
              <a:rPr lang="en-US" dirty="0"/>
              <a:t>data elements needed to produce information</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212</a:t>
            </a:fld>
            <a:endParaRPr lang="en-US"/>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Entity relationship modeling and normalization</a:t>
            </a:r>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a:t>identify, analyze, and refine business rules</a:t>
            </a:r>
          </a:p>
          <a:p>
            <a:pPr marL="514350" indent="-514350">
              <a:buFont typeface="+mj-lt"/>
              <a:buAutoNum type="arabicPeriod"/>
            </a:pPr>
            <a:r>
              <a:rPr lang="en-US" dirty="0"/>
              <a:t>identify main entities</a:t>
            </a:r>
          </a:p>
          <a:p>
            <a:pPr marL="514350" indent="-514350">
              <a:buFont typeface="+mj-lt"/>
              <a:buAutoNum type="arabicPeriod"/>
            </a:pPr>
            <a:r>
              <a:rPr lang="en-US" dirty="0"/>
              <a:t>define relationships among entities</a:t>
            </a:r>
          </a:p>
          <a:p>
            <a:pPr marL="514350" indent="-514350">
              <a:buFont typeface="+mj-lt"/>
              <a:buAutoNum type="arabicPeriod"/>
            </a:pPr>
            <a:r>
              <a:rPr lang="en-US" dirty="0"/>
              <a:t>define attributes, primary keys, and foreign keys for each of the entities</a:t>
            </a:r>
          </a:p>
          <a:p>
            <a:pPr marL="514350" indent="-514350">
              <a:buFont typeface="+mj-lt"/>
              <a:buAutoNum type="arabicPeriod"/>
            </a:pPr>
            <a:r>
              <a:rPr lang="en-US" dirty="0"/>
              <a:t>normalize the entities</a:t>
            </a:r>
          </a:p>
          <a:p>
            <a:pPr marL="514350" indent="-514350">
              <a:buFont typeface="+mj-lt"/>
              <a:buAutoNum type="arabicPeriod"/>
            </a:pPr>
            <a:r>
              <a:rPr lang="en-US" dirty="0"/>
              <a:t>complete initial ER diagram</a:t>
            </a:r>
          </a:p>
          <a:p>
            <a:pPr marL="514350" indent="-514350">
              <a:buFont typeface="+mj-lt"/>
              <a:buAutoNum type="arabicPeriod"/>
            </a:pPr>
            <a:r>
              <a:rPr lang="en-US" dirty="0"/>
              <a:t>validate ER model against end users’ information and processing requirements</a:t>
            </a:r>
          </a:p>
          <a:p>
            <a:pPr marL="514350" indent="-514350">
              <a:buFont typeface="+mj-lt"/>
              <a:buAutoNum type="arabicPeriod"/>
            </a:pPr>
            <a:r>
              <a:rPr lang="en-US" dirty="0"/>
              <a:t>modify ER model</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213</a:t>
            </a:fld>
            <a:endParaRPr lang="en-US"/>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iterative process based on many activities</a:t>
            </a:r>
          </a:p>
        </p:txBody>
      </p:sp>
      <p:pic>
        <p:nvPicPr>
          <p:cNvPr id="6" name="Content Placeholder 5" descr="Clipboard04.jpg"/>
          <p:cNvPicPr>
            <a:picLocks noGrp="1" noChangeAspect="1"/>
          </p:cNvPicPr>
          <p:nvPr>
            <p:ph idx="1"/>
          </p:nvPr>
        </p:nvPicPr>
        <p:blipFill>
          <a:blip r:embed="rId2" cstate="print"/>
          <a:stretch>
            <a:fillRect/>
          </a:stretch>
        </p:blipFill>
        <p:spPr>
          <a:xfrm>
            <a:off x="1595437" y="1715294"/>
            <a:ext cx="5953125" cy="4295775"/>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214</a:t>
            </a:fld>
            <a:endParaRPr 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sources</a:t>
            </a:r>
          </a:p>
        </p:txBody>
      </p:sp>
      <p:pic>
        <p:nvPicPr>
          <p:cNvPr id="6" name="Content Placeholder 5" descr="Clipboard06.jpg"/>
          <p:cNvPicPr>
            <a:picLocks noGrp="1" noChangeAspect="1"/>
          </p:cNvPicPr>
          <p:nvPr>
            <p:ph idx="1"/>
          </p:nvPr>
        </p:nvPicPr>
        <p:blipFill>
          <a:blip r:embed="rId2" cstate="print"/>
          <a:stretch>
            <a:fillRect/>
          </a:stretch>
        </p:blipFill>
        <p:spPr>
          <a:xfrm>
            <a:off x="1590675" y="2229644"/>
            <a:ext cx="5962650" cy="3267075"/>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215</a:t>
            </a:fld>
            <a:endParaRPr lang="en-US"/>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model verification</a:t>
            </a:r>
          </a:p>
        </p:txBody>
      </p:sp>
      <p:sp>
        <p:nvSpPr>
          <p:cNvPr id="3" name="Content Placeholder 2"/>
          <p:cNvSpPr>
            <a:spLocks noGrp="1"/>
          </p:cNvSpPr>
          <p:nvPr>
            <p:ph idx="1"/>
          </p:nvPr>
        </p:nvSpPr>
        <p:spPr/>
        <p:txBody>
          <a:bodyPr>
            <a:noAutofit/>
          </a:bodyPr>
          <a:lstStyle/>
          <a:p>
            <a:pPr marL="514350" indent="-514350">
              <a:buFont typeface="+mj-lt"/>
              <a:buAutoNum type="arabicPeriod"/>
            </a:pPr>
            <a:r>
              <a:rPr lang="en-US" sz="2800" dirty="0"/>
              <a:t>identify the ER model’s central entity.</a:t>
            </a:r>
          </a:p>
          <a:p>
            <a:pPr marL="514350" indent="-514350">
              <a:buFont typeface="+mj-lt"/>
              <a:buAutoNum type="arabicPeriod"/>
            </a:pPr>
            <a:r>
              <a:rPr lang="en-US" sz="2800" dirty="0"/>
              <a:t>identify each module and its components.</a:t>
            </a:r>
          </a:p>
          <a:p>
            <a:pPr marL="514350" indent="-514350">
              <a:buFont typeface="+mj-lt"/>
              <a:buAutoNum type="arabicPeriod"/>
            </a:pPr>
            <a:r>
              <a:rPr lang="en-US" sz="2800" dirty="0"/>
              <a:t>identify each module’s transaction requirements:</a:t>
            </a:r>
          </a:p>
          <a:p>
            <a:pPr marL="971550" lvl="1" indent="-514350">
              <a:buFont typeface="+mj-lt"/>
              <a:buAutoNum type="arabicPeriod"/>
            </a:pPr>
            <a:r>
              <a:rPr lang="en-US" sz="2400" dirty="0"/>
              <a:t>Internal: Updates/Inserts/Deletes/Queries/Reports</a:t>
            </a:r>
          </a:p>
          <a:p>
            <a:pPr marL="971550" lvl="1" indent="-514350">
              <a:buFont typeface="+mj-lt"/>
              <a:buAutoNum type="arabicPeriod"/>
            </a:pPr>
            <a:r>
              <a:rPr lang="en-US" sz="2400" dirty="0"/>
              <a:t>External: Module interfaces</a:t>
            </a:r>
          </a:p>
          <a:p>
            <a:pPr marL="514350" indent="-514350">
              <a:buFont typeface="+mj-lt"/>
              <a:buAutoNum type="arabicPeriod"/>
            </a:pPr>
            <a:r>
              <a:rPr lang="en-US" sz="2800" dirty="0"/>
              <a:t>verify all processes against system requirements</a:t>
            </a:r>
          </a:p>
          <a:p>
            <a:pPr marL="514350" indent="-514350">
              <a:buFont typeface="+mj-lt"/>
              <a:buAutoNum type="arabicPeriod"/>
            </a:pPr>
            <a:r>
              <a:rPr lang="en-US" sz="2800" dirty="0"/>
              <a:t>make all necessary changes suggested</a:t>
            </a:r>
          </a:p>
          <a:p>
            <a:pPr marL="514350" indent="-514350">
              <a:buFont typeface="+mj-lt"/>
              <a:buAutoNum type="arabicPeriod"/>
            </a:pPr>
            <a:r>
              <a:rPr lang="en-US" sz="2800" dirty="0"/>
              <a:t>repeat Steps 2−5 for all modules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216</a:t>
            </a:fld>
            <a:endParaRPr lang="en-US"/>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Distributed database design</a:t>
            </a:r>
          </a:p>
        </p:txBody>
      </p:sp>
      <p:sp>
        <p:nvSpPr>
          <p:cNvPr id="3" name="Content Placeholder 2"/>
          <p:cNvSpPr>
            <a:spLocks noGrp="1"/>
          </p:cNvSpPr>
          <p:nvPr>
            <p:ph idx="1"/>
          </p:nvPr>
        </p:nvSpPr>
        <p:spPr/>
        <p:txBody>
          <a:bodyPr>
            <a:normAutofit fontScale="77500" lnSpcReduction="20000"/>
          </a:bodyPr>
          <a:lstStyle/>
          <a:p>
            <a:r>
              <a:rPr lang="en-US" dirty="0"/>
              <a:t>although not a requirement for most databases</a:t>
            </a:r>
          </a:p>
          <a:p>
            <a:r>
              <a:rPr lang="en-US" dirty="0"/>
              <a:t>sometimes database may need to be distributed among multiple geographically disperse locations</a:t>
            </a:r>
          </a:p>
          <a:p>
            <a:pPr lvl="1"/>
            <a:r>
              <a:rPr lang="en-US" dirty="0"/>
              <a:t>processes that access database may also vary from one location to another</a:t>
            </a:r>
          </a:p>
          <a:p>
            <a:r>
              <a:rPr lang="en-US" dirty="0"/>
              <a:t>if database data and processes are to be distributed across system, portions of a database, known as database fragments, may reside in several physical locations</a:t>
            </a:r>
          </a:p>
          <a:p>
            <a:r>
              <a:rPr lang="en-US" dirty="0"/>
              <a:t>database fragment</a:t>
            </a:r>
          </a:p>
          <a:p>
            <a:pPr lvl="1"/>
            <a:r>
              <a:rPr lang="en-US" dirty="0"/>
              <a:t>subset of database that is stored at given location</a:t>
            </a:r>
          </a:p>
          <a:p>
            <a:pPr lvl="1"/>
            <a:r>
              <a:rPr lang="en-US" dirty="0"/>
              <a:t>composed of subset of rows or columns from one or multiple tables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217</a:t>
            </a:fld>
            <a:endParaRPr lang="en-US"/>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DBMS Software Selection</a:t>
            </a:r>
          </a:p>
        </p:txBody>
      </p:sp>
      <p:sp>
        <p:nvSpPr>
          <p:cNvPr id="3" name="Content Placeholder 2"/>
          <p:cNvSpPr>
            <a:spLocks noGrp="1"/>
          </p:cNvSpPr>
          <p:nvPr>
            <p:ph idx="1"/>
          </p:nvPr>
        </p:nvSpPr>
        <p:spPr/>
        <p:txBody>
          <a:bodyPr>
            <a:normAutofit/>
          </a:bodyPr>
          <a:lstStyle/>
          <a:p>
            <a:r>
              <a:rPr lang="en-US" dirty="0"/>
              <a:t>Common  factors affecting purchasing decision</a:t>
            </a:r>
            <a:r>
              <a:rPr lang="en-US" b="1" dirty="0"/>
              <a:t>:</a:t>
            </a:r>
          </a:p>
          <a:p>
            <a:pPr lvl="1"/>
            <a:r>
              <a:rPr lang="en-US" dirty="0"/>
              <a:t>cost</a:t>
            </a:r>
          </a:p>
          <a:p>
            <a:pPr lvl="1"/>
            <a:r>
              <a:rPr lang="en-US" dirty="0"/>
              <a:t>DBMS features and tools</a:t>
            </a:r>
          </a:p>
          <a:p>
            <a:pPr lvl="1"/>
            <a:r>
              <a:rPr lang="en-US" dirty="0"/>
              <a:t>underlying model</a:t>
            </a:r>
          </a:p>
          <a:p>
            <a:pPr lvl="1"/>
            <a:r>
              <a:rPr lang="en-US" dirty="0"/>
              <a:t>Portability</a:t>
            </a:r>
          </a:p>
          <a:p>
            <a:pPr lvl="1"/>
            <a:r>
              <a:rPr lang="en-US" dirty="0"/>
              <a:t>DBMS hardware requirements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218</a:t>
            </a:fld>
            <a:endParaRPr 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 design</a:t>
            </a:r>
          </a:p>
        </p:txBody>
      </p:sp>
      <p:sp>
        <p:nvSpPr>
          <p:cNvPr id="3" name="Content Placeholder 2"/>
          <p:cNvSpPr>
            <a:spLocks noGrp="1"/>
          </p:cNvSpPr>
          <p:nvPr>
            <p:ph idx="1"/>
          </p:nvPr>
        </p:nvSpPr>
        <p:spPr/>
        <p:txBody>
          <a:bodyPr>
            <a:normAutofit/>
          </a:bodyPr>
          <a:lstStyle/>
          <a:p>
            <a:r>
              <a:rPr lang="en-US" dirty="0"/>
              <a:t>requires that all objects in conceptual model be mapped to specific constructs used by selected database model</a:t>
            </a:r>
          </a:p>
          <a:p>
            <a:r>
              <a:rPr lang="en-US" dirty="0"/>
              <a:t>includes specifications for relations (tables), relationships, and constraints (i.e., domain definitions, data validations, and security views)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219</a:t>
            </a:fld>
            <a:endParaRPr lang="en-US"/>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 design</a:t>
            </a:r>
          </a:p>
        </p:txBody>
      </p:sp>
      <p:sp>
        <p:nvSpPr>
          <p:cNvPr id="3" name="Content Placeholder 2"/>
          <p:cNvSpPr>
            <a:spLocks noGrp="1"/>
          </p:cNvSpPr>
          <p:nvPr>
            <p:ph idx="1"/>
          </p:nvPr>
        </p:nvSpPr>
        <p:spPr/>
        <p:txBody>
          <a:bodyPr/>
          <a:lstStyle/>
          <a:p>
            <a:pPr marL="514350" indent="-514350">
              <a:buFont typeface="+mj-lt"/>
              <a:buAutoNum type="arabicPeriod"/>
            </a:pPr>
            <a:r>
              <a:rPr lang="en-US" dirty="0"/>
              <a:t>map conceptual model to logical model components</a:t>
            </a:r>
          </a:p>
          <a:p>
            <a:pPr marL="514350" indent="-514350">
              <a:buFont typeface="+mj-lt"/>
              <a:buAutoNum type="arabicPeriod"/>
            </a:pPr>
            <a:r>
              <a:rPr lang="en-US" dirty="0"/>
              <a:t>validate logical model using normalization</a:t>
            </a:r>
          </a:p>
          <a:p>
            <a:pPr marL="514350" indent="-514350">
              <a:buFont typeface="+mj-lt"/>
              <a:buAutoNum type="arabicPeriod"/>
            </a:pPr>
            <a:r>
              <a:rPr lang="en-US" dirty="0"/>
              <a:t>validate logical model integrity constraints</a:t>
            </a:r>
          </a:p>
          <a:p>
            <a:pPr marL="514350" indent="-514350">
              <a:buFont typeface="+mj-lt"/>
              <a:buAutoNum type="arabicPeriod"/>
            </a:pPr>
            <a:r>
              <a:rPr lang="en-US" dirty="0"/>
              <a:t>validate logical model against user requirements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220</a:t>
            </a:fld>
            <a:endParaRPr lang="en-US"/>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Mapping conceptual model to relational model</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a:t>map strong entities</a:t>
            </a:r>
          </a:p>
          <a:p>
            <a:pPr marL="514350" indent="-514350">
              <a:buFont typeface="+mj-lt"/>
              <a:buAutoNum type="arabicPeriod"/>
            </a:pPr>
            <a:r>
              <a:rPr lang="en-US" dirty="0"/>
              <a:t>map </a:t>
            </a:r>
            <a:r>
              <a:rPr lang="en-US" dirty="0" err="1"/>
              <a:t>supertype</a:t>
            </a:r>
            <a:r>
              <a:rPr lang="en-US" dirty="0"/>
              <a:t>/subtype relationships</a:t>
            </a:r>
          </a:p>
          <a:p>
            <a:pPr marL="514350" indent="-514350">
              <a:buFont typeface="+mj-lt"/>
              <a:buAutoNum type="arabicPeriod"/>
            </a:pPr>
            <a:r>
              <a:rPr lang="en-US" dirty="0"/>
              <a:t>map weak entities</a:t>
            </a:r>
          </a:p>
          <a:p>
            <a:pPr marL="514350" indent="-514350">
              <a:buFont typeface="+mj-lt"/>
              <a:buAutoNum type="arabicPeriod"/>
            </a:pPr>
            <a:r>
              <a:rPr lang="en-US" dirty="0"/>
              <a:t>map binary relationships</a:t>
            </a:r>
          </a:p>
          <a:p>
            <a:pPr marL="514350" indent="-514350">
              <a:buFont typeface="+mj-lt"/>
              <a:buAutoNum type="arabicPeriod"/>
            </a:pPr>
            <a:r>
              <a:rPr lang="en-US" dirty="0"/>
              <a:t>map higher degree relationships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221</a:t>
            </a:fld>
            <a:endParaRPr lang="en-US"/>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design</a:t>
            </a:r>
          </a:p>
        </p:txBody>
      </p:sp>
      <p:sp>
        <p:nvSpPr>
          <p:cNvPr id="3" name="Content Placeholder 2"/>
          <p:cNvSpPr>
            <a:spLocks noGrp="1"/>
          </p:cNvSpPr>
          <p:nvPr>
            <p:ph idx="1"/>
          </p:nvPr>
        </p:nvSpPr>
        <p:spPr/>
        <p:txBody>
          <a:bodyPr>
            <a:normAutofit fontScale="92500" lnSpcReduction="10000"/>
          </a:bodyPr>
          <a:lstStyle/>
          <a:p>
            <a:r>
              <a:rPr lang="en-US" dirty="0"/>
              <a:t>process of determining data storage organization and data access characteristics o</a:t>
            </a:r>
          </a:p>
          <a:p>
            <a:r>
              <a:rPr lang="en-US" dirty="0"/>
              <a:t>storage characteristics are function of types of devices supported by hardware, type of data access methods supported by system, and the DBMS</a:t>
            </a:r>
          </a:p>
          <a:p>
            <a:r>
              <a:rPr lang="en-US" dirty="0"/>
              <a:t>relational databases are more insulated from physical details than older hierarchical and network models</a:t>
            </a:r>
          </a:p>
        </p:txBody>
      </p:sp>
      <p:sp>
        <p:nvSpPr>
          <p:cNvPr id="4" name="Footer Placeholder 3"/>
          <p:cNvSpPr>
            <a:spLocks noGrp="1"/>
          </p:cNvSpPr>
          <p:nvPr>
            <p:ph type="ftr" sz="quarter" idx="11"/>
          </p:nvPr>
        </p:nvSpPr>
        <p:spPr/>
        <p:txBody>
          <a:bodyPr/>
          <a:lstStyle/>
          <a:p>
            <a:r>
              <a:rPr lang="it-IT"/>
              <a:t>DataBase Design Course Notes 03 - Normalization</a:t>
            </a:r>
            <a:endParaRPr lang="en-US" dirty="0"/>
          </a:p>
        </p:txBody>
      </p:sp>
      <p:sp>
        <p:nvSpPr>
          <p:cNvPr id="5" name="Slide Number Placeholder 4"/>
          <p:cNvSpPr>
            <a:spLocks noGrp="1"/>
          </p:cNvSpPr>
          <p:nvPr>
            <p:ph type="sldNum" sz="quarter" idx="12"/>
          </p:nvPr>
        </p:nvSpPr>
        <p:spPr/>
        <p:txBody>
          <a:bodyPr/>
          <a:lstStyle/>
          <a:p>
            <a:fld id="{1E923D44-A265-4C35-B3D9-34A1C005FE0F}" type="slidenum">
              <a:rPr lang="en-US" smtClean="0"/>
              <a:pPr/>
              <a:t>222</a:t>
            </a:fld>
            <a:endParaRPr lang="en-US"/>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 Strategies</a:t>
            </a:r>
          </a:p>
        </p:txBody>
      </p:sp>
      <p:sp>
        <p:nvSpPr>
          <p:cNvPr id="3" name="Content Placeholder 2"/>
          <p:cNvSpPr>
            <a:spLocks noGrp="1"/>
          </p:cNvSpPr>
          <p:nvPr>
            <p:ph idx="1"/>
          </p:nvPr>
        </p:nvSpPr>
        <p:spPr/>
        <p:txBody>
          <a:bodyPr>
            <a:normAutofit fontScale="92500" lnSpcReduction="10000"/>
          </a:bodyPr>
          <a:lstStyle/>
          <a:p>
            <a:r>
              <a:rPr lang="en-US" dirty="0"/>
              <a:t>top-down design </a:t>
            </a:r>
          </a:p>
          <a:p>
            <a:pPr lvl="1"/>
            <a:r>
              <a:rPr lang="en-US" dirty="0"/>
              <a:t>starts by identifying data sets and then defines data elements for each of those sets</a:t>
            </a:r>
          </a:p>
          <a:p>
            <a:pPr lvl="1"/>
            <a:r>
              <a:rPr lang="en-US" dirty="0"/>
              <a:t>involves identification of different entity types and definition of each entity’s attributes</a:t>
            </a:r>
          </a:p>
          <a:p>
            <a:r>
              <a:rPr lang="en-US" dirty="0"/>
              <a:t>bottom-up design </a:t>
            </a:r>
          </a:p>
          <a:p>
            <a:pPr lvl="1"/>
            <a:r>
              <a:rPr lang="en-US" dirty="0"/>
              <a:t>first identifies data elements (items) and then groups them together in data sets</a:t>
            </a:r>
          </a:p>
          <a:p>
            <a:pPr lvl="1"/>
            <a:r>
              <a:rPr lang="en-US" dirty="0"/>
              <a:t>first defines attributes, and then groups them to form entities</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223</a:t>
            </a:fld>
            <a:endParaRPr lang="en-US"/>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Top-down vs. bottom-up </a:t>
            </a:r>
            <a:br>
              <a:rPr lang="en-US" dirty="0"/>
            </a:br>
            <a:r>
              <a:rPr lang="en-US" dirty="0"/>
              <a:t>design sequencing</a:t>
            </a:r>
          </a:p>
        </p:txBody>
      </p:sp>
      <p:pic>
        <p:nvPicPr>
          <p:cNvPr id="6" name="Content Placeholder 5" descr="Clipboard08.jpg"/>
          <p:cNvPicPr>
            <a:picLocks noGrp="1" noChangeAspect="1"/>
          </p:cNvPicPr>
          <p:nvPr>
            <p:ph idx="1"/>
          </p:nvPr>
        </p:nvPicPr>
        <p:blipFill>
          <a:blip r:embed="rId2" cstate="print"/>
          <a:stretch>
            <a:fillRect/>
          </a:stretch>
        </p:blipFill>
        <p:spPr>
          <a:xfrm>
            <a:off x="1366837" y="2648744"/>
            <a:ext cx="6410325" cy="2428875"/>
          </a:xfrm>
        </p:spPr>
      </p:pic>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224</a:t>
            </a:fld>
            <a:endParaRPr lang="en-US"/>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Centralized design</a:t>
            </a:r>
          </a:p>
        </p:txBody>
      </p:sp>
      <p:sp>
        <p:nvSpPr>
          <p:cNvPr id="3" name="Content Placeholder 2"/>
          <p:cNvSpPr>
            <a:spLocks noGrp="1"/>
          </p:cNvSpPr>
          <p:nvPr>
            <p:ph idx="1"/>
          </p:nvPr>
        </p:nvSpPr>
        <p:spPr/>
        <p:txBody>
          <a:bodyPr>
            <a:normAutofit/>
          </a:bodyPr>
          <a:lstStyle/>
          <a:p>
            <a:r>
              <a:rPr lang="en-US" dirty="0"/>
              <a:t>productive when data component is composed of a relatively small number of objects and procedures</a:t>
            </a:r>
          </a:p>
          <a:p>
            <a:r>
              <a:rPr lang="en-US" dirty="0"/>
              <a:t>can be successfully done by single person or by small, informal design team</a:t>
            </a:r>
          </a:p>
          <a:p>
            <a:r>
              <a:rPr lang="en-US" dirty="0"/>
              <a:t>operations and scope of problem are sufficiently limited</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225</a:t>
            </a:fld>
            <a:endParaRPr lang="en-US"/>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Decentralized design</a:t>
            </a:r>
          </a:p>
        </p:txBody>
      </p:sp>
      <p:sp>
        <p:nvSpPr>
          <p:cNvPr id="3" name="Content Placeholder 2"/>
          <p:cNvSpPr>
            <a:spLocks noGrp="1"/>
          </p:cNvSpPr>
          <p:nvPr>
            <p:ph idx="1"/>
          </p:nvPr>
        </p:nvSpPr>
        <p:spPr/>
        <p:txBody>
          <a:bodyPr>
            <a:normAutofit/>
          </a:bodyPr>
          <a:lstStyle/>
          <a:p>
            <a:r>
              <a:rPr lang="en-US" dirty="0"/>
              <a:t>might be used when data component of the system has a considerable number of entities and complex relations on which very complex operations are performed</a:t>
            </a:r>
          </a:p>
          <a:p>
            <a:r>
              <a:rPr lang="en-US" dirty="0"/>
              <a:t>likely to be employed when problem itself is spread across several operational sites and each element is a subset of entire data set</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226</a:t>
            </a:fld>
            <a:endParaRPr lang="en-US"/>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 problems</a:t>
            </a:r>
          </a:p>
        </p:txBody>
      </p:sp>
      <p:sp>
        <p:nvSpPr>
          <p:cNvPr id="3" name="Content Placeholder 2"/>
          <p:cNvSpPr>
            <a:spLocks noGrp="1"/>
          </p:cNvSpPr>
          <p:nvPr>
            <p:ph idx="1"/>
          </p:nvPr>
        </p:nvSpPr>
        <p:spPr>
          <a:xfrm>
            <a:off x="467544" y="1628800"/>
            <a:ext cx="8229600" cy="4525963"/>
          </a:xfrm>
        </p:spPr>
        <p:txBody>
          <a:bodyPr>
            <a:noAutofit/>
          </a:bodyPr>
          <a:lstStyle/>
          <a:p>
            <a:r>
              <a:rPr lang="en-US" sz="1800" dirty="0"/>
              <a:t>synonyms and homonyms</a:t>
            </a:r>
          </a:p>
          <a:p>
            <a:pPr lvl="1"/>
            <a:r>
              <a:rPr lang="en-US" sz="1800" dirty="0"/>
              <a:t>various departments might know same object by different names (synonyms), or they might use same name to address different objects (homonyms) - object can be entity, attribute, or relationship</a:t>
            </a:r>
          </a:p>
          <a:p>
            <a:r>
              <a:rPr lang="en-US" sz="1800" dirty="0"/>
              <a:t>entity and entity subtypes</a:t>
            </a:r>
          </a:p>
          <a:p>
            <a:pPr lvl="1"/>
            <a:r>
              <a:rPr lang="en-US" sz="1800" dirty="0"/>
              <a:t>entity subtype might be viewed as separate entity by one or more departments</a:t>
            </a:r>
          </a:p>
          <a:p>
            <a:pPr lvl="1"/>
            <a:r>
              <a:rPr lang="en-US" sz="1800" dirty="0"/>
              <a:t>must integrate such subtypes into higher-level entity</a:t>
            </a:r>
          </a:p>
          <a:p>
            <a:r>
              <a:rPr lang="en-US" sz="1800" dirty="0"/>
              <a:t>conflicting object definitions</a:t>
            </a:r>
          </a:p>
          <a:p>
            <a:pPr lvl="1"/>
            <a:r>
              <a:rPr lang="en-US" sz="1800" dirty="0"/>
              <a:t>attributes can be recorded as different types (character, numeric), or different domains can be defined for same attribute</a:t>
            </a:r>
          </a:p>
          <a:p>
            <a:pPr lvl="1"/>
            <a:r>
              <a:rPr lang="en-US" sz="1800" dirty="0"/>
              <a:t>constraint definitions can vary</a:t>
            </a:r>
          </a:p>
          <a:p>
            <a:pPr lvl="1"/>
            <a:r>
              <a:rPr lang="en-US" sz="1800" dirty="0"/>
              <a:t>must remove such conflicts from model</a:t>
            </a:r>
          </a:p>
        </p:txBody>
      </p:sp>
      <p:sp>
        <p:nvSpPr>
          <p:cNvPr id="4" name="Footer Placeholder 3"/>
          <p:cNvSpPr>
            <a:spLocks noGrp="1"/>
          </p:cNvSpPr>
          <p:nvPr>
            <p:ph type="ftr" sz="quarter" idx="11"/>
          </p:nvPr>
        </p:nvSpPr>
        <p:spPr/>
        <p:txBody>
          <a:bodyPr/>
          <a:lstStyle/>
          <a:p>
            <a:r>
              <a:rPr lang="it-IT"/>
              <a:t>DataBase Design Course Notes 03 - Normalization</a:t>
            </a:r>
            <a:endParaRPr lang="en-US"/>
          </a:p>
        </p:txBody>
      </p:sp>
      <p:sp>
        <p:nvSpPr>
          <p:cNvPr id="5" name="Slide Number Placeholder 4"/>
          <p:cNvSpPr>
            <a:spLocks noGrp="1"/>
          </p:cNvSpPr>
          <p:nvPr>
            <p:ph type="sldNum" sz="quarter" idx="12"/>
          </p:nvPr>
        </p:nvSpPr>
        <p:spPr/>
        <p:txBody>
          <a:bodyPr/>
          <a:lstStyle/>
          <a:p>
            <a:fld id="{1E923D44-A265-4C35-B3D9-34A1C005FE0F}" type="slidenum">
              <a:rPr lang="en-US" smtClean="0"/>
              <a:pPr/>
              <a:t>227</a:t>
            </a:fld>
            <a:endParaRPr lang="en-US"/>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connection traps</a:t>
            </a:r>
          </a:p>
        </p:txBody>
      </p:sp>
      <p:sp>
        <p:nvSpPr>
          <p:cNvPr id="3" name="Content Placeholder 2"/>
          <p:cNvSpPr>
            <a:spLocks noGrp="1"/>
          </p:cNvSpPr>
          <p:nvPr>
            <p:ph idx="1"/>
          </p:nvPr>
        </p:nvSpPr>
        <p:spPr/>
        <p:txBody>
          <a:bodyPr/>
          <a:lstStyle/>
          <a:p>
            <a:r>
              <a:rPr lang="en-US" dirty="0"/>
              <a:t>occur due to misinterpretation of meaning of certain relationships: </a:t>
            </a:r>
            <a:r>
              <a:rPr lang="en-US" i="1" dirty="0"/>
              <a:t>fan traps</a:t>
            </a:r>
            <a:r>
              <a:rPr lang="en-US" b="1" dirty="0"/>
              <a:t> </a:t>
            </a:r>
            <a:r>
              <a:rPr lang="en-US" dirty="0"/>
              <a:t>and </a:t>
            </a:r>
            <a:r>
              <a:rPr lang="en-US" i="1" dirty="0"/>
              <a:t>chasm traps</a:t>
            </a:r>
          </a:p>
          <a:p>
            <a:r>
              <a:rPr lang="en-US" sz="3000" dirty="0"/>
              <a:t>to identify connection traps we must ensure that meaning of relationship is fully understood and clearly defined</a:t>
            </a:r>
          </a:p>
          <a:p>
            <a:r>
              <a:rPr lang="en-US" sz="3000" dirty="0"/>
              <a:t>if we do not understand relationships we may create model that is not true representation of “real world”</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228</a:t>
            </a:fld>
            <a:endParaRPr lang="en-US"/>
          </a:p>
        </p:txBody>
      </p:sp>
    </p:spTree>
    <p:extLst>
      <p:ext uri="{BB962C8B-B14F-4D97-AF65-F5344CB8AC3E}">
        <p14:creationId xmlns:p14="http://schemas.microsoft.com/office/powerpoint/2010/main" val="153870780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Fan Trap</a:t>
            </a:r>
          </a:p>
        </p:txBody>
      </p:sp>
      <p:sp>
        <p:nvSpPr>
          <p:cNvPr id="3" name="Content Placeholder 2"/>
          <p:cNvSpPr>
            <a:spLocks noGrp="1"/>
          </p:cNvSpPr>
          <p:nvPr>
            <p:ph idx="1"/>
          </p:nvPr>
        </p:nvSpPr>
        <p:spPr/>
        <p:txBody>
          <a:bodyPr/>
          <a:lstStyle/>
          <a:p>
            <a:r>
              <a:rPr lang="en-US" dirty="0"/>
              <a:t>model represents relationship between entity sets, but pathway between certain entity occurrences is ambiguous</a:t>
            </a:r>
          </a:p>
          <a:p>
            <a:endParaRPr lang="en-US" dirty="0"/>
          </a:p>
          <a:p>
            <a:r>
              <a:rPr lang="en-US" dirty="0"/>
              <a:t>exist where two or more 1:m relationships fan out from same entity</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229</a:t>
            </a:fld>
            <a:endParaRPr lang="en-US"/>
          </a:p>
        </p:txBody>
      </p:sp>
    </p:spTree>
    <p:extLst>
      <p:ext uri="{BB962C8B-B14F-4D97-AF65-F5344CB8AC3E}">
        <p14:creationId xmlns:p14="http://schemas.microsoft.com/office/powerpoint/2010/main" val="542075857"/>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Fan Trap</a:t>
            </a:r>
          </a:p>
        </p:txBody>
      </p:sp>
      <p:sp>
        <p:nvSpPr>
          <p:cNvPr id="3" name="Content Placeholder 2"/>
          <p:cNvSpPr>
            <a:spLocks noGrp="1"/>
          </p:cNvSpPr>
          <p:nvPr>
            <p:ph idx="1"/>
          </p:nvPr>
        </p:nvSpPr>
        <p:spPr/>
        <p:txBody>
          <a:bodyPr/>
          <a:lstStyle/>
          <a:p>
            <a:r>
              <a:rPr lang="en-US" dirty="0"/>
              <a:t>relationships (1:m) </a:t>
            </a:r>
            <a:r>
              <a:rPr lang="en-US" i="1" dirty="0"/>
              <a:t>Has</a:t>
            </a:r>
            <a:r>
              <a:rPr lang="en-US" dirty="0"/>
              <a:t> and </a:t>
            </a:r>
            <a:r>
              <a:rPr lang="en-US" i="1" dirty="0"/>
              <a:t>Operates</a:t>
            </a:r>
            <a:r>
              <a:rPr lang="en-US" b="1" dirty="0"/>
              <a:t> </a:t>
            </a:r>
            <a:r>
              <a:rPr lang="en-US" dirty="0"/>
              <a:t>emanating from same entity </a:t>
            </a:r>
            <a:r>
              <a:rPr lang="en-US" i="1" dirty="0"/>
              <a:t>Division</a:t>
            </a:r>
          </a:p>
          <a:p>
            <a:r>
              <a:rPr lang="en-US" dirty="0"/>
              <a:t>a single division operates </a:t>
            </a:r>
            <a:r>
              <a:rPr lang="en-US" i="1" dirty="0"/>
              <a:t>one or more </a:t>
            </a:r>
            <a:r>
              <a:rPr lang="en-US" dirty="0"/>
              <a:t>branches and has </a:t>
            </a:r>
            <a:r>
              <a:rPr lang="en-US" i="1" dirty="0"/>
              <a:t>one or more </a:t>
            </a:r>
            <a:r>
              <a:rPr lang="en-US" dirty="0"/>
              <a:t>staff</a:t>
            </a:r>
          </a:p>
          <a:p>
            <a:r>
              <a:rPr lang="en-US" dirty="0"/>
              <a:t>problem arises when we want to know which members of staff work at particular branch</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230</a:t>
            </a:fld>
            <a:endParaRPr lang="en-US"/>
          </a:p>
        </p:txBody>
      </p:sp>
    </p:spTree>
    <p:extLst>
      <p:ext uri="{BB962C8B-B14F-4D97-AF65-F5344CB8AC3E}">
        <p14:creationId xmlns:p14="http://schemas.microsoft.com/office/powerpoint/2010/main" val="212530270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Fan Trap</a:t>
            </a:r>
          </a:p>
        </p:txBody>
      </p:sp>
      <p:pic>
        <p:nvPicPr>
          <p:cNvPr id="6" name="Content Placeholder 5"/>
          <p:cNvPicPr>
            <a:picLocks noGrp="1"/>
          </p:cNvPicPr>
          <p:nvPr>
            <p:ph idx="1"/>
          </p:nvPr>
        </p:nvPicPr>
        <p:blipFill>
          <a:blip r:embed="rId2" cstate="print"/>
          <a:stretch>
            <a:fillRect/>
          </a:stretch>
        </p:blipFill>
        <p:spPr>
          <a:xfrm>
            <a:off x="457196" y="1371600"/>
            <a:ext cx="8229600" cy="2286000"/>
          </a:xfrm>
          <a:prstGeom prst="rect">
            <a:avLst/>
          </a:prstGeom>
        </p:spPr>
      </p:pic>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231</a:t>
            </a:fld>
            <a:endParaRPr lang="en-US"/>
          </a:p>
        </p:txBody>
      </p:sp>
      <p:pic>
        <p:nvPicPr>
          <p:cNvPr id="7" name="Picture 6"/>
          <p:cNvPicPr>
            <a:picLocks/>
          </p:cNvPicPr>
          <p:nvPr/>
        </p:nvPicPr>
        <p:blipFill>
          <a:blip r:embed="rId3" cstate="print"/>
          <a:stretch>
            <a:fillRect/>
          </a:stretch>
        </p:blipFill>
        <p:spPr>
          <a:xfrm>
            <a:off x="457200" y="3657600"/>
            <a:ext cx="8229600" cy="2468880"/>
          </a:xfrm>
          <a:prstGeom prst="rect">
            <a:avLst/>
          </a:prstGeom>
        </p:spPr>
      </p:pic>
    </p:spTree>
    <p:extLst>
      <p:ext uri="{BB962C8B-B14F-4D97-AF65-F5344CB8AC3E}">
        <p14:creationId xmlns:p14="http://schemas.microsoft.com/office/powerpoint/2010/main" val="315269185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Chasm Trap</a:t>
            </a:r>
          </a:p>
        </p:txBody>
      </p:sp>
      <p:sp>
        <p:nvSpPr>
          <p:cNvPr id="3" name="Content Placeholder 2"/>
          <p:cNvSpPr>
            <a:spLocks noGrp="1"/>
          </p:cNvSpPr>
          <p:nvPr>
            <p:ph idx="1"/>
          </p:nvPr>
        </p:nvSpPr>
        <p:spPr/>
        <p:txBody>
          <a:bodyPr/>
          <a:lstStyle/>
          <a:p>
            <a:r>
              <a:rPr lang="en-US" dirty="0"/>
              <a:t>model suggests existence of relationship between entity sets, but pathway does not exist between certain entity occurrences</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232</a:t>
            </a:fld>
            <a:endParaRPr lang="en-US"/>
          </a:p>
        </p:txBody>
      </p:sp>
    </p:spTree>
    <p:extLst>
      <p:ext uri="{BB962C8B-B14F-4D97-AF65-F5344CB8AC3E}">
        <p14:creationId xmlns:p14="http://schemas.microsoft.com/office/powerpoint/2010/main" val="2602442588"/>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Chasm Trap</a:t>
            </a:r>
          </a:p>
        </p:txBody>
      </p:sp>
      <p:sp>
        <p:nvSpPr>
          <p:cNvPr id="3" name="Content Placeholder 2"/>
          <p:cNvSpPr>
            <a:spLocks noGrp="1"/>
          </p:cNvSpPr>
          <p:nvPr>
            <p:ph idx="1"/>
          </p:nvPr>
        </p:nvSpPr>
        <p:spPr/>
        <p:txBody>
          <a:bodyPr/>
          <a:lstStyle/>
          <a:p>
            <a:r>
              <a:rPr lang="en-US" dirty="0"/>
              <a:t>occur where there are one or more relationships with minimum multiplicity of zero (that is, optional participation) forming part of pathway between related entities</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233</a:t>
            </a:fld>
            <a:endParaRPr lang="en-US"/>
          </a:p>
        </p:txBody>
      </p:sp>
    </p:spTree>
    <p:extLst>
      <p:ext uri="{BB962C8B-B14F-4D97-AF65-F5344CB8AC3E}">
        <p14:creationId xmlns:p14="http://schemas.microsoft.com/office/powerpoint/2010/main" val="202882878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Chasm Trap</a:t>
            </a:r>
          </a:p>
        </p:txBody>
      </p:sp>
      <p:sp>
        <p:nvSpPr>
          <p:cNvPr id="3" name="Content Placeholder 2"/>
          <p:cNvSpPr>
            <a:spLocks noGrp="1"/>
          </p:cNvSpPr>
          <p:nvPr>
            <p:ph idx="1"/>
          </p:nvPr>
        </p:nvSpPr>
        <p:spPr/>
        <p:txBody>
          <a:bodyPr/>
          <a:lstStyle/>
          <a:p>
            <a:r>
              <a:rPr lang="en-US" sz="3000" dirty="0"/>
              <a:t>potential chasm trap illustrated in relationships between </a:t>
            </a:r>
            <a:r>
              <a:rPr lang="en-US" sz="3000" i="1" dirty="0"/>
              <a:t>Branch</a:t>
            </a:r>
            <a:r>
              <a:rPr lang="en-US" sz="3000" dirty="0"/>
              <a:t>, </a:t>
            </a:r>
            <a:r>
              <a:rPr lang="en-US" sz="3000" i="1" dirty="0"/>
              <a:t>Staff</a:t>
            </a:r>
            <a:r>
              <a:rPr lang="en-US" sz="3000" dirty="0"/>
              <a:t>, and </a:t>
            </a:r>
            <a:r>
              <a:rPr lang="en-US" sz="3000" i="1" dirty="0" err="1"/>
              <a:t>PropertyForRent</a:t>
            </a:r>
            <a:r>
              <a:rPr lang="en-US" sz="3000" dirty="0"/>
              <a:t> entities; model represents facts that single branch has </a:t>
            </a:r>
            <a:r>
              <a:rPr lang="en-US" sz="3000" i="1" dirty="0"/>
              <a:t>one or more </a:t>
            </a:r>
            <a:r>
              <a:rPr lang="en-US" sz="3000" dirty="0"/>
              <a:t>staff who oversee </a:t>
            </a:r>
            <a:r>
              <a:rPr lang="en-US" sz="3000" i="1" dirty="0"/>
              <a:t>zero or more </a:t>
            </a:r>
            <a:r>
              <a:rPr lang="en-US" sz="3000" dirty="0"/>
              <a:t>properties for rent; not all staff oversee property and not all properties are overseen</a:t>
            </a:r>
          </a:p>
          <a:p>
            <a:r>
              <a:rPr lang="en-US" sz="3000" dirty="0"/>
              <a:t>problem arises when we want to know which properties are available at each branch</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234</a:t>
            </a:fld>
            <a:endParaRPr lang="en-US"/>
          </a:p>
        </p:txBody>
      </p:sp>
    </p:spTree>
    <p:extLst>
      <p:ext uri="{BB962C8B-B14F-4D97-AF65-F5344CB8AC3E}">
        <p14:creationId xmlns:p14="http://schemas.microsoft.com/office/powerpoint/2010/main" val="423389008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Chasm Trap</a:t>
            </a:r>
          </a:p>
        </p:txBody>
      </p:sp>
      <p:pic>
        <p:nvPicPr>
          <p:cNvPr id="6" name="Content Placeholder 5"/>
          <p:cNvPicPr>
            <a:picLocks noGrp="1"/>
          </p:cNvPicPr>
          <p:nvPr>
            <p:ph idx="1"/>
          </p:nvPr>
        </p:nvPicPr>
        <p:blipFill>
          <a:blip r:embed="rId2" cstate="print"/>
          <a:stretch>
            <a:fillRect/>
          </a:stretch>
        </p:blipFill>
        <p:spPr>
          <a:xfrm>
            <a:off x="457200" y="1554480"/>
            <a:ext cx="8229600" cy="4572000"/>
          </a:xfrm>
          <a:prstGeom prst="rect">
            <a:avLst/>
          </a:prstGeom>
        </p:spPr>
      </p:pic>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235</a:t>
            </a:fld>
            <a:endParaRPr lang="en-US"/>
          </a:p>
        </p:txBody>
      </p:sp>
    </p:spTree>
    <p:extLst>
      <p:ext uri="{BB962C8B-B14F-4D97-AF65-F5344CB8AC3E}">
        <p14:creationId xmlns:p14="http://schemas.microsoft.com/office/powerpoint/2010/main" val="29915683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Specialization /</a:t>
            </a:r>
            <a:br>
              <a:rPr lang="en-US" dirty="0"/>
            </a:br>
            <a:r>
              <a:rPr lang="en-US" dirty="0"/>
              <a:t>Generalization</a:t>
            </a:r>
          </a:p>
        </p:txBody>
      </p:sp>
      <p:sp>
        <p:nvSpPr>
          <p:cNvPr id="7" name="Text Placeholder 6"/>
          <p:cNvSpPr>
            <a:spLocks noGrp="1"/>
          </p:cNvSpPr>
          <p:nvPr>
            <p:ph type="body" idx="1"/>
          </p:nvPr>
        </p:nvSpPr>
        <p:spPr/>
        <p:txBody>
          <a:bodyPr/>
          <a:lstStyle/>
          <a:p>
            <a:endParaRPr lang="en-US" dirty="0"/>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236</a:t>
            </a:fld>
            <a:endParaRPr lang="en-US"/>
          </a:p>
        </p:txBody>
      </p:sp>
    </p:spTree>
    <p:extLst>
      <p:ext uri="{BB962C8B-B14F-4D97-AF65-F5344CB8AC3E}">
        <p14:creationId xmlns:p14="http://schemas.microsoft.com/office/powerpoint/2010/main" val="362816450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Specialization/Generalization</a:t>
            </a:r>
          </a:p>
        </p:txBody>
      </p:sp>
      <p:sp>
        <p:nvSpPr>
          <p:cNvPr id="7" name="Content Placeholder 6"/>
          <p:cNvSpPr>
            <a:spLocks noGrp="1"/>
          </p:cNvSpPr>
          <p:nvPr>
            <p:ph idx="1"/>
          </p:nvPr>
        </p:nvSpPr>
        <p:spPr/>
        <p:txBody>
          <a:bodyPr/>
          <a:lstStyle/>
          <a:p>
            <a:r>
              <a:rPr lang="en-US" dirty="0"/>
              <a:t>associated with special types of entities known as </a:t>
            </a:r>
            <a:r>
              <a:rPr lang="en-US" dirty="0" err="1"/>
              <a:t>superclasses</a:t>
            </a:r>
            <a:r>
              <a:rPr lang="en-US" dirty="0"/>
              <a:t> and subclasses, and process of attribute inheritance</a:t>
            </a:r>
          </a:p>
          <a:p>
            <a:r>
              <a:rPr lang="en-US" dirty="0"/>
              <a:t>hierarchy of entities containing </a:t>
            </a:r>
            <a:r>
              <a:rPr lang="en-US" dirty="0" err="1"/>
              <a:t>superclasses</a:t>
            </a:r>
            <a:r>
              <a:rPr lang="en-US" dirty="0"/>
              <a:t> and subclasses</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B4002D1F-D4D2-4BC5-BD70-04DE933FF460}" type="slidenum">
              <a:rPr lang="en-US" smtClean="0"/>
              <a:pPr>
                <a:defRPr/>
              </a:pPr>
              <a:t>237</a:t>
            </a:fld>
            <a:endParaRPr lang="en-US"/>
          </a:p>
        </p:txBody>
      </p:sp>
    </p:spTree>
    <p:extLst>
      <p:ext uri="{BB962C8B-B14F-4D97-AF65-F5344CB8AC3E}">
        <p14:creationId xmlns:p14="http://schemas.microsoft.com/office/powerpoint/2010/main" val="1699733769"/>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Superclass</a:t>
            </a:r>
            <a:endParaRPr lang="en-US" dirty="0"/>
          </a:p>
        </p:txBody>
      </p:sp>
      <p:sp>
        <p:nvSpPr>
          <p:cNvPr id="3" name="Content Placeholder 2"/>
          <p:cNvSpPr>
            <a:spLocks noGrp="1"/>
          </p:cNvSpPr>
          <p:nvPr>
            <p:ph idx="1"/>
          </p:nvPr>
        </p:nvSpPr>
        <p:spPr/>
        <p:txBody>
          <a:bodyPr/>
          <a:lstStyle/>
          <a:p>
            <a:r>
              <a:rPr lang="en-US" dirty="0"/>
              <a:t>entity set that includes one or more distinct </a:t>
            </a:r>
            <a:r>
              <a:rPr lang="en-US" dirty="0" err="1"/>
              <a:t>subgroupings</a:t>
            </a:r>
            <a:r>
              <a:rPr lang="en-US" dirty="0"/>
              <a:t> of its occurrences, which must be represented in data model</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238</a:t>
            </a:fld>
            <a:endParaRPr lang="en-US"/>
          </a:p>
        </p:txBody>
      </p:sp>
    </p:spTree>
    <p:extLst>
      <p:ext uri="{BB962C8B-B14F-4D97-AF65-F5344CB8AC3E}">
        <p14:creationId xmlns:p14="http://schemas.microsoft.com/office/powerpoint/2010/main" val="64827045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Subclass</a:t>
            </a:r>
          </a:p>
        </p:txBody>
      </p:sp>
      <p:sp>
        <p:nvSpPr>
          <p:cNvPr id="3" name="Content Placeholder 2"/>
          <p:cNvSpPr>
            <a:spLocks noGrp="1"/>
          </p:cNvSpPr>
          <p:nvPr>
            <p:ph idx="1"/>
          </p:nvPr>
        </p:nvSpPr>
        <p:spPr/>
        <p:txBody>
          <a:bodyPr/>
          <a:lstStyle/>
          <a:p>
            <a:r>
              <a:rPr lang="en-US" dirty="0"/>
              <a:t>distinct </a:t>
            </a:r>
            <a:r>
              <a:rPr lang="en-US" dirty="0" err="1"/>
              <a:t>subgrouping</a:t>
            </a:r>
            <a:r>
              <a:rPr lang="en-US" dirty="0"/>
              <a:t> of occurrences of entity set, which must be </a:t>
            </a:r>
            <a:r>
              <a:rPr lang="it-IT" dirty="0"/>
              <a:t>represented in data model</a:t>
            </a:r>
            <a:endParaRPr lang="en-US" dirty="0"/>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239</a:t>
            </a:fld>
            <a:endParaRPr lang="en-US"/>
          </a:p>
        </p:txBody>
      </p:sp>
    </p:spTree>
    <p:extLst>
      <p:ext uri="{BB962C8B-B14F-4D97-AF65-F5344CB8AC3E}">
        <p14:creationId xmlns:p14="http://schemas.microsoft.com/office/powerpoint/2010/main" val="3684961151"/>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example</a:t>
            </a:r>
          </a:p>
        </p:txBody>
      </p:sp>
      <p:sp>
        <p:nvSpPr>
          <p:cNvPr id="3" name="Content Placeholder 2"/>
          <p:cNvSpPr>
            <a:spLocks noGrp="1"/>
          </p:cNvSpPr>
          <p:nvPr>
            <p:ph idx="1"/>
          </p:nvPr>
        </p:nvSpPr>
        <p:spPr/>
        <p:txBody>
          <a:bodyPr/>
          <a:lstStyle/>
          <a:p>
            <a:r>
              <a:rPr lang="en-US" dirty="0"/>
              <a:t>entities that are members of </a:t>
            </a:r>
            <a:r>
              <a:rPr lang="en-US" i="1" dirty="0"/>
              <a:t>Staff</a:t>
            </a:r>
            <a:r>
              <a:rPr lang="en-US" dirty="0"/>
              <a:t> entity set may be classified as </a:t>
            </a:r>
            <a:r>
              <a:rPr lang="en-US" i="1" dirty="0"/>
              <a:t>Manager</a:t>
            </a:r>
            <a:r>
              <a:rPr lang="en-US" dirty="0"/>
              <a:t>, </a:t>
            </a:r>
            <a:r>
              <a:rPr lang="en-US" i="1" dirty="0" err="1"/>
              <a:t>SalesPersonnel</a:t>
            </a:r>
            <a:r>
              <a:rPr lang="en-US" dirty="0"/>
              <a:t>, and </a:t>
            </a:r>
            <a:r>
              <a:rPr lang="en-US" i="1" dirty="0"/>
              <a:t>Secretary</a:t>
            </a:r>
          </a:p>
          <a:p>
            <a:r>
              <a:rPr lang="en-US" i="1" dirty="0"/>
              <a:t>Staff</a:t>
            </a:r>
            <a:r>
              <a:rPr lang="en-US" dirty="0"/>
              <a:t> entity is referred to as </a:t>
            </a:r>
            <a:r>
              <a:rPr lang="en-US" dirty="0" err="1"/>
              <a:t>superclass</a:t>
            </a:r>
            <a:r>
              <a:rPr lang="en-US" dirty="0"/>
              <a:t> of</a:t>
            </a:r>
          </a:p>
          <a:p>
            <a:r>
              <a:rPr lang="en-US" i="1" dirty="0"/>
              <a:t>Manager</a:t>
            </a:r>
            <a:r>
              <a:rPr lang="en-US" dirty="0"/>
              <a:t>, </a:t>
            </a:r>
            <a:r>
              <a:rPr lang="en-US" i="1" dirty="0" err="1"/>
              <a:t>SalesPersonnel</a:t>
            </a:r>
            <a:r>
              <a:rPr lang="en-US" dirty="0"/>
              <a:t>, and </a:t>
            </a:r>
            <a:r>
              <a:rPr lang="en-US" i="1" dirty="0"/>
              <a:t>Secretary </a:t>
            </a:r>
            <a:r>
              <a:rPr lang="en-US" dirty="0"/>
              <a:t>subclasses</a:t>
            </a:r>
          </a:p>
          <a:p>
            <a:r>
              <a:rPr lang="en-US" dirty="0" err="1"/>
              <a:t>superclass</a:t>
            </a:r>
            <a:r>
              <a:rPr lang="en-US" dirty="0"/>
              <a:t>/subclass relationship</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240</a:t>
            </a:fld>
            <a:endParaRPr lang="en-US"/>
          </a:p>
        </p:txBody>
      </p:sp>
    </p:spTree>
    <p:extLst>
      <p:ext uri="{BB962C8B-B14F-4D97-AF65-F5344CB8AC3E}">
        <p14:creationId xmlns:p14="http://schemas.microsoft.com/office/powerpoint/2010/main" val="2746466989"/>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Superclass</a:t>
            </a:r>
            <a:r>
              <a:rPr lang="en-US" dirty="0"/>
              <a:t>/Subclass Relationships</a:t>
            </a:r>
          </a:p>
        </p:txBody>
      </p:sp>
      <p:sp>
        <p:nvSpPr>
          <p:cNvPr id="3" name="Content Placeholder 2"/>
          <p:cNvSpPr>
            <a:spLocks noGrp="1"/>
          </p:cNvSpPr>
          <p:nvPr>
            <p:ph idx="1"/>
          </p:nvPr>
        </p:nvSpPr>
        <p:spPr/>
        <p:txBody>
          <a:bodyPr/>
          <a:lstStyle/>
          <a:p>
            <a:r>
              <a:rPr lang="en-US" dirty="0"/>
              <a:t>each member of subclass is also member of </a:t>
            </a:r>
            <a:r>
              <a:rPr lang="en-US" dirty="0" err="1"/>
              <a:t>superclass</a:t>
            </a:r>
            <a:r>
              <a:rPr lang="en-US" dirty="0"/>
              <a:t>; but has distinct role</a:t>
            </a:r>
          </a:p>
          <a:p>
            <a:r>
              <a:rPr lang="en-US" dirty="0"/>
              <a:t>relationship between </a:t>
            </a:r>
            <a:r>
              <a:rPr lang="en-US" dirty="0" err="1"/>
              <a:t>superclass</a:t>
            </a:r>
            <a:r>
              <a:rPr lang="en-US" dirty="0"/>
              <a:t> and subclass is one-to-one (1:1) </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241</a:t>
            </a:fld>
            <a:endParaRPr lang="en-US"/>
          </a:p>
        </p:txBody>
      </p:sp>
    </p:spTree>
    <p:extLst>
      <p:ext uri="{BB962C8B-B14F-4D97-AF65-F5344CB8AC3E}">
        <p14:creationId xmlns:p14="http://schemas.microsoft.com/office/powerpoint/2010/main" val="273965268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Superclass</a:t>
            </a:r>
            <a:r>
              <a:rPr lang="en-US" dirty="0"/>
              <a:t>/Subclass Relationships</a:t>
            </a:r>
          </a:p>
        </p:txBody>
      </p:sp>
      <p:sp>
        <p:nvSpPr>
          <p:cNvPr id="3" name="Content Placeholder 2"/>
          <p:cNvSpPr>
            <a:spLocks noGrp="1"/>
          </p:cNvSpPr>
          <p:nvPr>
            <p:ph idx="1"/>
          </p:nvPr>
        </p:nvSpPr>
        <p:spPr/>
        <p:txBody>
          <a:bodyPr/>
          <a:lstStyle/>
          <a:p>
            <a:r>
              <a:rPr lang="en-US" dirty="0"/>
              <a:t>some </a:t>
            </a:r>
            <a:r>
              <a:rPr lang="en-US" dirty="0" err="1"/>
              <a:t>superclasses</a:t>
            </a:r>
            <a:r>
              <a:rPr lang="en-US" dirty="0"/>
              <a:t> may contain overlapping subclasses (illustrated by member of </a:t>
            </a:r>
            <a:r>
              <a:rPr lang="en-US" i="1" dirty="0"/>
              <a:t>Staff</a:t>
            </a:r>
            <a:r>
              <a:rPr lang="en-US" dirty="0"/>
              <a:t> who is both </a:t>
            </a:r>
            <a:r>
              <a:rPr lang="en-US" i="1" dirty="0"/>
              <a:t>Manager</a:t>
            </a:r>
            <a:r>
              <a:rPr lang="en-US" dirty="0"/>
              <a:t> and </a:t>
            </a:r>
            <a:r>
              <a:rPr lang="en-US" i="1" dirty="0"/>
              <a:t>Sales Personnel</a:t>
            </a:r>
            <a:r>
              <a:rPr lang="en-US" dirty="0"/>
              <a:t>)</a:t>
            </a:r>
          </a:p>
          <a:p>
            <a:r>
              <a:rPr lang="en-US" dirty="0"/>
              <a:t>not every member of </a:t>
            </a:r>
            <a:r>
              <a:rPr lang="en-US" dirty="0" err="1"/>
              <a:t>superclass</a:t>
            </a:r>
            <a:r>
              <a:rPr lang="en-US" dirty="0"/>
              <a:t> is necessarily member of subclass (members of </a:t>
            </a:r>
            <a:r>
              <a:rPr lang="en-US" i="1" dirty="0"/>
              <a:t>Staff</a:t>
            </a:r>
            <a:r>
              <a:rPr lang="en-US" dirty="0"/>
              <a:t> without distinct job role such as </a:t>
            </a:r>
            <a:r>
              <a:rPr lang="en-US" i="1" dirty="0"/>
              <a:t>Manager</a:t>
            </a:r>
            <a:r>
              <a:rPr lang="en-US" dirty="0"/>
              <a:t> or </a:t>
            </a:r>
            <a:r>
              <a:rPr lang="en-US" i="1" dirty="0"/>
              <a:t>Sales Personnel</a:t>
            </a:r>
            <a:r>
              <a:rPr lang="en-US" dirty="0"/>
              <a:t>)</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242</a:t>
            </a:fld>
            <a:endParaRPr lang="en-US"/>
          </a:p>
        </p:txBody>
      </p:sp>
    </p:spTree>
    <p:extLst>
      <p:ext uri="{BB962C8B-B14F-4D97-AF65-F5344CB8AC3E}">
        <p14:creationId xmlns:p14="http://schemas.microsoft.com/office/powerpoint/2010/main" val="399326586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Possible (but not indicated)</a:t>
            </a:r>
          </a:p>
        </p:txBody>
      </p:sp>
      <p:sp>
        <p:nvSpPr>
          <p:cNvPr id="3" name="Content Placeholder 2"/>
          <p:cNvSpPr>
            <a:spLocks noGrp="1"/>
          </p:cNvSpPr>
          <p:nvPr>
            <p:ph idx="1"/>
          </p:nvPr>
        </p:nvSpPr>
        <p:spPr/>
        <p:txBody>
          <a:bodyPr/>
          <a:lstStyle/>
          <a:p>
            <a:r>
              <a:rPr lang="en-US" dirty="0"/>
              <a:t>All Up – use </a:t>
            </a:r>
            <a:r>
              <a:rPr lang="en-US" dirty="0" err="1"/>
              <a:t>superclass</a:t>
            </a:r>
            <a:r>
              <a:rPr lang="en-US" dirty="0"/>
              <a:t> without any subclasses </a:t>
            </a:r>
          </a:p>
          <a:p>
            <a:r>
              <a:rPr lang="en-US" dirty="0"/>
              <a:t>All Down – use many subclasses without </a:t>
            </a:r>
            <a:r>
              <a:rPr lang="en-US" dirty="0" err="1"/>
              <a:t>superclass</a:t>
            </a:r>
            <a:endParaRPr lang="en-US" dirty="0"/>
          </a:p>
          <a:p>
            <a:endParaRPr lang="en-US" sz="1600" dirty="0"/>
          </a:p>
          <a:p>
            <a:r>
              <a:rPr lang="en-US" dirty="0"/>
              <a:t>use </a:t>
            </a:r>
            <a:r>
              <a:rPr lang="en-US" dirty="0" err="1"/>
              <a:t>superclasses</a:t>
            </a:r>
            <a:r>
              <a:rPr lang="en-US" dirty="0"/>
              <a:t> and subclasses to avoid describing different types of </a:t>
            </a:r>
            <a:r>
              <a:rPr lang="en-US" i="1" dirty="0"/>
              <a:t>Staff</a:t>
            </a:r>
            <a:r>
              <a:rPr lang="en-US" dirty="0"/>
              <a:t> with possibly different attributes within single entity</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243</a:t>
            </a:fld>
            <a:endParaRPr lang="en-US"/>
          </a:p>
        </p:txBody>
      </p:sp>
    </p:spTree>
    <p:extLst>
      <p:ext uri="{BB962C8B-B14F-4D97-AF65-F5344CB8AC3E}">
        <p14:creationId xmlns:p14="http://schemas.microsoft.com/office/powerpoint/2010/main" val="2620936551"/>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avoids describing similar concepts more than once - saving time for designer</a:t>
            </a:r>
          </a:p>
          <a:p>
            <a:r>
              <a:rPr lang="en-US" dirty="0"/>
              <a:t>adds more semantic information to design in form that is familiar to many </a:t>
            </a:r>
          </a:p>
          <a:p>
            <a:r>
              <a:rPr lang="en-US" dirty="0"/>
              <a:t>“</a:t>
            </a:r>
            <a:r>
              <a:rPr lang="en-US" i="1" dirty="0"/>
              <a:t>Manager</a:t>
            </a:r>
            <a:r>
              <a:rPr lang="en-US" dirty="0"/>
              <a:t> IS-A member of </a:t>
            </a:r>
            <a:r>
              <a:rPr lang="en-US" i="1" dirty="0"/>
              <a:t>Staff</a:t>
            </a:r>
            <a:r>
              <a:rPr lang="en-US" dirty="0"/>
              <a:t>” - communicates significant semantic content in concise form</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244</a:t>
            </a:fld>
            <a:endParaRPr lang="en-US"/>
          </a:p>
        </p:txBody>
      </p:sp>
    </p:spTree>
    <p:extLst>
      <p:ext uri="{BB962C8B-B14F-4D97-AF65-F5344CB8AC3E}">
        <p14:creationId xmlns:p14="http://schemas.microsoft.com/office/powerpoint/2010/main" val="4286599466"/>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000" dirty="0"/>
              <a:t>for example, </a:t>
            </a:r>
            <a:r>
              <a:rPr lang="en-US" sz="3000" i="1" dirty="0"/>
              <a:t>Sales Personnel</a:t>
            </a:r>
            <a:r>
              <a:rPr lang="en-US" sz="3000" dirty="0"/>
              <a:t> may have special attributes such as </a:t>
            </a:r>
            <a:r>
              <a:rPr lang="en-US" sz="3000" i="1" dirty="0" err="1"/>
              <a:t>salesArea</a:t>
            </a:r>
            <a:r>
              <a:rPr lang="en-US" sz="3000" dirty="0"/>
              <a:t> and </a:t>
            </a:r>
            <a:r>
              <a:rPr lang="en-US" sz="3000" i="1" dirty="0" err="1"/>
              <a:t>carAllowance</a:t>
            </a:r>
            <a:endParaRPr lang="en-US" sz="3000" i="1" dirty="0"/>
          </a:p>
          <a:p>
            <a:r>
              <a:rPr lang="en-US" sz="3000" dirty="0"/>
              <a:t>if all are described by single </a:t>
            </a:r>
            <a:r>
              <a:rPr lang="en-US" sz="3000" i="1" dirty="0"/>
              <a:t>Staff </a:t>
            </a:r>
            <a:r>
              <a:rPr lang="en-US" sz="3000" dirty="0"/>
              <a:t>entity, this may result in a lot of nulls for job-specific attributes</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245</a:t>
            </a:fld>
            <a:endParaRPr lang="en-US"/>
          </a:p>
        </p:txBody>
      </p:sp>
    </p:spTree>
    <p:extLst>
      <p:ext uri="{BB962C8B-B14F-4D97-AF65-F5344CB8AC3E}">
        <p14:creationId xmlns:p14="http://schemas.microsoft.com/office/powerpoint/2010/main" val="3778389440"/>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can also show relationships that are associated with only particular types of staff (subclasses) and not with staff, in general; </a:t>
            </a:r>
          </a:p>
          <a:p>
            <a:r>
              <a:rPr lang="en-US" dirty="0"/>
              <a:t>for example, </a:t>
            </a:r>
            <a:r>
              <a:rPr lang="en-US" i="1" dirty="0"/>
              <a:t>Sales Personnel </a:t>
            </a:r>
            <a:r>
              <a:rPr lang="en-US" dirty="0"/>
              <a:t>may have distinct relationships that are not appropriate for all </a:t>
            </a:r>
            <a:r>
              <a:rPr lang="en-US" i="1" dirty="0"/>
              <a:t>Staff</a:t>
            </a:r>
            <a:r>
              <a:rPr lang="en-US" dirty="0"/>
              <a:t>, such as </a:t>
            </a:r>
            <a:r>
              <a:rPr lang="en-US" i="1" dirty="0" err="1"/>
              <a:t>SalesPersonnel</a:t>
            </a:r>
            <a:r>
              <a:rPr lang="en-US" i="1" dirty="0"/>
              <a:t> Uses Car</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246</a:t>
            </a:fld>
            <a:endParaRPr lang="en-US"/>
          </a:p>
        </p:txBody>
      </p:sp>
    </p:spTree>
    <p:extLst>
      <p:ext uri="{BB962C8B-B14F-4D97-AF65-F5344CB8AC3E}">
        <p14:creationId xmlns:p14="http://schemas.microsoft.com/office/powerpoint/2010/main" val="1388332595"/>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a:t>Sales Personnel</a:t>
            </a:r>
            <a:r>
              <a:rPr lang="en-US" dirty="0"/>
              <a:t> have common attributes with other </a:t>
            </a:r>
            <a:r>
              <a:rPr lang="en-US" i="1" dirty="0"/>
              <a:t>Staff</a:t>
            </a:r>
            <a:r>
              <a:rPr lang="en-US" dirty="0"/>
              <a:t>, such as </a:t>
            </a:r>
            <a:r>
              <a:rPr lang="en-US" i="1" dirty="0" err="1"/>
              <a:t>staffNo</a:t>
            </a:r>
            <a:r>
              <a:rPr lang="en-US" dirty="0"/>
              <a:t>, </a:t>
            </a:r>
            <a:r>
              <a:rPr lang="en-US" i="1" dirty="0"/>
              <a:t>name</a:t>
            </a:r>
            <a:r>
              <a:rPr lang="en-US" dirty="0"/>
              <a:t>, </a:t>
            </a:r>
            <a:r>
              <a:rPr lang="en-US" i="1" dirty="0"/>
              <a:t>position</a:t>
            </a:r>
            <a:r>
              <a:rPr lang="en-US" dirty="0"/>
              <a:t>, and </a:t>
            </a:r>
            <a:r>
              <a:rPr lang="en-US" i="1" dirty="0"/>
              <a:t>salary</a:t>
            </a:r>
            <a:endParaRPr lang="en-US" dirty="0"/>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dirty="0"/>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247</a:t>
            </a:fld>
            <a:endParaRPr lang="en-US"/>
          </a:p>
        </p:txBody>
      </p:sp>
    </p:spTree>
    <p:extLst>
      <p:ext uri="{BB962C8B-B14F-4D97-AF65-F5344CB8AC3E}">
        <p14:creationId xmlns:p14="http://schemas.microsoft.com/office/powerpoint/2010/main" val="3151158564"/>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 </a:t>
            </a:r>
            <a:r>
              <a:rPr lang="en-US" i="1" dirty="0" err="1"/>
              <a:t>AllStaff</a:t>
            </a:r>
            <a:endParaRPr lang="en-US" i="1" dirty="0"/>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248</a:t>
            </a:fld>
            <a:endParaRPr lang="en-US"/>
          </a:p>
        </p:txBody>
      </p:sp>
      <p:pic>
        <p:nvPicPr>
          <p:cNvPr id="1026" name="Picture 2"/>
          <p:cNvPicPr>
            <a:picLocks noGrp="1" noChangeArrowheads="1"/>
          </p:cNvPicPr>
          <p:nvPr>
            <p:ph idx="1"/>
          </p:nvPr>
        </p:nvPicPr>
        <p:blipFill>
          <a:blip r:embed="rId2" cstate="print"/>
          <a:srcRect/>
          <a:stretch>
            <a:fillRect/>
          </a:stretch>
        </p:blipFill>
        <p:spPr bwMode="auto">
          <a:xfrm>
            <a:off x="457200" y="1554480"/>
            <a:ext cx="8229600" cy="4572000"/>
          </a:xfrm>
          <a:prstGeom prst="rect">
            <a:avLst/>
          </a:prstGeom>
          <a:noFill/>
          <a:ln w="9525">
            <a:noFill/>
            <a:miter lim="800000"/>
            <a:headEnd/>
            <a:tailEnd/>
          </a:ln>
        </p:spPr>
      </p:pic>
    </p:spTree>
    <p:extLst>
      <p:ext uri="{BB962C8B-B14F-4D97-AF65-F5344CB8AC3E}">
        <p14:creationId xmlns:p14="http://schemas.microsoft.com/office/powerpoint/2010/main" val="277139703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 Inheritance</a:t>
            </a:r>
          </a:p>
        </p:txBody>
      </p:sp>
      <p:sp>
        <p:nvSpPr>
          <p:cNvPr id="3" name="Content Placeholder 2"/>
          <p:cNvSpPr>
            <a:spLocks noGrp="1"/>
          </p:cNvSpPr>
          <p:nvPr>
            <p:ph idx="1"/>
          </p:nvPr>
        </p:nvSpPr>
        <p:spPr/>
        <p:txBody>
          <a:bodyPr/>
          <a:lstStyle/>
          <a:p>
            <a:r>
              <a:rPr lang="en-US" dirty="0"/>
              <a:t>subclass represents same “real world” object as in </a:t>
            </a:r>
            <a:r>
              <a:rPr lang="en-US" dirty="0" err="1"/>
              <a:t>superclass</a:t>
            </a:r>
            <a:r>
              <a:rPr lang="en-US" dirty="0"/>
              <a:t>, may possess subclass-specific attributes, as well as those associated with </a:t>
            </a:r>
            <a:r>
              <a:rPr lang="en-US" dirty="0" err="1"/>
              <a:t>superclass</a:t>
            </a:r>
            <a:endParaRPr lang="en-US" dirty="0"/>
          </a:p>
          <a:p>
            <a:r>
              <a:rPr lang="en-US" sz="3000" i="1" dirty="0" err="1"/>
              <a:t>SalesPersonnel</a:t>
            </a:r>
            <a:r>
              <a:rPr lang="en-US" sz="3000" dirty="0"/>
              <a:t> subclass inherits all attributes of </a:t>
            </a:r>
            <a:r>
              <a:rPr lang="en-US" sz="3000" i="1" dirty="0"/>
              <a:t>Staff</a:t>
            </a:r>
            <a:r>
              <a:rPr lang="en-US" sz="3000" dirty="0"/>
              <a:t> </a:t>
            </a:r>
            <a:r>
              <a:rPr lang="en-US" sz="3000" dirty="0" err="1"/>
              <a:t>superclass</a:t>
            </a:r>
            <a:r>
              <a:rPr lang="en-US" sz="3000" dirty="0"/>
              <a:t> - </a:t>
            </a:r>
            <a:r>
              <a:rPr lang="en-US" sz="3000" i="1" dirty="0" err="1"/>
              <a:t>staffNo</a:t>
            </a:r>
            <a:r>
              <a:rPr lang="en-US" sz="3000" dirty="0"/>
              <a:t>, </a:t>
            </a:r>
            <a:r>
              <a:rPr lang="en-US" sz="3000" i="1" dirty="0"/>
              <a:t>name</a:t>
            </a:r>
            <a:r>
              <a:rPr lang="en-US" sz="3000" dirty="0"/>
              <a:t>, </a:t>
            </a:r>
            <a:r>
              <a:rPr lang="en-US" sz="3000" i="1" dirty="0"/>
              <a:t>position</a:t>
            </a:r>
            <a:r>
              <a:rPr lang="en-US" sz="3000" dirty="0"/>
              <a:t>, and </a:t>
            </a:r>
            <a:r>
              <a:rPr lang="en-US" sz="3000" i="1" dirty="0"/>
              <a:t>salary </a:t>
            </a:r>
            <a:r>
              <a:rPr lang="en-US" sz="3000" dirty="0"/>
              <a:t>together with those specifically associated with </a:t>
            </a:r>
            <a:r>
              <a:rPr lang="en-US" sz="3000" i="1" dirty="0" err="1"/>
              <a:t>SalesPersonnel</a:t>
            </a:r>
            <a:r>
              <a:rPr lang="en-US" sz="3000" dirty="0"/>
              <a:t> subclass - </a:t>
            </a:r>
            <a:r>
              <a:rPr lang="en-US" sz="3000" i="1" dirty="0" err="1"/>
              <a:t>salesArea</a:t>
            </a:r>
            <a:r>
              <a:rPr lang="en-US" sz="3000" dirty="0"/>
              <a:t> and </a:t>
            </a:r>
            <a:r>
              <a:rPr lang="en-US" sz="3000" i="1" dirty="0" err="1"/>
              <a:t>carAllowance</a:t>
            </a:r>
            <a:endParaRPr lang="en-US" sz="3000" dirty="0"/>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dirty="0"/>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249</a:t>
            </a:fld>
            <a:endParaRPr lang="en-US"/>
          </a:p>
        </p:txBody>
      </p:sp>
    </p:spTree>
    <p:extLst>
      <p:ext uri="{BB962C8B-B14F-4D97-AF65-F5344CB8AC3E}">
        <p14:creationId xmlns:p14="http://schemas.microsoft.com/office/powerpoint/2010/main" val="73172973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Hierarchy</a:t>
            </a:r>
          </a:p>
        </p:txBody>
      </p:sp>
      <p:sp>
        <p:nvSpPr>
          <p:cNvPr id="3" name="Content Placeholder 2"/>
          <p:cNvSpPr>
            <a:spLocks noGrp="1"/>
          </p:cNvSpPr>
          <p:nvPr>
            <p:ph idx="1"/>
          </p:nvPr>
        </p:nvSpPr>
        <p:spPr/>
        <p:txBody>
          <a:bodyPr/>
          <a:lstStyle/>
          <a:p>
            <a:r>
              <a:rPr lang="en-US" dirty="0"/>
              <a:t>subclass is an entity in its own right and so it may also have one or more subclasses</a:t>
            </a:r>
          </a:p>
          <a:p>
            <a:r>
              <a:rPr lang="en-US" dirty="0"/>
              <a:t>Specialization hierarchy (for example, </a:t>
            </a:r>
            <a:r>
              <a:rPr lang="en-US" i="1" dirty="0"/>
              <a:t>Manager</a:t>
            </a:r>
            <a:r>
              <a:rPr lang="en-US" dirty="0"/>
              <a:t> is a specialization of </a:t>
            </a:r>
            <a:r>
              <a:rPr lang="en-US" i="1" dirty="0"/>
              <a:t>Staff</a:t>
            </a:r>
            <a:r>
              <a:rPr lang="en-US" dirty="0"/>
              <a:t>)</a:t>
            </a:r>
          </a:p>
          <a:p>
            <a:r>
              <a:rPr lang="en-US" dirty="0"/>
              <a:t>Generalization hierarchy (for example, </a:t>
            </a:r>
            <a:r>
              <a:rPr lang="en-US" i="1" dirty="0"/>
              <a:t>Staff</a:t>
            </a:r>
            <a:r>
              <a:rPr lang="en-US" dirty="0"/>
              <a:t> is a generalization of </a:t>
            </a:r>
            <a:r>
              <a:rPr lang="en-US" i="1" dirty="0"/>
              <a:t>Manager</a:t>
            </a:r>
            <a:r>
              <a:rPr lang="en-US" dirty="0"/>
              <a:t>)</a:t>
            </a:r>
          </a:p>
          <a:p>
            <a:r>
              <a:rPr lang="en-US" dirty="0"/>
              <a:t>IS-A hierarchy (for example, </a:t>
            </a:r>
            <a:r>
              <a:rPr lang="en-US" i="1" dirty="0"/>
              <a:t>Manager</a:t>
            </a:r>
            <a:r>
              <a:rPr lang="en-US" dirty="0"/>
              <a:t> IS-A (member of) </a:t>
            </a:r>
            <a:r>
              <a:rPr lang="en-US" i="1" dirty="0"/>
              <a:t>Staff</a:t>
            </a:r>
            <a:r>
              <a:rPr lang="en-US" dirty="0"/>
              <a:t>)</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250</a:t>
            </a:fld>
            <a:endParaRPr lang="en-US"/>
          </a:p>
        </p:txBody>
      </p:sp>
    </p:spTree>
    <p:extLst>
      <p:ext uri="{BB962C8B-B14F-4D97-AF65-F5344CB8AC3E}">
        <p14:creationId xmlns:p14="http://schemas.microsoft.com/office/powerpoint/2010/main" val="191425348"/>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Specialization process</a:t>
            </a:r>
          </a:p>
        </p:txBody>
      </p:sp>
      <p:sp>
        <p:nvSpPr>
          <p:cNvPr id="3" name="Content Placeholder 2"/>
          <p:cNvSpPr>
            <a:spLocks noGrp="1"/>
          </p:cNvSpPr>
          <p:nvPr>
            <p:ph idx="1"/>
          </p:nvPr>
        </p:nvSpPr>
        <p:spPr/>
        <p:txBody>
          <a:bodyPr/>
          <a:lstStyle/>
          <a:p>
            <a:r>
              <a:rPr lang="en-US" dirty="0"/>
              <a:t>process of maximizing differences between members of an entity by identifying their distinguishing characteristics</a:t>
            </a:r>
          </a:p>
          <a:p>
            <a:endParaRPr lang="en-US" dirty="0"/>
          </a:p>
          <a:p>
            <a:r>
              <a:rPr lang="en-US" dirty="0"/>
              <a:t>top-down approach to defining set of </a:t>
            </a:r>
            <a:r>
              <a:rPr lang="en-US" dirty="0" err="1"/>
              <a:t>superclasses</a:t>
            </a:r>
            <a:r>
              <a:rPr lang="en-US" dirty="0"/>
              <a:t> and their related subclasses</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251</a:t>
            </a:fld>
            <a:endParaRPr lang="en-US"/>
          </a:p>
        </p:txBody>
      </p:sp>
    </p:spTree>
    <p:extLst>
      <p:ext uri="{BB962C8B-B14F-4D97-AF65-F5344CB8AC3E}">
        <p14:creationId xmlns:p14="http://schemas.microsoft.com/office/powerpoint/2010/main" val="1716344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 process</a:t>
            </a:r>
          </a:p>
        </p:txBody>
      </p:sp>
      <p:sp>
        <p:nvSpPr>
          <p:cNvPr id="3" name="Content Placeholder 2"/>
          <p:cNvSpPr>
            <a:spLocks noGrp="1"/>
          </p:cNvSpPr>
          <p:nvPr>
            <p:ph idx="1"/>
          </p:nvPr>
        </p:nvSpPr>
        <p:spPr/>
        <p:txBody>
          <a:bodyPr/>
          <a:lstStyle/>
          <a:p>
            <a:r>
              <a:rPr lang="en-US" dirty="0"/>
              <a:t>process of minimizing differences between entities by identifying their common characteristics</a:t>
            </a:r>
          </a:p>
          <a:p>
            <a:endParaRPr lang="en-US" dirty="0"/>
          </a:p>
          <a:p>
            <a:r>
              <a:rPr lang="en-US" dirty="0"/>
              <a:t>bottom-up approach, that results in identification of generalized </a:t>
            </a:r>
            <a:r>
              <a:rPr lang="en-US" dirty="0" err="1"/>
              <a:t>superclass</a:t>
            </a:r>
            <a:r>
              <a:rPr lang="en-US" dirty="0"/>
              <a:t> from original entity types</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252</a:t>
            </a:fld>
            <a:endParaRPr lang="en-US"/>
          </a:p>
        </p:txBody>
      </p:sp>
    </p:spTree>
    <p:extLst>
      <p:ext uri="{BB962C8B-B14F-4D97-AF65-F5344CB8AC3E}">
        <p14:creationId xmlns:p14="http://schemas.microsoft.com/office/powerpoint/2010/main" val="404205919"/>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Specialization/generalization of </a:t>
            </a:r>
            <a:br>
              <a:rPr lang="en-US" sz="4000" dirty="0"/>
            </a:br>
            <a:r>
              <a:rPr lang="en-US" sz="4000" dirty="0"/>
              <a:t>Staff </a:t>
            </a:r>
            <a:r>
              <a:rPr lang="en-US" sz="3600" dirty="0"/>
              <a:t>subclasses representing job roles</a:t>
            </a:r>
            <a:endParaRPr lang="en-US" sz="4000" dirty="0"/>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253</a:t>
            </a:fld>
            <a:endParaRPr lang="en-US"/>
          </a:p>
        </p:txBody>
      </p:sp>
      <p:pic>
        <p:nvPicPr>
          <p:cNvPr id="2050" name="Picture 2"/>
          <p:cNvPicPr>
            <a:picLocks noGrp="1" noChangeArrowheads="1"/>
          </p:cNvPicPr>
          <p:nvPr>
            <p:ph idx="1"/>
          </p:nvPr>
        </p:nvPicPr>
        <p:blipFill>
          <a:blip r:embed="rId2" cstate="print"/>
          <a:srcRect/>
          <a:stretch>
            <a:fillRect/>
          </a:stretch>
        </p:blipFill>
        <p:spPr bwMode="auto">
          <a:xfrm>
            <a:off x="457200" y="1554480"/>
            <a:ext cx="8229600" cy="4572000"/>
          </a:xfrm>
          <a:prstGeom prst="rect">
            <a:avLst/>
          </a:prstGeom>
          <a:noFill/>
          <a:ln w="9525">
            <a:noFill/>
            <a:miter lim="800000"/>
            <a:headEnd/>
            <a:tailEnd/>
          </a:ln>
        </p:spPr>
      </p:pic>
    </p:spTree>
    <p:extLst>
      <p:ext uri="{BB962C8B-B14F-4D97-AF65-F5344CB8AC3E}">
        <p14:creationId xmlns:p14="http://schemas.microsoft.com/office/powerpoint/2010/main" val="407903983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may have several specializations of same entity based on different distinguishing characteristics</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254</a:t>
            </a:fld>
            <a:endParaRPr lang="en-US"/>
          </a:p>
        </p:txBody>
      </p:sp>
    </p:spTree>
    <p:extLst>
      <p:ext uri="{BB962C8B-B14F-4D97-AF65-F5344CB8AC3E}">
        <p14:creationId xmlns:p14="http://schemas.microsoft.com/office/powerpoint/2010/main" val="2773049430"/>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example</a:t>
            </a:r>
          </a:p>
        </p:txBody>
      </p:sp>
      <p:sp>
        <p:nvSpPr>
          <p:cNvPr id="3" name="Content Placeholder 2"/>
          <p:cNvSpPr>
            <a:spLocks noGrp="1"/>
          </p:cNvSpPr>
          <p:nvPr>
            <p:ph idx="1"/>
          </p:nvPr>
        </p:nvSpPr>
        <p:spPr/>
        <p:txBody>
          <a:bodyPr/>
          <a:lstStyle/>
          <a:p>
            <a:r>
              <a:rPr lang="en-US" dirty="0"/>
              <a:t>another specialization of </a:t>
            </a:r>
            <a:r>
              <a:rPr lang="en-US" i="1" dirty="0"/>
              <a:t>Staff</a:t>
            </a:r>
            <a:r>
              <a:rPr lang="en-US" dirty="0"/>
              <a:t> entity may produce subclasses </a:t>
            </a:r>
            <a:r>
              <a:rPr lang="en-US" i="1" dirty="0" err="1"/>
              <a:t>FullTimePermanent</a:t>
            </a:r>
            <a:r>
              <a:rPr lang="en-US" dirty="0"/>
              <a:t> and </a:t>
            </a:r>
            <a:r>
              <a:rPr lang="en-US" i="1" dirty="0" err="1"/>
              <a:t>PartTimeTemporary</a:t>
            </a:r>
            <a:r>
              <a:rPr lang="en-US" dirty="0"/>
              <a:t>, which distinguishes between types of employment contract for members of staff</a:t>
            </a:r>
          </a:p>
          <a:p>
            <a:r>
              <a:rPr lang="en-US" dirty="0"/>
              <a:t>attributes that are specific to </a:t>
            </a:r>
            <a:r>
              <a:rPr lang="en-US" i="1" dirty="0" err="1"/>
              <a:t>FullTimePermanent</a:t>
            </a:r>
            <a:r>
              <a:rPr lang="en-US" dirty="0"/>
              <a:t> (</a:t>
            </a:r>
            <a:r>
              <a:rPr lang="en-US" i="1" dirty="0" err="1"/>
              <a:t>salaryScale</a:t>
            </a:r>
            <a:r>
              <a:rPr lang="en-US" dirty="0"/>
              <a:t> and </a:t>
            </a:r>
            <a:r>
              <a:rPr lang="en-US" i="1" dirty="0" err="1"/>
              <a:t>holidayAllowance</a:t>
            </a:r>
            <a:r>
              <a:rPr lang="en-US" dirty="0"/>
              <a:t>) and </a:t>
            </a:r>
            <a:r>
              <a:rPr lang="en-US" i="1" dirty="0" err="1"/>
              <a:t>PartTimeTemporary</a:t>
            </a:r>
            <a:r>
              <a:rPr lang="en-US" dirty="0"/>
              <a:t> (</a:t>
            </a:r>
            <a:r>
              <a:rPr lang="en-US" i="1" dirty="0" err="1"/>
              <a:t>hourlyRate</a:t>
            </a:r>
            <a:r>
              <a:rPr lang="en-US" dirty="0"/>
              <a:t>)</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255</a:t>
            </a:fld>
            <a:endParaRPr lang="en-US"/>
          </a:p>
        </p:txBody>
      </p:sp>
    </p:spTree>
    <p:extLst>
      <p:ext uri="{BB962C8B-B14F-4D97-AF65-F5344CB8AC3E}">
        <p14:creationId xmlns:p14="http://schemas.microsoft.com/office/powerpoint/2010/main" val="2271683494"/>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i="1" dirty="0"/>
              <a:t>Staff</a:t>
            </a:r>
            <a:r>
              <a:rPr lang="en-US" sz="4000" dirty="0"/>
              <a:t> entity: job roles &amp; contracts of employment</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256</a:t>
            </a:fld>
            <a:endParaRPr lang="en-US"/>
          </a:p>
        </p:txBody>
      </p:sp>
      <p:pic>
        <p:nvPicPr>
          <p:cNvPr id="3075" name="Picture 3"/>
          <p:cNvPicPr>
            <a:picLocks noGrp="1" noChangeArrowheads="1"/>
          </p:cNvPicPr>
          <p:nvPr>
            <p:ph idx="1"/>
          </p:nvPr>
        </p:nvPicPr>
        <p:blipFill>
          <a:blip r:embed="rId2" cstate="print"/>
          <a:srcRect/>
          <a:stretch>
            <a:fillRect/>
          </a:stretch>
        </p:blipFill>
        <p:spPr bwMode="auto">
          <a:xfrm>
            <a:off x="457199" y="1554479"/>
            <a:ext cx="8229600" cy="4572000"/>
          </a:xfrm>
          <a:prstGeom prst="rect">
            <a:avLst/>
          </a:prstGeom>
          <a:noFill/>
          <a:ln w="9525">
            <a:noFill/>
            <a:miter lim="800000"/>
            <a:headEnd/>
            <a:tailEnd/>
          </a:ln>
        </p:spPr>
      </p:pic>
    </p:spTree>
    <p:extLst>
      <p:ext uri="{BB962C8B-B14F-4D97-AF65-F5344CB8AC3E}">
        <p14:creationId xmlns:p14="http://schemas.microsoft.com/office/powerpoint/2010/main" val="3150478842"/>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on Specialization/Generalization</a:t>
            </a:r>
          </a:p>
        </p:txBody>
      </p:sp>
      <p:sp>
        <p:nvSpPr>
          <p:cNvPr id="3" name="Content Placeholder 2"/>
          <p:cNvSpPr>
            <a:spLocks noGrp="1"/>
          </p:cNvSpPr>
          <p:nvPr>
            <p:ph idx="1"/>
          </p:nvPr>
        </p:nvSpPr>
        <p:spPr/>
        <p:txBody>
          <a:bodyPr/>
          <a:lstStyle/>
          <a:p>
            <a:r>
              <a:rPr lang="en-US" dirty="0"/>
              <a:t>two constraints that may apply to specialization/generalization called </a:t>
            </a:r>
            <a:r>
              <a:rPr lang="en-US" b="1" dirty="0"/>
              <a:t>participation constraints </a:t>
            </a:r>
            <a:r>
              <a:rPr lang="en-US" dirty="0"/>
              <a:t>and </a:t>
            </a:r>
            <a:r>
              <a:rPr lang="en-US" b="1" dirty="0"/>
              <a:t>disjoint constraints</a:t>
            </a:r>
            <a:endParaRPr lang="en-US" dirty="0"/>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257</a:t>
            </a:fld>
            <a:endParaRPr lang="en-US"/>
          </a:p>
        </p:txBody>
      </p:sp>
    </p:spTree>
    <p:extLst>
      <p:ext uri="{BB962C8B-B14F-4D97-AF65-F5344CB8AC3E}">
        <p14:creationId xmlns:p14="http://schemas.microsoft.com/office/powerpoint/2010/main" val="1609868492"/>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constraints</a:t>
            </a:r>
          </a:p>
        </p:txBody>
      </p:sp>
      <p:sp>
        <p:nvSpPr>
          <p:cNvPr id="3" name="Content Placeholder 2"/>
          <p:cNvSpPr>
            <a:spLocks noGrp="1"/>
          </p:cNvSpPr>
          <p:nvPr>
            <p:ph idx="1"/>
          </p:nvPr>
        </p:nvSpPr>
        <p:spPr/>
        <p:txBody>
          <a:bodyPr/>
          <a:lstStyle/>
          <a:p>
            <a:r>
              <a:rPr lang="en-US" dirty="0"/>
              <a:t>determines whether every member in </a:t>
            </a:r>
            <a:r>
              <a:rPr lang="en-US" dirty="0" err="1"/>
              <a:t>superclass</a:t>
            </a:r>
            <a:r>
              <a:rPr lang="en-US" dirty="0"/>
              <a:t> must participate as member of subclass</a:t>
            </a:r>
          </a:p>
          <a:p>
            <a:endParaRPr lang="en-US" dirty="0"/>
          </a:p>
          <a:p>
            <a:r>
              <a:rPr lang="en-US" dirty="0"/>
              <a:t>may be mandatory or optional</a:t>
            </a:r>
          </a:p>
          <a:p>
            <a:r>
              <a:rPr lang="en-US" dirty="0"/>
              <a:t>mandatory participation specifies that every member in </a:t>
            </a:r>
            <a:r>
              <a:rPr lang="en-US" dirty="0" err="1"/>
              <a:t>superclass</a:t>
            </a:r>
            <a:r>
              <a:rPr lang="en-US" dirty="0"/>
              <a:t> must also be member of a subclass</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258</a:t>
            </a:fld>
            <a:endParaRPr lang="en-US"/>
          </a:p>
        </p:txBody>
      </p:sp>
    </p:spTree>
    <p:extLst>
      <p:ext uri="{BB962C8B-B14F-4D97-AF65-F5344CB8AC3E}">
        <p14:creationId xmlns:p14="http://schemas.microsoft.com/office/powerpoint/2010/main" val="1862599152"/>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Disjoint constraints</a:t>
            </a:r>
          </a:p>
        </p:txBody>
      </p:sp>
      <p:sp>
        <p:nvSpPr>
          <p:cNvPr id="3" name="Content Placeholder 2"/>
          <p:cNvSpPr>
            <a:spLocks noGrp="1"/>
          </p:cNvSpPr>
          <p:nvPr>
            <p:ph idx="1"/>
          </p:nvPr>
        </p:nvSpPr>
        <p:spPr/>
        <p:txBody>
          <a:bodyPr/>
          <a:lstStyle/>
          <a:p>
            <a:r>
              <a:rPr lang="en-US" dirty="0"/>
              <a:t>describes relationship between members of subclasses and indicates whether it is possible for member of </a:t>
            </a:r>
            <a:r>
              <a:rPr lang="en-US" dirty="0" err="1"/>
              <a:t>superclass</a:t>
            </a:r>
            <a:r>
              <a:rPr lang="en-US" dirty="0"/>
              <a:t> to be member of one, or more than one, subclass - applies when </a:t>
            </a:r>
            <a:r>
              <a:rPr lang="en-US" dirty="0" err="1"/>
              <a:t>superclass</a:t>
            </a:r>
            <a:r>
              <a:rPr lang="en-US" dirty="0"/>
              <a:t> has more than one subclass</a:t>
            </a:r>
          </a:p>
          <a:p>
            <a:r>
              <a:rPr lang="en-US" dirty="0"/>
              <a:t>if subclasses are disjoint, then an entity occurrence can be member of only one of subclasses</a:t>
            </a:r>
          </a:p>
        </p:txBody>
      </p:sp>
      <p:sp>
        <p:nvSpPr>
          <p:cNvPr id="4" name="Footer Placeholder 3"/>
          <p:cNvSpPr>
            <a:spLocks noGrp="1"/>
          </p:cNvSpPr>
          <p:nvPr>
            <p:ph type="ftr" sz="quarter" idx="11"/>
          </p:nvPr>
        </p:nvSpPr>
        <p:spPr/>
        <p:txBody>
          <a:bodyPr/>
          <a:lstStyle/>
          <a:p>
            <a:pPr>
              <a:defRPr/>
            </a:pPr>
            <a:r>
              <a:rPr lang="fr-FR"/>
              <a:t>DataBase Design Course Notes 03 - Normalization</a:t>
            </a:r>
            <a:endParaRPr lang="en-US"/>
          </a:p>
        </p:txBody>
      </p:sp>
      <p:sp>
        <p:nvSpPr>
          <p:cNvPr id="5" name="Slide Number Placeholder 4"/>
          <p:cNvSpPr>
            <a:spLocks noGrp="1"/>
          </p:cNvSpPr>
          <p:nvPr>
            <p:ph type="sldNum" sz="quarter" idx="12"/>
          </p:nvPr>
        </p:nvSpPr>
        <p:spPr/>
        <p:txBody>
          <a:bodyPr/>
          <a:lstStyle/>
          <a:p>
            <a:pPr>
              <a:defRPr/>
            </a:pPr>
            <a:fld id="{20B709EE-7E63-49B5-8FAE-10539C88DD3C}" type="slidenum">
              <a:rPr lang="en-US" smtClean="0"/>
              <a:pPr>
                <a:defRPr/>
              </a:pPr>
              <a:t>259</a:t>
            </a:fld>
            <a:endParaRPr lang="en-US"/>
          </a:p>
        </p:txBody>
      </p:sp>
    </p:spTree>
    <p:extLst>
      <p:ext uri="{BB962C8B-B14F-4D97-AF65-F5344CB8AC3E}">
        <p14:creationId xmlns:p14="http://schemas.microsoft.com/office/powerpoint/2010/main" val="3949681771"/>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specialization hierarchy</a:t>
            </a:r>
          </a:p>
        </p:txBody>
      </p:sp>
      <p:pic>
        <p:nvPicPr>
          <p:cNvPr id="6" name="Content Placeholder 5" descr="Clipboard02.jpg"/>
          <p:cNvPicPr>
            <a:picLocks noGrp="1" noChangeAspect="1"/>
          </p:cNvPicPr>
          <p:nvPr>
            <p:ph idx="1"/>
          </p:nvPr>
        </p:nvPicPr>
        <p:blipFill>
          <a:blip r:embed="rId2" cstate="print"/>
          <a:stretch>
            <a:fillRect/>
          </a:stretch>
        </p:blipFill>
        <p:spPr>
          <a:xfrm>
            <a:off x="1247373" y="1600200"/>
            <a:ext cx="6649254" cy="4525963"/>
          </a:xfr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260</a:t>
            </a:fld>
            <a:endParaRPr lang="en-US"/>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case of an aviation business</a:t>
            </a:r>
          </a:p>
        </p:txBody>
      </p:sp>
      <p:sp>
        <p:nvSpPr>
          <p:cNvPr id="3" name="Content Placeholder 2"/>
          <p:cNvSpPr>
            <a:spLocks noGrp="1"/>
          </p:cNvSpPr>
          <p:nvPr>
            <p:ph idx="1"/>
          </p:nvPr>
        </p:nvSpPr>
        <p:spPr/>
        <p:txBody>
          <a:bodyPr>
            <a:normAutofit fontScale="77500" lnSpcReduction="20000"/>
          </a:bodyPr>
          <a:lstStyle/>
          <a:p>
            <a:r>
              <a:rPr lang="en-US" dirty="0"/>
              <a:t>employs pilots, mechanics, secretaries, accountants, database managers, and many others</a:t>
            </a:r>
          </a:p>
          <a:p>
            <a:r>
              <a:rPr lang="en-US" dirty="0"/>
              <a:t>pilots share certain characteristics with other employees</a:t>
            </a:r>
          </a:p>
          <a:p>
            <a:pPr lvl="1"/>
            <a:r>
              <a:rPr lang="en-US" dirty="0"/>
              <a:t>such as last name (EMP_LNAME) and hire date (EMP_HIRE_DATE)</a:t>
            </a:r>
          </a:p>
          <a:p>
            <a:r>
              <a:rPr lang="en-US" dirty="0"/>
              <a:t>unlike other employees, pilots must meet special requirements such as flight hour restrictions, flight checks, and periodic training</a:t>
            </a:r>
          </a:p>
          <a:p>
            <a:r>
              <a:rPr lang="en-US" dirty="0"/>
              <a:t>if all employee characteristics and special qualifications were stored in a single EMPLOYEE entity, you would have a lot of nulls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261</a:t>
            </a:fld>
            <a:endParaRPr lang="en-US"/>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400" dirty="0"/>
              <a:t>based on hierarchy conclude that PILOT is subtype of EMPLOYEE, and that EMPLOYEE is </a:t>
            </a:r>
            <a:r>
              <a:rPr lang="en-US" sz="2400" dirty="0" err="1"/>
              <a:t>supertype</a:t>
            </a:r>
            <a:r>
              <a:rPr lang="en-US" sz="2400" dirty="0"/>
              <a:t> of PILOT</a:t>
            </a:r>
          </a:p>
          <a:p>
            <a:r>
              <a:rPr lang="en-US" sz="2400" dirty="0"/>
              <a:t>entity </a:t>
            </a:r>
            <a:r>
              <a:rPr lang="en-US" sz="2400" dirty="0" err="1"/>
              <a:t>supertype</a:t>
            </a:r>
            <a:r>
              <a:rPr lang="en-US" sz="2400" dirty="0"/>
              <a:t> is generic (more general) entity type that is related to one or more specific (specialized) entity subtypes</a:t>
            </a:r>
          </a:p>
          <a:p>
            <a:r>
              <a:rPr lang="en-US" sz="2400" dirty="0"/>
              <a:t>entity </a:t>
            </a:r>
            <a:r>
              <a:rPr lang="en-US" sz="2400" dirty="0" err="1"/>
              <a:t>supertype</a:t>
            </a:r>
            <a:r>
              <a:rPr lang="en-US" sz="2400" dirty="0"/>
              <a:t> contains common characteristics</a:t>
            </a:r>
          </a:p>
          <a:p>
            <a:r>
              <a:rPr lang="en-US" sz="2400" dirty="0"/>
              <a:t>entity subtypes contain unique characteristics of each entity subtype</a:t>
            </a:r>
          </a:p>
          <a:p>
            <a:r>
              <a:rPr lang="en-US" sz="2400" dirty="0"/>
              <a:t>There must be different, identifiable kinds or types of the entity in the user’s environment.</a:t>
            </a:r>
          </a:p>
          <a:p>
            <a:r>
              <a:rPr lang="en-US" sz="2400" dirty="0"/>
              <a:t>The different kinds or types of instances should have one or more attributes that are unique to that kind or type of instance.</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262</a:t>
            </a:fld>
            <a:endParaRPr lang="en-US"/>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pilots meet both criteria of being an identifiable kind of employee and having unique attributes that other employees do not possess, it is appropriate to create PILOT as a subtype of EMPLOYEE</a:t>
            </a:r>
          </a:p>
          <a:p>
            <a:r>
              <a:rPr lang="en-US" dirty="0"/>
              <a:t>CLERK would not be an acceptable subtype of EMPLOYEE because it only satisfies one of the criteria—it is an identifiable kind of employee—but there are not any attributes that are unique to just clerks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263</a:t>
            </a:fld>
            <a:endParaRPr lang="en-US"/>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Specialization Hierarchy</a:t>
            </a:r>
          </a:p>
        </p:txBody>
      </p:sp>
      <p:sp>
        <p:nvSpPr>
          <p:cNvPr id="3" name="Content Placeholder 2"/>
          <p:cNvSpPr>
            <a:spLocks noGrp="1"/>
          </p:cNvSpPr>
          <p:nvPr>
            <p:ph idx="1"/>
          </p:nvPr>
        </p:nvSpPr>
        <p:spPr/>
        <p:txBody>
          <a:bodyPr>
            <a:normAutofit fontScale="92500" lnSpcReduction="10000"/>
          </a:bodyPr>
          <a:lstStyle/>
          <a:p>
            <a:r>
              <a:rPr lang="en-US" dirty="0"/>
              <a:t>Entity </a:t>
            </a:r>
            <a:r>
              <a:rPr lang="en-US" dirty="0" err="1"/>
              <a:t>supertypes</a:t>
            </a:r>
            <a:r>
              <a:rPr lang="en-US" dirty="0"/>
              <a:t> and subtypes are organized in a </a:t>
            </a:r>
            <a:r>
              <a:rPr lang="en-US" i="1" dirty="0"/>
              <a:t>specialization hierarchy</a:t>
            </a:r>
          </a:p>
          <a:p>
            <a:r>
              <a:rPr lang="en-US" dirty="0"/>
              <a:t>specialization hierarchy formed by an EMPLOYEE </a:t>
            </a:r>
            <a:r>
              <a:rPr lang="en-US" dirty="0" err="1"/>
              <a:t>supertype</a:t>
            </a:r>
            <a:r>
              <a:rPr lang="en-US" dirty="0"/>
              <a:t> and three entity subtypes—PILOT, MECHANIC, and ACCOUNTANT</a:t>
            </a:r>
          </a:p>
          <a:p>
            <a:r>
              <a:rPr lang="en-US" dirty="0"/>
              <a:t>1:1 relationship between EMPLOYEE and its subtypes</a:t>
            </a:r>
          </a:p>
          <a:p>
            <a:pPr lvl="1"/>
            <a:r>
              <a:rPr lang="en-US" dirty="0"/>
              <a:t>for example PILOT subtype occurrence is related to one instance of the EMPLOYEE</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264</a:t>
            </a:fld>
            <a:endParaRPr lang="en-US"/>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relationships depicted within specialization hierarchy are sometimes described in terms of “is-a” relationships</a:t>
            </a:r>
          </a:p>
          <a:p>
            <a:r>
              <a:rPr lang="en-US" dirty="0"/>
              <a:t>for example pilot is an employee</a:t>
            </a:r>
          </a:p>
          <a:p>
            <a:r>
              <a:rPr lang="en-US" dirty="0"/>
              <a:t>subtype can exist only within the context of a </a:t>
            </a:r>
            <a:r>
              <a:rPr lang="en-US" dirty="0" err="1"/>
              <a:t>supertype</a:t>
            </a:r>
            <a:endParaRPr lang="en-US" dirty="0"/>
          </a:p>
          <a:p>
            <a:r>
              <a:rPr lang="en-US" dirty="0"/>
              <a:t>subtype can have only one </a:t>
            </a:r>
            <a:r>
              <a:rPr lang="en-US" dirty="0" err="1"/>
              <a:t>supertype</a:t>
            </a:r>
            <a:r>
              <a:rPr lang="en-US" dirty="0"/>
              <a:t> to which it is directly related</a:t>
            </a:r>
          </a:p>
          <a:p>
            <a:r>
              <a:rPr lang="en-US" dirty="0"/>
              <a:t>specialization hierarchy can have many levels of </a:t>
            </a:r>
            <a:r>
              <a:rPr lang="en-US" dirty="0" err="1"/>
              <a:t>supertype</a:t>
            </a:r>
            <a:r>
              <a:rPr lang="en-US" dirty="0"/>
              <a:t>/subtype relationships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265</a:t>
            </a:fld>
            <a:endParaRPr lang="en-US"/>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a:t>
            </a:r>
          </a:p>
        </p:txBody>
      </p:sp>
      <p:sp>
        <p:nvSpPr>
          <p:cNvPr id="3" name="Content Placeholder 2"/>
          <p:cNvSpPr>
            <a:spLocks noGrp="1"/>
          </p:cNvSpPr>
          <p:nvPr>
            <p:ph idx="1"/>
          </p:nvPr>
        </p:nvSpPr>
        <p:spPr/>
        <p:txBody>
          <a:bodyPr>
            <a:normAutofit fontScale="85000" lnSpcReduction="10000"/>
          </a:bodyPr>
          <a:lstStyle/>
          <a:p>
            <a:r>
              <a:rPr lang="en-US" dirty="0"/>
              <a:t>enables entity subtype to inherit attributes and relationships of </a:t>
            </a:r>
            <a:r>
              <a:rPr lang="en-US" dirty="0" err="1"/>
              <a:t>supertype</a:t>
            </a:r>
            <a:endParaRPr lang="en-US" dirty="0"/>
          </a:p>
          <a:p>
            <a:r>
              <a:rPr lang="en-US" dirty="0"/>
              <a:t>pilots, mechanics, and accountants all inherit employee number, last name, first name, middle initial, hire date, and so on from EMPLOYEE entity</a:t>
            </a:r>
          </a:p>
          <a:p>
            <a:r>
              <a:rPr lang="en-US" dirty="0"/>
              <a:t>pilots have attributes that are unique; same is true for mechanics and accountants</a:t>
            </a:r>
          </a:p>
          <a:p>
            <a:r>
              <a:rPr lang="en-US" dirty="0"/>
              <a:t>all entity subtypes inherit their primary key attribute from their </a:t>
            </a:r>
            <a:r>
              <a:rPr lang="en-US" dirty="0" err="1"/>
              <a:t>supertype</a:t>
            </a:r>
            <a:endParaRPr lang="en-US" dirty="0"/>
          </a:p>
          <a:p>
            <a:pPr lvl="1"/>
            <a:r>
              <a:rPr lang="en-US" dirty="0"/>
              <a:t>EMP_NUM attribute is the primary key for each of the subtypes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266</a:t>
            </a:fld>
            <a:endParaRPr lang="en-US"/>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EMPLOYEE-PILOT </a:t>
            </a:r>
            <a:br>
              <a:rPr lang="en-US" dirty="0"/>
            </a:br>
            <a:r>
              <a:rPr lang="en-US" dirty="0" err="1"/>
              <a:t>supertype</a:t>
            </a:r>
            <a:r>
              <a:rPr lang="en-US" dirty="0"/>
              <a:t>-subtype relationship</a:t>
            </a:r>
          </a:p>
        </p:txBody>
      </p:sp>
      <p:pic>
        <p:nvPicPr>
          <p:cNvPr id="6" name="Content Placeholder 5" descr="Clipboard04.jpg"/>
          <p:cNvPicPr>
            <a:picLocks noGrp="1" noChangeAspect="1"/>
          </p:cNvPicPr>
          <p:nvPr>
            <p:ph idx="1"/>
          </p:nvPr>
        </p:nvPicPr>
        <p:blipFill>
          <a:blip r:embed="rId2" cstate="print"/>
          <a:stretch>
            <a:fillRect/>
          </a:stretch>
        </p:blipFill>
        <p:spPr>
          <a:xfrm>
            <a:off x="457200" y="2762169"/>
            <a:ext cx="8229600" cy="2202024"/>
          </a:xfr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267</a:t>
            </a:fld>
            <a:endParaRPr lang="en-US"/>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Subtype Discriminator</a:t>
            </a:r>
          </a:p>
        </p:txBody>
      </p:sp>
      <p:sp>
        <p:nvSpPr>
          <p:cNvPr id="3" name="Content Placeholder 2"/>
          <p:cNvSpPr>
            <a:spLocks noGrp="1"/>
          </p:cNvSpPr>
          <p:nvPr>
            <p:ph idx="1"/>
          </p:nvPr>
        </p:nvSpPr>
        <p:spPr/>
        <p:txBody>
          <a:bodyPr>
            <a:normAutofit/>
          </a:bodyPr>
          <a:lstStyle/>
          <a:p>
            <a:r>
              <a:rPr lang="en-US" dirty="0"/>
              <a:t>attribute in </a:t>
            </a:r>
            <a:r>
              <a:rPr lang="en-US" dirty="0" err="1"/>
              <a:t>supertype</a:t>
            </a:r>
            <a:r>
              <a:rPr lang="en-US" dirty="0"/>
              <a:t> entity that determines to which subtype the </a:t>
            </a:r>
            <a:r>
              <a:rPr lang="en-US" dirty="0" err="1"/>
              <a:t>supertype</a:t>
            </a:r>
            <a:r>
              <a:rPr lang="en-US" dirty="0"/>
              <a:t> occurrence is related</a:t>
            </a:r>
          </a:p>
          <a:p>
            <a:r>
              <a:rPr lang="en-US" dirty="0"/>
              <a:t>common practice to show subtype discriminator and its value for each subtype in the ER diagram</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268</a:t>
            </a:fld>
            <a:endParaRPr lang="en-US"/>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Disjoint or overlapping entity subtypes</a:t>
            </a:r>
          </a:p>
        </p:txBody>
      </p:sp>
      <p:sp>
        <p:nvSpPr>
          <p:cNvPr id="3" name="Content Placeholder 2"/>
          <p:cNvSpPr>
            <a:spLocks noGrp="1"/>
          </p:cNvSpPr>
          <p:nvPr>
            <p:ph idx="1"/>
          </p:nvPr>
        </p:nvSpPr>
        <p:spPr/>
        <p:txBody>
          <a:bodyPr>
            <a:normAutofit lnSpcReduction="10000"/>
          </a:bodyPr>
          <a:lstStyle/>
          <a:p>
            <a:r>
              <a:rPr lang="en-US" dirty="0"/>
              <a:t>Employee can be a pilot or a mechanic or an accountant</a:t>
            </a:r>
          </a:p>
          <a:p>
            <a:r>
              <a:rPr lang="en-US" dirty="0"/>
              <a:t>business rules dictates that employee cannot belong to more than one subtype at a time</a:t>
            </a:r>
          </a:p>
          <a:p>
            <a:r>
              <a:rPr lang="en-US" dirty="0"/>
              <a:t>Disjoint subtypes, also known as non-overlapping subtypes, are subtypes that contain unique subset of the </a:t>
            </a:r>
            <a:r>
              <a:rPr lang="en-US" dirty="0" err="1"/>
              <a:t>supertype</a:t>
            </a:r>
            <a:r>
              <a:rPr lang="en-US" dirty="0"/>
              <a:t> entity set</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269</a:t>
            </a:fld>
            <a:endParaRPr lang="en-US"/>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Overlapping subtypes</a:t>
            </a:r>
          </a:p>
        </p:txBody>
      </p:sp>
      <p:sp>
        <p:nvSpPr>
          <p:cNvPr id="3" name="Content Placeholder 2"/>
          <p:cNvSpPr>
            <a:spLocks noGrp="1"/>
          </p:cNvSpPr>
          <p:nvPr>
            <p:ph idx="1"/>
          </p:nvPr>
        </p:nvSpPr>
        <p:spPr/>
        <p:txBody>
          <a:bodyPr>
            <a:normAutofit lnSpcReduction="10000"/>
          </a:bodyPr>
          <a:lstStyle/>
          <a:p>
            <a:r>
              <a:rPr lang="en-US" dirty="0"/>
              <a:t>if business rule specifies that employees can have multiple classifications, EMPLOYEE </a:t>
            </a:r>
            <a:r>
              <a:rPr lang="en-US" dirty="0" err="1"/>
              <a:t>supertype</a:t>
            </a:r>
            <a:r>
              <a:rPr lang="en-US" dirty="0"/>
              <a:t> may contain overlapping job classification subtypes</a:t>
            </a:r>
          </a:p>
          <a:p>
            <a:r>
              <a:rPr lang="en-US" dirty="0"/>
              <a:t>contain non-unique subsets of the </a:t>
            </a:r>
            <a:r>
              <a:rPr lang="en-US" dirty="0" err="1"/>
              <a:t>supertype</a:t>
            </a:r>
            <a:r>
              <a:rPr lang="en-US" dirty="0"/>
              <a:t> entity set</a:t>
            </a:r>
          </a:p>
          <a:p>
            <a:r>
              <a:rPr lang="en-US" dirty="0"/>
              <a:t>for example, in university environment, person may be an employee or student or both</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270</a:t>
            </a:fld>
            <a:endParaRPr lang="en-US"/>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Specialization hierarchy with overlapping subtypes</a:t>
            </a:r>
          </a:p>
        </p:txBody>
      </p:sp>
      <p:pic>
        <p:nvPicPr>
          <p:cNvPr id="6" name="Content Placeholder 5" descr="Clipboard02.jpg"/>
          <p:cNvPicPr>
            <a:picLocks noGrp="1" noChangeAspect="1"/>
          </p:cNvPicPr>
          <p:nvPr>
            <p:ph idx="1"/>
          </p:nvPr>
        </p:nvPicPr>
        <p:blipFill>
          <a:blip r:embed="rId2" cstate="print"/>
          <a:stretch>
            <a:fillRect/>
          </a:stretch>
        </p:blipFill>
        <p:spPr>
          <a:xfrm>
            <a:off x="1830722" y="1600200"/>
            <a:ext cx="5482555" cy="4525963"/>
          </a:xfr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271</a:t>
            </a:fld>
            <a:endParaRPr lang="en-US"/>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Completeness constraint</a:t>
            </a:r>
          </a:p>
        </p:txBody>
      </p:sp>
      <p:sp>
        <p:nvSpPr>
          <p:cNvPr id="3" name="Content Placeholder 2"/>
          <p:cNvSpPr>
            <a:spLocks noGrp="1"/>
          </p:cNvSpPr>
          <p:nvPr>
            <p:ph idx="1"/>
          </p:nvPr>
        </p:nvSpPr>
        <p:spPr/>
        <p:txBody>
          <a:bodyPr>
            <a:normAutofit fontScale="92500" lnSpcReduction="20000"/>
          </a:bodyPr>
          <a:lstStyle/>
          <a:p>
            <a:r>
              <a:rPr lang="en-US" dirty="0"/>
              <a:t>specifies whether each entity </a:t>
            </a:r>
            <a:r>
              <a:rPr lang="en-US" dirty="0" err="1"/>
              <a:t>supertype</a:t>
            </a:r>
            <a:r>
              <a:rPr lang="en-US" dirty="0"/>
              <a:t> occurrence must also be a member of at least one subtype</a:t>
            </a:r>
          </a:p>
          <a:p>
            <a:r>
              <a:rPr lang="en-US" dirty="0"/>
              <a:t>partial completeness means that not every </a:t>
            </a:r>
            <a:r>
              <a:rPr lang="en-US" dirty="0" err="1"/>
              <a:t>supertype</a:t>
            </a:r>
            <a:r>
              <a:rPr lang="en-US" dirty="0"/>
              <a:t> occurrence is a member of a subtype</a:t>
            </a:r>
          </a:p>
          <a:p>
            <a:pPr lvl="1"/>
            <a:r>
              <a:rPr lang="en-US" dirty="0"/>
              <a:t>there may be some </a:t>
            </a:r>
            <a:r>
              <a:rPr lang="en-US" dirty="0" err="1"/>
              <a:t>supertype</a:t>
            </a:r>
            <a:r>
              <a:rPr lang="en-US" dirty="0"/>
              <a:t> occurrences that are not members of any subtype</a:t>
            </a:r>
          </a:p>
          <a:p>
            <a:r>
              <a:rPr lang="en-US" dirty="0"/>
              <a:t>total completeness means that every </a:t>
            </a:r>
            <a:r>
              <a:rPr lang="en-US" dirty="0" err="1"/>
              <a:t>supertype</a:t>
            </a:r>
            <a:r>
              <a:rPr lang="en-US" dirty="0"/>
              <a:t> occurrence must be a member of at least one subtype</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272</a:t>
            </a:fld>
            <a:endParaRPr lang="en-US"/>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Specialization Hierarchy </a:t>
            </a:r>
            <a:br>
              <a:rPr lang="en-US" dirty="0"/>
            </a:br>
            <a:r>
              <a:rPr lang="en-US" dirty="0"/>
              <a:t>Constraint Scenarios</a:t>
            </a:r>
          </a:p>
        </p:txBody>
      </p:sp>
      <p:pic>
        <p:nvPicPr>
          <p:cNvPr id="6" name="Content Placeholder 5" descr="Clipboard04.jpg"/>
          <p:cNvPicPr>
            <a:picLocks noGrp="1" noChangeAspect="1"/>
          </p:cNvPicPr>
          <p:nvPr>
            <p:ph idx="1"/>
          </p:nvPr>
        </p:nvPicPr>
        <p:blipFill>
          <a:blip r:embed="rId2" cstate="print"/>
          <a:stretch>
            <a:fillRect/>
          </a:stretch>
        </p:blipFill>
        <p:spPr>
          <a:xfrm>
            <a:off x="457200" y="2777816"/>
            <a:ext cx="8229600" cy="2170731"/>
          </a:xfr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273</a:t>
            </a:fld>
            <a:endParaRPr lang="en-US"/>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Specialization</a:t>
            </a:r>
          </a:p>
        </p:txBody>
      </p:sp>
      <p:sp>
        <p:nvSpPr>
          <p:cNvPr id="3" name="Content Placeholder 2"/>
          <p:cNvSpPr>
            <a:spLocks noGrp="1"/>
          </p:cNvSpPr>
          <p:nvPr>
            <p:ph idx="1"/>
          </p:nvPr>
        </p:nvSpPr>
        <p:spPr/>
        <p:txBody>
          <a:bodyPr>
            <a:normAutofit/>
          </a:bodyPr>
          <a:lstStyle/>
          <a:p>
            <a:r>
              <a:rPr lang="en-US" dirty="0"/>
              <a:t>top-down process of identifying lower-level, more specific entity subtypes from a higher-level entity </a:t>
            </a:r>
            <a:r>
              <a:rPr lang="en-US" dirty="0" err="1"/>
              <a:t>supertype</a:t>
            </a:r>
            <a:endParaRPr lang="en-US" dirty="0"/>
          </a:p>
          <a:p>
            <a:r>
              <a:rPr lang="en-US" dirty="0"/>
              <a:t>based on grouping unique characteristics and relationships of subtypes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274</a:t>
            </a:fld>
            <a:endParaRPr lang="en-US"/>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normAutofit/>
          </a:bodyPr>
          <a:lstStyle/>
          <a:p>
            <a:r>
              <a:rPr lang="en-US" dirty="0"/>
              <a:t>bottom-up process of identifying higher-level, more generic entity </a:t>
            </a:r>
            <a:r>
              <a:rPr lang="en-US" dirty="0" err="1"/>
              <a:t>supertype</a:t>
            </a:r>
            <a:r>
              <a:rPr lang="en-US" dirty="0"/>
              <a:t> from lower-level entity subtypes</a:t>
            </a:r>
          </a:p>
          <a:p>
            <a:r>
              <a:rPr lang="en-US" dirty="0"/>
              <a:t>based on grouping common characteristics and relationships of subtypes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275</a:t>
            </a:fld>
            <a:endParaRPr lang="en-US"/>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Entity Cluster</a:t>
            </a:r>
          </a:p>
        </p:txBody>
      </p:sp>
      <p:sp>
        <p:nvSpPr>
          <p:cNvPr id="3" name="Content Placeholder 2"/>
          <p:cNvSpPr>
            <a:spLocks noGrp="1"/>
          </p:cNvSpPr>
          <p:nvPr>
            <p:ph idx="1"/>
          </p:nvPr>
        </p:nvSpPr>
        <p:spPr/>
        <p:txBody>
          <a:bodyPr>
            <a:normAutofit/>
          </a:bodyPr>
          <a:lstStyle/>
          <a:p>
            <a:r>
              <a:rPr lang="en-US" dirty="0"/>
              <a:t>is a “virtual” entity type used to represent multiple entities and relationships </a:t>
            </a:r>
          </a:p>
          <a:p>
            <a:r>
              <a:rPr lang="en-US" dirty="0"/>
              <a:t>formed by combining multiple interrelated entities into a single abstract entity object with the purpose of simplifying ER Diagram and thus enhancing its readability</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276</a:t>
            </a:fld>
            <a:endParaRPr lang="en-US"/>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Key</a:t>
            </a:r>
          </a:p>
        </p:txBody>
      </p:sp>
      <p:sp>
        <p:nvSpPr>
          <p:cNvPr id="3" name="Content Placeholder 2"/>
          <p:cNvSpPr>
            <a:spLocks noGrp="1"/>
          </p:cNvSpPr>
          <p:nvPr>
            <p:ph idx="1"/>
          </p:nvPr>
        </p:nvSpPr>
        <p:spPr/>
        <p:txBody>
          <a:bodyPr>
            <a:normAutofit fontScale="92500"/>
          </a:bodyPr>
          <a:lstStyle/>
          <a:p>
            <a:r>
              <a:rPr lang="en-US" dirty="0"/>
              <a:t>most important characteristic of entity is its primary key </a:t>
            </a:r>
          </a:p>
          <a:p>
            <a:r>
              <a:rPr lang="en-US" dirty="0"/>
              <a:t>primary key’s function is to guarantee entity integrity</a:t>
            </a:r>
          </a:p>
          <a:p>
            <a:r>
              <a:rPr lang="en-US" dirty="0"/>
              <a:t>primary keys and foreign keys work together to implement relationships in relational model</a:t>
            </a:r>
          </a:p>
          <a:p>
            <a:r>
              <a:rPr lang="en-US" dirty="0"/>
              <a:t>primary key has direct bearing on efficiency and effectiveness of database implementation</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277</a:t>
            </a:fld>
            <a:endParaRPr lang="en-US"/>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Key</a:t>
            </a:r>
          </a:p>
        </p:txBody>
      </p:sp>
      <p:sp>
        <p:nvSpPr>
          <p:cNvPr id="3" name="Content Placeholder 2"/>
          <p:cNvSpPr>
            <a:spLocks noGrp="1"/>
          </p:cNvSpPr>
          <p:nvPr>
            <p:ph idx="1"/>
          </p:nvPr>
        </p:nvSpPr>
        <p:spPr/>
        <p:txBody>
          <a:bodyPr>
            <a:normAutofit/>
          </a:bodyPr>
          <a:lstStyle/>
          <a:p>
            <a:r>
              <a:rPr lang="en-US" dirty="0"/>
              <a:t>Natural Key or natural identifier is a real-world, generally accepted identifier used to distinguish — that is, uniquely identify — real-world objects</a:t>
            </a:r>
          </a:p>
          <a:p>
            <a:r>
              <a:rPr lang="en-US" dirty="0"/>
              <a:t>familiar to end users and forms part of their day-to-day business vocabulary</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278</a:t>
            </a:fld>
            <a:endParaRPr lang="en-US"/>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function of the primary key is to guarantee entity integrity, not to “describe” the entity</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279</a:t>
            </a:fld>
            <a:endParaRPr lang="en-US"/>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primary keys and foreign keys are used to implement relationships among entities</a:t>
            </a:r>
          </a:p>
          <a:p>
            <a:r>
              <a:rPr lang="en-US" dirty="0"/>
              <a:t>implementation of such relationships is done mostly behind the scenes, hidden from end users</a:t>
            </a:r>
          </a:p>
          <a:p>
            <a:r>
              <a:rPr lang="en-US" dirty="0"/>
              <a:t>database applications should let end user choose among multiple descriptive narratives of different objects, while using primary key values behind the scenes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280</a:t>
            </a:fld>
            <a:endParaRPr lang="en-US"/>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Desirable Primary Key Characteristics</a:t>
            </a:r>
          </a:p>
        </p:txBody>
      </p:sp>
      <p:sp>
        <p:nvSpPr>
          <p:cNvPr id="3" name="Content Placeholder 2"/>
          <p:cNvSpPr>
            <a:spLocks noGrp="1"/>
          </p:cNvSpPr>
          <p:nvPr>
            <p:ph idx="1"/>
          </p:nvPr>
        </p:nvSpPr>
        <p:spPr/>
        <p:txBody>
          <a:bodyPr>
            <a:normAutofit fontScale="92500" lnSpcReduction="20000"/>
          </a:bodyPr>
          <a:lstStyle/>
          <a:p>
            <a:r>
              <a:rPr lang="en-US" b="1" dirty="0"/>
              <a:t>Unique values</a:t>
            </a:r>
            <a:r>
              <a:rPr lang="en-US" dirty="0"/>
              <a:t> - must uniquely identify each entity instance; it cannot contain nulls</a:t>
            </a:r>
          </a:p>
          <a:p>
            <a:r>
              <a:rPr lang="en-US" b="1" dirty="0"/>
              <a:t>Non-intelligent </a:t>
            </a:r>
            <a:r>
              <a:rPr lang="en-US" dirty="0"/>
              <a:t>- should not have embedded semantic meaning other than to uniquely identify each entity instance</a:t>
            </a:r>
          </a:p>
          <a:p>
            <a:r>
              <a:rPr lang="en-US" dirty="0"/>
              <a:t>attribute with embedded semantic meaning is probably better used as descriptive characteristic of entity than as an identifier</a:t>
            </a:r>
          </a:p>
          <a:p>
            <a:r>
              <a:rPr lang="en-US" dirty="0"/>
              <a:t>for example, student ID of 650973 would be preferred over Doe, John C. as primary key identifier</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281</a:t>
            </a:fld>
            <a:endParaRPr lang="en-US"/>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Desirable Primary Key Characteristics</a:t>
            </a:r>
          </a:p>
        </p:txBody>
      </p:sp>
      <p:sp>
        <p:nvSpPr>
          <p:cNvPr id="3" name="Content Placeholder 2"/>
          <p:cNvSpPr>
            <a:spLocks noGrp="1"/>
          </p:cNvSpPr>
          <p:nvPr>
            <p:ph idx="1"/>
          </p:nvPr>
        </p:nvSpPr>
        <p:spPr/>
        <p:txBody>
          <a:bodyPr>
            <a:noAutofit/>
          </a:bodyPr>
          <a:lstStyle/>
          <a:p>
            <a:r>
              <a:rPr lang="en-US" sz="2800" b="1" dirty="0"/>
              <a:t>No change over time</a:t>
            </a:r>
            <a:r>
              <a:rPr lang="en-US" sz="2800" dirty="0"/>
              <a:t> - if attribute has semantic meaning, it might be subject to updates; names do not make good primary keys</a:t>
            </a:r>
          </a:p>
          <a:p>
            <a:pPr lvl="1"/>
            <a:r>
              <a:rPr lang="en-US" sz="2400" dirty="0"/>
              <a:t>if you have Jane Doe as PK what happens if she changes her name when she gets married?</a:t>
            </a:r>
          </a:p>
          <a:p>
            <a:r>
              <a:rPr lang="en-US" sz="2800" dirty="0"/>
              <a:t>PK should be permanent and unchangeable</a:t>
            </a:r>
          </a:p>
          <a:p>
            <a:r>
              <a:rPr lang="en-US" sz="2800" b="1" dirty="0"/>
              <a:t>Preferably single-attribute</a:t>
            </a:r>
            <a:r>
              <a:rPr lang="en-US" sz="2800" dirty="0"/>
              <a:t> - should have the minimum number of attributes; desirable but not required; simplify implementation of FK; multiple-attribute PK can cause PK of related entities to grow</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282</a:t>
            </a:fld>
            <a:endParaRPr lang="en-US"/>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Desirable Primary Key Characteristics</a:t>
            </a:r>
          </a:p>
        </p:txBody>
      </p:sp>
      <p:sp>
        <p:nvSpPr>
          <p:cNvPr id="3" name="Content Placeholder 2"/>
          <p:cNvSpPr>
            <a:spLocks noGrp="1"/>
          </p:cNvSpPr>
          <p:nvPr>
            <p:ph idx="1"/>
          </p:nvPr>
        </p:nvSpPr>
        <p:spPr/>
        <p:txBody>
          <a:bodyPr>
            <a:normAutofit fontScale="92500" lnSpcReduction="10000"/>
          </a:bodyPr>
          <a:lstStyle/>
          <a:p>
            <a:r>
              <a:rPr lang="en-US" b="1" dirty="0"/>
              <a:t>Preferably numeric</a:t>
            </a:r>
            <a:r>
              <a:rPr lang="en-US" dirty="0"/>
              <a:t> - unique values can be better managed when they are numeric, because database can use internal routines to implement automatically increments values with the addition of each new row</a:t>
            </a:r>
          </a:p>
          <a:p>
            <a:r>
              <a:rPr lang="en-US" b="1" dirty="0"/>
              <a:t>Security-compliant</a:t>
            </a:r>
            <a:r>
              <a:rPr lang="en-US" dirty="0"/>
              <a:t> - selected primary key must not be composed of any attribute(s) that might be considered security risk or violation</a:t>
            </a:r>
          </a:p>
          <a:p>
            <a:pPr lvl="1"/>
            <a:r>
              <a:rPr lang="en-US" dirty="0"/>
              <a:t>using Social Security number as PK in EMPLOYEE table is not a good idea</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283</a:t>
            </a:fld>
            <a:endParaRPr lang="en-US"/>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primary keys</a:t>
            </a:r>
          </a:p>
        </p:txBody>
      </p:sp>
      <p:sp>
        <p:nvSpPr>
          <p:cNvPr id="3" name="Content Placeholder 2"/>
          <p:cNvSpPr>
            <a:spLocks noGrp="1"/>
          </p:cNvSpPr>
          <p:nvPr>
            <p:ph idx="1"/>
          </p:nvPr>
        </p:nvSpPr>
        <p:spPr/>
        <p:txBody>
          <a:bodyPr>
            <a:normAutofit/>
          </a:bodyPr>
          <a:lstStyle/>
          <a:p>
            <a:r>
              <a:rPr lang="en-US" dirty="0"/>
              <a:t>are particularly useful in two cases:</a:t>
            </a:r>
          </a:p>
          <a:p>
            <a:pPr marL="514350" indent="-514350">
              <a:buFont typeface="+mj-lt"/>
              <a:buAutoNum type="arabicPeriod"/>
            </a:pPr>
            <a:r>
              <a:rPr lang="en-US" dirty="0"/>
              <a:t>as identifiers of composite entities, where each primary key combination is allowed only once in the M:N relationship</a:t>
            </a:r>
          </a:p>
          <a:p>
            <a:pPr marL="514350" indent="-514350">
              <a:buFont typeface="+mj-lt"/>
              <a:buAutoNum type="arabicPeriod"/>
            </a:pPr>
            <a:r>
              <a:rPr lang="en-US" dirty="0"/>
              <a:t>as identifiers of weak entities, where the weak entity has a strong identifying relationship with the parent entity</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284</a:t>
            </a:fld>
            <a:endParaRPr lang="en-US"/>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surrogate key</a:t>
            </a:r>
          </a:p>
        </p:txBody>
      </p:sp>
      <p:sp>
        <p:nvSpPr>
          <p:cNvPr id="3" name="Content Placeholder 2"/>
          <p:cNvSpPr>
            <a:spLocks noGrp="1"/>
          </p:cNvSpPr>
          <p:nvPr>
            <p:ph idx="1"/>
          </p:nvPr>
        </p:nvSpPr>
        <p:spPr/>
        <p:txBody>
          <a:bodyPr>
            <a:normAutofit fontScale="92500" lnSpcReduction="20000"/>
          </a:bodyPr>
          <a:lstStyle/>
          <a:p>
            <a:r>
              <a:rPr lang="en-US" dirty="0"/>
              <a:t>instances when primary key doesn’t exist in real world or when existing natural key might not be suitable</a:t>
            </a:r>
          </a:p>
          <a:p>
            <a:r>
              <a:rPr lang="en-US" dirty="0"/>
              <a:t>standard practice to create surrogate key - primary key created by database designer to simplify identification of entity instances</a:t>
            </a:r>
          </a:p>
          <a:p>
            <a:r>
              <a:rPr lang="en-US" dirty="0"/>
              <a:t>has no meaning in user’s environment — it exists only to distinguish one entity instance from another</a:t>
            </a:r>
          </a:p>
          <a:p>
            <a:r>
              <a:rPr lang="en-US" dirty="0"/>
              <a:t>it can be generated by the DBMS to ensure that unique values are always provided</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285</a:t>
            </a:fld>
            <a:endParaRPr lang="en-US"/>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a:t>
            </a:r>
          </a:p>
        </p:txBody>
      </p:sp>
      <p:sp>
        <p:nvSpPr>
          <p:cNvPr id="3" name="Content Placeholder 2"/>
          <p:cNvSpPr>
            <a:spLocks noGrp="1"/>
          </p:cNvSpPr>
          <p:nvPr>
            <p:ph idx="1"/>
          </p:nvPr>
        </p:nvSpPr>
        <p:spPr/>
        <p:txBody>
          <a:bodyPr>
            <a:normAutofit fontScale="92500" lnSpcReduction="10000"/>
          </a:bodyPr>
          <a:lstStyle/>
          <a:p>
            <a:r>
              <a:rPr lang="en-US" dirty="0"/>
              <a:t>Data modeling and database design require skills that are acquired through experience</a:t>
            </a:r>
          </a:p>
          <a:p>
            <a:r>
              <a:rPr lang="en-US" dirty="0"/>
              <a:t>experience is acquired through practice, regular and frequent repetition, applying the concepts learned to specific and different design problems</a:t>
            </a:r>
          </a:p>
          <a:p>
            <a:r>
              <a:rPr lang="en-US" dirty="0"/>
              <a:t>presents four special design cases that highlight importance of flexible designs, proper identification of primary keys, and placement of foreign keys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286</a:t>
            </a:fld>
            <a:endParaRPr lang="en-US"/>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DESIGN CASES</a:t>
            </a:r>
          </a:p>
          <a:p>
            <a:r>
              <a:rPr lang="en-US" dirty="0"/>
              <a:t>LEARNING FLEXIBLE DATABASE DESIGN</a:t>
            </a:r>
          </a:p>
          <a:p>
            <a:r>
              <a:rPr lang="en-US" dirty="0"/>
              <a:t>Design Case #1: Implementing 1:1 Relationships</a:t>
            </a:r>
          </a:p>
          <a:p>
            <a:r>
              <a:rPr lang="en-US" dirty="0"/>
              <a:t>Design Case #2: Maintaining History of Time-Variant Data</a:t>
            </a:r>
          </a:p>
          <a:p>
            <a:r>
              <a:rPr lang="en-US" dirty="0"/>
              <a:t>Design Case #3: Fan Traps</a:t>
            </a:r>
          </a:p>
          <a:p>
            <a:r>
              <a:rPr lang="en-US" dirty="0"/>
              <a:t>Design Case #4: Redundant Relationships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287</a:t>
            </a:fld>
            <a:endParaRPr lang="en-US"/>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Case #1: </a:t>
            </a:r>
            <a:br>
              <a:rPr lang="en-US" dirty="0"/>
            </a:br>
            <a:r>
              <a:rPr lang="en-US" dirty="0"/>
              <a:t>Implementing 1:1 Relationships</a:t>
            </a:r>
          </a:p>
        </p:txBody>
      </p:sp>
      <p:sp>
        <p:nvSpPr>
          <p:cNvPr id="3" name="Content Placeholder 2"/>
          <p:cNvSpPr>
            <a:spLocks noGrp="1"/>
          </p:cNvSpPr>
          <p:nvPr>
            <p:ph idx="1"/>
          </p:nvPr>
        </p:nvSpPr>
        <p:spPr/>
        <p:txBody>
          <a:bodyPr>
            <a:normAutofit fontScale="92500" lnSpcReduction="10000"/>
          </a:bodyPr>
          <a:lstStyle/>
          <a:p>
            <a:r>
              <a:rPr lang="en-US" dirty="0"/>
              <a:t>Foreign Keys work with Primary Keys to implement relationships: </a:t>
            </a:r>
          </a:p>
          <a:p>
            <a:pPr lvl="1"/>
            <a:r>
              <a:rPr lang="en-US" dirty="0"/>
              <a:t>put PK of “one” side (parent entity) </a:t>
            </a:r>
          </a:p>
          <a:p>
            <a:pPr lvl="1"/>
            <a:r>
              <a:rPr lang="en-US" dirty="0"/>
              <a:t>put FK on “many” side (dependent entity) </a:t>
            </a:r>
          </a:p>
          <a:p>
            <a:r>
              <a:rPr lang="en-US" dirty="0"/>
              <a:t>case of a 1:1 relationship between EMPLOYEE and DEPARTMENT based on business rule “one EMPLOYEE is the manager of one DEPARTMENT, and one DEPARTMENT is managed by one EMPLOYEE.”</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288</a:t>
            </a:fld>
            <a:endParaRPr lang="en-US"/>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Place FK in both entities - is not recommended, as it would create duplicated work, and it could conflict with other existing relationships</a:t>
            </a:r>
          </a:p>
          <a:p>
            <a:r>
              <a:rPr lang="en-US" dirty="0"/>
              <a:t>Place  FK in one of entities (PK of one of two entities appears as FK in other entity) - preferred solution</a:t>
            </a:r>
          </a:p>
          <a:p>
            <a:pPr lvl="1"/>
            <a:r>
              <a:rPr lang="en-US" dirty="0"/>
              <a:t>but there is remaining question: which entity should be used</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289</a:t>
            </a:fld>
            <a:endParaRPr lang="en-US"/>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One side is mandatory and other side is optional</a:t>
            </a:r>
          </a:p>
          <a:p>
            <a:pPr lvl="1"/>
            <a:r>
              <a:rPr lang="en-US" dirty="0"/>
              <a:t>Place PK of entity on mandatory side in entity on optional side as FK, and make FK mandatory</a:t>
            </a:r>
          </a:p>
          <a:p>
            <a:r>
              <a:rPr lang="en-US" dirty="0"/>
              <a:t>Both sides are optional</a:t>
            </a:r>
          </a:p>
          <a:p>
            <a:pPr lvl="1"/>
            <a:r>
              <a:rPr lang="en-US" dirty="0"/>
              <a:t>Select FK that causes fewest nulls, or place FK in entity in which the (relationship) role is played</a:t>
            </a:r>
          </a:p>
          <a:p>
            <a:r>
              <a:rPr lang="en-US" dirty="0"/>
              <a:t>Both sides are mandatory</a:t>
            </a:r>
          </a:p>
          <a:p>
            <a:pPr lvl="1"/>
            <a:r>
              <a:rPr lang="en-US" dirty="0"/>
              <a:t>Like previous</a:t>
            </a:r>
          </a:p>
          <a:p>
            <a:pPr lvl="1"/>
            <a:r>
              <a:rPr lang="en-US" dirty="0"/>
              <a:t>or consider revising your model to ensure that the two entities do not belong together in a single entity</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290</a:t>
            </a:fld>
            <a:endParaRPr lang="en-US"/>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As a designer, you must recognize that 1:1 relationships exist in the real world, and therefore, they should be supported in the data model. </a:t>
            </a:r>
          </a:p>
          <a:p>
            <a:r>
              <a:rPr lang="en-US" dirty="0"/>
              <a:t>In fact, a 1:1 relationship is used to ensure that two entity sets are not placed in the same table.</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291</a:t>
            </a:fld>
            <a:endParaRPr lang="en-US"/>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Case #2:</a:t>
            </a:r>
            <a:br>
              <a:rPr lang="en-US" dirty="0"/>
            </a:br>
            <a:r>
              <a:rPr lang="en-US" dirty="0"/>
              <a:t>Maintaining History of Time-Variant</a:t>
            </a:r>
          </a:p>
        </p:txBody>
      </p:sp>
      <p:sp>
        <p:nvSpPr>
          <p:cNvPr id="3" name="Content Placeholder 2"/>
          <p:cNvSpPr>
            <a:spLocks noGrp="1"/>
          </p:cNvSpPr>
          <p:nvPr>
            <p:ph idx="1"/>
          </p:nvPr>
        </p:nvSpPr>
        <p:spPr/>
        <p:txBody>
          <a:bodyPr>
            <a:normAutofit fontScale="85000" lnSpcReduction="10000"/>
          </a:bodyPr>
          <a:lstStyle/>
          <a:p>
            <a:r>
              <a:rPr lang="en-US" dirty="0"/>
              <a:t>Company managers generally realize that good decision making is based on information that is generated through data stored in databases. Such data reflect current as well as past events.</a:t>
            </a:r>
          </a:p>
          <a:p>
            <a:r>
              <a:rPr lang="en-US" dirty="0"/>
              <a:t>Normally, data changes are managed by replacing existing attribute value with new value</a:t>
            </a:r>
          </a:p>
          <a:p>
            <a:r>
              <a:rPr lang="en-US" dirty="0"/>
              <a:t>However, there are situations in which history of values for a given attribute must be preserved.</a:t>
            </a:r>
          </a:p>
          <a:p>
            <a:r>
              <a:rPr lang="en-US" i="1" dirty="0"/>
              <a:t>time-variant data</a:t>
            </a:r>
            <a:r>
              <a:rPr lang="en-US" dirty="0"/>
              <a:t> refer to data whose values change over time and for which you must keep history of the data changes</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292</a:t>
            </a:fld>
            <a:endParaRPr lang="en-US"/>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some attribute values, such as your date of birth or your Social Security number, are not time variant</a:t>
            </a:r>
          </a:p>
          <a:p>
            <a:r>
              <a:rPr lang="en-US" dirty="0"/>
              <a:t>attributes such as your student GPA or your bank account balance are subject to change over time</a:t>
            </a:r>
          </a:p>
          <a:p>
            <a:r>
              <a:rPr lang="en-US" dirty="0"/>
              <a:t>sometimes data changes are externally originated and event driven, such as product price change</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293</a:t>
            </a:fld>
            <a:endParaRPr lang="en-US"/>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keeping history of time-variant data you must create a new entity in 1:M relationship with original entity; this new entity will contain new value, date of change</a:t>
            </a:r>
          </a:p>
          <a:p>
            <a:r>
              <a:rPr lang="en-US" dirty="0"/>
              <a:t>for example, if you want to keep track of current manager as well as history of all department managers, you can create model</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294</a:t>
            </a:fld>
            <a:endParaRPr lang="en-US"/>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295</a:t>
            </a:fld>
            <a:endParaRPr lang="en-US"/>
          </a:p>
        </p:txBody>
      </p:sp>
      <p:pic>
        <p:nvPicPr>
          <p:cNvPr id="8" name="Content Placeholder 7" descr="Clipboard04.jpg"/>
          <p:cNvPicPr>
            <a:picLocks noGrp="1" noChangeAspect="1"/>
          </p:cNvPicPr>
          <p:nvPr>
            <p:ph idx="1"/>
          </p:nvPr>
        </p:nvPicPr>
        <p:blipFill>
          <a:blip r:embed="rId2" cstate="print"/>
          <a:stretch>
            <a:fillRect/>
          </a:stretch>
        </p:blipFill>
        <p:spPr>
          <a:xfrm>
            <a:off x="496848" y="1600200"/>
            <a:ext cx="8150304" cy="4525963"/>
          </a:xfrm>
        </p:spPr>
      </p:pic>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note that “manages” relationship is optional in theory and redundant in practice</a:t>
            </a:r>
          </a:p>
          <a:p>
            <a:r>
              <a:rPr lang="en-US" dirty="0"/>
              <a:t>at any time, you could find out who manager of department is by retrieving the most recent DATE_ASSIGN date from MGR_HIST</a:t>
            </a:r>
          </a:p>
          <a:p>
            <a:r>
              <a:rPr lang="en-US" dirty="0"/>
              <a:t>differentiates between current data and historic data</a:t>
            </a:r>
          </a:p>
          <a:p>
            <a:r>
              <a:rPr lang="en-US" dirty="0"/>
              <a:t>current manager relationship is implemented by “manages” relationship between EMPLOYEE and DEPARTMENT</a:t>
            </a:r>
          </a:p>
          <a:p>
            <a:r>
              <a:rPr lang="en-US" dirty="0"/>
              <a:t>historic data are managed through EMP_MGR_HIST and DEPT_MGR_HIST</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296</a:t>
            </a:fld>
            <a:endParaRPr lang="en-US"/>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Case #3:</a:t>
            </a:r>
            <a:br>
              <a:rPr lang="en-US" dirty="0"/>
            </a:br>
            <a:r>
              <a:rPr lang="en-US" dirty="0"/>
              <a:t>Fan Traps</a:t>
            </a:r>
          </a:p>
        </p:txBody>
      </p:sp>
      <p:sp>
        <p:nvSpPr>
          <p:cNvPr id="3" name="Content Placeholder 2"/>
          <p:cNvSpPr>
            <a:spLocks noGrp="1"/>
          </p:cNvSpPr>
          <p:nvPr>
            <p:ph idx="1"/>
          </p:nvPr>
        </p:nvSpPr>
        <p:spPr/>
        <p:txBody>
          <a:bodyPr>
            <a:normAutofit fontScale="85000" lnSpcReduction="10000"/>
          </a:bodyPr>
          <a:lstStyle/>
          <a:p>
            <a:r>
              <a:rPr lang="en-US" dirty="0"/>
              <a:t>Creating data model requires proper identification of data relationships among entities. However, due to miscommunication or incomplete understanding of business rules or processes, it is not uncommon to misidentify relationships among entities</a:t>
            </a:r>
          </a:p>
          <a:p>
            <a:r>
              <a:rPr lang="en-US" dirty="0"/>
              <a:t>design trap occurs when relationship is improperly or incompletely identified and is therefore represented in a way that is not consistent with real world</a:t>
            </a:r>
          </a:p>
          <a:p>
            <a:r>
              <a:rPr lang="en-US" dirty="0"/>
              <a:t>most common design trap is known as fan trap</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297</a:t>
            </a:fld>
            <a:endParaRPr lang="en-US"/>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i="1" dirty="0"/>
              <a:t>fan trap </a:t>
            </a:r>
            <a:r>
              <a:rPr lang="en-US" dirty="0"/>
              <a:t>occurs when you have one entity in two 1:M relationships to other entities, thus producing an association among the other entities that is not expressed in the model</a:t>
            </a:r>
          </a:p>
          <a:p>
            <a:r>
              <a:rPr lang="en-US" dirty="0"/>
              <a:t>for example, assume the league has many divisions; each division has many players; each division has many teams</a:t>
            </a:r>
          </a:p>
          <a:p>
            <a:r>
              <a:rPr lang="en-US" dirty="0"/>
              <a:t>might create</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298</a:t>
            </a:fld>
            <a:endParaRPr lang="en-US"/>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Incorrect ER Diagram</a:t>
            </a:r>
            <a:br>
              <a:rPr lang="en-US" dirty="0"/>
            </a:br>
            <a:r>
              <a:rPr lang="en-US" dirty="0"/>
              <a:t> with fan trap problem</a:t>
            </a:r>
          </a:p>
        </p:txBody>
      </p:sp>
      <p:pic>
        <p:nvPicPr>
          <p:cNvPr id="6" name="Content Placeholder 5" descr="Clipboard02.jpg"/>
          <p:cNvPicPr>
            <a:picLocks noGrp="1" noChangeAspect="1"/>
          </p:cNvPicPr>
          <p:nvPr>
            <p:ph idx="1"/>
          </p:nvPr>
        </p:nvPicPr>
        <p:blipFill>
          <a:blip r:embed="rId2" cstate="print"/>
          <a:stretch>
            <a:fillRect/>
          </a:stretch>
        </p:blipFill>
        <p:spPr>
          <a:xfrm>
            <a:off x="1443037" y="3101181"/>
            <a:ext cx="6257925" cy="1524000"/>
          </a:xfr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299</a:t>
            </a:fld>
            <a:endParaRPr lang="en-US"/>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DIVISION is in 1:M relationship with TEAM and in 1:M relationship with PLAYER</a:t>
            </a:r>
          </a:p>
          <a:p>
            <a:r>
              <a:rPr lang="en-US" dirty="0"/>
              <a:t>representation is semantically correct, relationships are not properly identified</a:t>
            </a:r>
          </a:p>
          <a:p>
            <a:r>
              <a:rPr lang="en-US" dirty="0"/>
              <a:t>there is no way to identify which players belong to which team</a:t>
            </a:r>
          </a:p>
          <a:p>
            <a:r>
              <a:rPr lang="en-US" dirty="0"/>
              <a:t>note that the relationship lines for DIVISION instances fan out to TEAM and PLAYER entity instances — thus “fan trap” label</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300</a:t>
            </a:fld>
            <a:endParaRPr lang="en-US"/>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Corrected ER Diagram</a:t>
            </a:r>
            <a:br>
              <a:rPr lang="en-US" dirty="0"/>
            </a:br>
            <a:r>
              <a:rPr lang="en-US" dirty="0"/>
              <a:t>after removal of the fan trap</a:t>
            </a:r>
          </a:p>
        </p:txBody>
      </p:sp>
      <p:pic>
        <p:nvPicPr>
          <p:cNvPr id="6" name="Content Placeholder 5" descr="Clipboard06.jpg"/>
          <p:cNvPicPr>
            <a:picLocks noGrp="1" noChangeAspect="1"/>
          </p:cNvPicPr>
          <p:nvPr>
            <p:ph idx="1"/>
          </p:nvPr>
        </p:nvPicPr>
        <p:blipFill>
          <a:blip r:embed="rId2" cstate="print"/>
          <a:stretch>
            <a:fillRect/>
          </a:stretch>
        </p:blipFill>
        <p:spPr>
          <a:xfrm>
            <a:off x="1438275" y="3153569"/>
            <a:ext cx="6267450" cy="1419225"/>
          </a:xfr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301</a:t>
            </a:fld>
            <a:endParaRPr lang="en-US"/>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Case #4:</a:t>
            </a:r>
            <a:br>
              <a:rPr lang="en-US" dirty="0"/>
            </a:br>
            <a:r>
              <a:rPr lang="en-US" dirty="0"/>
              <a:t>Redundant Relationships</a:t>
            </a:r>
          </a:p>
        </p:txBody>
      </p:sp>
      <p:sp>
        <p:nvSpPr>
          <p:cNvPr id="3" name="Content Placeholder 2"/>
          <p:cNvSpPr>
            <a:spLocks noGrp="1"/>
          </p:cNvSpPr>
          <p:nvPr>
            <p:ph idx="1"/>
          </p:nvPr>
        </p:nvSpPr>
        <p:spPr/>
        <p:txBody>
          <a:bodyPr>
            <a:noAutofit/>
          </a:bodyPr>
          <a:lstStyle/>
          <a:p>
            <a:r>
              <a:rPr lang="en-US" sz="2800" dirty="0"/>
              <a:t>Although redundancy is often a good thing to have in computer environments (multiple backups in multiple places, for example), redundancy is seldom a good thing in the database environment</a:t>
            </a:r>
          </a:p>
          <a:p>
            <a:r>
              <a:rPr lang="en-US" sz="2800" dirty="0"/>
              <a:t>Redundant relationships occur when there are multiple relationship paths between related entities</a:t>
            </a:r>
          </a:p>
          <a:p>
            <a:r>
              <a:rPr lang="en-US" sz="2800" dirty="0"/>
              <a:t>main concern with redundant relationships is that they remain consistent across the model</a:t>
            </a:r>
          </a:p>
          <a:p>
            <a:r>
              <a:rPr lang="en-US" sz="2800" dirty="0"/>
              <a:t>some designs use redundant relationships as a way to simplify the design</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302</a:t>
            </a:fld>
            <a:endParaRPr lang="en-US"/>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an example of redundant relationships was introduced during discussion on maintaining a history of time-variant data</a:t>
            </a:r>
          </a:p>
          <a:p>
            <a:r>
              <a:rPr lang="en-US" dirty="0"/>
              <a:t>use of redundant “manages” and “employs” relationships was justified by the fact that such relationships were dealing with current data rather than historic data</a:t>
            </a:r>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303</a:t>
            </a:fld>
            <a:endParaRPr lang="en-US"/>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Redundant Relationship</a:t>
            </a:r>
          </a:p>
        </p:txBody>
      </p:sp>
      <p:pic>
        <p:nvPicPr>
          <p:cNvPr id="6" name="Content Placeholder 5" descr="Clipboard02.jpg"/>
          <p:cNvPicPr>
            <a:picLocks noGrp="1" noChangeAspect="1"/>
          </p:cNvPicPr>
          <p:nvPr>
            <p:ph idx="1"/>
          </p:nvPr>
        </p:nvPicPr>
        <p:blipFill>
          <a:blip r:embed="rId2" cstate="print"/>
          <a:stretch>
            <a:fillRect/>
          </a:stretch>
        </p:blipFill>
        <p:spPr>
          <a:xfrm>
            <a:off x="1400175" y="2839244"/>
            <a:ext cx="6343650" cy="2047875"/>
          </a:xfrm>
        </p:spPr>
      </p:pic>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304</a:t>
            </a:fld>
            <a:endParaRPr lang="en-US"/>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note transitive 1:M relationship between DIVISION and PLAYER through TEAM entity</a:t>
            </a:r>
          </a:p>
          <a:p>
            <a:r>
              <a:rPr lang="en-US" dirty="0"/>
              <a:t>relationship that connects DIVISION and PLAYER is redundant</a:t>
            </a:r>
          </a:p>
          <a:p>
            <a:r>
              <a:rPr lang="en-US" dirty="0"/>
              <a:t>relationship could be safely deleted without losing any information-generation capabilities </a:t>
            </a:r>
            <a:r>
              <a:rPr lang="en-US"/>
              <a:t>in model</a:t>
            </a:r>
            <a:endParaRPr lang="en-US" dirty="0"/>
          </a:p>
        </p:txBody>
      </p:sp>
      <p:sp>
        <p:nvSpPr>
          <p:cNvPr id="4" name="Footer Placeholder 3"/>
          <p:cNvSpPr>
            <a:spLocks noGrp="1"/>
          </p:cNvSpPr>
          <p:nvPr>
            <p:ph type="ftr" sz="quarter" idx="11"/>
          </p:nvPr>
        </p:nvSpPr>
        <p:spPr/>
        <p:txBody>
          <a:bodyPr/>
          <a:lstStyle/>
          <a:p>
            <a:r>
              <a:rPr lang="en-US"/>
              <a:t>DataBase Design Course Notes 03 - Normalization</a:t>
            </a:r>
          </a:p>
        </p:txBody>
      </p:sp>
      <p:sp>
        <p:nvSpPr>
          <p:cNvPr id="5" name="Slide Number Placeholder 4"/>
          <p:cNvSpPr>
            <a:spLocks noGrp="1"/>
          </p:cNvSpPr>
          <p:nvPr>
            <p:ph type="sldNum" sz="quarter" idx="12"/>
          </p:nvPr>
        </p:nvSpPr>
        <p:spPr/>
        <p:txBody>
          <a:bodyPr/>
          <a:lstStyle/>
          <a:p>
            <a:fld id="{1E923D44-A265-4C35-B3D9-34A1C005FE0F}" type="slidenum">
              <a:rPr lang="en-US" smtClean="0"/>
              <a:pPr/>
              <a:t>305</a:t>
            </a:fld>
            <a:endParaRPr lang="en-US"/>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7" name="Text Placeholder 6"/>
          <p:cNvSpPr>
            <a:spLocks noGrp="1"/>
          </p:cNvSpPr>
          <p:nvPr>
            <p:ph type="body" idx="1"/>
          </p:nvPr>
        </p:nvSpPr>
        <p:spPr/>
        <p:txBody>
          <a:bodyPr/>
          <a:lstStyle/>
          <a:p>
            <a:r>
              <a:rPr lang="en-US" sz="4800" b="1" dirty="0" err="1"/>
              <a:t>DataBase</a:t>
            </a:r>
            <a:r>
              <a:rPr lang="en-US" sz="4800" b="1" dirty="0"/>
              <a:t> Design</a:t>
            </a:r>
          </a:p>
          <a:p>
            <a:r>
              <a:rPr lang="en-US" sz="4800" b="1" dirty="0"/>
              <a:t>Examples</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306</a:t>
            </a:fld>
            <a:endParaRPr lang="en-US"/>
          </a:p>
        </p:txBody>
      </p:sp>
    </p:spTree>
    <p:extLst>
      <p:ext uri="{BB962C8B-B14F-4D97-AF65-F5344CB8AC3E}">
        <p14:creationId xmlns:p14="http://schemas.microsoft.com/office/powerpoint/2010/main" val="3115446564"/>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 1</a:t>
            </a:r>
          </a:p>
        </p:txBody>
      </p:sp>
      <p:sp>
        <p:nvSpPr>
          <p:cNvPr id="3" name="Content Placeholder 2"/>
          <p:cNvSpPr>
            <a:spLocks noGrp="1"/>
          </p:cNvSpPr>
          <p:nvPr>
            <p:ph idx="1"/>
          </p:nvPr>
        </p:nvSpPr>
        <p:spPr/>
        <p:txBody>
          <a:bodyPr/>
          <a:lstStyle/>
          <a:p>
            <a:r>
              <a:rPr lang="en-US" dirty="0">
                <a:hlinkClick r:id="rId2"/>
              </a:rPr>
              <a:t>https://www.formula1.com/</a:t>
            </a:r>
            <a:endParaRPr lang="en-US" dirty="0"/>
          </a:p>
          <a:p>
            <a:r>
              <a:rPr lang="en-US" dirty="0"/>
              <a:t>Races</a:t>
            </a:r>
          </a:p>
          <a:p>
            <a:r>
              <a:rPr lang="en-US" dirty="0"/>
              <a:t>Drivers</a:t>
            </a:r>
          </a:p>
          <a:p>
            <a:r>
              <a:rPr lang="en-US" dirty="0"/>
              <a:t>Teams</a:t>
            </a:r>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307</a:t>
            </a:fld>
            <a:endParaRPr lang="en-US"/>
          </a:p>
        </p:txBody>
      </p:sp>
    </p:spTree>
    <p:extLst>
      <p:ext uri="{BB962C8B-B14F-4D97-AF65-F5344CB8AC3E}">
        <p14:creationId xmlns:p14="http://schemas.microsoft.com/office/powerpoint/2010/main" val="1933536850"/>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Driver: Fernando ALONSO</a:t>
            </a:r>
            <a:br>
              <a:rPr lang="en-US" dirty="0"/>
            </a:br>
            <a:endParaRPr lang="en-US" dirty="0"/>
          </a:p>
        </p:txBody>
      </p:sp>
      <p:sp>
        <p:nvSpPr>
          <p:cNvPr id="3" name="Content Placeholder 2"/>
          <p:cNvSpPr>
            <a:spLocks noGrp="1"/>
          </p:cNvSpPr>
          <p:nvPr>
            <p:ph idx="1"/>
          </p:nvPr>
        </p:nvSpPr>
        <p:spPr/>
        <p:txBody>
          <a:bodyPr/>
          <a:lstStyle/>
          <a:p>
            <a:r>
              <a:rPr lang="en-US" sz="2400" dirty="0"/>
              <a:t>Team	McLaren</a:t>
            </a:r>
          </a:p>
          <a:p>
            <a:r>
              <a:rPr lang="en-US" sz="2400" dirty="0"/>
              <a:t>Country	Spain</a:t>
            </a:r>
          </a:p>
          <a:p>
            <a:r>
              <a:rPr lang="en-US" sz="2400" dirty="0"/>
              <a:t>Podiums	97</a:t>
            </a:r>
          </a:p>
          <a:p>
            <a:r>
              <a:rPr lang="en-US" sz="2400" dirty="0"/>
              <a:t>Points	1830</a:t>
            </a:r>
          </a:p>
          <a:p>
            <a:r>
              <a:rPr lang="en-US" sz="2400" dirty="0"/>
              <a:t>Grands Prix entered	272</a:t>
            </a:r>
          </a:p>
          <a:p>
            <a:r>
              <a:rPr lang="en-US" sz="2400" dirty="0"/>
              <a:t>World Championships	2</a:t>
            </a:r>
          </a:p>
          <a:p>
            <a:r>
              <a:rPr lang="en-US" sz="2400" dirty="0"/>
              <a:t>Highest race finish	1 (x32)</a:t>
            </a:r>
          </a:p>
          <a:p>
            <a:r>
              <a:rPr lang="en-US" sz="2400" dirty="0"/>
              <a:t>Highest grid position	1</a:t>
            </a:r>
          </a:p>
          <a:p>
            <a:r>
              <a:rPr lang="en-US" sz="2400" dirty="0"/>
              <a:t>Date of birth	29/07/1981</a:t>
            </a:r>
          </a:p>
          <a:p>
            <a:r>
              <a:rPr lang="en-US" sz="2400" dirty="0"/>
              <a:t>Place of birth	Oviedo, Spain</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308</a:t>
            </a:fld>
            <a:endParaRPr lang="en-US"/>
          </a:p>
        </p:txBody>
      </p:sp>
    </p:spTree>
    <p:extLst>
      <p:ext uri="{BB962C8B-B14F-4D97-AF65-F5344CB8AC3E}">
        <p14:creationId xmlns:p14="http://schemas.microsoft.com/office/powerpoint/2010/main" val="774589446"/>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 Who is famous for using the catchphrase "</a:t>
            </a:r>
            <a:r>
              <a:rPr lang="en-US" i="1" dirty="0" err="1"/>
              <a:t>allons</a:t>
            </a:r>
            <a:r>
              <a:rPr lang="en-US" i="1" dirty="0"/>
              <a:t>-y</a:t>
            </a:r>
            <a:r>
              <a:rPr lang="en-US" dirty="0"/>
              <a:t> Alonso“ ?</a:t>
            </a:r>
          </a:p>
          <a:p>
            <a:r>
              <a:rPr lang="en-US" sz="3600" b="1" dirty="0"/>
              <a:t>Time</a:t>
            </a:r>
            <a:r>
              <a:rPr lang="en-US" dirty="0"/>
              <a:t> traveler</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309</a:t>
            </a:fld>
            <a:endParaRPr lang="en-US"/>
          </a:p>
        </p:txBody>
      </p:sp>
    </p:spTree>
    <p:extLst>
      <p:ext uri="{BB962C8B-B14F-4D97-AF65-F5344CB8AC3E}">
        <p14:creationId xmlns:p14="http://schemas.microsoft.com/office/powerpoint/2010/main" val="2303075887"/>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Driver: Fernando ALONSO</a:t>
            </a:r>
            <a:br>
              <a:rPr lang="en-US" dirty="0"/>
            </a:br>
            <a:endParaRPr lang="en-US" dirty="0"/>
          </a:p>
        </p:txBody>
      </p:sp>
      <p:sp>
        <p:nvSpPr>
          <p:cNvPr id="3" name="Content Placeholder 2"/>
          <p:cNvSpPr>
            <a:spLocks noGrp="1"/>
          </p:cNvSpPr>
          <p:nvPr>
            <p:ph idx="1"/>
          </p:nvPr>
        </p:nvSpPr>
        <p:spPr/>
        <p:txBody>
          <a:bodyPr/>
          <a:lstStyle/>
          <a:p>
            <a:r>
              <a:rPr lang="en-US" sz="2400" i="1" dirty="0"/>
              <a:t>Team	McLaren</a:t>
            </a:r>
          </a:p>
          <a:p>
            <a:r>
              <a:rPr lang="en-US" sz="2800" b="1" dirty="0"/>
              <a:t>Country	Spain</a:t>
            </a:r>
          </a:p>
          <a:p>
            <a:r>
              <a:rPr lang="en-US" sz="2400" i="1" dirty="0"/>
              <a:t>Podiums	97</a:t>
            </a:r>
          </a:p>
          <a:p>
            <a:r>
              <a:rPr lang="en-US" sz="2400" i="1" dirty="0"/>
              <a:t>Points	1830</a:t>
            </a:r>
          </a:p>
          <a:p>
            <a:r>
              <a:rPr lang="en-US" sz="2400" i="1" dirty="0"/>
              <a:t>Grands Prix entered	272</a:t>
            </a:r>
          </a:p>
          <a:p>
            <a:r>
              <a:rPr lang="en-US" sz="2400" i="1" dirty="0"/>
              <a:t>World Championships	2</a:t>
            </a:r>
          </a:p>
          <a:p>
            <a:r>
              <a:rPr lang="en-US" sz="2400" i="1" dirty="0"/>
              <a:t>Highest race finish	1 (x32)</a:t>
            </a:r>
          </a:p>
          <a:p>
            <a:r>
              <a:rPr lang="en-US" sz="2400" i="1" dirty="0"/>
              <a:t>Highest grid position	1</a:t>
            </a:r>
          </a:p>
          <a:p>
            <a:r>
              <a:rPr lang="en-US" sz="2800" b="1" dirty="0"/>
              <a:t>Date of birth	29/07/1981</a:t>
            </a:r>
          </a:p>
          <a:p>
            <a:r>
              <a:rPr lang="en-US" sz="2800" b="1" dirty="0"/>
              <a:t>Place of birth	Oviedo, Spain</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310</a:t>
            </a:fld>
            <a:endParaRPr lang="en-US"/>
          </a:p>
        </p:txBody>
      </p:sp>
    </p:spTree>
    <p:extLst>
      <p:ext uri="{BB962C8B-B14F-4D97-AF65-F5344CB8AC3E}">
        <p14:creationId xmlns:p14="http://schemas.microsoft.com/office/powerpoint/2010/main" val="2492979707"/>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Entities</a:t>
            </a:r>
          </a:p>
        </p:txBody>
      </p:sp>
      <p:sp>
        <p:nvSpPr>
          <p:cNvPr id="3" name="Content Placeholder 2"/>
          <p:cNvSpPr>
            <a:spLocks noGrp="1"/>
          </p:cNvSpPr>
          <p:nvPr>
            <p:ph idx="1"/>
          </p:nvPr>
        </p:nvSpPr>
        <p:spPr/>
        <p:txBody>
          <a:bodyPr/>
          <a:lstStyle/>
          <a:p>
            <a:r>
              <a:rPr lang="en-US" dirty="0"/>
              <a:t>Affiliation</a:t>
            </a:r>
          </a:p>
          <a:p>
            <a:r>
              <a:rPr lang="en-US" dirty="0"/>
              <a:t>Result</a:t>
            </a:r>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311</a:t>
            </a:fld>
            <a:endParaRPr lang="en-US"/>
          </a:p>
        </p:txBody>
      </p:sp>
    </p:spTree>
    <p:extLst>
      <p:ext uri="{BB962C8B-B14F-4D97-AF65-F5344CB8AC3E}">
        <p14:creationId xmlns:p14="http://schemas.microsoft.com/office/powerpoint/2010/main" val="1887410817"/>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Affiliation</a:t>
            </a:r>
          </a:p>
        </p:txBody>
      </p:sp>
      <p:sp>
        <p:nvSpPr>
          <p:cNvPr id="3" name="Content Placeholder 2"/>
          <p:cNvSpPr>
            <a:spLocks noGrp="1"/>
          </p:cNvSpPr>
          <p:nvPr>
            <p:ph idx="1"/>
          </p:nvPr>
        </p:nvSpPr>
        <p:spPr/>
        <p:txBody>
          <a:bodyPr/>
          <a:lstStyle/>
          <a:p>
            <a:r>
              <a:rPr lang="en-US" dirty="0"/>
              <a:t>ID of Fernando ALONSO</a:t>
            </a:r>
          </a:p>
          <a:p>
            <a:r>
              <a:rPr lang="en-US" dirty="0"/>
              <a:t>ID of McLaren</a:t>
            </a:r>
          </a:p>
          <a:p>
            <a:r>
              <a:rPr lang="en-US" dirty="0"/>
              <a:t>Begin Date </a:t>
            </a:r>
          </a:p>
          <a:p>
            <a:r>
              <a:rPr lang="en-US" dirty="0"/>
              <a:t>End Date - could be NULL </a:t>
            </a:r>
          </a:p>
          <a:p>
            <a:pPr lvl="1"/>
            <a:r>
              <a:rPr lang="en-US" dirty="0"/>
              <a:t>NULL with meaning from Begin Date until today, tomorrow, end of time, …</a:t>
            </a:r>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312</a:t>
            </a:fld>
            <a:endParaRPr lang="en-US"/>
          </a:p>
        </p:txBody>
      </p:sp>
    </p:spTree>
    <p:extLst>
      <p:ext uri="{BB962C8B-B14F-4D97-AF65-F5344CB8AC3E}">
        <p14:creationId xmlns:p14="http://schemas.microsoft.com/office/powerpoint/2010/main" val="2142291153"/>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Affiliation view</a:t>
            </a:r>
          </a:p>
        </p:txBody>
      </p:sp>
      <p:sp>
        <p:nvSpPr>
          <p:cNvPr id="3" name="Content Placeholder 2"/>
          <p:cNvSpPr>
            <a:spLocks noGrp="1"/>
          </p:cNvSpPr>
          <p:nvPr>
            <p:ph idx="1"/>
          </p:nvPr>
        </p:nvSpPr>
        <p:spPr/>
        <p:txBody>
          <a:bodyPr/>
          <a:lstStyle/>
          <a:p>
            <a:r>
              <a:rPr lang="en-US" dirty="0"/>
              <a:t>as of today()</a:t>
            </a:r>
          </a:p>
          <a:p>
            <a:r>
              <a:rPr lang="en-US" dirty="0"/>
              <a:t>JOIN FROM Driver, Affiliation, Team</a:t>
            </a:r>
          </a:p>
          <a:p>
            <a:r>
              <a:rPr lang="en-US" dirty="0"/>
              <a:t>WHERE Begin Date &lt;= today() AND</a:t>
            </a:r>
          </a:p>
          <a:p>
            <a:r>
              <a:rPr lang="en-US" dirty="0"/>
              <a:t>(today () &lt;= End Date OR End Date IS NULL)</a:t>
            </a:r>
          </a:p>
          <a:p>
            <a:endParaRPr lang="en-US" dirty="0"/>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313</a:t>
            </a:fld>
            <a:endParaRPr lang="en-US"/>
          </a:p>
        </p:txBody>
      </p:sp>
    </p:spTree>
    <p:extLst>
      <p:ext uri="{BB962C8B-B14F-4D97-AF65-F5344CB8AC3E}">
        <p14:creationId xmlns:p14="http://schemas.microsoft.com/office/powerpoint/2010/main" val="3773555760"/>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Begin End Date are time intervals</a:t>
            </a:r>
          </a:p>
          <a:p>
            <a:r>
              <a:rPr lang="en-US" dirty="0"/>
              <a:t>Begin &lt;= End OR End IS NULL</a:t>
            </a:r>
          </a:p>
          <a:p>
            <a:r>
              <a:rPr lang="en-US" dirty="0"/>
              <a:t>Time interval intersection</a:t>
            </a:r>
          </a:p>
          <a:p>
            <a:r>
              <a:rPr lang="en-US" dirty="0"/>
              <a:t>(T</a:t>
            </a:r>
            <a:r>
              <a:rPr lang="en-US" baseline="-25000" dirty="0"/>
              <a:t>11</a:t>
            </a:r>
            <a:r>
              <a:rPr lang="en-US" dirty="0"/>
              <a:t>, T</a:t>
            </a:r>
            <a:r>
              <a:rPr lang="en-US" baseline="-25000" dirty="0"/>
              <a:t>12</a:t>
            </a:r>
            <a:r>
              <a:rPr lang="en-US" dirty="0"/>
              <a:t>), T</a:t>
            </a:r>
            <a:r>
              <a:rPr lang="en-US" baseline="-25000" dirty="0"/>
              <a:t>11</a:t>
            </a:r>
            <a:r>
              <a:rPr lang="en-US" dirty="0"/>
              <a:t> &lt;= T</a:t>
            </a:r>
            <a:r>
              <a:rPr lang="en-US" baseline="-25000" dirty="0"/>
              <a:t>12</a:t>
            </a:r>
            <a:endParaRPr lang="en-US" dirty="0"/>
          </a:p>
          <a:p>
            <a:r>
              <a:rPr lang="en-US" dirty="0"/>
              <a:t>(T</a:t>
            </a:r>
            <a:r>
              <a:rPr lang="en-US" baseline="-25000" dirty="0"/>
              <a:t>21</a:t>
            </a:r>
            <a:r>
              <a:rPr lang="en-US" dirty="0"/>
              <a:t>, T</a:t>
            </a:r>
            <a:r>
              <a:rPr lang="en-US" baseline="-25000" dirty="0"/>
              <a:t>22</a:t>
            </a:r>
            <a:r>
              <a:rPr lang="en-US" dirty="0"/>
              <a:t>), T</a:t>
            </a:r>
            <a:r>
              <a:rPr lang="en-US" baseline="-25000" dirty="0"/>
              <a:t>21</a:t>
            </a:r>
            <a:r>
              <a:rPr lang="en-US" dirty="0"/>
              <a:t> &lt;= T</a:t>
            </a:r>
            <a:r>
              <a:rPr lang="en-US" baseline="-25000" dirty="0"/>
              <a:t>22</a:t>
            </a:r>
            <a:endParaRPr lang="en-US" dirty="0"/>
          </a:p>
          <a:p>
            <a:endParaRPr lang="en-US" dirty="0"/>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314</a:t>
            </a:fld>
            <a:endParaRPr lang="en-US"/>
          </a:p>
        </p:txBody>
      </p:sp>
    </p:spTree>
    <p:extLst>
      <p:ext uri="{BB962C8B-B14F-4D97-AF65-F5344CB8AC3E}">
        <p14:creationId xmlns:p14="http://schemas.microsoft.com/office/powerpoint/2010/main" val="973776744"/>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Begin End Date are time intervals</a:t>
            </a:r>
          </a:p>
          <a:p>
            <a:r>
              <a:rPr lang="en-US" dirty="0"/>
              <a:t>Begin &lt;= End OR End IS NULL</a:t>
            </a:r>
          </a:p>
          <a:p>
            <a:r>
              <a:rPr lang="en-US" dirty="0"/>
              <a:t>Time interval intersection</a:t>
            </a:r>
          </a:p>
          <a:p>
            <a:r>
              <a:rPr lang="en-US" dirty="0"/>
              <a:t>(T</a:t>
            </a:r>
            <a:r>
              <a:rPr lang="en-US" baseline="-25000" dirty="0"/>
              <a:t>11</a:t>
            </a:r>
            <a:r>
              <a:rPr lang="en-US" dirty="0"/>
              <a:t>, T</a:t>
            </a:r>
            <a:r>
              <a:rPr lang="en-US" baseline="-25000" dirty="0"/>
              <a:t>12</a:t>
            </a:r>
            <a:r>
              <a:rPr lang="en-US" dirty="0"/>
              <a:t>), T</a:t>
            </a:r>
            <a:r>
              <a:rPr lang="en-US" baseline="-25000" dirty="0"/>
              <a:t>21</a:t>
            </a:r>
            <a:r>
              <a:rPr lang="en-US" dirty="0"/>
              <a:t> &lt;= T</a:t>
            </a:r>
            <a:r>
              <a:rPr lang="en-US" baseline="-25000" dirty="0"/>
              <a:t>22</a:t>
            </a:r>
            <a:endParaRPr lang="en-US" dirty="0"/>
          </a:p>
          <a:p>
            <a:r>
              <a:rPr lang="en-US" dirty="0"/>
              <a:t>(T</a:t>
            </a:r>
            <a:r>
              <a:rPr lang="en-US" baseline="-25000" dirty="0"/>
              <a:t>21</a:t>
            </a:r>
            <a:r>
              <a:rPr lang="en-US" dirty="0"/>
              <a:t>, T</a:t>
            </a:r>
            <a:r>
              <a:rPr lang="en-US" baseline="-25000" dirty="0"/>
              <a:t>22</a:t>
            </a:r>
            <a:r>
              <a:rPr lang="en-US" dirty="0"/>
              <a:t>), T</a:t>
            </a:r>
            <a:r>
              <a:rPr lang="en-US" baseline="-25000" dirty="0"/>
              <a:t>21</a:t>
            </a:r>
            <a:r>
              <a:rPr lang="en-US" dirty="0"/>
              <a:t> &lt;= T</a:t>
            </a:r>
            <a:r>
              <a:rPr lang="en-US" baseline="-25000" dirty="0"/>
              <a:t>22</a:t>
            </a:r>
            <a:endParaRPr lang="en-US" dirty="0"/>
          </a:p>
          <a:p>
            <a:r>
              <a:rPr lang="en-US" dirty="0"/>
              <a:t>T</a:t>
            </a:r>
            <a:r>
              <a:rPr lang="en-US" baseline="-25000" dirty="0"/>
              <a:t>11</a:t>
            </a:r>
            <a:r>
              <a:rPr lang="en-US" dirty="0"/>
              <a:t> &lt;= T</a:t>
            </a:r>
            <a:r>
              <a:rPr lang="en-US" baseline="-25000" dirty="0"/>
              <a:t>22</a:t>
            </a:r>
            <a:r>
              <a:rPr lang="en-US" dirty="0"/>
              <a:t> AND T</a:t>
            </a:r>
            <a:r>
              <a:rPr lang="en-US" baseline="-25000" dirty="0"/>
              <a:t>12</a:t>
            </a:r>
            <a:r>
              <a:rPr lang="en-US" dirty="0"/>
              <a:t> &gt;= T</a:t>
            </a:r>
            <a:r>
              <a:rPr lang="en-US" baseline="-25000" dirty="0"/>
              <a:t>21</a:t>
            </a:r>
            <a:endParaRPr lang="en-US" dirty="0"/>
          </a:p>
          <a:p>
            <a:endParaRPr lang="en-US" dirty="0"/>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315</a:t>
            </a:fld>
            <a:endParaRPr lang="en-US"/>
          </a:p>
        </p:txBody>
      </p:sp>
    </p:spTree>
    <p:extLst>
      <p:ext uri="{BB962C8B-B14F-4D97-AF65-F5344CB8AC3E}">
        <p14:creationId xmlns:p14="http://schemas.microsoft.com/office/powerpoint/2010/main" val="3209150426"/>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Temporal Databases</a:t>
            </a:r>
          </a:p>
        </p:txBody>
      </p:sp>
      <p:sp>
        <p:nvSpPr>
          <p:cNvPr id="3" name="Content Placeholder 2"/>
          <p:cNvSpPr>
            <a:spLocks noGrp="1"/>
          </p:cNvSpPr>
          <p:nvPr>
            <p:ph idx="1"/>
          </p:nvPr>
        </p:nvSpPr>
        <p:spPr/>
        <p:txBody>
          <a:bodyPr/>
          <a:lstStyle/>
          <a:p>
            <a:r>
              <a:rPr lang="en-US" dirty="0"/>
              <a:t>provide uniform and systematic way of dealing with historical data</a:t>
            </a:r>
          </a:p>
          <a:p>
            <a:r>
              <a:rPr lang="en-US" dirty="0"/>
              <a:t>some data may be inherently historical, e.g., medical or judicial records</a:t>
            </a:r>
          </a:p>
          <a:p>
            <a:r>
              <a:rPr lang="en-US" dirty="0"/>
              <a:t>regarded as enhancement of conventional (snapshot) database</a:t>
            </a:r>
          </a:p>
          <a:p>
            <a:r>
              <a:rPr lang="en-US" dirty="0"/>
              <a:t>sets data into context of time, adds a time dimension</a:t>
            </a:r>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316</a:t>
            </a:fld>
            <a:endParaRPr lang="en-US"/>
          </a:p>
        </p:txBody>
      </p:sp>
    </p:spTree>
    <p:extLst>
      <p:ext uri="{BB962C8B-B14F-4D97-AF65-F5344CB8AC3E}">
        <p14:creationId xmlns:p14="http://schemas.microsoft.com/office/powerpoint/2010/main" val="2181993786"/>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over time, relational tables are updated, new rows are inserted, some rows are deleted and some attribute values might be modified - data in table changes over time</a:t>
            </a:r>
          </a:p>
          <a:p>
            <a:r>
              <a:rPr lang="en-US" dirty="0"/>
              <a:t>if copy of table was taken each time before it is updated and if date of copy was added to all rows we could actually follow evolution of table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317</a:t>
            </a:fld>
            <a:endParaRPr lang="en-US"/>
          </a:p>
        </p:txBody>
      </p:sp>
    </p:spTree>
    <p:extLst>
      <p:ext uri="{BB962C8B-B14F-4D97-AF65-F5344CB8AC3E}">
        <p14:creationId xmlns:p14="http://schemas.microsoft.com/office/powerpoint/2010/main" val="869690300"/>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contrast, in many databases, one would only keep current copy of table - current </a:t>
            </a:r>
            <a:r>
              <a:rPr lang="en-US" i="1" dirty="0"/>
              <a:t>snapshot</a:t>
            </a:r>
          </a:p>
          <a:p>
            <a:r>
              <a:rPr lang="en-US" i="1" dirty="0"/>
              <a:t>time cube</a:t>
            </a:r>
            <a:r>
              <a:rPr lang="en-US" dirty="0"/>
              <a:t>  snapshot is time slice  of such cube, conventional database always holds one slice whereas temporal database holds entire cube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318</a:t>
            </a:fld>
            <a:endParaRPr lang="en-US"/>
          </a:p>
        </p:txBody>
      </p:sp>
    </p:spTree>
    <p:extLst>
      <p:ext uri="{BB962C8B-B14F-4D97-AF65-F5344CB8AC3E}">
        <p14:creationId xmlns:p14="http://schemas.microsoft.com/office/powerpoint/2010/main" val="2676669921"/>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whenever an update occurs conventional database </a:t>
            </a:r>
            <a:r>
              <a:rPr lang="en-US" i="1" dirty="0"/>
              <a:t>physically</a:t>
            </a:r>
            <a:r>
              <a:rPr lang="en-US" dirty="0"/>
              <a:t> updates, throws old values away and stores new ones</a:t>
            </a:r>
          </a:p>
          <a:p>
            <a:r>
              <a:rPr lang="en-US" dirty="0"/>
              <a:t>temporal database is updated </a:t>
            </a:r>
            <a:r>
              <a:rPr lang="en-US" i="1" dirty="0"/>
              <a:t>logically</a:t>
            </a:r>
            <a:r>
              <a:rPr lang="en-US" dirty="0"/>
              <a:t>, it marks old and new values with timestamps  that indicate to which snapshot actually belong</a:t>
            </a:r>
          </a:p>
          <a:p>
            <a:r>
              <a:rPr lang="en-US" dirty="0"/>
              <a:t>concept of </a:t>
            </a:r>
            <a:r>
              <a:rPr lang="en-US" i="1" dirty="0"/>
              <a:t>physical</a:t>
            </a:r>
            <a:r>
              <a:rPr lang="en-US" dirty="0"/>
              <a:t>  vs. </a:t>
            </a:r>
            <a:r>
              <a:rPr lang="en-US" i="1" dirty="0"/>
              <a:t>logical deletion</a:t>
            </a:r>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319</a:t>
            </a:fld>
            <a:endParaRPr lang="en-US"/>
          </a:p>
        </p:txBody>
      </p:sp>
    </p:spTree>
    <p:extLst>
      <p:ext uri="{BB962C8B-B14F-4D97-AF65-F5344CB8AC3E}">
        <p14:creationId xmlns:p14="http://schemas.microsoft.com/office/powerpoint/2010/main" val="1280370236"/>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 Picture</a:t>
            </a:r>
          </a:p>
        </p:txBody>
      </p:sp>
      <p:sp>
        <p:nvSpPr>
          <p:cNvPr id="3" name="Content Placeholder 2"/>
          <p:cNvSpPr>
            <a:spLocks noGrp="1"/>
          </p:cNvSpPr>
          <p:nvPr>
            <p:ph idx="1"/>
          </p:nvPr>
        </p:nvSpPr>
        <p:spPr/>
        <p:txBody>
          <a:bodyPr/>
          <a:lstStyle/>
          <a:p>
            <a:r>
              <a:rPr lang="en-US" altLang="en-US" dirty="0"/>
              <a:t>UPDATE </a:t>
            </a:r>
            <a:r>
              <a:rPr lang="en-US" altLang="en-US" dirty="0" err="1"/>
              <a:t>AutoDriver</a:t>
            </a:r>
            <a:endParaRPr lang="en-US" altLang="en-US" dirty="0"/>
          </a:p>
          <a:p>
            <a:pPr lvl="1"/>
            <a:r>
              <a:rPr lang="en-US" altLang="en-US" dirty="0"/>
              <a:t>SET Picture = </a:t>
            </a:r>
          </a:p>
          <a:p>
            <a:r>
              <a:rPr lang="en-US" altLang="en-US" dirty="0"/>
              <a:t>(SELECT </a:t>
            </a:r>
            <a:r>
              <a:rPr lang="en-US" altLang="en-US" dirty="0" err="1"/>
              <a:t>BulkColumn</a:t>
            </a:r>
            <a:r>
              <a:rPr lang="en-US" altLang="en-US" dirty="0"/>
              <a:t> FROM OPENROWSET (Bulk 'D:\Downloads\1458061391663.jpg', SINGLE_BLOB) AS BLOB)</a:t>
            </a:r>
          </a:p>
          <a:p>
            <a:r>
              <a:rPr lang="en-US" altLang="en-US" dirty="0"/>
              <a:t>WHERE </a:t>
            </a:r>
            <a:r>
              <a:rPr lang="en-US" altLang="en-US" dirty="0" err="1"/>
              <a:t>id_ad</a:t>
            </a:r>
            <a:r>
              <a:rPr lang="en-US" altLang="en-US" dirty="0"/>
              <a:t> = 1; </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320</a:t>
            </a:fld>
            <a:endParaRPr lang="en-US"/>
          </a:p>
        </p:txBody>
      </p:sp>
    </p:spTree>
    <p:extLst>
      <p:ext uri="{BB962C8B-B14F-4D97-AF65-F5344CB8AC3E}">
        <p14:creationId xmlns:p14="http://schemas.microsoft.com/office/powerpoint/2010/main" val="461306495"/>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Executed Only Once in </a:t>
            </a:r>
            <a:r>
              <a:rPr lang="en-US" dirty="0" err="1"/>
              <a:t>DataBase</a:t>
            </a:r>
            <a:r>
              <a:rPr lang="en-US" dirty="0"/>
              <a:t> Server </a:t>
            </a:r>
          </a:p>
        </p:txBody>
      </p:sp>
      <p:sp>
        <p:nvSpPr>
          <p:cNvPr id="3" name="Content Placeholder 2"/>
          <p:cNvSpPr>
            <a:spLocks noGrp="1"/>
          </p:cNvSpPr>
          <p:nvPr>
            <p:ph idx="1"/>
          </p:nvPr>
        </p:nvSpPr>
        <p:spPr/>
        <p:txBody>
          <a:bodyPr/>
          <a:lstStyle/>
          <a:p>
            <a:r>
              <a:rPr lang="en-US" altLang="en-US" sz="2400" dirty="0"/>
              <a:t>USE master</a:t>
            </a:r>
          </a:p>
          <a:p>
            <a:pPr lvl="2"/>
            <a:r>
              <a:rPr lang="en-US" altLang="en-US" sz="1600" dirty="0"/>
              <a:t>GO </a:t>
            </a:r>
          </a:p>
          <a:p>
            <a:r>
              <a:rPr lang="en-US" altLang="en-US" sz="2400" dirty="0"/>
              <a:t>EXEC </a:t>
            </a:r>
            <a:r>
              <a:rPr lang="en-US" altLang="en-US" sz="2400" dirty="0" err="1"/>
              <a:t>sp_configure</a:t>
            </a:r>
            <a:r>
              <a:rPr lang="en-US" altLang="en-US" sz="2400" dirty="0"/>
              <a:t> 'show advanced options', 1 </a:t>
            </a:r>
          </a:p>
          <a:p>
            <a:pPr lvl="2"/>
            <a:r>
              <a:rPr lang="en-US" altLang="en-US" sz="1600" dirty="0"/>
              <a:t>GO </a:t>
            </a:r>
          </a:p>
          <a:p>
            <a:r>
              <a:rPr lang="en-US" altLang="en-US" sz="2400" dirty="0"/>
              <a:t>RECONFIGURE WITH OVERRIDE </a:t>
            </a:r>
          </a:p>
          <a:p>
            <a:pPr lvl="2"/>
            <a:r>
              <a:rPr lang="en-US" altLang="en-US" sz="1600" dirty="0"/>
              <a:t>GO </a:t>
            </a:r>
          </a:p>
          <a:p>
            <a:r>
              <a:rPr lang="en-US" altLang="en-US" sz="2400" dirty="0"/>
              <a:t>EXEC </a:t>
            </a:r>
            <a:r>
              <a:rPr lang="en-US" altLang="en-US" sz="2400" dirty="0" err="1"/>
              <a:t>sp_configure</a:t>
            </a:r>
            <a:r>
              <a:rPr lang="en-US" altLang="en-US" sz="2400" dirty="0"/>
              <a:t> '</a:t>
            </a:r>
            <a:r>
              <a:rPr lang="en-US" altLang="en-US" sz="2400" dirty="0" err="1"/>
              <a:t>xp_cmdshell</a:t>
            </a:r>
            <a:r>
              <a:rPr lang="en-US" altLang="en-US" sz="2400" dirty="0"/>
              <a:t>', 1 </a:t>
            </a:r>
          </a:p>
          <a:p>
            <a:pPr lvl="2"/>
            <a:r>
              <a:rPr lang="en-US" altLang="en-US" sz="1600" dirty="0"/>
              <a:t>GO </a:t>
            </a:r>
          </a:p>
          <a:p>
            <a:r>
              <a:rPr lang="en-US" altLang="en-US" sz="2400" dirty="0"/>
              <a:t>RECONFIGURE WITH OVERRIDE </a:t>
            </a:r>
          </a:p>
          <a:p>
            <a:pPr lvl="2"/>
            <a:r>
              <a:rPr lang="en-US" altLang="en-US" sz="1600" dirty="0"/>
              <a:t>GO </a:t>
            </a:r>
          </a:p>
          <a:p>
            <a:r>
              <a:rPr lang="en-US" altLang="en-US" sz="2400" dirty="0"/>
              <a:t>EXEC </a:t>
            </a:r>
            <a:r>
              <a:rPr lang="en-US" altLang="en-US" sz="2400" dirty="0" err="1"/>
              <a:t>sp_configure</a:t>
            </a:r>
            <a:r>
              <a:rPr lang="en-US" altLang="en-US" sz="2400" dirty="0"/>
              <a:t> 'show advanced options', 0</a:t>
            </a:r>
          </a:p>
          <a:p>
            <a:pPr lvl="2"/>
            <a:r>
              <a:rPr lang="en-US" altLang="en-US" sz="1600" dirty="0"/>
              <a:t>GO</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321</a:t>
            </a:fld>
            <a:endParaRPr lang="en-US"/>
          </a:p>
        </p:txBody>
      </p:sp>
    </p:spTree>
    <p:extLst>
      <p:ext uri="{BB962C8B-B14F-4D97-AF65-F5344CB8AC3E}">
        <p14:creationId xmlns:p14="http://schemas.microsoft.com/office/powerpoint/2010/main" val="2341278765"/>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 … Picture</a:t>
            </a:r>
          </a:p>
        </p:txBody>
      </p:sp>
      <p:sp>
        <p:nvSpPr>
          <p:cNvPr id="3" name="Content Placeholder 2"/>
          <p:cNvSpPr>
            <a:spLocks noGrp="1"/>
          </p:cNvSpPr>
          <p:nvPr>
            <p:ph idx="1"/>
          </p:nvPr>
        </p:nvSpPr>
        <p:spPr/>
        <p:txBody>
          <a:bodyPr/>
          <a:lstStyle/>
          <a:p>
            <a:r>
              <a:rPr lang="en-US" altLang="en-US" dirty="0"/>
              <a:t>EXEC </a:t>
            </a:r>
            <a:r>
              <a:rPr lang="en-US" altLang="en-US" dirty="0" err="1"/>
              <a:t>xp_cmdshell</a:t>
            </a:r>
            <a:r>
              <a:rPr lang="en-US" altLang="en-US" dirty="0"/>
              <a:t> </a:t>
            </a:r>
          </a:p>
          <a:p>
            <a:r>
              <a:rPr lang="en-US" altLang="en-US" dirty="0"/>
              <a:t>'BCP "SELECT [Picture] FROM [formula1].[</a:t>
            </a:r>
            <a:r>
              <a:rPr lang="en-US" altLang="en-US" dirty="0" err="1"/>
              <a:t>dbo</a:t>
            </a:r>
            <a:r>
              <a:rPr lang="en-US" altLang="en-US" dirty="0"/>
              <a:t>].[</a:t>
            </a:r>
            <a:r>
              <a:rPr lang="en-US" altLang="en-US" dirty="0" err="1"/>
              <a:t>AutoDriver</a:t>
            </a:r>
            <a:r>
              <a:rPr lang="en-US" altLang="en-US" dirty="0"/>
              <a:t>] WHERE [</a:t>
            </a:r>
            <a:r>
              <a:rPr lang="en-US" altLang="en-US" dirty="0" err="1"/>
              <a:t>id_ad</a:t>
            </a:r>
            <a:r>
              <a:rPr lang="en-US" altLang="en-US" dirty="0"/>
              <a:t>] = 1" </a:t>
            </a:r>
            <a:r>
              <a:rPr lang="en-US" altLang="en-US" dirty="0" err="1"/>
              <a:t>queryout</a:t>
            </a:r>
            <a:r>
              <a:rPr lang="en-US" altLang="en-US" dirty="0"/>
              <a:t> "D:\Downloads\alonso.jpg" -T -n'</a:t>
            </a:r>
          </a:p>
          <a:p>
            <a:r>
              <a:rPr lang="en-US" altLang="en-US" dirty="0"/>
              <a:t>;</a:t>
            </a:r>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322</a:t>
            </a:fld>
            <a:endParaRPr lang="en-US"/>
          </a:p>
        </p:txBody>
      </p:sp>
    </p:spTree>
    <p:extLst>
      <p:ext uri="{BB962C8B-B14F-4D97-AF65-F5344CB8AC3E}">
        <p14:creationId xmlns:p14="http://schemas.microsoft.com/office/powerpoint/2010/main" val="2347487743"/>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a:t>
            </a:r>
          </a:p>
        </p:txBody>
      </p:sp>
      <p:sp>
        <p:nvSpPr>
          <p:cNvPr id="3" name="Content Placeholder 2"/>
          <p:cNvSpPr>
            <a:spLocks noGrp="1"/>
          </p:cNvSpPr>
          <p:nvPr>
            <p:ph idx="1"/>
          </p:nvPr>
        </p:nvSpPr>
        <p:spPr/>
        <p:txBody>
          <a:bodyPr/>
          <a:lstStyle/>
          <a:p>
            <a:r>
              <a:rPr lang="en-US" dirty="0"/>
              <a:t>build a “</a:t>
            </a:r>
            <a:r>
              <a:rPr lang="en-US" dirty="0" err="1"/>
              <a:t>manele</a:t>
            </a:r>
            <a:r>
              <a:rPr lang="en-US" dirty="0"/>
              <a:t>” database with pictures </a:t>
            </a:r>
            <a:r>
              <a:rPr lang="en-US"/>
              <a:t>and sound</a:t>
            </a:r>
          </a:p>
          <a:p>
            <a:endParaRPr lang="en-US" dirty="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6350268-9CA4-4D89-B8EF-522C69547310}" type="slidenum">
              <a:rPr lang="en-US" smtClean="0"/>
              <a:pPr>
                <a:defRPr/>
              </a:pPr>
              <a:t>323</a:t>
            </a:fld>
            <a:endParaRPr lang="en-US"/>
          </a:p>
        </p:txBody>
      </p:sp>
    </p:spTree>
    <p:extLst>
      <p:ext uri="{BB962C8B-B14F-4D97-AF65-F5344CB8AC3E}">
        <p14:creationId xmlns:p14="http://schemas.microsoft.com/office/powerpoint/2010/main" val="2815503761"/>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4800" b="1" dirty="0" err="1"/>
              <a:t>manele</a:t>
            </a:r>
            <a:endParaRPr lang="en-US" sz="4800" b="1" dirty="0"/>
          </a:p>
        </p:txBody>
      </p:sp>
      <p:sp>
        <p:nvSpPr>
          <p:cNvPr id="3" name="Subtitle 2"/>
          <p:cNvSpPr>
            <a:spLocks noGrp="1"/>
          </p:cNvSpPr>
          <p:nvPr>
            <p:ph type="subTitle" idx="1"/>
          </p:nvPr>
        </p:nvSpPr>
        <p:spPr/>
        <p:txBody>
          <a:bodyPr/>
          <a:lstStyle/>
          <a:p>
            <a:pPr eaLnBrk="1" hangingPunct="1">
              <a:defRPr/>
            </a:pPr>
            <a:endParaRPr lang="en-US" dirty="0"/>
          </a:p>
        </p:txBody>
      </p:sp>
      <p:sp>
        <p:nvSpPr>
          <p:cNvPr id="2" name="Footer Placeholder 1">
            <a:extLst>
              <a:ext uri="{FF2B5EF4-FFF2-40B4-BE49-F238E27FC236}">
                <a16:creationId xmlns:a16="http://schemas.microsoft.com/office/drawing/2014/main" id="{9F5342C1-DA2E-46E2-90B4-CDD6E671B4E6}"/>
              </a:ext>
            </a:extLst>
          </p:cNvPr>
          <p:cNvSpPr>
            <a:spLocks noGrp="1"/>
          </p:cNvSpPr>
          <p:nvPr>
            <p:ph type="ftr" sz="quarter" idx="11"/>
          </p:nvPr>
        </p:nvSpPr>
        <p:spPr/>
        <p:txBody>
          <a:bodyPr/>
          <a:lstStyle/>
          <a:p>
            <a:pPr>
              <a:defRPr/>
            </a:pPr>
            <a:r>
              <a:rPr lang="en-US"/>
              <a:t>DataBase Design Course Notes 03 - Normalization</a:t>
            </a:r>
          </a:p>
        </p:txBody>
      </p:sp>
      <p:sp>
        <p:nvSpPr>
          <p:cNvPr id="4" name="Slide Number Placeholder 3">
            <a:extLst>
              <a:ext uri="{FF2B5EF4-FFF2-40B4-BE49-F238E27FC236}">
                <a16:creationId xmlns:a16="http://schemas.microsoft.com/office/drawing/2014/main" id="{6D2611EE-9FED-47B7-9F2D-5622836522D0}"/>
              </a:ext>
            </a:extLst>
          </p:cNvPr>
          <p:cNvSpPr>
            <a:spLocks noGrp="1"/>
          </p:cNvSpPr>
          <p:nvPr>
            <p:ph type="sldNum" sz="quarter" idx="12"/>
          </p:nvPr>
        </p:nvSpPr>
        <p:spPr/>
        <p:txBody>
          <a:bodyPr/>
          <a:lstStyle/>
          <a:p>
            <a:pPr>
              <a:defRPr/>
            </a:pPr>
            <a:fld id="{30AB5E0A-44F7-4403-A0CC-481FEEEECB85}" type="slidenum">
              <a:rPr lang="en-US" smtClean="0"/>
              <a:pPr>
                <a:defRPr/>
              </a:pPr>
              <a:t>324</a:t>
            </a:fld>
            <a:endParaRPr lang="en-US"/>
          </a:p>
        </p:txBody>
      </p:sp>
    </p:spTree>
    <p:extLst>
      <p:ext uri="{BB962C8B-B14F-4D97-AF65-F5344CB8AC3E}">
        <p14:creationId xmlns:p14="http://schemas.microsoft.com/office/powerpoint/2010/main" val="1948969639"/>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MS SQL Server - configure</a:t>
            </a:r>
          </a:p>
        </p:txBody>
      </p:sp>
      <p:sp>
        <p:nvSpPr>
          <p:cNvPr id="18435" name="Content Placeholder 2"/>
          <p:cNvSpPr>
            <a:spLocks noGrp="1"/>
          </p:cNvSpPr>
          <p:nvPr>
            <p:ph idx="1"/>
          </p:nvPr>
        </p:nvSpPr>
        <p:spPr/>
        <p:txBody>
          <a:bodyPr/>
          <a:lstStyle/>
          <a:p>
            <a:r>
              <a:rPr lang="en-US" sz="2400" dirty="0"/>
              <a:t>USE master</a:t>
            </a:r>
          </a:p>
          <a:p>
            <a:pPr lvl="2"/>
            <a:r>
              <a:rPr lang="en-US" sz="1600" dirty="0"/>
              <a:t>GO </a:t>
            </a:r>
          </a:p>
          <a:p>
            <a:r>
              <a:rPr lang="en-US" sz="2400" dirty="0"/>
              <a:t>EXEC </a:t>
            </a:r>
            <a:r>
              <a:rPr lang="en-US" sz="2400" dirty="0" err="1"/>
              <a:t>sp_configure</a:t>
            </a:r>
            <a:r>
              <a:rPr lang="en-US" sz="2400" dirty="0"/>
              <a:t> 'show advanced options', 1 </a:t>
            </a:r>
          </a:p>
          <a:p>
            <a:pPr lvl="2"/>
            <a:r>
              <a:rPr lang="en-US" sz="1600" dirty="0"/>
              <a:t>GO </a:t>
            </a:r>
          </a:p>
          <a:p>
            <a:r>
              <a:rPr lang="en-US" sz="2400" dirty="0"/>
              <a:t>RECONFIGURE WITH OVERRIDE </a:t>
            </a:r>
          </a:p>
          <a:p>
            <a:pPr lvl="2"/>
            <a:r>
              <a:rPr lang="en-US" sz="1600" dirty="0"/>
              <a:t>GO </a:t>
            </a:r>
          </a:p>
          <a:p>
            <a:r>
              <a:rPr lang="en-US" sz="2400" dirty="0"/>
              <a:t>EXEC </a:t>
            </a:r>
            <a:r>
              <a:rPr lang="en-US" sz="2400" dirty="0" err="1"/>
              <a:t>sp_configure</a:t>
            </a:r>
            <a:r>
              <a:rPr lang="en-US" sz="2400" dirty="0"/>
              <a:t> '</a:t>
            </a:r>
            <a:r>
              <a:rPr lang="en-US" sz="2400" dirty="0" err="1"/>
              <a:t>xp_cmdshell</a:t>
            </a:r>
            <a:r>
              <a:rPr lang="en-US" sz="2400" dirty="0"/>
              <a:t>', 1 </a:t>
            </a:r>
          </a:p>
          <a:p>
            <a:pPr lvl="2"/>
            <a:r>
              <a:rPr lang="en-US" sz="1600" dirty="0"/>
              <a:t>GO </a:t>
            </a:r>
          </a:p>
          <a:p>
            <a:r>
              <a:rPr lang="en-US" sz="2400" dirty="0"/>
              <a:t>RECONFIGURE WITH OVERRIDE </a:t>
            </a:r>
          </a:p>
          <a:p>
            <a:pPr lvl="2"/>
            <a:r>
              <a:rPr lang="en-US" sz="1600" dirty="0"/>
              <a:t>GO </a:t>
            </a:r>
          </a:p>
          <a:p>
            <a:r>
              <a:rPr lang="en-US" sz="2400" dirty="0"/>
              <a:t>EXEC </a:t>
            </a:r>
            <a:r>
              <a:rPr lang="en-US" sz="2400" dirty="0" err="1"/>
              <a:t>sp_configure</a:t>
            </a:r>
            <a:r>
              <a:rPr lang="en-US" sz="2400" dirty="0"/>
              <a:t> 'show advanced options', 0</a:t>
            </a:r>
          </a:p>
          <a:p>
            <a:pPr lvl="2"/>
            <a:r>
              <a:rPr lang="en-US" sz="1600" dirty="0"/>
              <a:t>GO</a:t>
            </a:r>
          </a:p>
        </p:txBody>
      </p:sp>
      <p:sp>
        <p:nvSpPr>
          <p:cNvPr id="2" name="Footer Placeholder 1">
            <a:extLst>
              <a:ext uri="{FF2B5EF4-FFF2-40B4-BE49-F238E27FC236}">
                <a16:creationId xmlns:a16="http://schemas.microsoft.com/office/drawing/2014/main" id="{2AE20BE9-349C-4758-A87F-9F49884D0B3F}"/>
              </a:ext>
            </a:extLst>
          </p:cNvPr>
          <p:cNvSpPr>
            <a:spLocks noGrp="1"/>
          </p:cNvSpPr>
          <p:nvPr>
            <p:ph type="ftr" sz="quarter" idx="11"/>
          </p:nvPr>
        </p:nvSpPr>
        <p:spPr/>
        <p:txBody>
          <a:bodyPr/>
          <a:lstStyle/>
          <a:p>
            <a:pPr>
              <a:defRPr/>
            </a:pPr>
            <a:r>
              <a:rPr lang="en-US"/>
              <a:t>DataBase Design Course Notes 03 - Normalization</a:t>
            </a:r>
          </a:p>
        </p:txBody>
      </p:sp>
      <p:sp>
        <p:nvSpPr>
          <p:cNvPr id="3" name="Slide Number Placeholder 2">
            <a:extLst>
              <a:ext uri="{FF2B5EF4-FFF2-40B4-BE49-F238E27FC236}">
                <a16:creationId xmlns:a16="http://schemas.microsoft.com/office/drawing/2014/main" id="{81E0D3E6-1239-445B-9838-5D72F2573D39}"/>
              </a:ext>
            </a:extLst>
          </p:cNvPr>
          <p:cNvSpPr>
            <a:spLocks noGrp="1"/>
          </p:cNvSpPr>
          <p:nvPr>
            <p:ph type="sldNum" sz="quarter" idx="12"/>
          </p:nvPr>
        </p:nvSpPr>
        <p:spPr/>
        <p:txBody>
          <a:bodyPr/>
          <a:lstStyle/>
          <a:p>
            <a:pPr>
              <a:defRPr/>
            </a:pPr>
            <a:fld id="{66350268-9CA4-4D89-B8EF-522C69547310}" type="slidenum">
              <a:rPr lang="en-US" smtClean="0"/>
              <a:pPr>
                <a:defRPr/>
              </a:pPr>
              <a:t>325</a:t>
            </a:fld>
            <a:endParaRPr lang="en-US"/>
          </a:p>
        </p:txBody>
      </p:sp>
    </p:spTree>
    <p:extLst>
      <p:ext uri="{BB962C8B-B14F-4D97-AF65-F5344CB8AC3E}">
        <p14:creationId xmlns:p14="http://schemas.microsoft.com/office/powerpoint/2010/main" val="1632841541"/>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MS SQL Server – Data Type</a:t>
            </a:r>
          </a:p>
        </p:txBody>
      </p:sp>
      <p:sp>
        <p:nvSpPr>
          <p:cNvPr id="18435" name="Content Placeholder 2"/>
          <p:cNvSpPr>
            <a:spLocks noGrp="1"/>
          </p:cNvSpPr>
          <p:nvPr>
            <p:ph idx="1"/>
          </p:nvPr>
        </p:nvSpPr>
        <p:spPr/>
        <p:txBody>
          <a:bodyPr/>
          <a:lstStyle/>
          <a:p>
            <a:r>
              <a:rPr lang="en-US" dirty="0"/>
              <a:t>for binary - VARBINARY(max)</a:t>
            </a:r>
          </a:p>
        </p:txBody>
      </p:sp>
      <p:sp>
        <p:nvSpPr>
          <p:cNvPr id="2" name="Footer Placeholder 1">
            <a:extLst>
              <a:ext uri="{FF2B5EF4-FFF2-40B4-BE49-F238E27FC236}">
                <a16:creationId xmlns:a16="http://schemas.microsoft.com/office/drawing/2014/main" id="{AC64FE83-B991-4007-A7CC-AF5965D511D6}"/>
              </a:ext>
            </a:extLst>
          </p:cNvPr>
          <p:cNvSpPr>
            <a:spLocks noGrp="1"/>
          </p:cNvSpPr>
          <p:nvPr>
            <p:ph type="ftr" sz="quarter" idx="11"/>
          </p:nvPr>
        </p:nvSpPr>
        <p:spPr/>
        <p:txBody>
          <a:bodyPr/>
          <a:lstStyle/>
          <a:p>
            <a:pPr>
              <a:defRPr/>
            </a:pPr>
            <a:r>
              <a:rPr lang="en-US"/>
              <a:t>DataBase Design Course Notes 03 - Normalization</a:t>
            </a:r>
          </a:p>
        </p:txBody>
      </p:sp>
      <p:sp>
        <p:nvSpPr>
          <p:cNvPr id="3" name="Slide Number Placeholder 2">
            <a:extLst>
              <a:ext uri="{FF2B5EF4-FFF2-40B4-BE49-F238E27FC236}">
                <a16:creationId xmlns:a16="http://schemas.microsoft.com/office/drawing/2014/main" id="{9DC6DE5E-FB14-4ABA-8F97-70AC389E0381}"/>
              </a:ext>
            </a:extLst>
          </p:cNvPr>
          <p:cNvSpPr>
            <a:spLocks noGrp="1"/>
          </p:cNvSpPr>
          <p:nvPr>
            <p:ph type="sldNum" sz="quarter" idx="12"/>
          </p:nvPr>
        </p:nvSpPr>
        <p:spPr/>
        <p:txBody>
          <a:bodyPr/>
          <a:lstStyle/>
          <a:p>
            <a:pPr>
              <a:defRPr/>
            </a:pPr>
            <a:fld id="{66350268-9CA4-4D89-B8EF-522C69547310}" type="slidenum">
              <a:rPr lang="en-US" smtClean="0"/>
              <a:pPr>
                <a:defRPr/>
              </a:pPr>
              <a:t>326</a:t>
            </a:fld>
            <a:endParaRPr lang="en-US"/>
          </a:p>
        </p:txBody>
      </p:sp>
    </p:spTree>
    <p:extLst>
      <p:ext uri="{BB962C8B-B14F-4D97-AF65-F5344CB8AC3E}">
        <p14:creationId xmlns:p14="http://schemas.microsoft.com/office/powerpoint/2010/main" val="2394099396"/>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MS SQL Server - SET</a:t>
            </a:r>
          </a:p>
        </p:txBody>
      </p:sp>
      <p:sp>
        <p:nvSpPr>
          <p:cNvPr id="3075" name="Content Placeholder 2"/>
          <p:cNvSpPr>
            <a:spLocks noGrp="1"/>
          </p:cNvSpPr>
          <p:nvPr>
            <p:ph idx="1"/>
          </p:nvPr>
        </p:nvSpPr>
        <p:spPr/>
        <p:txBody>
          <a:bodyPr/>
          <a:lstStyle/>
          <a:p>
            <a:r>
              <a:rPr lang="en-US" sz="2400" dirty="0"/>
              <a:t>UPDATE </a:t>
            </a:r>
            <a:r>
              <a:rPr lang="en-US" sz="2400" dirty="0" err="1"/>
              <a:t>manea</a:t>
            </a:r>
            <a:r>
              <a:rPr lang="en-US" sz="2400" dirty="0"/>
              <a:t> SET </a:t>
            </a:r>
            <a:r>
              <a:rPr lang="en-US" sz="2400" dirty="0" err="1"/>
              <a:t>manea</a:t>
            </a:r>
            <a:r>
              <a:rPr lang="en-US" sz="2400" dirty="0"/>
              <a:t> = </a:t>
            </a:r>
          </a:p>
          <a:p>
            <a:r>
              <a:rPr lang="en-US" sz="2400" dirty="0"/>
              <a:t>(SELECT </a:t>
            </a:r>
            <a:r>
              <a:rPr lang="en-US" sz="2400" dirty="0" err="1"/>
              <a:t>BulkColumn</a:t>
            </a:r>
            <a:r>
              <a:rPr lang="en-US" sz="2400" dirty="0"/>
              <a:t> FROM OPENROWSET (Bulk 'D:\Downloads\Carmen </a:t>
            </a:r>
            <a:r>
              <a:rPr lang="en-US" sz="2400" dirty="0" err="1"/>
              <a:t>Serban</a:t>
            </a:r>
            <a:r>
              <a:rPr lang="en-US" sz="2400" dirty="0"/>
              <a:t> - </a:t>
            </a:r>
            <a:r>
              <a:rPr lang="en-US" sz="2400" dirty="0" err="1"/>
              <a:t>Picioarele</a:t>
            </a:r>
            <a:r>
              <a:rPr lang="en-US" sz="2400" dirty="0"/>
              <a:t> epilate </a:t>
            </a:r>
            <a:r>
              <a:rPr lang="en-US" sz="2400" dirty="0" err="1"/>
              <a:t>sunt</a:t>
            </a:r>
            <a:r>
              <a:rPr lang="en-US" sz="2400" dirty="0"/>
              <a:t> ca </a:t>
            </a:r>
            <a:r>
              <a:rPr lang="en-US" sz="2400" dirty="0" err="1"/>
              <a:t>sarea</a:t>
            </a:r>
            <a:r>
              <a:rPr lang="en-US" sz="2400" dirty="0"/>
              <a:t> in bucate.mp3', SINGLE_BLOB) AS BLOB)</a:t>
            </a:r>
          </a:p>
          <a:p>
            <a:r>
              <a:rPr lang="en-US" sz="2400" dirty="0"/>
              <a:t>WHERE </a:t>
            </a:r>
            <a:r>
              <a:rPr lang="en-US" sz="2400" dirty="0" err="1"/>
              <a:t>id_manea</a:t>
            </a:r>
            <a:r>
              <a:rPr lang="en-US" sz="2400" dirty="0"/>
              <a:t> = 1; </a:t>
            </a:r>
          </a:p>
          <a:p>
            <a:r>
              <a:rPr lang="en-US" sz="2400" dirty="0"/>
              <a:t>UPDATE </a:t>
            </a:r>
            <a:r>
              <a:rPr lang="en-US" sz="2400" dirty="0" err="1"/>
              <a:t>manea</a:t>
            </a:r>
            <a:r>
              <a:rPr lang="en-US" sz="2400" dirty="0"/>
              <a:t> SET </a:t>
            </a:r>
            <a:r>
              <a:rPr lang="en-US" sz="2400" dirty="0" err="1"/>
              <a:t>manea</a:t>
            </a:r>
            <a:r>
              <a:rPr lang="en-US" sz="2400" dirty="0"/>
              <a:t> = </a:t>
            </a:r>
          </a:p>
          <a:p>
            <a:r>
              <a:rPr lang="en-US" sz="2400" dirty="0"/>
              <a:t>(SELECT </a:t>
            </a:r>
            <a:r>
              <a:rPr lang="en-US" sz="2400" dirty="0" err="1"/>
              <a:t>BulkColumn</a:t>
            </a:r>
            <a:r>
              <a:rPr lang="en-US" sz="2400" dirty="0"/>
              <a:t> FROM OPENROWSET (Bulk 'D:\Downloads\Carmen </a:t>
            </a:r>
            <a:r>
              <a:rPr lang="en-US" sz="2400" dirty="0" err="1"/>
              <a:t>Serban-Viata</a:t>
            </a:r>
            <a:r>
              <a:rPr lang="en-US" sz="2400" dirty="0"/>
              <a:t> bate filmul.mp3', SINGLE_BLOB) AS BLOB)</a:t>
            </a:r>
          </a:p>
          <a:p>
            <a:r>
              <a:rPr lang="en-US" sz="2400" dirty="0"/>
              <a:t>WHERE </a:t>
            </a:r>
            <a:r>
              <a:rPr lang="en-US" sz="2400" dirty="0" err="1"/>
              <a:t>id_manea</a:t>
            </a:r>
            <a:r>
              <a:rPr lang="en-US" sz="2400" dirty="0"/>
              <a:t> = 2; </a:t>
            </a:r>
          </a:p>
        </p:txBody>
      </p:sp>
      <p:sp>
        <p:nvSpPr>
          <p:cNvPr id="2" name="Footer Placeholder 1">
            <a:extLst>
              <a:ext uri="{FF2B5EF4-FFF2-40B4-BE49-F238E27FC236}">
                <a16:creationId xmlns:a16="http://schemas.microsoft.com/office/drawing/2014/main" id="{AEF3CCB0-376E-4C7C-9A08-334D1CBDB1C2}"/>
              </a:ext>
            </a:extLst>
          </p:cNvPr>
          <p:cNvSpPr>
            <a:spLocks noGrp="1"/>
          </p:cNvSpPr>
          <p:nvPr>
            <p:ph type="ftr" sz="quarter" idx="11"/>
          </p:nvPr>
        </p:nvSpPr>
        <p:spPr/>
        <p:txBody>
          <a:bodyPr/>
          <a:lstStyle/>
          <a:p>
            <a:pPr>
              <a:defRPr/>
            </a:pPr>
            <a:r>
              <a:rPr lang="en-US"/>
              <a:t>DataBase Design Course Notes 03 - Normalization</a:t>
            </a:r>
          </a:p>
        </p:txBody>
      </p:sp>
      <p:sp>
        <p:nvSpPr>
          <p:cNvPr id="3" name="Slide Number Placeholder 2">
            <a:extLst>
              <a:ext uri="{FF2B5EF4-FFF2-40B4-BE49-F238E27FC236}">
                <a16:creationId xmlns:a16="http://schemas.microsoft.com/office/drawing/2014/main" id="{8E5D2D55-DE36-45C2-8F3A-2A9BF3222FA7}"/>
              </a:ext>
            </a:extLst>
          </p:cNvPr>
          <p:cNvSpPr>
            <a:spLocks noGrp="1"/>
          </p:cNvSpPr>
          <p:nvPr>
            <p:ph type="sldNum" sz="quarter" idx="12"/>
          </p:nvPr>
        </p:nvSpPr>
        <p:spPr/>
        <p:txBody>
          <a:bodyPr/>
          <a:lstStyle/>
          <a:p>
            <a:pPr>
              <a:defRPr/>
            </a:pPr>
            <a:fld id="{66350268-9CA4-4D89-B8EF-522C69547310}" type="slidenum">
              <a:rPr lang="en-US" smtClean="0"/>
              <a:pPr>
                <a:defRPr/>
              </a:pPr>
              <a:t>327</a:t>
            </a:fld>
            <a:endParaRPr lang="en-US"/>
          </a:p>
        </p:txBody>
      </p:sp>
    </p:spTree>
    <p:extLst>
      <p:ext uri="{BB962C8B-B14F-4D97-AF65-F5344CB8AC3E}">
        <p14:creationId xmlns:p14="http://schemas.microsoft.com/office/powerpoint/2010/main" val="2423385628"/>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t>MS SQL Server - GET </a:t>
            </a:r>
          </a:p>
        </p:txBody>
      </p:sp>
      <p:sp>
        <p:nvSpPr>
          <p:cNvPr id="4099" name="Content Placeholder 2"/>
          <p:cNvSpPr>
            <a:spLocks noGrp="1"/>
          </p:cNvSpPr>
          <p:nvPr>
            <p:ph idx="1"/>
          </p:nvPr>
        </p:nvSpPr>
        <p:spPr/>
        <p:txBody>
          <a:bodyPr/>
          <a:lstStyle/>
          <a:p>
            <a:r>
              <a:rPr lang="en-US" sz="2700" dirty="0"/>
              <a:t>EXEC </a:t>
            </a:r>
            <a:r>
              <a:rPr lang="en-US" sz="2700" dirty="0" err="1"/>
              <a:t>xp_cmdshell</a:t>
            </a:r>
            <a:r>
              <a:rPr lang="en-US" sz="2700" dirty="0"/>
              <a:t> </a:t>
            </a:r>
          </a:p>
          <a:p>
            <a:r>
              <a:rPr lang="en-US" sz="2700" dirty="0"/>
              <a:t>'BCP "SELECT [</a:t>
            </a:r>
            <a:r>
              <a:rPr lang="en-US" sz="2700" dirty="0" err="1"/>
              <a:t>manea</a:t>
            </a:r>
            <a:r>
              <a:rPr lang="en-US" sz="2700" dirty="0"/>
              <a:t>] FROM [</a:t>
            </a:r>
            <a:r>
              <a:rPr lang="en-US" sz="2700" dirty="0" err="1"/>
              <a:t>manele</a:t>
            </a:r>
            <a:r>
              <a:rPr lang="en-US" sz="2700" dirty="0"/>
              <a:t>].[</a:t>
            </a:r>
            <a:r>
              <a:rPr lang="en-US" sz="2700" dirty="0" err="1"/>
              <a:t>dbo</a:t>
            </a:r>
            <a:r>
              <a:rPr lang="en-US" sz="2700" dirty="0"/>
              <a:t>].[</a:t>
            </a:r>
            <a:r>
              <a:rPr lang="en-US" sz="2700" dirty="0" err="1"/>
              <a:t>manea</a:t>
            </a:r>
            <a:r>
              <a:rPr lang="en-US" sz="2700" dirty="0"/>
              <a:t>] WHERE [</a:t>
            </a:r>
            <a:r>
              <a:rPr lang="en-US" sz="2700" dirty="0" err="1"/>
              <a:t>id_manea</a:t>
            </a:r>
            <a:r>
              <a:rPr lang="en-US" sz="2700" dirty="0"/>
              <a:t>] = 1" </a:t>
            </a:r>
            <a:r>
              <a:rPr lang="en-US" sz="2700" dirty="0" err="1"/>
              <a:t>queryout</a:t>
            </a:r>
            <a:r>
              <a:rPr lang="en-US" sz="2700" dirty="0"/>
              <a:t> "D:\Downloads\FileOut1.mp3" -T -n'</a:t>
            </a:r>
          </a:p>
          <a:p>
            <a:r>
              <a:rPr lang="en-US" sz="2700" dirty="0"/>
              <a:t>EXEC </a:t>
            </a:r>
            <a:r>
              <a:rPr lang="en-US" sz="2700" dirty="0" err="1"/>
              <a:t>xp_cmdshell</a:t>
            </a:r>
            <a:r>
              <a:rPr lang="en-US" sz="2700" dirty="0"/>
              <a:t> </a:t>
            </a:r>
          </a:p>
          <a:p>
            <a:r>
              <a:rPr lang="en-US" sz="2700" dirty="0"/>
              <a:t>'BCP "SELECT [</a:t>
            </a:r>
            <a:r>
              <a:rPr lang="en-US" sz="2700" dirty="0" err="1"/>
              <a:t>manea</a:t>
            </a:r>
            <a:r>
              <a:rPr lang="en-US" sz="2700" dirty="0"/>
              <a:t>] FROM [</a:t>
            </a:r>
            <a:r>
              <a:rPr lang="en-US" sz="2700" dirty="0" err="1"/>
              <a:t>manele</a:t>
            </a:r>
            <a:r>
              <a:rPr lang="en-US" sz="2700" dirty="0"/>
              <a:t>].[</a:t>
            </a:r>
            <a:r>
              <a:rPr lang="en-US" sz="2700" dirty="0" err="1"/>
              <a:t>dbo</a:t>
            </a:r>
            <a:r>
              <a:rPr lang="en-US" sz="2700" dirty="0"/>
              <a:t>].[</a:t>
            </a:r>
            <a:r>
              <a:rPr lang="en-US" sz="2700" dirty="0" err="1"/>
              <a:t>manea</a:t>
            </a:r>
            <a:r>
              <a:rPr lang="en-US" sz="2700" dirty="0"/>
              <a:t>] WHERE [</a:t>
            </a:r>
            <a:r>
              <a:rPr lang="en-US" sz="2700" dirty="0" err="1"/>
              <a:t>id_manea</a:t>
            </a:r>
            <a:r>
              <a:rPr lang="en-US" sz="2700" dirty="0"/>
              <a:t>] = 2" </a:t>
            </a:r>
            <a:r>
              <a:rPr lang="en-US" sz="2700" dirty="0" err="1"/>
              <a:t>queryout</a:t>
            </a:r>
            <a:r>
              <a:rPr lang="en-US" sz="2700" dirty="0"/>
              <a:t> "D:\Downloads\FileOut2.mp3" -T -n'</a:t>
            </a:r>
          </a:p>
        </p:txBody>
      </p:sp>
      <p:sp>
        <p:nvSpPr>
          <p:cNvPr id="2" name="Footer Placeholder 1">
            <a:extLst>
              <a:ext uri="{FF2B5EF4-FFF2-40B4-BE49-F238E27FC236}">
                <a16:creationId xmlns:a16="http://schemas.microsoft.com/office/drawing/2014/main" id="{F13D6687-1BEF-43C1-AA67-8C0DDD309DD8}"/>
              </a:ext>
            </a:extLst>
          </p:cNvPr>
          <p:cNvSpPr>
            <a:spLocks noGrp="1"/>
          </p:cNvSpPr>
          <p:nvPr>
            <p:ph type="ftr" sz="quarter" idx="11"/>
          </p:nvPr>
        </p:nvSpPr>
        <p:spPr/>
        <p:txBody>
          <a:bodyPr/>
          <a:lstStyle/>
          <a:p>
            <a:pPr>
              <a:defRPr/>
            </a:pPr>
            <a:r>
              <a:rPr lang="en-US"/>
              <a:t>DataBase Design Course Notes 03 - Normalization</a:t>
            </a:r>
          </a:p>
        </p:txBody>
      </p:sp>
      <p:sp>
        <p:nvSpPr>
          <p:cNvPr id="3" name="Slide Number Placeholder 2">
            <a:extLst>
              <a:ext uri="{FF2B5EF4-FFF2-40B4-BE49-F238E27FC236}">
                <a16:creationId xmlns:a16="http://schemas.microsoft.com/office/drawing/2014/main" id="{C2AEBADE-7380-46A7-ACF9-706BE2317219}"/>
              </a:ext>
            </a:extLst>
          </p:cNvPr>
          <p:cNvSpPr>
            <a:spLocks noGrp="1"/>
          </p:cNvSpPr>
          <p:nvPr>
            <p:ph type="sldNum" sz="quarter" idx="12"/>
          </p:nvPr>
        </p:nvSpPr>
        <p:spPr/>
        <p:txBody>
          <a:bodyPr/>
          <a:lstStyle/>
          <a:p>
            <a:pPr>
              <a:defRPr/>
            </a:pPr>
            <a:fld id="{66350268-9CA4-4D89-B8EF-522C69547310}" type="slidenum">
              <a:rPr lang="en-US" smtClean="0"/>
              <a:pPr>
                <a:defRPr/>
              </a:pPr>
              <a:t>328</a:t>
            </a:fld>
            <a:endParaRPr lang="en-US"/>
          </a:p>
        </p:txBody>
      </p:sp>
    </p:spTree>
    <p:extLst>
      <p:ext uri="{BB962C8B-B14F-4D97-AF65-F5344CB8AC3E}">
        <p14:creationId xmlns:p14="http://schemas.microsoft.com/office/powerpoint/2010/main" val="475930060"/>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err="1"/>
              <a:t>MySQL</a:t>
            </a:r>
            <a:r>
              <a:rPr lang="en-US" dirty="0"/>
              <a:t> - configure</a:t>
            </a:r>
          </a:p>
        </p:txBody>
      </p:sp>
      <p:sp>
        <p:nvSpPr>
          <p:cNvPr id="18435" name="Content Placeholder 2"/>
          <p:cNvSpPr>
            <a:spLocks noGrp="1"/>
          </p:cNvSpPr>
          <p:nvPr>
            <p:ph idx="1"/>
          </p:nvPr>
        </p:nvSpPr>
        <p:spPr/>
        <p:txBody>
          <a:bodyPr/>
          <a:lstStyle/>
          <a:p>
            <a:r>
              <a:rPr lang="en-US" dirty="0" err="1"/>
              <a:t>max_allowed_packet</a:t>
            </a:r>
            <a:r>
              <a:rPr lang="en-US" dirty="0"/>
              <a:t>=100M </a:t>
            </a:r>
          </a:p>
          <a:p>
            <a:r>
              <a:rPr lang="en-US" dirty="0"/>
              <a:t>in my.ini</a:t>
            </a:r>
          </a:p>
        </p:txBody>
      </p:sp>
      <p:sp>
        <p:nvSpPr>
          <p:cNvPr id="2" name="Footer Placeholder 1">
            <a:extLst>
              <a:ext uri="{FF2B5EF4-FFF2-40B4-BE49-F238E27FC236}">
                <a16:creationId xmlns:a16="http://schemas.microsoft.com/office/drawing/2014/main" id="{6BA0F280-DB20-496A-86B5-D8D9DE2314F4}"/>
              </a:ext>
            </a:extLst>
          </p:cNvPr>
          <p:cNvSpPr>
            <a:spLocks noGrp="1"/>
          </p:cNvSpPr>
          <p:nvPr>
            <p:ph type="ftr" sz="quarter" idx="11"/>
          </p:nvPr>
        </p:nvSpPr>
        <p:spPr/>
        <p:txBody>
          <a:bodyPr/>
          <a:lstStyle/>
          <a:p>
            <a:pPr>
              <a:defRPr/>
            </a:pPr>
            <a:r>
              <a:rPr lang="en-US"/>
              <a:t>DataBase Design Course Notes 03 - Normalization</a:t>
            </a:r>
          </a:p>
        </p:txBody>
      </p:sp>
      <p:sp>
        <p:nvSpPr>
          <p:cNvPr id="3" name="Slide Number Placeholder 2">
            <a:extLst>
              <a:ext uri="{FF2B5EF4-FFF2-40B4-BE49-F238E27FC236}">
                <a16:creationId xmlns:a16="http://schemas.microsoft.com/office/drawing/2014/main" id="{E54D4676-5D44-4F07-BF37-258D3EFC794A}"/>
              </a:ext>
            </a:extLst>
          </p:cNvPr>
          <p:cNvSpPr>
            <a:spLocks noGrp="1"/>
          </p:cNvSpPr>
          <p:nvPr>
            <p:ph type="sldNum" sz="quarter" idx="12"/>
          </p:nvPr>
        </p:nvSpPr>
        <p:spPr/>
        <p:txBody>
          <a:bodyPr/>
          <a:lstStyle/>
          <a:p>
            <a:pPr>
              <a:defRPr/>
            </a:pPr>
            <a:fld id="{66350268-9CA4-4D89-B8EF-522C69547310}" type="slidenum">
              <a:rPr lang="en-US" smtClean="0"/>
              <a:pPr>
                <a:defRPr/>
              </a:pPr>
              <a:t>329</a:t>
            </a:fld>
            <a:endParaRPr lang="en-US"/>
          </a:p>
        </p:txBody>
      </p:sp>
    </p:spTree>
    <p:extLst>
      <p:ext uri="{BB962C8B-B14F-4D97-AF65-F5344CB8AC3E}">
        <p14:creationId xmlns:p14="http://schemas.microsoft.com/office/powerpoint/2010/main" val="4015823374"/>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err="1"/>
              <a:t>MySQL</a:t>
            </a:r>
            <a:r>
              <a:rPr lang="en-US" dirty="0"/>
              <a:t> Server – Data Type</a:t>
            </a:r>
          </a:p>
        </p:txBody>
      </p:sp>
      <p:sp>
        <p:nvSpPr>
          <p:cNvPr id="18435" name="Content Placeholder 2"/>
          <p:cNvSpPr>
            <a:spLocks noGrp="1"/>
          </p:cNvSpPr>
          <p:nvPr>
            <p:ph idx="1"/>
          </p:nvPr>
        </p:nvSpPr>
        <p:spPr/>
        <p:txBody>
          <a:bodyPr/>
          <a:lstStyle/>
          <a:p>
            <a:r>
              <a:rPr lang="en-US" dirty="0" err="1"/>
              <a:t>LargeBLOB</a:t>
            </a:r>
            <a:r>
              <a:rPr lang="en-US" dirty="0"/>
              <a:t> (Binary Large </a:t>
            </a:r>
            <a:r>
              <a:rPr lang="en-US" dirty="0" err="1"/>
              <a:t>OBject</a:t>
            </a:r>
            <a:r>
              <a:rPr lang="en-US" dirty="0"/>
              <a:t>)</a:t>
            </a:r>
          </a:p>
        </p:txBody>
      </p:sp>
      <p:sp>
        <p:nvSpPr>
          <p:cNvPr id="2" name="Footer Placeholder 1">
            <a:extLst>
              <a:ext uri="{FF2B5EF4-FFF2-40B4-BE49-F238E27FC236}">
                <a16:creationId xmlns:a16="http://schemas.microsoft.com/office/drawing/2014/main" id="{5673A3A6-F722-4570-B94B-B678D35127A2}"/>
              </a:ext>
            </a:extLst>
          </p:cNvPr>
          <p:cNvSpPr>
            <a:spLocks noGrp="1"/>
          </p:cNvSpPr>
          <p:nvPr>
            <p:ph type="ftr" sz="quarter" idx="11"/>
          </p:nvPr>
        </p:nvSpPr>
        <p:spPr/>
        <p:txBody>
          <a:bodyPr/>
          <a:lstStyle/>
          <a:p>
            <a:pPr>
              <a:defRPr/>
            </a:pPr>
            <a:r>
              <a:rPr lang="en-US"/>
              <a:t>DataBase Design Course Notes 03 - Normalization</a:t>
            </a:r>
          </a:p>
        </p:txBody>
      </p:sp>
      <p:sp>
        <p:nvSpPr>
          <p:cNvPr id="3" name="Slide Number Placeholder 2">
            <a:extLst>
              <a:ext uri="{FF2B5EF4-FFF2-40B4-BE49-F238E27FC236}">
                <a16:creationId xmlns:a16="http://schemas.microsoft.com/office/drawing/2014/main" id="{236C2B3D-2D5A-47EB-B956-09C5E4C10F4D}"/>
              </a:ext>
            </a:extLst>
          </p:cNvPr>
          <p:cNvSpPr>
            <a:spLocks noGrp="1"/>
          </p:cNvSpPr>
          <p:nvPr>
            <p:ph type="sldNum" sz="quarter" idx="12"/>
          </p:nvPr>
        </p:nvSpPr>
        <p:spPr/>
        <p:txBody>
          <a:bodyPr/>
          <a:lstStyle/>
          <a:p>
            <a:pPr>
              <a:defRPr/>
            </a:pPr>
            <a:fld id="{66350268-9CA4-4D89-B8EF-522C69547310}" type="slidenum">
              <a:rPr lang="en-US" smtClean="0"/>
              <a:pPr>
                <a:defRPr/>
              </a:pPr>
              <a:t>330</a:t>
            </a:fld>
            <a:endParaRPr lang="en-US"/>
          </a:p>
        </p:txBody>
      </p:sp>
    </p:spTree>
    <p:extLst>
      <p:ext uri="{BB962C8B-B14F-4D97-AF65-F5344CB8AC3E}">
        <p14:creationId xmlns:p14="http://schemas.microsoft.com/office/powerpoint/2010/main" val="2299449264"/>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t>MySQL - SET</a:t>
            </a:r>
          </a:p>
        </p:txBody>
      </p:sp>
      <p:sp>
        <p:nvSpPr>
          <p:cNvPr id="5123" name="Content Placeholder 2"/>
          <p:cNvSpPr>
            <a:spLocks noGrp="1"/>
          </p:cNvSpPr>
          <p:nvPr>
            <p:ph idx="1"/>
          </p:nvPr>
        </p:nvSpPr>
        <p:spPr/>
        <p:txBody>
          <a:bodyPr/>
          <a:lstStyle/>
          <a:p>
            <a:r>
              <a:rPr lang="en-US" sz="2800" dirty="0"/>
              <a:t>UPDATE </a:t>
            </a:r>
            <a:r>
              <a:rPr lang="en-US" sz="2800" dirty="0" err="1"/>
              <a:t>manea</a:t>
            </a:r>
            <a:r>
              <a:rPr lang="en-US" sz="2800" dirty="0"/>
              <a:t> SET </a:t>
            </a:r>
            <a:r>
              <a:rPr lang="en-US" sz="2800" dirty="0" err="1"/>
              <a:t>manea</a:t>
            </a:r>
            <a:r>
              <a:rPr lang="en-US" sz="2800" dirty="0"/>
              <a:t> = </a:t>
            </a:r>
          </a:p>
          <a:p>
            <a:r>
              <a:rPr lang="en-US" sz="2800" dirty="0"/>
              <a:t>LOAD_FILE(‘D:/Downloads/Carmen </a:t>
            </a:r>
            <a:r>
              <a:rPr lang="en-US" sz="2800" dirty="0" err="1"/>
              <a:t>Serban</a:t>
            </a:r>
            <a:r>
              <a:rPr lang="en-US" sz="2800" dirty="0"/>
              <a:t> - </a:t>
            </a:r>
            <a:r>
              <a:rPr lang="en-US" sz="2800" dirty="0" err="1"/>
              <a:t>Picioarele</a:t>
            </a:r>
            <a:r>
              <a:rPr lang="en-US" sz="2800" dirty="0"/>
              <a:t> epilate </a:t>
            </a:r>
            <a:r>
              <a:rPr lang="en-US" sz="2800" dirty="0" err="1"/>
              <a:t>sunt</a:t>
            </a:r>
            <a:r>
              <a:rPr lang="en-US" sz="2800" dirty="0"/>
              <a:t> ca </a:t>
            </a:r>
            <a:r>
              <a:rPr lang="en-US" sz="2800" dirty="0" err="1"/>
              <a:t>sarea</a:t>
            </a:r>
            <a:r>
              <a:rPr lang="en-US" sz="2800" dirty="0"/>
              <a:t> in bucate.mp3')</a:t>
            </a:r>
          </a:p>
          <a:p>
            <a:r>
              <a:rPr lang="en-US" sz="2800" dirty="0"/>
              <a:t>WHERE </a:t>
            </a:r>
            <a:r>
              <a:rPr lang="en-US" sz="2800" dirty="0" err="1"/>
              <a:t>idmanea</a:t>
            </a:r>
            <a:r>
              <a:rPr lang="en-US" sz="2800" dirty="0"/>
              <a:t> = 1; </a:t>
            </a:r>
          </a:p>
          <a:p>
            <a:r>
              <a:rPr lang="en-US" sz="2800" dirty="0"/>
              <a:t>UPDATE </a:t>
            </a:r>
            <a:r>
              <a:rPr lang="en-US" sz="2800" dirty="0" err="1"/>
              <a:t>manea</a:t>
            </a:r>
            <a:r>
              <a:rPr lang="en-US" sz="2800" dirty="0"/>
              <a:t> SET </a:t>
            </a:r>
            <a:r>
              <a:rPr lang="en-US" sz="2800" dirty="0" err="1"/>
              <a:t>manea</a:t>
            </a:r>
            <a:r>
              <a:rPr lang="en-US" sz="2800" dirty="0"/>
              <a:t> = </a:t>
            </a:r>
          </a:p>
          <a:p>
            <a:r>
              <a:rPr lang="en-US" sz="2800" dirty="0"/>
              <a:t>LOAD_FILE(‘D:/Downloads/Carmen </a:t>
            </a:r>
            <a:r>
              <a:rPr lang="en-US" sz="2800" dirty="0" err="1"/>
              <a:t>Serban-Viata</a:t>
            </a:r>
            <a:r>
              <a:rPr lang="en-US" sz="2800" dirty="0"/>
              <a:t> bate filmul.mp3')</a:t>
            </a:r>
          </a:p>
          <a:p>
            <a:r>
              <a:rPr lang="en-US" sz="2800" dirty="0"/>
              <a:t>WHERE </a:t>
            </a:r>
            <a:r>
              <a:rPr lang="en-US" sz="2800" dirty="0" err="1"/>
              <a:t>idmanea</a:t>
            </a:r>
            <a:r>
              <a:rPr lang="en-US" sz="2800" dirty="0"/>
              <a:t> = 2; </a:t>
            </a:r>
          </a:p>
        </p:txBody>
      </p:sp>
      <p:sp>
        <p:nvSpPr>
          <p:cNvPr id="2" name="Footer Placeholder 1">
            <a:extLst>
              <a:ext uri="{FF2B5EF4-FFF2-40B4-BE49-F238E27FC236}">
                <a16:creationId xmlns:a16="http://schemas.microsoft.com/office/drawing/2014/main" id="{E9C8AECC-855D-43B4-B6E1-C359392F2ABD}"/>
              </a:ext>
            </a:extLst>
          </p:cNvPr>
          <p:cNvSpPr>
            <a:spLocks noGrp="1"/>
          </p:cNvSpPr>
          <p:nvPr>
            <p:ph type="ftr" sz="quarter" idx="11"/>
          </p:nvPr>
        </p:nvSpPr>
        <p:spPr/>
        <p:txBody>
          <a:bodyPr/>
          <a:lstStyle/>
          <a:p>
            <a:pPr>
              <a:defRPr/>
            </a:pPr>
            <a:r>
              <a:rPr lang="en-US"/>
              <a:t>DataBase Design Course Notes 03 - Normalization</a:t>
            </a:r>
          </a:p>
        </p:txBody>
      </p:sp>
      <p:sp>
        <p:nvSpPr>
          <p:cNvPr id="3" name="Slide Number Placeholder 2">
            <a:extLst>
              <a:ext uri="{FF2B5EF4-FFF2-40B4-BE49-F238E27FC236}">
                <a16:creationId xmlns:a16="http://schemas.microsoft.com/office/drawing/2014/main" id="{A5A6D464-E88C-40C7-AA08-A1DF2B26FE50}"/>
              </a:ext>
            </a:extLst>
          </p:cNvPr>
          <p:cNvSpPr>
            <a:spLocks noGrp="1"/>
          </p:cNvSpPr>
          <p:nvPr>
            <p:ph type="sldNum" sz="quarter" idx="12"/>
          </p:nvPr>
        </p:nvSpPr>
        <p:spPr/>
        <p:txBody>
          <a:bodyPr/>
          <a:lstStyle/>
          <a:p>
            <a:pPr>
              <a:defRPr/>
            </a:pPr>
            <a:fld id="{66350268-9CA4-4D89-B8EF-522C69547310}" type="slidenum">
              <a:rPr lang="en-US" smtClean="0"/>
              <a:pPr>
                <a:defRPr/>
              </a:pPr>
              <a:t>331</a:t>
            </a:fld>
            <a:endParaRPr lang="en-US"/>
          </a:p>
        </p:txBody>
      </p:sp>
    </p:spTree>
    <p:extLst>
      <p:ext uri="{BB962C8B-B14F-4D97-AF65-F5344CB8AC3E}">
        <p14:creationId xmlns:p14="http://schemas.microsoft.com/office/powerpoint/2010/main" val="2767511670"/>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t>MySQL - GET </a:t>
            </a:r>
          </a:p>
        </p:txBody>
      </p:sp>
      <p:sp>
        <p:nvSpPr>
          <p:cNvPr id="6147" name="Content Placeholder 2"/>
          <p:cNvSpPr>
            <a:spLocks noGrp="1"/>
          </p:cNvSpPr>
          <p:nvPr>
            <p:ph idx="1"/>
          </p:nvPr>
        </p:nvSpPr>
        <p:spPr/>
        <p:txBody>
          <a:bodyPr/>
          <a:lstStyle/>
          <a:p>
            <a:r>
              <a:rPr lang="en-US" sz="2800" dirty="0"/>
              <a:t>SELECT </a:t>
            </a:r>
            <a:r>
              <a:rPr lang="en-US" sz="2800" dirty="0" err="1"/>
              <a:t>manea</a:t>
            </a:r>
            <a:r>
              <a:rPr lang="en-US" sz="2800" dirty="0"/>
              <a:t> INTO </a:t>
            </a:r>
            <a:r>
              <a:rPr lang="en-US" sz="2800" dirty="0" err="1"/>
              <a:t>DumpFile</a:t>
            </a:r>
            <a:r>
              <a:rPr lang="en-US" sz="2800" dirty="0"/>
              <a:t> ‘D:/Downloads/FileOut1.mp3‘</a:t>
            </a:r>
          </a:p>
          <a:p>
            <a:r>
              <a:rPr lang="en-US" sz="2800" dirty="0"/>
              <a:t>FROM </a:t>
            </a:r>
            <a:r>
              <a:rPr lang="en-US" sz="2800" dirty="0" err="1"/>
              <a:t>manea</a:t>
            </a:r>
            <a:r>
              <a:rPr lang="en-US" sz="2800" dirty="0"/>
              <a:t> WHERE </a:t>
            </a:r>
            <a:r>
              <a:rPr lang="en-US" sz="2800" dirty="0" err="1"/>
              <a:t>idmanea</a:t>
            </a:r>
            <a:r>
              <a:rPr lang="en-US" sz="2800" dirty="0"/>
              <a:t> = 1; </a:t>
            </a:r>
          </a:p>
          <a:p>
            <a:r>
              <a:rPr lang="en-US" sz="2800" dirty="0"/>
              <a:t>SELECT </a:t>
            </a:r>
            <a:r>
              <a:rPr lang="en-US" sz="2800" dirty="0" err="1"/>
              <a:t>manea</a:t>
            </a:r>
            <a:r>
              <a:rPr lang="en-US" sz="2800" dirty="0"/>
              <a:t> INTO </a:t>
            </a:r>
            <a:r>
              <a:rPr lang="en-US" sz="2800" dirty="0" err="1"/>
              <a:t>DumpFile</a:t>
            </a:r>
            <a:r>
              <a:rPr lang="en-US" sz="2800" dirty="0"/>
              <a:t> ‘D:/Downloads/FileOut2.mp3‘</a:t>
            </a:r>
          </a:p>
          <a:p>
            <a:r>
              <a:rPr lang="en-US" sz="2800" dirty="0"/>
              <a:t>FROM </a:t>
            </a:r>
            <a:r>
              <a:rPr lang="en-US" sz="2800" dirty="0" err="1"/>
              <a:t>manea</a:t>
            </a:r>
            <a:r>
              <a:rPr lang="en-US" sz="2800" dirty="0"/>
              <a:t> WHERE </a:t>
            </a:r>
            <a:r>
              <a:rPr lang="en-US" sz="2800" dirty="0" err="1"/>
              <a:t>idmanea</a:t>
            </a:r>
            <a:r>
              <a:rPr lang="en-US" sz="2800" dirty="0"/>
              <a:t> = 2; </a:t>
            </a:r>
          </a:p>
          <a:p>
            <a:pPr>
              <a:buNone/>
            </a:pPr>
            <a:endParaRPr lang="en-US" sz="2000" dirty="0"/>
          </a:p>
        </p:txBody>
      </p:sp>
      <p:sp>
        <p:nvSpPr>
          <p:cNvPr id="2" name="Footer Placeholder 1">
            <a:extLst>
              <a:ext uri="{FF2B5EF4-FFF2-40B4-BE49-F238E27FC236}">
                <a16:creationId xmlns:a16="http://schemas.microsoft.com/office/drawing/2014/main" id="{1595F128-B9A8-479A-964E-1D87BEA13099}"/>
              </a:ext>
            </a:extLst>
          </p:cNvPr>
          <p:cNvSpPr>
            <a:spLocks noGrp="1"/>
          </p:cNvSpPr>
          <p:nvPr>
            <p:ph type="ftr" sz="quarter" idx="11"/>
          </p:nvPr>
        </p:nvSpPr>
        <p:spPr/>
        <p:txBody>
          <a:bodyPr/>
          <a:lstStyle/>
          <a:p>
            <a:pPr>
              <a:defRPr/>
            </a:pPr>
            <a:r>
              <a:rPr lang="en-US"/>
              <a:t>DataBase Design Course Notes 03 - Normalization</a:t>
            </a:r>
          </a:p>
        </p:txBody>
      </p:sp>
      <p:sp>
        <p:nvSpPr>
          <p:cNvPr id="3" name="Slide Number Placeholder 2">
            <a:extLst>
              <a:ext uri="{FF2B5EF4-FFF2-40B4-BE49-F238E27FC236}">
                <a16:creationId xmlns:a16="http://schemas.microsoft.com/office/drawing/2014/main" id="{EDED5746-676A-45A2-A48E-D636F43A9A24}"/>
              </a:ext>
            </a:extLst>
          </p:cNvPr>
          <p:cNvSpPr>
            <a:spLocks noGrp="1"/>
          </p:cNvSpPr>
          <p:nvPr>
            <p:ph type="sldNum" sz="quarter" idx="12"/>
          </p:nvPr>
        </p:nvSpPr>
        <p:spPr/>
        <p:txBody>
          <a:bodyPr/>
          <a:lstStyle/>
          <a:p>
            <a:pPr>
              <a:defRPr/>
            </a:pPr>
            <a:fld id="{66350268-9CA4-4D89-B8EF-522C69547310}" type="slidenum">
              <a:rPr lang="en-US" smtClean="0"/>
              <a:pPr>
                <a:defRPr/>
              </a:pPr>
              <a:t>332</a:t>
            </a:fld>
            <a:endParaRPr lang="en-US"/>
          </a:p>
        </p:txBody>
      </p:sp>
    </p:spTree>
    <p:extLst>
      <p:ext uri="{BB962C8B-B14F-4D97-AF65-F5344CB8AC3E}">
        <p14:creationId xmlns:p14="http://schemas.microsoft.com/office/powerpoint/2010/main" val="1816691904"/>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Wisdom</a:t>
            </a:r>
          </a:p>
        </p:txBody>
      </p:sp>
      <p:sp>
        <p:nvSpPr>
          <p:cNvPr id="5" name="Text Placeholder 4"/>
          <p:cNvSpPr>
            <a:spLocks noGrp="1"/>
          </p:cNvSpPr>
          <p:nvPr>
            <p:ph type="body" idx="1"/>
          </p:nvPr>
        </p:nvSpPr>
        <p:spPr/>
        <p:txBody>
          <a:bodyPr/>
          <a:lstStyle/>
          <a:p>
            <a:r>
              <a:rPr lang="en-US" dirty="0"/>
              <a:t>Additional optional material</a:t>
            </a:r>
          </a:p>
        </p:txBody>
      </p:sp>
      <p:sp>
        <p:nvSpPr>
          <p:cNvPr id="2" name="Footer Placeholder 1">
            <a:extLst>
              <a:ext uri="{FF2B5EF4-FFF2-40B4-BE49-F238E27FC236}">
                <a16:creationId xmlns:a16="http://schemas.microsoft.com/office/drawing/2014/main" id="{AC61C2E8-F923-496F-A244-F81D76D03F17}"/>
              </a:ext>
            </a:extLst>
          </p:cNvPr>
          <p:cNvSpPr>
            <a:spLocks noGrp="1"/>
          </p:cNvSpPr>
          <p:nvPr>
            <p:ph type="ftr" sz="quarter" idx="11"/>
          </p:nvPr>
        </p:nvSpPr>
        <p:spPr/>
        <p:txBody>
          <a:bodyPr/>
          <a:lstStyle/>
          <a:p>
            <a:pPr>
              <a:defRPr/>
            </a:pPr>
            <a:r>
              <a:rPr lang="en-US"/>
              <a:t>DataBase Design Course Notes 03 - Normalization</a:t>
            </a:r>
          </a:p>
        </p:txBody>
      </p:sp>
      <p:sp>
        <p:nvSpPr>
          <p:cNvPr id="3" name="Slide Number Placeholder 2">
            <a:extLst>
              <a:ext uri="{FF2B5EF4-FFF2-40B4-BE49-F238E27FC236}">
                <a16:creationId xmlns:a16="http://schemas.microsoft.com/office/drawing/2014/main" id="{B62B0CDF-CC71-4299-8713-F2B28415CBFF}"/>
              </a:ext>
            </a:extLst>
          </p:cNvPr>
          <p:cNvSpPr>
            <a:spLocks noGrp="1"/>
          </p:cNvSpPr>
          <p:nvPr>
            <p:ph type="sldNum" sz="quarter" idx="12"/>
          </p:nvPr>
        </p:nvSpPr>
        <p:spPr/>
        <p:txBody>
          <a:bodyPr/>
          <a:lstStyle/>
          <a:p>
            <a:pPr>
              <a:defRPr/>
            </a:pPr>
            <a:fld id="{6653E6B3-F591-48D9-B091-76FAD72FFFE7}" type="slidenum">
              <a:rPr lang="en-US" smtClean="0"/>
              <a:pPr>
                <a:defRPr/>
              </a:pPr>
              <a:t>333</a:t>
            </a:fld>
            <a:endParaRPr lang="en-US"/>
          </a:p>
        </p:txBody>
      </p:sp>
    </p:spTree>
    <p:extLst>
      <p:ext uri="{BB962C8B-B14F-4D97-AF65-F5344CB8AC3E}">
        <p14:creationId xmlns:p14="http://schemas.microsoft.com/office/powerpoint/2010/main" val="1629848888"/>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100" b="1" dirty="0" err="1"/>
              <a:t>Picioarele</a:t>
            </a:r>
            <a:r>
              <a:rPr lang="en-US" sz="3100" b="1" dirty="0"/>
              <a:t> Epilate </a:t>
            </a:r>
            <a:r>
              <a:rPr lang="en-US" sz="3100" b="1" dirty="0" err="1"/>
              <a:t>Sunt</a:t>
            </a:r>
            <a:r>
              <a:rPr lang="en-US" sz="3100" b="1" dirty="0"/>
              <a:t> Ca </a:t>
            </a:r>
            <a:r>
              <a:rPr lang="en-US" sz="3100" b="1" dirty="0" err="1"/>
              <a:t>Sarea</a:t>
            </a:r>
            <a:r>
              <a:rPr lang="en-US" sz="3100" b="1" dirty="0"/>
              <a:t> in </a:t>
            </a:r>
            <a:r>
              <a:rPr lang="en-US" sz="3100" b="1" dirty="0" err="1"/>
              <a:t>Bucate</a:t>
            </a:r>
            <a:br>
              <a:rPr lang="en-US" sz="3600" b="1" dirty="0"/>
            </a:br>
            <a:r>
              <a:rPr lang="en-US" sz="3600" dirty="0"/>
              <a:t>Epilate Legs Are Like Salt in Food</a:t>
            </a:r>
          </a:p>
        </p:txBody>
      </p:sp>
      <p:sp>
        <p:nvSpPr>
          <p:cNvPr id="3" name="Content Placeholder 2"/>
          <p:cNvSpPr>
            <a:spLocks noGrp="1"/>
          </p:cNvSpPr>
          <p:nvPr>
            <p:ph idx="1"/>
          </p:nvPr>
        </p:nvSpPr>
        <p:spPr/>
        <p:txBody>
          <a:bodyPr/>
          <a:lstStyle/>
          <a:p>
            <a:endParaRPr lang="en-US" sz="1400" dirty="0"/>
          </a:p>
        </p:txBody>
      </p:sp>
      <p:sp>
        <p:nvSpPr>
          <p:cNvPr id="4" name="Footer Placeholder 3">
            <a:extLst>
              <a:ext uri="{FF2B5EF4-FFF2-40B4-BE49-F238E27FC236}">
                <a16:creationId xmlns:a16="http://schemas.microsoft.com/office/drawing/2014/main" id="{0A761221-74CB-4F12-96DB-6FEA8BC66971}"/>
              </a:ext>
            </a:extLst>
          </p:cNvPr>
          <p:cNvSpPr>
            <a:spLocks noGrp="1"/>
          </p:cNvSpPr>
          <p:nvPr>
            <p:ph type="ftr" sz="quarter" idx="11"/>
          </p:nvPr>
        </p:nvSpPr>
        <p:spPr/>
        <p:txBody>
          <a:bodyPr/>
          <a:lstStyle/>
          <a:p>
            <a:pPr>
              <a:defRPr/>
            </a:pPr>
            <a:r>
              <a:rPr lang="en-US"/>
              <a:t>DataBase Design Course Notes 03 - Normalization</a:t>
            </a:r>
          </a:p>
        </p:txBody>
      </p:sp>
      <p:sp>
        <p:nvSpPr>
          <p:cNvPr id="5" name="Slide Number Placeholder 4">
            <a:extLst>
              <a:ext uri="{FF2B5EF4-FFF2-40B4-BE49-F238E27FC236}">
                <a16:creationId xmlns:a16="http://schemas.microsoft.com/office/drawing/2014/main" id="{8D8A024A-A86B-43DD-B061-B9133D275A43}"/>
              </a:ext>
            </a:extLst>
          </p:cNvPr>
          <p:cNvSpPr>
            <a:spLocks noGrp="1"/>
          </p:cNvSpPr>
          <p:nvPr>
            <p:ph type="sldNum" sz="quarter" idx="12"/>
          </p:nvPr>
        </p:nvSpPr>
        <p:spPr/>
        <p:txBody>
          <a:bodyPr/>
          <a:lstStyle/>
          <a:p>
            <a:pPr>
              <a:defRPr/>
            </a:pPr>
            <a:fld id="{66350268-9CA4-4D89-B8EF-522C69547310}" type="slidenum">
              <a:rPr lang="en-US" smtClean="0"/>
              <a:pPr>
                <a:defRPr/>
              </a:pPr>
              <a:t>334</a:t>
            </a:fld>
            <a:endParaRPr lang="en-US"/>
          </a:p>
        </p:txBody>
      </p:sp>
    </p:spTree>
    <p:extLst>
      <p:ext uri="{BB962C8B-B14F-4D97-AF65-F5344CB8AC3E}">
        <p14:creationId xmlns:p14="http://schemas.microsoft.com/office/powerpoint/2010/main" val="457981813"/>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ro-RO" dirty="0"/>
              <a:t>Viaţă bate filmul</a:t>
            </a:r>
            <a:endParaRPr lang="en-US" dirty="0"/>
          </a:p>
        </p:txBody>
      </p:sp>
      <p:sp>
        <p:nvSpPr>
          <p:cNvPr id="3" name="Content Placeholder 2"/>
          <p:cNvSpPr>
            <a:spLocks noGrp="1"/>
          </p:cNvSpPr>
          <p:nvPr>
            <p:ph idx="1"/>
          </p:nvPr>
        </p:nvSpPr>
        <p:spPr/>
        <p:txBody>
          <a:bodyPr/>
          <a:lstStyle/>
          <a:p>
            <a:pPr lvl="0"/>
            <a:r>
              <a:rPr lang="ro-RO" dirty="0"/>
              <a:t>Mi-am tocit hainele în coate </a:t>
            </a:r>
            <a:endParaRPr lang="en-US" dirty="0"/>
          </a:p>
          <a:p>
            <a:pPr lvl="0"/>
            <a:r>
              <a:rPr lang="ro-RO" dirty="0"/>
              <a:t>Să termin o facultate </a:t>
            </a:r>
            <a:endParaRPr lang="en-US" dirty="0"/>
          </a:p>
          <a:p>
            <a:pPr lvl="0"/>
            <a:r>
              <a:rPr lang="en-US" dirty="0"/>
              <a:t>…</a:t>
            </a:r>
          </a:p>
          <a:p>
            <a:pPr lvl="0"/>
            <a:r>
              <a:rPr lang="ro-RO" dirty="0"/>
              <a:t>Sunt zilier cu facultate </a:t>
            </a:r>
            <a:endParaRPr lang="en-US" dirty="0"/>
          </a:p>
          <a:p>
            <a:pPr lvl="0"/>
            <a:r>
              <a:rPr lang="ro-RO" dirty="0"/>
              <a:t>La un patron fără carte</a:t>
            </a:r>
            <a:endParaRPr lang="en-US" dirty="0"/>
          </a:p>
          <a:p>
            <a:pPr lvl="0"/>
            <a:r>
              <a:rPr lang="en-US" dirty="0"/>
              <a:t>…</a:t>
            </a:r>
          </a:p>
          <a:p>
            <a:pPr lvl="1"/>
            <a:r>
              <a:rPr lang="ro-RO" dirty="0"/>
              <a:t>Să am banii de chirie </a:t>
            </a:r>
            <a:endParaRPr lang="en-US" dirty="0"/>
          </a:p>
        </p:txBody>
      </p:sp>
      <p:sp>
        <p:nvSpPr>
          <p:cNvPr id="4" name="Footer Placeholder 3">
            <a:extLst>
              <a:ext uri="{FF2B5EF4-FFF2-40B4-BE49-F238E27FC236}">
                <a16:creationId xmlns:a16="http://schemas.microsoft.com/office/drawing/2014/main" id="{A59F916F-1CEC-4CBA-A9D3-A4B2BCB5EC6D}"/>
              </a:ext>
            </a:extLst>
          </p:cNvPr>
          <p:cNvSpPr>
            <a:spLocks noGrp="1"/>
          </p:cNvSpPr>
          <p:nvPr>
            <p:ph type="ftr" sz="quarter" idx="11"/>
          </p:nvPr>
        </p:nvSpPr>
        <p:spPr/>
        <p:txBody>
          <a:bodyPr/>
          <a:lstStyle/>
          <a:p>
            <a:pPr>
              <a:defRPr/>
            </a:pPr>
            <a:r>
              <a:rPr lang="en-US"/>
              <a:t>DataBase Design Course Notes 03 - Normalization</a:t>
            </a:r>
          </a:p>
        </p:txBody>
      </p:sp>
      <p:sp>
        <p:nvSpPr>
          <p:cNvPr id="5" name="Slide Number Placeholder 4">
            <a:extLst>
              <a:ext uri="{FF2B5EF4-FFF2-40B4-BE49-F238E27FC236}">
                <a16:creationId xmlns:a16="http://schemas.microsoft.com/office/drawing/2014/main" id="{86583B14-21EF-4E17-9CB1-2E5E094FDF14}"/>
              </a:ext>
            </a:extLst>
          </p:cNvPr>
          <p:cNvSpPr>
            <a:spLocks noGrp="1"/>
          </p:cNvSpPr>
          <p:nvPr>
            <p:ph type="sldNum" sz="quarter" idx="12"/>
          </p:nvPr>
        </p:nvSpPr>
        <p:spPr/>
        <p:txBody>
          <a:bodyPr/>
          <a:lstStyle/>
          <a:p>
            <a:pPr>
              <a:defRPr/>
            </a:pPr>
            <a:fld id="{66350268-9CA4-4D89-B8EF-522C69547310}" type="slidenum">
              <a:rPr lang="en-US" smtClean="0"/>
              <a:pPr>
                <a:defRPr/>
              </a:pPr>
              <a:t>335</a:t>
            </a:fld>
            <a:endParaRPr lang="en-US"/>
          </a:p>
        </p:txBody>
      </p:sp>
    </p:spTree>
    <p:extLst>
      <p:ext uri="{BB962C8B-B14F-4D97-AF65-F5344CB8AC3E}">
        <p14:creationId xmlns:p14="http://schemas.microsoft.com/office/powerpoint/2010/main" val="1258612545"/>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Viaţă bate filmul</a:t>
            </a:r>
            <a:endParaRPr lang="en-US" dirty="0"/>
          </a:p>
        </p:txBody>
      </p:sp>
      <p:sp>
        <p:nvSpPr>
          <p:cNvPr id="3" name="Content Placeholder 2"/>
          <p:cNvSpPr>
            <a:spLocks noGrp="1"/>
          </p:cNvSpPr>
          <p:nvPr>
            <p:ph idx="1"/>
          </p:nvPr>
        </p:nvSpPr>
        <p:spPr/>
        <p:txBody>
          <a:bodyPr/>
          <a:lstStyle/>
          <a:p>
            <a:r>
              <a:rPr lang="en-US" dirty="0"/>
              <a:t>…</a:t>
            </a:r>
          </a:p>
          <a:p>
            <a:r>
              <a:rPr lang="ro-RO" dirty="0"/>
              <a:t>Eu sunt fraierul cu carte</a:t>
            </a:r>
            <a:endParaRPr lang="en-US" dirty="0"/>
          </a:p>
          <a:p>
            <a:r>
              <a:rPr lang="ro-RO" dirty="0"/>
              <a:t>Toţi îmi spun intelectualul</a:t>
            </a:r>
            <a:endParaRPr lang="en-US" dirty="0"/>
          </a:p>
          <a:p>
            <a:r>
              <a:rPr lang="ro-RO" dirty="0"/>
              <a:t>Dar nu am caşcavalul</a:t>
            </a:r>
            <a:endParaRPr lang="en-US" dirty="0"/>
          </a:p>
          <a:p>
            <a:r>
              <a:rPr lang="ro-RO" dirty="0"/>
              <a:t>Ieri eram ingineraşul</a:t>
            </a:r>
            <a:endParaRPr lang="en-US" dirty="0"/>
          </a:p>
          <a:p>
            <a:r>
              <a:rPr lang="ro-RO" dirty="0"/>
              <a:t>De azi să îmi spuneţi naşul</a:t>
            </a:r>
            <a:endParaRPr lang="en-US" dirty="0"/>
          </a:p>
          <a:p>
            <a:r>
              <a:rPr lang="en-US" dirty="0"/>
              <a:t>…</a:t>
            </a:r>
          </a:p>
        </p:txBody>
      </p:sp>
      <p:sp>
        <p:nvSpPr>
          <p:cNvPr id="4" name="Footer Placeholder 3">
            <a:extLst>
              <a:ext uri="{FF2B5EF4-FFF2-40B4-BE49-F238E27FC236}">
                <a16:creationId xmlns:a16="http://schemas.microsoft.com/office/drawing/2014/main" id="{AE8D1811-6924-4511-A9E5-4FF2389CFDB2}"/>
              </a:ext>
            </a:extLst>
          </p:cNvPr>
          <p:cNvSpPr>
            <a:spLocks noGrp="1"/>
          </p:cNvSpPr>
          <p:nvPr>
            <p:ph type="ftr" sz="quarter" idx="11"/>
          </p:nvPr>
        </p:nvSpPr>
        <p:spPr/>
        <p:txBody>
          <a:bodyPr/>
          <a:lstStyle/>
          <a:p>
            <a:pPr>
              <a:defRPr/>
            </a:pPr>
            <a:r>
              <a:rPr lang="en-US"/>
              <a:t>DataBase Design Course Notes 03 - Normalization</a:t>
            </a:r>
          </a:p>
        </p:txBody>
      </p:sp>
      <p:sp>
        <p:nvSpPr>
          <p:cNvPr id="5" name="Slide Number Placeholder 4">
            <a:extLst>
              <a:ext uri="{FF2B5EF4-FFF2-40B4-BE49-F238E27FC236}">
                <a16:creationId xmlns:a16="http://schemas.microsoft.com/office/drawing/2014/main" id="{FE00741C-E730-4916-A6BF-50256E12241F}"/>
              </a:ext>
            </a:extLst>
          </p:cNvPr>
          <p:cNvSpPr>
            <a:spLocks noGrp="1"/>
          </p:cNvSpPr>
          <p:nvPr>
            <p:ph type="sldNum" sz="quarter" idx="12"/>
          </p:nvPr>
        </p:nvSpPr>
        <p:spPr/>
        <p:txBody>
          <a:bodyPr/>
          <a:lstStyle/>
          <a:p>
            <a:pPr>
              <a:defRPr/>
            </a:pPr>
            <a:fld id="{66350268-9CA4-4D89-B8EF-522C69547310}" type="slidenum">
              <a:rPr lang="en-US" smtClean="0"/>
              <a:pPr>
                <a:defRPr/>
              </a:pPr>
              <a:t>336</a:t>
            </a:fld>
            <a:endParaRPr lang="en-US"/>
          </a:p>
        </p:txBody>
      </p:sp>
    </p:spTree>
    <p:extLst>
      <p:ext uri="{BB962C8B-B14F-4D97-AF65-F5344CB8AC3E}">
        <p14:creationId xmlns:p14="http://schemas.microsoft.com/office/powerpoint/2010/main" val="1445115716"/>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FEDA9C7-3E1E-45D5-84E7-F86253A7CB69}"/>
</file>

<file path=customXml/itemProps2.xml><?xml version="1.0" encoding="utf-8"?>
<ds:datastoreItem xmlns:ds="http://schemas.openxmlformats.org/officeDocument/2006/customXml" ds:itemID="{286BDE07-99D8-4D6D-A933-DF7F86F26B1D}"/>
</file>

<file path=customXml/itemProps3.xml><?xml version="1.0" encoding="utf-8"?>
<ds:datastoreItem xmlns:ds="http://schemas.openxmlformats.org/officeDocument/2006/customXml" ds:itemID="{1C86FB2D-A469-4625-A60B-1FD6BCE6C7B5}"/>
</file>

<file path=docProps/app.xml><?xml version="1.0" encoding="utf-8"?>
<Properties xmlns="http://schemas.openxmlformats.org/officeDocument/2006/extended-properties" xmlns:vt="http://schemas.openxmlformats.org/officeDocument/2006/docPropsVTypes">
  <TotalTime>2268</TotalTime>
  <Words>14798</Words>
  <Application>Microsoft Office PowerPoint</Application>
  <PresentationFormat>On-screen Show (4:3)</PresentationFormat>
  <Paragraphs>2033</Paragraphs>
  <Slides>336</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336</vt:i4>
      </vt:variant>
    </vt:vector>
  </HeadingPairs>
  <TitlesOfParts>
    <vt:vector size="338" baseType="lpstr">
      <vt:lpstr>Arial</vt:lpstr>
      <vt:lpstr>Default Design</vt:lpstr>
      <vt:lpstr>DataBases</vt:lpstr>
      <vt:lpstr>Objectives</vt:lpstr>
      <vt:lpstr>SQL Power Architect  Data Modeling</vt:lpstr>
      <vt:lpstr>SQL Power Architect – Data Modeling</vt:lpstr>
      <vt:lpstr>SQL Power Architect – Data Modeling</vt:lpstr>
      <vt:lpstr>SQL Power Architect – Data Modeling</vt:lpstr>
      <vt:lpstr>Reverse Engineering </vt:lpstr>
      <vt:lpstr>Sample database  Entity Relationship diagram</vt:lpstr>
      <vt:lpstr>Forward Engineering Create Entity – Relationship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Forward Engineering</vt:lpstr>
      <vt:lpstr>Forward Engineering</vt:lpstr>
      <vt:lpstr>Forward Engineering</vt:lpstr>
      <vt:lpstr>PowerPoint Presentation</vt:lpstr>
      <vt:lpstr>DataBases</vt:lpstr>
      <vt:lpstr>“Data modeling is not optional”</vt:lpstr>
      <vt:lpstr>PowerPoint Presentation</vt:lpstr>
      <vt:lpstr>Design – Choice &amp; Creativity</vt:lpstr>
      <vt:lpstr>PowerPoint Presentation</vt:lpstr>
      <vt:lpstr>PowerPoint Presentation</vt:lpstr>
      <vt:lpstr>PowerPoint Presentation</vt:lpstr>
      <vt:lpstr>PowerPoint Presentation</vt:lpstr>
      <vt:lpstr>PowerPoint Presentation</vt:lpstr>
      <vt:lpstr>PowerPoint Presentation</vt:lpstr>
      <vt:lpstr>Data Model Important</vt:lpstr>
      <vt:lpstr>Leverage</vt:lpstr>
      <vt:lpstr>Leverage</vt:lpstr>
      <vt:lpstr>Conciseness</vt:lpstr>
      <vt:lpstr>Data Quality</vt:lpstr>
      <vt:lpstr>What Makes a Good Data Model?</vt:lpstr>
      <vt:lpstr>Completeness</vt:lpstr>
      <vt:lpstr>Non-redundancy</vt:lpstr>
      <vt:lpstr>Enforcement of Business Rules</vt:lpstr>
      <vt:lpstr>Data Reusability</vt:lpstr>
      <vt:lpstr>Stability and Flexibility</vt:lpstr>
      <vt:lpstr>Stability and Flexibility</vt:lpstr>
      <vt:lpstr>Elegance</vt:lpstr>
      <vt:lpstr>Communication</vt:lpstr>
      <vt:lpstr>Integration</vt:lpstr>
      <vt:lpstr>Conflicting Objectives</vt:lpstr>
      <vt:lpstr>Performance</vt:lpstr>
      <vt:lpstr>Performance</vt:lpstr>
      <vt:lpstr>Objectives</vt:lpstr>
      <vt:lpstr>Database Design</vt:lpstr>
      <vt:lpstr>Normalization Process</vt:lpstr>
      <vt:lpstr>Normalization</vt:lpstr>
      <vt:lpstr>Normalization</vt:lpstr>
      <vt:lpstr>Normalization</vt:lpstr>
      <vt:lpstr>Why Normalize?</vt:lpstr>
      <vt:lpstr>Eliminating duplicated data</vt:lpstr>
      <vt:lpstr>Process of Normalization</vt:lpstr>
      <vt:lpstr>3 categories of normalization steps</vt:lpstr>
      <vt:lpstr>Entity and attribute shape First Normal Form</vt:lpstr>
      <vt:lpstr>First Normal Form</vt:lpstr>
      <vt:lpstr>PowerPoint Presentation</vt:lpstr>
      <vt:lpstr>E-Mail Addresses</vt:lpstr>
      <vt:lpstr>E-Mail Addresses</vt:lpstr>
      <vt:lpstr>Telephone Numbers</vt:lpstr>
      <vt:lpstr>Mailing Addresses</vt:lpstr>
      <vt:lpstr>Mailing Addresses</vt:lpstr>
      <vt:lpstr>All instances in entity contain same number of values</vt:lpstr>
      <vt:lpstr>Programming Anomalies avoided by First Normal Form</vt:lpstr>
      <vt:lpstr>Clues that design is not in First Normal Form</vt:lpstr>
      <vt:lpstr>Relationships Between Attributes</vt:lpstr>
      <vt:lpstr>Second Normal Form</vt:lpstr>
      <vt:lpstr>Each non-key attribute must describe entire key</vt:lpstr>
      <vt:lpstr>PowerPoint Presentation</vt:lpstr>
      <vt:lpstr>PowerPoint Presentation</vt:lpstr>
      <vt:lpstr>PowerPoint Presentation</vt:lpstr>
      <vt:lpstr>Programming problems avoided</vt:lpstr>
      <vt:lpstr>PowerPoint Presentation</vt:lpstr>
      <vt:lpstr>PowerPoint Presentation</vt:lpstr>
      <vt:lpstr>Annomalies</vt:lpstr>
      <vt:lpstr>Clues that entity is not in Second Normal Form</vt:lpstr>
      <vt:lpstr>Third Normal Form</vt:lpstr>
      <vt:lpstr>non-key attributes cannot describe other non-key attributes</vt:lpstr>
      <vt:lpstr>PowerPoint Presentation</vt:lpstr>
      <vt:lpstr>PowerPoint Presentation</vt:lpstr>
      <vt:lpstr>PowerPoint Presentation</vt:lpstr>
      <vt:lpstr>Clues that entities are not in Third Normal Form</vt:lpstr>
      <vt:lpstr>Boyce-Codd Normal Form</vt:lpstr>
      <vt:lpstr>Entity in BCNF if every Determinant is key</vt:lpstr>
      <vt:lpstr>PowerPoint Presentation</vt:lpstr>
      <vt:lpstr>Court Bookings</vt:lpstr>
      <vt:lpstr>Court Bookings</vt:lpstr>
      <vt:lpstr>Court Bookings - candidate keys </vt:lpstr>
      <vt:lpstr>PowerPoint Presentation</vt:lpstr>
      <vt:lpstr>PowerPoint Presentation</vt:lpstr>
      <vt:lpstr>PowerPoint Presentation</vt:lpstr>
      <vt:lpstr>Multivalued Dependencies</vt:lpstr>
      <vt:lpstr>Fourth Normal Form</vt:lpstr>
      <vt:lpstr>Fourth Normal Form</vt:lpstr>
      <vt:lpstr>Fourth Normal Form violations</vt:lpstr>
      <vt:lpstr>PowerPoint Presentation</vt:lpstr>
      <vt:lpstr>PowerPoint Presentation</vt:lpstr>
      <vt:lpstr>PowerPoint Presentation</vt:lpstr>
      <vt:lpstr>PowerPoint Presentation</vt:lpstr>
      <vt:lpstr>Fifth Normal Form</vt:lpstr>
      <vt:lpstr>Denormalization</vt:lpstr>
      <vt:lpstr>Key Terms</vt:lpstr>
      <vt:lpstr>PowerPoint Presentation</vt:lpstr>
      <vt:lpstr>Report generated</vt:lpstr>
      <vt:lpstr>PowerPoint Presentation</vt:lpstr>
      <vt:lpstr>PowerPoint Presentation</vt:lpstr>
      <vt:lpstr>data redundancies yield the following anomalies:</vt:lpstr>
      <vt:lpstr>Update anomalies</vt:lpstr>
      <vt:lpstr>Insertion anomalies</vt:lpstr>
      <vt:lpstr>Deletion anomalies</vt:lpstr>
      <vt:lpstr>well-formed relations</vt:lpstr>
      <vt:lpstr>PowerPoint Presentation</vt:lpstr>
      <vt:lpstr>PowerPoint Presentation</vt:lpstr>
      <vt:lpstr>Functional dependence</vt:lpstr>
      <vt:lpstr>Functional dependence</vt:lpstr>
      <vt:lpstr>Step 1: Eliminate the Repeating Groups</vt:lpstr>
      <vt:lpstr>Table in first normal form 1NF</vt:lpstr>
      <vt:lpstr>first normal form (1NF)</vt:lpstr>
      <vt:lpstr>Step 2:  Identify the Primary Key</vt:lpstr>
      <vt:lpstr>Step 3: Identify All Dependencies</vt:lpstr>
      <vt:lpstr>Dependency Diagram</vt:lpstr>
      <vt:lpstr>Dependency Diagram</vt:lpstr>
      <vt:lpstr>PowerPoint Presentation</vt:lpstr>
      <vt:lpstr>Data Redundancies … Anomalies</vt:lpstr>
      <vt:lpstr>Conversion to Second Normal Form</vt:lpstr>
      <vt:lpstr>Step 1: Make New Tables to Eliminate Partial Dependencies</vt:lpstr>
      <vt:lpstr>PowerPoint Presentation</vt:lpstr>
      <vt:lpstr>Step 2: Reassign Corresponding Dependent Attributes</vt:lpstr>
      <vt:lpstr>PowerPoint Presentation</vt:lpstr>
      <vt:lpstr>Second normal form (2NF)</vt:lpstr>
      <vt:lpstr>second normal form (2NF)</vt:lpstr>
      <vt:lpstr>PowerPoint Presentation</vt:lpstr>
      <vt:lpstr>PowerPoint Presentation</vt:lpstr>
      <vt:lpstr>Conversion to Third Normal Form</vt:lpstr>
      <vt:lpstr>Step 1: Make New Tables to Eliminate Transitive Dependencies</vt:lpstr>
      <vt:lpstr>PowerPoint Presentation</vt:lpstr>
      <vt:lpstr>Step 2: Reassign Corresponding Dependent Attributes</vt:lpstr>
      <vt:lpstr>Third normal form (3NF)</vt:lpstr>
      <vt:lpstr>third normal form (3NF)</vt:lpstr>
      <vt:lpstr>PowerPoint Presentation</vt:lpstr>
      <vt:lpstr>PowerPoint Presentation</vt:lpstr>
      <vt:lpstr>Improving Design</vt:lpstr>
      <vt:lpstr>Completed Database</vt:lpstr>
      <vt:lpstr>PowerPoint Presentation</vt:lpstr>
      <vt:lpstr>Higher Level Normal Forms</vt:lpstr>
      <vt:lpstr>Boyce-Codd normal form (BCNF)</vt:lpstr>
      <vt:lpstr>Boyce-Codd normal form (BCNF)</vt:lpstr>
      <vt:lpstr>table that is in 3NF but not in BCNF</vt:lpstr>
      <vt:lpstr>functional dependencies</vt:lpstr>
      <vt:lpstr>convert into BCNF</vt:lpstr>
      <vt:lpstr>Decomposition to BCNF</vt:lpstr>
      <vt:lpstr>Decomposition to BCNF</vt:lpstr>
      <vt:lpstr>Sample Data for a BCNF Conversion</vt:lpstr>
      <vt:lpstr>PowerPoint Presentation</vt:lpstr>
      <vt:lpstr>PowerPoint Presentation</vt:lpstr>
      <vt:lpstr>PowerPoint Presentation</vt:lpstr>
      <vt:lpstr>PowerPoint Presentation</vt:lpstr>
      <vt:lpstr>PowerPoint Presentation</vt:lpstr>
      <vt:lpstr>forth normal form (4NF)</vt:lpstr>
      <vt:lpstr>PowerPoint Presentation</vt:lpstr>
      <vt:lpstr>PowerPoint Presentation</vt:lpstr>
      <vt:lpstr>PowerPoint Presentation</vt:lpstr>
      <vt:lpstr>set of tables in 4NF</vt:lpstr>
      <vt:lpstr>relational diagram</vt:lpstr>
      <vt:lpstr>fourth normal form (4NF)</vt:lpstr>
      <vt:lpstr>PowerPoint Presentation</vt:lpstr>
      <vt:lpstr>Business rules</vt:lpstr>
      <vt:lpstr>Naming Conventions</vt:lpstr>
      <vt:lpstr>Naming Conventions</vt:lpstr>
      <vt:lpstr>Naming Conventions</vt:lpstr>
      <vt:lpstr>Entities</vt:lpstr>
      <vt:lpstr>Attributes</vt:lpstr>
      <vt:lpstr>Relationships</vt:lpstr>
      <vt:lpstr>ER Model</vt:lpstr>
      <vt:lpstr>DataBase</vt:lpstr>
      <vt:lpstr>Information System</vt:lpstr>
      <vt:lpstr>Systems Development Life Cycle (SDLC)</vt:lpstr>
      <vt:lpstr>Information System</vt:lpstr>
      <vt:lpstr>Generating information for decision making</vt:lpstr>
      <vt:lpstr>Performance of information system</vt:lpstr>
      <vt:lpstr>Systems Development Life Cycle</vt:lpstr>
      <vt:lpstr>Systems Development Life Cycle</vt:lpstr>
      <vt:lpstr>Systems Development Life Cycle</vt:lpstr>
      <vt:lpstr>Planning</vt:lpstr>
      <vt:lpstr>Feasibility study</vt:lpstr>
      <vt:lpstr>Analysis</vt:lpstr>
      <vt:lpstr>Detailed Systems Design</vt:lpstr>
      <vt:lpstr>Implementation</vt:lpstr>
      <vt:lpstr>Maintenance</vt:lpstr>
      <vt:lpstr>Database Life Cycle</vt:lpstr>
      <vt:lpstr>Database Life Cycle</vt:lpstr>
      <vt:lpstr>Database Initial Study</vt:lpstr>
      <vt:lpstr>Database Design</vt:lpstr>
      <vt:lpstr>Database design process</vt:lpstr>
      <vt:lpstr>Implementation and Loading</vt:lpstr>
      <vt:lpstr>Testing and Evaluation</vt:lpstr>
      <vt:lpstr>Testing and Evaluation</vt:lpstr>
      <vt:lpstr>Fine-Tune database</vt:lpstr>
      <vt:lpstr>Common sources of database failure</vt:lpstr>
      <vt:lpstr>Common sources of database failure</vt:lpstr>
      <vt:lpstr>Operation</vt:lpstr>
      <vt:lpstr>Maintenance and Evolution</vt:lpstr>
      <vt:lpstr>Database design process</vt:lpstr>
      <vt:lpstr>Conceptual design</vt:lpstr>
      <vt:lpstr>Conceptual design</vt:lpstr>
      <vt:lpstr>Data analysis and requirements</vt:lpstr>
      <vt:lpstr>Entity relationship modeling and normalization</vt:lpstr>
      <vt:lpstr>iterative process based on many activities</vt:lpstr>
      <vt:lpstr>information sources</vt:lpstr>
      <vt:lpstr>Data model verification</vt:lpstr>
      <vt:lpstr>Distributed database design</vt:lpstr>
      <vt:lpstr>DBMS Software Selection</vt:lpstr>
      <vt:lpstr>Logical design</vt:lpstr>
      <vt:lpstr>Logical design</vt:lpstr>
      <vt:lpstr>Mapping conceptual model to relational model</vt:lpstr>
      <vt:lpstr>Physical design</vt:lpstr>
      <vt:lpstr>Database Design Strategies</vt:lpstr>
      <vt:lpstr>Top-down vs. bottom-up  design sequencing</vt:lpstr>
      <vt:lpstr>Centralized design</vt:lpstr>
      <vt:lpstr>Decentralized design</vt:lpstr>
      <vt:lpstr>Aggregation problems</vt:lpstr>
      <vt:lpstr>Problems: connection traps</vt:lpstr>
      <vt:lpstr>Fan Trap</vt:lpstr>
      <vt:lpstr>Fan Trap</vt:lpstr>
      <vt:lpstr>Example of Fan Trap</vt:lpstr>
      <vt:lpstr>Chasm Trap</vt:lpstr>
      <vt:lpstr>Chasm Trap</vt:lpstr>
      <vt:lpstr>Chasm Trap</vt:lpstr>
      <vt:lpstr>Example of Chasm Trap</vt:lpstr>
      <vt:lpstr>Specialization / Generalization</vt:lpstr>
      <vt:lpstr>Specialization/Generalization</vt:lpstr>
      <vt:lpstr>Superclass</vt:lpstr>
      <vt:lpstr>Subclass</vt:lpstr>
      <vt:lpstr>for example</vt:lpstr>
      <vt:lpstr>Superclass/Subclass Relationships</vt:lpstr>
      <vt:lpstr>Superclass/Subclass Relationships</vt:lpstr>
      <vt:lpstr>Possible (but not indicated)</vt:lpstr>
      <vt:lpstr>PowerPoint Presentation</vt:lpstr>
      <vt:lpstr>PowerPoint Presentation</vt:lpstr>
      <vt:lpstr>PowerPoint Presentation</vt:lpstr>
      <vt:lpstr>PowerPoint Presentation</vt:lpstr>
      <vt:lpstr>relation AllStaff</vt:lpstr>
      <vt:lpstr>Attribute Inheritance</vt:lpstr>
      <vt:lpstr>Hierarchy</vt:lpstr>
      <vt:lpstr>Specialization process</vt:lpstr>
      <vt:lpstr>Generalization process</vt:lpstr>
      <vt:lpstr>Specialization/generalization of  Staff subclasses representing job roles</vt:lpstr>
      <vt:lpstr>PowerPoint Presentation</vt:lpstr>
      <vt:lpstr>for example</vt:lpstr>
      <vt:lpstr>Staff entity: job roles &amp; contracts of employment</vt:lpstr>
      <vt:lpstr>Constraints on Specialization/Generalization</vt:lpstr>
      <vt:lpstr>Participation constraints</vt:lpstr>
      <vt:lpstr>Disjoint constraints</vt:lpstr>
      <vt:lpstr>specialization hierarchy</vt:lpstr>
      <vt:lpstr>case of an aviation business</vt:lpstr>
      <vt:lpstr>PowerPoint Presentation</vt:lpstr>
      <vt:lpstr>PowerPoint Presentation</vt:lpstr>
      <vt:lpstr>Specialization Hierarchy</vt:lpstr>
      <vt:lpstr>PowerPoint Presentation</vt:lpstr>
      <vt:lpstr>Inheritance</vt:lpstr>
      <vt:lpstr>EMPLOYEE-PILOT  supertype-subtype relationship</vt:lpstr>
      <vt:lpstr>Subtype Discriminator</vt:lpstr>
      <vt:lpstr>Disjoint or overlapping entity subtypes</vt:lpstr>
      <vt:lpstr>Overlapping subtypes</vt:lpstr>
      <vt:lpstr>Specialization hierarchy with overlapping subtypes</vt:lpstr>
      <vt:lpstr>Completeness constraint</vt:lpstr>
      <vt:lpstr>Specialization Hierarchy  Constraint Scenarios</vt:lpstr>
      <vt:lpstr>Specialization</vt:lpstr>
      <vt:lpstr>Generalization</vt:lpstr>
      <vt:lpstr>Entity Cluster</vt:lpstr>
      <vt:lpstr>Primary Key</vt:lpstr>
      <vt:lpstr>Natural Key</vt:lpstr>
      <vt:lpstr>PowerPoint Presentation</vt:lpstr>
      <vt:lpstr>PowerPoint Presentation</vt:lpstr>
      <vt:lpstr>Desirable Primary Key Characteristics</vt:lpstr>
      <vt:lpstr>Desirable Primary Key Characteristics</vt:lpstr>
      <vt:lpstr>Desirable Primary Key Characteristics</vt:lpstr>
      <vt:lpstr>composite primary keys</vt:lpstr>
      <vt:lpstr>surrogate key</vt:lpstr>
      <vt:lpstr>Database Design</vt:lpstr>
      <vt:lpstr>PowerPoint Presentation</vt:lpstr>
      <vt:lpstr>Design Case #1:  Implementing 1:1 Relationships</vt:lpstr>
      <vt:lpstr>PowerPoint Presentation</vt:lpstr>
      <vt:lpstr>PowerPoint Presentation</vt:lpstr>
      <vt:lpstr>PowerPoint Presentation</vt:lpstr>
      <vt:lpstr>Design Case #2: Maintaining History of Time-Variant</vt:lpstr>
      <vt:lpstr>PowerPoint Presentation</vt:lpstr>
      <vt:lpstr>PowerPoint Presentation</vt:lpstr>
      <vt:lpstr>PowerPoint Presentation</vt:lpstr>
      <vt:lpstr>PowerPoint Presentation</vt:lpstr>
      <vt:lpstr>Design Case #3: Fan Traps</vt:lpstr>
      <vt:lpstr>PowerPoint Presentation</vt:lpstr>
      <vt:lpstr>Incorrect ER Diagram  with fan trap problem</vt:lpstr>
      <vt:lpstr>PowerPoint Presentation</vt:lpstr>
      <vt:lpstr>Corrected ER Diagram after removal of the fan trap</vt:lpstr>
      <vt:lpstr>Design Case #4: Redundant Relationships</vt:lpstr>
      <vt:lpstr>PowerPoint Presentation</vt:lpstr>
      <vt:lpstr>Redundant Relationship</vt:lpstr>
      <vt:lpstr>PowerPoint Presentation</vt:lpstr>
      <vt:lpstr>PowerPoint Presentation</vt:lpstr>
      <vt:lpstr>Formula 1</vt:lpstr>
      <vt:lpstr>Driver: Fernando ALONSO </vt:lpstr>
      <vt:lpstr>PowerPoint Presentation</vt:lpstr>
      <vt:lpstr>Driver: Fernando ALONSO </vt:lpstr>
      <vt:lpstr>Entities</vt:lpstr>
      <vt:lpstr>Affiliation</vt:lpstr>
      <vt:lpstr>Affiliation view</vt:lpstr>
      <vt:lpstr>PowerPoint Presentation</vt:lpstr>
      <vt:lpstr>PowerPoint Presentation</vt:lpstr>
      <vt:lpstr>Temporal Databases</vt:lpstr>
      <vt:lpstr>PowerPoint Presentation</vt:lpstr>
      <vt:lpstr>PowerPoint Presentation</vt:lpstr>
      <vt:lpstr>PowerPoint Presentation</vt:lpstr>
      <vt:lpstr>Set … Picture</vt:lpstr>
      <vt:lpstr>Executed Only Once in DataBase Server </vt:lpstr>
      <vt:lpstr>Get … Picture</vt:lpstr>
      <vt:lpstr>Challenge</vt:lpstr>
      <vt:lpstr>manele</vt:lpstr>
      <vt:lpstr>MS SQL Server - configure</vt:lpstr>
      <vt:lpstr>MS SQL Server – Data Type</vt:lpstr>
      <vt:lpstr>MS SQL Server - SET</vt:lpstr>
      <vt:lpstr>MS SQL Server - GET </vt:lpstr>
      <vt:lpstr>MySQL - configure</vt:lpstr>
      <vt:lpstr>MySQL Server – Data Type</vt:lpstr>
      <vt:lpstr>MySQL - SET</vt:lpstr>
      <vt:lpstr>MySQL - GET </vt:lpstr>
      <vt:lpstr>Wisdom</vt:lpstr>
      <vt:lpstr>Picioarele Epilate Sunt Ca Sarea in Bucate Epilate Legs Are Like Salt in Food</vt:lpstr>
      <vt:lpstr>Viaţă bate filmul</vt:lpstr>
      <vt:lpstr>Viaţă bate filmul</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Design</dc:title>
  <dc:creator>Calin</dc:creator>
  <cp:lastModifiedBy>Calin Cenan</cp:lastModifiedBy>
  <cp:revision>244</cp:revision>
  <dcterms:created xsi:type="dcterms:W3CDTF">2009-02-13T17:36:17Z</dcterms:created>
  <dcterms:modified xsi:type="dcterms:W3CDTF">2023-10-25T08:34:43Z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2023-10-25T08:34:42Z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014b4eb7-0dc6-4362-bcce-e1d98e65943f</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