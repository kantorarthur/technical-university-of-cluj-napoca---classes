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1"/>
  </p:notesMasterIdLst>
  <p:sldIdLst>
    <p:sldId id="256" r:id="rId2"/>
    <p:sldId id="257" r:id="rId3"/>
    <p:sldId id="259" r:id="rId4"/>
    <p:sldId id="260" r:id="rId5"/>
    <p:sldId id="261" r:id="rId6"/>
    <p:sldId id="267" r:id="rId7"/>
    <p:sldId id="584" r:id="rId8"/>
    <p:sldId id="585" r:id="rId9"/>
    <p:sldId id="586" r:id="rId10"/>
    <p:sldId id="587" r:id="rId11"/>
    <p:sldId id="588" r:id="rId12"/>
    <p:sldId id="589" r:id="rId13"/>
    <p:sldId id="590" r:id="rId14"/>
    <p:sldId id="591" r:id="rId15"/>
    <p:sldId id="592" r:id="rId16"/>
    <p:sldId id="593" r:id="rId17"/>
    <p:sldId id="594" r:id="rId18"/>
    <p:sldId id="595" r:id="rId19"/>
    <p:sldId id="596" r:id="rId20"/>
    <p:sldId id="597" r:id="rId21"/>
    <p:sldId id="598" r:id="rId22"/>
    <p:sldId id="599" r:id="rId23"/>
    <p:sldId id="600" r:id="rId24"/>
    <p:sldId id="601" r:id="rId25"/>
    <p:sldId id="602" r:id="rId26"/>
    <p:sldId id="603" r:id="rId27"/>
    <p:sldId id="604" r:id="rId28"/>
    <p:sldId id="605" r:id="rId29"/>
    <p:sldId id="606" r:id="rId30"/>
    <p:sldId id="607" r:id="rId31"/>
    <p:sldId id="608" r:id="rId32"/>
    <p:sldId id="609" r:id="rId33"/>
    <p:sldId id="610" r:id="rId34"/>
    <p:sldId id="611" r:id="rId35"/>
    <p:sldId id="612" r:id="rId36"/>
    <p:sldId id="613" r:id="rId37"/>
    <p:sldId id="614" r:id="rId38"/>
    <p:sldId id="616" r:id="rId39"/>
    <p:sldId id="615" r:id="rId40"/>
    <p:sldId id="617" r:id="rId41"/>
    <p:sldId id="618" r:id="rId42"/>
    <p:sldId id="619" r:id="rId43"/>
    <p:sldId id="624" r:id="rId44"/>
    <p:sldId id="620" r:id="rId45"/>
    <p:sldId id="623" r:id="rId46"/>
    <p:sldId id="621" r:id="rId47"/>
    <p:sldId id="622" r:id="rId48"/>
    <p:sldId id="625" r:id="rId49"/>
    <p:sldId id="626" r:id="rId50"/>
    <p:sldId id="627" r:id="rId51"/>
    <p:sldId id="628" r:id="rId52"/>
    <p:sldId id="629" r:id="rId53"/>
    <p:sldId id="630" r:id="rId54"/>
    <p:sldId id="631" r:id="rId55"/>
    <p:sldId id="632" r:id="rId56"/>
    <p:sldId id="633" r:id="rId57"/>
    <p:sldId id="634" r:id="rId58"/>
    <p:sldId id="636" r:id="rId59"/>
    <p:sldId id="635" r:id="rId60"/>
    <p:sldId id="637" r:id="rId61"/>
    <p:sldId id="638" r:id="rId62"/>
    <p:sldId id="639" r:id="rId63"/>
    <p:sldId id="640" r:id="rId64"/>
    <p:sldId id="641" r:id="rId65"/>
    <p:sldId id="642" r:id="rId66"/>
    <p:sldId id="643" r:id="rId67"/>
    <p:sldId id="644" r:id="rId68"/>
    <p:sldId id="645" r:id="rId69"/>
    <p:sldId id="646" r:id="rId70"/>
    <p:sldId id="647" r:id="rId71"/>
    <p:sldId id="648" r:id="rId72"/>
    <p:sldId id="649" r:id="rId73"/>
    <p:sldId id="650" r:id="rId74"/>
    <p:sldId id="651" r:id="rId75"/>
    <p:sldId id="652" r:id="rId76"/>
    <p:sldId id="654" r:id="rId77"/>
    <p:sldId id="655" r:id="rId78"/>
    <p:sldId id="656" r:id="rId79"/>
    <p:sldId id="657" r:id="rId80"/>
    <p:sldId id="658" r:id="rId81"/>
    <p:sldId id="659" r:id="rId82"/>
    <p:sldId id="660" r:id="rId83"/>
    <p:sldId id="662" r:id="rId84"/>
    <p:sldId id="664" r:id="rId85"/>
    <p:sldId id="663" r:id="rId86"/>
    <p:sldId id="665" r:id="rId87"/>
    <p:sldId id="661" r:id="rId88"/>
    <p:sldId id="666" r:id="rId89"/>
    <p:sldId id="667" r:id="rId90"/>
    <p:sldId id="668" r:id="rId91"/>
    <p:sldId id="669" r:id="rId92"/>
    <p:sldId id="670" r:id="rId93"/>
    <p:sldId id="671" r:id="rId94"/>
    <p:sldId id="672" r:id="rId95"/>
    <p:sldId id="673" r:id="rId96"/>
    <p:sldId id="675" r:id="rId97"/>
    <p:sldId id="674" r:id="rId98"/>
    <p:sldId id="676" r:id="rId99"/>
    <p:sldId id="677" r:id="rId100"/>
    <p:sldId id="678" r:id="rId101"/>
    <p:sldId id="679" r:id="rId102"/>
    <p:sldId id="680" r:id="rId103"/>
    <p:sldId id="682" r:id="rId104"/>
    <p:sldId id="681" r:id="rId105"/>
    <p:sldId id="685" r:id="rId106"/>
    <p:sldId id="686" r:id="rId107"/>
    <p:sldId id="683" r:id="rId108"/>
    <p:sldId id="684" r:id="rId109"/>
    <p:sldId id="687" r:id="rId110"/>
    <p:sldId id="688" r:id="rId111"/>
    <p:sldId id="689" r:id="rId112"/>
    <p:sldId id="690" r:id="rId113"/>
    <p:sldId id="691" r:id="rId114"/>
    <p:sldId id="692" r:id="rId115"/>
    <p:sldId id="693" r:id="rId116"/>
    <p:sldId id="694" r:id="rId117"/>
    <p:sldId id="695" r:id="rId118"/>
    <p:sldId id="696" r:id="rId119"/>
    <p:sldId id="697" r:id="rId120"/>
    <p:sldId id="698" r:id="rId121"/>
    <p:sldId id="699" r:id="rId122"/>
    <p:sldId id="700" r:id="rId123"/>
    <p:sldId id="701" r:id="rId124"/>
    <p:sldId id="702" r:id="rId125"/>
    <p:sldId id="703" r:id="rId126"/>
    <p:sldId id="704" r:id="rId127"/>
    <p:sldId id="706" r:id="rId128"/>
    <p:sldId id="705" r:id="rId129"/>
    <p:sldId id="707" r:id="rId130"/>
    <p:sldId id="708" r:id="rId131"/>
    <p:sldId id="709" r:id="rId132"/>
    <p:sldId id="710" r:id="rId133"/>
    <p:sldId id="711" r:id="rId134"/>
    <p:sldId id="712" r:id="rId135"/>
    <p:sldId id="713" r:id="rId136"/>
    <p:sldId id="714" r:id="rId137"/>
    <p:sldId id="715" r:id="rId138"/>
    <p:sldId id="716" r:id="rId139"/>
    <p:sldId id="717" r:id="rId140"/>
    <p:sldId id="718" r:id="rId141"/>
    <p:sldId id="719" r:id="rId142"/>
    <p:sldId id="720" r:id="rId143"/>
    <p:sldId id="721" r:id="rId144"/>
    <p:sldId id="722" r:id="rId145"/>
    <p:sldId id="725" r:id="rId146"/>
    <p:sldId id="723" r:id="rId147"/>
    <p:sldId id="724" r:id="rId148"/>
    <p:sldId id="726" r:id="rId149"/>
    <p:sldId id="727"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56" Type="http://schemas.openxmlformats.org/officeDocument/2006/relationships/customXml" Target="../customXml/item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customXml" Target="../customXml/item2.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31EAB0-20EB-4DF7-837B-371DDD1B95C0}" type="datetimeFigureOut">
              <a:rPr lang="en-US" smtClean="0"/>
              <a:t>9/26/2025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4AE39B-1103-4190-9942-3807C5A66D1E}" type="slidenum">
              <a:rPr lang="en-US" smtClean="0"/>
              <a:t>‹#›</a:t>
            </a:fld>
            <a:endParaRPr lang="en-US"/>
          </a:p>
        </p:txBody>
      </p:sp>
    </p:spTree>
    <p:extLst>
      <p:ext uri="{BB962C8B-B14F-4D97-AF65-F5344CB8AC3E}">
        <p14:creationId xmlns:p14="http://schemas.microsoft.com/office/powerpoint/2010/main" val="328852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4AE39B-1103-4190-9942-3807C5A66D1E}" type="slidenum">
              <a:rPr lang="en-US" smtClean="0"/>
              <a:t>67</a:t>
            </a:fld>
            <a:endParaRPr lang="en-US"/>
          </a:p>
        </p:txBody>
      </p:sp>
    </p:spTree>
    <p:extLst>
      <p:ext uri="{BB962C8B-B14F-4D97-AF65-F5344CB8AC3E}">
        <p14:creationId xmlns:p14="http://schemas.microsoft.com/office/powerpoint/2010/main" val="1583983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930C-760D-5883-ECC1-F5CB6465DF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364E95-C921-0CB2-83A2-29CEC570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4FD1E-FFDF-6B9B-391C-832B885E6995}"/>
              </a:ext>
            </a:extLst>
          </p:cNvPr>
          <p:cNvSpPr>
            <a:spLocks noGrp="1"/>
          </p:cNvSpPr>
          <p:nvPr>
            <p:ph type="dt" sz="half" idx="10"/>
          </p:nvPr>
        </p:nvSpPr>
        <p:spPr/>
        <p:txBody>
          <a:bodyPr/>
          <a:lstStyle/>
          <a:p>
            <a:fld id="{DEAC430E-5A65-442F-9064-DEB17858D8F1}" type="datetime1">
              <a:rPr lang="en-US" smtClean="0"/>
              <a:t>9/26/2025</a:t>
            </a:fld>
            <a:endParaRPr lang="en-US"/>
          </a:p>
        </p:txBody>
      </p:sp>
      <p:sp>
        <p:nvSpPr>
          <p:cNvPr id="5" name="Footer Placeholder 4">
            <a:extLst>
              <a:ext uri="{FF2B5EF4-FFF2-40B4-BE49-F238E27FC236}">
                <a16:creationId xmlns:a16="http://schemas.microsoft.com/office/drawing/2014/main" id="{987AFC09-CB58-1A98-44F8-DBDC4F50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FBC4E-168F-EAEF-CFF4-122B5A788DE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2847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1843C-D16F-310D-4FA1-1770C7C422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9DEFEC-D274-3CE4-42AD-5111479AB4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A0F2E-18F9-69C4-3350-10D366326F57}"/>
              </a:ext>
            </a:extLst>
          </p:cNvPr>
          <p:cNvSpPr>
            <a:spLocks noGrp="1"/>
          </p:cNvSpPr>
          <p:nvPr>
            <p:ph type="dt" sz="half" idx="10"/>
          </p:nvPr>
        </p:nvSpPr>
        <p:spPr/>
        <p:txBody>
          <a:bodyPr/>
          <a:lstStyle/>
          <a:p>
            <a:fld id="{8314E179-45D9-45BE-AAA6-FF7B7D57AEF0}" type="datetime1">
              <a:rPr lang="en-US" smtClean="0"/>
              <a:t>9/26/2025</a:t>
            </a:fld>
            <a:endParaRPr lang="en-US"/>
          </a:p>
        </p:txBody>
      </p:sp>
      <p:sp>
        <p:nvSpPr>
          <p:cNvPr id="5" name="Footer Placeholder 4">
            <a:extLst>
              <a:ext uri="{FF2B5EF4-FFF2-40B4-BE49-F238E27FC236}">
                <a16:creationId xmlns:a16="http://schemas.microsoft.com/office/drawing/2014/main" id="{F4E32DEE-4207-0B12-6389-B20CBEF9D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792F1E-3EC2-CF71-F9CB-EC8DC8862A0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1933296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A0F8-BF06-2ADC-8889-D45C2EC9C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45234B-00B7-B1C8-175F-A98E178C1F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D476CC-1FA3-98AE-E860-9DB0608A497D}"/>
              </a:ext>
            </a:extLst>
          </p:cNvPr>
          <p:cNvSpPr>
            <a:spLocks noGrp="1"/>
          </p:cNvSpPr>
          <p:nvPr>
            <p:ph type="dt" sz="half" idx="10"/>
          </p:nvPr>
        </p:nvSpPr>
        <p:spPr/>
        <p:txBody>
          <a:bodyPr/>
          <a:lstStyle/>
          <a:p>
            <a:fld id="{0B334156-D111-4B8A-9649-E929320D3996}" type="datetime1">
              <a:rPr lang="en-US" smtClean="0"/>
              <a:t>9/26/2025</a:t>
            </a:fld>
            <a:endParaRPr lang="en-US"/>
          </a:p>
        </p:txBody>
      </p:sp>
      <p:sp>
        <p:nvSpPr>
          <p:cNvPr id="5" name="Footer Placeholder 4">
            <a:extLst>
              <a:ext uri="{FF2B5EF4-FFF2-40B4-BE49-F238E27FC236}">
                <a16:creationId xmlns:a16="http://schemas.microsoft.com/office/drawing/2014/main" id="{3F5DB7F2-4B1B-DDD7-9588-D2C9C263FE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58A86-DB04-E206-C61A-28D61489DE6E}"/>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420062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7934-58E2-6C87-8517-91D784E60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F54FA1-51FD-BDD7-08D8-CB22949E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0A14B0-AB9F-84A5-DCFF-AF29D610B9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B74DE0-D4E6-B98A-0A7A-6199C46FA299}"/>
              </a:ext>
            </a:extLst>
          </p:cNvPr>
          <p:cNvSpPr>
            <a:spLocks noGrp="1"/>
          </p:cNvSpPr>
          <p:nvPr>
            <p:ph type="dt" sz="half" idx="10"/>
          </p:nvPr>
        </p:nvSpPr>
        <p:spPr/>
        <p:txBody>
          <a:bodyPr/>
          <a:lstStyle/>
          <a:p>
            <a:fld id="{83FF7365-BEFC-4E6B-9F2A-FA9474576F81}" type="datetime1">
              <a:rPr lang="en-US" smtClean="0"/>
              <a:t>9/26/2025</a:t>
            </a:fld>
            <a:endParaRPr lang="en-US"/>
          </a:p>
        </p:txBody>
      </p:sp>
      <p:sp>
        <p:nvSpPr>
          <p:cNvPr id="6" name="Footer Placeholder 5">
            <a:extLst>
              <a:ext uri="{FF2B5EF4-FFF2-40B4-BE49-F238E27FC236}">
                <a16:creationId xmlns:a16="http://schemas.microsoft.com/office/drawing/2014/main" id="{8D27B8B2-CEA6-EA62-4C6E-6C903F935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196544-3A77-9F6F-A9A9-14340023965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227620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5363-41F2-E6A8-F4B1-CD1FFAB37AE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0AC76C-821C-A4CF-E20D-28A35FB1A9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B10B08-0A91-BC33-F467-764F5842D8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6E10F4-B1CD-E882-ADC7-E67EB6795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208411-74C8-D893-F7D4-63FB702F18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3A8843-6A85-EBA5-EACE-D31AE341B3A4}"/>
              </a:ext>
            </a:extLst>
          </p:cNvPr>
          <p:cNvSpPr>
            <a:spLocks noGrp="1"/>
          </p:cNvSpPr>
          <p:nvPr>
            <p:ph type="dt" sz="half" idx="10"/>
          </p:nvPr>
        </p:nvSpPr>
        <p:spPr/>
        <p:txBody>
          <a:bodyPr/>
          <a:lstStyle/>
          <a:p>
            <a:fld id="{13137B2F-B566-42C1-8C47-FE2D3202CF99}" type="datetime1">
              <a:rPr lang="en-US" smtClean="0"/>
              <a:t>9/26/2025</a:t>
            </a:fld>
            <a:endParaRPr lang="en-US"/>
          </a:p>
        </p:txBody>
      </p:sp>
      <p:sp>
        <p:nvSpPr>
          <p:cNvPr id="8" name="Footer Placeholder 7">
            <a:extLst>
              <a:ext uri="{FF2B5EF4-FFF2-40B4-BE49-F238E27FC236}">
                <a16:creationId xmlns:a16="http://schemas.microsoft.com/office/drawing/2014/main" id="{13EBBCF3-2913-461E-AD28-FDC7B6BCA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5B7710-25A1-0BB7-4D14-D8B4331A5E60}"/>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77521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97EF-6A4C-4E15-3A3D-09B6216B5D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5C6005-4DF2-B1D3-F14D-C8E8D586F7D3}"/>
              </a:ext>
            </a:extLst>
          </p:cNvPr>
          <p:cNvSpPr>
            <a:spLocks noGrp="1"/>
          </p:cNvSpPr>
          <p:nvPr>
            <p:ph type="dt" sz="half" idx="10"/>
          </p:nvPr>
        </p:nvSpPr>
        <p:spPr/>
        <p:txBody>
          <a:bodyPr/>
          <a:lstStyle/>
          <a:p>
            <a:fld id="{77340BE3-421C-4D71-A3C6-49D639A19F9F}" type="datetime1">
              <a:rPr lang="en-US" smtClean="0"/>
              <a:t>9/26/2025</a:t>
            </a:fld>
            <a:endParaRPr lang="en-US"/>
          </a:p>
        </p:txBody>
      </p:sp>
      <p:sp>
        <p:nvSpPr>
          <p:cNvPr id="4" name="Footer Placeholder 3">
            <a:extLst>
              <a:ext uri="{FF2B5EF4-FFF2-40B4-BE49-F238E27FC236}">
                <a16:creationId xmlns:a16="http://schemas.microsoft.com/office/drawing/2014/main" id="{071B5121-2E4F-976C-B042-58478DDE8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32A568-1B5A-A844-5FEE-3C9477D8E0F8}"/>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801491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C6BE25-6954-DC36-134A-6597CFDF6E3F}"/>
              </a:ext>
            </a:extLst>
          </p:cNvPr>
          <p:cNvSpPr>
            <a:spLocks noGrp="1"/>
          </p:cNvSpPr>
          <p:nvPr>
            <p:ph type="dt" sz="half" idx="10"/>
          </p:nvPr>
        </p:nvSpPr>
        <p:spPr/>
        <p:txBody>
          <a:bodyPr/>
          <a:lstStyle/>
          <a:p>
            <a:fld id="{679B5E47-D439-4284-AE0D-962FCB75FAB6}" type="datetime1">
              <a:rPr lang="en-US" smtClean="0"/>
              <a:t>9/26/2025</a:t>
            </a:fld>
            <a:endParaRPr lang="en-US"/>
          </a:p>
        </p:txBody>
      </p:sp>
      <p:sp>
        <p:nvSpPr>
          <p:cNvPr id="3" name="Footer Placeholder 2">
            <a:extLst>
              <a:ext uri="{FF2B5EF4-FFF2-40B4-BE49-F238E27FC236}">
                <a16:creationId xmlns:a16="http://schemas.microsoft.com/office/drawing/2014/main" id="{C9303941-91C4-7A76-45CF-7066AD1A65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FCB0C5-B44E-B54F-CFD1-EDD7E30FAA23}"/>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6472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F43-2516-CD44-C72D-9495FB26D7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1BC6C8-737E-06B7-89DA-D637135847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52FE81-C2D0-FEAE-8767-51F60ADA8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E62AB-E046-F609-762A-CFEDAB93629B}"/>
              </a:ext>
            </a:extLst>
          </p:cNvPr>
          <p:cNvSpPr>
            <a:spLocks noGrp="1"/>
          </p:cNvSpPr>
          <p:nvPr>
            <p:ph type="dt" sz="half" idx="10"/>
          </p:nvPr>
        </p:nvSpPr>
        <p:spPr/>
        <p:txBody>
          <a:bodyPr/>
          <a:lstStyle/>
          <a:p>
            <a:fld id="{453BECBD-8257-458C-AEE3-AE942135D6AE}" type="datetime1">
              <a:rPr lang="en-US" smtClean="0"/>
              <a:t>9/26/2025</a:t>
            </a:fld>
            <a:endParaRPr lang="en-US"/>
          </a:p>
        </p:txBody>
      </p:sp>
      <p:sp>
        <p:nvSpPr>
          <p:cNvPr id="6" name="Footer Placeholder 5">
            <a:extLst>
              <a:ext uri="{FF2B5EF4-FFF2-40B4-BE49-F238E27FC236}">
                <a16:creationId xmlns:a16="http://schemas.microsoft.com/office/drawing/2014/main" id="{11AECE13-A79A-69BD-9DB1-2A174276C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27B68-E2DF-8982-4DF5-D4C4397E0609}"/>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230326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DE69-5905-BC3C-C645-91E6D6C208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E53DAA-F625-F974-8D2C-1373B1158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AF7B45-CD9A-C6B1-F58C-0341BCC9C8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9E8BC-CB6F-F740-3924-593736BA966E}"/>
              </a:ext>
            </a:extLst>
          </p:cNvPr>
          <p:cNvSpPr>
            <a:spLocks noGrp="1"/>
          </p:cNvSpPr>
          <p:nvPr>
            <p:ph type="dt" sz="half" idx="10"/>
          </p:nvPr>
        </p:nvSpPr>
        <p:spPr/>
        <p:txBody>
          <a:bodyPr/>
          <a:lstStyle/>
          <a:p>
            <a:fld id="{BDF3CAC5-E83F-4F07-8EAE-BE5D8EAB68B2}" type="datetime1">
              <a:rPr lang="en-US" smtClean="0"/>
              <a:t>9/26/2025</a:t>
            </a:fld>
            <a:endParaRPr lang="en-US"/>
          </a:p>
        </p:txBody>
      </p:sp>
      <p:sp>
        <p:nvSpPr>
          <p:cNvPr id="6" name="Footer Placeholder 5">
            <a:extLst>
              <a:ext uri="{FF2B5EF4-FFF2-40B4-BE49-F238E27FC236}">
                <a16:creationId xmlns:a16="http://schemas.microsoft.com/office/drawing/2014/main" id="{000A5595-E2B3-6B7E-1C62-1515F5F58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2632C9-6D22-EF5A-C318-89619C4FF8C5}"/>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337264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1039-EF43-212D-7EB3-340A51386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6A0E3D-A0E9-C266-077E-DFBD0C4D2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D565F-9519-15CB-09A9-53305AE3454D}"/>
              </a:ext>
            </a:extLst>
          </p:cNvPr>
          <p:cNvSpPr>
            <a:spLocks noGrp="1"/>
          </p:cNvSpPr>
          <p:nvPr>
            <p:ph type="dt" sz="half" idx="10"/>
          </p:nvPr>
        </p:nvSpPr>
        <p:spPr/>
        <p:txBody>
          <a:bodyPr/>
          <a:lstStyle/>
          <a:p>
            <a:fld id="{96BA5DA7-E5C5-46E6-B6AF-18BC49A4DE0B}" type="datetime1">
              <a:rPr lang="en-US" smtClean="0"/>
              <a:t>9/26/2025</a:t>
            </a:fld>
            <a:endParaRPr lang="en-US"/>
          </a:p>
        </p:txBody>
      </p:sp>
      <p:sp>
        <p:nvSpPr>
          <p:cNvPr id="5" name="Footer Placeholder 4">
            <a:extLst>
              <a:ext uri="{FF2B5EF4-FFF2-40B4-BE49-F238E27FC236}">
                <a16:creationId xmlns:a16="http://schemas.microsoft.com/office/drawing/2014/main" id="{3401AFDD-7C39-8E1A-B031-9AA5A2F53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30541-3970-D9E8-80EF-0B798E685FDB}"/>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524134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DAE23E-03A8-AE9D-8E36-BA90B5684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840BB-AB25-B52A-9656-E117AF3811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9CD23E-B3F5-FBA5-C80E-A574CC18C813}"/>
              </a:ext>
            </a:extLst>
          </p:cNvPr>
          <p:cNvSpPr>
            <a:spLocks noGrp="1"/>
          </p:cNvSpPr>
          <p:nvPr>
            <p:ph type="dt" sz="half" idx="10"/>
          </p:nvPr>
        </p:nvSpPr>
        <p:spPr/>
        <p:txBody>
          <a:bodyPr/>
          <a:lstStyle/>
          <a:p>
            <a:fld id="{F4EFC786-2935-4265-9B26-B14D271DC5F5}" type="datetime1">
              <a:rPr lang="en-US" smtClean="0"/>
              <a:t>9/26/2025</a:t>
            </a:fld>
            <a:endParaRPr lang="en-US"/>
          </a:p>
        </p:txBody>
      </p:sp>
      <p:sp>
        <p:nvSpPr>
          <p:cNvPr id="5" name="Footer Placeholder 4">
            <a:extLst>
              <a:ext uri="{FF2B5EF4-FFF2-40B4-BE49-F238E27FC236}">
                <a16:creationId xmlns:a16="http://schemas.microsoft.com/office/drawing/2014/main" id="{86BA6015-6A82-66FB-892D-7D52F1652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298FE3-2185-D0F2-F9B2-2354C09E0CAF}"/>
              </a:ext>
            </a:extLst>
          </p:cNvPr>
          <p:cNvSpPr>
            <a:spLocks noGrp="1"/>
          </p:cNvSpPr>
          <p:nvPr>
            <p:ph type="sldNum" sz="quarter" idx="12"/>
          </p:nvPr>
        </p:nvSpPr>
        <p:spPr/>
        <p:txBody>
          <a:bodyPr/>
          <a:lstStyle/>
          <a:p>
            <a:fld id="{6264BDCF-5269-49AC-A246-ED26C2B980E3}" type="slidenum">
              <a:rPr lang="en-US" smtClean="0"/>
              <a:t>‹#›</a:t>
            </a:fld>
            <a:endParaRPr lang="en-US"/>
          </a:p>
        </p:txBody>
      </p:sp>
    </p:spTree>
    <p:extLst>
      <p:ext uri="{BB962C8B-B14F-4D97-AF65-F5344CB8AC3E}">
        <p14:creationId xmlns:p14="http://schemas.microsoft.com/office/powerpoint/2010/main" val="380382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4736D2-BD27-C33D-3016-B5C22D738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3F75BE-AE64-BECA-E759-43100BE00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69206-125B-41DF-997C-750E4FDE90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EC6D-4A47-4C37-A1F4-993B8D832209}" type="datetime1">
              <a:rPr lang="en-US" smtClean="0"/>
              <a:t>9/26/2025</a:t>
            </a:fld>
            <a:endParaRPr lang="en-US"/>
          </a:p>
        </p:txBody>
      </p:sp>
      <p:sp>
        <p:nvSpPr>
          <p:cNvPr id="5" name="Footer Placeholder 4">
            <a:extLst>
              <a:ext uri="{FF2B5EF4-FFF2-40B4-BE49-F238E27FC236}">
                <a16:creationId xmlns:a16="http://schemas.microsoft.com/office/drawing/2014/main" id="{2EB39EDE-9A6C-95C6-EF1C-2D6885F9F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D51B1B-62CF-80AA-081B-D24CFA9A0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64BDCF-5269-49AC-A246-ED26C2B980E3}" type="slidenum">
              <a:rPr lang="en-US" smtClean="0"/>
              <a:t>‹#›</a:t>
            </a:fld>
            <a:endParaRPr lang="en-US"/>
          </a:p>
        </p:txBody>
      </p:sp>
    </p:spTree>
    <p:extLst>
      <p:ext uri="{BB962C8B-B14F-4D97-AF65-F5344CB8AC3E}">
        <p14:creationId xmlns:p14="http://schemas.microsoft.com/office/powerpoint/2010/main" val="1557268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4E64-D01B-5FDF-22D9-EC08BEB62AED}"/>
              </a:ext>
            </a:extLst>
          </p:cNvPr>
          <p:cNvSpPr>
            <a:spLocks noGrp="1"/>
          </p:cNvSpPr>
          <p:nvPr>
            <p:ph type="ctrTitle"/>
          </p:nvPr>
        </p:nvSpPr>
        <p:spPr/>
        <p:txBody>
          <a:bodyPr/>
          <a:lstStyle/>
          <a:p>
            <a:r>
              <a:rPr lang="en-US" dirty="0" err="1"/>
              <a:t>DataBase</a:t>
            </a:r>
            <a:endParaRPr lang="en-US" dirty="0"/>
          </a:p>
        </p:txBody>
      </p:sp>
      <p:sp>
        <p:nvSpPr>
          <p:cNvPr id="3" name="Subtitle 2">
            <a:extLst>
              <a:ext uri="{FF2B5EF4-FFF2-40B4-BE49-F238E27FC236}">
                <a16:creationId xmlns:a16="http://schemas.microsoft.com/office/drawing/2014/main" id="{10AB3069-C608-4303-DE85-85C98B05157B}"/>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693C704-9F31-242D-BF15-7D930A158006}"/>
              </a:ext>
            </a:extLst>
          </p:cNvPr>
          <p:cNvSpPr>
            <a:spLocks noGrp="1"/>
          </p:cNvSpPr>
          <p:nvPr>
            <p:ph type="sldNum" sz="quarter" idx="12"/>
          </p:nvPr>
        </p:nvSpPr>
        <p:spPr/>
        <p:txBody>
          <a:bodyPr/>
          <a:lstStyle/>
          <a:p>
            <a:fld id="{6264BDCF-5269-49AC-A246-ED26C2B980E3}" type="slidenum">
              <a:rPr lang="en-US" smtClean="0"/>
              <a:t>1</a:t>
            </a:fld>
            <a:endParaRPr lang="en-US"/>
          </a:p>
        </p:txBody>
      </p:sp>
    </p:spTree>
    <p:extLst>
      <p:ext uri="{BB962C8B-B14F-4D97-AF65-F5344CB8AC3E}">
        <p14:creationId xmlns:p14="http://schemas.microsoft.com/office/powerpoint/2010/main" val="493323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B2C80-9FD9-EF84-AA9E-F999B4B5F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4C62C-0C1C-AA5D-C342-D3FEFC2861A1}"/>
              </a:ext>
            </a:extLst>
          </p:cNvPr>
          <p:cNvSpPr>
            <a:spLocks noGrp="1"/>
          </p:cNvSpPr>
          <p:nvPr>
            <p:ph type="ctrTitle"/>
          </p:nvPr>
        </p:nvSpPr>
        <p:spPr/>
        <p:txBody>
          <a:bodyPr/>
          <a:lstStyle/>
          <a:p>
            <a:r>
              <a:rPr lang="en-US" dirty="0" err="1"/>
              <a:t>DataBase</a:t>
            </a:r>
            <a:r>
              <a:rPr lang="en-US" dirty="0"/>
              <a:t> Design </a:t>
            </a:r>
          </a:p>
        </p:txBody>
      </p:sp>
      <p:sp>
        <p:nvSpPr>
          <p:cNvPr id="3" name="Subtitle 2">
            <a:extLst>
              <a:ext uri="{FF2B5EF4-FFF2-40B4-BE49-F238E27FC236}">
                <a16:creationId xmlns:a16="http://schemas.microsoft.com/office/drawing/2014/main" id="{FEF81BAB-2277-111D-30A9-7BC0984575BA}"/>
              </a:ext>
            </a:extLst>
          </p:cNvPr>
          <p:cNvSpPr>
            <a:spLocks noGrp="1"/>
          </p:cNvSpPr>
          <p:nvPr>
            <p:ph type="subTitle" idx="1"/>
          </p:nvPr>
        </p:nvSpPr>
        <p:spPr/>
        <p:txBody>
          <a:bodyPr>
            <a:normAutofit/>
          </a:bodyPr>
          <a:lstStyle/>
          <a:p>
            <a:r>
              <a:rPr lang="en-US" sz="3600" b="1" dirty="0"/>
              <a:t>Database Design Theory and Normalization</a:t>
            </a:r>
            <a:endParaRPr lang="en-US" sz="3600" dirty="0"/>
          </a:p>
        </p:txBody>
      </p:sp>
      <p:sp>
        <p:nvSpPr>
          <p:cNvPr id="4" name="Slide Number Placeholder 3">
            <a:extLst>
              <a:ext uri="{FF2B5EF4-FFF2-40B4-BE49-F238E27FC236}">
                <a16:creationId xmlns:a16="http://schemas.microsoft.com/office/drawing/2014/main" id="{5CC32E51-21AB-E06B-DF4E-89A4006AAB49}"/>
              </a:ext>
            </a:extLst>
          </p:cNvPr>
          <p:cNvSpPr>
            <a:spLocks noGrp="1"/>
          </p:cNvSpPr>
          <p:nvPr>
            <p:ph type="sldNum" sz="quarter" idx="12"/>
          </p:nvPr>
        </p:nvSpPr>
        <p:spPr/>
        <p:txBody>
          <a:bodyPr/>
          <a:lstStyle/>
          <a:p>
            <a:fld id="{6264BDCF-5269-49AC-A246-ED26C2B980E3}" type="slidenum">
              <a:rPr lang="en-US" smtClean="0"/>
              <a:t>2</a:t>
            </a:fld>
            <a:endParaRPr lang="en-US"/>
          </a:p>
        </p:txBody>
      </p:sp>
    </p:spTree>
    <p:extLst>
      <p:ext uri="{BB962C8B-B14F-4D97-AF65-F5344CB8AC3E}">
        <p14:creationId xmlns:p14="http://schemas.microsoft.com/office/powerpoint/2010/main" val="137935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D1F1F-55BD-CA71-4D8F-DC68AC92B8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7ADE5-068E-8788-6205-760622B21BFF}"/>
              </a:ext>
            </a:extLst>
          </p:cNvPr>
          <p:cNvSpPr>
            <a:spLocks noGrp="1"/>
          </p:cNvSpPr>
          <p:nvPr>
            <p:ph type="ctrTitle"/>
          </p:nvPr>
        </p:nvSpPr>
        <p:spPr/>
        <p:txBody>
          <a:bodyPr/>
          <a:lstStyle/>
          <a:p>
            <a:r>
              <a:rPr lang="en-US" dirty="0"/>
              <a:t>Design of Relational </a:t>
            </a:r>
            <a:r>
              <a:rPr lang="en-US" dirty="0" err="1"/>
              <a:t>DataBase</a:t>
            </a:r>
            <a:r>
              <a:rPr lang="en-US" dirty="0"/>
              <a:t> Structures</a:t>
            </a:r>
          </a:p>
        </p:txBody>
      </p:sp>
      <p:sp>
        <p:nvSpPr>
          <p:cNvPr id="3" name="Subtitle 2">
            <a:extLst>
              <a:ext uri="{FF2B5EF4-FFF2-40B4-BE49-F238E27FC236}">
                <a16:creationId xmlns:a16="http://schemas.microsoft.com/office/drawing/2014/main" id="{1110B16F-CDBD-E0C4-7ECE-4F2CC6110577}"/>
              </a:ext>
            </a:extLst>
          </p:cNvPr>
          <p:cNvSpPr>
            <a:spLocks noGrp="1"/>
          </p:cNvSpPr>
          <p:nvPr>
            <p:ph type="subTitle" idx="1"/>
          </p:nvPr>
        </p:nvSpPr>
        <p:spPr/>
        <p:txBody>
          <a:bodyPr>
            <a:normAutofit/>
          </a:bodyPr>
          <a:lstStyle/>
          <a:p>
            <a:endParaRPr lang="en-US" sz="3600" dirty="0"/>
          </a:p>
        </p:txBody>
      </p:sp>
      <p:sp>
        <p:nvSpPr>
          <p:cNvPr id="4" name="Slide Number Placeholder 3">
            <a:extLst>
              <a:ext uri="{FF2B5EF4-FFF2-40B4-BE49-F238E27FC236}">
                <a16:creationId xmlns:a16="http://schemas.microsoft.com/office/drawing/2014/main" id="{1E790BEE-B1DF-DCEA-8F4F-FD13B0B49D6B}"/>
              </a:ext>
            </a:extLst>
          </p:cNvPr>
          <p:cNvSpPr>
            <a:spLocks noGrp="1"/>
          </p:cNvSpPr>
          <p:nvPr>
            <p:ph type="sldNum" sz="quarter" idx="12"/>
          </p:nvPr>
        </p:nvSpPr>
        <p:spPr/>
        <p:txBody>
          <a:bodyPr/>
          <a:lstStyle/>
          <a:p>
            <a:fld id="{6264BDCF-5269-49AC-A246-ED26C2B980E3}" type="slidenum">
              <a:rPr lang="en-US" smtClean="0"/>
              <a:t>3</a:t>
            </a:fld>
            <a:endParaRPr lang="en-US"/>
          </a:p>
        </p:txBody>
      </p:sp>
    </p:spTree>
    <p:extLst>
      <p:ext uri="{BB962C8B-B14F-4D97-AF65-F5344CB8AC3E}">
        <p14:creationId xmlns:p14="http://schemas.microsoft.com/office/powerpoint/2010/main" val="476849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61B3A-7E93-831E-AA70-352B683DC8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8F3CD1-6F25-1CDB-247F-64ACB646893D}"/>
              </a:ext>
            </a:extLst>
          </p:cNvPr>
          <p:cNvSpPr>
            <a:spLocks noGrp="1"/>
          </p:cNvSpPr>
          <p:nvPr>
            <p:ph idx="1"/>
          </p:nvPr>
        </p:nvSpPr>
        <p:spPr/>
        <p:txBody>
          <a:bodyPr>
            <a:noAutofit/>
          </a:bodyPr>
          <a:lstStyle/>
          <a:p>
            <a:r>
              <a:rPr lang="en-US" dirty="0"/>
              <a:t>relation schema consists of a number of attributes</a:t>
            </a:r>
          </a:p>
          <a:p>
            <a:r>
              <a:rPr lang="en-US" dirty="0"/>
              <a:t>relational database schema consists of number of relation schemas</a:t>
            </a:r>
          </a:p>
          <a:p>
            <a:r>
              <a:rPr lang="en-US" dirty="0"/>
              <a:t>assumed that attributes are grouped to form relation schema by using the common sense of the </a:t>
            </a:r>
            <a:r>
              <a:rPr lang="en-US" dirty="0" err="1"/>
              <a:t>DataBase</a:t>
            </a:r>
            <a:r>
              <a:rPr lang="en-US" dirty="0"/>
              <a:t> </a:t>
            </a:r>
            <a:r>
              <a:rPr lang="en-US" dirty="0" err="1"/>
              <a:t>Adminstrator</a:t>
            </a:r>
            <a:r>
              <a:rPr lang="en-US" dirty="0"/>
              <a:t> DBA database designer or by mapping database schema design from conceptual data model such as ER or Enhanced-ER data model</a:t>
            </a:r>
          </a:p>
          <a:p>
            <a:r>
              <a:rPr lang="en-US" dirty="0"/>
              <a:t>designer identify entity types and relationship types and their respective attributes, which leads to natural and logical grouping of attributes into relations</a:t>
            </a:r>
          </a:p>
        </p:txBody>
      </p:sp>
      <p:sp>
        <p:nvSpPr>
          <p:cNvPr id="4" name="Slide Number Placeholder 3">
            <a:extLst>
              <a:ext uri="{FF2B5EF4-FFF2-40B4-BE49-F238E27FC236}">
                <a16:creationId xmlns:a16="http://schemas.microsoft.com/office/drawing/2014/main" id="{D3EBA196-80C7-A665-F67A-83BE4940F326}"/>
              </a:ext>
            </a:extLst>
          </p:cNvPr>
          <p:cNvSpPr>
            <a:spLocks noGrp="1"/>
          </p:cNvSpPr>
          <p:nvPr>
            <p:ph type="sldNum" sz="quarter" idx="12"/>
          </p:nvPr>
        </p:nvSpPr>
        <p:spPr/>
        <p:txBody>
          <a:bodyPr/>
          <a:lstStyle/>
          <a:p>
            <a:fld id="{6264BDCF-5269-49AC-A246-ED26C2B980E3}" type="slidenum">
              <a:rPr lang="en-US" smtClean="0"/>
              <a:t>4</a:t>
            </a:fld>
            <a:endParaRPr lang="en-US"/>
          </a:p>
        </p:txBody>
      </p:sp>
    </p:spTree>
    <p:extLst>
      <p:ext uri="{BB962C8B-B14F-4D97-AF65-F5344CB8AC3E}">
        <p14:creationId xmlns:p14="http://schemas.microsoft.com/office/powerpoint/2010/main" val="1730843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34376-DD0C-2C12-2D57-7FCD438282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00DB5F-A6C1-9CAF-2727-D0B2EDC8384A}"/>
              </a:ext>
            </a:extLst>
          </p:cNvPr>
          <p:cNvSpPr>
            <a:spLocks noGrp="1"/>
          </p:cNvSpPr>
          <p:nvPr>
            <p:ph idx="1"/>
          </p:nvPr>
        </p:nvSpPr>
        <p:spPr/>
        <p:txBody>
          <a:bodyPr>
            <a:noAutofit/>
          </a:bodyPr>
          <a:lstStyle/>
          <a:p>
            <a:r>
              <a:rPr lang="en-US" dirty="0"/>
              <a:t>need some formal way of analyzing why one grouping of attributes into relation schema may be better than another</a:t>
            </a:r>
          </a:p>
          <a:p>
            <a:r>
              <a:rPr lang="en-US" dirty="0"/>
              <a:t>develop any measure of appropriateness or goodness to measure quality </a:t>
            </a:r>
            <a:r>
              <a:rPr lang="en-US"/>
              <a:t>of design</a:t>
            </a:r>
            <a:endParaRPr lang="en-US" dirty="0"/>
          </a:p>
        </p:txBody>
      </p:sp>
      <p:sp>
        <p:nvSpPr>
          <p:cNvPr id="4" name="Slide Number Placeholder 3">
            <a:extLst>
              <a:ext uri="{FF2B5EF4-FFF2-40B4-BE49-F238E27FC236}">
                <a16:creationId xmlns:a16="http://schemas.microsoft.com/office/drawing/2014/main" id="{21A7A762-02F2-1991-F3CC-789D7F3EDFFE}"/>
              </a:ext>
            </a:extLst>
          </p:cNvPr>
          <p:cNvSpPr>
            <a:spLocks noGrp="1"/>
          </p:cNvSpPr>
          <p:nvPr>
            <p:ph type="sldNum" sz="quarter" idx="12"/>
          </p:nvPr>
        </p:nvSpPr>
        <p:spPr/>
        <p:txBody>
          <a:bodyPr/>
          <a:lstStyle/>
          <a:p>
            <a:fld id="{6264BDCF-5269-49AC-A246-ED26C2B980E3}" type="slidenum">
              <a:rPr lang="en-US" smtClean="0"/>
              <a:t>5</a:t>
            </a:fld>
            <a:endParaRPr lang="en-US"/>
          </a:p>
        </p:txBody>
      </p:sp>
    </p:spTree>
    <p:extLst>
      <p:ext uri="{BB962C8B-B14F-4D97-AF65-F5344CB8AC3E}">
        <p14:creationId xmlns:p14="http://schemas.microsoft.com/office/powerpoint/2010/main" val="4257296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955C-C226-B9BF-6E71-2619FCFB05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7D88BF-E37C-F334-A327-0C629C029D6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C7994A1-F82B-6947-02DC-FDC0934A3CDE}"/>
              </a:ext>
            </a:extLst>
          </p:cNvPr>
          <p:cNvSpPr>
            <a:spLocks noGrp="1"/>
          </p:cNvSpPr>
          <p:nvPr>
            <p:ph type="sldNum" sz="quarter" idx="12"/>
          </p:nvPr>
        </p:nvSpPr>
        <p:spPr/>
        <p:txBody>
          <a:bodyPr/>
          <a:lstStyle/>
          <a:p>
            <a:fld id="{6264BDCF-5269-49AC-A246-ED26C2B980E3}" type="slidenum">
              <a:rPr lang="en-US" smtClean="0"/>
              <a:t>6</a:t>
            </a:fld>
            <a:endParaRPr lang="en-US"/>
          </a:p>
        </p:txBody>
      </p:sp>
    </p:spTree>
    <p:extLst>
      <p:ext uri="{BB962C8B-B14F-4D97-AF65-F5344CB8AC3E}">
        <p14:creationId xmlns:p14="http://schemas.microsoft.com/office/powerpoint/2010/main" val="2550547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5"/>
          <p:cNvSpPr>
            <a:spLocks noGrp="1"/>
          </p:cNvSpPr>
          <p:nvPr>
            <p:ph type="ctrTitle"/>
          </p:nvPr>
        </p:nvSpPr>
        <p:spPr/>
        <p:txBody>
          <a:bodyPr/>
          <a:lstStyle/>
          <a:p>
            <a:r>
              <a:rPr lang="en-US"/>
              <a:t>“</a:t>
            </a:r>
            <a:r>
              <a:rPr lang="en-US" b="1"/>
              <a:t>Data modeling</a:t>
            </a:r>
            <a:r>
              <a:rPr lang="en-US"/>
              <a:t> is not optional”</a:t>
            </a:r>
          </a:p>
        </p:txBody>
      </p:sp>
      <p:sp>
        <p:nvSpPr>
          <p:cNvPr id="7" name="Subtitle 6"/>
          <p:cNvSpPr>
            <a:spLocks noGrp="1"/>
          </p:cNvSpPr>
          <p:nvPr>
            <p:ph type="subTitle" idx="1"/>
          </p:nvPr>
        </p:nvSpPr>
        <p:spPr/>
        <p:txBody>
          <a:bodyPr/>
          <a:lstStyle/>
          <a:p>
            <a:pPr>
              <a:defRPr/>
            </a:pPr>
            <a:r>
              <a:rPr lang="en-US" dirty="0"/>
              <a:t>no database or system was ever built without at least an implicit model</a:t>
            </a:r>
          </a:p>
        </p:txBody>
      </p:sp>
      <p:sp>
        <p:nvSpPr>
          <p:cNvPr id="2" name="Footer Placeholder 1"/>
          <p:cNvSpPr>
            <a:spLocks noGrp="1"/>
          </p:cNvSpPr>
          <p:nvPr>
            <p:ph type="ftr" sz="quarter" idx="11"/>
          </p:nvPr>
        </p:nvSpPr>
        <p:spPr/>
        <p:txBody>
          <a:bodyPr/>
          <a:lstStyle/>
          <a:p>
            <a:pPr>
              <a:defRPr/>
            </a:pPr>
            <a:r>
              <a:rPr lang="en-US"/>
              <a:t>DataBase Design Course Notes 03 - Normalization</a:t>
            </a:r>
          </a:p>
        </p:txBody>
      </p:sp>
      <p:sp>
        <p:nvSpPr>
          <p:cNvPr id="3" name="Slide Number Placeholder 2"/>
          <p:cNvSpPr>
            <a:spLocks noGrp="1"/>
          </p:cNvSpPr>
          <p:nvPr>
            <p:ph type="sldNum" sz="quarter" idx="12"/>
          </p:nvPr>
        </p:nvSpPr>
        <p:spPr/>
        <p:txBody>
          <a:bodyPr/>
          <a:lstStyle/>
          <a:p>
            <a:pPr>
              <a:defRPr/>
            </a:pPr>
            <a:fld id="{30AB5E0A-44F7-4403-A0CC-481FEEEECB85}" type="slidenum">
              <a:rPr lang="en-US" smtClean="0"/>
              <a:pPr>
                <a:defRPr/>
              </a:pPr>
              <a:t>7</a:t>
            </a:fld>
            <a:endParaRPr lang="en-US"/>
          </a:p>
        </p:txBody>
      </p:sp>
    </p:spTree>
    <p:extLst>
      <p:ext uri="{BB962C8B-B14F-4D97-AF65-F5344CB8AC3E}">
        <p14:creationId xmlns:p14="http://schemas.microsoft.com/office/powerpoint/2010/main" val="106760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endParaRPr lang="en-US"/>
          </a:p>
        </p:txBody>
      </p:sp>
      <p:sp>
        <p:nvSpPr>
          <p:cNvPr id="63491" name="Content Placeholder 2"/>
          <p:cNvSpPr>
            <a:spLocks noGrp="1"/>
          </p:cNvSpPr>
          <p:nvPr>
            <p:ph idx="1"/>
          </p:nvPr>
        </p:nvSpPr>
        <p:spPr/>
        <p:txBody>
          <a:bodyPr/>
          <a:lstStyle/>
          <a:p>
            <a:r>
              <a:rPr lang="en-US"/>
              <a:t>software programs are designed to implement a process model (or functional specification)</a:t>
            </a:r>
          </a:p>
          <a:p>
            <a:pPr lvl="1"/>
            <a:r>
              <a:rPr lang="en-US"/>
              <a:t>specifying business processes that the system is to perform</a:t>
            </a:r>
          </a:p>
          <a:p>
            <a:r>
              <a:rPr lang="en-US"/>
              <a:t>same way, database is specified by </a:t>
            </a:r>
            <a:r>
              <a:rPr lang="en-US" b="1"/>
              <a:t>data model</a:t>
            </a:r>
            <a:r>
              <a:rPr lang="en-US"/>
              <a:t>, describing what sort of data will be held and how it will be organized</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C194125B-A3AB-4BF2-A08A-7AB62B0A59CB}" type="slidenum">
              <a:rPr lang="en-US" smtClean="0"/>
              <a:pPr>
                <a:defRPr/>
              </a:pPr>
              <a:t>8</a:t>
            </a:fld>
            <a:endParaRPr lang="en-US"/>
          </a:p>
        </p:txBody>
      </p:sp>
    </p:spTree>
    <p:extLst>
      <p:ext uri="{BB962C8B-B14F-4D97-AF65-F5344CB8AC3E}">
        <p14:creationId xmlns:p14="http://schemas.microsoft.com/office/powerpoint/2010/main" val="202408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t>Design – Choice &amp; Creativity</a:t>
            </a:r>
          </a:p>
        </p:txBody>
      </p:sp>
      <p:sp>
        <p:nvSpPr>
          <p:cNvPr id="64515" name="Content Placeholder 2"/>
          <p:cNvSpPr>
            <a:spLocks noGrp="1"/>
          </p:cNvSpPr>
          <p:nvPr>
            <p:ph idx="1"/>
          </p:nvPr>
        </p:nvSpPr>
        <p:spPr/>
        <p:txBody>
          <a:bodyPr/>
          <a:lstStyle/>
          <a:p>
            <a:r>
              <a:rPr lang="en-US"/>
              <a:t>in design, we do not expect to find a single correct answer, although we will certainly be able to identify many that are incorrect</a:t>
            </a:r>
          </a:p>
          <a:p>
            <a:r>
              <a:rPr lang="en-US"/>
              <a:t>2 data modelers given same set of requirements may produce quite different solutions</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5842CADF-8E61-4911-AB39-1411DF736CA1}" type="slidenum">
              <a:rPr lang="en-US" smtClean="0"/>
              <a:pPr>
                <a:defRPr/>
              </a:pPr>
              <a:t>9</a:t>
            </a:fld>
            <a:endParaRPr lang="en-US"/>
          </a:p>
        </p:txBody>
      </p:sp>
    </p:spTree>
    <p:extLst>
      <p:ext uri="{BB962C8B-B14F-4D97-AF65-F5344CB8AC3E}">
        <p14:creationId xmlns:p14="http://schemas.microsoft.com/office/powerpoint/2010/main" val="2420069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endParaRPr lang="en-US"/>
          </a:p>
        </p:txBody>
      </p:sp>
      <p:sp>
        <p:nvSpPr>
          <p:cNvPr id="65539" name="Content Placeholder 2"/>
          <p:cNvSpPr>
            <a:spLocks noGrp="1"/>
          </p:cNvSpPr>
          <p:nvPr>
            <p:ph idx="1"/>
          </p:nvPr>
        </p:nvSpPr>
        <p:spPr/>
        <p:txBody>
          <a:bodyPr/>
          <a:lstStyle/>
          <a:p>
            <a:r>
              <a:rPr lang="en-US"/>
              <a:t>First choice of what symbols or codes we use to represent real-world facts in database</a:t>
            </a:r>
          </a:p>
          <a:p>
            <a:r>
              <a:rPr lang="en-US"/>
              <a:t>person’s age could be represented by Birth Date, Age at Date of …, or even by code corresponding to range</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23CA4183-3B79-45E5-B8E6-BA3BE15C4A3C}" type="slidenum">
              <a:rPr lang="en-US" smtClean="0"/>
              <a:pPr>
                <a:defRPr/>
              </a:pPr>
              <a:t>10</a:t>
            </a:fld>
            <a:endParaRPr lang="en-US"/>
          </a:p>
        </p:txBody>
      </p:sp>
    </p:spTree>
    <p:extLst>
      <p:ext uri="{BB962C8B-B14F-4D97-AF65-F5344CB8AC3E}">
        <p14:creationId xmlns:p14="http://schemas.microsoft.com/office/powerpoint/2010/main" val="251047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endParaRPr lang="en-US"/>
          </a:p>
        </p:txBody>
      </p:sp>
      <p:sp>
        <p:nvSpPr>
          <p:cNvPr id="66563" name="Content Placeholder 2"/>
          <p:cNvSpPr>
            <a:spLocks noGrp="1"/>
          </p:cNvSpPr>
          <p:nvPr>
            <p:ph idx="1"/>
          </p:nvPr>
        </p:nvSpPr>
        <p:spPr/>
        <p:txBody>
          <a:bodyPr/>
          <a:lstStyle/>
          <a:p>
            <a:r>
              <a:rPr lang="en-US"/>
              <a:t>Second choice there is usually more than one way to organize (classify) data </a:t>
            </a:r>
          </a:p>
          <a:p>
            <a:pPr lvl="1"/>
            <a:r>
              <a:rPr lang="en-US"/>
              <a:t>into tables and columns in relational model</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9EFE0722-33FD-4229-BE95-5494595242D2}" type="slidenum">
              <a:rPr lang="en-US" smtClean="0"/>
              <a:pPr>
                <a:defRPr/>
              </a:pPr>
              <a:t>11</a:t>
            </a:fld>
            <a:endParaRPr lang="en-US"/>
          </a:p>
        </p:txBody>
      </p:sp>
    </p:spTree>
    <p:extLst>
      <p:ext uri="{BB962C8B-B14F-4D97-AF65-F5344CB8AC3E}">
        <p14:creationId xmlns:p14="http://schemas.microsoft.com/office/powerpoint/2010/main" val="650562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endParaRPr lang="en-US"/>
          </a:p>
        </p:txBody>
      </p:sp>
      <p:sp>
        <p:nvSpPr>
          <p:cNvPr id="67587" name="Content Placeholder 2"/>
          <p:cNvSpPr>
            <a:spLocks noGrp="1"/>
          </p:cNvSpPr>
          <p:nvPr>
            <p:ph idx="1"/>
          </p:nvPr>
        </p:nvSpPr>
        <p:spPr/>
        <p:txBody>
          <a:bodyPr/>
          <a:lstStyle/>
          <a:p>
            <a:r>
              <a:rPr lang="en-US"/>
              <a:t>Third choice requirements from which we work in practice are usually incomplete, or at least loose enough to accommodate a variety of different solutions</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8D73B59B-E8C8-4D23-B21D-5C1717C0967E}" type="slidenum">
              <a:rPr lang="en-US" smtClean="0"/>
              <a:pPr>
                <a:defRPr/>
              </a:pPr>
              <a:t>12</a:t>
            </a:fld>
            <a:endParaRPr lang="en-US"/>
          </a:p>
        </p:txBody>
      </p:sp>
    </p:spTree>
    <p:extLst>
      <p:ext uri="{BB962C8B-B14F-4D97-AF65-F5344CB8AC3E}">
        <p14:creationId xmlns:p14="http://schemas.microsoft.com/office/powerpoint/2010/main" val="4209314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endParaRPr lang="en-US"/>
          </a:p>
        </p:txBody>
      </p:sp>
      <p:sp>
        <p:nvSpPr>
          <p:cNvPr id="68611" name="Content Placeholder 2"/>
          <p:cNvSpPr>
            <a:spLocks noGrp="1"/>
          </p:cNvSpPr>
          <p:nvPr>
            <p:ph idx="1"/>
          </p:nvPr>
        </p:nvSpPr>
        <p:spPr/>
        <p:txBody>
          <a:bodyPr/>
          <a:lstStyle/>
          <a:p>
            <a:r>
              <a:rPr lang="en-US"/>
              <a:t>Fourth choice we have some options as to which part of system will handle each business requirement</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1E694B67-F24B-481F-94D5-BFE818B5B5DC}" type="slidenum">
              <a:rPr lang="en-US" smtClean="0"/>
              <a:pPr>
                <a:defRPr/>
              </a:pPr>
              <a:t>13</a:t>
            </a:fld>
            <a:endParaRPr lang="en-US"/>
          </a:p>
        </p:txBody>
      </p:sp>
    </p:spTree>
    <p:extLst>
      <p:ext uri="{BB962C8B-B14F-4D97-AF65-F5344CB8AC3E}">
        <p14:creationId xmlns:p14="http://schemas.microsoft.com/office/powerpoint/2010/main" val="1107469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endParaRPr lang="en-US"/>
          </a:p>
        </p:txBody>
      </p:sp>
      <p:sp>
        <p:nvSpPr>
          <p:cNvPr id="69635" name="Content Placeholder 2"/>
          <p:cNvSpPr>
            <a:spLocks noGrp="1"/>
          </p:cNvSpPr>
          <p:nvPr>
            <p:ph idx="1"/>
          </p:nvPr>
        </p:nvSpPr>
        <p:spPr/>
        <p:txBody>
          <a:bodyPr/>
          <a:lstStyle/>
          <a:p>
            <a:r>
              <a:rPr lang="en-US" dirty="0"/>
              <a:t>Finally, and perhaps most importantly</a:t>
            </a:r>
          </a:p>
          <a:p>
            <a:pPr lvl="1"/>
            <a:r>
              <a:rPr lang="en-US" dirty="0"/>
              <a:t>new information systems seldom deliver value simply by automating current way of doing things</a:t>
            </a:r>
          </a:p>
          <a:p>
            <a:r>
              <a:rPr lang="en-US" dirty="0"/>
              <a:t>to exploit information technology fully, we generally need to change our business processes and data required to support them</a:t>
            </a:r>
          </a:p>
          <a:p>
            <a:r>
              <a:rPr lang="en-US" dirty="0"/>
              <a:t>data modeler becomes a player in helping to design new way of doing business, rather than merely reflecting the old</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FF6EACD-4A05-4DDF-906E-88D5145CCF07}" type="slidenum">
              <a:rPr lang="en-US" smtClean="0"/>
              <a:pPr>
                <a:defRPr/>
              </a:pPr>
              <a:t>14</a:t>
            </a:fld>
            <a:endParaRPr lang="en-US"/>
          </a:p>
        </p:txBody>
      </p:sp>
    </p:spTree>
    <p:extLst>
      <p:ext uri="{BB962C8B-B14F-4D97-AF65-F5344CB8AC3E}">
        <p14:creationId xmlns:p14="http://schemas.microsoft.com/office/powerpoint/2010/main" val="182260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endParaRPr lang="en-US"/>
          </a:p>
        </p:txBody>
      </p:sp>
      <p:sp>
        <p:nvSpPr>
          <p:cNvPr id="70659" name="Content Placeholder 2"/>
          <p:cNvSpPr>
            <a:spLocks noGrp="1"/>
          </p:cNvSpPr>
          <p:nvPr>
            <p:ph idx="1"/>
          </p:nvPr>
        </p:nvSpPr>
        <p:spPr/>
        <p:txBody>
          <a:bodyPr/>
          <a:lstStyle/>
          <a:p>
            <a:r>
              <a:rPr lang="en-US"/>
              <a:t>We want you to learn not only to produce sound, workable models (that will not fall down) but to be able to develop and compare different options</a:t>
            </a:r>
          </a:p>
          <a:p>
            <a:endParaRPr lang="en-US"/>
          </a:p>
          <a:p>
            <a:r>
              <a:rPr lang="en-US" i="1"/>
              <a:t>not throw away rule book, not suggest that anything goes</a:t>
            </a:r>
          </a:p>
          <a:p>
            <a:endParaRPr lang="en-US"/>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AB655FF1-C88D-4265-AF4E-3BBC4B67B9AC}" type="slidenum">
              <a:rPr lang="en-US" smtClean="0"/>
              <a:pPr>
                <a:defRPr/>
              </a:pPr>
              <a:t>15</a:t>
            </a:fld>
            <a:endParaRPr lang="en-US"/>
          </a:p>
        </p:txBody>
      </p:sp>
    </p:spTree>
    <p:extLst>
      <p:ext uri="{BB962C8B-B14F-4D97-AF65-F5344CB8AC3E}">
        <p14:creationId xmlns:p14="http://schemas.microsoft.com/office/powerpoint/2010/main" val="1905717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a:t>Data Model Important</a:t>
            </a:r>
          </a:p>
        </p:txBody>
      </p:sp>
      <p:sp>
        <p:nvSpPr>
          <p:cNvPr id="71683" name="Content Placeholder 2"/>
          <p:cNvSpPr>
            <a:spLocks noGrp="1"/>
          </p:cNvSpPr>
          <p:nvPr>
            <p:ph idx="1"/>
          </p:nvPr>
        </p:nvSpPr>
        <p:spPr/>
        <p:txBody>
          <a:bodyPr/>
          <a:lstStyle/>
          <a:p>
            <a:r>
              <a:rPr lang="en-US"/>
              <a:t>Leverage</a:t>
            </a:r>
          </a:p>
          <a:p>
            <a:r>
              <a:rPr lang="en-US"/>
              <a:t>Conciseness</a:t>
            </a:r>
          </a:p>
          <a:p>
            <a:r>
              <a:rPr lang="en-US"/>
              <a:t>Data Quality</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2CD5D6A3-D5EA-4A3B-AB06-D75175455AE6}" type="slidenum">
              <a:rPr lang="en-US" smtClean="0"/>
              <a:pPr>
                <a:defRPr/>
              </a:pPr>
              <a:t>16</a:t>
            </a:fld>
            <a:endParaRPr lang="en-US"/>
          </a:p>
        </p:txBody>
      </p:sp>
    </p:spTree>
    <p:extLst>
      <p:ext uri="{BB962C8B-B14F-4D97-AF65-F5344CB8AC3E}">
        <p14:creationId xmlns:p14="http://schemas.microsoft.com/office/powerpoint/2010/main" val="368323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r>
              <a:rPr lang="en-US"/>
              <a:t>Leverage</a:t>
            </a:r>
          </a:p>
        </p:txBody>
      </p:sp>
      <p:sp>
        <p:nvSpPr>
          <p:cNvPr id="72707" name="Content Placeholder 2"/>
          <p:cNvSpPr>
            <a:spLocks noGrp="1"/>
          </p:cNvSpPr>
          <p:nvPr>
            <p:ph idx="1"/>
          </p:nvPr>
        </p:nvSpPr>
        <p:spPr/>
        <p:txBody>
          <a:bodyPr/>
          <a:lstStyle/>
          <a:p>
            <a:r>
              <a:rPr lang="en-US"/>
              <a:t>small change to data model may have major impact on system as whole</a:t>
            </a:r>
          </a:p>
          <a:p>
            <a:r>
              <a:rPr lang="en-US"/>
              <a:t>programs are far more complex and take longer to specify and construct than database</a:t>
            </a:r>
          </a:p>
          <a:p>
            <a:pPr lvl="1"/>
            <a:r>
              <a:rPr lang="en-US"/>
              <a:t>their content and structure are heavily influenced by database design</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318492DA-D766-420A-9A8A-40985CA43BDB}" type="slidenum">
              <a:rPr lang="en-US" smtClean="0"/>
              <a:pPr>
                <a:defRPr/>
              </a:pPr>
              <a:t>17</a:t>
            </a:fld>
            <a:endParaRPr lang="en-US"/>
          </a:p>
        </p:txBody>
      </p:sp>
    </p:spTree>
    <p:extLst>
      <p:ext uri="{BB962C8B-B14F-4D97-AF65-F5344CB8AC3E}">
        <p14:creationId xmlns:p14="http://schemas.microsoft.com/office/powerpoint/2010/main" val="847145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r>
              <a:rPr lang="en-US"/>
              <a:t>Leverage</a:t>
            </a:r>
          </a:p>
        </p:txBody>
      </p:sp>
      <p:sp>
        <p:nvSpPr>
          <p:cNvPr id="73731" name="Content Placeholder 2"/>
          <p:cNvSpPr>
            <a:spLocks noGrp="1"/>
          </p:cNvSpPr>
          <p:nvPr>
            <p:ph idx="1"/>
          </p:nvPr>
        </p:nvSpPr>
        <p:spPr/>
        <p:txBody>
          <a:bodyPr/>
          <a:lstStyle/>
          <a:p>
            <a:r>
              <a:rPr lang="en-US"/>
              <a:t>well-designed data model can make programming simpler and cheaper</a:t>
            </a:r>
          </a:p>
          <a:p>
            <a:r>
              <a:rPr lang="en-US"/>
              <a:t>poor data organization can be expensive to fix</a:t>
            </a:r>
          </a:p>
          <a:p>
            <a:endParaRPr lang="en-US"/>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2BF82366-3F5C-45A1-A152-0EB7D1EA9F0B}" type="slidenum">
              <a:rPr lang="en-US" smtClean="0"/>
              <a:pPr>
                <a:defRPr/>
              </a:pPr>
              <a:t>18</a:t>
            </a:fld>
            <a:endParaRPr lang="en-US"/>
          </a:p>
        </p:txBody>
      </p:sp>
    </p:spTree>
    <p:extLst>
      <p:ext uri="{BB962C8B-B14F-4D97-AF65-F5344CB8AC3E}">
        <p14:creationId xmlns:p14="http://schemas.microsoft.com/office/powerpoint/2010/main" val="2771119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r>
              <a:rPr lang="en-US"/>
              <a:t>Conciseness</a:t>
            </a:r>
          </a:p>
        </p:txBody>
      </p:sp>
      <p:sp>
        <p:nvSpPr>
          <p:cNvPr id="74755" name="Content Placeholder 2"/>
          <p:cNvSpPr>
            <a:spLocks noGrp="1"/>
          </p:cNvSpPr>
          <p:nvPr>
            <p:ph idx="1"/>
          </p:nvPr>
        </p:nvSpPr>
        <p:spPr/>
        <p:txBody>
          <a:bodyPr/>
          <a:lstStyle/>
          <a:p>
            <a:r>
              <a:rPr lang="en-US"/>
              <a:t>data model is powerful tool for expressing information systems requirements and capabilities</a:t>
            </a:r>
          </a:p>
          <a:p>
            <a:r>
              <a:rPr lang="en-US"/>
              <a:t>implicitly defines whole set of screens, reports, and processes needed to capture, update, retrieve, and delete specified data</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C58E499A-0C47-4435-A1D7-6C98C273BBFF}" type="slidenum">
              <a:rPr lang="en-US" smtClean="0"/>
              <a:pPr>
                <a:defRPr/>
              </a:pPr>
              <a:t>19</a:t>
            </a:fld>
            <a:endParaRPr lang="en-US"/>
          </a:p>
        </p:txBody>
      </p:sp>
    </p:spTree>
    <p:extLst>
      <p:ext uri="{BB962C8B-B14F-4D97-AF65-F5344CB8AC3E}">
        <p14:creationId xmlns:p14="http://schemas.microsoft.com/office/powerpoint/2010/main" val="2464872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r>
              <a:rPr lang="en-US"/>
              <a:t>Data Quality</a:t>
            </a:r>
          </a:p>
        </p:txBody>
      </p:sp>
      <p:sp>
        <p:nvSpPr>
          <p:cNvPr id="75779" name="Content Placeholder 2"/>
          <p:cNvSpPr>
            <a:spLocks noGrp="1"/>
          </p:cNvSpPr>
          <p:nvPr>
            <p:ph idx="1"/>
          </p:nvPr>
        </p:nvSpPr>
        <p:spPr/>
        <p:txBody>
          <a:bodyPr/>
          <a:lstStyle/>
          <a:p>
            <a:r>
              <a:rPr lang="en-US" dirty="0"/>
              <a:t>database is usually valuable business asset built up over long period</a:t>
            </a:r>
          </a:p>
          <a:p>
            <a:r>
              <a:rPr lang="en-US" dirty="0"/>
              <a:t>establishing common understanding of what is to be held in each table and column, and how it is to be interpreted</a:t>
            </a:r>
          </a:p>
          <a:p>
            <a:r>
              <a:rPr lang="en-US" dirty="0"/>
              <a:t>problems with data quality can be traced to lack of consistency </a:t>
            </a:r>
          </a:p>
          <a:p>
            <a:pPr lvl="1"/>
            <a:r>
              <a:rPr lang="en-US" dirty="0"/>
              <a:t>in defining and interpreting data</a:t>
            </a:r>
          </a:p>
          <a:p>
            <a:pPr lvl="1"/>
            <a:r>
              <a:rPr lang="en-US" dirty="0"/>
              <a:t>implementing mechanisms to enforce definitions</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D76ED479-ADB9-42A5-8F30-E0080142A0A7}" type="slidenum">
              <a:rPr lang="en-US" smtClean="0"/>
              <a:pPr>
                <a:defRPr/>
              </a:pPr>
              <a:t>20</a:t>
            </a:fld>
            <a:endParaRPr lang="en-US"/>
          </a:p>
        </p:txBody>
      </p:sp>
    </p:spTree>
    <p:extLst>
      <p:ext uri="{BB962C8B-B14F-4D97-AF65-F5344CB8AC3E}">
        <p14:creationId xmlns:p14="http://schemas.microsoft.com/office/powerpoint/2010/main" val="22573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p:txBody>
          <a:bodyPr/>
          <a:lstStyle/>
          <a:p>
            <a:r>
              <a:rPr lang="en-US"/>
              <a:t>What Makes a Good Data Model?</a:t>
            </a:r>
          </a:p>
        </p:txBody>
      </p:sp>
      <p:sp>
        <p:nvSpPr>
          <p:cNvPr id="76803" name="Content Placeholder 2"/>
          <p:cNvSpPr>
            <a:spLocks noGrp="1"/>
          </p:cNvSpPr>
          <p:nvPr>
            <p:ph idx="1"/>
          </p:nvPr>
        </p:nvSpPr>
        <p:spPr/>
        <p:txBody>
          <a:bodyPr>
            <a:normAutofit fontScale="92500" lnSpcReduction="10000"/>
          </a:bodyPr>
          <a:lstStyle/>
          <a:p>
            <a:r>
              <a:rPr lang="en-US" sz="2600"/>
              <a:t>Completeness</a:t>
            </a:r>
          </a:p>
          <a:p>
            <a:r>
              <a:rPr lang="en-US" sz="2600"/>
              <a:t>Non-redundancy</a:t>
            </a:r>
          </a:p>
          <a:p>
            <a:r>
              <a:rPr lang="en-US" sz="2600"/>
              <a:t>Enforcement of Business Rules</a:t>
            </a:r>
          </a:p>
          <a:p>
            <a:r>
              <a:rPr lang="en-US" sz="2600"/>
              <a:t>Data Reusability</a:t>
            </a:r>
          </a:p>
          <a:p>
            <a:r>
              <a:rPr lang="en-US" sz="2600"/>
              <a:t>Stability and Flexibility</a:t>
            </a:r>
          </a:p>
          <a:p>
            <a:r>
              <a:rPr lang="en-US" sz="2600"/>
              <a:t>Elegance</a:t>
            </a:r>
          </a:p>
          <a:p>
            <a:r>
              <a:rPr lang="en-US" sz="2600"/>
              <a:t>Communication</a:t>
            </a:r>
          </a:p>
          <a:p>
            <a:r>
              <a:rPr lang="en-US" sz="2600"/>
              <a:t>Integration</a:t>
            </a:r>
          </a:p>
          <a:p>
            <a:r>
              <a:rPr lang="en-US" sz="2600"/>
              <a:t>Conflicting Objectives</a:t>
            </a:r>
          </a:p>
          <a:p>
            <a:r>
              <a:rPr lang="en-US" sz="2400"/>
              <a:t>Performance</a:t>
            </a:r>
            <a:endParaRPr lang="en-US" sz="2600"/>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C77D9C86-93D4-4615-AC2B-5CE4B0A9BDF7}" type="slidenum">
              <a:rPr lang="en-US" smtClean="0"/>
              <a:pPr>
                <a:defRPr/>
              </a:pPr>
              <a:t>21</a:t>
            </a:fld>
            <a:endParaRPr lang="en-US"/>
          </a:p>
        </p:txBody>
      </p:sp>
    </p:spTree>
    <p:extLst>
      <p:ext uri="{BB962C8B-B14F-4D97-AF65-F5344CB8AC3E}">
        <p14:creationId xmlns:p14="http://schemas.microsoft.com/office/powerpoint/2010/main" val="869204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r>
              <a:rPr lang="en-US"/>
              <a:t>Completeness</a:t>
            </a:r>
          </a:p>
        </p:txBody>
      </p:sp>
      <p:sp>
        <p:nvSpPr>
          <p:cNvPr id="77827" name="Content Placeholder 2"/>
          <p:cNvSpPr>
            <a:spLocks noGrp="1"/>
          </p:cNvSpPr>
          <p:nvPr>
            <p:ph idx="1"/>
          </p:nvPr>
        </p:nvSpPr>
        <p:spPr/>
        <p:txBody>
          <a:bodyPr/>
          <a:lstStyle/>
          <a:p>
            <a:r>
              <a:rPr lang="en-US"/>
              <a:t>Does the model support all the necessary data?</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9F696A06-E627-4617-B2D2-4E962D54E804}" type="slidenum">
              <a:rPr lang="en-US" smtClean="0"/>
              <a:pPr>
                <a:defRPr/>
              </a:pPr>
              <a:t>22</a:t>
            </a:fld>
            <a:endParaRPr lang="en-US"/>
          </a:p>
        </p:txBody>
      </p:sp>
    </p:spTree>
    <p:extLst>
      <p:ext uri="{BB962C8B-B14F-4D97-AF65-F5344CB8AC3E}">
        <p14:creationId xmlns:p14="http://schemas.microsoft.com/office/powerpoint/2010/main" val="1660119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a:t>Non-redundancy</a:t>
            </a:r>
          </a:p>
        </p:txBody>
      </p:sp>
      <p:sp>
        <p:nvSpPr>
          <p:cNvPr id="78851" name="Content Placeholder 2"/>
          <p:cNvSpPr>
            <a:spLocks noGrp="1"/>
          </p:cNvSpPr>
          <p:nvPr>
            <p:ph idx="1"/>
          </p:nvPr>
        </p:nvSpPr>
        <p:spPr/>
        <p:txBody>
          <a:bodyPr/>
          <a:lstStyle/>
          <a:p>
            <a:r>
              <a:rPr lang="en-US"/>
              <a:t>Does the model specify a database in which the same fact could be recorded more than once?</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78C08198-0E05-4CBA-BB79-5B17D934E31C}" type="slidenum">
              <a:rPr lang="en-US" smtClean="0"/>
              <a:pPr>
                <a:defRPr/>
              </a:pPr>
              <a:t>23</a:t>
            </a:fld>
            <a:endParaRPr lang="en-US"/>
          </a:p>
        </p:txBody>
      </p:sp>
    </p:spTree>
    <p:extLst>
      <p:ext uri="{BB962C8B-B14F-4D97-AF65-F5344CB8AC3E}">
        <p14:creationId xmlns:p14="http://schemas.microsoft.com/office/powerpoint/2010/main" val="1918605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p:txBody>
          <a:bodyPr/>
          <a:lstStyle/>
          <a:p>
            <a:r>
              <a:rPr lang="en-US"/>
              <a:t>Enforcement of Business Rules</a:t>
            </a:r>
          </a:p>
        </p:txBody>
      </p:sp>
      <p:sp>
        <p:nvSpPr>
          <p:cNvPr id="79875" name="Content Placeholder 2"/>
          <p:cNvSpPr>
            <a:spLocks noGrp="1"/>
          </p:cNvSpPr>
          <p:nvPr>
            <p:ph idx="1"/>
          </p:nvPr>
        </p:nvSpPr>
        <p:spPr/>
        <p:txBody>
          <a:bodyPr/>
          <a:lstStyle/>
          <a:p>
            <a:r>
              <a:rPr lang="en-US"/>
              <a:t>How accurately does the model reflect and enforce the rules that apply to the business’ data?</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DA1F042E-78B8-45FB-8518-B935F0ED11C3}" type="slidenum">
              <a:rPr lang="en-US" smtClean="0"/>
              <a:pPr>
                <a:defRPr/>
              </a:pPr>
              <a:t>24</a:t>
            </a:fld>
            <a:endParaRPr lang="en-US"/>
          </a:p>
        </p:txBody>
      </p:sp>
    </p:spTree>
    <p:extLst>
      <p:ext uri="{BB962C8B-B14F-4D97-AF65-F5344CB8AC3E}">
        <p14:creationId xmlns:p14="http://schemas.microsoft.com/office/powerpoint/2010/main" val="2979734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en-US"/>
              <a:t>Data Reusability</a:t>
            </a:r>
          </a:p>
        </p:txBody>
      </p:sp>
      <p:sp>
        <p:nvSpPr>
          <p:cNvPr id="80899" name="Content Placeholder 2"/>
          <p:cNvSpPr>
            <a:spLocks noGrp="1"/>
          </p:cNvSpPr>
          <p:nvPr>
            <p:ph idx="1"/>
          </p:nvPr>
        </p:nvSpPr>
        <p:spPr/>
        <p:txBody>
          <a:bodyPr/>
          <a:lstStyle/>
          <a:p>
            <a:r>
              <a:rPr lang="en-US"/>
              <a:t>Will data stored in database be re-useable for purposes beyond those anticipated in process model? </a:t>
            </a:r>
          </a:p>
          <a:p>
            <a:r>
              <a:rPr lang="en-US"/>
              <a:t>once an organization has captured data to serve particular requirement, other potential uses and users almost invariably emerge</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7B0D14B3-2B8C-4FCA-BFCE-85E2A02B3D86}" type="slidenum">
              <a:rPr lang="en-US" smtClean="0"/>
              <a:pPr>
                <a:defRPr/>
              </a:pPr>
              <a:t>25</a:t>
            </a:fld>
            <a:endParaRPr lang="en-US"/>
          </a:p>
        </p:txBody>
      </p:sp>
    </p:spTree>
    <p:extLst>
      <p:ext uri="{BB962C8B-B14F-4D97-AF65-F5344CB8AC3E}">
        <p14:creationId xmlns:p14="http://schemas.microsoft.com/office/powerpoint/2010/main" val="1138585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en-US"/>
              <a:t>Stability and Flexibility</a:t>
            </a:r>
          </a:p>
        </p:txBody>
      </p:sp>
      <p:sp>
        <p:nvSpPr>
          <p:cNvPr id="81923" name="Content Placeholder 2"/>
          <p:cNvSpPr>
            <a:spLocks noGrp="1"/>
          </p:cNvSpPr>
          <p:nvPr>
            <p:ph idx="1"/>
          </p:nvPr>
        </p:nvSpPr>
        <p:spPr/>
        <p:txBody>
          <a:bodyPr/>
          <a:lstStyle/>
          <a:p>
            <a:r>
              <a:rPr lang="en-US"/>
              <a:t>How well will the model cope with possible changes to business requirements? </a:t>
            </a:r>
          </a:p>
          <a:p>
            <a:r>
              <a:rPr lang="en-US"/>
              <a:t>can any new data required to support such changes be accommodated in existing tables?</a:t>
            </a:r>
          </a:p>
          <a:p>
            <a:pPr lvl="1"/>
            <a:r>
              <a:rPr lang="en-US"/>
              <a:t>or will we be forced to make major structural changes, with corresponding impact on the rest of the system?</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15E8DC44-FE7A-4601-8CE1-5A768280724E}" type="slidenum">
              <a:rPr lang="en-US" smtClean="0"/>
              <a:pPr>
                <a:defRPr/>
              </a:pPr>
              <a:t>26</a:t>
            </a:fld>
            <a:endParaRPr lang="en-US"/>
          </a:p>
        </p:txBody>
      </p:sp>
    </p:spTree>
    <p:extLst>
      <p:ext uri="{BB962C8B-B14F-4D97-AF65-F5344CB8AC3E}">
        <p14:creationId xmlns:p14="http://schemas.microsoft.com/office/powerpoint/2010/main" val="3975131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r>
              <a:rPr lang="en-US"/>
              <a:t>Stability and Flexibility</a:t>
            </a:r>
          </a:p>
        </p:txBody>
      </p:sp>
      <p:sp>
        <p:nvSpPr>
          <p:cNvPr id="82947" name="Content Placeholder 2"/>
          <p:cNvSpPr>
            <a:spLocks noGrp="1"/>
          </p:cNvSpPr>
          <p:nvPr>
            <p:ph idx="1"/>
          </p:nvPr>
        </p:nvSpPr>
        <p:spPr/>
        <p:txBody>
          <a:bodyPr/>
          <a:lstStyle/>
          <a:p>
            <a:r>
              <a:rPr lang="en-US" sz="3000" dirty="0"/>
              <a:t>data model is </a:t>
            </a:r>
            <a:r>
              <a:rPr lang="en-US" sz="3000" b="1" dirty="0"/>
              <a:t>stable</a:t>
            </a:r>
            <a:r>
              <a:rPr lang="en-US" sz="3000" dirty="0"/>
              <a:t> in the face of a change to requirements if we do not need to modify it at all</a:t>
            </a:r>
          </a:p>
          <a:p>
            <a:pPr lvl="1"/>
            <a:r>
              <a:rPr lang="en-US" sz="2700" dirty="0"/>
              <a:t>we can talk of models being more or less stable, depending on level of change required </a:t>
            </a:r>
          </a:p>
          <a:p>
            <a:r>
              <a:rPr lang="en-US" sz="3000" dirty="0"/>
              <a:t>data model is </a:t>
            </a:r>
            <a:r>
              <a:rPr lang="en-US" sz="3000" b="1" dirty="0"/>
              <a:t>flexible </a:t>
            </a:r>
            <a:r>
              <a:rPr lang="en-US" sz="3000" dirty="0"/>
              <a:t>if it can be readily extended to accommodate likely new requirements with only minimal impact on existing structure</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376567A5-0AA0-40B5-BDF3-909CAA9A5AD0}" type="slidenum">
              <a:rPr lang="en-US" smtClean="0"/>
              <a:pPr>
                <a:defRPr/>
              </a:pPr>
              <a:t>27</a:t>
            </a:fld>
            <a:endParaRPr lang="en-US"/>
          </a:p>
        </p:txBody>
      </p:sp>
    </p:spTree>
    <p:extLst>
      <p:ext uri="{BB962C8B-B14F-4D97-AF65-F5344CB8AC3E}">
        <p14:creationId xmlns:p14="http://schemas.microsoft.com/office/powerpoint/2010/main" val="30318949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r>
              <a:rPr lang="en-US"/>
              <a:t>Elegance</a:t>
            </a:r>
          </a:p>
        </p:txBody>
      </p:sp>
      <p:sp>
        <p:nvSpPr>
          <p:cNvPr id="83971" name="Content Placeholder 2"/>
          <p:cNvSpPr>
            <a:spLocks noGrp="1"/>
          </p:cNvSpPr>
          <p:nvPr>
            <p:ph idx="1"/>
          </p:nvPr>
        </p:nvSpPr>
        <p:spPr/>
        <p:txBody>
          <a:bodyPr/>
          <a:lstStyle/>
          <a:p>
            <a:r>
              <a:rPr lang="en-US"/>
              <a:t>Does the data model provide a reasonably neat and simple classification of the data?</a:t>
            </a:r>
          </a:p>
          <a:p>
            <a:r>
              <a:rPr lang="en-US"/>
              <a:t>simple</a:t>
            </a:r>
          </a:p>
          <a:p>
            <a:r>
              <a:rPr lang="en-US"/>
              <a:t>consistent</a:t>
            </a:r>
          </a:p>
          <a:p>
            <a:r>
              <a:rPr lang="en-US"/>
              <a:t>easily described and summarized</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52F44655-CD42-4BD8-B81D-2A545053D75B}" type="slidenum">
              <a:rPr lang="en-US" smtClean="0"/>
              <a:pPr>
                <a:defRPr/>
              </a:pPr>
              <a:t>28</a:t>
            </a:fld>
            <a:endParaRPr lang="en-US"/>
          </a:p>
        </p:txBody>
      </p:sp>
    </p:spTree>
    <p:extLst>
      <p:ext uri="{BB962C8B-B14F-4D97-AF65-F5344CB8AC3E}">
        <p14:creationId xmlns:p14="http://schemas.microsoft.com/office/powerpoint/2010/main" val="2152427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lstStyle/>
          <a:p>
            <a:r>
              <a:rPr lang="en-US"/>
              <a:t>Communication</a:t>
            </a:r>
          </a:p>
        </p:txBody>
      </p:sp>
      <p:sp>
        <p:nvSpPr>
          <p:cNvPr id="84995" name="Content Placeholder 2"/>
          <p:cNvSpPr>
            <a:spLocks noGrp="1"/>
          </p:cNvSpPr>
          <p:nvPr>
            <p:ph idx="1"/>
          </p:nvPr>
        </p:nvSpPr>
        <p:spPr/>
        <p:txBody>
          <a:bodyPr/>
          <a:lstStyle/>
          <a:p>
            <a:r>
              <a:rPr lang="en-US"/>
              <a:t>How effective is the model in supporting communication among various stakeholders in the design of a system? </a:t>
            </a:r>
          </a:p>
          <a:p>
            <a:r>
              <a:rPr lang="en-US"/>
              <a:t>Do tables and columns represent business concepts that users and business specialists are familiar with and can easily verify? </a:t>
            </a:r>
          </a:p>
          <a:p>
            <a:r>
              <a:rPr lang="en-US"/>
              <a:t>Will programmers interpret model correctly?</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7A414AFD-FE37-4108-8F75-1A7DF75DC890}" type="slidenum">
              <a:rPr lang="en-US" smtClean="0"/>
              <a:pPr>
                <a:defRPr/>
              </a:pPr>
              <a:t>29</a:t>
            </a:fld>
            <a:endParaRPr lang="en-US"/>
          </a:p>
        </p:txBody>
      </p:sp>
    </p:spTree>
    <p:extLst>
      <p:ext uri="{BB962C8B-B14F-4D97-AF65-F5344CB8AC3E}">
        <p14:creationId xmlns:p14="http://schemas.microsoft.com/office/powerpoint/2010/main" val="23188360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a:lstStyle/>
          <a:p>
            <a:r>
              <a:rPr lang="en-US"/>
              <a:t>Integration</a:t>
            </a:r>
          </a:p>
        </p:txBody>
      </p:sp>
      <p:sp>
        <p:nvSpPr>
          <p:cNvPr id="86019" name="Content Placeholder 2"/>
          <p:cNvSpPr>
            <a:spLocks noGrp="1"/>
          </p:cNvSpPr>
          <p:nvPr>
            <p:ph idx="1"/>
          </p:nvPr>
        </p:nvSpPr>
        <p:spPr/>
        <p:txBody>
          <a:bodyPr/>
          <a:lstStyle/>
          <a:p>
            <a:r>
              <a:rPr lang="en-US"/>
              <a:t>How will the proposed database fit with organization’s existing and future databases?</a:t>
            </a:r>
          </a:p>
          <a:p>
            <a:pPr lvl="1"/>
            <a:r>
              <a:rPr lang="en-US"/>
              <a:t>common for the same data to appear in more than one database and for problems to arise</a:t>
            </a:r>
          </a:p>
          <a:p>
            <a:r>
              <a:rPr lang="en-US"/>
              <a:t>How easy is it to keep different versions in step, or to assemble a complete picture?</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914ED7B-C427-4447-8266-5938D9AE3E13}" type="slidenum">
              <a:rPr lang="en-US" smtClean="0"/>
              <a:pPr>
                <a:defRPr/>
              </a:pPr>
              <a:t>30</a:t>
            </a:fld>
            <a:endParaRPr lang="en-US"/>
          </a:p>
        </p:txBody>
      </p:sp>
    </p:spTree>
    <p:extLst>
      <p:ext uri="{BB962C8B-B14F-4D97-AF65-F5344CB8AC3E}">
        <p14:creationId xmlns:p14="http://schemas.microsoft.com/office/powerpoint/2010/main" val="1253414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r>
              <a:rPr lang="en-US"/>
              <a:t>Conflicting Objectives</a:t>
            </a:r>
          </a:p>
        </p:txBody>
      </p:sp>
      <p:sp>
        <p:nvSpPr>
          <p:cNvPr id="87043" name="Content Placeholder 2"/>
          <p:cNvSpPr>
            <a:spLocks noGrp="1"/>
          </p:cNvSpPr>
          <p:nvPr>
            <p:ph idx="1"/>
          </p:nvPr>
        </p:nvSpPr>
        <p:spPr/>
        <p:txBody>
          <a:bodyPr/>
          <a:lstStyle/>
          <a:p>
            <a:r>
              <a:rPr lang="en-US" sz="2400" dirty="0"/>
              <a:t>above aims will conflict with one another</a:t>
            </a:r>
          </a:p>
          <a:p>
            <a:r>
              <a:rPr lang="en-US" sz="2400" dirty="0"/>
              <a:t>elegant but radical solution may be difficult to communicate to conservative users</a:t>
            </a:r>
          </a:p>
          <a:p>
            <a:r>
              <a:rPr lang="en-US" sz="2400" dirty="0"/>
              <a:t>can be attracted to elegant model that we exclude requirements that do not fit</a:t>
            </a:r>
          </a:p>
          <a:p>
            <a:r>
              <a:rPr lang="en-US" sz="2400" dirty="0"/>
              <a:t>model that accurately enforces large number of business rules will be unstable if some rules change</a:t>
            </a:r>
          </a:p>
          <a:p>
            <a:r>
              <a:rPr lang="en-US" sz="2400" dirty="0"/>
              <a:t>model that is easy to understand because (reflects perspectives of immediate system users) may not support reusability or integrate well with other</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6F502E89-A323-4C0D-8CAC-8ABF1084C7D1}" type="slidenum">
              <a:rPr lang="en-US" smtClean="0"/>
              <a:pPr>
                <a:defRPr/>
              </a:pPr>
              <a:t>31</a:t>
            </a:fld>
            <a:endParaRPr lang="en-US"/>
          </a:p>
        </p:txBody>
      </p:sp>
    </p:spTree>
    <p:extLst>
      <p:ext uri="{BB962C8B-B14F-4D97-AF65-F5344CB8AC3E}">
        <p14:creationId xmlns:p14="http://schemas.microsoft.com/office/powerpoint/2010/main" val="3956356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r>
              <a:rPr lang="en-US"/>
              <a:t>Performance</a:t>
            </a:r>
          </a:p>
        </p:txBody>
      </p:sp>
      <p:sp>
        <p:nvSpPr>
          <p:cNvPr id="88067" name="Content Placeholder 2"/>
          <p:cNvSpPr>
            <a:spLocks noGrp="1"/>
          </p:cNvSpPr>
          <p:nvPr>
            <p:ph idx="1"/>
          </p:nvPr>
        </p:nvSpPr>
        <p:spPr/>
        <p:txBody>
          <a:bodyPr/>
          <a:lstStyle/>
          <a:p>
            <a:r>
              <a:rPr lang="en-US" dirty="0"/>
              <a:t>system user will not be satisfied if our complete, non-redundant, flexible, and elegant database cannot meet throughput and response-time requirements</a:t>
            </a:r>
          </a:p>
          <a:p>
            <a:r>
              <a:rPr lang="en-US" dirty="0"/>
              <a:t>differs from our other criteria because it depends heavily on software and hardware platforms on which database will run</a:t>
            </a:r>
          </a:p>
          <a:p>
            <a:pPr lvl="1"/>
            <a:r>
              <a:rPr lang="en-US" dirty="0"/>
              <a:t>exploiting their capabilities is technical task</a:t>
            </a:r>
          </a:p>
          <a:p>
            <a:pPr lvl="1"/>
            <a:r>
              <a:rPr lang="en-US" dirty="0"/>
              <a:t>quite different from more business-focused modeling</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1210CADE-09AF-4488-9D04-7349FA5524C5}" type="slidenum">
              <a:rPr lang="en-US" smtClean="0"/>
              <a:pPr>
                <a:defRPr/>
              </a:pPr>
              <a:t>32</a:t>
            </a:fld>
            <a:endParaRPr lang="en-US"/>
          </a:p>
        </p:txBody>
      </p:sp>
    </p:spTree>
    <p:extLst>
      <p:ext uri="{BB962C8B-B14F-4D97-AF65-F5344CB8AC3E}">
        <p14:creationId xmlns:p14="http://schemas.microsoft.com/office/powerpoint/2010/main" val="35682577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a:t>Performance</a:t>
            </a:r>
          </a:p>
        </p:txBody>
      </p:sp>
      <p:sp>
        <p:nvSpPr>
          <p:cNvPr id="89091" name="Content Placeholder 2"/>
          <p:cNvSpPr>
            <a:spLocks noGrp="1"/>
          </p:cNvSpPr>
          <p:nvPr>
            <p:ph idx="1"/>
          </p:nvPr>
        </p:nvSpPr>
        <p:spPr/>
        <p:txBody>
          <a:bodyPr/>
          <a:lstStyle/>
          <a:p>
            <a:r>
              <a:rPr lang="en-US" sz="2700" dirty="0"/>
              <a:t>performance requirements are usually “added to the mix” at a later stage than other criteria, and then only when necessary</a:t>
            </a:r>
          </a:p>
          <a:p>
            <a:r>
              <a:rPr lang="en-US" sz="2700" dirty="0"/>
              <a:t>usual (and recommended) procedure is to develop data model without considering performance</a:t>
            </a:r>
          </a:p>
          <a:p>
            <a:r>
              <a:rPr lang="en-US" sz="2700" dirty="0"/>
              <a:t>attempt to implement it with available hardware and software</a:t>
            </a:r>
          </a:p>
          <a:p>
            <a:r>
              <a:rPr lang="en-US" sz="2700" dirty="0"/>
              <a:t>if it is not possible to achieve adequate performance in this way do we consider modifying the model itself</a:t>
            </a:r>
          </a:p>
        </p:txBody>
      </p:sp>
      <p:sp>
        <p:nvSpPr>
          <p:cNvPr id="4" name="Footer Placeholder 3"/>
          <p:cNvSpPr>
            <a:spLocks noGrp="1"/>
          </p:cNvSpPr>
          <p:nvPr>
            <p:ph type="ftr" sz="quarter" idx="11"/>
          </p:nvPr>
        </p:nvSpPr>
        <p:spPr/>
        <p:txBody>
          <a:bodyPr/>
          <a:lstStyle/>
          <a:p>
            <a:pPr>
              <a:defRPr/>
            </a:pPr>
            <a:r>
              <a:rPr lang="en-US"/>
              <a:t>DataBase Design Course Notes 03 - Normalization</a:t>
            </a:r>
          </a:p>
        </p:txBody>
      </p:sp>
      <p:sp>
        <p:nvSpPr>
          <p:cNvPr id="5" name="Slide Number Placeholder 4"/>
          <p:cNvSpPr>
            <a:spLocks noGrp="1"/>
          </p:cNvSpPr>
          <p:nvPr>
            <p:ph type="sldNum" sz="quarter" idx="12"/>
          </p:nvPr>
        </p:nvSpPr>
        <p:spPr/>
        <p:txBody>
          <a:bodyPr/>
          <a:lstStyle/>
          <a:p>
            <a:pPr>
              <a:defRPr/>
            </a:pPr>
            <a:fld id="{722499D9-47F1-4C53-968B-C1D591A1BD89}" type="slidenum">
              <a:rPr lang="en-US" smtClean="0"/>
              <a:pPr>
                <a:defRPr/>
              </a:pPr>
              <a:t>33</a:t>
            </a:fld>
            <a:endParaRPr lang="en-US"/>
          </a:p>
        </p:txBody>
      </p:sp>
    </p:spTree>
    <p:extLst>
      <p:ext uri="{BB962C8B-B14F-4D97-AF65-F5344CB8AC3E}">
        <p14:creationId xmlns:p14="http://schemas.microsoft.com/office/powerpoint/2010/main" val="1525980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94AF-D31E-8CB5-D690-22812094BD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2144D6E-CF75-8821-D1C5-E745F49D85B4}"/>
              </a:ext>
            </a:extLst>
          </p:cNvPr>
          <p:cNvSpPr>
            <a:spLocks noGrp="1"/>
          </p:cNvSpPr>
          <p:nvPr>
            <p:ph idx="1"/>
          </p:nvPr>
        </p:nvSpPr>
        <p:spPr/>
        <p:txBody>
          <a:bodyPr>
            <a:noAutofit/>
          </a:bodyPr>
          <a:lstStyle/>
          <a:p>
            <a:r>
              <a:rPr lang="en-US" dirty="0"/>
              <a:t>there are two levels at which we can discuss the </a:t>
            </a:r>
            <a:r>
              <a:rPr lang="en-US" i="1" dirty="0"/>
              <a:t>goodness </a:t>
            </a:r>
            <a:r>
              <a:rPr lang="en-US" dirty="0"/>
              <a:t>of relation schemas</a:t>
            </a:r>
          </a:p>
          <a:p>
            <a:r>
              <a:rPr lang="en-US" dirty="0"/>
              <a:t>first is the </a:t>
            </a:r>
            <a:r>
              <a:rPr lang="en-US" b="1" dirty="0"/>
              <a:t>logical </a:t>
            </a:r>
            <a:r>
              <a:rPr lang="en-US" dirty="0"/>
              <a:t>(or </a:t>
            </a:r>
            <a:r>
              <a:rPr lang="en-US" b="1" dirty="0"/>
              <a:t>conceptual</a:t>
            </a:r>
            <a:r>
              <a:rPr lang="en-US" dirty="0"/>
              <a:t>) </a:t>
            </a:r>
            <a:r>
              <a:rPr lang="en-US" b="1" dirty="0"/>
              <a:t>level</a:t>
            </a:r>
            <a:r>
              <a:rPr lang="en-US" dirty="0"/>
              <a:t> - how users interpret relation schemas and meaning of their attributes; enables users to understand clearly the meaning of the data in the relations, and hence to formulate their queries correctly</a:t>
            </a:r>
          </a:p>
          <a:p>
            <a:r>
              <a:rPr lang="en-US" dirty="0"/>
              <a:t>second is the </a:t>
            </a:r>
            <a:r>
              <a:rPr lang="en-US" b="1" dirty="0"/>
              <a:t>implementation </a:t>
            </a:r>
            <a:r>
              <a:rPr lang="en-US" dirty="0"/>
              <a:t>(or </a:t>
            </a:r>
            <a:r>
              <a:rPr lang="en-US" b="1" dirty="0"/>
              <a:t>physical storage</a:t>
            </a:r>
            <a:r>
              <a:rPr lang="en-US" dirty="0"/>
              <a:t>) </a:t>
            </a:r>
            <a:r>
              <a:rPr lang="en-US" b="1" dirty="0"/>
              <a:t>level</a:t>
            </a:r>
            <a:r>
              <a:rPr lang="en-US" dirty="0"/>
              <a:t> - how the tuples in a base relation are stored and updated</a:t>
            </a:r>
          </a:p>
        </p:txBody>
      </p:sp>
      <p:sp>
        <p:nvSpPr>
          <p:cNvPr id="4" name="Slide Number Placeholder 3">
            <a:extLst>
              <a:ext uri="{FF2B5EF4-FFF2-40B4-BE49-F238E27FC236}">
                <a16:creationId xmlns:a16="http://schemas.microsoft.com/office/drawing/2014/main" id="{759DC0C3-6C35-B5E4-B38C-DD70E0EBD4EF}"/>
              </a:ext>
            </a:extLst>
          </p:cNvPr>
          <p:cNvSpPr>
            <a:spLocks noGrp="1"/>
          </p:cNvSpPr>
          <p:nvPr>
            <p:ph type="sldNum" sz="quarter" idx="12"/>
          </p:nvPr>
        </p:nvSpPr>
        <p:spPr/>
        <p:txBody>
          <a:bodyPr/>
          <a:lstStyle/>
          <a:p>
            <a:fld id="{6264BDCF-5269-49AC-A246-ED26C2B980E3}" type="slidenum">
              <a:rPr lang="en-US" smtClean="0"/>
              <a:t>34</a:t>
            </a:fld>
            <a:endParaRPr lang="en-US"/>
          </a:p>
        </p:txBody>
      </p:sp>
    </p:spTree>
    <p:extLst>
      <p:ext uri="{BB962C8B-B14F-4D97-AF65-F5344CB8AC3E}">
        <p14:creationId xmlns:p14="http://schemas.microsoft.com/office/powerpoint/2010/main" val="1962563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BEC9E-283F-2165-9FEC-3D439DAB2F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682C11C-3C17-0380-4D3D-EEF6863EC6E1}"/>
              </a:ext>
            </a:extLst>
          </p:cNvPr>
          <p:cNvSpPr>
            <a:spLocks noGrp="1"/>
          </p:cNvSpPr>
          <p:nvPr>
            <p:ph idx="1"/>
          </p:nvPr>
        </p:nvSpPr>
        <p:spPr>
          <a:xfrm>
            <a:off x="838199" y="1825625"/>
            <a:ext cx="10773697" cy="4351338"/>
          </a:xfrm>
        </p:spPr>
        <p:txBody>
          <a:bodyPr/>
          <a:lstStyle/>
          <a:p>
            <a:r>
              <a:rPr lang="en-US" dirty="0"/>
              <a:t>second level applies only to schemas of base relations, which will be physically stored, whereas at the logical level we are interested in schemas of both base relations and views (virtual relations)</a:t>
            </a:r>
          </a:p>
          <a:p>
            <a:r>
              <a:rPr lang="en-US" dirty="0"/>
              <a:t>relational database design theory presented next applies mainly to </a:t>
            </a:r>
            <a:r>
              <a:rPr lang="en-US" i="1" dirty="0"/>
              <a:t>base relations</a:t>
            </a:r>
            <a:r>
              <a:rPr lang="en-US" sz="2700" i="1" dirty="0"/>
              <a:t>, </a:t>
            </a:r>
            <a:r>
              <a:rPr lang="en-US" sz="2700" dirty="0"/>
              <a:t>although some criteria of appropriateness also apply to views</a:t>
            </a:r>
          </a:p>
        </p:txBody>
      </p:sp>
      <p:sp>
        <p:nvSpPr>
          <p:cNvPr id="4" name="Slide Number Placeholder 3">
            <a:extLst>
              <a:ext uri="{FF2B5EF4-FFF2-40B4-BE49-F238E27FC236}">
                <a16:creationId xmlns:a16="http://schemas.microsoft.com/office/drawing/2014/main" id="{05BB919D-14C0-3D21-1742-78BA8443E901}"/>
              </a:ext>
            </a:extLst>
          </p:cNvPr>
          <p:cNvSpPr>
            <a:spLocks noGrp="1"/>
          </p:cNvSpPr>
          <p:nvPr>
            <p:ph type="sldNum" sz="quarter" idx="12"/>
          </p:nvPr>
        </p:nvSpPr>
        <p:spPr/>
        <p:txBody>
          <a:bodyPr/>
          <a:lstStyle/>
          <a:p>
            <a:fld id="{6264BDCF-5269-49AC-A246-ED26C2B980E3}" type="slidenum">
              <a:rPr lang="en-US" smtClean="0"/>
              <a:t>35</a:t>
            </a:fld>
            <a:endParaRPr lang="en-US"/>
          </a:p>
        </p:txBody>
      </p:sp>
    </p:spTree>
    <p:extLst>
      <p:ext uri="{BB962C8B-B14F-4D97-AF65-F5344CB8AC3E}">
        <p14:creationId xmlns:p14="http://schemas.microsoft.com/office/powerpoint/2010/main" val="16283661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91BC0-5D64-29F6-38FB-4417A6E43ADA}"/>
              </a:ext>
            </a:extLst>
          </p:cNvPr>
          <p:cNvSpPr>
            <a:spLocks noGrp="1"/>
          </p:cNvSpPr>
          <p:nvPr>
            <p:ph type="title"/>
          </p:nvPr>
        </p:nvSpPr>
        <p:spPr/>
        <p:txBody>
          <a:bodyPr/>
          <a:lstStyle/>
          <a:p>
            <a:r>
              <a:rPr lang="en-US" dirty="0"/>
              <a:t>bottom-up design methodology </a:t>
            </a:r>
          </a:p>
        </p:txBody>
      </p:sp>
      <p:sp>
        <p:nvSpPr>
          <p:cNvPr id="3" name="Content Placeholder 2">
            <a:extLst>
              <a:ext uri="{FF2B5EF4-FFF2-40B4-BE49-F238E27FC236}">
                <a16:creationId xmlns:a16="http://schemas.microsoft.com/office/drawing/2014/main" id="{2C673BE5-4D43-6B68-9490-F6EBAE8185EB}"/>
              </a:ext>
            </a:extLst>
          </p:cNvPr>
          <p:cNvSpPr>
            <a:spLocks noGrp="1"/>
          </p:cNvSpPr>
          <p:nvPr>
            <p:ph idx="1"/>
          </p:nvPr>
        </p:nvSpPr>
        <p:spPr/>
        <p:txBody>
          <a:bodyPr>
            <a:normAutofit/>
          </a:bodyPr>
          <a:lstStyle/>
          <a:p>
            <a:r>
              <a:rPr lang="en-US" i="1" dirty="0"/>
              <a:t>design by synthesis </a:t>
            </a:r>
          </a:p>
          <a:p>
            <a:r>
              <a:rPr lang="en-US" dirty="0"/>
              <a:t>considers basic relationships among individual attributes as the starting point and uses those to construct relation schemas</a:t>
            </a:r>
          </a:p>
          <a:p>
            <a:r>
              <a:rPr lang="en-US" dirty="0"/>
              <a:t>approach is not very popular in practice because it suffers from the  problem of having to collect a large number of binary relationships among attributes at starting point; for practical situations, it is next to impossible to capture binary relationships among all such pairs of attributes</a:t>
            </a:r>
          </a:p>
        </p:txBody>
      </p:sp>
      <p:sp>
        <p:nvSpPr>
          <p:cNvPr id="4" name="Slide Number Placeholder 3">
            <a:extLst>
              <a:ext uri="{FF2B5EF4-FFF2-40B4-BE49-F238E27FC236}">
                <a16:creationId xmlns:a16="http://schemas.microsoft.com/office/drawing/2014/main" id="{3EF78BDE-D0FF-3C8E-3CCC-359D80AA9E6D}"/>
              </a:ext>
            </a:extLst>
          </p:cNvPr>
          <p:cNvSpPr>
            <a:spLocks noGrp="1"/>
          </p:cNvSpPr>
          <p:nvPr>
            <p:ph type="sldNum" sz="quarter" idx="12"/>
          </p:nvPr>
        </p:nvSpPr>
        <p:spPr/>
        <p:txBody>
          <a:bodyPr/>
          <a:lstStyle/>
          <a:p>
            <a:fld id="{6264BDCF-5269-49AC-A246-ED26C2B980E3}" type="slidenum">
              <a:rPr lang="en-US" smtClean="0"/>
              <a:t>36</a:t>
            </a:fld>
            <a:endParaRPr lang="en-US"/>
          </a:p>
        </p:txBody>
      </p:sp>
    </p:spTree>
    <p:extLst>
      <p:ext uri="{BB962C8B-B14F-4D97-AF65-F5344CB8AC3E}">
        <p14:creationId xmlns:p14="http://schemas.microsoft.com/office/powerpoint/2010/main" val="35856880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4A97-49E5-20C5-7B62-9B0B782B2962}"/>
              </a:ext>
            </a:extLst>
          </p:cNvPr>
          <p:cNvSpPr>
            <a:spLocks noGrp="1"/>
          </p:cNvSpPr>
          <p:nvPr>
            <p:ph type="title"/>
          </p:nvPr>
        </p:nvSpPr>
        <p:spPr/>
        <p:txBody>
          <a:bodyPr/>
          <a:lstStyle/>
          <a:p>
            <a:r>
              <a:rPr lang="en-US" dirty="0"/>
              <a:t>top-down design methodology </a:t>
            </a:r>
          </a:p>
        </p:txBody>
      </p:sp>
      <p:sp>
        <p:nvSpPr>
          <p:cNvPr id="3" name="Content Placeholder 2">
            <a:extLst>
              <a:ext uri="{FF2B5EF4-FFF2-40B4-BE49-F238E27FC236}">
                <a16:creationId xmlns:a16="http://schemas.microsoft.com/office/drawing/2014/main" id="{0FB7BCEF-08BE-5BB6-E5F6-159E52012AA2}"/>
              </a:ext>
            </a:extLst>
          </p:cNvPr>
          <p:cNvSpPr>
            <a:spLocks noGrp="1"/>
          </p:cNvSpPr>
          <p:nvPr>
            <p:ph idx="1"/>
          </p:nvPr>
        </p:nvSpPr>
        <p:spPr/>
        <p:txBody>
          <a:bodyPr>
            <a:normAutofit/>
          </a:bodyPr>
          <a:lstStyle/>
          <a:p>
            <a:r>
              <a:rPr lang="en-US" i="1" dirty="0"/>
              <a:t>design by analysis</a:t>
            </a:r>
            <a:r>
              <a:rPr lang="en-US" dirty="0"/>
              <a:t> </a:t>
            </a:r>
          </a:p>
          <a:p>
            <a:r>
              <a:rPr lang="en-US" dirty="0"/>
              <a:t>starts with number of groupings of attributes into relations that exist together naturally</a:t>
            </a:r>
          </a:p>
          <a:p>
            <a:r>
              <a:rPr lang="en-US" dirty="0"/>
              <a:t>relations are then analyzed, leading to further decomposition until all desirable properties are met</a:t>
            </a:r>
          </a:p>
          <a:p>
            <a:r>
              <a:rPr lang="en-US" dirty="0"/>
              <a:t>appropriate when performing design of databases by analysis and decomposition of sets of attributes that appear together in real-life situations</a:t>
            </a:r>
          </a:p>
        </p:txBody>
      </p:sp>
      <p:sp>
        <p:nvSpPr>
          <p:cNvPr id="4" name="Slide Number Placeholder 3">
            <a:extLst>
              <a:ext uri="{FF2B5EF4-FFF2-40B4-BE49-F238E27FC236}">
                <a16:creationId xmlns:a16="http://schemas.microsoft.com/office/drawing/2014/main" id="{7B977EB9-ADFF-F177-86D5-9F9EE69A6E49}"/>
              </a:ext>
            </a:extLst>
          </p:cNvPr>
          <p:cNvSpPr>
            <a:spLocks noGrp="1"/>
          </p:cNvSpPr>
          <p:nvPr>
            <p:ph type="sldNum" sz="quarter" idx="12"/>
          </p:nvPr>
        </p:nvSpPr>
        <p:spPr/>
        <p:txBody>
          <a:bodyPr/>
          <a:lstStyle/>
          <a:p>
            <a:fld id="{6264BDCF-5269-49AC-A246-ED26C2B980E3}" type="slidenum">
              <a:rPr lang="en-US" smtClean="0"/>
              <a:t>37</a:t>
            </a:fld>
            <a:endParaRPr lang="en-US"/>
          </a:p>
        </p:txBody>
      </p:sp>
    </p:spTree>
    <p:extLst>
      <p:ext uri="{BB962C8B-B14F-4D97-AF65-F5344CB8AC3E}">
        <p14:creationId xmlns:p14="http://schemas.microsoft.com/office/powerpoint/2010/main" val="8510878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8021-26F2-DC69-BF7C-8879A6F34F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C4AE85-FD2D-B768-1BCD-3FEE4991C5F7}"/>
              </a:ext>
            </a:extLst>
          </p:cNvPr>
          <p:cNvSpPr>
            <a:spLocks noGrp="1"/>
          </p:cNvSpPr>
          <p:nvPr>
            <p:ph idx="1"/>
          </p:nvPr>
        </p:nvSpPr>
        <p:spPr/>
        <p:txBody>
          <a:bodyPr/>
          <a:lstStyle/>
          <a:p>
            <a:r>
              <a:rPr lang="en-US" dirty="0"/>
              <a:t>we need to store in database all the information that it is needed </a:t>
            </a:r>
          </a:p>
          <a:p>
            <a:r>
              <a:rPr lang="en-US" dirty="0"/>
              <a:t>we need to store in database only the information that it is needed once</a:t>
            </a:r>
          </a:p>
          <a:p>
            <a:endParaRPr lang="en-US" dirty="0"/>
          </a:p>
        </p:txBody>
      </p:sp>
      <p:sp>
        <p:nvSpPr>
          <p:cNvPr id="4" name="Slide Number Placeholder 3">
            <a:extLst>
              <a:ext uri="{FF2B5EF4-FFF2-40B4-BE49-F238E27FC236}">
                <a16:creationId xmlns:a16="http://schemas.microsoft.com/office/drawing/2014/main" id="{06C2477C-E0D7-4D98-412E-A7523AE16E6F}"/>
              </a:ext>
            </a:extLst>
          </p:cNvPr>
          <p:cNvSpPr>
            <a:spLocks noGrp="1"/>
          </p:cNvSpPr>
          <p:nvPr>
            <p:ph type="sldNum" sz="quarter" idx="12"/>
          </p:nvPr>
        </p:nvSpPr>
        <p:spPr/>
        <p:txBody>
          <a:bodyPr/>
          <a:lstStyle/>
          <a:p>
            <a:fld id="{6264BDCF-5269-49AC-A246-ED26C2B980E3}" type="slidenum">
              <a:rPr lang="en-US" smtClean="0"/>
              <a:t>38</a:t>
            </a:fld>
            <a:endParaRPr lang="en-US"/>
          </a:p>
        </p:txBody>
      </p:sp>
    </p:spTree>
    <p:extLst>
      <p:ext uri="{BB962C8B-B14F-4D97-AF65-F5344CB8AC3E}">
        <p14:creationId xmlns:p14="http://schemas.microsoft.com/office/powerpoint/2010/main" val="18215382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85915-097D-78DD-EE3B-C249AB62E3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FDD5D9-14A7-0BE7-5E28-26B953055D1B}"/>
              </a:ext>
            </a:extLst>
          </p:cNvPr>
          <p:cNvSpPr>
            <a:spLocks noGrp="1"/>
          </p:cNvSpPr>
          <p:nvPr>
            <p:ph idx="1"/>
          </p:nvPr>
        </p:nvSpPr>
        <p:spPr/>
        <p:txBody>
          <a:bodyPr>
            <a:normAutofit fontScale="92500" lnSpcReduction="10000"/>
          </a:bodyPr>
          <a:lstStyle/>
          <a:p>
            <a:r>
              <a:rPr lang="en-US" dirty="0"/>
              <a:t>relational database design ultimately produces a set of relations</a:t>
            </a:r>
          </a:p>
          <a:p>
            <a:r>
              <a:rPr lang="en-US" dirty="0"/>
              <a:t>goal of design are </a:t>
            </a:r>
            <a:r>
              <a:rPr lang="en-US" i="1" dirty="0"/>
              <a:t>information preservation </a:t>
            </a:r>
            <a:r>
              <a:rPr lang="en-US" dirty="0"/>
              <a:t>and </a:t>
            </a:r>
            <a:r>
              <a:rPr lang="en-US" i="1" dirty="0"/>
              <a:t>minimum redundancy</a:t>
            </a:r>
            <a:endParaRPr lang="en-US" dirty="0"/>
          </a:p>
          <a:p>
            <a:r>
              <a:rPr lang="en-US" dirty="0"/>
              <a:t>information preservation: maintaining all concepts, including attribute types, entity types, and relationship types as well as generalization/specialization relationships, described using model such as EER model</a:t>
            </a:r>
          </a:p>
          <a:p>
            <a:r>
              <a:rPr lang="en-US" dirty="0"/>
              <a:t>relational design must preserve all concepts captured in conceptual design</a:t>
            </a:r>
          </a:p>
          <a:p>
            <a:r>
              <a:rPr lang="en-US" dirty="0"/>
              <a:t>minimizing redundancy: minimizing redundant storage of same information and reducing need for multiple updates to maintain consistency across multiple data copies of same information in response to real-world events that require making an update</a:t>
            </a:r>
          </a:p>
        </p:txBody>
      </p:sp>
      <p:sp>
        <p:nvSpPr>
          <p:cNvPr id="4" name="Slide Number Placeholder 3">
            <a:extLst>
              <a:ext uri="{FF2B5EF4-FFF2-40B4-BE49-F238E27FC236}">
                <a16:creationId xmlns:a16="http://schemas.microsoft.com/office/drawing/2014/main" id="{B14D41B7-A1D2-C0D2-3478-68AECEE3F901}"/>
              </a:ext>
            </a:extLst>
          </p:cNvPr>
          <p:cNvSpPr>
            <a:spLocks noGrp="1"/>
          </p:cNvSpPr>
          <p:nvPr>
            <p:ph type="sldNum" sz="quarter" idx="12"/>
          </p:nvPr>
        </p:nvSpPr>
        <p:spPr/>
        <p:txBody>
          <a:bodyPr/>
          <a:lstStyle/>
          <a:p>
            <a:fld id="{6264BDCF-5269-49AC-A246-ED26C2B980E3}" type="slidenum">
              <a:rPr lang="en-US" smtClean="0"/>
              <a:t>39</a:t>
            </a:fld>
            <a:endParaRPr lang="en-US"/>
          </a:p>
        </p:txBody>
      </p:sp>
    </p:spTree>
    <p:extLst>
      <p:ext uri="{BB962C8B-B14F-4D97-AF65-F5344CB8AC3E}">
        <p14:creationId xmlns:p14="http://schemas.microsoft.com/office/powerpoint/2010/main" val="28238170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396E1-DF8B-8D3E-83B7-406A53557B44}"/>
              </a:ext>
            </a:extLst>
          </p:cNvPr>
          <p:cNvSpPr>
            <a:spLocks noGrp="1"/>
          </p:cNvSpPr>
          <p:nvPr>
            <p:ph type="title"/>
          </p:nvPr>
        </p:nvSpPr>
        <p:spPr/>
        <p:txBody>
          <a:bodyPr>
            <a:normAutofit/>
          </a:bodyPr>
          <a:lstStyle/>
          <a:p>
            <a:r>
              <a:rPr lang="en-US" dirty="0"/>
              <a:t>Design Guidelines for Relation Schemas</a:t>
            </a:r>
          </a:p>
        </p:txBody>
      </p:sp>
      <p:sp>
        <p:nvSpPr>
          <p:cNvPr id="3" name="Content Placeholder 2">
            <a:extLst>
              <a:ext uri="{FF2B5EF4-FFF2-40B4-BE49-F238E27FC236}">
                <a16:creationId xmlns:a16="http://schemas.microsoft.com/office/drawing/2014/main" id="{E334A8A2-2F29-53DB-D9D4-500D1410154A}"/>
              </a:ext>
            </a:extLst>
          </p:cNvPr>
          <p:cNvSpPr>
            <a:spLocks noGrp="1"/>
          </p:cNvSpPr>
          <p:nvPr>
            <p:ph idx="1"/>
          </p:nvPr>
        </p:nvSpPr>
        <p:spPr/>
        <p:txBody>
          <a:bodyPr>
            <a:normAutofit/>
          </a:bodyPr>
          <a:lstStyle/>
          <a:p>
            <a:r>
              <a:rPr lang="en-US" dirty="0"/>
              <a:t>semantics of attributes is clear in schema</a:t>
            </a:r>
          </a:p>
          <a:p>
            <a:r>
              <a:rPr lang="en-US" dirty="0"/>
              <a:t>reduce redundant information in tuples</a:t>
            </a:r>
          </a:p>
          <a:p>
            <a:r>
              <a:rPr lang="en-US" dirty="0"/>
              <a:t>reduce NULL values in tuples</a:t>
            </a:r>
          </a:p>
          <a:p>
            <a:r>
              <a:rPr lang="en-US" dirty="0"/>
              <a:t>disallow possibility to generate bogus tuples</a:t>
            </a:r>
          </a:p>
        </p:txBody>
      </p:sp>
      <p:sp>
        <p:nvSpPr>
          <p:cNvPr id="4" name="Slide Number Placeholder 3">
            <a:extLst>
              <a:ext uri="{FF2B5EF4-FFF2-40B4-BE49-F238E27FC236}">
                <a16:creationId xmlns:a16="http://schemas.microsoft.com/office/drawing/2014/main" id="{985A4E26-B2E1-ADC0-3313-007E70B090F2}"/>
              </a:ext>
            </a:extLst>
          </p:cNvPr>
          <p:cNvSpPr>
            <a:spLocks noGrp="1"/>
          </p:cNvSpPr>
          <p:nvPr>
            <p:ph type="sldNum" sz="quarter" idx="12"/>
          </p:nvPr>
        </p:nvSpPr>
        <p:spPr/>
        <p:txBody>
          <a:bodyPr/>
          <a:lstStyle/>
          <a:p>
            <a:fld id="{6264BDCF-5269-49AC-A246-ED26C2B980E3}" type="slidenum">
              <a:rPr lang="en-US" smtClean="0"/>
              <a:t>40</a:t>
            </a:fld>
            <a:endParaRPr lang="en-US"/>
          </a:p>
        </p:txBody>
      </p:sp>
    </p:spTree>
    <p:extLst>
      <p:ext uri="{BB962C8B-B14F-4D97-AF65-F5344CB8AC3E}">
        <p14:creationId xmlns:p14="http://schemas.microsoft.com/office/powerpoint/2010/main" val="41867231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1220C-5737-EAF9-CC14-D0E3558B9604}"/>
              </a:ext>
            </a:extLst>
          </p:cNvPr>
          <p:cNvSpPr>
            <a:spLocks noGrp="1"/>
          </p:cNvSpPr>
          <p:nvPr>
            <p:ph type="title"/>
          </p:nvPr>
        </p:nvSpPr>
        <p:spPr/>
        <p:txBody>
          <a:bodyPr/>
          <a:lstStyle/>
          <a:p>
            <a:r>
              <a:rPr lang="en-US" dirty="0"/>
              <a:t>Guide </a:t>
            </a:r>
            <a:r>
              <a:rPr lang="en-US" sz="4000" dirty="0"/>
              <a:t>(in German language die </a:t>
            </a:r>
            <a:r>
              <a:rPr lang="en-US" sz="4000" dirty="0" err="1"/>
              <a:t>Datenbank</a:t>
            </a:r>
            <a:r>
              <a:rPr lang="en-US" sz="4000" dirty="0"/>
              <a:t> führer)</a:t>
            </a:r>
            <a:endParaRPr lang="en-US" dirty="0"/>
          </a:p>
        </p:txBody>
      </p:sp>
      <p:sp>
        <p:nvSpPr>
          <p:cNvPr id="3" name="Content Placeholder 2">
            <a:extLst>
              <a:ext uri="{FF2B5EF4-FFF2-40B4-BE49-F238E27FC236}">
                <a16:creationId xmlns:a16="http://schemas.microsoft.com/office/drawing/2014/main" id="{D0C4AD0D-A274-1183-272A-E79AAB805FB4}"/>
              </a:ext>
            </a:extLst>
          </p:cNvPr>
          <p:cNvSpPr>
            <a:spLocks noGrp="1"/>
          </p:cNvSpPr>
          <p:nvPr>
            <p:ph idx="1"/>
          </p:nvPr>
        </p:nvSpPr>
        <p:spPr/>
        <p:txBody>
          <a:bodyPr>
            <a:normAutofit/>
          </a:bodyPr>
          <a:lstStyle/>
          <a:p>
            <a:r>
              <a:rPr lang="en-US" dirty="0"/>
              <a:t>design a relation schema so that it is easy to explain its meaning</a:t>
            </a:r>
          </a:p>
          <a:p>
            <a:r>
              <a:rPr lang="en-US" dirty="0"/>
              <a:t>if relation schema corresponds to one entity type or one relationship type, it is straightforward to explain its meaning</a:t>
            </a:r>
          </a:p>
          <a:p>
            <a:r>
              <a:rPr lang="en-US" dirty="0"/>
              <a:t>if relation corresponds to mixture of multiple entities and relationships, semantic ambiguities will result and relation cannot be easily explained</a:t>
            </a:r>
          </a:p>
          <a:p>
            <a:endParaRPr lang="en-US" dirty="0"/>
          </a:p>
        </p:txBody>
      </p:sp>
      <p:sp>
        <p:nvSpPr>
          <p:cNvPr id="4" name="Slide Number Placeholder 3">
            <a:extLst>
              <a:ext uri="{FF2B5EF4-FFF2-40B4-BE49-F238E27FC236}">
                <a16:creationId xmlns:a16="http://schemas.microsoft.com/office/drawing/2014/main" id="{F2261EDF-A29C-54FB-88ED-A8FA2F9F450C}"/>
              </a:ext>
            </a:extLst>
          </p:cNvPr>
          <p:cNvSpPr>
            <a:spLocks noGrp="1"/>
          </p:cNvSpPr>
          <p:nvPr>
            <p:ph type="sldNum" sz="quarter" idx="12"/>
          </p:nvPr>
        </p:nvSpPr>
        <p:spPr/>
        <p:txBody>
          <a:bodyPr/>
          <a:lstStyle/>
          <a:p>
            <a:fld id="{6264BDCF-5269-49AC-A246-ED26C2B980E3}" type="slidenum">
              <a:rPr lang="en-US" smtClean="0"/>
              <a:t>41</a:t>
            </a:fld>
            <a:endParaRPr lang="en-US"/>
          </a:p>
        </p:txBody>
      </p:sp>
    </p:spTree>
    <p:extLst>
      <p:ext uri="{BB962C8B-B14F-4D97-AF65-F5344CB8AC3E}">
        <p14:creationId xmlns:p14="http://schemas.microsoft.com/office/powerpoint/2010/main" val="37638882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73EE6-04C4-BFF7-AE33-C8DA03ACFA78}"/>
              </a:ext>
            </a:extLst>
          </p:cNvPr>
          <p:cNvSpPr>
            <a:spLocks noGrp="1"/>
          </p:cNvSpPr>
          <p:nvPr>
            <p:ph type="title"/>
          </p:nvPr>
        </p:nvSpPr>
        <p:spPr/>
        <p:txBody>
          <a:bodyPr>
            <a:normAutofit/>
          </a:bodyPr>
          <a:lstStyle/>
          <a:p>
            <a:r>
              <a:rPr lang="en-US" dirty="0"/>
              <a:t>Redundant Information in Tuples </a:t>
            </a:r>
            <a:br>
              <a:rPr lang="en-US" dirty="0"/>
            </a:br>
            <a:r>
              <a:rPr lang="en-US" dirty="0"/>
              <a:t>Update Anomalies</a:t>
            </a:r>
          </a:p>
        </p:txBody>
      </p:sp>
      <p:sp>
        <p:nvSpPr>
          <p:cNvPr id="3" name="Content Placeholder 2">
            <a:extLst>
              <a:ext uri="{FF2B5EF4-FFF2-40B4-BE49-F238E27FC236}">
                <a16:creationId xmlns:a16="http://schemas.microsoft.com/office/drawing/2014/main" id="{30772A5D-A8F9-757A-46B4-60628CE407B8}"/>
              </a:ext>
            </a:extLst>
          </p:cNvPr>
          <p:cNvSpPr>
            <a:spLocks noGrp="1"/>
          </p:cNvSpPr>
          <p:nvPr>
            <p:ph idx="1"/>
          </p:nvPr>
        </p:nvSpPr>
        <p:spPr/>
        <p:txBody>
          <a:bodyPr>
            <a:noAutofit/>
          </a:bodyPr>
          <a:lstStyle/>
          <a:p>
            <a:r>
              <a:rPr lang="en-US" dirty="0"/>
              <a:t>one goal of schema design is to minimize storage space used by the base relations</a:t>
            </a:r>
          </a:p>
          <a:p>
            <a:r>
              <a:rPr lang="en-US" dirty="0"/>
              <a:t>grouping attributes into relation schemas has a significant effect on storage space</a:t>
            </a:r>
          </a:p>
        </p:txBody>
      </p:sp>
      <p:sp>
        <p:nvSpPr>
          <p:cNvPr id="4" name="Slide Number Placeholder 3">
            <a:extLst>
              <a:ext uri="{FF2B5EF4-FFF2-40B4-BE49-F238E27FC236}">
                <a16:creationId xmlns:a16="http://schemas.microsoft.com/office/drawing/2014/main" id="{85214CD7-2642-EB43-93F0-D0BC4CD65491}"/>
              </a:ext>
            </a:extLst>
          </p:cNvPr>
          <p:cNvSpPr>
            <a:spLocks noGrp="1"/>
          </p:cNvSpPr>
          <p:nvPr>
            <p:ph type="sldNum" sz="quarter" idx="12"/>
          </p:nvPr>
        </p:nvSpPr>
        <p:spPr/>
        <p:txBody>
          <a:bodyPr/>
          <a:lstStyle/>
          <a:p>
            <a:fld id="{6264BDCF-5269-49AC-A246-ED26C2B980E3}" type="slidenum">
              <a:rPr lang="en-US" smtClean="0"/>
              <a:t>42</a:t>
            </a:fld>
            <a:endParaRPr lang="en-US"/>
          </a:p>
        </p:txBody>
      </p:sp>
    </p:spTree>
    <p:extLst>
      <p:ext uri="{BB962C8B-B14F-4D97-AF65-F5344CB8AC3E}">
        <p14:creationId xmlns:p14="http://schemas.microsoft.com/office/powerpoint/2010/main" val="4961240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CDCD2-2D52-030F-1C88-CA9672D818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0050D-A2C2-340F-3465-4AC56EDB9281}"/>
              </a:ext>
            </a:extLst>
          </p:cNvPr>
          <p:cNvSpPr>
            <a:spLocks noGrp="1"/>
          </p:cNvSpPr>
          <p:nvPr>
            <p:ph type="title"/>
          </p:nvPr>
        </p:nvSpPr>
        <p:spPr/>
        <p:txBody>
          <a:bodyPr>
            <a:normAutofit/>
          </a:bodyPr>
          <a:lstStyle/>
          <a:p>
            <a:endParaRPr lang="en-US" dirty="0"/>
          </a:p>
        </p:txBody>
      </p:sp>
      <p:sp>
        <p:nvSpPr>
          <p:cNvPr id="3" name="Content Placeholder 2">
            <a:extLst>
              <a:ext uri="{FF2B5EF4-FFF2-40B4-BE49-F238E27FC236}">
                <a16:creationId xmlns:a16="http://schemas.microsoft.com/office/drawing/2014/main" id="{E7D1B27B-B0F2-929C-EC62-DD74BCF5984C}"/>
              </a:ext>
            </a:extLst>
          </p:cNvPr>
          <p:cNvSpPr>
            <a:spLocks noGrp="1"/>
          </p:cNvSpPr>
          <p:nvPr>
            <p:ph idx="1"/>
          </p:nvPr>
        </p:nvSpPr>
        <p:spPr/>
        <p:txBody>
          <a:bodyPr>
            <a:noAutofit/>
          </a:bodyPr>
          <a:lstStyle/>
          <a:p>
            <a:r>
              <a:rPr lang="en-US" dirty="0"/>
              <a:t>compare space used by two base relations EMPLOYEE and DEPARTMENT</a:t>
            </a:r>
          </a:p>
        </p:txBody>
      </p:sp>
      <p:sp>
        <p:nvSpPr>
          <p:cNvPr id="4" name="Slide Number Placeholder 3">
            <a:extLst>
              <a:ext uri="{FF2B5EF4-FFF2-40B4-BE49-F238E27FC236}">
                <a16:creationId xmlns:a16="http://schemas.microsoft.com/office/drawing/2014/main" id="{C485F51B-E3DD-CBAB-3E90-97E7BEDE1CF5}"/>
              </a:ext>
            </a:extLst>
          </p:cNvPr>
          <p:cNvSpPr>
            <a:spLocks noGrp="1"/>
          </p:cNvSpPr>
          <p:nvPr>
            <p:ph type="sldNum" sz="quarter" idx="12"/>
          </p:nvPr>
        </p:nvSpPr>
        <p:spPr/>
        <p:txBody>
          <a:bodyPr/>
          <a:lstStyle/>
          <a:p>
            <a:fld id="{6264BDCF-5269-49AC-A246-ED26C2B980E3}" type="slidenum">
              <a:rPr lang="en-US" smtClean="0"/>
              <a:t>43</a:t>
            </a:fld>
            <a:endParaRPr lang="en-US"/>
          </a:p>
        </p:txBody>
      </p:sp>
    </p:spTree>
    <p:extLst>
      <p:ext uri="{BB962C8B-B14F-4D97-AF65-F5344CB8AC3E}">
        <p14:creationId xmlns:p14="http://schemas.microsoft.com/office/powerpoint/2010/main" val="19609169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B5317-E601-65B8-8C89-1E98D678C3F4}"/>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59CAB7A3-074C-C9AE-05F9-F69EEDC5C5D7}"/>
              </a:ext>
            </a:extLst>
          </p:cNvPr>
          <p:cNvPicPr>
            <a:picLocks noGrp="1" noChangeAspect="1"/>
          </p:cNvPicPr>
          <p:nvPr>
            <p:ph idx="1"/>
          </p:nvPr>
        </p:nvPicPr>
        <p:blipFill>
          <a:blip r:embed="rId2"/>
          <a:stretch>
            <a:fillRect/>
          </a:stretch>
        </p:blipFill>
        <p:spPr>
          <a:xfrm>
            <a:off x="1463040" y="365124"/>
            <a:ext cx="6344201" cy="6332769"/>
          </a:xfrm>
          <a:prstGeom prst="rect">
            <a:avLst/>
          </a:prstGeom>
        </p:spPr>
      </p:pic>
      <p:sp>
        <p:nvSpPr>
          <p:cNvPr id="4" name="Slide Number Placeholder 3">
            <a:extLst>
              <a:ext uri="{FF2B5EF4-FFF2-40B4-BE49-F238E27FC236}">
                <a16:creationId xmlns:a16="http://schemas.microsoft.com/office/drawing/2014/main" id="{2F2484E0-9278-62EF-534E-33E970D475D4}"/>
              </a:ext>
            </a:extLst>
          </p:cNvPr>
          <p:cNvSpPr>
            <a:spLocks noGrp="1"/>
          </p:cNvSpPr>
          <p:nvPr>
            <p:ph type="sldNum" sz="quarter" idx="12"/>
          </p:nvPr>
        </p:nvSpPr>
        <p:spPr/>
        <p:txBody>
          <a:bodyPr/>
          <a:lstStyle/>
          <a:p>
            <a:fld id="{6264BDCF-5269-49AC-A246-ED26C2B980E3}" type="slidenum">
              <a:rPr lang="en-US" smtClean="0"/>
              <a:t>44</a:t>
            </a:fld>
            <a:endParaRPr lang="en-US"/>
          </a:p>
        </p:txBody>
      </p:sp>
    </p:spTree>
    <p:extLst>
      <p:ext uri="{BB962C8B-B14F-4D97-AF65-F5344CB8AC3E}">
        <p14:creationId xmlns:p14="http://schemas.microsoft.com/office/powerpoint/2010/main" val="15323038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A4571-6F6B-BDA3-8828-9F18BB1F1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8D73C3-51A2-4A33-172C-9B38D8A4446F}"/>
              </a:ext>
            </a:extLst>
          </p:cNvPr>
          <p:cNvSpPr>
            <a:spLocks noGrp="1"/>
          </p:cNvSpPr>
          <p:nvPr>
            <p:ph type="title"/>
          </p:nvPr>
        </p:nvSpPr>
        <p:spPr/>
        <p:txBody>
          <a:bodyPr>
            <a:normAutofit/>
          </a:bodyPr>
          <a:lstStyle/>
          <a:p>
            <a:endParaRPr lang="en-US" dirty="0"/>
          </a:p>
        </p:txBody>
      </p:sp>
      <p:sp>
        <p:nvSpPr>
          <p:cNvPr id="3" name="Content Placeholder 2">
            <a:extLst>
              <a:ext uri="{FF2B5EF4-FFF2-40B4-BE49-F238E27FC236}">
                <a16:creationId xmlns:a16="http://schemas.microsoft.com/office/drawing/2014/main" id="{A76868BA-BB59-9694-8623-FEA19A9B7DE9}"/>
              </a:ext>
            </a:extLst>
          </p:cNvPr>
          <p:cNvSpPr>
            <a:spLocks noGrp="1"/>
          </p:cNvSpPr>
          <p:nvPr>
            <p:ph idx="1"/>
          </p:nvPr>
        </p:nvSpPr>
        <p:spPr/>
        <p:txBody>
          <a:bodyPr>
            <a:noAutofit/>
          </a:bodyPr>
          <a:lstStyle/>
          <a:p>
            <a:r>
              <a:rPr lang="en-US" dirty="0"/>
              <a:t>with that for an EMP_DEPT base relation</a:t>
            </a:r>
          </a:p>
          <a:p>
            <a:endParaRPr lang="en-US" dirty="0"/>
          </a:p>
          <a:p>
            <a:r>
              <a:rPr lang="en-US" dirty="0"/>
              <a:t>which is the result of applying NATURAL JOIN operation to EMPLOYEE and DEPARTMENT</a:t>
            </a:r>
          </a:p>
        </p:txBody>
      </p:sp>
      <p:sp>
        <p:nvSpPr>
          <p:cNvPr id="4" name="Slide Number Placeholder 3">
            <a:extLst>
              <a:ext uri="{FF2B5EF4-FFF2-40B4-BE49-F238E27FC236}">
                <a16:creationId xmlns:a16="http://schemas.microsoft.com/office/drawing/2014/main" id="{F989D2EF-B97E-6354-1CE6-E676A9DE4CDA}"/>
              </a:ext>
            </a:extLst>
          </p:cNvPr>
          <p:cNvSpPr>
            <a:spLocks noGrp="1"/>
          </p:cNvSpPr>
          <p:nvPr>
            <p:ph type="sldNum" sz="quarter" idx="12"/>
          </p:nvPr>
        </p:nvSpPr>
        <p:spPr/>
        <p:txBody>
          <a:bodyPr/>
          <a:lstStyle/>
          <a:p>
            <a:fld id="{6264BDCF-5269-49AC-A246-ED26C2B980E3}" type="slidenum">
              <a:rPr lang="en-US" smtClean="0"/>
              <a:t>45</a:t>
            </a:fld>
            <a:endParaRPr lang="en-US"/>
          </a:p>
        </p:txBody>
      </p:sp>
    </p:spTree>
    <p:extLst>
      <p:ext uri="{BB962C8B-B14F-4D97-AF65-F5344CB8AC3E}">
        <p14:creationId xmlns:p14="http://schemas.microsoft.com/office/powerpoint/2010/main" val="26827522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8D159-027A-0076-40C5-70074270F1CB}"/>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7FAA7DB7-6A1E-4E30-A118-02B5B2D24204}"/>
              </a:ext>
            </a:extLst>
          </p:cNvPr>
          <p:cNvPicPr>
            <a:picLocks noGrp="1" noChangeAspect="1"/>
          </p:cNvPicPr>
          <p:nvPr>
            <p:ph idx="1"/>
          </p:nvPr>
        </p:nvPicPr>
        <p:blipFill>
          <a:blip r:embed="rId2"/>
          <a:stretch>
            <a:fillRect/>
          </a:stretch>
        </p:blipFill>
        <p:spPr>
          <a:xfrm>
            <a:off x="914400" y="1371600"/>
            <a:ext cx="10455241" cy="3857274"/>
          </a:xfrm>
          <a:prstGeom prst="rect">
            <a:avLst/>
          </a:prstGeom>
        </p:spPr>
      </p:pic>
      <p:sp>
        <p:nvSpPr>
          <p:cNvPr id="4" name="Slide Number Placeholder 3">
            <a:extLst>
              <a:ext uri="{FF2B5EF4-FFF2-40B4-BE49-F238E27FC236}">
                <a16:creationId xmlns:a16="http://schemas.microsoft.com/office/drawing/2014/main" id="{A11F9B44-0095-2602-C722-9F1C12A0C1E6}"/>
              </a:ext>
            </a:extLst>
          </p:cNvPr>
          <p:cNvSpPr>
            <a:spLocks noGrp="1"/>
          </p:cNvSpPr>
          <p:nvPr>
            <p:ph type="sldNum" sz="quarter" idx="12"/>
          </p:nvPr>
        </p:nvSpPr>
        <p:spPr/>
        <p:txBody>
          <a:bodyPr/>
          <a:lstStyle/>
          <a:p>
            <a:fld id="{6264BDCF-5269-49AC-A246-ED26C2B980E3}" type="slidenum">
              <a:rPr lang="en-US" smtClean="0"/>
              <a:t>46</a:t>
            </a:fld>
            <a:endParaRPr lang="en-US"/>
          </a:p>
        </p:txBody>
      </p:sp>
    </p:spTree>
    <p:extLst>
      <p:ext uri="{BB962C8B-B14F-4D97-AF65-F5344CB8AC3E}">
        <p14:creationId xmlns:p14="http://schemas.microsoft.com/office/powerpoint/2010/main" val="30141646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B9E2-B5AB-C0BA-610C-8D8F9B0493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4405C0-9FCF-893D-EAFB-CEFDCE4A054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F6C3183-A8AB-FDD2-DEE0-DB69E45B3472}"/>
              </a:ext>
            </a:extLst>
          </p:cNvPr>
          <p:cNvSpPr>
            <a:spLocks noGrp="1"/>
          </p:cNvSpPr>
          <p:nvPr>
            <p:ph type="sldNum" sz="quarter" idx="12"/>
          </p:nvPr>
        </p:nvSpPr>
        <p:spPr/>
        <p:txBody>
          <a:bodyPr/>
          <a:lstStyle/>
          <a:p>
            <a:fld id="{6264BDCF-5269-49AC-A246-ED26C2B980E3}" type="slidenum">
              <a:rPr lang="en-US" smtClean="0"/>
              <a:t>47</a:t>
            </a:fld>
            <a:endParaRPr lang="en-US"/>
          </a:p>
        </p:txBody>
      </p:sp>
      <p:pic>
        <p:nvPicPr>
          <p:cNvPr id="6" name="Picture 5">
            <a:extLst>
              <a:ext uri="{FF2B5EF4-FFF2-40B4-BE49-F238E27FC236}">
                <a16:creationId xmlns:a16="http://schemas.microsoft.com/office/drawing/2014/main" id="{DC028FD7-005C-0AEA-8817-7C3727BD1177}"/>
              </a:ext>
            </a:extLst>
          </p:cNvPr>
          <p:cNvPicPr>
            <a:picLocks noChangeAspect="1"/>
          </p:cNvPicPr>
          <p:nvPr/>
        </p:nvPicPr>
        <p:blipFill>
          <a:blip r:embed="rId2"/>
          <a:stretch>
            <a:fillRect/>
          </a:stretch>
        </p:blipFill>
        <p:spPr>
          <a:xfrm>
            <a:off x="914400" y="457200"/>
            <a:ext cx="8442016" cy="6107349"/>
          </a:xfrm>
          <a:prstGeom prst="rect">
            <a:avLst/>
          </a:prstGeom>
        </p:spPr>
      </p:pic>
    </p:spTree>
    <p:extLst>
      <p:ext uri="{BB962C8B-B14F-4D97-AF65-F5344CB8AC3E}">
        <p14:creationId xmlns:p14="http://schemas.microsoft.com/office/powerpoint/2010/main" val="24755890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52755-488E-7639-339D-FB08D0F939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556A80-41FC-8683-39B2-BEC27A372DD0}"/>
              </a:ext>
            </a:extLst>
          </p:cNvPr>
          <p:cNvSpPr>
            <a:spLocks noGrp="1"/>
          </p:cNvSpPr>
          <p:nvPr>
            <p:ph idx="1"/>
          </p:nvPr>
        </p:nvSpPr>
        <p:spPr/>
        <p:txBody>
          <a:bodyPr>
            <a:normAutofit/>
          </a:bodyPr>
          <a:lstStyle/>
          <a:p>
            <a:r>
              <a:rPr lang="en-US" dirty="0"/>
              <a:t>in EMP_DEPT, attribute values pertaining to particular department (</a:t>
            </a:r>
            <a:r>
              <a:rPr lang="en-US" dirty="0" err="1"/>
              <a:t>Dnumber</a:t>
            </a:r>
            <a:r>
              <a:rPr lang="en-US" dirty="0"/>
              <a:t>, </a:t>
            </a:r>
            <a:r>
              <a:rPr lang="en-US" dirty="0" err="1"/>
              <a:t>Dname</a:t>
            </a:r>
            <a:r>
              <a:rPr lang="en-US" dirty="0"/>
              <a:t>, </a:t>
            </a:r>
            <a:r>
              <a:rPr lang="en-US" dirty="0" err="1"/>
              <a:t>Dmgr_ssn</a:t>
            </a:r>
            <a:r>
              <a:rPr lang="en-US" dirty="0"/>
              <a:t>) are repeated for every employee who works for that department</a:t>
            </a:r>
          </a:p>
          <a:p>
            <a:r>
              <a:rPr lang="en-US" dirty="0"/>
              <a:t>in contrast, each department’s information appears only once in the DEPARTMENT relation in first version and only department number (</a:t>
            </a:r>
            <a:r>
              <a:rPr lang="en-US" dirty="0" err="1"/>
              <a:t>Dnumber</a:t>
            </a:r>
            <a:r>
              <a:rPr lang="en-US" dirty="0"/>
              <a:t>) is repeated in EMPLOYEE relation for each employee who works in that department as a foreign key</a:t>
            </a:r>
          </a:p>
          <a:p>
            <a:r>
              <a:rPr lang="en-US" dirty="0"/>
              <a:t>similar comments apply to the EMP_PROJ relation</a:t>
            </a:r>
          </a:p>
        </p:txBody>
      </p:sp>
      <p:sp>
        <p:nvSpPr>
          <p:cNvPr id="4" name="Slide Number Placeholder 3">
            <a:extLst>
              <a:ext uri="{FF2B5EF4-FFF2-40B4-BE49-F238E27FC236}">
                <a16:creationId xmlns:a16="http://schemas.microsoft.com/office/drawing/2014/main" id="{C19BC1E7-9662-1E05-F208-DDD707075F23}"/>
              </a:ext>
            </a:extLst>
          </p:cNvPr>
          <p:cNvSpPr>
            <a:spLocks noGrp="1"/>
          </p:cNvSpPr>
          <p:nvPr>
            <p:ph type="sldNum" sz="quarter" idx="12"/>
          </p:nvPr>
        </p:nvSpPr>
        <p:spPr/>
        <p:txBody>
          <a:bodyPr/>
          <a:lstStyle/>
          <a:p>
            <a:fld id="{6264BDCF-5269-49AC-A246-ED26C2B980E3}" type="slidenum">
              <a:rPr lang="en-US" smtClean="0"/>
              <a:t>48</a:t>
            </a:fld>
            <a:endParaRPr lang="en-US"/>
          </a:p>
        </p:txBody>
      </p:sp>
    </p:spTree>
    <p:extLst>
      <p:ext uri="{BB962C8B-B14F-4D97-AF65-F5344CB8AC3E}">
        <p14:creationId xmlns:p14="http://schemas.microsoft.com/office/powerpoint/2010/main" val="19429249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1A8EA-4527-BD3E-AD53-DD79DD6062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2B98C0-FF61-5703-6BB1-C678615BB120}"/>
              </a:ext>
            </a:extLst>
          </p:cNvPr>
          <p:cNvSpPr>
            <a:spLocks noGrp="1"/>
          </p:cNvSpPr>
          <p:nvPr>
            <p:ph idx="1"/>
          </p:nvPr>
        </p:nvSpPr>
        <p:spPr/>
        <p:txBody>
          <a:bodyPr/>
          <a:lstStyle/>
          <a:p>
            <a:r>
              <a:rPr lang="en-US" dirty="0"/>
              <a:t>storing natural joins of base relations leads to additional problem referred to as </a:t>
            </a:r>
            <a:r>
              <a:rPr lang="en-US" b="1" i="1" dirty="0"/>
              <a:t>update anomalies</a:t>
            </a:r>
            <a:r>
              <a:rPr lang="en-US" dirty="0"/>
              <a:t> </a:t>
            </a:r>
          </a:p>
          <a:p>
            <a:pPr lvl="1"/>
            <a:r>
              <a:rPr lang="en-US" sz="2800" dirty="0"/>
              <a:t>can be classified into insertion anomalies, deletion anomalies, and modification anomalies</a:t>
            </a:r>
          </a:p>
        </p:txBody>
      </p:sp>
      <p:sp>
        <p:nvSpPr>
          <p:cNvPr id="4" name="Slide Number Placeholder 3">
            <a:extLst>
              <a:ext uri="{FF2B5EF4-FFF2-40B4-BE49-F238E27FC236}">
                <a16:creationId xmlns:a16="http://schemas.microsoft.com/office/drawing/2014/main" id="{2C3219F9-1F86-1816-8746-7AD4086B872D}"/>
              </a:ext>
            </a:extLst>
          </p:cNvPr>
          <p:cNvSpPr>
            <a:spLocks noGrp="1"/>
          </p:cNvSpPr>
          <p:nvPr>
            <p:ph type="sldNum" sz="quarter" idx="12"/>
          </p:nvPr>
        </p:nvSpPr>
        <p:spPr/>
        <p:txBody>
          <a:bodyPr/>
          <a:lstStyle/>
          <a:p>
            <a:fld id="{6264BDCF-5269-49AC-A246-ED26C2B980E3}" type="slidenum">
              <a:rPr lang="en-US" smtClean="0"/>
              <a:t>49</a:t>
            </a:fld>
            <a:endParaRPr lang="en-US"/>
          </a:p>
        </p:txBody>
      </p:sp>
    </p:spTree>
    <p:extLst>
      <p:ext uri="{BB962C8B-B14F-4D97-AF65-F5344CB8AC3E}">
        <p14:creationId xmlns:p14="http://schemas.microsoft.com/office/powerpoint/2010/main" val="32228215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5D600-183D-7C74-6F4F-1A64CF5DB651}"/>
              </a:ext>
            </a:extLst>
          </p:cNvPr>
          <p:cNvSpPr>
            <a:spLocks noGrp="1"/>
          </p:cNvSpPr>
          <p:nvPr>
            <p:ph type="title"/>
          </p:nvPr>
        </p:nvSpPr>
        <p:spPr/>
        <p:txBody>
          <a:bodyPr/>
          <a:lstStyle/>
          <a:p>
            <a:r>
              <a:rPr lang="en-US" dirty="0"/>
              <a:t>Insert Anomalies</a:t>
            </a:r>
          </a:p>
        </p:txBody>
      </p:sp>
      <p:sp>
        <p:nvSpPr>
          <p:cNvPr id="3" name="Content Placeholder 2">
            <a:extLst>
              <a:ext uri="{FF2B5EF4-FFF2-40B4-BE49-F238E27FC236}">
                <a16:creationId xmlns:a16="http://schemas.microsoft.com/office/drawing/2014/main" id="{AE8BA7F7-7BBC-0F03-A2BE-0FD581660F7D}"/>
              </a:ext>
            </a:extLst>
          </p:cNvPr>
          <p:cNvSpPr>
            <a:spLocks noGrp="1"/>
          </p:cNvSpPr>
          <p:nvPr>
            <p:ph idx="1"/>
          </p:nvPr>
        </p:nvSpPr>
        <p:spPr/>
        <p:txBody>
          <a:bodyPr>
            <a:normAutofit/>
          </a:bodyPr>
          <a:lstStyle/>
          <a:p>
            <a:pPr marL="514350" indent="-514350">
              <a:buFont typeface="+mj-lt"/>
              <a:buAutoNum type="arabicPeriod"/>
            </a:pPr>
            <a:r>
              <a:rPr lang="en-US" dirty="0"/>
              <a:t>to insert new employee tuple into EMP_DEPT, we must include either the attribute values for the department that the employee works for, or NULLs </a:t>
            </a:r>
            <a:r>
              <a:rPr lang="en-US" sz="2400" dirty="0"/>
              <a:t>(if employee does not work for a department as yet)</a:t>
            </a:r>
            <a:endParaRPr lang="en-US" dirty="0"/>
          </a:p>
          <a:p>
            <a:pPr lvl="1"/>
            <a:r>
              <a:rPr lang="en-US" sz="2700" dirty="0"/>
              <a:t>must enter all attribute values of department correctly so that they are consistent with corresponding values for department in other tuples</a:t>
            </a:r>
            <a:endParaRPr lang="en-US" dirty="0"/>
          </a:p>
          <a:p>
            <a:pPr marL="514350" indent="-514350">
              <a:buFont typeface="+mj-lt"/>
              <a:buAutoNum type="arabicPeriod"/>
            </a:pPr>
            <a:r>
              <a:rPr lang="en-US" dirty="0"/>
              <a:t>difficult to insert new department that has no employees as yet in the EMP_DEPT relation; only way to do this is to place NULL values in attributes for employee –violates entity integrity </a:t>
            </a:r>
          </a:p>
          <a:p>
            <a:r>
              <a:rPr lang="en-US" dirty="0"/>
              <a:t>problems does not occur in the normal design</a:t>
            </a:r>
          </a:p>
        </p:txBody>
      </p:sp>
      <p:sp>
        <p:nvSpPr>
          <p:cNvPr id="4" name="Slide Number Placeholder 3">
            <a:extLst>
              <a:ext uri="{FF2B5EF4-FFF2-40B4-BE49-F238E27FC236}">
                <a16:creationId xmlns:a16="http://schemas.microsoft.com/office/drawing/2014/main" id="{4C8473C1-BA9C-96D7-9668-50A1B68B67CD}"/>
              </a:ext>
            </a:extLst>
          </p:cNvPr>
          <p:cNvSpPr>
            <a:spLocks noGrp="1"/>
          </p:cNvSpPr>
          <p:nvPr>
            <p:ph type="sldNum" sz="quarter" idx="12"/>
          </p:nvPr>
        </p:nvSpPr>
        <p:spPr/>
        <p:txBody>
          <a:bodyPr/>
          <a:lstStyle/>
          <a:p>
            <a:fld id="{6264BDCF-5269-49AC-A246-ED26C2B980E3}" type="slidenum">
              <a:rPr lang="en-US" smtClean="0"/>
              <a:t>50</a:t>
            </a:fld>
            <a:endParaRPr lang="en-US"/>
          </a:p>
        </p:txBody>
      </p:sp>
    </p:spTree>
    <p:extLst>
      <p:ext uri="{BB962C8B-B14F-4D97-AF65-F5344CB8AC3E}">
        <p14:creationId xmlns:p14="http://schemas.microsoft.com/office/powerpoint/2010/main" val="1166031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AA214-33DA-D8F4-CB57-FBE22859951C}"/>
              </a:ext>
            </a:extLst>
          </p:cNvPr>
          <p:cNvSpPr>
            <a:spLocks noGrp="1"/>
          </p:cNvSpPr>
          <p:nvPr>
            <p:ph type="title"/>
          </p:nvPr>
        </p:nvSpPr>
        <p:spPr/>
        <p:txBody>
          <a:bodyPr/>
          <a:lstStyle/>
          <a:p>
            <a:r>
              <a:rPr lang="en-US" dirty="0"/>
              <a:t>Delete Anomalies</a:t>
            </a:r>
          </a:p>
        </p:txBody>
      </p:sp>
      <p:sp>
        <p:nvSpPr>
          <p:cNvPr id="3" name="Content Placeholder 2">
            <a:extLst>
              <a:ext uri="{FF2B5EF4-FFF2-40B4-BE49-F238E27FC236}">
                <a16:creationId xmlns:a16="http://schemas.microsoft.com/office/drawing/2014/main" id="{83954EDA-C71B-C7EE-383F-5CCD963CE178}"/>
              </a:ext>
            </a:extLst>
          </p:cNvPr>
          <p:cNvSpPr>
            <a:spLocks noGrp="1"/>
          </p:cNvSpPr>
          <p:nvPr>
            <p:ph idx="1"/>
          </p:nvPr>
        </p:nvSpPr>
        <p:spPr/>
        <p:txBody>
          <a:bodyPr>
            <a:normAutofit/>
          </a:bodyPr>
          <a:lstStyle/>
          <a:p>
            <a:r>
              <a:rPr lang="en-US" dirty="0"/>
              <a:t>if we delete from EMP_DEPT an employee tuple that happens to represent last employee working for particular department, the information concerning that department is lost inadvertently from the database</a:t>
            </a:r>
          </a:p>
          <a:p>
            <a:r>
              <a:rPr lang="en-US" dirty="0"/>
              <a:t>problems does not occur in the normal design because DEPARTMENT tuples are stored separately</a:t>
            </a:r>
          </a:p>
        </p:txBody>
      </p:sp>
      <p:sp>
        <p:nvSpPr>
          <p:cNvPr id="4" name="Slide Number Placeholder 3">
            <a:extLst>
              <a:ext uri="{FF2B5EF4-FFF2-40B4-BE49-F238E27FC236}">
                <a16:creationId xmlns:a16="http://schemas.microsoft.com/office/drawing/2014/main" id="{D486E793-5B8A-A868-62E7-1628608F1449}"/>
              </a:ext>
            </a:extLst>
          </p:cNvPr>
          <p:cNvSpPr>
            <a:spLocks noGrp="1"/>
          </p:cNvSpPr>
          <p:nvPr>
            <p:ph type="sldNum" sz="quarter" idx="12"/>
          </p:nvPr>
        </p:nvSpPr>
        <p:spPr/>
        <p:txBody>
          <a:bodyPr/>
          <a:lstStyle/>
          <a:p>
            <a:fld id="{6264BDCF-5269-49AC-A246-ED26C2B980E3}" type="slidenum">
              <a:rPr lang="en-US" smtClean="0"/>
              <a:t>51</a:t>
            </a:fld>
            <a:endParaRPr lang="en-US"/>
          </a:p>
        </p:txBody>
      </p:sp>
    </p:spTree>
    <p:extLst>
      <p:ext uri="{BB962C8B-B14F-4D97-AF65-F5344CB8AC3E}">
        <p14:creationId xmlns:p14="http://schemas.microsoft.com/office/powerpoint/2010/main" val="2468769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CE7C9-0571-17A4-08B1-E34EED4031E6}"/>
              </a:ext>
            </a:extLst>
          </p:cNvPr>
          <p:cNvSpPr>
            <a:spLocks noGrp="1"/>
          </p:cNvSpPr>
          <p:nvPr>
            <p:ph type="title"/>
          </p:nvPr>
        </p:nvSpPr>
        <p:spPr/>
        <p:txBody>
          <a:bodyPr/>
          <a:lstStyle/>
          <a:p>
            <a:r>
              <a:rPr lang="en-US" dirty="0"/>
              <a:t>Modification – Update - Anomalies</a:t>
            </a:r>
          </a:p>
        </p:txBody>
      </p:sp>
      <p:sp>
        <p:nvSpPr>
          <p:cNvPr id="3" name="Content Placeholder 2">
            <a:extLst>
              <a:ext uri="{FF2B5EF4-FFF2-40B4-BE49-F238E27FC236}">
                <a16:creationId xmlns:a16="http://schemas.microsoft.com/office/drawing/2014/main" id="{E4FEA5B1-6966-2F43-3AB2-AC9C8492A0D3}"/>
              </a:ext>
            </a:extLst>
          </p:cNvPr>
          <p:cNvSpPr>
            <a:spLocks noGrp="1"/>
          </p:cNvSpPr>
          <p:nvPr>
            <p:ph idx="1"/>
          </p:nvPr>
        </p:nvSpPr>
        <p:spPr/>
        <p:txBody>
          <a:bodyPr>
            <a:normAutofit/>
          </a:bodyPr>
          <a:lstStyle/>
          <a:p>
            <a:r>
              <a:rPr lang="en-US" dirty="0"/>
              <a:t>in EMP_DEPT, if we change the value of one of the attributes of particular department we must update the tuples of </a:t>
            </a:r>
            <a:r>
              <a:rPr lang="en-US" i="1" dirty="0"/>
              <a:t>all </a:t>
            </a:r>
            <a:r>
              <a:rPr lang="en-US" dirty="0"/>
              <a:t>employees who work in that department; otherwise, database will become inconsistent</a:t>
            </a:r>
          </a:p>
          <a:p>
            <a:pPr lvl="1"/>
            <a:r>
              <a:rPr lang="en-US" sz="2700" dirty="0"/>
              <a:t>if we fail to update some tuples, same department will be shown to have two different values for attribute in different employee tuples</a:t>
            </a:r>
          </a:p>
          <a:p>
            <a:endParaRPr lang="en-US" sz="1200" dirty="0"/>
          </a:p>
          <a:p>
            <a:r>
              <a:rPr lang="en-US" dirty="0"/>
              <a:t>these three anomalies are undesirable and cause difficulties to maintain consistency of data as well as require unnecessary updates that can be avoided</a:t>
            </a:r>
          </a:p>
        </p:txBody>
      </p:sp>
      <p:sp>
        <p:nvSpPr>
          <p:cNvPr id="4" name="Slide Number Placeholder 3">
            <a:extLst>
              <a:ext uri="{FF2B5EF4-FFF2-40B4-BE49-F238E27FC236}">
                <a16:creationId xmlns:a16="http://schemas.microsoft.com/office/drawing/2014/main" id="{6A4BA112-33B8-90DE-A857-F83C55A6E233}"/>
              </a:ext>
            </a:extLst>
          </p:cNvPr>
          <p:cNvSpPr>
            <a:spLocks noGrp="1"/>
          </p:cNvSpPr>
          <p:nvPr>
            <p:ph type="sldNum" sz="quarter" idx="12"/>
          </p:nvPr>
        </p:nvSpPr>
        <p:spPr/>
        <p:txBody>
          <a:bodyPr/>
          <a:lstStyle/>
          <a:p>
            <a:fld id="{6264BDCF-5269-49AC-A246-ED26C2B980E3}" type="slidenum">
              <a:rPr lang="en-US" smtClean="0"/>
              <a:t>52</a:t>
            </a:fld>
            <a:endParaRPr lang="en-US"/>
          </a:p>
        </p:txBody>
      </p:sp>
    </p:spTree>
    <p:extLst>
      <p:ext uri="{BB962C8B-B14F-4D97-AF65-F5344CB8AC3E}">
        <p14:creationId xmlns:p14="http://schemas.microsoft.com/office/powerpoint/2010/main" val="23991420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741FC-7506-EDD9-742A-89B6E4F4628F}"/>
              </a:ext>
            </a:extLst>
          </p:cNvPr>
          <p:cNvSpPr>
            <a:spLocks noGrp="1"/>
          </p:cNvSpPr>
          <p:nvPr>
            <p:ph type="title"/>
          </p:nvPr>
        </p:nvSpPr>
        <p:spPr/>
        <p:txBody>
          <a:bodyPr/>
          <a:lstStyle/>
          <a:p>
            <a:r>
              <a:rPr lang="en-US" dirty="0"/>
              <a:t>Guideline</a:t>
            </a:r>
          </a:p>
        </p:txBody>
      </p:sp>
      <p:sp>
        <p:nvSpPr>
          <p:cNvPr id="3" name="Content Placeholder 2">
            <a:extLst>
              <a:ext uri="{FF2B5EF4-FFF2-40B4-BE49-F238E27FC236}">
                <a16:creationId xmlns:a16="http://schemas.microsoft.com/office/drawing/2014/main" id="{E565F7D9-9B51-A60F-BEAF-0E18BAC6BCD8}"/>
              </a:ext>
            </a:extLst>
          </p:cNvPr>
          <p:cNvSpPr>
            <a:spLocks noGrp="1"/>
          </p:cNvSpPr>
          <p:nvPr>
            <p:ph idx="1"/>
          </p:nvPr>
        </p:nvSpPr>
        <p:spPr/>
        <p:txBody>
          <a:bodyPr>
            <a:noAutofit/>
          </a:bodyPr>
          <a:lstStyle/>
          <a:p>
            <a:r>
              <a:rPr lang="en-US" dirty="0"/>
              <a:t>design the base relation schemas so that no insertion, deletion, or modification anomalies are present in the relations</a:t>
            </a:r>
          </a:p>
          <a:p>
            <a:r>
              <a:rPr lang="en-US" dirty="0"/>
              <a:t>if any anomalies are present make sure that programs that update the database will operate correctly</a:t>
            </a:r>
          </a:p>
          <a:p>
            <a:endParaRPr lang="en-US" dirty="0"/>
          </a:p>
          <a:p>
            <a:r>
              <a:rPr lang="en-US" sz="2700" dirty="0"/>
              <a:t>guidelines may sometimes </a:t>
            </a:r>
            <a:r>
              <a:rPr lang="en-US" sz="2700" i="1" dirty="0"/>
              <a:t>have to be violated </a:t>
            </a:r>
            <a:r>
              <a:rPr lang="en-US" sz="2700" dirty="0"/>
              <a:t>in order to </a:t>
            </a:r>
            <a:r>
              <a:rPr lang="en-US" sz="2700" i="1" dirty="0"/>
              <a:t>improve the performance </a:t>
            </a:r>
            <a:r>
              <a:rPr lang="en-US" sz="2700" dirty="0"/>
              <a:t>of certain queries</a:t>
            </a:r>
          </a:p>
        </p:txBody>
      </p:sp>
      <p:sp>
        <p:nvSpPr>
          <p:cNvPr id="4" name="Slide Number Placeholder 3">
            <a:extLst>
              <a:ext uri="{FF2B5EF4-FFF2-40B4-BE49-F238E27FC236}">
                <a16:creationId xmlns:a16="http://schemas.microsoft.com/office/drawing/2014/main" id="{7710212C-BD40-F29A-2209-423E1B1D363D}"/>
              </a:ext>
            </a:extLst>
          </p:cNvPr>
          <p:cNvSpPr>
            <a:spLocks noGrp="1"/>
          </p:cNvSpPr>
          <p:nvPr>
            <p:ph type="sldNum" sz="quarter" idx="12"/>
          </p:nvPr>
        </p:nvSpPr>
        <p:spPr/>
        <p:txBody>
          <a:bodyPr/>
          <a:lstStyle/>
          <a:p>
            <a:fld id="{6264BDCF-5269-49AC-A246-ED26C2B980E3}" type="slidenum">
              <a:rPr lang="en-US" smtClean="0"/>
              <a:t>53</a:t>
            </a:fld>
            <a:endParaRPr lang="en-US"/>
          </a:p>
        </p:txBody>
      </p:sp>
    </p:spTree>
    <p:extLst>
      <p:ext uri="{BB962C8B-B14F-4D97-AF65-F5344CB8AC3E}">
        <p14:creationId xmlns:p14="http://schemas.microsoft.com/office/powerpoint/2010/main" val="6190356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6062B-E7B7-32D1-6DA0-655AD247E7FB}"/>
              </a:ext>
            </a:extLst>
          </p:cNvPr>
          <p:cNvSpPr>
            <a:spLocks noGrp="1"/>
          </p:cNvSpPr>
          <p:nvPr>
            <p:ph type="title"/>
          </p:nvPr>
        </p:nvSpPr>
        <p:spPr/>
        <p:txBody>
          <a:bodyPr/>
          <a:lstStyle/>
          <a:p>
            <a:r>
              <a:rPr lang="en-US" dirty="0"/>
              <a:t>NULL Values in Tuples</a:t>
            </a:r>
          </a:p>
        </p:txBody>
      </p:sp>
      <p:sp>
        <p:nvSpPr>
          <p:cNvPr id="3" name="Content Placeholder 2">
            <a:extLst>
              <a:ext uri="{FF2B5EF4-FFF2-40B4-BE49-F238E27FC236}">
                <a16:creationId xmlns:a16="http://schemas.microsoft.com/office/drawing/2014/main" id="{21520A7B-C40B-4DF0-03E5-2F1C7E27DD5C}"/>
              </a:ext>
            </a:extLst>
          </p:cNvPr>
          <p:cNvSpPr>
            <a:spLocks noGrp="1"/>
          </p:cNvSpPr>
          <p:nvPr>
            <p:ph idx="1"/>
          </p:nvPr>
        </p:nvSpPr>
        <p:spPr/>
        <p:txBody>
          <a:bodyPr/>
          <a:lstStyle/>
          <a:p>
            <a:r>
              <a:rPr lang="en-US" dirty="0"/>
              <a:t>in  some schema designs we may group many attributes together into a “fat” relation; if many of the attributes do not apply to all tuples in relation, we end up with many NULLs in those tuples</a:t>
            </a:r>
          </a:p>
          <a:p>
            <a:r>
              <a:rPr lang="en-US" dirty="0"/>
              <a:t>waste space and may also lead to problems with understanding  meaning of attributes</a:t>
            </a:r>
          </a:p>
        </p:txBody>
      </p:sp>
      <p:sp>
        <p:nvSpPr>
          <p:cNvPr id="4" name="Slide Number Placeholder 3">
            <a:extLst>
              <a:ext uri="{FF2B5EF4-FFF2-40B4-BE49-F238E27FC236}">
                <a16:creationId xmlns:a16="http://schemas.microsoft.com/office/drawing/2014/main" id="{FD110B5B-889C-F2D9-EC06-EAC854086067}"/>
              </a:ext>
            </a:extLst>
          </p:cNvPr>
          <p:cNvSpPr>
            <a:spLocks noGrp="1"/>
          </p:cNvSpPr>
          <p:nvPr>
            <p:ph type="sldNum" sz="quarter" idx="12"/>
          </p:nvPr>
        </p:nvSpPr>
        <p:spPr/>
        <p:txBody>
          <a:bodyPr/>
          <a:lstStyle/>
          <a:p>
            <a:fld id="{6264BDCF-5269-49AC-A246-ED26C2B980E3}" type="slidenum">
              <a:rPr lang="en-US" smtClean="0"/>
              <a:t>54</a:t>
            </a:fld>
            <a:endParaRPr lang="en-US"/>
          </a:p>
        </p:txBody>
      </p:sp>
    </p:spTree>
    <p:extLst>
      <p:ext uri="{BB962C8B-B14F-4D97-AF65-F5344CB8AC3E}">
        <p14:creationId xmlns:p14="http://schemas.microsoft.com/office/powerpoint/2010/main" val="42231128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8E2F8-AEC2-AF89-E98F-40B84FCF787F}"/>
              </a:ext>
            </a:extLst>
          </p:cNvPr>
          <p:cNvSpPr>
            <a:spLocks noGrp="1"/>
          </p:cNvSpPr>
          <p:nvPr>
            <p:ph type="title"/>
          </p:nvPr>
        </p:nvSpPr>
        <p:spPr/>
        <p:txBody>
          <a:bodyPr/>
          <a:lstStyle/>
          <a:p>
            <a:r>
              <a:rPr lang="en-US" dirty="0"/>
              <a:t>Guideline</a:t>
            </a:r>
          </a:p>
        </p:txBody>
      </p:sp>
      <p:sp>
        <p:nvSpPr>
          <p:cNvPr id="3" name="Content Placeholder 2">
            <a:extLst>
              <a:ext uri="{FF2B5EF4-FFF2-40B4-BE49-F238E27FC236}">
                <a16:creationId xmlns:a16="http://schemas.microsoft.com/office/drawing/2014/main" id="{E821C060-AA45-3C8B-C36E-AC7896BD2D8A}"/>
              </a:ext>
            </a:extLst>
          </p:cNvPr>
          <p:cNvSpPr>
            <a:spLocks noGrp="1"/>
          </p:cNvSpPr>
          <p:nvPr>
            <p:ph idx="1"/>
          </p:nvPr>
        </p:nvSpPr>
        <p:spPr/>
        <p:txBody>
          <a:bodyPr/>
          <a:lstStyle/>
          <a:p>
            <a:r>
              <a:rPr lang="en-US" dirty="0"/>
              <a:t>as far as possible, avoid placing attributes in a base relation whose values may frequently be NULL</a:t>
            </a:r>
          </a:p>
          <a:p>
            <a:r>
              <a:rPr lang="en-US" dirty="0"/>
              <a:t>if NULLs are unavoidable, make sure that they apply in exceptional cases only and do not apply to a majority of tuples in relation</a:t>
            </a:r>
          </a:p>
        </p:txBody>
      </p:sp>
      <p:sp>
        <p:nvSpPr>
          <p:cNvPr id="4" name="Slide Number Placeholder 3">
            <a:extLst>
              <a:ext uri="{FF2B5EF4-FFF2-40B4-BE49-F238E27FC236}">
                <a16:creationId xmlns:a16="http://schemas.microsoft.com/office/drawing/2014/main" id="{F125DFAB-07B0-6611-3E09-643CE5A78F9A}"/>
              </a:ext>
            </a:extLst>
          </p:cNvPr>
          <p:cNvSpPr>
            <a:spLocks noGrp="1"/>
          </p:cNvSpPr>
          <p:nvPr>
            <p:ph type="sldNum" sz="quarter" idx="12"/>
          </p:nvPr>
        </p:nvSpPr>
        <p:spPr/>
        <p:txBody>
          <a:bodyPr/>
          <a:lstStyle/>
          <a:p>
            <a:fld id="{6264BDCF-5269-49AC-A246-ED26C2B980E3}" type="slidenum">
              <a:rPr lang="en-US" smtClean="0"/>
              <a:t>55</a:t>
            </a:fld>
            <a:endParaRPr lang="en-US"/>
          </a:p>
        </p:txBody>
      </p:sp>
    </p:spTree>
    <p:extLst>
      <p:ext uri="{BB962C8B-B14F-4D97-AF65-F5344CB8AC3E}">
        <p14:creationId xmlns:p14="http://schemas.microsoft.com/office/powerpoint/2010/main" val="578332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15B7A-5C85-0DE4-54D4-BD74639A90D4}"/>
              </a:ext>
            </a:extLst>
          </p:cNvPr>
          <p:cNvSpPr>
            <a:spLocks noGrp="1"/>
          </p:cNvSpPr>
          <p:nvPr>
            <p:ph type="title"/>
          </p:nvPr>
        </p:nvSpPr>
        <p:spPr/>
        <p:txBody>
          <a:bodyPr/>
          <a:lstStyle/>
          <a:p>
            <a:r>
              <a:rPr lang="en-US" dirty="0"/>
              <a:t>Guideline</a:t>
            </a:r>
          </a:p>
        </p:txBody>
      </p:sp>
      <p:sp>
        <p:nvSpPr>
          <p:cNvPr id="3" name="Content Placeholder 2">
            <a:extLst>
              <a:ext uri="{FF2B5EF4-FFF2-40B4-BE49-F238E27FC236}">
                <a16:creationId xmlns:a16="http://schemas.microsoft.com/office/drawing/2014/main" id="{783C7476-54E1-A166-32C2-7EF2C975A9D1}"/>
              </a:ext>
            </a:extLst>
          </p:cNvPr>
          <p:cNvSpPr>
            <a:spLocks noGrp="1"/>
          </p:cNvSpPr>
          <p:nvPr>
            <p:ph idx="1"/>
          </p:nvPr>
        </p:nvSpPr>
        <p:spPr/>
        <p:txBody>
          <a:bodyPr/>
          <a:lstStyle/>
          <a:p>
            <a:r>
              <a:rPr lang="en-US" dirty="0"/>
              <a:t>design relation schemas so that they can be joined with equality conditions on attributes that are appropriately related (primary key, foreign key) pairs in a way that guarantees that no spurious tuples are generated</a:t>
            </a:r>
          </a:p>
          <a:p>
            <a:r>
              <a:rPr lang="en-US" dirty="0"/>
              <a:t>avoid relations that contain matching attributes that are not (foreign key, primary key) combinations because joining on such attributes may produce spurious tuples</a:t>
            </a:r>
          </a:p>
        </p:txBody>
      </p:sp>
      <p:sp>
        <p:nvSpPr>
          <p:cNvPr id="4" name="Slide Number Placeholder 3">
            <a:extLst>
              <a:ext uri="{FF2B5EF4-FFF2-40B4-BE49-F238E27FC236}">
                <a16:creationId xmlns:a16="http://schemas.microsoft.com/office/drawing/2014/main" id="{B7DF9BA7-6F2B-03B7-230F-D3B3F8CBA57F}"/>
              </a:ext>
            </a:extLst>
          </p:cNvPr>
          <p:cNvSpPr>
            <a:spLocks noGrp="1"/>
          </p:cNvSpPr>
          <p:nvPr>
            <p:ph type="sldNum" sz="quarter" idx="12"/>
          </p:nvPr>
        </p:nvSpPr>
        <p:spPr/>
        <p:txBody>
          <a:bodyPr/>
          <a:lstStyle/>
          <a:p>
            <a:fld id="{6264BDCF-5269-49AC-A246-ED26C2B980E3}" type="slidenum">
              <a:rPr lang="en-US" smtClean="0"/>
              <a:t>56</a:t>
            </a:fld>
            <a:endParaRPr lang="en-US"/>
          </a:p>
        </p:txBody>
      </p:sp>
    </p:spTree>
    <p:extLst>
      <p:ext uri="{BB962C8B-B14F-4D97-AF65-F5344CB8AC3E}">
        <p14:creationId xmlns:p14="http://schemas.microsoft.com/office/powerpoint/2010/main" val="21696646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A8DF2-593D-DAB9-BE39-ED075D1FF7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D123AD-160A-C8F6-2217-91B55B26242F}"/>
              </a:ext>
            </a:extLst>
          </p:cNvPr>
          <p:cNvSpPr>
            <a:spLocks noGrp="1"/>
          </p:cNvSpPr>
          <p:nvPr>
            <p:ph idx="1"/>
          </p:nvPr>
        </p:nvSpPr>
        <p:spPr/>
        <p:txBody>
          <a:bodyPr>
            <a:normAutofit/>
          </a:bodyPr>
          <a:lstStyle/>
          <a:p>
            <a:r>
              <a:rPr lang="en-US" dirty="0"/>
              <a:t>anomalies that cause redundant work to be done during modification of a relation, and that may cause accidental loss of information </a:t>
            </a:r>
          </a:p>
          <a:p>
            <a:r>
              <a:rPr lang="en-US" dirty="0"/>
              <a:t>waste of storage space due to NULLs and difficulty of performing selections, aggregation operations, and joins due to NULL values</a:t>
            </a:r>
          </a:p>
          <a:p>
            <a:r>
              <a:rPr lang="en-US" dirty="0"/>
              <a:t>generation of invalid and spurious data during joins on base relations with matched attributes that may not represent a proper (foreign key, primary key) relationship</a:t>
            </a:r>
          </a:p>
        </p:txBody>
      </p:sp>
      <p:sp>
        <p:nvSpPr>
          <p:cNvPr id="4" name="Slide Number Placeholder 3">
            <a:extLst>
              <a:ext uri="{FF2B5EF4-FFF2-40B4-BE49-F238E27FC236}">
                <a16:creationId xmlns:a16="http://schemas.microsoft.com/office/drawing/2014/main" id="{523E3F9E-4025-3C76-6C14-8A06B2C7EE77}"/>
              </a:ext>
            </a:extLst>
          </p:cNvPr>
          <p:cNvSpPr>
            <a:spLocks noGrp="1"/>
          </p:cNvSpPr>
          <p:nvPr>
            <p:ph type="sldNum" sz="quarter" idx="12"/>
          </p:nvPr>
        </p:nvSpPr>
        <p:spPr/>
        <p:txBody>
          <a:bodyPr/>
          <a:lstStyle/>
          <a:p>
            <a:fld id="{6264BDCF-5269-49AC-A246-ED26C2B980E3}" type="slidenum">
              <a:rPr lang="en-US" smtClean="0"/>
              <a:t>57</a:t>
            </a:fld>
            <a:endParaRPr lang="en-US"/>
          </a:p>
        </p:txBody>
      </p:sp>
    </p:spTree>
    <p:extLst>
      <p:ext uri="{BB962C8B-B14F-4D97-AF65-F5344CB8AC3E}">
        <p14:creationId xmlns:p14="http://schemas.microsoft.com/office/powerpoint/2010/main" val="311103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BFCA82A-897D-EF39-ECC5-932E48DD2FC4}"/>
              </a:ext>
            </a:extLst>
          </p:cNvPr>
          <p:cNvSpPr>
            <a:spLocks noGrp="1"/>
          </p:cNvSpPr>
          <p:nvPr>
            <p:ph type="title"/>
          </p:nvPr>
        </p:nvSpPr>
        <p:spPr/>
        <p:txBody>
          <a:bodyPr/>
          <a:lstStyle/>
          <a:p>
            <a:r>
              <a:rPr lang="en-US" dirty="0"/>
              <a:t>Functional Dependencies</a:t>
            </a:r>
          </a:p>
        </p:txBody>
      </p:sp>
      <p:sp>
        <p:nvSpPr>
          <p:cNvPr id="6" name="Text Placeholder 5">
            <a:extLst>
              <a:ext uri="{FF2B5EF4-FFF2-40B4-BE49-F238E27FC236}">
                <a16:creationId xmlns:a16="http://schemas.microsoft.com/office/drawing/2014/main" id="{1FAF6EC7-6F9C-8CD5-A41D-DBD6F3ED67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7D47E7B-262A-272D-CD18-9291504E5578}"/>
              </a:ext>
            </a:extLst>
          </p:cNvPr>
          <p:cNvSpPr>
            <a:spLocks noGrp="1"/>
          </p:cNvSpPr>
          <p:nvPr>
            <p:ph type="sldNum" sz="quarter" idx="12"/>
          </p:nvPr>
        </p:nvSpPr>
        <p:spPr/>
        <p:txBody>
          <a:bodyPr/>
          <a:lstStyle/>
          <a:p>
            <a:fld id="{6264BDCF-5269-49AC-A246-ED26C2B980E3}" type="slidenum">
              <a:rPr lang="en-US" smtClean="0"/>
              <a:t>58</a:t>
            </a:fld>
            <a:endParaRPr lang="en-US"/>
          </a:p>
        </p:txBody>
      </p:sp>
    </p:spTree>
    <p:extLst>
      <p:ext uri="{BB962C8B-B14F-4D97-AF65-F5344CB8AC3E}">
        <p14:creationId xmlns:p14="http://schemas.microsoft.com/office/powerpoint/2010/main" val="3270694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A2872-2C99-24CB-398F-261CFAFE641D}"/>
              </a:ext>
            </a:extLst>
          </p:cNvPr>
          <p:cNvSpPr>
            <a:spLocks noGrp="1"/>
          </p:cNvSpPr>
          <p:nvPr>
            <p:ph type="title"/>
          </p:nvPr>
        </p:nvSpPr>
        <p:spPr/>
        <p:txBody>
          <a:bodyPr/>
          <a:lstStyle/>
          <a:p>
            <a:r>
              <a:rPr lang="en-US" dirty="0"/>
              <a:t>Functional Dependency</a:t>
            </a:r>
          </a:p>
        </p:txBody>
      </p:sp>
      <p:sp>
        <p:nvSpPr>
          <p:cNvPr id="3" name="Content Placeholder 2">
            <a:extLst>
              <a:ext uri="{FF2B5EF4-FFF2-40B4-BE49-F238E27FC236}">
                <a16:creationId xmlns:a16="http://schemas.microsoft.com/office/drawing/2014/main" id="{DA239B39-E636-4CCE-01FB-36214CDB9847}"/>
              </a:ext>
            </a:extLst>
          </p:cNvPr>
          <p:cNvSpPr>
            <a:spLocks noGrp="1"/>
          </p:cNvSpPr>
          <p:nvPr>
            <p:ph idx="1"/>
          </p:nvPr>
        </p:nvSpPr>
        <p:spPr/>
        <p:txBody>
          <a:bodyPr>
            <a:normAutofit/>
          </a:bodyPr>
          <a:lstStyle/>
          <a:p>
            <a:r>
              <a:rPr lang="en-US" dirty="0"/>
              <a:t>formal tool for analysis of relational schemas that enables us to detect and describe some of the above-mentioned problems in precise terms</a:t>
            </a:r>
          </a:p>
          <a:p>
            <a:endParaRPr lang="en-US" dirty="0"/>
          </a:p>
          <a:p>
            <a:r>
              <a:rPr lang="en-US" dirty="0"/>
              <a:t>a functional dependency definition: it is a constraint between two sets of attributes from the database</a:t>
            </a:r>
          </a:p>
          <a:p>
            <a:r>
              <a:rPr lang="en-US" dirty="0"/>
              <a:t>relational database schema has </a:t>
            </a:r>
            <a:r>
              <a:rPr lang="en-US" i="1" dirty="0"/>
              <a:t>n </a:t>
            </a:r>
            <a:r>
              <a:rPr lang="en-US" dirty="0"/>
              <a:t>attributes </a:t>
            </a:r>
            <a:r>
              <a:rPr lang="en-US" i="1" dirty="0"/>
              <a:t>A</a:t>
            </a:r>
            <a:r>
              <a:rPr lang="en-US" baseline="-25000" dirty="0"/>
              <a:t>1</a:t>
            </a:r>
            <a:r>
              <a:rPr lang="en-US" dirty="0"/>
              <a:t>, </a:t>
            </a:r>
            <a:r>
              <a:rPr lang="en-US" i="1" dirty="0"/>
              <a:t>A</a:t>
            </a:r>
            <a:r>
              <a:rPr lang="en-US" baseline="-25000" dirty="0"/>
              <a:t>2</a:t>
            </a:r>
            <a:r>
              <a:rPr lang="en-US" dirty="0"/>
              <a:t>, … , </a:t>
            </a:r>
            <a:r>
              <a:rPr lang="en-US" i="1" dirty="0"/>
              <a:t>A</a:t>
            </a:r>
            <a:r>
              <a:rPr lang="en-US" baseline="-25000" dirty="0"/>
              <a:t>n</a:t>
            </a:r>
            <a:r>
              <a:rPr lang="en-US" dirty="0"/>
              <a:t>; let us think of the whole database as being described by single universal relation schema </a:t>
            </a:r>
            <a:r>
              <a:rPr lang="en-US" i="1" dirty="0"/>
              <a:t>R </a:t>
            </a:r>
            <a:r>
              <a:rPr lang="en-US" dirty="0"/>
              <a:t>= {</a:t>
            </a:r>
            <a:r>
              <a:rPr lang="en-US" i="1" dirty="0"/>
              <a:t>A</a:t>
            </a:r>
            <a:r>
              <a:rPr lang="en-US" baseline="-25000" dirty="0"/>
              <a:t>1</a:t>
            </a:r>
            <a:r>
              <a:rPr lang="en-US" dirty="0"/>
              <a:t>, </a:t>
            </a:r>
            <a:r>
              <a:rPr lang="en-US" i="1" dirty="0"/>
              <a:t>A</a:t>
            </a:r>
            <a:r>
              <a:rPr lang="en-US" baseline="-25000" dirty="0"/>
              <a:t>2</a:t>
            </a:r>
            <a:r>
              <a:rPr lang="en-US" dirty="0"/>
              <a:t>, … , </a:t>
            </a:r>
            <a:r>
              <a:rPr lang="en-US" i="1" dirty="0"/>
              <a:t>A</a:t>
            </a:r>
            <a:r>
              <a:rPr lang="en-US" baseline="-25000" dirty="0"/>
              <a:t>n</a:t>
            </a:r>
            <a:r>
              <a:rPr lang="en-US" dirty="0"/>
              <a:t>}</a:t>
            </a:r>
          </a:p>
          <a:p>
            <a:endParaRPr lang="en-US" dirty="0"/>
          </a:p>
        </p:txBody>
      </p:sp>
      <p:sp>
        <p:nvSpPr>
          <p:cNvPr id="4" name="Slide Number Placeholder 3">
            <a:extLst>
              <a:ext uri="{FF2B5EF4-FFF2-40B4-BE49-F238E27FC236}">
                <a16:creationId xmlns:a16="http://schemas.microsoft.com/office/drawing/2014/main" id="{781D791F-EDE8-A38B-D16A-A1AF17925A91}"/>
              </a:ext>
            </a:extLst>
          </p:cNvPr>
          <p:cNvSpPr>
            <a:spLocks noGrp="1"/>
          </p:cNvSpPr>
          <p:nvPr>
            <p:ph type="sldNum" sz="quarter" idx="12"/>
          </p:nvPr>
        </p:nvSpPr>
        <p:spPr/>
        <p:txBody>
          <a:bodyPr/>
          <a:lstStyle/>
          <a:p>
            <a:fld id="{6264BDCF-5269-49AC-A246-ED26C2B980E3}" type="slidenum">
              <a:rPr lang="en-US" smtClean="0"/>
              <a:t>59</a:t>
            </a:fld>
            <a:endParaRPr lang="en-US"/>
          </a:p>
        </p:txBody>
      </p:sp>
    </p:spTree>
    <p:extLst>
      <p:ext uri="{BB962C8B-B14F-4D97-AF65-F5344CB8AC3E}">
        <p14:creationId xmlns:p14="http://schemas.microsoft.com/office/powerpoint/2010/main" val="41309503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FB0BE-05C5-99BC-97C5-365B798C57A8}"/>
              </a:ext>
            </a:extLst>
          </p:cNvPr>
          <p:cNvSpPr>
            <a:spLocks noGrp="1"/>
          </p:cNvSpPr>
          <p:nvPr>
            <p:ph type="title"/>
          </p:nvPr>
        </p:nvSpPr>
        <p:spPr/>
        <p:txBody>
          <a:bodyPr/>
          <a:lstStyle/>
          <a:p>
            <a:r>
              <a:rPr lang="en-US" dirty="0"/>
              <a:t>Functional Dependency Definition</a:t>
            </a:r>
          </a:p>
        </p:txBody>
      </p:sp>
      <p:sp>
        <p:nvSpPr>
          <p:cNvPr id="3" name="Content Placeholder 2">
            <a:extLst>
              <a:ext uri="{FF2B5EF4-FFF2-40B4-BE49-F238E27FC236}">
                <a16:creationId xmlns:a16="http://schemas.microsoft.com/office/drawing/2014/main" id="{6FD89DA8-0A9D-2045-DA16-7BD718C34FC1}"/>
              </a:ext>
            </a:extLst>
          </p:cNvPr>
          <p:cNvSpPr>
            <a:spLocks noGrp="1"/>
          </p:cNvSpPr>
          <p:nvPr>
            <p:ph idx="1"/>
          </p:nvPr>
        </p:nvSpPr>
        <p:spPr/>
        <p:txBody>
          <a:bodyPr>
            <a:normAutofit/>
          </a:bodyPr>
          <a:lstStyle/>
          <a:p>
            <a:r>
              <a:rPr lang="en-US" dirty="0"/>
              <a:t>functional dependency, denoted by </a:t>
            </a:r>
            <a:r>
              <a:rPr lang="en-US" i="1" dirty="0"/>
              <a:t>X </a:t>
            </a:r>
            <a:r>
              <a:rPr lang="en-US" dirty="0"/>
              <a:t>→ </a:t>
            </a:r>
            <a:r>
              <a:rPr lang="en-US" i="1" dirty="0"/>
              <a:t>Y</a:t>
            </a:r>
            <a:r>
              <a:rPr lang="en-US" dirty="0"/>
              <a:t>, between two sets of attributes </a:t>
            </a:r>
            <a:r>
              <a:rPr lang="en-US" i="1" dirty="0"/>
              <a:t>X </a:t>
            </a:r>
            <a:r>
              <a:rPr lang="en-US" dirty="0"/>
              <a:t>and </a:t>
            </a:r>
            <a:r>
              <a:rPr lang="en-US" i="1" dirty="0"/>
              <a:t>Y </a:t>
            </a:r>
            <a:r>
              <a:rPr lang="en-US" dirty="0"/>
              <a:t>that are subsets of </a:t>
            </a:r>
            <a:r>
              <a:rPr lang="en-US" i="1" dirty="0"/>
              <a:t>R </a:t>
            </a:r>
            <a:r>
              <a:rPr lang="en-US" dirty="0"/>
              <a:t>specifies a </a:t>
            </a:r>
            <a:r>
              <a:rPr lang="en-US" i="1" dirty="0"/>
              <a:t>constraint </a:t>
            </a:r>
            <a:r>
              <a:rPr lang="en-US" dirty="0"/>
              <a:t>on the possible tuples that can form a relation state </a:t>
            </a:r>
            <a:r>
              <a:rPr lang="en-US" i="1" dirty="0"/>
              <a:t>r </a:t>
            </a:r>
            <a:r>
              <a:rPr lang="en-US" dirty="0"/>
              <a:t>of </a:t>
            </a:r>
            <a:r>
              <a:rPr lang="en-US" i="1" dirty="0"/>
              <a:t>R</a:t>
            </a:r>
          </a:p>
          <a:p>
            <a:r>
              <a:rPr lang="en-US" dirty="0"/>
              <a:t>constraint is that, for any two tuples </a:t>
            </a:r>
            <a:r>
              <a:rPr lang="en-US" i="1" dirty="0"/>
              <a:t>t</a:t>
            </a:r>
            <a:r>
              <a:rPr lang="en-US" baseline="-25000" dirty="0"/>
              <a:t>1</a:t>
            </a:r>
            <a:r>
              <a:rPr lang="en-US" dirty="0"/>
              <a:t> and </a:t>
            </a:r>
            <a:r>
              <a:rPr lang="en-US" i="1" dirty="0"/>
              <a:t>t</a:t>
            </a:r>
            <a:r>
              <a:rPr lang="en-US" baseline="-25000" dirty="0"/>
              <a:t>2</a:t>
            </a:r>
            <a:r>
              <a:rPr lang="en-US" dirty="0"/>
              <a:t> in </a:t>
            </a:r>
            <a:r>
              <a:rPr lang="en-US" i="1" dirty="0"/>
              <a:t>r </a:t>
            </a:r>
            <a:r>
              <a:rPr lang="en-US" dirty="0"/>
              <a:t>that have </a:t>
            </a:r>
            <a:r>
              <a:rPr lang="en-US" i="1" dirty="0"/>
              <a:t>t</a:t>
            </a:r>
            <a:r>
              <a:rPr lang="en-US" baseline="-25000" dirty="0"/>
              <a:t>1</a:t>
            </a:r>
            <a:r>
              <a:rPr lang="en-US" dirty="0"/>
              <a:t>[</a:t>
            </a:r>
            <a:r>
              <a:rPr lang="en-US" i="1" dirty="0"/>
              <a:t>X</a:t>
            </a:r>
            <a:r>
              <a:rPr lang="en-US" dirty="0"/>
              <a:t>] = </a:t>
            </a:r>
            <a:r>
              <a:rPr lang="en-US" i="1" dirty="0"/>
              <a:t>t</a:t>
            </a:r>
            <a:r>
              <a:rPr lang="en-US" baseline="-25000" dirty="0"/>
              <a:t>2</a:t>
            </a:r>
            <a:r>
              <a:rPr lang="en-US" dirty="0"/>
              <a:t>[</a:t>
            </a:r>
            <a:r>
              <a:rPr lang="en-US" i="1" dirty="0"/>
              <a:t>X</a:t>
            </a:r>
            <a:r>
              <a:rPr lang="en-US" dirty="0"/>
              <a:t>], they must also have </a:t>
            </a:r>
            <a:r>
              <a:rPr lang="en-US" i="1" dirty="0"/>
              <a:t>t</a:t>
            </a:r>
            <a:r>
              <a:rPr lang="en-US" baseline="-25000" dirty="0"/>
              <a:t>1</a:t>
            </a:r>
            <a:r>
              <a:rPr lang="en-US" dirty="0"/>
              <a:t>[</a:t>
            </a:r>
            <a:r>
              <a:rPr lang="en-US" i="1" dirty="0"/>
              <a:t>Y</a:t>
            </a:r>
            <a:r>
              <a:rPr lang="en-US" dirty="0"/>
              <a:t>] = </a:t>
            </a:r>
            <a:r>
              <a:rPr lang="en-US" i="1" dirty="0"/>
              <a:t>t</a:t>
            </a:r>
            <a:r>
              <a:rPr lang="en-US" baseline="-25000" dirty="0"/>
              <a:t>2</a:t>
            </a:r>
            <a:r>
              <a:rPr lang="en-US" dirty="0"/>
              <a:t>[</a:t>
            </a:r>
            <a:r>
              <a:rPr lang="en-US" i="1" dirty="0"/>
              <a:t>Y</a:t>
            </a:r>
            <a:r>
              <a:rPr lang="en-US" dirty="0"/>
              <a:t>]</a:t>
            </a:r>
          </a:p>
        </p:txBody>
      </p:sp>
      <p:sp>
        <p:nvSpPr>
          <p:cNvPr id="4" name="Slide Number Placeholder 3">
            <a:extLst>
              <a:ext uri="{FF2B5EF4-FFF2-40B4-BE49-F238E27FC236}">
                <a16:creationId xmlns:a16="http://schemas.microsoft.com/office/drawing/2014/main" id="{0C8BB5BD-735C-8293-F694-88FF13D4A187}"/>
              </a:ext>
            </a:extLst>
          </p:cNvPr>
          <p:cNvSpPr>
            <a:spLocks noGrp="1"/>
          </p:cNvSpPr>
          <p:nvPr>
            <p:ph type="sldNum" sz="quarter" idx="12"/>
          </p:nvPr>
        </p:nvSpPr>
        <p:spPr/>
        <p:txBody>
          <a:bodyPr/>
          <a:lstStyle/>
          <a:p>
            <a:fld id="{6264BDCF-5269-49AC-A246-ED26C2B980E3}" type="slidenum">
              <a:rPr lang="en-US" smtClean="0"/>
              <a:t>60</a:t>
            </a:fld>
            <a:endParaRPr lang="en-US"/>
          </a:p>
        </p:txBody>
      </p:sp>
    </p:spTree>
    <p:extLst>
      <p:ext uri="{BB962C8B-B14F-4D97-AF65-F5344CB8AC3E}">
        <p14:creationId xmlns:p14="http://schemas.microsoft.com/office/powerpoint/2010/main" val="40504805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89311-7B80-4137-8D99-8EE193D53AB5}"/>
              </a:ext>
            </a:extLst>
          </p:cNvPr>
          <p:cNvSpPr>
            <a:spLocks noGrp="1"/>
          </p:cNvSpPr>
          <p:nvPr>
            <p:ph type="title"/>
          </p:nvPr>
        </p:nvSpPr>
        <p:spPr/>
        <p:txBody>
          <a:bodyPr/>
          <a:lstStyle/>
          <a:p>
            <a:r>
              <a:rPr lang="en-US" dirty="0"/>
              <a:t>Functional Dependency Definition</a:t>
            </a:r>
          </a:p>
        </p:txBody>
      </p:sp>
      <p:sp>
        <p:nvSpPr>
          <p:cNvPr id="3" name="Content Placeholder 2">
            <a:extLst>
              <a:ext uri="{FF2B5EF4-FFF2-40B4-BE49-F238E27FC236}">
                <a16:creationId xmlns:a16="http://schemas.microsoft.com/office/drawing/2014/main" id="{DCEABF83-FE63-A8EF-DC5A-F986909C9CC8}"/>
              </a:ext>
            </a:extLst>
          </p:cNvPr>
          <p:cNvSpPr>
            <a:spLocks noGrp="1"/>
          </p:cNvSpPr>
          <p:nvPr>
            <p:ph idx="1"/>
          </p:nvPr>
        </p:nvSpPr>
        <p:spPr/>
        <p:txBody>
          <a:bodyPr>
            <a:normAutofit/>
          </a:bodyPr>
          <a:lstStyle/>
          <a:p>
            <a:r>
              <a:rPr lang="en-US" dirty="0"/>
              <a:t>this means that the values of the </a:t>
            </a:r>
            <a:r>
              <a:rPr lang="en-US" i="1" dirty="0"/>
              <a:t>Y </a:t>
            </a:r>
            <a:r>
              <a:rPr lang="en-US" dirty="0"/>
              <a:t>component of tuple in </a:t>
            </a:r>
            <a:r>
              <a:rPr lang="en-US" i="1" dirty="0"/>
              <a:t>r </a:t>
            </a:r>
            <a:r>
              <a:rPr lang="en-US" dirty="0"/>
              <a:t>depend on, or are </a:t>
            </a:r>
            <a:r>
              <a:rPr lang="en-US" i="1" dirty="0"/>
              <a:t>determined by, </a:t>
            </a:r>
            <a:r>
              <a:rPr lang="en-US" dirty="0"/>
              <a:t>the values of the </a:t>
            </a:r>
            <a:r>
              <a:rPr lang="en-US" i="1" dirty="0"/>
              <a:t>X </a:t>
            </a:r>
            <a:r>
              <a:rPr lang="en-US" dirty="0"/>
              <a:t>component</a:t>
            </a:r>
          </a:p>
          <a:p>
            <a:r>
              <a:rPr lang="en-US" dirty="0"/>
              <a:t>values of the </a:t>
            </a:r>
            <a:r>
              <a:rPr lang="en-US" i="1" dirty="0"/>
              <a:t>X </a:t>
            </a:r>
            <a:r>
              <a:rPr lang="en-US" dirty="0"/>
              <a:t>component of a tuple uniquely (</a:t>
            </a:r>
            <a:r>
              <a:rPr lang="en-US" i="1" dirty="0"/>
              <a:t>functionally</a:t>
            </a:r>
            <a:r>
              <a:rPr lang="en-US" dirty="0"/>
              <a:t>) </a:t>
            </a:r>
            <a:r>
              <a:rPr lang="en-US" i="1" dirty="0"/>
              <a:t>determine </a:t>
            </a:r>
            <a:r>
              <a:rPr lang="en-US" dirty="0"/>
              <a:t>values of the </a:t>
            </a:r>
            <a:r>
              <a:rPr lang="en-US" i="1" dirty="0"/>
              <a:t>Y </a:t>
            </a:r>
            <a:r>
              <a:rPr lang="en-US" dirty="0"/>
              <a:t>component</a:t>
            </a:r>
          </a:p>
          <a:p>
            <a:r>
              <a:rPr lang="en-US" dirty="0"/>
              <a:t>there is a functional dependency from </a:t>
            </a:r>
            <a:r>
              <a:rPr lang="en-US" i="1" dirty="0"/>
              <a:t>X </a:t>
            </a:r>
            <a:r>
              <a:rPr lang="en-US" dirty="0"/>
              <a:t>to </a:t>
            </a:r>
            <a:r>
              <a:rPr lang="en-US" i="1" dirty="0"/>
              <a:t>Y</a:t>
            </a:r>
            <a:r>
              <a:rPr lang="en-US" dirty="0"/>
              <a:t>, or that </a:t>
            </a:r>
            <a:r>
              <a:rPr lang="en-US" i="1" dirty="0"/>
              <a:t>Y </a:t>
            </a:r>
            <a:r>
              <a:rPr lang="en-US" dirty="0"/>
              <a:t>is </a:t>
            </a:r>
            <a:r>
              <a:rPr lang="en-US" i="1" dirty="0"/>
              <a:t>functionally dependent</a:t>
            </a:r>
            <a:r>
              <a:rPr lang="en-US" b="1" dirty="0"/>
              <a:t> </a:t>
            </a:r>
            <a:r>
              <a:rPr lang="en-US" dirty="0"/>
              <a:t>on </a:t>
            </a:r>
            <a:r>
              <a:rPr lang="en-US" i="1" dirty="0"/>
              <a:t>X</a:t>
            </a:r>
          </a:p>
          <a:p>
            <a:r>
              <a:rPr lang="en-US" dirty="0"/>
              <a:t>set of attributes </a:t>
            </a:r>
            <a:r>
              <a:rPr lang="en-US" i="1" dirty="0"/>
              <a:t>X </a:t>
            </a:r>
            <a:r>
              <a:rPr lang="en-US" dirty="0"/>
              <a:t>is called the left-hand side</a:t>
            </a:r>
            <a:r>
              <a:rPr lang="en-US" b="1" dirty="0"/>
              <a:t> </a:t>
            </a:r>
            <a:r>
              <a:rPr lang="en-US" dirty="0"/>
              <a:t>of the FD</a:t>
            </a:r>
          </a:p>
          <a:p>
            <a:pPr algn="r"/>
            <a:r>
              <a:rPr lang="en-US" dirty="0"/>
              <a:t>set of attributes </a:t>
            </a:r>
            <a:r>
              <a:rPr lang="en-US" i="1" dirty="0"/>
              <a:t>Y </a:t>
            </a:r>
            <a:r>
              <a:rPr lang="en-US" dirty="0"/>
              <a:t>is called the right-hand side</a:t>
            </a:r>
            <a:r>
              <a:rPr lang="en-US" b="1" dirty="0"/>
              <a:t> </a:t>
            </a:r>
            <a:r>
              <a:rPr lang="en-US" dirty="0"/>
              <a:t>of the FD</a:t>
            </a:r>
          </a:p>
        </p:txBody>
      </p:sp>
      <p:sp>
        <p:nvSpPr>
          <p:cNvPr id="4" name="Slide Number Placeholder 3">
            <a:extLst>
              <a:ext uri="{FF2B5EF4-FFF2-40B4-BE49-F238E27FC236}">
                <a16:creationId xmlns:a16="http://schemas.microsoft.com/office/drawing/2014/main" id="{9427F9A1-BAB2-CBF3-A75E-3A351AB15B7E}"/>
              </a:ext>
            </a:extLst>
          </p:cNvPr>
          <p:cNvSpPr>
            <a:spLocks noGrp="1"/>
          </p:cNvSpPr>
          <p:nvPr>
            <p:ph type="sldNum" sz="quarter" idx="12"/>
          </p:nvPr>
        </p:nvSpPr>
        <p:spPr/>
        <p:txBody>
          <a:bodyPr/>
          <a:lstStyle/>
          <a:p>
            <a:fld id="{6264BDCF-5269-49AC-A246-ED26C2B980E3}" type="slidenum">
              <a:rPr lang="en-US" smtClean="0"/>
              <a:t>61</a:t>
            </a:fld>
            <a:endParaRPr lang="en-US"/>
          </a:p>
        </p:txBody>
      </p:sp>
    </p:spTree>
    <p:extLst>
      <p:ext uri="{BB962C8B-B14F-4D97-AF65-F5344CB8AC3E}">
        <p14:creationId xmlns:p14="http://schemas.microsoft.com/office/powerpoint/2010/main" val="12518045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62D9-5E30-AA2E-878E-7C8298408D60}"/>
              </a:ext>
            </a:extLst>
          </p:cNvPr>
          <p:cNvSpPr>
            <a:spLocks noGrp="1"/>
          </p:cNvSpPr>
          <p:nvPr>
            <p:ph type="title"/>
          </p:nvPr>
        </p:nvSpPr>
        <p:spPr/>
        <p:txBody>
          <a:bodyPr/>
          <a:lstStyle/>
          <a:p>
            <a:r>
              <a:rPr lang="en-US" dirty="0"/>
              <a:t>Functional Dependency Definition</a:t>
            </a:r>
          </a:p>
        </p:txBody>
      </p:sp>
      <p:sp>
        <p:nvSpPr>
          <p:cNvPr id="3" name="Content Placeholder 2">
            <a:extLst>
              <a:ext uri="{FF2B5EF4-FFF2-40B4-BE49-F238E27FC236}">
                <a16:creationId xmlns:a16="http://schemas.microsoft.com/office/drawing/2014/main" id="{B40F18BD-C5A2-9A9D-FFAA-A1649C0FF2F4}"/>
              </a:ext>
            </a:extLst>
          </p:cNvPr>
          <p:cNvSpPr>
            <a:spLocks noGrp="1"/>
          </p:cNvSpPr>
          <p:nvPr>
            <p:ph idx="1"/>
          </p:nvPr>
        </p:nvSpPr>
        <p:spPr/>
        <p:txBody>
          <a:bodyPr/>
          <a:lstStyle/>
          <a:p>
            <a:r>
              <a:rPr lang="en-US" i="1" dirty="0"/>
              <a:t>X </a:t>
            </a:r>
            <a:r>
              <a:rPr lang="en-US" dirty="0"/>
              <a:t>functionally determines </a:t>
            </a:r>
            <a:r>
              <a:rPr lang="en-US" i="1" dirty="0"/>
              <a:t>Y </a:t>
            </a:r>
            <a:r>
              <a:rPr lang="en-US" dirty="0"/>
              <a:t>in a relation schema </a:t>
            </a:r>
            <a:r>
              <a:rPr lang="en-US" i="1" dirty="0"/>
              <a:t>R </a:t>
            </a:r>
            <a:r>
              <a:rPr lang="en-US" dirty="0"/>
              <a:t>if, and only if, whenever two tuples of </a:t>
            </a:r>
            <a:r>
              <a:rPr lang="en-US" i="1" dirty="0"/>
              <a:t>r</a:t>
            </a:r>
            <a:r>
              <a:rPr lang="en-US" dirty="0"/>
              <a:t>(</a:t>
            </a:r>
            <a:r>
              <a:rPr lang="en-US" i="1" dirty="0"/>
              <a:t>R</a:t>
            </a:r>
            <a:r>
              <a:rPr lang="en-US" dirty="0"/>
              <a:t>) agree on their </a:t>
            </a:r>
            <a:r>
              <a:rPr lang="en-US" i="1" dirty="0"/>
              <a:t>X</a:t>
            </a:r>
            <a:r>
              <a:rPr lang="en-US" dirty="0"/>
              <a:t>-value, they must necessarily agree on their </a:t>
            </a:r>
            <a:r>
              <a:rPr lang="en-US" i="1" dirty="0"/>
              <a:t>Y</a:t>
            </a:r>
            <a:r>
              <a:rPr lang="en-US" dirty="0"/>
              <a:t>-value</a:t>
            </a:r>
          </a:p>
          <a:p>
            <a:r>
              <a:rPr lang="en-US" dirty="0"/>
              <a:t>1 – 1; 2 – 4; 3 – 9, 4 – 16, 5 – 25, ..</a:t>
            </a:r>
          </a:p>
          <a:p>
            <a:r>
              <a:rPr lang="en-US" dirty="0"/>
              <a:t>f(x) = x</a:t>
            </a:r>
            <a:r>
              <a:rPr lang="en-US" baseline="30000" dirty="0"/>
              <a:t>2</a:t>
            </a:r>
          </a:p>
          <a:p>
            <a:r>
              <a:rPr lang="en-US" dirty="0"/>
              <a:t>Known formula</a:t>
            </a:r>
          </a:p>
          <a:p>
            <a:r>
              <a:rPr lang="en-US" dirty="0"/>
              <a:t>Person – Cod Numeric Personal, SSN</a:t>
            </a:r>
          </a:p>
          <a:p>
            <a:r>
              <a:rPr lang="en-US" dirty="0" err="1"/>
              <a:t>UnKnown</a:t>
            </a:r>
            <a:r>
              <a:rPr lang="en-US" dirty="0"/>
              <a:t> formula</a:t>
            </a:r>
          </a:p>
          <a:p>
            <a:endParaRPr lang="en-US" dirty="0"/>
          </a:p>
        </p:txBody>
      </p:sp>
      <p:sp>
        <p:nvSpPr>
          <p:cNvPr id="4" name="Slide Number Placeholder 3">
            <a:extLst>
              <a:ext uri="{FF2B5EF4-FFF2-40B4-BE49-F238E27FC236}">
                <a16:creationId xmlns:a16="http://schemas.microsoft.com/office/drawing/2014/main" id="{8D0DAED2-8651-D00A-6D12-8FD29F176692}"/>
              </a:ext>
            </a:extLst>
          </p:cNvPr>
          <p:cNvSpPr>
            <a:spLocks noGrp="1"/>
          </p:cNvSpPr>
          <p:nvPr>
            <p:ph type="sldNum" sz="quarter" idx="12"/>
          </p:nvPr>
        </p:nvSpPr>
        <p:spPr/>
        <p:txBody>
          <a:bodyPr/>
          <a:lstStyle/>
          <a:p>
            <a:fld id="{6264BDCF-5269-49AC-A246-ED26C2B980E3}" type="slidenum">
              <a:rPr lang="en-US" smtClean="0"/>
              <a:t>62</a:t>
            </a:fld>
            <a:endParaRPr lang="en-US"/>
          </a:p>
        </p:txBody>
      </p:sp>
    </p:spTree>
    <p:extLst>
      <p:ext uri="{BB962C8B-B14F-4D97-AF65-F5344CB8AC3E}">
        <p14:creationId xmlns:p14="http://schemas.microsoft.com/office/powerpoint/2010/main" val="5103028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42CD4-3BAB-D2A4-A755-B68B9C066E17}"/>
              </a:ext>
            </a:extLst>
          </p:cNvPr>
          <p:cNvSpPr>
            <a:spLocks noGrp="1"/>
          </p:cNvSpPr>
          <p:nvPr>
            <p:ph type="title"/>
          </p:nvPr>
        </p:nvSpPr>
        <p:spPr/>
        <p:txBody>
          <a:bodyPr/>
          <a:lstStyle/>
          <a:p>
            <a:r>
              <a:rPr lang="en-US" dirty="0"/>
              <a:t>functional dependency</a:t>
            </a:r>
          </a:p>
        </p:txBody>
      </p:sp>
      <p:sp>
        <p:nvSpPr>
          <p:cNvPr id="3" name="Content Placeholder 2">
            <a:extLst>
              <a:ext uri="{FF2B5EF4-FFF2-40B4-BE49-F238E27FC236}">
                <a16:creationId xmlns:a16="http://schemas.microsoft.com/office/drawing/2014/main" id="{988D6847-5E32-2AEF-D842-C0293ABA9890}"/>
              </a:ext>
            </a:extLst>
          </p:cNvPr>
          <p:cNvSpPr>
            <a:spLocks noGrp="1"/>
          </p:cNvSpPr>
          <p:nvPr>
            <p:ph idx="1"/>
          </p:nvPr>
        </p:nvSpPr>
        <p:spPr/>
        <p:txBody>
          <a:bodyPr>
            <a:normAutofit/>
          </a:bodyPr>
          <a:lstStyle/>
          <a:p>
            <a:r>
              <a:rPr lang="en-US" dirty="0"/>
              <a:t>is a property of the semantics or meaning of the attributes</a:t>
            </a:r>
          </a:p>
          <a:p>
            <a:r>
              <a:rPr lang="en-US" dirty="0"/>
              <a:t>use understanding of the semantics of the attributes of R  to specify functional dependencies that should hold on all relation states (extensions) r of R</a:t>
            </a:r>
          </a:p>
          <a:p>
            <a:r>
              <a:rPr lang="en-US" dirty="0"/>
              <a:t>certain FDs can be specified without referring to specific relation, but as a property of those attributes given their commonly understood meaning</a:t>
            </a:r>
          </a:p>
        </p:txBody>
      </p:sp>
      <p:sp>
        <p:nvSpPr>
          <p:cNvPr id="4" name="Slide Number Placeholder 3">
            <a:extLst>
              <a:ext uri="{FF2B5EF4-FFF2-40B4-BE49-F238E27FC236}">
                <a16:creationId xmlns:a16="http://schemas.microsoft.com/office/drawing/2014/main" id="{3862F91B-8410-7EF9-99D3-03986055237A}"/>
              </a:ext>
            </a:extLst>
          </p:cNvPr>
          <p:cNvSpPr>
            <a:spLocks noGrp="1"/>
          </p:cNvSpPr>
          <p:nvPr>
            <p:ph type="sldNum" sz="quarter" idx="12"/>
          </p:nvPr>
        </p:nvSpPr>
        <p:spPr/>
        <p:txBody>
          <a:bodyPr/>
          <a:lstStyle/>
          <a:p>
            <a:fld id="{6264BDCF-5269-49AC-A246-ED26C2B980E3}" type="slidenum">
              <a:rPr lang="en-US" smtClean="0"/>
              <a:t>63</a:t>
            </a:fld>
            <a:endParaRPr lang="en-US"/>
          </a:p>
        </p:txBody>
      </p:sp>
    </p:spTree>
    <p:extLst>
      <p:ext uri="{BB962C8B-B14F-4D97-AF65-F5344CB8AC3E}">
        <p14:creationId xmlns:p14="http://schemas.microsoft.com/office/powerpoint/2010/main" val="17476431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CC1C7-B9AA-AF79-621B-E5E0A55AF747}"/>
              </a:ext>
            </a:extLst>
          </p:cNvPr>
          <p:cNvSpPr>
            <a:spLocks noGrp="1"/>
          </p:cNvSpPr>
          <p:nvPr>
            <p:ph type="title"/>
          </p:nvPr>
        </p:nvSpPr>
        <p:spPr/>
        <p:txBody>
          <a:bodyPr/>
          <a:lstStyle/>
          <a:p>
            <a:endParaRPr lang="en-US" dirty="0"/>
          </a:p>
        </p:txBody>
      </p:sp>
      <p:pic>
        <p:nvPicPr>
          <p:cNvPr id="6" name="Content Placeholder 5">
            <a:extLst>
              <a:ext uri="{FF2B5EF4-FFF2-40B4-BE49-F238E27FC236}">
                <a16:creationId xmlns:a16="http://schemas.microsoft.com/office/drawing/2014/main" id="{DA5A7D6C-AF5A-B4D9-9C23-34D01C86EBBC}"/>
              </a:ext>
            </a:extLst>
          </p:cNvPr>
          <p:cNvPicPr>
            <a:picLocks noGrp="1" noChangeAspect="1"/>
          </p:cNvPicPr>
          <p:nvPr>
            <p:ph idx="1"/>
          </p:nvPr>
        </p:nvPicPr>
        <p:blipFill>
          <a:blip r:embed="rId2"/>
          <a:stretch>
            <a:fillRect/>
          </a:stretch>
        </p:blipFill>
        <p:spPr>
          <a:xfrm>
            <a:off x="457200" y="274320"/>
            <a:ext cx="11333446" cy="2305326"/>
          </a:xfrm>
          <a:prstGeom prst="rect">
            <a:avLst/>
          </a:prstGeom>
        </p:spPr>
      </p:pic>
      <p:sp>
        <p:nvSpPr>
          <p:cNvPr id="4" name="Slide Number Placeholder 3">
            <a:extLst>
              <a:ext uri="{FF2B5EF4-FFF2-40B4-BE49-F238E27FC236}">
                <a16:creationId xmlns:a16="http://schemas.microsoft.com/office/drawing/2014/main" id="{170126B5-6B7D-32EC-07E8-E747D2EAC03C}"/>
              </a:ext>
            </a:extLst>
          </p:cNvPr>
          <p:cNvSpPr>
            <a:spLocks noGrp="1"/>
          </p:cNvSpPr>
          <p:nvPr>
            <p:ph type="sldNum" sz="quarter" idx="12"/>
          </p:nvPr>
        </p:nvSpPr>
        <p:spPr/>
        <p:txBody>
          <a:bodyPr/>
          <a:lstStyle/>
          <a:p>
            <a:fld id="{6264BDCF-5269-49AC-A246-ED26C2B980E3}" type="slidenum">
              <a:rPr lang="en-US" smtClean="0"/>
              <a:t>64</a:t>
            </a:fld>
            <a:endParaRPr lang="en-US"/>
          </a:p>
        </p:txBody>
      </p:sp>
      <p:pic>
        <p:nvPicPr>
          <p:cNvPr id="8" name="Picture 7">
            <a:extLst>
              <a:ext uri="{FF2B5EF4-FFF2-40B4-BE49-F238E27FC236}">
                <a16:creationId xmlns:a16="http://schemas.microsoft.com/office/drawing/2014/main" id="{751D7796-A0B9-9A1E-9055-D2CF51DB166B}"/>
              </a:ext>
            </a:extLst>
          </p:cNvPr>
          <p:cNvPicPr>
            <a:picLocks noChangeAspect="1"/>
          </p:cNvPicPr>
          <p:nvPr/>
        </p:nvPicPr>
        <p:blipFill>
          <a:blip r:embed="rId3"/>
          <a:stretch>
            <a:fillRect/>
          </a:stretch>
        </p:blipFill>
        <p:spPr>
          <a:xfrm>
            <a:off x="731520" y="2743200"/>
            <a:ext cx="9195547" cy="3271245"/>
          </a:xfrm>
          <a:prstGeom prst="rect">
            <a:avLst/>
          </a:prstGeom>
        </p:spPr>
      </p:pic>
    </p:spTree>
    <p:extLst>
      <p:ext uri="{BB962C8B-B14F-4D97-AF65-F5344CB8AC3E}">
        <p14:creationId xmlns:p14="http://schemas.microsoft.com/office/powerpoint/2010/main" val="28006323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42A5-D81E-64D6-4A1D-6881D5BBB6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C6AE66-DA1B-989B-895B-9962FB30FF39}"/>
              </a:ext>
            </a:extLst>
          </p:cNvPr>
          <p:cNvSpPr>
            <a:spLocks noGrp="1"/>
          </p:cNvSpPr>
          <p:nvPr>
            <p:ph idx="1"/>
          </p:nvPr>
        </p:nvSpPr>
        <p:spPr>
          <a:xfrm>
            <a:off x="838199" y="1825625"/>
            <a:ext cx="11029335" cy="4351338"/>
          </a:xfrm>
        </p:spPr>
        <p:txBody>
          <a:bodyPr>
            <a:noAutofit/>
          </a:bodyPr>
          <a:lstStyle/>
          <a:p>
            <a:r>
              <a:rPr lang="en-US" dirty="0"/>
              <a:t>from the semantics of the attributes and the relation, we know that </a:t>
            </a:r>
          </a:p>
          <a:p>
            <a:pPr marL="514350" indent="-514350">
              <a:buFont typeface="+mj-lt"/>
              <a:buAutoNum type="arabicPeriod"/>
            </a:pPr>
            <a:r>
              <a:rPr lang="en-US" sz="2700" dirty="0" err="1"/>
              <a:t>Ssn</a:t>
            </a:r>
            <a:r>
              <a:rPr lang="en-US" sz="2700" dirty="0"/>
              <a:t> → </a:t>
            </a:r>
            <a:r>
              <a:rPr lang="en-US" sz="2700" dirty="0" err="1"/>
              <a:t>Ename</a:t>
            </a:r>
            <a:endParaRPr lang="en-US" sz="2700" dirty="0"/>
          </a:p>
          <a:p>
            <a:pPr lvl="1"/>
            <a:r>
              <a:rPr lang="en-US" sz="2500" dirty="0"/>
              <a:t>alternatively, we say that </a:t>
            </a:r>
            <a:r>
              <a:rPr lang="en-US" sz="2500" dirty="0" err="1"/>
              <a:t>Ename</a:t>
            </a:r>
            <a:r>
              <a:rPr lang="en-US" sz="2500" dirty="0"/>
              <a:t> is functionally determined by (or functionally dependent on) </a:t>
            </a:r>
            <a:r>
              <a:rPr lang="en-US" sz="2500" dirty="0" err="1"/>
              <a:t>Ssn</a:t>
            </a:r>
            <a:r>
              <a:rPr lang="en-US" sz="2500" dirty="0"/>
              <a:t>, or given value of </a:t>
            </a:r>
            <a:r>
              <a:rPr lang="en-US" sz="2500" dirty="0" err="1"/>
              <a:t>Ssn</a:t>
            </a:r>
            <a:r>
              <a:rPr lang="en-US" sz="2500" dirty="0"/>
              <a:t>, we know value of </a:t>
            </a:r>
            <a:r>
              <a:rPr lang="en-US" sz="2500" dirty="0" err="1"/>
              <a:t>Ename</a:t>
            </a:r>
            <a:endParaRPr lang="en-US" sz="2500" dirty="0"/>
          </a:p>
          <a:p>
            <a:pPr marL="514350" indent="-514350">
              <a:buFont typeface="+mj-lt"/>
              <a:buAutoNum type="arabicPeriod"/>
            </a:pPr>
            <a:r>
              <a:rPr lang="en-US" sz="2700" dirty="0" err="1"/>
              <a:t>Pnumber</a:t>
            </a:r>
            <a:r>
              <a:rPr lang="en-US" sz="2700" dirty="0"/>
              <a:t> → {</a:t>
            </a:r>
            <a:r>
              <a:rPr lang="en-US" sz="2700" dirty="0" err="1"/>
              <a:t>Pname</a:t>
            </a:r>
            <a:r>
              <a:rPr lang="en-US" sz="2700" dirty="0"/>
              <a:t>, </a:t>
            </a:r>
            <a:r>
              <a:rPr lang="en-US" sz="2700" dirty="0" err="1"/>
              <a:t>Plocation</a:t>
            </a:r>
            <a:r>
              <a:rPr lang="en-US" sz="2700" dirty="0"/>
              <a:t>}</a:t>
            </a:r>
          </a:p>
          <a:p>
            <a:pPr marL="514350" indent="-514350">
              <a:buFont typeface="+mj-lt"/>
              <a:buAutoNum type="arabicPeriod"/>
            </a:pPr>
            <a:r>
              <a:rPr lang="en-US" sz="2700" dirty="0"/>
              <a:t>{</a:t>
            </a:r>
            <a:r>
              <a:rPr lang="en-US" sz="2700" dirty="0" err="1"/>
              <a:t>Ssn</a:t>
            </a:r>
            <a:r>
              <a:rPr lang="en-US" sz="2700" dirty="0"/>
              <a:t>, </a:t>
            </a:r>
            <a:r>
              <a:rPr lang="en-US" sz="2700" dirty="0" err="1"/>
              <a:t>Pnumber</a:t>
            </a:r>
            <a:r>
              <a:rPr lang="en-US" sz="2700" dirty="0"/>
              <a:t>} → Hours</a:t>
            </a:r>
          </a:p>
          <a:p>
            <a:r>
              <a:rPr lang="en-US" sz="2700" dirty="0"/>
              <a:t>value of employee’s Social Security number (</a:t>
            </a:r>
            <a:r>
              <a:rPr lang="en-US" sz="2700" dirty="0" err="1"/>
              <a:t>Ssn</a:t>
            </a:r>
            <a:r>
              <a:rPr lang="en-US" sz="2700" dirty="0"/>
              <a:t>) uniquely determines the employee name (</a:t>
            </a:r>
            <a:r>
              <a:rPr lang="en-US" sz="2700" dirty="0" err="1"/>
              <a:t>Ename</a:t>
            </a:r>
            <a:r>
              <a:rPr lang="en-US" sz="2700" dirty="0"/>
              <a:t>), value of a project’s number (</a:t>
            </a:r>
            <a:r>
              <a:rPr lang="en-US" sz="2700" dirty="0" err="1"/>
              <a:t>Pnumber</a:t>
            </a:r>
            <a:r>
              <a:rPr lang="en-US" sz="2700" dirty="0"/>
              <a:t>) uniquely determines the project name (</a:t>
            </a:r>
            <a:r>
              <a:rPr lang="en-US" sz="2700" dirty="0" err="1"/>
              <a:t>Pname</a:t>
            </a:r>
            <a:r>
              <a:rPr lang="en-US" sz="2700" dirty="0"/>
              <a:t>) and location (</a:t>
            </a:r>
            <a:r>
              <a:rPr lang="en-US" sz="2700" dirty="0" err="1"/>
              <a:t>Plocation</a:t>
            </a:r>
            <a:r>
              <a:rPr lang="en-US" sz="2700" dirty="0"/>
              <a:t>), and a combination of </a:t>
            </a:r>
            <a:r>
              <a:rPr lang="en-US" sz="2700" dirty="0" err="1"/>
              <a:t>Ssn</a:t>
            </a:r>
            <a:r>
              <a:rPr lang="en-US" sz="2700" dirty="0"/>
              <a:t> and </a:t>
            </a:r>
            <a:r>
              <a:rPr lang="en-US" sz="2700" dirty="0" err="1"/>
              <a:t>Pnumber</a:t>
            </a:r>
            <a:r>
              <a:rPr lang="en-US" sz="2700" dirty="0"/>
              <a:t> values uniquely determines the number of hours the employee currently works on project per week (Hours)</a:t>
            </a:r>
          </a:p>
        </p:txBody>
      </p:sp>
      <p:sp>
        <p:nvSpPr>
          <p:cNvPr id="4" name="Slide Number Placeholder 3">
            <a:extLst>
              <a:ext uri="{FF2B5EF4-FFF2-40B4-BE49-F238E27FC236}">
                <a16:creationId xmlns:a16="http://schemas.microsoft.com/office/drawing/2014/main" id="{AF0C628C-DB8F-D9ED-59D6-BC3184828089}"/>
              </a:ext>
            </a:extLst>
          </p:cNvPr>
          <p:cNvSpPr>
            <a:spLocks noGrp="1"/>
          </p:cNvSpPr>
          <p:nvPr>
            <p:ph type="sldNum" sz="quarter" idx="12"/>
          </p:nvPr>
        </p:nvSpPr>
        <p:spPr/>
        <p:txBody>
          <a:bodyPr/>
          <a:lstStyle/>
          <a:p>
            <a:fld id="{6264BDCF-5269-49AC-A246-ED26C2B980E3}" type="slidenum">
              <a:rPr lang="en-US" smtClean="0"/>
              <a:t>65</a:t>
            </a:fld>
            <a:endParaRPr lang="en-US"/>
          </a:p>
        </p:txBody>
      </p:sp>
    </p:spTree>
    <p:extLst>
      <p:ext uri="{BB962C8B-B14F-4D97-AF65-F5344CB8AC3E}">
        <p14:creationId xmlns:p14="http://schemas.microsoft.com/office/powerpoint/2010/main" val="15411020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1FFFE-D77B-1459-7474-6321DB1627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F0E987-B1EE-B866-5B48-F210CCD48DE9}"/>
              </a:ext>
            </a:extLst>
          </p:cNvPr>
          <p:cNvSpPr>
            <a:spLocks noGrp="1"/>
          </p:cNvSpPr>
          <p:nvPr>
            <p:ph idx="1"/>
          </p:nvPr>
        </p:nvSpPr>
        <p:spPr/>
        <p:txBody>
          <a:bodyPr>
            <a:normAutofit/>
          </a:bodyPr>
          <a:lstStyle/>
          <a:p>
            <a:r>
              <a:rPr lang="en-US" dirty="0"/>
              <a:t>functional dependency is a </a:t>
            </a:r>
            <a:r>
              <a:rPr lang="en-US" i="1" dirty="0"/>
              <a:t>property of the relation schema R</a:t>
            </a:r>
            <a:r>
              <a:rPr lang="en-US" dirty="0"/>
              <a:t>, not of a particular legal relation state </a:t>
            </a:r>
            <a:r>
              <a:rPr lang="en-US" i="1" dirty="0"/>
              <a:t>r </a:t>
            </a:r>
            <a:r>
              <a:rPr lang="en-US" dirty="0"/>
              <a:t>of </a:t>
            </a:r>
            <a:r>
              <a:rPr lang="en-US" i="1" dirty="0"/>
              <a:t>R</a:t>
            </a:r>
          </a:p>
          <a:p>
            <a:r>
              <a:rPr lang="en-US" dirty="0"/>
              <a:t>therefore, FD </a:t>
            </a:r>
            <a:r>
              <a:rPr lang="en-US" i="1" dirty="0"/>
              <a:t>cannot </a:t>
            </a:r>
            <a:r>
              <a:rPr lang="en-US" dirty="0"/>
              <a:t>be inferred automatically from a given relation extension </a:t>
            </a:r>
            <a:r>
              <a:rPr lang="en-US" i="1" dirty="0"/>
              <a:t>r </a:t>
            </a:r>
            <a:r>
              <a:rPr lang="en-US" dirty="0"/>
              <a:t>but must be defined explicitly by someone who knows semantics of attributes</a:t>
            </a:r>
          </a:p>
        </p:txBody>
      </p:sp>
      <p:sp>
        <p:nvSpPr>
          <p:cNvPr id="4" name="Slide Number Placeholder 3">
            <a:extLst>
              <a:ext uri="{FF2B5EF4-FFF2-40B4-BE49-F238E27FC236}">
                <a16:creationId xmlns:a16="http://schemas.microsoft.com/office/drawing/2014/main" id="{53E6DC1A-941E-C762-7F75-0483B314DDAD}"/>
              </a:ext>
            </a:extLst>
          </p:cNvPr>
          <p:cNvSpPr>
            <a:spLocks noGrp="1"/>
          </p:cNvSpPr>
          <p:nvPr>
            <p:ph type="sldNum" sz="quarter" idx="12"/>
          </p:nvPr>
        </p:nvSpPr>
        <p:spPr/>
        <p:txBody>
          <a:bodyPr/>
          <a:lstStyle/>
          <a:p>
            <a:fld id="{6264BDCF-5269-49AC-A246-ED26C2B980E3}" type="slidenum">
              <a:rPr lang="en-US" smtClean="0"/>
              <a:t>66</a:t>
            </a:fld>
            <a:endParaRPr lang="en-US"/>
          </a:p>
        </p:txBody>
      </p:sp>
    </p:spTree>
    <p:extLst>
      <p:ext uri="{BB962C8B-B14F-4D97-AF65-F5344CB8AC3E}">
        <p14:creationId xmlns:p14="http://schemas.microsoft.com/office/powerpoint/2010/main" val="7923331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C8DF-9959-8FD4-6A9C-0334F49940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95E323-669D-13EA-8BC9-E95402EFA42D}"/>
              </a:ext>
            </a:extLst>
          </p:cNvPr>
          <p:cNvSpPr>
            <a:spLocks noGrp="1"/>
          </p:cNvSpPr>
          <p:nvPr>
            <p:ph idx="1"/>
          </p:nvPr>
        </p:nvSpPr>
        <p:spPr/>
        <p:txBody>
          <a:bodyPr>
            <a:normAutofit/>
          </a:bodyPr>
          <a:lstStyle/>
          <a:p>
            <a:endParaRPr lang="en-US" dirty="0"/>
          </a:p>
          <a:p>
            <a:endParaRPr lang="en-US" dirty="0"/>
          </a:p>
          <a:p>
            <a:endParaRPr lang="en-US" dirty="0"/>
          </a:p>
          <a:p>
            <a:r>
              <a:rPr lang="en-US" dirty="0"/>
              <a:t>relation state of TEACH with possible 				functional dependency </a:t>
            </a:r>
          </a:p>
          <a:p>
            <a:r>
              <a:rPr lang="en-US" dirty="0"/>
              <a:t>TEXT → COURSE</a:t>
            </a:r>
          </a:p>
          <a:p>
            <a:r>
              <a:rPr lang="en-US" dirty="0"/>
              <a:t>ruled out:</a:t>
            </a:r>
          </a:p>
          <a:p>
            <a:r>
              <a:rPr lang="en-US" dirty="0"/>
              <a:t>TEACHER → COURSE</a:t>
            </a:r>
          </a:p>
        </p:txBody>
      </p:sp>
      <p:sp>
        <p:nvSpPr>
          <p:cNvPr id="4" name="Slide Number Placeholder 3">
            <a:extLst>
              <a:ext uri="{FF2B5EF4-FFF2-40B4-BE49-F238E27FC236}">
                <a16:creationId xmlns:a16="http://schemas.microsoft.com/office/drawing/2014/main" id="{05EC9E5E-86AF-139E-8703-5E4B376F4BF3}"/>
              </a:ext>
            </a:extLst>
          </p:cNvPr>
          <p:cNvSpPr>
            <a:spLocks noGrp="1"/>
          </p:cNvSpPr>
          <p:nvPr>
            <p:ph type="sldNum" sz="quarter" idx="12"/>
          </p:nvPr>
        </p:nvSpPr>
        <p:spPr/>
        <p:txBody>
          <a:bodyPr/>
          <a:lstStyle/>
          <a:p>
            <a:fld id="{6264BDCF-5269-49AC-A246-ED26C2B980E3}" type="slidenum">
              <a:rPr lang="en-US" smtClean="0"/>
              <a:t>67</a:t>
            </a:fld>
            <a:endParaRPr lang="en-US"/>
          </a:p>
        </p:txBody>
      </p:sp>
      <p:pic>
        <p:nvPicPr>
          <p:cNvPr id="6" name="Picture 5">
            <a:extLst>
              <a:ext uri="{FF2B5EF4-FFF2-40B4-BE49-F238E27FC236}">
                <a16:creationId xmlns:a16="http://schemas.microsoft.com/office/drawing/2014/main" id="{22CB174E-3058-8AD2-E420-B4A161148A48}"/>
              </a:ext>
            </a:extLst>
          </p:cNvPr>
          <p:cNvPicPr>
            <a:picLocks noChangeAspect="1"/>
          </p:cNvPicPr>
          <p:nvPr/>
        </p:nvPicPr>
        <p:blipFill>
          <a:blip r:embed="rId3"/>
          <a:stretch>
            <a:fillRect/>
          </a:stretch>
        </p:blipFill>
        <p:spPr>
          <a:xfrm>
            <a:off x="4114800" y="457200"/>
            <a:ext cx="7263708" cy="2910635"/>
          </a:xfrm>
          <a:prstGeom prst="rect">
            <a:avLst/>
          </a:prstGeom>
        </p:spPr>
      </p:pic>
    </p:spTree>
    <p:extLst>
      <p:ext uri="{BB962C8B-B14F-4D97-AF65-F5344CB8AC3E}">
        <p14:creationId xmlns:p14="http://schemas.microsoft.com/office/powerpoint/2010/main" val="11222776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968CB-4353-E23D-2A52-3542247F2A94}"/>
              </a:ext>
            </a:extLst>
          </p:cNvPr>
          <p:cNvSpPr>
            <a:spLocks noGrp="1"/>
          </p:cNvSpPr>
          <p:nvPr>
            <p:ph type="title"/>
          </p:nvPr>
        </p:nvSpPr>
        <p:spPr/>
        <p:txBody>
          <a:bodyPr/>
          <a:lstStyle/>
          <a:p>
            <a:r>
              <a:rPr lang="en-US" dirty="0"/>
              <a:t>Normal Forms Based on Primary Keys</a:t>
            </a:r>
          </a:p>
        </p:txBody>
      </p:sp>
      <p:sp>
        <p:nvSpPr>
          <p:cNvPr id="3" name="Content Placeholder 2">
            <a:extLst>
              <a:ext uri="{FF2B5EF4-FFF2-40B4-BE49-F238E27FC236}">
                <a16:creationId xmlns:a16="http://schemas.microsoft.com/office/drawing/2014/main" id="{6274FA4B-BA1D-143E-D227-8656D1127CC8}"/>
              </a:ext>
            </a:extLst>
          </p:cNvPr>
          <p:cNvSpPr>
            <a:spLocks noGrp="1"/>
          </p:cNvSpPr>
          <p:nvPr>
            <p:ph idx="1"/>
          </p:nvPr>
        </p:nvSpPr>
        <p:spPr/>
        <p:txBody>
          <a:bodyPr>
            <a:noAutofit/>
          </a:bodyPr>
          <a:lstStyle/>
          <a:p>
            <a:r>
              <a:rPr lang="en-US" dirty="0"/>
              <a:t>use functional dependencies to develop formal methodology for testing and improving relation schemas</a:t>
            </a:r>
          </a:p>
          <a:p>
            <a:r>
              <a:rPr lang="en-US" dirty="0"/>
              <a:t>assume that a set of functional dependencies is given for each relation and that each relation has designated primary key</a:t>
            </a:r>
          </a:p>
          <a:p>
            <a:endParaRPr lang="en-US" dirty="0"/>
          </a:p>
          <a:p>
            <a:r>
              <a:rPr lang="en-US" dirty="0"/>
              <a:t>drives the normalization process for relational schema design</a:t>
            </a:r>
          </a:p>
          <a:p>
            <a:r>
              <a:rPr lang="en-US" dirty="0"/>
              <a:t>useful to evaluate relations for goodness and decompose them further as needed to achieve higher normal forms using this </a:t>
            </a:r>
            <a:r>
              <a:rPr lang="en-US"/>
              <a:t>normalization theory</a:t>
            </a:r>
          </a:p>
          <a:p>
            <a:endParaRPr lang="en-US" dirty="0"/>
          </a:p>
        </p:txBody>
      </p:sp>
      <p:sp>
        <p:nvSpPr>
          <p:cNvPr id="4" name="Slide Number Placeholder 3">
            <a:extLst>
              <a:ext uri="{FF2B5EF4-FFF2-40B4-BE49-F238E27FC236}">
                <a16:creationId xmlns:a16="http://schemas.microsoft.com/office/drawing/2014/main" id="{9AF62266-0982-C010-BBE5-3D56859CA97A}"/>
              </a:ext>
            </a:extLst>
          </p:cNvPr>
          <p:cNvSpPr>
            <a:spLocks noGrp="1"/>
          </p:cNvSpPr>
          <p:nvPr>
            <p:ph type="sldNum" sz="quarter" idx="12"/>
          </p:nvPr>
        </p:nvSpPr>
        <p:spPr/>
        <p:txBody>
          <a:bodyPr/>
          <a:lstStyle/>
          <a:p>
            <a:fld id="{6264BDCF-5269-49AC-A246-ED26C2B980E3}" type="slidenum">
              <a:rPr lang="en-US" smtClean="0"/>
              <a:t>68</a:t>
            </a:fld>
            <a:endParaRPr lang="en-US"/>
          </a:p>
        </p:txBody>
      </p:sp>
    </p:spTree>
    <p:extLst>
      <p:ext uri="{BB962C8B-B14F-4D97-AF65-F5344CB8AC3E}">
        <p14:creationId xmlns:p14="http://schemas.microsoft.com/office/powerpoint/2010/main" val="36427001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E2973-EB8A-4EB8-7611-94B3806EC63F}"/>
              </a:ext>
            </a:extLst>
          </p:cNvPr>
          <p:cNvSpPr>
            <a:spLocks noGrp="1"/>
          </p:cNvSpPr>
          <p:nvPr>
            <p:ph type="title"/>
          </p:nvPr>
        </p:nvSpPr>
        <p:spPr/>
        <p:txBody>
          <a:bodyPr/>
          <a:lstStyle/>
          <a:p>
            <a:r>
              <a:rPr lang="en-US" dirty="0"/>
              <a:t>Normalization of Relations</a:t>
            </a:r>
          </a:p>
        </p:txBody>
      </p:sp>
      <p:sp>
        <p:nvSpPr>
          <p:cNvPr id="3" name="Content Placeholder 2">
            <a:extLst>
              <a:ext uri="{FF2B5EF4-FFF2-40B4-BE49-F238E27FC236}">
                <a16:creationId xmlns:a16="http://schemas.microsoft.com/office/drawing/2014/main" id="{4BDDDFF6-D80C-5BA7-A209-3F92E53D44F6}"/>
              </a:ext>
            </a:extLst>
          </p:cNvPr>
          <p:cNvSpPr>
            <a:spLocks noGrp="1"/>
          </p:cNvSpPr>
          <p:nvPr>
            <p:ph idx="1"/>
          </p:nvPr>
        </p:nvSpPr>
        <p:spPr/>
        <p:txBody>
          <a:bodyPr>
            <a:noAutofit/>
          </a:bodyPr>
          <a:lstStyle/>
          <a:p>
            <a:r>
              <a:rPr lang="en-US" dirty="0"/>
              <a:t>normalization process, as first proposed by Codd (1972a), takes a relation schema through a series of tests to certify whether it satisfies a certain normal form</a:t>
            </a:r>
          </a:p>
          <a:p>
            <a:r>
              <a:rPr lang="en-US" dirty="0"/>
              <a:t>process proceeds in a top-down fashion by evaluating each relation against the criteria for normal forms and decomposing relations as necessary, can thus, be considered as relational design by analysis</a:t>
            </a:r>
          </a:p>
        </p:txBody>
      </p:sp>
      <p:sp>
        <p:nvSpPr>
          <p:cNvPr id="4" name="Slide Number Placeholder 3">
            <a:extLst>
              <a:ext uri="{FF2B5EF4-FFF2-40B4-BE49-F238E27FC236}">
                <a16:creationId xmlns:a16="http://schemas.microsoft.com/office/drawing/2014/main" id="{D7ED8C58-A7B5-FAD1-93D2-3944D43A2E81}"/>
              </a:ext>
            </a:extLst>
          </p:cNvPr>
          <p:cNvSpPr>
            <a:spLocks noGrp="1"/>
          </p:cNvSpPr>
          <p:nvPr>
            <p:ph type="sldNum" sz="quarter" idx="12"/>
          </p:nvPr>
        </p:nvSpPr>
        <p:spPr/>
        <p:txBody>
          <a:bodyPr/>
          <a:lstStyle/>
          <a:p>
            <a:fld id="{6264BDCF-5269-49AC-A246-ED26C2B980E3}" type="slidenum">
              <a:rPr lang="en-US" smtClean="0"/>
              <a:t>69</a:t>
            </a:fld>
            <a:endParaRPr lang="en-US"/>
          </a:p>
        </p:txBody>
      </p:sp>
    </p:spTree>
    <p:extLst>
      <p:ext uri="{BB962C8B-B14F-4D97-AF65-F5344CB8AC3E}">
        <p14:creationId xmlns:p14="http://schemas.microsoft.com/office/powerpoint/2010/main" val="18252179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F9A90-1442-90B7-4B83-79E3EF5DE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470C59-02FC-C09B-6FDE-646D7DDBD81F}"/>
              </a:ext>
            </a:extLst>
          </p:cNvPr>
          <p:cNvSpPr>
            <a:spLocks noGrp="1"/>
          </p:cNvSpPr>
          <p:nvPr>
            <p:ph type="title"/>
          </p:nvPr>
        </p:nvSpPr>
        <p:spPr/>
        <p:txBody>
          <a:bodyPr/>
          <a:lstStyle/>
          <a:p>
            <a:r>
              <a:rPr lang="en-US" dirty="0"/>
              <a:t>Normalization of Relations</a:t>
            </a:r>
          </a:p>
        </p:txBody>
      </p:sp>
      <p:sp>
        <p:nvSpPr>
          <p:cNvPr id="3" name="Content Placeholder 2">
            <a:extLst>
              <a:ext uri="{FF2B5EF4-FFF2-40B4-BE49-F238E27FC236}">
                <a16:creationId xmlns:a16="http://schemas.microsoft.com/office/drawing/2014/main" id="{4CAB6D74-79DF-D4F4-75B0-082C98B8ACD8}"/>
              </a:ext>
            </a:extLst>
          </p:cNvPr>
          <p:cNvSpPr>
            <a:spLocks noGrp="1"/>
          </p:cNvSpPr>
          <p:nvPr>
            <p:ph idx="1"/>
          </p:nvPr>
        </p:nvSpPr>
        <p:spPr/>
        <p:txBody>
          <a:bodyPr>
            <a:noAutofit/>
          </a:bodyPr>
          <a:lstStyle/>
          <a:p>
            <a:r>
              <a:rPr lang="en-US" dirty="0"/>
              <a:t>initially, Codd proposed three normal forms: first, second, and third normal form</a:t>
            </a:r>
          </a:p>
          <a:p>
            <a:r>
              <a:rPr lang="en-US" dirty="0"/>
              <a:t>stronger definition of 3NF - called Boyce-Codd normal form (BCNF) - was proposed later</a:t>
            </a:r>
          </a:p>
          <a:p>
            <a:r>
              <a:rPr lang="en-US" dirty="0"/>
              <a:t>all these normal forms are based on functional dependencies among attributes of a relation</a:t>
            </a:r>
          </a:p>
          <a:p>
            <a:r>
              <a:rPr lang="en-US" dirty="0"/>
              <a:t>later, a fourth normal form (4NF) and a fifth normal form (5NF) were proposed, based on concepts of multivalued dependencies and join dependencies, respectively</a:t>
            </a:r>
          </a:p>
        </p:txBody>
      </p:sp>
      <p:sp>
        <p:nvSpPr>
          <p:cNvPr id="4" name="Slide Number Placeholder 3">
            <a:extLst>
              <a:ext uri="{FF2B5EF4-FFF2-40B4-BE49-F238E27FC236}">
                <a16:creationId xmlns:a16="http://schemas.microsoft.com/office/drawing/2014/main" id="{E968AB44-05F1-ECC8-B123-5C5142595E46}"/>
              </a:ext>
            </a:extLst>
          </p:cNvPr>
          <p:cNvSpPr>
            <a:spLocks noGrp="1"/>
          </p:cNvSpPr>
          <p:nvPr>
            <p:ph type="sldNum" sz="quarter" idx="12"/>
          </p:nvPr>
        </p:nvSpPr>
        <p:spPr/>
        <p:txBody>
          <a:bodyPr/>
          <a:lstStyle/>
          <a:p>
            <a:fld id="{6264BDCF-5269-49AC-A246-ED26C2B980E3}" type="slidenum">
              <a:rPr lang="en-US" smtClean="0"/>
              <a:t>70</a:t>
            </a:fld>
            <a:endParaRPr lang="en-US"/>
          </a:p>
        </p:txBody>
      </p:sp>
    </p:spTree>
    <p:extLst>
      <p:ext uri="{BB962C8B-B14F-4D97-AF65-F5344CB8AC3E}">
        <p14:creationId xmlns:p14="http://schemas.microsoft.com/office/powerpoint/2010/main" val="39690937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56DC0-8B8D-F824-B92E-28531A222895}"/>
              </a:ext>
            </a:extLst>
          </p:cNvPr>
          <p:cNvSpPr>
            <a:spLocks noGrp="1"/>
          </p:cNvSpPr>
          <p:nvPr>
            <p:ph type="title"/>
          </p:nvPr>
        </p:nvSpPr>
        <p:spPr/>
        <p:txBody>
          <a:bodyPr/>
          <a:lstStyle/>
          <a:p>
            <a:r>
              <a:rPr lang="en-US" dirty="0"/>
              <a:t>Normalization</a:t>
            </a:r>
          </a:p>
        </p:txBody>
      </p:sp>
      <p:sp>
        <p:nvSpPr>
          <p:cNvPr id="3" name="Content Placeholder 2">
            <a:extLst>
              <a:ext uri="{FF2B5EF4-FFF2-40B4-BE49-F238E27FC236}">
                <a16:creationId xmlns:a16="http://schemas.microsoft.com/office/drawing/2014/main" id="{EBEB001F-E0A6-8C24-A824-21EE2BA1C839}"/>
              </a:ext>
            </a:extLst>
          </p:cNvPr>
          <p:cNvSpPr>
            <a:spLocks noGrp="1"/>
          </p:cNvSpPr>
          <p:nvPr>
            <p:ph idx="1"/>
          </p:nvPr>
        </p:nvSpPr>
        <p:spPr/>
        <p:txBody>
          <a:bodyPr>
            <a:normAutofit/>
          </a:bodyPr>
          <a:lstStyle/>
          <a:p>
            <a:r>
              <a:rPr lang="en-US" dirty="0"/>
              <a:t>based on Functional </a:t>
            </a:r>
            <a:r>
              <a:rPr lang="en-US" dirty="0" err="1"/>
              <a:t>Dependecies</a:t>
            </a:r>
            <a:r>
              <a:rPr lang="en-US" dirty="0"/>
              <a:t> and primary keys to achieve the desirable properties of minimizing redundancy and minimizing the insertion, deletion, and update anomalies</a:t>
            </a:r>
          </a:p>
          <a:p>
            <a:endParaRPr lang="en-US" dirty="0"/>
          </a:p>
          <a:p>
            <a:r>
              <a:rPr lang="en-US" dirty="0"/>
              <a:t>unsatisfactory relation schema that does not meet condition for normal form is decomposed into smaller relation schemas that contain a subset of attributes and meet the test that was otherwise not met by the original relation</a:t>
            </a:r>
          </a:p>
        </p:txBody>
      </p:sp>
      <p:sp>
        <p:nvSpPr>
          <p:cNvPr id="4" name="Slide Number Placeholder 3">
            <a:extLst>
              <a:ext uri="{FF2B5EF4-FFF2-40B4-BE49-F238E27FC236}">
                <a16:creationId xmlns:a16="http://schemas.microsoft.com/office/drawing/2014/main" id="{F41852AC-5B6B-1C36-89B7-ED6DD6C36625}"/>
              </a:ext>
            </a:extLst>
          </p:cNvPr>
          <p:cNvSpPr>
            <a:spLocks noGrp="1"/>
          </p:cNvSpPr>
          <p:nvPr>
            <p:ph type="sldNum" sz="quarter" idx="12"/>
          </p:nvPr>
        </p:nvSpPr>
        <p:spPr/>
        <p:txBody>
          <a:bodyPr/>
          <a:lstStyle/>
          <a:p>
            <a:fld id="{6264BDCF-5269-49AC-A246-ED26C2B980E3}" type="slidenum">
              <a:rPr lang="en-US" smtClean="0"/>
              <a:t>71</a:t>
            </a:fld>
            <a:endParaRPr lang="en-US"/>
          </a:p>
        </p:txBody>
      </p:sp>
    </p:spTree>
    <p:extLst>
      <p:ext uri="{BB962C8B-B14F-4D97-AF65-F5344CB8AC3E}">
        <p14:creationId xmlns:p14="http://schemas.microsoft.com/office/powerpoint/2010/main" val="7635063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9386D-00B6-9CB4-82C4-2AEE1E220B22}"/>
              </a:ext>
            </a:extLst>
          </p:cNvPr>
          <p:cNvSpPr>
            <a:spLocks noGrp="1"/>
          </p:cNvSpPr>
          <p:nvPr>
            <p:ph type="title"/>
          </p:nvPr>
        </p:nvSpPr>
        <p:spPr/>
        <p:txBody>
          <a:bodyPr/>
          <a:lstStyle/>
          <a:p>
            <a:r>
              <a:rPr lang="en-US" b="1" dirty="0"/>
              <a:t>Normal Form</a:t>
            </a:r>
            <a:endParaRPr lang="en-US" dirty="0"/>
          </a:p>
        </p:txBody>
      </p:sp>
      <p:sp>
        <p:nvSpPr>
          <p:cNvPr id="3" name="Content Placeholder 2">
            <a:extLst>
              <a:ext uri="{FF2B5EF4-FFF2-40B4-BE49-F238E27FC236}">
                <a16:creationId xmlns:a16="http://schemas.microsoft.com/office/drawing/2014/main" id="{163B28EF-0FF5-F635-6A5E-CCDE91DB8333}"/>
              </a:ext>
            </a:extLst>
          </p:cNvPr>
          <p:cNvSpPr>
            <a:spLocks noGrp="1"/>
          </p:cNvSpPr>
          <p:nvPr>
            <p:ph idx="1"/>
          </p:nvPr>
        </p:nvSpPr>
        <p:spPr/>
        <p:txBody>
          <a:bodyPr/>
          <a:lstStyle/>
          <a:p>
            <a:r>
              <a:rPr lang="en-US" dirty="0"/>
              <a:t>of a relation refers to highest normal form condition that it meets</a:t>
            </a:r>
          </a:p>
          <a:p>
            <a:r>
              <a:rPr lang="en-US" dirty="0"/>
              <a:t>indicates the degree to which it has been normalized</a:t>
            </a:r>
          </a:p>
          <a:p>
            <a:endParaRPr lang="en-US" dirty="0"/>
          </a:p>
          <a:p>
            <a:r>
              <a:rPr lang="en-US" sz="2700" i="1" dirty="0"/>
              <a:t>people tend to think in 3NF</a:t>
            </a:r>
          </a:p>
        </p:txBody>
      </p:sp>
      <p:sp>
        <p:nvSpPr>
          <p:cNvPr id="4" name="Slide Number Placeholder 3">
            <a:extLst>
              <a:ext uri="{FF2B5EF4-FFF2-40B4-BE49-F238E27FC236}">
                <a16:creationId xmlns:a16="http://schemas.microsoft.com/office/drawing/2014/main" id="{BD3B4C92-D1FF-FC99-AB20-5DD25726BBA6}"/>
              </a:ext>
            </a:extLst>
          </p:cNvPr>
          <p:cNvSpPr>
            <a:spLocks noGrp="1"/>
          </p:cNvSpPr>
          <p:nvPr>
            <p:ph type="sldNum" sz="quarter" idx="12"/>
          </p:nvPr>
        </p:nvSpPr>
        <p:spPr/>
        <p:txBody>
          <a:bodyPr/>
          <a:lstStyle/>
          <a:p>
            <a:fld id="{6264BDCF-5269-49AC-A246-ED26C2B980E3}" type="slidenum">
              <a:rPr lang="en-US" smtClean="0"/>
              <a:t>72</a:t>
            </a:fld>
            <a:endParaRPr lang="en-US"/>
          </a:p>
        </p:txBody>
      </p:sp>
    </p:spTree>
    <p:extLst>
      <p:ext uri="{BB962C8B-B14F-4D97-AF65-F5344CB8AC3E}">
        <p14:creationId xmlns:p14="http://schemas.microsoft.com/office/powerpoint/2010/main" val="12148652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82EB3-3413-3889-6A1D-79186A09CD06}"/>
              </a:ext>
            </a:extLst>
          </p:cNvPr>
          <p:cNvSpPr>
            <a:spLocks noGrp="1"/>
          </p:cNvSpPr>
          <p:nvPr>
            <p:ph type="title"/>
          </p:nvPr>
        </p:nvSpPr>
        <p:spPr/>
        <p:txBody>
          <a:bodyPr/>
          <a:lstStyle/>
          <a:p>
            <a:r>
              <a:rPr lang="en-US" dirty="0" err="1"/>
              <a:t>superkey</a:t>
            </a:r>
            <a:endParaRPr lang="en-US" dirty="0"/>
          </a:p>
        </p:txBody>
      </p:sp>
      <p:sp>
        <p:nvSpPr>
          <p:cNvPr id="3" name="Content Placeholder 2">
            <a:extLst>
              <a:ext uri="{FF2B5EF4-FFF2-40B4-BE49-F238E27FC236}">
                <a16:creationId xmlns:a16="http://schemas.microsoft.com/office/drawing/2014/main" id="{F4788BCC-24FB-05E4-D5A4-5BB8DF710B65}"/>
              </a:ext>
            </a:extLst>
          </p:cNvPr>
          <p:cNvSpPr>
            <a:spLocks noGrp="1"/>
          </p:cNvSpPr>
          <p:nvPr>
            <p:ph idx="1"/>
          </p:nvPr>
        </p:nvSpPr>
        <p:spPr/>
        <p:txBody>
          <a:bodyPr>
            <a:normAutofit/>
          </a:bodyPr>
          <a:lstStyle/>
          <a:p>
            <a:r>
              <a:rPr lang="en-US" dirty="0" err="1"/>
              <a:t>superkey</a:t>
            </a:r>
            <a:r>
              <a:rPr lang="en-US" dirty="0"/>
              <a:t> of relation schema </a:t>
            </a:r>
            <a:r>
              <a:rPr lang="en-US" i="1" dirty="0"/>
              <a:t>R </a:t>
            </a:r>
            <a:r>
              <a:rPr lang="en-US" dirty="0"/>
              <a:t>= {</a:t>
            </a:r>
            <a:r>
              <a:rPr lang="en-US" i="1" dirty="0"/>
              <a:t>A</a:t>
            </a:r>
            <a:r>
              <a:rPr lang="en-US" baseline="-25000" dirty="0"/>
              <a:t>1</a:t>
            </a:r>
            <a:r>
              <a:rPr lang="en-US" dirty="0"/>
              <a:t>, </a:t>
            </a:r>
            <a:r>
              <a:rPr lang="en-US" i="1" dirty="0"/>
              <a:t>A</a:t>
            </a:r>
            <a:r>
              <a:rPr lang="en-US" baseline="-25000" dirty="0"/>
              <a:t>2</a:t>
            </a:r>
            <a:r>
              <a:rPr lang="en-US" dirty="0"/>
              <a:t>, … , </a:t>
            </a:r>
            <a:r>
              <a:rPr lang="en-US" i="1" dirty="0"/>
              <a:t>A</a:t>
            </a:r>
            <a:r>
              <a:rPr lang="en-US" baseline="-25000" dirty="0"/>
              <a:t>n</a:t>
            </a:r>
            <a:r>
              <a:rPr lang="en-US" dirty="0"/>
              <a:t>} is a set of attributes </a:t>
            </a:r>
            <a:r>
              <a:rPr lang="en-US" i="1" dirty="0"/>
              <a:t>S </a:t>
            </a:r>
            <a:r>
              <a:rPr lang="en-US" dirty="0"/>
              <a:t>⊆ </a:t>
            </a:r>
            <a:r>
              <a:rPr lang="en-US" i="1" dirty="0"/>
              <a:t>R </a:t>
            </a:r>
            <a:r>
              <a:rPr lang="en-US" dirty="0"/>
              <a:t>with property that no two tuples </a:t>
            </a:r>
            <a:r>
              <a:rPr lang="en-US" i="1" dirty="0"/>
              <a:t>t</a:t>
            </a:r>
            <a:r>
              <a:rPr lang="en-US" baseline="-25000" dirty="0"/>
              <a:t>1</a:t>
            </a:r>
            <a:r>
              <a:rPr lang="en-US" dirty="0"/>
              <a:t> and </a:t>
            </a:r>
            <a:r>
              <a:rPr lang="en-US" i="1" dirty="0"/>
              <a:t>t</a:t>
            </a:r>
            <a:r>
              <a:rPr lang="en-US" baseline="-25000" dirty="0"/>
              <a:t>2</a:t>
            </a:r>
            <a:r>
              <a:rPr lang="en-US" dirty="0"/>
              <a:t> in any legal relation state </a:t>
            </a:r>
            <a:r>
              <a:rPr lang="en-US" i="1" dirty="0"/>
              <a:t>r </a:t>
            </a:r>
            <a:r>
              <a:rPr lang="en-US" dirty="0"/>
              <a:t>of </a:t>
            </a:r>
            <a:r>
              <a:rPr lang="en-US" i="1" dirty="0"/>
              <a:t>R </a:t>
            </a:r>
            <a:r>
              <a:rPr lang="en-US" dirty="0"/>
              <a:t>will have </a:t>
            </a:r>
            <a:r>
              <a:rPr lang="en-US" i="1" dirty="0"/>
              <a:t>t</a:t>
            </a:r>
            <a:r>
              <a:rPr lang="en-US" baseline="-25000" dirty="0"/>
              <a:t>1</a:t>
            </a:r>
            <a:r>
              <a:rPr lang="en-US" dirty="0"/>
              <a:t> [</a:t>
            </a:r>
            <a:r>
              <a:rPr lang="en-US" i="1" dirty="0"/>
              <a:t>S</a:t>
            </a:r>
            <a:r>
              <a:rPr lang="en-US" dirty="0"/>
              <a:t>] = </a:t>
            </a:r>
            <a:r>
              <a:rPr lang="en-US" i="1" dirty="0"/>
              <a:t>t</a:t>
            </a:r>
            <a:r>
              <a:rPr lang="en-US" baseline="-25000" dirty="0"/>
              <a:t>2 </a:t>
            </a:r>
            <a:r>
              <a:rPr lang="en-US" dirty="0"/>
              <a:t>[</a:t>
            </a:r>
            <a:r>
              <a:rPr lang="en-US" i="1" dirty="0"/>
              <a:t>S</a:t>
            </a:r>
            <a:r>
              <a:rPr lang="en-US" dirty="0"/>
              <a:t>]</a:t>
            </a:r>
          </a:p>
        </p:txBody>
      </p:sp>
      <p:sp>
        <p:nvSpPr>
          <p:cNvPr id="4" name="Slide Number Placeholder 3">
            <a:extLst>
              <a:ext uri="{FF2B5EF4-FFF2-40B4-BE49-F238E27FC236}">
                <a16:creationId xmlns:a16="http://schemas.microsoft.com/office/drawing/2014/main" id="{31FD30B4-6830-377E-6E50-48490153DBFB}"/>
              </a:ext>
            </a:extLst>
          </p:cNvPr>
          <p:cNvSpPr>
            <a:spLocks noGrp="1"/>
          </p:cNvSpPr>
          <p:nvPr>
            <p:ph type="sldNum" sz="quarter" idx="12"/>
          </p:nvPr>
        </p:nvSpPr>
        <p:spPr/>
        <p:txBody>
          <a:bodyPr/>
          <a:lstStyle/>
          <a:p>
            <a:fld id="{6264BDCF-5269-49AC-A246-ED26C2B980E3}" type="slidenum">
              <a:rPr lang="en-US" smtClean="0"/>
              <a:t>73</a:t>
            </a:fld>
            <a:endParaRPr lang="en-US"/>
          </a:p>
        </p:txBody>
      </p:sp>
    </p:spTree>
    <p:extLst>
      <p:ext uri="{BB962C8B-B14F-4D97-AF65-F5344CB8AC3E}">
        <p14:creationId xmlns:p14="http://schemas.microsoft.com/office/powerpoint/2010/main" val="28454881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291F9-8C80-22F8-A097-6D6D1B093856}"/>
              </a:ext>
            </a:extLst>
          </p:cNvPr>
          <p:cNvSpPr>
            <a:spLocks noGrp="1"/>
          </p:cNvSpPr>
          <p:nvPr>
            <p:ph type="title"/>
          </p:nvPr>
        </p:nvSpPr>
        <p:spPr/>
        <p:txBody>
          <a:bodyPr/>
          <a:lstStyle/>
          <a:p>
            <a:r>
              <a:rPr lang="en-US" dirty="0"/>
              <a:t>key</a:t>
            </a:r>
          </a:p>
        </p:txBody>
      </p:sp>
      <p:sp>
        <p:nvSpPr>
          <p:cNvPr id="3" name="Content Placeholder 2">
            <a:extLst>
              <a:ext uri="{FF2B5EF4-FFF2-40B4-BE49-F238E27FC236}">
                <a16:creationId xmlns:a16="http://schemas.microsoft.com/office/drawing/2014/main" id="{395CFA81-9BDC-41D3-8331-E644448FB52B}"/>
              </a:ext>
            </a:extLst>
          </p:cNvPr>
          <p:cNvSpPr>
            <a:spLocks noGrp="1"/>
          </p:cNvSpPr>
          <p:nvPr>
            <p:ph idx="1"/>
          </p:nvPr>
        </p:nvSpPr>
        <p:spPr/>
        <p:txBody>
          <a:bodyPr>
            <a:normAutofit/>
          </a:bodyPr>
          <a:lstStyle/>
          <a:p>
            <a:r>
              <a:rPr lang="en-US" dirty="0"/>
              <a:t>key </a:t>
            </a:r>
            <a:r>
              <a:rPr lang="en-US" i="1" dirty="0"/>
              <a:t>K </a:t>
            </a:r>
            <a:r>
              <a:rPr lang="en-US" dirty="0"/>
              <a:t>is </a:t>
            </a:r>
            <a:r>
              <a:rPr lang="en-US" dirty="0" err="1"/>
              <a:t>superkey</a:t>
            </a:r>
            <a:r>
              <a:rPr lang="en-US" dirty="0"/>
              <a:t> with additional property that removal of any attribute from </a:t>
            </a:r>
            <a:r>
              <a:rPr lang="en-US" i="1" dirty="0"/>
              <a:t>K </a:t>
            </a:r>
            <a:r>
              <a:rPr lang="en-US" dirty="0"/>
              <a:t>will cause </a:t>
            </a:r>
            <a:r>
              <a:rPr lang="en-US" i="1" dirty="0"/>
              <a:t>K </a:t>
            </a:r>
            <a:r>
              <a:rPr lang="en-US" dirty="0"/>
              <a:t>not to be a </a:t>
            </a:r>
            <a:r>
              <a:rPr lang="en-US" dirty="0" err="1"/>
              <a:t>superkey</a:t>
            </a:r>
            <a:r>
              <a:rPr lang="en-US" dirty="0"/>
              <a:t> anymore</a:t>
            </a:r>
          </a:p>
          <a:p>
            <a:r>
              <a:rPr lang="en-US" dirty="0"/>
              <a:t>difference between a key and a </a:t>
            </a:r>
            <a:r>
              <a:rPr lang="en-US" dirty="0" err="1"/>
              <a:t>superkey</a:t>
            </a:r>
            <a:r>
              <a:rPr lang="en-US" dirty="0"/>
              <a:t> is that key has to be </a:t>
            </a:r>
            <a:r>
              <a:rPr lang="en-US" i="1" dirty="0"/>
              <a:t>minimal; </a:t>
            </a:r>
            <a:r>
              <a:rPr lang="en-US" dirty="0"/>
              <a:t>that is, if we have a key </a:t>
            </a:r>
            <a:r>
              <a:rPr lang="en-US" i="1" dirty="0"/>
              <a:t>K </a:t>
            </a:r>
            <a:r>
              <a:rPr lang="en-US" dirty="0"/>
              <a:t>= {</a:t>
            </a:r>
            <a:r>
              <a:rPr lang="en-US" i="1" dirty="0"/>
              <a:t>A</a:t>
            </a:r>
            <a:r>
              <a:rPr lang="en-US" baseline="-25000" dirty="0"/>
              <a:t>1</a:t>
            </a:r>
            <a:r>
              <a:rPr lang="en-US" dirty="0"/>
              <a:t>, </a:t>
            </a:r>
            <a:r>
              <a:rPr lang="en-US" i="1" dirty="0"/>
              <a:t>A</a:t>
            </a:r>
            <a:r>
              <a:rPr lang="en-US" baseline="-25000" dirty="0"/>
              <a:t>2</a:t>
            </a:r>
            <a:r>
              <a:rPr lang="en-US" dirty="0"/>
              <a:t>, … , </a:t>
            </a:r>
            <a:r>
              <a:rPr lang="en-US" i="1" dirty="0"/>
              <a:t>A</a:t>
            </a:r>
            <a:r>
              <a:rPr lang="en-US" baseline="-25000" dirty="0"/>
              <a:t>k</a:t>
            </a:r>
            <a:r>
              <a:rPr lang="en-US" dirty="0"/>
              <a:t>} of </a:t>
            </a:r>
            <a:r>
              <a:rPr lang="en-US" i="1" dirty="0"/>
              <a:t>R</a:t>
            </a:r>
            <a:r>
              <a:rPr lang="en-US" dirty="0"/>
              <a:t>, then </a:t>
            </a:r>
            <a:r>
              <a:rPr lang="en-US" i="1" dirty="0"/>
              <a:t>K </a:t>
            </a:r>
            <a:r>
              <a:rPr lang="en-US" dirty="0"/>
              <a:t>− {</a:t>
            </a:r>
            <a:r>
              <a:rPr lang="en-US" i="1" dirty="0"/>
              <a:t>A</a:t>
            </a:r>
            <a:r>
              <a:rPr lang="en-US" baseline="-25000" dirty="0"/>
              <a:t>i</a:t>
            </a:r>
            <a:r>
              <a:rPr lang="en-US" dirty="0"/>
              <a:t>} is not a key of </a:t>
            </a:r>
            <a:r>
              <a:rPr lang="en-US" i="1" dirty="0"/>
              <a:t>R </a:t>
            </a:r>
            <a:r>
              <a:rPr lang="en-US" dirty="0"/>
              <a:t>for any </a:t>
            </a:r>
            <a:r>
              <a:rPr lang="en-US" i="1" dirty="0"/>
              <a:t>A</a:t>
            </a:r>
            <a:r>
              <a:rPr lang="en-US" baseline="-25000" dirty="0"/>
              <a:t>i </a:t>
            </a:r>
            <a:r>
              <a:rPr lang="en-US" dirty="0"/>
              <a:t>, 1 ≤ </a:t>
            </a:r>
            <a:r>
              <a:rPr lang="en-US" i="1" dirty="0" err="1"/>
              <a:t>i</a:t>
            </a:r>
            <a:r>
              <a:rPr lang="en-US" i="1" dirty="0"/>
              <a:t> </a:t>
            </a:r>
            <a:r>
              <a:rPr lang="en-US" dirty="0"/>
              <a:t>≤ </a:t>
            </a:r>
            <a:r>
              <a:rPr lang="en-US" i="1" dirty="0"/>
              <a:t>k</a:t>
            </a:r>
          </a:p>
          <a:p>
            <a:endParaRPr lang="en-US" dirty="0"/>
          </a:p>
          <a:p>
            <a:r>
              <a:rPr lang="en-US" dirty="0"/>
              <a:t>{</a:t>
            </a:r>
            <a:r>
              <a:rPr lang="en-US" dirty="0" err="1"/>
              <a:t>Ssn</a:t>
            </a:r>
            <a:r>
              <a:rPr lang="en-US" dirty="0"/>
              <a:t>} is a key for EMPLOYEE, whereas {</a:t>
            </a:r>
            <a:r>
              <a:rPr lang="en-US" dirty="0" err="1"/>
              <a:t>Ssn</a:t>
            </a:r>
            <a:r>
              <a:rPr lang="en-US" dirty="0"/>
              <a:t>}, {</a:t>
            </a:r>
            <a:r>
              <a:rPr lang="en-US" dirty="0" err="1"/>
              <a:t>Ssn</a:t>
            </a:r>
            <a:r>
              <a:rPr lang="en-US" dirty="0"/>
              <a:t>, </a:t>
            </a:r>
            <a:r>
              <a:rPr lang="en-US" dirty="0" err="1"/>
              <a:t>Ename</a:t>
            </a:r>
            <a:r>
              <a:rPr lang="en-US" dirty="0"/>
              <a:t>}, {</a:t>
            </a:r>
            <a:r>
              <a:rPr lang="en-US" dirty="0" err="1"/>
              <a:t>Ssn</a:t>
            </a:r>
            <a:r>
              <a:rPr lang="en-US" dirty="0"/>
              <a:t>, </a:t>
            </a:r>
            <a:r>
              <a:rPr lang="en-US" dirty="0" err="1"/>
              <a:t>Ename</a:t>
            </a:r>
            <a:r>
              <a:rPr lang="en-US" dirty="0"/>
              <a:t>, </a:t>
            </a:r>
            <a:r>
              <a:rPr lang="en-US" dirty="0" err="1"/>
              <a:t>Bdate</a:t>
            </a:r>
            <a:r>
              <a:rPr lang="en-US" dirty="0"/>
              <a:t>}, … are all </a:t>
            </a:r>
            <a:r>
              <a:rPr lang="en-US" dirty="0" err="1"/>
              <a:t>superkeys</a:t>
            </a:r>
            <a:endParaRPr lang="en-US" dirty="0"/>
          </a:p>
          <a:p>
            <a:endParaRPr lang="en-US" dirty="0"/>
          </a:p>
        </p:txBody>
      </p:sp>
      <p:sp>
        <p:nvSpPr>
          <p:cNvPr id="4" name="Slide Number Placeholder 3">
            <a:extLst>
              <a:ext uri="{FF2B5EF4-FFF2-40B4-BE49-F238E27FC236}">
                <a16:creationId xmlns:a16="http://schemas.microsoft.com/office/drawing/2014/main" id="{169054B8-9876-8B2B-14EE-24034C046C16}"/>
              </a:ext>
            </a:extLst>
          </p:cNvPr>
          <p:cNvSpPr>
            <a:spLocks noGrp="1"/>
          </p:cNvSpPr>
          <p:nvPr>
            <p:ph type="sldNum" sz="quarter" idx="12"/>
          </p:nvPr>
        </p:nvSpPr>
        <p:spPr/>
        <p:txBody>
          <a:bodyPr/>
          <a:lstStyle/>
          <a:p>
            <a:fld id="{6264BDCF-5269-49AC-A246-ED26C2B980E3}" type="slidenum">
              <a:rPr lang="en-US" smtClean="0"/>
              <a:t>74</a:t>
            </a:fld>
            <a:endParaRPr lang="en-US"/>
          </a:p>
        </p:txBody>
      </p:sp>
    </p:spTree>
    <p:extLst>
      <p:ext uri="{BB962C8B-B14F-4D97-AF65-F5344CB8AC3E}">
        <p14:creationId xmlns:p14="http://schemas.microsoft.com/office/powerpoint/2010/main" val="41435458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A1A1C-E9BA-EB75-C9E7-201377C001B9}"/>
              </a:ext>
            </a:extLst>
          </p:cNvPr>
          <p:cNvSpPr>
            <a:spLocks noGrp="1"/>
          </p:cNvSpPr>
          <p:nvPr>
            <p:ph type="title"/>
          </p:nvPr>
        </p:nvSpPr>
        <p:spPr/>
        <p:txBody>
          <a:bodyPr/>
          <a:lstStyle/>
          <a:p>
            <a:r>
              <a:rPr lang="en-US" dirty="0"/>
              <a:t>candidate key</a:t>
            </a:r>
          </a:p>
        </p:txBody>
      </p:sp>
      <p:sp>
        <p:nvSpPr>
          <p:cNvPr id="3" name="Content Placeholder 2">
            <a:extLst>
              <a:ext uri="{FF2B5EF4-FFF2-40B4-BE49-F238E27FC236}">
                <a16:creationId xmlns:a16="http://schemas.microsoft.com/office/drawing/2014/main" id="{58FC2EB5-773A-D9C7-A4E1-AE4C6E3BA411}"/>
              </a:ext>
            </a:extLst>
          </p:cNvPr>
          <p:cNvSpPr>
            <a:spLocks noGrp="1"/>
          </p:cNvSpPr>
          <p:nvPr>
            <p:ph idx="1"/>
          </p:nvPr>
        </p:nvSpPr>
        <p:spPr/>
        <p:txBody>
          <a:bodyPr>
            <a:normAutofit/>
          </a:bodyPr>
          <a:lstStyle/>
          <a:p>
            <a:r>
              <a:rPr lang="en-US" dirty="0"/>
              <a:t>{</a:t>
            </a:r>
            <a:r>
              <a:rPr lang="en-US" dirty="0" err="1"/>
              <a:t>Ssn</a:t>
            </a:r>
            <a:r>
              <a:rPr lang="en-US" dirty="0"/>
              <a:t>} {</a:t>
            </a:r>
            <a:r>
              <a:rPr lang="en-US" dirty="0" err="1"/>
              <a:t>Ename</a:t>
            </a:r>
            <a:r>
              <a:rPr lang="en-US" dirty="0"/>
              <a:t>, </a:t>
            </a:r>
            <a:r>
              <a:rPr lang="en-US" dirty="0" err="1"/>
              <a:t>Bdate</a:t>
            </a:r>
            <a:r>
              <a:rPr lang="en-US" dirty="0"/>
              <a:t>, Address}, … If a relation schema has more than one key, each is called a candidate key</a:t>
            </a:r>
          </a:p>
        </p:txBody>
      </p:sp>
      <p:sp>
        <p:nvSpPr>
          <p:cNvPr id="4" name="Slide Number Placeholder 3">
            <a:extLst>
              <a:ext uri="{FF2B5EF4-FFF2-40B4-BE49-F238E27FC236}">
                <a16:creationId xmlns:a16="http://schemas.microsoft.com/office/drawing/2014/main" id="{4A63B07A-FF62-392F-9CCA-15F38202D5DD}"/>
              </a:ext>
            </a:extLst>
          </p:cNvPr>
          <p:cNvSpPr>
            <a:spLocks noGrp="1"/>
          </p:cNvSpPr>
          <p:nvPr>
            <p:ph type="sldNum" sz="quarter" idx="12"/>
          </p:nvPr>
        </p:nvSpPr>
        <p:spPr/>
        <p:txBody>
          <a:bodyPr/>
          <a:lstStyle/>
          <a:p>
            <a:fld id="{6264BDCF-5269-49AC-A246-ED26C2B980E3}" type="slidenum">
              <a:rPr lang="en-US" smtClean="0"/>
              <a:t>75</a:t>
            </a:fld>
            <a:endParaRPr lang="en-US"/>
          </a:p>
        </p:txBody>
      </p:sp>
    </p:spTree>
    <p:extLst>
      <p:ext uri="{BB962C8B-B14F-4D97-AF65-F5344CB8AC3E}">
        <p14:creationId xmlns:p14="http://schemas.microsoft.com/office/powerpoint/2010/main" val="17599862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2E7D4-078D-151D-6FB1-E781ED7CB2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9BE76-55BC-778C-C83E-98A638C967A2}"/>
              </a:ext>
            </a:extLst>
          </p:cNvPr>
          <p:cNvSpPr>
            <a:spLocks noGrp="1"/>
          </p:cNvSpPr>
          <p:nvPr>
            <p:ph type="title"/>
          </p:nvPr>
        </p:nvSpPr>
        <p:spPr/>
        <p:txBody>
          <a:bodyPr/>
          <a:lstStyle/>
          <a:p>
            <a:r>
              <a:rPr lang="en-US" dirty="0"/>
              <a:t>Primary Key</a:t>
            </a:r>
          </a:p>
        </p:txBody>
      </p:sp>
      <p:sp>
        <p:nvSpPr>
          <p:cNvPr id="3" name="Content Placeholder 2">
            <a:extLst>
              <a:ext uri="{FF2B5EF4-FFF2-40B4-BE49-F238E27FC236}">
                <a16:creationId xmlns:a16="http://schemas.microsoft.com/office/drawing/2014/main" id="{084D135B-9BCA-C961-3C48-BE480702CB86}"/>
              </a:ext>
            </a:extLst>
          </p:cNvPr>
          <p:cNvSpPr>
            <a:spLocks noGrp="1"/>
          </p:cNvSpPr>
          <p:nvPr>
            <p:ph idx="1"/>
          </p:nvPr>
        </p:nvSpPr>
        <p:spPr/>
        <p:txBody>
          <a:bodyPr>
            <a:normAutofit/>
          </a:bodyPr>
          <a:lstStyle/>
          <a:p>
            <a:r>
              <a:rPr lang="en-US" dirty="0"/>
              <a:t>{</a:t>
            </a:r>
            <a:r>
              <a:rPr lang="en-US" dirty="0" err="1"/>
              <a:t>Ssn</a:t>
            </a:r>
            <a:r>
              <a:rPr lang="en-US" dirty="0"/>
              <a:t>} {</a:t>
            </a:r>
            <a:r>
              <a:rPr lang="en-US" dirty="0" err="1"/>
              <a:t>Ename</a:t>
            </a:r>
            <a:r>
              <a:rPr lang="en-US" dirty="0"/>
              <a:t>, </a:t>
            </a:r>
            <a:r>
              <a:rPr lang="en-US" dirty="0" err="1"/>
              <a:t>Bdate</a:t>
            </a:r>
            <a:r>
              <a:rPr lang="en-US" dirty="0"/>
              <a:t>, Address}, … If a relation schema has more than one key, each is called a candidate key</a:t>
            </a:r>
          </a:p>
          <a:p>
            <a:r>
              <a:rPr lang="en-US" dirty="0"/>
              <a:t>one of the candidate keys is </a:t>
            </a:r>
            <a:r>
              <a:rPr lang="en-US" i="1" dirty="0"/>
              <a:t>arbitrarily </a:t>
            </a:r>
            <a:r>
              <a:rPr lang="en-US" dirty="0"/>
              <a:t>designated to be the primary key</a:t>
            </a:r>
          </a:p>
          <a:p>
            <a:r>
              <a:rPr lang="en-US" dirty="0"/>
              <a:t>in a practical relational database, each relation schema must have a primary key; if no candidate key is known for a relation, the entire relation can be treated as a default </a:t>
            </a:r>
            <a:r>
              <a:rPr lang="en-US" dirty="0" err="1"/>
              <a:t>superkey</a:t>
            </a:r>
            <a:endParaRPr lang="en-US" dirty="0"/>
          </a:p>
          <a:p>
            <a:r>
              <a:rPr lang="en-US" dirty="0"/>
              <a:t>{</a:t>
            </a:r>
            <a:r>
              <a:rPr lang="en-US" dirty="0" err="1"/>
              <a:t>Ssn</a:t>
            </a:r>
            <a:r>
              <a:rPr lang="en-US" dirty="0"/>
              <a:t>} is the primary key of EMPLOYEE</a:t>
            </a:r>
          </a:p>
          <a:p>
            <a:endParaRPr lang="en-US" dirty="0"/>
          </a:p>
        </p:txBody>
      </p:sp>
      <p:sp>
        <p:nvSpPr>
          <p:cNvPr id="4" name="Slide Number Placeholder 3">
            <a:extLst>
              <a:ext uri="{FF2B5EF4-FFF2-40B4-BE49-F238E27FC236}">
                <a16:creationId xmlns:a16="http://schemas.microsoft.com/office/drawing/2014/main" id="{DE507AD4-3ACD-852F-BDB5-7637FB100D61}"/>
              </a:ext>
            </a:extLst>
          </p:cNvPr>
          <p:cNvSpPr>
            <a:spLocks noGrp="1"/>
          </p:cNvSpPr>
          <p:nvPr>
            <p:ph type="sldNum" sz="quarter" idx="12"/>
          </p:nvPr>
        </p:nvSpPr>
        <p:spPr/>
        <p:txBody>
          <a:bodyPr/>
          <a:lstStyle/>
          <a:p>
            <a:fld id="{6264BDCF-5269-49AC-A246-ED26C2B980E3}" type="slidenum">
              <a:rPr lang="en-US" smtClean="0"/>
              <a:t>76</a:t>
            </a:fld>
            <a:endParaRPr lang="en-US"/>
          </a:p>
        </p:txBody>
      </p:sp>
    </p:spTree>
    <p:extLst>
      <p:ext uri="{BB962C8B-B14F-4D97-AF65-F5344CB8AC3E}">
        <p14:creationId xmlns:p14="http://schemas.microsoft.com/office/powerpoint/2010/main" val="26291298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94468-C639-CCCF-C156-9B2F9B02B3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F8BF2-2224-23EC-91B2-3A2BBEC69FCB}"/>
              </a:ext>
            </a:extLst>
          </p:cNvPr>
          <p:cNvSpPr>
            <a:spLocks noGrp="1"/>
          </p:cNvSpPr>
          <p:nvPr>
            <p:ph type="title"/>
          </p:nvPr>
        </p:nvSpPr>
        <p:spPr/>
        <p:txBody>
          <a:bodyPr/>
          <a:lstStyle/>
          <a:p>
            <a:r>
              <a:rPr lang="en-US" dirty="0"/>
              <a:t>secondary key</a:t>
            </a:r>
          </a:p>
        </p:txBody>
      </p:sp>
      <p:sp>
        <p:nvSpPr>
          <p:cNvPr id="3" name="Content Placeholder 2">
            <a:extLst>
              <a:ext uri="{FF2B5EF4-FFF2-40B4-BE49-F238E27FC236}">
                <a16:creationId xmlns:a16="http://schemas.microsoft.com/office/drawing/2014/main" id="{9B9505F7-2CF9-8743-21EE-0D8627784FA0}"/>
              </a:ext>
            </a:extLst>
          </p:cNvPr>
          <p:cNvSpPr>
            <a:spLocks noGrp="1"/>
          </p:cNvSpPr>
          <p:nvPr>
            <p:ph idx="1"/>
          </p:nvPr>
        </p:nvSpPr>
        <p:spPr/>
        <p:txBody>
          <a:bodyPr>
            <a:normAutofit/>
          </a:bodyPr>
          <a:lstStyle/>
          <a:p>
            <a:r>
              <a:rPr lang="en-US" dirty="0"/>
              <a:t>{</a:t>
            </a:r>
            <a:r>
              <a:rPr lang="en-US" dirty="0" err="1"/>
              <a:t>Ssn</a:t>
            </a:r>
            <a:r>
              <a:rPr lang="en-US" dirty="0"/>
              <a:t>} {</a:t>
            </a:r>
            <a:r>
              <a:rPr lang="en-US" dirty="0" err="1"/>
              <a:t>Ename</a:t>
            </a:r>
            <a:r>
              <a:rPr lang="en-US" dirty="0"/>
              <a:t>, </a:t>
            </a:r>
            <a:r>
              <a:rPr lang="en-US" dirty="0" err="1"/>
              <a:t>Bdate</a:t>
            </a:r>
            <a:r>
              <a:rPr lang="en-US" dirty="0"/>
              <a:t>, Address}, … If a relation schema has more than one key, each is called a candidate key</a:t>
            </a:r>
          </a:p>
          <a:p>
            <a:r>
              <a:rPr lang="en-US" dirty="0"/>
              <a:t>one of the candidate keys is </a:t>
            </a:r>
            <a:r>
              <a:rPr lang="en-US" i="1" dirty="0"/>
              <a:t>arbitrarily </a:t>
            </a:r>
            <a:r>
              <a:rPr lang="en-US" dirty="0"/>
              <a:t>designated to be the primary key, and the others are called secondary keys</a:t>
            </a:r>
          </a:p>
          <a:p>
            <a:r>
              <a:rPr lang="en-US" dirty="0"/>
              <a:t>in a practical relational database, each relation schema must have a primary key; if no candidate key is known for a relation, the entire relation can be treated as a default </a:t>
            </a:r>
            <a:r>
              <a:rPr lang="en-US" dirty="0" err="1"/>
              <a:t>superkey</a:t>
            </a:r>
            <a:endParaRPr lang="en-US" dirty="0"/>
          </a:p>
        </p:txBody>
      </p:sp>
      <p:sp>
        <p:nvSpPr>
          <p:cNvPr id="4" name="Slide Number Placeholder 3">
            <a:extLst>
              <a:ext uri="{FF2B5EF4-FFF2-40B4-BE49-F238E27FC236}">
                <a16:creationId xmlns:a16="http://schemas.microsoft.com/office/drawing/2014/main" id="{95C12A0A-00E0-336E-4F31-2163BEA5147A}"/>
              </a:ext>
            </a:extLst>
          </p:cNvPr>
          <p:cNvSpPr>
            <a:spLocks noGrp="1"/>
          </p:cNvSpPr>
          <p:nvPr>
            <p:ph type="sldNum" sz="quarter" idx="12"/>
          </p:nvPr>
        </p:nvSpPr>
        <p:spPr/>
        <p:txBody>
          <a:bodyPr/>
          <a:lstStyle/>
          <a:p>
            <a:fld id="{6264BDCF-5269-49AC-A246-ED26C2B980E3}" type="slidenum">
              <a:rPr lang="en-US" smtClean="0"/>
              <a:t>77</a:t>
            </a:fld>
            <a:endParaRPr lang="en-US"/>
          </a:p>
        </p:txBody>
      </p:sp>
    </p:spTree>
    <p:extLst>
      <p:ext uri="{BB962C8B-B14F-4D97-AF65-F5344CB8AC3E}">
        <p14:creationId xmlns:p14="http://schemas.microsoft.com/office/powerpoint/2010/main" val="11058112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E6661-5FB9-B341-3F46-1652B654D9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DC7B0E-C5BD-E178-5944-E5154298D6A8}"/>
              </a:ext>
            </a:extLst>
          </p:cNvPr>
          <p:cNvSpPr>
            <a:spLocks noGrp="1"/>
          </p:cNvSpPr>
          <p:nvPr>
            <p:ph idx="1"/>
          </p:nvPr>
        </p:nvSpPr>
        <p:spPr/>
        <p:txBody>
          <a:bodyPr/>
          <a:lstStyle/>
          <a:p>
            <a:r>
              <a:rPr lang="en-US" dirty="0"/>
              <a:t>an attribute of relation schema </a:t>
            </a:r>
            <a:r>
              <a:rPr lang="en-US" i="1" dirty="0"/>
              <a:t>R </a:t>
            </a:r>
            <a:r>
              <a:rPr lang="en-US" dirty="0"/>
              <a:t>is called </a:t>
            </a:r>
            <a:r>
              <a:rPr lang="en-US" b="1" dirty="0"/>
              <a:t>prime attribute </a:t>
            </a:r>
            <a:r>
              <a:rPr lang="en-US" dirty="0"/>
              <a:t>of </a:t>
            </a:r>
            <a:r>
              <a:rPr lang="en-US" i="1" dirty="0"/>
              <a:t>R </a:t>
            </a:r>
            <a:r>
              <a:rPr lang="en-US" dirty="0"/>
              <a:t>if it is a member of </a:t>
            </a:r>
            <a:r>
              <a:rPr lang="en-US" i="1" dirty="0"/>
              <a:t>some candidate key </a:t>
            </a:r>
            <a:r>
              <a:rPr lang="en-US" dirty="0"/>
              <a:t>of </a:t>
            </a:r>
            <a:r>
              <a:rPr lang="en-US" i="1" dirty="0"/>
              <a:t>R</a:t>
            </a:r>
          </a:p>
          <a:p>
            <a:r>
              <a:rPr lang="en-US" dirty="0"/>
              <a:t>an attribute is called </a:t>
            </a:r>
            <a:r>
              <a:rPr lang="en-US" b="1" dirty="0"/>
              <a:t>nonprime </a:t>
            </a:r>
            <a:r>
              <a:rPr lang="en-US" dirty="0"/>
              <a:t>if it is not a prime attribute, that is, if it is not a member of any candidate key</a:t>
            </a:r>
          </a:p>
          <a:p>
            <a:endParaRPr lang="en-US" dirty="0"/>
          </a:p>
          <a:p>
            <a:r>
              <a:rPr lang="en-US" dirty="0" err="1"/>
              <a:t>Ssn</a:t>
            </a:r>
            <a:r>
              <a:rPr lang="en-US" dirty="0"/>
              <a:t> and </a:t>
            </a:r>
            <a:r>
              <a:rPr lang="en-US" dirty="0" err="1"/>
              <a:t>Pnumber</a:t>
            </a:r>
            <a:r>
              <a:rPr lang="en-US" dirty="0"/>
              <a:t> are prime attributes of WORKS_ON, other attributes of WORKS_ON are nonprime</a:t>
            </a:r>
          </a:p>
        </p:txBody>
      </p:sp>
      <p:sp>
        <p:nvSpPr>
          <p:cNvPr id="4" name="Slide Number Placeholder 3">
            <a:extLst>
              <a:ext uri="{FF2B5EF4-FFF2-40B4-BE49-F238E27FC236}">
                <a16:creationId xmlns:a16="http://schemas.microsoft.com/office/drawing/2014/main" id="{FD0AD942-0270-7EFE-8618-0C38476FEDFB}"/>
              </a:ext>
            </a:extLst>
          </p:cNvPr>
          <p:cNvSpPr>
            <a:spLocks noGrp="1"/>
          </p:cNvSpPr>
          <p:nvPr>
            <p:ph type="sldNum" sz="quarter" idx="12"/>
          </p:nvPr>
        </p:nvSpPr>
        <p:spPr/>
        <p:txBody>
          <a:bodyPr/>
          <a:lstStyle/>
          <a:p>
            <a:fld id="{6264BDCF-5269-49AC-A246-ED26C2B980E3}" type="slidenum">
              <a:rPr lang="en-US" smtClean="0"/>
              <a:t>78</a:t>
            </a:fld>
            <a:endParaRPr lang="en-US"/>
          </a:p>
        </p:txBody>
      </p:sp>
    </p:spTree>
    <p:extLst>
      <p:ext uri="{BB962C8B-B14F-4D97-AF65-F5344CB8AC3E}">
        <p14:creationId xmlns:p14="http://schemas.microsoft.com/office/powerpoint/2010/main" val="39487492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3AC5F-3331-376D-B5E9-18A20018B63C}"/>
              </a:ext>
            </a:extLst>
          </p:cNvPr>
          <p:cNvSpPr>
            <a:spLocks noGrp="1"/>
          </p:cNvSpPr>
          <p:nvPr>
            <p:ph type="title"/>
          </p:nvPr>
        </p:nvSpPr>
        <p:spPr/>
        <p:txBody>
          <a:bodyPr/>
          <a:lstStyle/>
          <a:p>
            <a:r>
              <a:rPr lang="en-US" dirty="0"/>
              <a:t>First Normal Form (1NF)</a:t>
            </a:r>
          </a:p>
        </p:txBody>
      </p:sp>
      <p:sp>
        <p:nvSpPr>
          <p:cNvPr id="3" name="Content Placeholder 2">
            <a:extLst>
              <a:ext uri="{FF2B5EF4-FFF2-40B4-BE49-F238E27FC236}">
                <a16:creationId xmlns:a16="http://schemas.microsoft.com/office/drawing/2014/main" id="{9C07D277-0199-B9BD-AB8B-E82FC2F572C0}"/>
              </a:ext>
            </a:extLst>
          </p:cNvPr>
          <p:cNvSpPr>
            <a:spLocks noGrp="1"/>
          </p:cNvSpPr>
          <p:nvPr>
            <p:ph idx="1"/>
          </p:nvPr>
        </p:nvSpPr>
        <p:spPr/>
        <p:txBody>
          <a:bodyPr>
            <a:normAutofit/>
          </a:bodyPr>
          <a:lstStyle/>
          <a:p>
            <a:r>
              <a:rPr lang="en-US" dirty="0"/>
              <a:t>is now considered to be part of formal definition of relation in the basic (flat) relational model</a:t>
            </a:r>
          </a:p>
          <a:p>
            <a:r>
              <a:rPr lang="en-US" dirty="0"/>
              <a:t>historically, it was defined to disallow multivalued attributes, composite attributes, and their combinations</a:t>
            </a:r>
          </a:p>
          <a:p>
            <a:r>
              <a:rPr lang="en-US" dirty="0"/>
              <a:t>states that the domain of an attribute must include only </a:t>
            </a:r>
            <a:r>
              <a:rPr lang="en-US" i="1" dirty="0"/>
              <a:t>atomic </a:t>
            </a:r>
            <a:r>
              <a:rPr lang="en-US" dirty="0"/>
              <a:t>(simple, indivisible) values</a:t>
            </a:r>
            <a:r>
              <a:rPr lang="en-US" i="1" dirty="0"/>
              <a:t> </a:t>
            </a:r>
            <a:r>
              <a:rPr lang="en-US" dirty="0"/>
              <a:t>and that value of any attribute in tuple must be a </a:t>
            </a:r>
            <a:r>
              <a:rPr lang="en-US" i="1" dirty="0"/>
              <a:t>single value </a:t>
            </a:r>
            <a:r>
              <a:rPr lang="en-US" dirty="0"/>
              <a:t>from the domain of that attribute</a:t>
            </a:r>
          </a:p>
          <a:p>
            <a:r>
              <a:rPr lang="en-US" dirty="0"/>
              <a:t>disallows having a set of values as attribute value for a single tuple</a:t>
            </a:r>
          </a:p>
        </p:txBody>
      </p:sp>
      <p:sp>
        <p:nvSpPr>
          <p:cNvPr id="4" name="Slide Number Placeholder 3">
            <a:extLst>
              <a:ext uri="{FF2B5EF4-FFF2-40B4-BE49-F238E27FC236}">
                <a16:creationId xmlns:a16="http://schemas.microsoft.com/office/drawing/2014/main" id="{6EBADDBE-40EB-C07D-AB79-803D2E3B22BF}"/>
              </a:ext>
            </a:extLst>
          </p:cNvPr>
          <p:cNvSpPr>
            <a:spLocks noGrp="1"/>
          </p:cNvSpPr>
          <p:nvPr>
            <p:ph type="sldNum" sz="quarter" idx="12"/>
          </p:nvPr>
        </p:nvSpPr>
        <p:spPr/>
        <p:txBody>
          <a:bodyPr/>
          <a:lstStyle/>
          <a:p>
            <a:fld id="{6264BDCF-5269-49AC-A246-ED26C2B980E3}" type="slidenum">
              <a:rPr lang="en-US" smtClean="0"/>
              <a:t>79</a:t>
            </a:fld>
            <a:endParaRPr lang="en-US"/>
          </a:p>
        </p:txBody>
      </p:sp>
    </p:spTree>
    <p:extLst>
      <p:ext uri="{BB962C8B-B14F-4D97-AF65-F5344CB8AC3E}">
        <p14:creationId xmlns:p14="http://schemas.microsoft.com/office/powerpoint/2010/main" val="17927122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B7F23-7288-C5D3-194A-C30B89F072C9}"/>
              </a:ext>
            </a:extLst>
          </p:cNvPr>
          <p:cNvSpPr>
            <a:spLocks noGrp="1"/>
          </p:cNvSpPr>
          <p:nvPr>
            <p:ph type="title"/>
          </p:nvPr>
        </p:nvSpPr>
        <p:spPr/>
        <p:txBody>
          <a:bodyPr/>
          <a:lstStyle/>
          <a:p>
            <a:r>
              <a:rPr lang="en-US" dirty="0"/>
              <a:t>First Normal Form (1NF)</a:t>
            </a:r>
          </a:p>
        </p:txBody>
      </p:sp>
      <p:sp>
        <p:nvSpPr>
          <p:cNvPr id="3" name="Content Placeholder 2">
            <a:extLst>
              <a:ext uri="{FF2B5EF4-FFF2-40B4-BE49-F238E27FC236}">
                <a16:creationId xmlns:a16="http://schemas.microsoft.com/office/drawing/2014/main" id="{BC9C95DA-F900-5650-83FD-3422836D7773}"/>
              </a:ext>
            </a:extLst>
          </p:cNvPr>
          <p:cNvSpPr>
            <a:spLocks noGrp="1"/>
          </p:cNvSpPr>
          <p:nvPr>
            <p:ph idx="1"/>
          </p:nvPr>
        </p:nvSpPr>
        <p:spPr/>
        <p:txBody>
          <a:bodyPr/>
          <a:lstStyle/>
          <a:p>
            <a:r>
              <a:rPr lang="en-US" dirty="0"/>
              <a:t>disallows relations within relations or relations as attribute values within tuples</a:t>
            </a:r>
          </a:p>
          <a:p>
            <a:r>
              <a:rPr lang="en-US" dirty="0"/>
              <a:t>only attribute values permitted by 1NF are single atomic values</a:t>
            </a:r>
          </a:p>
          <a:p>
            <a:endParaRPr lang="en-US" dirty="0"/>
          </a:p>
          <a:p>
            <a:r>
              <a:rPr lang="en-US" dirty="0" err="1"/>
              <a:t>PostGreSQL</a:t>
            </a:r>
            <a:r>
              <a:rPr lang="en-US" dirty="0"/>
              <a:t> allows columns of a table to be defined as variable-length multidimensional arrays</a:t>
            </a:r>
          </a:p>
        </p:txBody>
      </p:sp>
      <p:sp>
        <p:nvSpPr>
          <p:cNvPr id="4" name="Slide Number Placeholder 3">
            <a:extLst>
              <a:ext uri="{FF2B5EF4-FFF2-40B4-BE49-F238E27FC236}">
                <a16:creationId xmlns:a16="http://schemas.microsoft.com/office/drawing/2014/main" id="{33F2C79A-75B6-341F-793A-BAC04AC31A6B}"/>
              </a:ext>
            </a:extLst>
          </p:cNvPr>
          <p:cNvSpPr>
            <a:spLocks noGrp="1"/>
          </p:cNvSpPr>
          <p:nvPr>
            <p:ph type="sldNum" sz="quarter" idx="12"/>
          </p:nvPr>
        </p:nvSpPr>
        <p:spPr/>
        <p:txBody>
          <a:bodyPr/>
          <a:lstStyle/>
          <a:p>
            <a:fld id="{6264BDCF-5269-49AC-A246-ED26C2B980E3}" type="slidenum">
              <a:rPr lang="en-US" smtClean="0"/>
              <a:t>80</a:t>
            </a:fld>
            <a:endParaRPr lang="en-US"/>
          </a:p>
        </p:txBody>
      </p:sp>
    </p:spTree>
    <p:extLst>
      <p:ext uri="{BB962C8B-B14F-4D97-AF65-F5344CB8AC3E}">
        <p14:creationId xmlns:p14="http://schemas.microsoft.com/office/powerpoint/2010/main" val="42254250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2761A-AFE0-D1AA-CD00-795ED9E1E2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91F53A-C674-C165-4595-81EA2D425D9A}"/>
              </a:ext>
            </a:extLst>
          </p:cNvPr>
          <p:cNvSpPr>
            <a:spLocks noGrp="1"/>
          </p:cNvSpPr>
          <p:nvPr>
            <p:ph idx="1"/>
          </p:nvPr>
        </p:nvSpPr>
        <p:spPr/>
        <p:txBody>
          <a:bodyPr>
            <a:normAutofit/>
          </a:bodyPr>
          <a:lstStyle/>
          <a:p>
            <a:r>
              <a:rPr lang="en-US" dirty="0"/>
              <a:t>consider the DEPARTMENT relation schema </a:t>
            </a:r>
          </a:p>
          <a:p>
            <a:r>
              <a:rPr lang="en-US" dirty="0"/>
              <a:t>suppose that we extend it by including </a:t>
            </a:r>
            <a:r>
              <a:rPr lang="en-US" dirty="0" err="1"/>
              <a:t>Dlocations</a:t>
            </a:r>
            <a:r>
              <a:rPr lang="en-US" dirty="0"/>
              <a:t> attribute and assume that each department can have a number of locations</a:t>
            </a:r>
          </a:p>
          <a:p>
            <a:r>
              <a:rPr lang="en-US" dirty="0"/>
              <a:t>DEPARTMENT schema and sample relation state are shown next</a:t>
            </a:r>
          </a:p>
          <a:p>
            <a:r>
              <a:rPr lang="en-US" dirty="0"/>
              <a:t>this is not in 1NF because </a:t>
            </a:r>
            <a:r>
              <a:rPr lang="en-US" dirty="0" err="1"/>
              <a:t>Dlocations</a:t>
            </a:r>
            <a:r>
              <a:rPr lang="en-US" dirty="0"/>
              <a:t> is not an atomic attribute,</a:t>
            </a:r>
          </a:p>
        </p:txBody>
      </p:sp>
      <p:sp>
        <p:nvSpPr>
          <p:cNvPr id="4" name="Slide Number Placeholder 3">
            <a:extLst>
              <a:ext uri="{FF2B5EF4-FFF2-40B4-BE49-F238E27FC236}">
                <a16:creationId xmlns:a16="http://schemas.microsoft.com/office/drawing/2014/main" id="{A854F618-FB6C-A0FB-46C5-4FDE2F82575E}"/>
              </a:ext>
            </a:extLst>
          </p:cNvPr>
          <p:cNvSpPr>
            <a:spLocks noGrp="1"/>
          </p:cNvSpPr>
          <p:nvPr>
            <p:ph type="sldNum" sz="quarter" idx="12"/>
          </p:nvPr>
        </p:nvSpPr>
        <p:spPr/>
        <p:txBody>
          <a:bodyPr/>
          <a:lstStyle/>
          <a:p>
            <a:fld id="{6264BDCF-5269-49AC-A246-ED26C2B980E3}" type="slidenum">
              <a:rPr lang="en-US" smtClean="0"/>
              <a:t>81</a:t>
            </a:fld>
            <a:endParaRPr lang="en-US"/>
          </a:p>
        </p:txBody>
      </p:sp>
    </p:spTree>
    <p:extLst>
      <p:ext uri="{BB962C8B-B14F-4D97-AF65-F5344CB8AC3E}">
        <p14:creationId xmlns:p14="http://schemas.microsoft.com/office/powerpoint/2010/main" val="300611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4AB50-D9AA-DF66-186F-A985DC193CE1}"/>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ACE070E8-E3B2-6A6D-796F-5737361DA4B0}"/>
              </a:ext>
            </a:extLst>
          </p:cNvPr>
          <p:cNvPicPr>
            <a:picLocks noGrp="1" noChangeAspect="1"/>
          </p:cNvPicPr>
          <p:nvPr>
            <p:ph idx="1"/>
          </p:nvPr>
        </p:nvPicPr>
        <p:blipFill>
          <a:blip r:embed="rId2"/>
          <a:stretch>
            <a:fillRect/>
          </a:stretch>
        </p:blipFill>
        <p:spPr>
          <a:xfrm>
            <a:off x="914400" y="457200"/>
            <a:ext cx="8860694" cy="2073505"/>
          </a:xfrm>
          <a:prstGeom prst="rect">
            <a:avLst/>
          </a:prstGeom>
        </p:spPr>
      </p:pic>
      <p:sp>
        <p:nvSpPr>
          <p:cNvPr id="4" name="Slide Number Placeholder 3">
            <a:extLst>
              <a:ext uri="{FF2B5EF4-FFF2-40B4-BE49-F238E27FC236}">
                <a16:creationId xmlns:a16="http://schemas.microsoft.com/office/drawing/2014/main" id="{B9858854-5BF4-F941-94FA-1CAC1FED0D32}"/>
              </a:ext>
            </a:extLst>
          </p:cNvPr>
          <p:cNvSpPr>
            <a:spLocks noGrp="1"/>
          </p:cNvSpPr>
          <p:nvPr>
            <p:ph type="sldNum" sz="quarter" idx="12"/>
          </p:nvPr>
        </p:nvSpPr>
        <p:spPr/>
        <p:txBody>
          <a:bodyPr/>
          <a:lstStyle/>
          <a:p>
            <a:fld id="{6264BDCF-5269-49AC-A246-ED26C2B980E3}" type="slidenum">
              <a:rPr lang="en-US" smtClean="0"/>
              <a:t>82</a:t>
            </a:fld>
            <a:endParaRPr lang="en-US"/>
          </a:p>
        </p:txBody>
      </p:sp>
      <p:pic>
        <p:nvPicPr>
          <p:cNvPr id="7" name="Content Placeholder 5">
            <a:extLst>
              <a:ext uri="{FF2B5EF4-FFF2-40B4-BE49-F238E27FC236}">
                <a16:creationId xmlns:a16="http://schemas.microsoft.com/office/drawing/2014/main" id="{EB0B2824-1904-A84E-EA5E-7C8CBEA86AC4}"/>
              </a:ext>
            </a:extLst>
          </p:cNvPr>
          <p:cNvPicPr>
            <a:picLocks noChangeAspect="1"/>
          </p:cNvPicPr>
          <p:nvPr/>
        </p:nvPicPr>
        <p:blipFill>
          <a:blip r:embed="rId3"/>
          <a:stretch>
            <a:fillRect/>
          </a:stretch>
        </p:blipFill>
        <p:spPr>
          <a:xfrm>
            <a:off x="914400" y="3017520"/>
            <a:ext cx="11166021" cy="2717451"/>
          </a:xfrm>
          <a:prstGeom prst="rect">
            <a:avLst/>
          </a:prstGeom>
        </p:spPr>
      </p:pic>
    </p:spTree>
    <p:extLst>
      <p:ext uri="{BB962C8B-B14F-4D97-AF65-F5344CB8AC3E}">
        <p14:creationId xmlns:p14="http://schemas.microsoft.com/office/powerpoint/2010/main" val="42275306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908A3-60A5-FC4C-D2A2-FD4203C03551}"/>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DC2DF5F5-0063-EA43-A826-5BA9530B3E91}"/>
              </a:ext>
            </a:extLst>
          </p:cNvPr>
          <p:cNvSpPr>
            <a:spLocks noGrp="1"/>
          </p:cNvSpPr>
          <p:nvPr>
            <p:ph type="sldNum" sz="quarter" idx="12"/>
          </p:nvPr>
        </p:nvSpPr>
        <p:spPr/>
        <p:txBody>
          <a:bodyPr/>
          <a:lstStyle/>
          <a:p>
            <a:fld id="{6264BDCF-5269-49AC-A246-ED26C2B980E3}" type="slidenum">
              <a:rPr lang="en-US" smtClean="0"/>
              <a:t>83</a:t>
            </a:fld>
            <a:endParaRPr lang="en-US"/>
          </a:p>
        </p:txBody>
      </p:sp>
      <p:sp>
        <p:nvSpPr>
          <p:cNvPr id="8" name="Content Placeholder 7">
            <a:extLst>
              <a:ext uri="{FF2B5EF4-FFF2-40B4-BE49-F238E27FC236}">
                <a16:creationId xmlns:a16="http://schemas.microsoft.com/office/drawing/2014/main" id="{663290AD-9746-3FEF-8ED0-64B13ED4C2A5}"/>
              </a:ext>
            </a:extLst>
          </p:cNvPr>
          <p:cNvSpPr>
            <a:spLocks noGrp="1"/>
          </p:cNvSpPr>
          <p:nvPr>
            <p:ph idx="1"/>
          </p:nvPr>
        </p:nvSpPr>
        <p:spPr/>
        <p:txBody>
          <a:bodyPr>
            <a:normAutofit/>
          </a:bodyPr>
          <a:lstStyle/>
          <a:p>
            <a:pPr marL="514350" indent="-514350">
              <a:buFont typeface="+mj-lt"/>
              <a:buAutoNum type="arabicPeriod"/>
            </a:pPr>
            <a:r>
              <a:rPr lang="en-US" dirty="0"/>
              <a:t>domain of </a:t>
            </a:r>
            <a:r>
              <a:rPr lang="en-US" dirty="0" err="1"/>
              <a:t>Dlocations</a:t>
            </a:r>
            <a:r>
              <a:rPr lang="en-US" dirty="0"/>
              <a:t> contains atomic values, but some tuples can have set of these values; </a:t>
            </a:r>
            <a:r>
              <a:rPr lang="en-US" dirty="0" err="1"/>
              <a:t>Dlocations</a:t>
            </a:r>
            <a:r>
              <a:rPr lang="en-US" dirty="0"/>
              <a:t> is not functionally dependent on primary key </a:t>
            </a:r>
            <a:r>
              <a:rPr lang="en-US" dirty="0" err="1"/>
              <a:t>Dnumber</a:t>
            </a:r>
            <a:endParaRPr lang="en-US" dirty="0"/>
          </a:p>
          <a:p>
            <a:pPr marL="514350" indent="-514350">
              <a:buFont typeface="+mj-lt"/>
              <a:buAutoNum type="arabicPeriod"/>
            </a:pPr>
            <a:r>
              <a:rPr lang="en-US" dirty="0"/>
              <a:t>domain of </a:t>
            </a:r>
            <a:r>
              <a:rPr lang="en-US" dirty="0" err="1"/>
              <a:t>Dlocations</a:t>
            </a:r>
            <a:r>
              <a:rPr lang="en-US" dirty="0"/>
              <a:t> contains sets of values and hence is nonatomic; in this case, </a:t>
            </a:r>
            <a:r>
              <a:rPr lang="en-US" dirty="0" err="1"/>
              <a:t>Dnumber</a:t>
            </a:r>
            <a:r>
              <a:rPr lang="en-US" dirty="0"/>
              <a:t> → </a:t>
            </a:r>
            <a:r>
              <a:rPr lang="en-US" dirty="0" err="1"/>
              <a:t>Dlocations</a:t>
            </a:r>
            <a:r>
              <a:rPr lang="en-US" dirty="0"/>
              <a:t> because each set is considered a single member of attribute domain</a:t>
            </a:r>
          </a:p>
          <a:p>
            <a:r>
              <a:rPr lang="en-US" dirty="0"/>
              <a:t>in either case, DEPARTMENT relation is not in 1NF; in fact, it does not even qualify as a relation according to definition of relation</a:t>
            </a:r>
          </a:p>
          <a:p>
            <a:r>
              <a:rPr lang="en-US" dirty="0"/>
              <a:t>three main techniques to achieve first normal form for such a relation</a:t>
            </a:r>
          </a:p>
        </p:txBody>
      </p:sp>
    </p:spTree>
    <p:extLst>
      <p:ext uri="{BB962C8B-B14F-4D97-AF65-F5344CB8AC3E}">
        <p14:creationId xmlns:p14="http://schemas.microsoft.com/office/powerpoint/2010/main" val="13597290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883D5-7BF9-A25E-1A7C-F91D9995E6D2}"/>
              </a:ext>
            </a:extLst>
          </p:cNvPr>
          <p:cNvSpPr>
            <a:spLocks noGrp="1"/>
          </p:cNvSpPr>
          <p:nvPr>
            <p:ph type="title"/>
          </p:nvPr>
        </p:nvSpPr>
        <p:spPr/>
        <p:txBody>
          <a:bodyPr/>
          <a:lstStyle/>
          <a:p>
            <a:r>
              <a:rPr lang="en-US" dirty="0"/>
              <a:t>1. Normal</a:t>
            </a:r>
          </a:p>
        </p:txBody>
      </p:sp>
      <p:sp>
        <p:nvSpPr>
          <p:cNvPr id="3" name="Content Placeholder 2">
            <a:extLst>
              <a:ext uri="{FF2B5EF4-FFF2-40B4-BE49-F238E27FC236}">
                <a16:creationId xmlns:a16="http://schemas.microsoft.com/office/drawing/2014/main" id="{2DF05225-0272-F835-A2D3-071E8F361E15}"/>
              </a:ext>
            </a:extLst>
          </p:cNvPr>
          <p:cNvSpPr>
            <a:spLocks noGrp="1"/>
          </p:cNvSpPr>
          <p:nvPr>
            <p:ph idx="1"/>
          </p:nvPr>
        </p:nvSpPr>
        <p:spPr/>
        <p:txBody>
          <a:bodyPr/>
          <a:lstStyle/>
          <a:p>
            <a:r>
              <a:rPr lang="en-US" dirty="0"/>
              <a:t>remove attribute </a:t>
            </a:r>
            <a:r>
              <a:rPr lang="en-US" dirty="0" err="1"/>
              <a:t>Dlocations</a:t>
            </a:r>
            <a:r>
              <a:rPr lang="en-US" dirty="0"/>
              <a:t> that violates 1NF and place it in a separate relation DEPT_LOCATIONS along with primary key </a:t>
            </a:r>
            <a:r>
              <a:rPr lang="en-US" dirty="0" err="1"/>
              <a:t>Dnumber</a:t>
            </a:r>
            <a:r>
              <a:rPr lang="en-US" dirty="0"/>
              <a:t> of DEPARTMENT</a:t>
            </a:r>
          </a:p>
          <a:p>
            <a:r>
              <a:rPr lang="en-US" dirty="0"/>
              <a:t>primary key of this newly formed relation is the combination {</a:t>
            </a:r>
            <a:r>
              <a:rPr lang="en-US" dirty="0" err="1"/>
              <a:t>Dnumber</a:t>
            </a:r>
            <a:r>
              <a:rPr lang="en-US" dirty="0"/>
              <a:t>, </a:t>
            </a:r>
            <a:r>
              <a:rPr lang="en-US" dirty="0" err="1"/>
              <a:t>Dlocation</a:t>
            </a:r>
            <a:r>
              <a:rPr lang="en-US" dirty="0"/>
              <a:t>}</a:t>
            </a:r>
          </a:p>
          <a:p>
            <a:r>
              <a:rPr lang="en-US" dirty="0"/>
              <a:t>distinct tuple in DEPT_LOCATIONS exists for each location of a department</a:t>
            </a:r>
          </a:p>
          <a:p>
            <a:r>
              <a:rPr lang="en-US" dirty="0"/>
              <a:t>decomposes the non-1NF relation into two 1NF relations</a:t>
            </a:r>
          </a:p>
        </p:txBody>
      </p:sp>
      <p:sp>
        <p:nvSpPr>
          <p:cNvPr id="4" name="Slide Number Placeholder 3">
            <a:extLst>
              <a:ext uri="{FF2B5EF4-FFF2-40B4-BE49-F238E27FC236}">
                <a16:creationId xmlns:a16="http://schemas.microsoft.com/office/drawing/2014/main" id="{51DD46B4-1A6B-81EC-3AE5-55314E3BB68A}"/>
              </a:ext>
            </a:extLst>
          </p:cNvPr>
          <p:cNvSpPr>
            <a:spLocks noGrp="1"/>
          </p:cNvSpPr>
          <p:nvPr>
            <p:ph type="sldNum" sz="quarter" idx="12"/>
          </p:nvPr>
        </p:nvSpPr>
        <p:spPr/>
        <p:txBody>
          <a:bodyPr/>
          <a:lstStyle/>
          <a:p>
            <a:fld id="{6264BDCF-5269-49AC-A246-ED26C2B980E3}" type="slidenum">
              <a:rPr lang="en-US" smtClean="0"/>
              <a:t>84</a:t>
            </a:fld>
            <a:endParaRPr lang="en-US"/>
          </a:p>
        </p:txBody>
      </p:sp>
    </p:spTree>
    <p:extLst>
      <p:ext uri="{BB962C8B-B14F-4D97-AF65-F5344CB8AC3E}">
        <p14:creationId xmlns:p14="http://schemas.microsoft.com/office/powerpoint/2010/main" val="36614804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32789-889B-D68C-4E61-4A35370DC113}"/>
              </a:ext>
            </a:extLst>
          </p:cNvPr>
          <p:cNvSpPr>
            <a:spLocks noGrp="1"/>
          </p:cNvSpPr>
          <p:nvPr>
            <p:ph type="title"/>
          </p:nvPr>
        </p:nvSpPr>
        <p:spPr/>
        <p:txBody>
          <a:bodyPr/>
          <a:lstStyle/>
          <a:p>
            <a:endParaRPr lang="en-US" dirty="0"/>
          </a:p>
        </p:txBody>
      </p:sp>
      <p:pic>
        <p:nvPicPr>
          <p:cNvPr id="6" name="Content Placeholder 5">
            <a:extLst>
              <a:ext uri="{FF2B5EF4-FFF2-40B4-BE49-F238E27FC236}">
                <a16:creationId xmlns:a16="http://schemas.microsoft.com/office/drawing/2014/main" id="{8960C3B5-104C-C53E-B195-152E84DE35C8}"/>
              </a:ext>
            </a:extLst>
          </p:cNvPr>
          <p:cNvPicPr>
            <a:picLocks noGrp="1" noChangeAspect="1"/>
          </p:cNvPicPr>
          <p:nvPr>
            <p:ph idx="1"/>
          </p:nvPr>
        </p:nvPicPr>
        <p:blipFill>
          <a:blip r:embed="rId2"/>
          <a:stretch>
            <a:fillRect/>
          </a:stretch>
        </p:blipFill>
        <p:spPr>
          <a:xfrm>
            <a:off x="914400" y="2286000"/>
            <a:ext cx="10905775" cy="3050779"/>
          </a:xfrm>
          <a:prstGeom prst="rect">
            <a:avLst/>
          </a:prstGeom>
        </p:spPr>
      </p:pic>
      <p:sp>
        <p:nvSpPr>
          <p:cNvPr id="4" name="Slide Number Placeholder 3">
            <a:extLst>
              <a:ext uri="{FF2B5EF4-FFF2-40B4-BE49-F238E27FC236}">
                <a16:creationId xmlns:a16="http://schemas.microsoft.com/office/drawing/2014/main" id="{60849FE4-6392-3D33-9E9E-8539914199CF}"/>
              </a:ext>
            </a:extLst>
          </p:cNvPr>
          <p:cNvSpPr>
            <a:spLocks noGrp="1"/>
          </p:cNvSpPr>
          <p:nvPr>
            <p:ph type="sldNum" sz="quarter" idx="12"/>
          </p:nvPr>
        </p:nvSpPr>
        <p:spPr/>
        <p:txBody>
          <a:bodyPr/>
          <a:lstStyle/>
          <a:p>
            <a:fld id="{6264BDCF-5269-49AC-A246-ED26C2B980E3}" type="slidenum">
              <a:rPr lang="en-US" smtClean="0"/>
              <a:t>85</a:t>
            </a:fld>
            <a:endParaRPr lang="en-US"/>
          </a:p>
        </p:txBody>
      </p:sp>
    </p:spTree>
    <p:extLst>
      <p:ext uri="{BB962C8B-B14F-4D97-AF65-F5344CB8AC3E}">
        <p14:creationId xmlns:p14="http://schemas.microsoft.com/office/powerpoint/2010/main" val="8346102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2ACCA-35A0-50CB-7AF7-3EA706D30874}"/>
              </a:ext>
            </a:extLst>
          </p:cNvPr>
          <p:cNvSpPr>
            <a:spLocks noGrp="1"/>
          </p:cNvSpPr>
          <p:nvPr>
            <p:ph type="title"/>
          </p:nvPr>
        </p:nvSpPr>
        <p:spPr>
          <a:xfrm>
            <a:off x="838200" y="365125"/>
            <a:ext cx="10515600" cy="1217869"/>
          </a:xfrm>
        </p:spPr>
        <p:txBody>
          <a:bodyPr/>
          <a:lstStyle/>
          <a:p>
            <a:r>
              <a:rPr lang="en-US" dirty="0"/>
              <a:t>2. </a:t>
            </a:r>
            <a:r>
              <a:rPr lang="en-US" dirty="0" err="1"/>
              <a:t>DeNormalize</a:t>
            </a:r>
            <a:r>
              <a:rPr lang="en-US" dirty="0"/>
              <a:t> - redundancy</a:t>
            </a:r>
          </a:p>
        </p:txBody>
      </p:sp>
      <p:sp>
        <p:nvSpPr>
          <p:cNvPr id="3" name="Content Placeholder 2">
            <a:extLst>
              <a:ext uri="{FF2B5EF4-FFF2-40B4-BE49-F238E27FC236}">
                <a16:creationId xmlns:a16="http://schemas.microsoft.com/office/drawing/2014/main" id="{376613BF-FFFA-5C13-295A-97C1EAA7DBAB}"/>
              </a:ext>
            </a:extLst>
          </p:cNvPr>
          <p:cNvSpPr>
            <a:spLocks noGrp="1"/>
          </p:cNvSpPr>
          <p:nvPr>
            <p:ph idx="1"/>
          </p:nvPr>
        </p:nvSpPr>
        <p:spPr>
          <a:xfrm>
            <a:off x="838200" y="1160206"/>
            <a:ext cx="10515600" cy="5016757"/>
          </a:xfrm>
        </p:spPr>
        <p:txBody>
          <a:bodyPr/>
          <a:lstStyle/>
          <a:p>
            <a:r>
              <a:rPr lang="en-US" dirty="0"/>
              <a:t>expand the key so that there will be a separate tuple in original DEPARTMENT relation for each location of a DEPARTMENT</a:t>
            </a:r>
          </a:p>
          <a:p>
            <a:r>
              <a:rPr lang="en-US" dirty="0"/>
              <a:t>primary key becomes the combination {</a:t>
            </a:r>
            <a:r>
              <a:rPr lang="en-US" dirty="0" err="1"/>
              <a:t>Dnumber</a:t>
            </a:r>
            <a:r>
              <a:rPr lang="en-US" dirty="0"/>
              <a:t>, </a:t>
            </a:r>
            <a:r>
              <a:rPr lang="en-US" dirty="0" err="1"/>
              <a:t>Dlocation</a:t>
            </a:r>
            <a:r>
              <a:rPr lang="en-US" dirty="0"/>
              <a:t>}</a:t>
            </a:r>
          </a:p>
          <a:p>
            <a:r>
              <a:rPr lang="en-US" dirty="0"/>
              <a:t>solution has the disadvantage of introducing </a:t>
            </a:r>
            <a:r>
              <a:rPr lang="en-US" i="1" dirty="0"/>
              <a:t>redundancy </a:t>
            </a:r>
            <a:r>
              <a:rPr lang="en-US" dirty="0"/>
              <a:t>in the relation and hence is rarely adopted</a:t>
            </a:r>
          </a:p>
        </p:txBody>
      </p:sp>
      <p:sp>
        <p:nvSpPr>
          <p:cNvPr id="4" name="Slide Number Placeholder 3">
            <a:extLst>
              <a:ext uri="{FF2B5EF4-FFF2-40B4-BE49-F238E27FC236}">
                <a16:creationId xmlns:a16="http://schemas.microsoft.com/office/drawing/2014/main" id="{2B3D2AE7-D3DB-F6BD-E710-518DA193628F}"/>
              </a:ext>
            </a:extLst>
          </p:cNvPr>
          <p:cNvSpPr>
            <a:spLocks noGrp="1"/>
          </p:cNvSpPr>
          <p:nvPr>
            <p:ph type="sldNum" sz="quarter" idx="12"/>
          </p:nvPr>
        </p:nvSpPr>
        <p:spPr/>
        <p:txBody>
          <a:bodyPr/>
          <a:lstStyle/>
          <a:p>
            <a:fld id="{6264BDCF-5269-49AC-A246-ED26C2B980E3}" type="slidenum">
              <a:rPr lang="en-US" smtClean="0"/>
              <a:t>86</a:t>
            </a:fld>
            <a:endParaRPr lang="en-US"/>
          </a:p>
        </p:txBody>
      </p:sp>
      <p:pic>
        <p:nvPicPr>
          <p:cNvPr id="6" name="Content Placeholder 5">
            <a:extLst>
              <a:ext uri="{FF2B5EF4-FFF2-40B4-BE49-F238E27FC236}">
                <a16:creationId xmlns:a16="http://schemas.microsoft.com/office/drawing/2014/main" id="{299664A8-A012-FAF9-357C-FCFF1E72B2A5}"/>
              </a:ext>
            </a:extLst>
          </p:cNvPr>
          <p:cNvPicPr>
            <a:picLocks noChangeAspect="1"/>
          </p:cNvPicPr>
          <p:nvPr/>
        </p:nvPicPr>
        <p:blipFill>
          <a:blip r:embed="rId2"/>
          <a:stretch>
            <a:fillRect/>
          </a:stretch>
        </p:blipFill>
        <p:spPr>
          <a:xfrm>
            <a:off x="1097276" y="3383278"/>
            <a:ext cx="7242676" cy="3303099"/>
          </a:xfrm>
          <a:prstGeom prst="rect">
            <a:avLst/>
          </a:prstGeom>
        </p:spPr>
      </p:pic>
    </p:spTree>
    <p:extLst>
      <p:ext uri="{BB962C8B-B14F-4D97-AF65-F5344CB8AC3E}">
        <p14:creationId xmlns:p14="http://schemas.microsoft.com/office/powerpoint/2010/main" val="42232045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2E200-47C5-9384-E28B-CC6705A5BF6D}"/>
              </a:ext>
            </a:extLst>
          </p:cNvPr>
          <p:cNvSpPr>
            <a:spLocks noGrp="1"/>
          </p:cNvSpPr>
          <p:nvPr>
            <p:ph type="title"/>
          </p:nvPr>
        </p:nvSpPr>
        <p:spPr/>
        <p:txBody>
          <a:bodyPr/>
          <a:lstStyle/>
          <a:p>
            <a:r>
              <a:rPr lang="en-US" dirty="0"/>
              <a:t>3.</a:t>
            </a:r>
          </a:p>
        </p:txBody>
      </p:sp>
      <p:sp>
        <p:nvSpPr>
          <p:cNvPr id="4" name="Slide Number Placeholder 3">
            <a:extLst>
              <a:ext uri="{FF2B5EF4-FFF2-40B4-BE49-F238E27FC236}">
                <a16:creationId xmlns:a16="http://schemas.microsoft.com/office/drawing/2014/main" id="{4083FBF6-177E-7DBC-F02D-C001B48E2557}"/>
              </a:ext>
            </a:extLst>
          </p:cNvPr>
          <p:cNvSpPr>
            <a:spLocks noGrp="1"/>
          </p:cNvSpPr>
          <p:nvPr>
            <p:ph type="sldNum" sz="quarter" idx="12"/>
          </p:nvPr>
        </p:nvSpPr>
        <p:spPr/>
        <p:txBody>
          <a:bodyPr/>
          <a:lstStyle/>
          <a:p>
            <a:fld id="{6264BDCF-5269-49AC-A246-ED26C2B980E3}" type="slidenum">
              <a:rPr lang="en-US" smtClean="0"/>
              <a:t>87</a:t>
            </a:fld>
            <a:endParaRPr lang="en-US"/>
          </a:p>
        </p:txBody>
      </p:sp>
      <p:sp>
        <p:nvSpPr>
          <p:cNvPr id="8" name="Content Placeholder 7">
            <a:extLst>
              <a:ext uri="{FF2B5EF4-FFF2-40B4-BE49-F238E27FC236}">
                <a16:creationId xmlns:a16="http://schemas.microsoft.com/office/drawing/2014/main" id="{ECCC7A71-019F-C76D-41D7-115218CB5A71}"/>
              </a:ext>
            </a:extLst>
          </p:cNvPr>
          <p:cNvSpPr>
            <a:spLocks noGrp="1"/>
          </p:cNvSpPr>
          <p:nvPr>
            <p:ph idx="1"/>
          </p:nvPr>
        </p:nvSpPr>
        <p:spPr/>
        <p:txBody>
          <a:bodyPr>
            <a:normAutofit/>
          </a:bodyPr>
          <a:lstStyle/>
          <a:p>
            <a:r>
              <a:rPr lang="en-US" dirty="0"/>
              <a:t>if a maximum number of values is known for the attribute, replace the </a:t>
            </a:r>
            <a:r>
              <a:rPr lang="en-US" dirty="0" err="1"/>
              <a:t>Dlocations</a:t>
            </a:r>
            <a:r>
              <a:rPr lang="en-US" dirty="0"/>
              <a:t> attribute by three atomic attributes: Dlocation1, Dlocation2, and Dlocation3</a:t>
            </a:r>
          </a:p>
          <a:p>
            <a:r>
              <a:rPr lang="en-US" dirty="0"/>
              <a:t>solution has the disadvantage of introducing NULL values if most departments have fewer than three locations</a:t>
            </a:r>
          </a:p>
          <a:p>
            <a:r>
              <a:rPr lang="en-US" dirty="0"/>
              <a:t>further introduces spurious semantics about the ordering among the location values; that ordering is not originally intended</a:t>
            </a:r>
          </a:p>
          <a:p>
            <a:r>
              <a:rPr lang="en-US" dirty="0"/>
              <a:t>querying on this attribute becomes more difficult</a:t>
            </a:r>
          </a:p>
          <a:p>
            <a:r>
              <a:rPr lang="en-US" dirty="0"/>
              <a:t>for all these reasons, it is best to avoid this alternative</a:t>
            </a:r>
          </a:p>
        </p:txBody>
      </p:sp>
    </p:spTree>
    <p:extLst>
      <p:ext uri="{BB962C8B-B14F-4D97-AF65-F5344CB8AC3E}">
        <p14:creationId xmlns:p14="http://schemas.microsoft.com/office/powerpoint/2010/main" val="399427484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F08F2-19BF-D862-84E4-CD887CC666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EAE3DF2-0CA9-94C8-D4C8-6014D6D8C16E}"/>
              </a:ext>
            </a:extLst>
          </p:cNvPr>
          <p:cNvSpPr>
            <a:spLocks noGrp="1"/>
          </p:cNvSpPr>
          <p:nvPr>
            <p:ph idx="1"/>
          </p:nvPr>
        </p:nvSpPr>
        <p:spPr/>
        <p:txBody>
          <a:bodyPr/>
          <a:lstStyle/>
          <a:p>
            <a:r>
              <a:rPr lang="en-US" dirty="0"/>
              <a:t>MongoDB allow nested documents / relations / </a:t>
            </a:r>
            <a:r>
              <a:rPr lang="en-US" dirty="0" err="1"/>
              <a:t>entitites</a:t>
            </a:r>
            <a:endParaRPr lang="en-US" dirty="0"/>
          </a:p>
          <a:p>
            <a:r>
              <a:rPr lang="en-US" dirty="0"/>
              <a:t>in MongoDB, nested documents are documents embedded within other documents, allowing you to create complex, hierarchical data structures</a:t>
            </a:r>
          </a:p>
          <a:p>
            <a:r>
              <a:rPr lang="en-US" dirty="0"/>
              <a:t>unlike traditional relational databases, MongoDB provides native support for nested data, which offers greater flexibility in data modeling</a:t>
            </a:r>
          </a:p>
        </p:txBody>
      </p:sp>
      <p:sp>
        <p:nvSpPr>
          <p:cNvPr id="4" name="Slide Number Placeholder 3">
            <a:extLst>
              <a:ext uri="{FF2B5EF4-FFF2-40B4-BE49-F238E27FC236}">
                <a16:creationId xmlns:a16="http://schemas.microsoft.com/office/drawing/2014/main" id="{0F51749E-B648-AEE0-E1C3-8B8ECA22F3FD}"/>
              </a:ext>
            </a:extLst>
          </p:cNvPr>
          <p:cNvSpPr>
            <a:spLocks noGrp="1"/>
          </p:cNvSpPr>
          <p:nvPr>
            <p:ph type="sldNum" sz="quarter" idx="12"/>
          </p:nvPr>
        </p:nvSpPr>
        <p:spPr/>
        <p:txBody>
          <a:bodyPr/>
          <a:lstStyle/>
          <a:p>
            <a:fld id="{6264BDCF-5269-49AC-A246-ED26C2B980E3}" type="slidenum">
              <a:rPr lang="en-US" smtClean="0"/>
              <a:t>88</a:t>
            </a:fld>
            <a:endParaRPr lang="en-US"/>
          </a:p>
        </p:txBody>
      </p:sp>
    </p:spTree>
    <p:extLst>
      <p:ext uri="{BB962C8B-B14F-4D97-AF65-F5344CB8AC3E}">
        <p14:creationId xmlns:p14="http://schemas.microsoft.com/office/powerpoint/2010/main" val="388383997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E348A-ED4D-19E4-97E1-03AFA0BEF3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0C4318-682B-01EE-2783-79212640BF54}"/>
              </a:ext>
            </a:extLst>
          </p:cNvPr>
          <p:cNvSpPr>
            <a:spLocks noGrp="1"/>
          </p:cNvSpPr>
          <p:nvPr>
            <p:ph idx="1"/>
          </p:nvPr>
        </p:nvSpPr>
        <p:spPr/>
        <p:txBody>
          <a:bodyPr>
            <a:normAutofit/>
          </a:bodyPr>
          <a:lstStyle/>
          <a:p>
            <a:r>
              <a:rPr lang="en-US" dirty="0"/>
              <a:t>relations that involve attributes that go beyond just numeric and character string data - it is becoming common in today’s databases to incorporate images, documents, video / audio clips, ... </a:t>
            </a:r>
          </a:p>
          <a:p>
            <a:r>
              <a:rPr lang="en-US" dirty="0"/>
              <a:t>when these are stored in relation, the entire object or file is treated as atomic value, which is stored as a BLOB (Binary Large </a:t>
            </a:r>
            <a:r>
              <a:rPr lang="en-US" dirty="0" err="1"/>
              <a:t>OBject</a:t>
            </a:r>
            <a:r>
              <a:rPr lang="en-US" dirty="0"/>
              <a:t>) or CLOB (Character Large </a:t>
            </a:r>
            <a:r>
              <a:rPr lang="en-US" dirty="0" err="1"/>
              <a:t>OBject</a:t>
            </a:r>
            <a:r>
              <a:rPr lang="en-US" dirty="0"/>
              <a:t>) data type using SQL</a:t>
            </a:r>
          </a:p>
          <a:p>
            <a:r>
              <a:rPr lang="en-US" dirty="0"/>
              <a:t>such object is treated as an atomic, single-valued attribute and hence it maintains the 1NF status of the relation</a:t>
            </a:r>
          </a:p>
        </p:txBody>
      </p:sp>
      <p:sp>
        <p:nvSpPr>
          <p:cNvPr id="4" name="Slide Number Placeholder 3">
            <a:extLst>
              <a:ext uri="{FF2B5EF4-FFF2-40B4-BE49-F238E27FC236}">
                <a16:creationId xmlns:a16="http://schemas.microsoft.com/office/drawing/2014/main" id="{0007042D-4C58-5F37-FC93-1230A4953DD1}"/>
              </a:ext>
            </a:extLst>
          </p:cNvPr>
          <p:cNvSpPr>
            <a:spLocks noGrp="1"/>
          </p:cNvSpPr>
          <p:nvPr>
            <p:ph type="sldNum" sz="quarter" idx="12"/>
          </p:nvPr>
        </p:nvSpPr>
        <p:spPr/>
        <p:txBody>
          <a:bodyPr/>
          <a:lstStyle/>
          <a:p>
            <a:fld id="{6264BDCF-5269-49AC-A246-ED26C2B980E3}" type="slidenum">
              <a:rPr lang="en-US" smtClean="0"/>
              <a:t>89</a:t>
            </a:fld>
            <a:endParaRPr lang="en-US"/>
          </a:p>
        </p:txBody>
      </p:sp>
    </p:spTree>
    <p:extLst>
      <p:ext uri="{BB962C8B-B14F-4D97-AF65-F5344CB8AC3E}">
        <p14:creationId xmlns:p14="http://schemas.microsoft.com/office/powerpoint/2010/main" val="22708902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8C328-B73D-0D2B-690C-20ACAA3798C4}"/>
              </a:ext>
            </a:extLst>
          </p:cNvPr>
          <p:cNvSpPr>
            <a:spLocks noGrp="1"/>
          </p:cNvSpPr>
          <p:nvPr>
            <p:ph type="title"/>
          </p:nvPr>
        </p:nvSpPr>
        <p:spPr/>
        <p:txBody>
          <a:bodyPr/>
          <a:lstStyle/>
          <a:p>
            <a:r>
              <a:rPr lang="en-US" dirty="0"/>
              <a:t>Second Normal Form (2NF)</a:t>
            </a:r>
          </a:p>
        </p:txBody>
      </p:sp>
      <p:sp>
        <p:nvSpPr>
          <p:cNvPr id="3" name="Content Placeholder 2">
            <a:extLst>
              <a:ext uri="{FF2B5EF4-FFF2-40B4-BE49-F238E27FC236}">
                <a16:creationId xmlns:a16="http://schemas.microsoft.com/office/drawing/2014/main" id="{A909972B-0EE4-04E2-BA25-B0D449AE94C8}"/>
              </a:ext>
            </a:extLst>
          </p:cNvPr>
          <p:cNvSpPr>
            <a:spLocks noGrp="1"/>
          </p:cNvSpPr>
          <p:nvPr>
            <p:ph idx="1"/>
          </p:nvPr>
        </p:nvSpPr>
        <p:spPr/>
        <p:txBody>
          <a:bodyPr>
            <a:normAutofit/>
          </a:bodyPr>
          <a:lstStyle/>
          <a:p>
            <a:r>
              <a:rPr lang="en-US" dirty="0"/>
              <a:t>based on the concept of </a:t>
            </a:r>
            <a:r>
              <a:rPr lang="en-US" i="1" dirty="0"/>
              <a:t>full functional dependency – </a:t>
            </a:r>
            <a:r>
              <a:rPr lang="en-US" dirty="0"/>
              <a:t>a functional dependency </a:t>
            </a:r>
            <a:r>
              <a:rPr lang="en-US" i="1" dirty="0"/>
              <a:t>X </a:t>
            </a:r>
            <a:r>
              <a:rPr lang="en-US" dirty="0"/>
              <a:t>→ </a:t>
            </a:r>
            <a:r>
              <a:rPr lang="en-US" i="1" dirty="0"/>
              <a:t>Y </a:t>
            </a:r>
            <a:r>
              <a:rPr lang="en-US" dirty="0"/>
              <a:t>is a full functional dependency</a:t>
            </a:r>
            <a:r>
              <a:rPr lang="en-US" b="1" dirty="0"/>
              <a:t> </a:t>
            </a:r>
            <a:r>
              <a:rPr lang="en-US" dirty="0"/>
              <a:t>if removal of any attribute </a:t>
            </a:r>
            <a:r>
              <a:rPr lang="en-US" i="1" dirty="0"/>
              <a:t>A </a:t>
            </a:r>
            <a:r>
              <a:rPr lang="en-US" dirty="0"/>
              <a:t>from </a:t>
            </a:r>
            <a:r>
              <a:rPr lang="en-US" i="1" dirty="0"/>
              <a:t>X </a:t>
            </a:r>
            <a:r>
              <a:rPr lang="en-US" dirty="0"/>
              <a:t>means that the dependency does not hold anymore</a:t>
            </a:r>
          </a:p>
          <a:p>
            <a:r>
              <a:rPr lang="en-US" dirty="0"/>
              <a:t>for any attribute </a:t>
            </a:r>
            <a:r>
              <a:rPr lang="en-US" i="1" dirty="0"/>
              <a:t>A </a:t>
            </a:r>
            <a:r>
              <a:rPr lang="en-US" sz="3800" dirty="0"/>
              <a:t>ε</a:t>
            </a:r>
            <a:r>
              <a:rPr lang="en-US" dirty="0"/>
              <a:t> </a:t>
            </a:r>
            <a:r>
              <a:rPr lang="en-US" i="1" dirty="0"/>
              <a:t>X</a:t>
            </a:r>
            <a:r>
              <a:rPr lang="en-US" dirty="0"/>
              <a:t>, (</a:t>
            </a:r>
            <a:r>
              <a:rPr lang="en-US" i="1" dirty="0"/>
              <a:t>X </a:t>
            </a:r>
            <a:r>
              <a:rPr lang="en-US" dirty="0"/>
              <a:t>− {</a:t>
            </a:r>
            <a:r>
              <a:rPr lang="en-US" i="1" dirty="0"/>
              <a:t>A</a:t>
            </a:r>
            <a:r>
              <a:rPr lang="en-US" dirty="0"/>
              <a:t>}) does not</a:t>
            </a:r>
            <a:r>
              <a:rPr lang="en-US" i="1" dirty="0"/>
              <a:t> </a:t>
            </a:r>
            <a:r>
              <a:rPr lang="en-US" dirty="0"/>
              <a:t>functionally determine </a:t>
            </a:r>
            <a:r>
              <a:rPr lang="en-US" i="1" dirty="0"/>
              <a:t>Y</a:t>
            </a:r>
          </a:p>
          <a:p>
            <a:r>
              <a:rPr lang="en-US" dirty="0"/>
              <a:t>a functional dependency </a:t>
            </a:r>
            <a:r>
              <a:rPr lang="en-US" i="1" dirty="0"/>
              <a:t>X </a:t>
            </a:r>
            <a:r>
              <a:rPr lang="en-US" dirty="0"/>
              <a:t>→ </a:t>
            </a:r>
            <a:r>
              <a:rPr lang="en-US" i="1" dirty="0"/>
              <a:t>Y </a:t>
            </a:r>
            <a:r>
              <a:rPr lang="en-US" dirty="0"/>
              <a:t>is a </a:t>
            </a:r>
            <a:r>
              <a:rPr lang="en-US" i="1" dirty="0"/>
              <a:t>partial dependency</a:t>
            </a:r>
            <a:r>
              <a:rPr lang="en-US" b="1" dirty="0"/>
              <a:t> </a:t>
            </a:r>
            <a:r>
              <a:rPr lang="en-US" dirty="0"/>
              <a:t>if some attribute </a:t>
            </a:r>
            <a:r>
              <a:rPr lang="en-US" i="1" dirty="0"/>
              <a:t>A </a:t>
            </a:r>
            <a:r>
              <a:rPr lang="en-US" sz="3800" dirty="0"/>
              <a:t>ε</a:t>
            </a:r>
            <a:r>
              <a:rPr lang="en-US" dirty="0"/>
              <a:t> </a:t>
            </a:r>
            <a:r>
              <a:rPr lang="en-US" i="1" dirty="0"/>
              <a:t>X </a:t>
            </a:r>
            <a:r>
              <a:rPr lang="en-US" dirty="0"/>
              <a:t>can be removed from </a:t>
            </a:r>
            <a:r>
              <a:rPr lang="en-US" i="1" dirty="0"/>
              <a:t>X </a:t>
            </a:r>
            <a:r>
              <a:rPr lang="en-US" dirty="0"/>
              <a:t>and dependency still holds</a:t>
            </a:r>
          </a:p>
          <a:p>
            <a:r>
              <a:rPr lang="en-US" dirty="0"/>
              <a:t>for some </a:t>
            </a:r>
            <a:r>
              <a:rPr lang="en-US" i="1" dirty="0"/>
              <a:t>A </a:t>
            </a:r>
            <a:r>
              <a:rPr lang="en-US" sz="3800" dirty="0"/>
              <a:t>ε</a:t>
            </a:r>
            <a:r>
              <a:rPr lang="en-US" dirty="0"/>
              <a:t> </a:t>
            </a:r>
            <a:r>
              <a:rPr lang="en-US" i="1" dirty="0"/>
              <a:t>X</a:t>
            </a:r>
            <a:r>
              <a:rPr lang="en-US" dirty="0"/>
              <a:t>, (</a:t>
            </a:r>
            <a:r>
              <a:rPr lang="en-US" i="1" dirty="0"/>
              <a:t>X </a:t>
            </a:r>
            <a:r>
              <a:rPr lang="en-US" dirty="0"/>
              <a:t>− {</a:t>
            </a:r>
            <a:r>
              <a:rPr lang="en-US" i="1" dirty="0"/>
              <a:t>A</a:t>
            </a:r>
            <a:r>
              <a:rPr lang="en-US" dirty="0"/>
              <a:t>}) → </a:t>
            </a:r>
            <a:r>
              <a:rPr lang="en-US" i="1" dirty="0"/>
              <a:t>Y</a:t>
            </a:r>
          </a:p>
        </p:txBody>
      </p:sp>
      <p:sp>
        <p:nvSpPr>
          <p:cNvPr id="4" name="Slide Number Placeholder 3">
            <a:extLst>
              <a:ext uri="{FF2B5EF4-FFF2-40B4-BE49-F238E27FC236}">
                <a16:creationId xmlns:a16="http://schemas.microsoft.com/office/drawing/2014/main" id="{9EEC2B78-3E32-994F-07C2-4443BB7A372C}"/>
              </a:ext>
            </a:extLst>
          </p:cNvPr>
          <p:cNvSpPr>
            <a:spLocks noGrp="1"/>
          </p:cNvSpPr>
          <p:nvPr>
            <p:ph type="sldNum" sz="quarter" idx="12"/>
          </p:nvPr>
        </p:nvSpPr>
        <p:spPr/>
        <p:txBody>
          <a:bodyPr/>
          <a:lstStyle/>
          <a:p>
            <a:fld id="{6264BDCF-5269-49AC-A246-ED26C2B980E3}" type="slidenum">
              <a:rPr lang="en-US" smtClean="0"/>
              <a:t>90</a:t>
            </a:fld>
            <a:endParaRPr lang="en-US"/>
          </a:p>
        </p:txBody>
      </p:sp>
    </p:spTree>
    <p:extLst>
      <p:ext uri="{BB962C8B-B14F-4D97-AF65-F5344CB8AC3E}">
        <p14:creationId xmlns:p14="http://schemas.microsoft.com/office/powerpoint/2010/main" val="128208905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3BD8C-E1F2-F5E5-1742-C9F5112E90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F958859-3C00-B5AE-1C65-75B4B265749D}"/>
              </a:ext>
            </a:extLst>
          </p:cNvPr>
          <p:cNvSpPr>
            <a:spLocks noGrp="1"/>
          </p:cNvSpPr>
          <p:nvPr>
            <p:ph idx="1"/>
          </p:nvPr>
        </p:nvSpPr>
        <p:spPr/>
        <p:txBody>
          <a:bodyPr>
            <a:normAutofit/>
          </a:bodyPr>
          <a:lstStyle/>
          <a:p>
            <a:r>
              <a:rPr lang="en-US" dirty="0"/>
              <a:t>{</a:t>
            </a:r>
            <a:r>
              <a:rPr lang="en-US" dirty="0" err="1"/>
              <a:t>Ssn</a:t>
            </a:r>
            <a:r>
              <a:rPr lang="en-US" dirty="0"/>
              <a:t>, </a:t>
            </a:r>
            <a:r>
              <a:rPr lang="en-US" dirty="0" err="1"/>
              <a:t>Pnumber</a:t>
            </a:r>
            <a:r>
              <a:rPr lang="en-US" dirty="0"/>
              <a:t>} → Hours is a full dependency (neither </a:t>
            </a:r>
            <a:r>
              <a:rPr lang="en-US" dirty="0" err="1"/>
              <a:t>Ssn</a:t>
            </a:r>
            <a:r>
              <a:rPr lang="en-US" dirty="0"/>
              <a:t> → Hours nor </a:t>
            </a:r>
            <a:r>
              <a:rPr lang="en-US" dirty="0" err="1"/>
              <a:t>Pnumber</a:t>
            </a:r>
            <a:r>
              <a:rPr lang="en-US" dirty="0"/>
              <a:t> → Hours holds)</a:t>
            </a:r>
          </a:p>
          <a:p>
            <a:r>
              <a:rPr lang="en-US" dirty="0"/>
              <a:t>{</a:t>
            </a:r>
            <a:r>
              <a:rPr lang="en-US" dirty="0" err="1"/>
              <a:t>Ssn</a:t>
            </a:r>
            <a:r>
              <a:rPr lang="en-US" dirty="0"/>
              <a:t>, </a:t>
            </a:r>
            <a:r>
              <a:rPr lang="en-US" dirty="0" err="1"/>
              <a:t>Pnumber</a:t>
            </a:r>
            <a:r>
              <a:rPr lang="en-US" dirty="0"/>
              <a:t>} → </a:t>
            </a:r>
            <a:r>
              <a:rPr lang="en-US" dirty="0" err="1"/>
              <a:t>Ename</a:t>
            </a:r>
            <a:r>
              <a:rPr lang="en-US" dirty="0"/>
              <a:t> is partial dependency because </a:t>
            </a:r>
            <a:r>
              <a:rPr lang="en-US" dirty="0" err="1"/>
              <a:t>Ssn</a:t>
            </a:r>
            <a:r>
              <a:rPr lang="en-US" dirty="0"/>
              <a:t> → </a:t>
            </a:r>
            <a:r>
              <a:rPr lang="en-US" dirty="0" err="1"/>
              <a:t>Ename</a:t>
            </a:r>
            <a:r>
              <a:rPr lang="en-US" dirty="0"/>
              <a:t> holds</a:t>
            </a:r>
          </a:p>
          <a:p>
            <a:endParaRPr lang="en-US" dirty="0"/>
          </a:p>
        </p:txBody>
      </p:sp>
      <p:sp>
        <p:nvSpPr>
          <p:cNvPr id="4" name="Slide Number Placeholder 3">
            <a:extLst>
              <a:ext uri="{FF2B5EF4-FFF2-40B4-BE49-F238E27FC236}">
                <a16:creationId xmlns:a16="http://schemas.microsoft.com/office/drawing/2014/main" id="{CBA02598-9B8F-C8F8-3CA0-D025E1F8B419}"/>
              </a:ext>
            </a:extLst>
          </p:cNvPr>
          <p:cNvSpPr>
            <a:spLocks noGrp="1"/>
          </p:cNvSpPr>
          <p:nvPr>
            <p:ph type="sldNum" sz="quarter" idx="12"/>
          </p:nvPr>
        </p:nvSpPr>
        <p:spPr/>
        <p:txBody>
          <a:bodyPr/>
          <a:lstStyle/>
          <a:p>
            <a:fld id="{6264BDCF-5269-49AC-A246-ED26C2B980E3}" type="slidenum">
              <a:rPr lang="en-US" smtClean="0"/>
              <a:t>91</a:t>
            </a:fld>
            <a:endParaRPr lang="en-US"/>
          </a:p>
        </p:txBody>
      </p:sp>
      <p:pic>
        <p:nvPicPr>
          <p:cNvPr id="6" name="Picture 5">
            <a:extLst>
              <a:ext uri="{FF2B5EF4-FFF2-40B4-BE49-F238E27FC236}">
                <a16:creationId xmlns:a16="http://schemas.microsoft.com/office/drawing/2014/main" id="{1AE9A38C-B2E3-25B0-79C8-E1E38A6C56EB}"/>
              </a:ext>
            </a:extLst>
          </p:cNvPr>
          <p:cNvPicPr>
            <a:picLocks noChangeAspect="1"/>
          </p:cNvPicPr>
          <p:nvPr/>
        </p:nvPicPr>
        <p:blipFill>
          <a:blip r:embed="rId2"/>
          <a:stretch>
            <a:fillRect/>
          </a:stretch>
        </p:blipFill>
        <p:spPr>
          <a:xfrm>
            <a:off x="1737360" y="3566160"/>
            <a:ext cx="8963726" cy="3181092"/>
          </a:xfrm>
          <a:prstGeom prst="rect">
            <a:avLst/>
          </a:prstGeom>
        </p:spPr>
      </p:pic>
    </p:spTree>
    <p:extLst>
      <p:ext uri="{BB962C8B-B14F-4D97-AF65-F5344CB8AC3E}">
        <p14:creationId xmlns:p14="http://schemas.microsoft.com/office/powerpoint/2010/main" val="276397082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25D61-DFB7-E87E-774E-F6D2C861AC48}"/>
              </a:ext>
            </a:extLst>
          </p:cNvPr>
          <p:cNvSpPr>
            <a:spLocks noGrp="1"/>
          </p:cNvSpPr>
          <p:nvPr>
            <p:ph type="title"/>
          </p:nvPr>
        </p:nvSpPr>
        <p:spPr/>
        <p:txBody>
          <a:bodyPr/>
          <a:lstStyle/>
          <a:p>
            <a:r>
              <a:rPr lang="en-US" dirty="0"/>
              <a:t>Second Normal Form (2NF) definition</a:t>
            </a:r>
          </a:p>
        </p:txBody>
      </p:sp>
      <p:sp>
        <p:nvSpPr>
          <p:cNvPr id="3" name="Content Placeholder 2">
            <a:extLst>
              <a:ext uri="{FF2B5EF4-FFF2-40B4-BE49-F238E27FC236}">
                <a16:creationId xmlns:a16="http://schemas.microsoft.com/office/drawing/2014/main" id="{1244C302-4744-756F-D21D-98C66E5BA569}"/>
              </a:ext>
            </a:extLst>
          </p:cNvPr>
          <p:cNvSpPr>
            <a:spLocks noGrp="1"/>
          </p:cNvSpPr>
          <p:nvPr>
            <p:ph idx="1"/>
          </p:nvPr>
        </p:nvSpPr>
        <p:spPr>
          <a:xfrm>
            <a:off x="838199" y="1825625"/>
            <a:ext cx="10724535" cy="4351338"/>
          </a:xfrm>
        </p:spPr>
        <p:txBody>
          <a:bodyPr/>
          <a:lstStyle/>
          <a:p>
            <a:r>
              <a:rPr lang="en-US" dirty="0"/>
              <a:t>a relation schema </a:t>
            </a:r>
            <a:r>
              <a:rPr lang="en-US" i="1" dirty="0"/>
              <a:t>R </a:t>
            </a:r>
            <a:r>
              <a:rPr lang="en-US" dirty="0"/>
              <a:t>is in 2NF if every nonprime attribute </a:t>
            </a:r>
            <a:r>
              <a:rPr lang="en-US" i="1" dirty="0"/>
              <a:t>A </a:t>
            </a:r>
            <a:r>
              <a:rPr lang="en-US" dirty="0"/>
              <a:t>in </a:t>
            </a:r>
            <a:r>
              <a:rPr lang="en-US" i="1" dirty="0"/>
              <a:t>R </a:t>
            </a:r>
            <a:r>
              <a:rPr lang="en-US" dirty="0"/>
              <a:t>is </a:t>
            </a:r>
            <a:r>
              <a:rPr lang="en-US" i="1" dirty="0"/>
              <a:t>fully functionally dependent </a:t>
            </a:r>
            <a:r>
              <a:rPr lang="en-US" dirty="0"/>
              <a:t>on the primary key of </a:t>
            </a:r>
            <a:r>
              <a:rPr lang="en-US" i="1" dirty="0"/>
              <a:t>R</a:t>
            </a:r>
          </a:p>
          <a:p>
            <a:endParaRPr lang="en-US" i="1" dirty="0"/>
          </a:p>
          <a:p>
            <a:r>
              <a:rPr lang="en-US" dirty="0"/>
              <a:t>test for 2NF involves testing for functional dependencies whose left-hand side attributes are part of primary key</a:t>
            </a:r>
          </a:p>
          <a:p>
            <a:r>
              <a:rPr lang="en-US" dirty="0"/>
              <a:t>if primary key contains a single attribute, test need not be applied at all</a:t>
            </a:r>
          </a:p>
        </p:txBody>
      </p:sp>
      <p:sp>
        <p:nvSpPr>
          <p:cNvPr id="4" name="Slide Number Placeholder 3">
            <a:extLst>
              <a:ext uri="{FF2B5EF4-FFF2-40B4-BE49-F238E27FC236}">
                <a16:creationId xmlns:a16="http://schemas.microsoft.com/office/drawing/2014/main" id="{96C634D4-F8C8-D2B5-EED3-EE3457D08AFC}"/>
              </a:ext>
            </a:extLst>
          </p:cNvPr>
          <p:cNvSpPr>
            <a:spLocks noGrp="1"/>
          </p:cNvSpPr>
          <p:nvPr>
            <p:ph type="sldNum" sz="quarter" idx="12"/>
          </p:nvPr>
        </p:nvSpPr>
        <p:spPr/>
        <p:txBody>
          <a:bodyPr/>
          <a:lstStyle/>
          <a:p>
            <a:fld id="{6264BDCF-5269-49AC-A246-ED26C2B980E3}" type="slidenum">
              <a:rPr lang="en-US" smtClean="0"/>
              <a:t>92</a:t>
            </a:fld>
            <a:endParaRPr lang="en-US"/>
          </a:p>
        </p:txBody>
      </p:sp>
    </p:spTree>
    <p:extLst>
      <p:ext uri="{BB962C8B-B14F-4D97-AF65-F5344CB8AC3E}">
        <p14:creationId xmlns:p14="http://schemas.microsoft.com/office/powerpoint/2010/main" val="9779608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70431-AFF8-B9E8-9E2F-72E27D228C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852E506-272D-25E6-F2CB-24AED6475CD5}"/>
              </a:ext>
            </a:extLst>
          </p:cNvPr>
          <p:cNvSpPr>
            <a:spLocks noGrp="1"/>
          </p:cNvSpPr>
          <p:nvPr>
            <p:ph idx="1"/>
          </p:nvPr>
        </p:nvSpPr>
        <p:spPr>
          <a:xfrm>
            <a:off x="838200" y="1825625"/>
            <a:ext cx="10675374" cy="4351338"/>
          </a:xfrm>
        </p:spPr>
        <p:txBody>
          <a:bodyPr>
            <a:noAutofit/>
          </a:bodyPr>
          <a:lstStyle/>
          <a:p>
            <a:r>
              <a:rPr lang="en-US" dirty="0"/>
              <a:t>EMP_PROJ relation is in 1NF but is not in 2NF</a:t>
            </a:r>
          </a:p>
          <a:p>
            <a:r>
              <a:rPr lang="en-US" dirty="0"/>
              <a:t>nonprime attribute </a:t>
            </a:r>
            <a:r>
              <a:rPr lang="en-US" dirty="0" err="1"/>
              <a:t>Ename</a:t>
            </a:r>
            <a:r>
              <a:rPr lang="en-US" dirty="0"/>
              <a:t> violates 2NF because of FD2,</a:t>
            </a:r>
          </a:p>
          <a:p>
            <a:r>
              <a:rPr lang="en-US" dirty="0"/>
              <a:t>nonprime attributes </a:t>
            </a:r>
            <a:r>
              <a:rPr lang="en-US" dirty="0" err="1"/>
              <a:t>Pname</a:t>
            </a:r>
            <a:r>
              <a:rPr lang="en-US" dirty="0"/>
              <a:t> and </a:t>
            </a:r>
            <a:r>
              <a:rPr lang="en-US" dirty="0" err="1"/>
              <a:t>Plocation</a:t>
            </a:r>
            <a:r>
              <a:rPr lang="en-US" dirty="0"/>
              <a:t> violates 2NF because of FD3</a:t>
            </a:r>
          </a:p>
          <a:p>
            <a:r>
              <a:rPr lang="en-US" dirty="0"/>
              <a:t>if relation schema is not in 2NF, it can be </a:t>
            </a:r>
            <a:r>
              <a:rPr lang="en-US" i="1" dirty="0"/>
              <a:t>second normalized </a:t>
            </a:r>
            <a:r>
              <a:rPr lang="en-US" dirty="0"/>
              <a:t>or </a:t>
            </a:r>
            <a:r>
              <a:rPr lang="en-US" i="1" dirty="0"/>
              <a:t>2NF normalized </a:t>
            </a:r>
            <a:r>
              <a:rPr lang="en-US" dirty="0"/>
              <a:t>into a number of 2NF relations in which nonprime attributes are associated only with the part of the primary key on which they are fully functionally dependent</a:t>
            </a:r>
          </a:p>
          <a:p>
            <a:r>
              <a:rPr lang="en-US" dirty="0"/>
              <a:t>functional dependencies FD1, FD2, and FD3 lead to the decomposition of EMP_PROJ into the three relation schemas EP1, EP2, and EP3</a:t>
            </a:r>
          </a:p>
        </p:txBody>
      </p:sp>
      <p:sp>
        <p:nvSpPr>
          <p:cNvPr id="4" name="Slide Number Placeholder 3">
            <a:extLst>
              <a:ext uri="{FF2B5EF4-FFF2-40B4-BE49-F238E27FC236}">
                <a16:creationId xmlns:a16="http://schemas.microsoft.com/office/drawing/2014/main" id="{7BF7D9F5-7892-C942-9E00-DA927D29A7D5}"/>
              </a:ext>
            </a:extLst>
          </p:cNvPr>
          <p:cNvSpPr>
            <a:spLocks noGrp="1"/>
          </p:cNvSpPr>
          <p:nvPr>
            <p:ph type="sldNum" sz="quarter" idx="12"/>
          </p:nvPr>
        </p:nvSpPr>
        <p:spPr/>
        <p:txBody>
          <a:bodyPr/>
          <a:lstStyle/>
          <a:p>
            <a:fld id="{6264BDCF-5269-49AC-A246-ED26C2B980E3}" type="slidenum">
              <a:rPr lang="en-US" smtClean="0"/>
              <a:t>93</a:t>
            </a:fld>
            <a:endParaRPr lang="en-US"/>
          </a:p>
        </p:txBody>
      </p:sp>
    </p:spTree>
    <p:extLst>
      <p:ext uri="{BB962C8B-B14F-4D97-AF65-F5344CB8AC3E}">
        <p14:creationId xmlns:p14="http://schemas.microsoft.com/office/powerpoint/2010/main" val="40880947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7973-DDC9-E9E0-2FB8-5DBCAF4FB64F}"/>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C6C7B52D-155A-73D2-8633-9C9E7672027E}"/>
              </a:ext>
            </a:extLst>
          </p:cNvPr>
          <p:cNvPicPr>
            <a:picLocks noGrp="1" noChangeAspect="1"/>
          </p:cNvPicPr>
          <p:nvPr>
            <p:ph idx="1"/>
          </p:nvPr>
        </p:nvPicPr>
        <p:blipFill>
          <a:blip r:embed="rId2"/>
          <a:stretch>
            <a:fillRect/>
          </a:stretch>
        </p:blipFill>
        <p:spPr>
          <a:xfrm>
            <a:off x="365759" y="731520"/>
            <a:ext cx="11765918" cy="5200644"/>
          </a:xfrm>
          <a:prstGeom prst="rect">
            <a:avLst/>
          </a:prstGeom>
        </p:spPr>
      </p:pic>
      <p:sp>
        <p:nvSpPr>
          <p:cNvPr id="4" name="Slide Number Placeholder 3">
            <a:extLst>
              <a:ext uri="{FF2B5EF4-FFF2-40B4-BE49-F238E27FC236}">
                <a16:creationId xmlns:a16="http://schemas.microsoft.com/office/drawing/2014/main" id="{DD2AAD45-E6A6-727E-5157-67D9C9E5E77A}"/>
              </a:ext>
            </a:extLst>
          </p:cNvPr>
          <p:cNvSpPr>
            <a:spLocks noGrp="1"/>
          </p:cNvSpPr>
          <p:nvPr>
            <p:ph type="sldNum" sz="quarter" idx="12"/>
          </p:nvPr>
        </p:nvSpPr>
        <p:spPr/>
        <p:txBody>
          <a:bodyPr/>
          <a:lstStyle/>
          <a:p>
            <a:fld id="{6264BDCF-5269-49AC-A246-ED26C2B980E3}" type="slidenum">
              <a:rPr lang="en-US" smtClean="0"/>
              <a:t>94</a:t>
            </a:fld>
            <a:endParaRPr lang="en-US"/>
          </a:p>
        </p:txBody>
      </p:sp>
    </p:spTree>
    <p:extLst>
      <p:ext uri="{BB962C8B-B14F-4D97-AF65-F5344CB8AC3E}">
        <p14:creationId xmlns:p14="http://schemas.microsoft.com/office/powerpoint/2010/main" val="31294111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7EE39-ADDA-FC5E-6E4A-EC1C52EC676D}"/>
              </a:ext>
            </a:extLst>
          </p:cNvPr>
          <p:cNvSpPr>
            <a:spLocks noGrp="1"/>
          </p:cNvSpPr>
          <p:nvPr>
            <p:ph type="title"/>
          </p:nvPr>
        </p:nvSpPr>
        <p:spPr/>
        <p:txBody>
          <a:bodyPr/>
          <a:lstStyle/>
          <a:p>
            <a:r>
              <a:rPr lang="en-US" dirty="0"/>
              <a:t>Third Normal Form (3NF)</a:t>
            </a:r>
          </a:p>
        </p:txBody>
      </p:sp>
      <p:sp>
        <p:nvSpPr>
          <p:cNvPr id="3" name="Content Placeholder 2">
            <a:extLst>
              <a:ext uri="{FF2B5EF4-FFF2-40B4-BE49-F238E27FC236}">
                <a16:creationId xmlns:a16="http://schemas.microsoft.com/office/drawing/2014/main" id="{711E2BEC-8A58-D5C4-51EE-B0E7CBB3629C}"/>
              </a:ext>
            </a:extLst>
          </p:cNvPr>
          <p:cNvSpPr>
            <a:spLocks noGrp="1"/>
          </p:cNvSpPr>
          <p:nvPr>
            <p:ph idx="1"/>
          </p:nvPr>
        </p:nvSpPr>
        <p:spPr/>
        <p:txBody>
          <a:bodyPr>
            <a:normAutofit/>
          </a:bodyPr>
          <a:lstStyle/>
          <a:p>
            <a:r>
              <a:rPr lang="en-US" dirty="0"/>
              <a:t>based on the concept of </a:t>
            </a:r>
            <a:r>
              <a:rPr lang="en-US" i="1" dirty="0"/>
              <a:t>transitive dependency; </a:t>
            </a:r>
            <a:r>
              <a:rPr lang="en-US" dirty="0"/>
              <a:t>functional dependency </a:t>
            </a:r>
            <a:r>
              <a:rPr lang="en-US" i="1" dirty="0"/>
              <a:t>X </a:t>
            </a:r>
            <a:r>
              <a:rPr lang="en-US" dirty="0"/>
              <a:t>→ </a:t>
            </a:r>
            <a:r>
              <a:rPr lang="en-US" i="1" dirty="0"/>
              <a:t>Y </a:t>
            </a:r>
            <a:r>
              <a:rPr lang="en-US" dirty="0"/>
              <a:t>in a relation schema </a:t>
            </a:r>
            <a:r>
              <a:rPr lang="en-US" i="1" dirty="0"/>
              <a:t>R </a:t>
            </a:r>
            <a:r>
              <a:rPr lang="en-US" dirty="0"/>
              <a:t>is a </a:t>
            </a:r>
            <a:r>
              <a:rPr lang="en-US" i="1" dirty="0"/>
              <a:t>transitive dependency </a:t>
            </a:r>
            <a:r>
              <a:rPr lang="en-US" dirty="0"/>
              <a:t>if there exists a set of attributes </a:t>
            </a:r>
            <a:r>
              <a:rPr lang="en-US" i="1" dirty="0"/>
              <a:t>Z </a:t>
            </a:r>
            <a:r>
              <a:rPr lang="en-US" dirty="0"/>
              <a:t>in </a:t>
            </a:r>
            <a:r>
              <a:rPr lang="en-US" i="1" dirty="0"/>
              <a:t>R </a:t>
            </a:r>
            <a:r>
              <a:rPr lang="en-US" dirty="0"/>
              <a:t>that is neither a candidate key nor a subset of any key of </a:t>
            </a:r>
            <a:r>
              <a:rPr lang="en-US" i="1" dirty="0"/>
              <a:t>R</a:t>
            </a:r>
            <a:r>
              <a:rPr lang="en-US" dirty="0"/>
              <a:t>, and both </a:t>
            </a:r>
            <a:r>
              <a:rPr lang="en-US" i="1" dirty="0"/>
              <a:t>X </a:t>
            </a:r>
            <a:r>
              <a:rPr lang="en-US" dirty="0"/>
              <a:t>→ </a:t>
            </a:r>
            <a:r>
              <a:rPr lang="en-US" i="1" dirty="0"/>
              <a:t>Z </a:t>
            </a:r>
            <a:r>
              <a:rPr lang="en-US" dirty="0"/>
              <a:t>and </a:t>
            </a:r>
            <a:r>
              <a:rPr lang="en-US" i="1" dirty="0"/>
              <a:t>Z </a:t>
            </a:r>
            <a:r>
              <a:rPr lang="en-US" dirty="0"/>
              <a:t>→ </a:t>
            </a:r>
            <a:r>
              <a:rPr lang="en-US" i="1" dirty="0"/>
              <a:t>Y </a:t>
            </a:r>
            <a:r>
              <a:rPr lang="en-US" dirty="0"/>
              <a:t>hold</a:t>
            </a:r>
          </a:p>
        </p:txBody>
      </p:sp>
      <p:sp>
        <p:nvSpPr>
          <p:cNvPr id="4" name="Slide Number Placeholder 3">
            <a:extLst>
              <a:ext uri="{FF2B5EF4-FFF2-40B4-BE49-F238E27FC236}">
                <a16:creationId xmlns:a16="http://schemas.microsoft.com/office/drawing/2014/main" id="{36CA317B-0AB7-43C8-0F4F-FAB848D4B22B}"/>
              </a:ext>
            </a:extLst>
          </p:cNvPr>
          <p:cNvSpPr>
            <a:spLocks noGrp="1"/>
          </p:cNvSpPr>
          <p:nvPr>
            <p:ph type="sldNum" sz="quarter" idx="12"/>
          </p:nvPr>
        </p:nvSpPr>
        <p:spPr/>
        <p:txBody>
          <a:bodyPr/>
          <a:lstStyle/>
          <a:p>
            <a:fld id="{6264BDCF-5269-49AC-A246-ED26C2B980E3}" type="slidenum">
              <a:rPr lang="en-US" smtClean="0"/>
              <a:t>95</a:t>
            </a:fld>
            <a:endParaRPr lang="en-US"/>
          </a:p>
        </p:txBody>
      </p:sp>
    </p:spTree>
    <p:extLst>
      <p:ext uri="{BB962C8B-B14F-4D97-AF65-F5344CB8AC3E}">
        <p14:creationId xmlns:p14="http://schemas.microsoft.com/office/powerpoint/2010/main" val="298169789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E9E83-0AC7-2A2A-04E5-88EF749EA008}"/>
              </a:ext>
            </a:extLst>
          </p:cNvPr>
          <p:cNvSpPr>
            <a:spLocks noGrp="1"/>
          </p:cNvSpPr>
          <p:nvPr>
            <p:ph type="title"/>
          </p:nvPr>
        </p:nvSpPr>
        <p:spPr/>
        <p:txBody>
          <a:bodyPr/>
          <a:lstStyle/>
          <a:p>
            <a:r>
              <a:rPr lang="en-US" dirty="0"/>
              <a:t>Third Normal Form (3NF)</a:t>
            </a:r>
          </a:p>
        </p:txBody>
      </p:sp>
      <p:sp>
        <p:nvSpPr>
          <p:cNvPr id="3" name="Content Placeholder 2">
            <a:extLst>
              <a:ext uri="{FF2B5EF4-FFF2-40B4-BE49-F238E27FC236}">
                <a16:creationId xmlns:a16="http://schemas.microsoft.com/office/drawing/2014/main" id="{0EB564FE-86EE-CF38-956D-E6C259B329CB}"/>
              </a:ext>
            </a:extLst>
          </p:cNvPr>
          <p:cNvSpPr>
            <a:spLocks noGrp="1"/>
          </p:cNvSpPr>
          <p:nvPr>
            <p:ph idx="1"/>
          </p:nvPr>
        </p:nvSpPr>
        <p:spPr/>
        <p:txBody>
          <a:bodyPr/>
          <a:lstStyle/>
          <a:p>
            <a:r>
              <a:rPr lang="en-US" dirty="0"/>
              <a:t>dependency </a:t>
            </a:r>
            <a:r>
              <a:rPr lang="en-US" dirty="0" err="1"/>
              <a:t>Ssn</a:t>
            </a:r>
            <a:r>
              <a:rPr lang="en-US" dirty="0"/>
              <a:t> → </a:t>
            </a:r>
            <a:r>
              <a:rPr lang="en-US" dirty="0" err="1"/>
              <a:t>Dmgr_ssn</a:t>
            </a:r>
            <a:r>
              <a:rPr lang="en-US" dirty="0"/>
              <a:t> is transitive through </a:t>
            </a:r>
            <a:r>
              <a:rPr lang="en-US" dirty="0" err="1"/>
              <a:t>Dnumber</a:t>
            </a:r>
            <a:r>
              <a:rPr lang="en-US" dirty="0"/>
              <a:t> in EMP_DEPT, because both the dependencies </a:t>
            </a:r>
            <a:r>
              <a:rPr lang="en-US" dirty="0" err="1"/>
              <a:t>Ssn</a:t>
            </a:r>
            <a:r>
              <a:rPr lang="en-US" dirty="0"/>
              <a:t> → </a:t>
            </a:r>
            <a:r>
              <a:rPr lang="en-US" dirty="0" err="1"/>
              <a:t>Dnumber</a:t>
            </a:r>
            <a:r>
              <a:rPr lang="en-US" dirty="0"/>
              <a:t> and </a:t>
            </a:r>
            <a:r>
              <a:rPr lang="en-US" dirty="0" err="1"/>
              <a:t>Dnumber</a:t>
            </a:r>
            <a:r>
              <a:rPr lang="en-US" dirty="0"/>
              <a:t> → </a:t>
            </a:r>
            <a:r>
              <a:rPr lang="en-US" dirty="0" err="1"/>
              <a:t>Dmgr_ssn</a:t>
            </a:r>
            <a:r>
              <a:rPr lang="en-US" dirty="0"/>
              <a:t> hold and</a:t>
            </a:r>
            <a:r>
              <a:rPr lang="en-US" i="1" dirty="0"/>
              <a:t> </a:t>
            </a:r>
            <a:r>
              <a:rPr lang="en-US" dirty="0" err="1"/>
              <a:t>Dnumber</a:t>
            </a:r>
            <a:r>
              <a:rPr lang="en-US" dirty="0"/>
              <a:t> is neither a key itself nor a subset of the key of EMP_DEPT</a:t>
            </a:r>
          </a:p>
          <a:p>
            <a:r>
              <a:rPr lang="en-US" dirty="0"/>
              <a:t>intuitively, we can see that the dependency of </a:t>
            </a:r>
            <a:r>
              <a:rPr lang="en-US" dirty="0" err="1"/>
              <a:t>Dmgr_ssn</a:t>
            </a:r>
            <a:r>
              <a:rPr lang="en-US" dirty="0"/>
              <a:t> on </a:t>
            </a:r>
            <a:r>
              <a:rPr lang="en-US" dirty="0" err="1"/>
              <a:t>Dnumber</a:t>
            </a:r>
            <a:r>
              <a:rPr lang="en-US" dirty="0"/>
              <a:t> is undesirable in EMP_DEPT since </a:t>
            </a:r>
            <a:r>
              <a:rPr lang="en-US" dirty="0" err="1"/>
              <a:t>Dnumber</a:t>
            </a:r>
            <a:r>
              <a:rPr lang="en-US" dirty="0"/>
              <a:t> is not a key of EMP_DEPT</a:t>
            </a:r>
          </a:p>
          <a:p>
            <a:endParaRPr lang="en-US" dirty="0"/>
          </a:p>
        </p:txBody>
      </p:sp>
      <p:sp>
        <p:nvSpPr>
          <p:cNvPr id="4" name="Slide Number Placeholder 3">
            <a:extLst>
              <a:ext uri="{FF2B5EF4-FFF2-40B4-BE49-F238E27FC236}">
                <a16:creationId xmlns:a16="http://schemas.microsoft.com/office/drawing/2014/main" id="{A484F63D-9907-7D0E-8FC7-06EC4ECA179B}"/>
              </a:ext>
            </a:extLst>
          </p:cNvPr>
          <p:cNvSpPr>
            <a:spLocks noGrp="1"/>
          </p:cNvSpPr>
          <p:nvPr>
            <p:ph type="sldNum" sz="quarter" idx="12"/>
          </p:nvPr>
        </p:nvSpPr>
        <p:spPr/>
        <p:txBody>
          <a:bodyPr/>
          <a:lstStyle/>
          <a:p>
            <a:fld id="{6264BDCF-5269-49AC-A246-ED26C2B980E3}" type="slidenum">
              <a:rPr lang="en-US" smtClean="0"/>
              <a:t>96</a:t>
            </a:fld>
            <a:endParaRPr lang="en-US"/>
          </a:p>
        </p:txBody>
      </p:sp>
      <p:pic>
        <p:nvPicPr>
          <p:cNvPr id="6" name="Content Placeholder 5">
            <a:extLst>
              <a:ext uri="{FF2B5EF4-FFF2-40B4-BE49-F238E27FC236}">
                <a16:creationId xmlns:a16="http://schemas.microsoft.com/office/drawing/2014/main" id="{3B6644CA-1180-4FA8-82DA-95178BACEA4C}"/>
              </a:ext>
            </a:extLst>
          </p:cNvPr>
          <p:cNvPicPr>
            <a:picLocks noChangeAspect="1"/>
          </p:cNvPicPr>
          <p:nvPr/>
        </p:nvPicPr>
        <p:blipFill>
          <a:blip r:embed="rId2"/>
          <a:stretch>
            <a:fillRect/>
          </a:stretch>
        </p:blipFill>
        <p:spPr>
          <a:xfrm>
            <a:off x="822960" y="4297680"/>
            <a:ext cx="10150719" cy="2034717"/>
          </a:xfrm>
          <a:prstGeom prst="rect">
            <a:avLst/>
          </a:prstGeom>
        </p:spPr>
      </p:pic>
    </p:spTree>
    <p:extLst>
      <p:ext uri="{BB962C8B-B14F-4D97-AF65-F5344CB8AC3E}">
        <p14:creationId xmlns:p14="http://schemas.microsoft.com/office/powerpoint/2010/main" val="284544892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DBD70-471F-B56B-377C-D80DD4AE0DF4}"/>
              </a:ext>
            </a:extLst>
          </p:cNvPr>
          <p:cNvSpPr>
            <a:spLocks noGrp="1"/>
          </p:cNvSpPr>
          <p:nvPr>
            <p:ph type="title"/>
          </p:nvPr>
        </p:nvSpPr>
        <p:spPr/>
        <p:txBody>
          <a:bodyPr/>
          <a:lstStyle/>
          <a:p>
            <a:r>
              <a:rPr lang="en-US" dirty="0"/>
              <a:t>Third Normal Form (3NF) definition</a:t>
            </a:r>
          </a:p>
        </p:txBody>
      </p:sp>
      <p:sp>
        <p:nvSpPr>
          <p:cNvPr id="4" name="Slide Number Placeholder 3">
            <a:extLst>
              <a:ext uri="{FF2B5EF4-FFF2-40B4-BE49-F238E27FC236}">
                <a16:creationId xmlns:a16="http://schemas.microsoft.com/office/drawing/2014/main" id="{F8C5BDDB-C876-6D01-5B07-8E6985BA7792}"/>
              </a:ext>
            </a:extLst>
          </p:cNvPr>
          <p:cNvSpPr>
            <a:spLocks noGrp="1"/>
          </p:cNvSpPr>
          <p:nvPr>
            <p:ph type="sldNum" sz="quarter" idx="12"/>
          </p:nvPr>
        </p:nvSpPr>
        <p:spPr/>
        <p:txBody>
          <a:bodyPr/>
          <a:lstStyle/>
          <a:p>
            <a:fld id="{6264BDCF-5269-49AC-A246-ED26C2B980E3}" type="slidenum">
              <a:rPr lang="en-US" smtClean="0"/>
              <a:t>97</a:t>
            </a:fld>
            <a:endParaRPr lang="en-US"/>
          </a:p>
        </p:txBody>
      </p:sp>
      <p:sp>
        <p:nvSpPr>
          <p:cNvPr id="8" name="Content Placeholder 7">
            <a:extLst>
              <a:ext uri="{FF2B5EF4-FFF2-40B4-BE49-F238E27FC236}">
                <a16:creationId xmlns:a16="http://schemas.microsoft.com/office/drawing/2014/main" id="{6A46230C-3786-BF92-F409-3BA2C6383C34}"/>
              </a:ext>
            </a:extLst>
          </p:cNvPr>
          <p:cNvSpPr>
            <a:spLocks noGrp="1"/>
          </p:cNvSpPr>
          <p:nvPr>
            <p:ph idx="1"/>
          </p:nvPr>
        </p:nvSpPr>
        <p:spPr/>
        <p:txBody>
          <a:bodyPr/>
          <a:lstStyle/>
          <a:p>
            <a:r>
              <a:rPr lang="en-US" dirty="0"/>
              <a:t>relation schema </a:t>
            </a:r>
            <a:r>
              <a:rPr lang="en-US" i="1" dirty="0"/>
              <a:t>R </a:t>
            </a:r>
            <a:r>
              <a:rPr lang="en-US" dirty="0"/>
              <a:t>is in 3NF if it satisfies 2NF </a:t>
            </a:r>
            <a:r>
              <a:rPr lang="en-US" i="1" dirty="0"/>
              <a:t>and </a:t>
            </a:r>
            <a:r>
              <a:rPr lang="en-US" dirty="0"/>
              <a:t>no nonprime attribute of </a:t>
            </a:r>
            <a:r>
              <a:rPr lang="en-US" i="1" dirty="0"/>
              <a:t>R </a:t>
            </a:r>
            <a:r>
              <a:rPr lang="en-US" dirty="0"/>
              <a:t>is transitively dependent on the primary key</a:t>
            </a:r>
          </a:p>
        </p:txBody>
      </p:sp>
    </p:spTree>
    <p:extLst>
      <p:ext uri="{BB962C8B-B14F-4D97-AF65-F5344CB8AC3E}">
        <p14:creationId xmlns:p14="http://schemas.microsoft.com/office/powerpoint/2010/main" val="1782083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BA7C0-E4C2-F801-1B9A-F0FD23CF7B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5EA585-7863-7D60-B61B-68E23EB8E083}"/>
              </a:ext>
            </a:extLst>
          </p:cNvPr>
          <p:cNvSpPr>
            <a:spLocks noGrp="1"/>
          </p:cNvSpPr>
          <p:nvPr>
            <p:ph idx="1"/>
          </p:nvPr>
        </p:nvSpPr>
        <p:spPr/>
        <p:txBody>
          <a:bodyPr>
            <a:normAutofit/>
          </a:bodyPr>
          <a:lstStyle/>
          <a:p>
            <a:r>
              <a:rPr lang="en-US" dirty="0"/>
              <a:t>relation schema EMP_DEPT is in 2NF, since no partial dependencies on a key exist; however, EMP_DEPT is not in 3NF because of the transitive dependency of </a:t>
            </a:r>
            <a:r>
              <a:rPr lang="en-US" dirty="0" err="1"/>
              <a:t>Dmgr_ssn</a:t>
            </a:r>
            <a:r>
              <a:rPr lang="en-US" dirty="0"/>
              <a:t> (and also </a:t>
            </a:r>
            <a:r>
              <a:rPr lang="en-US" dirty="0" err="1"/>
              <a:t>Dname</a:t>
            </a:r>
            <a:r>
              <a:rPr lang="en-US" dirty="0"/>
              <a:t>) on </a:t>
            </a:r>
            <a:r>
              <a:rPr lang="en-US" dirty="0" err="1"/>
              <a:t>Ssn</a:t>
            </a:r>
            <a:r>
              <a:rPr lang="en-US" dirty="0"/>
              <a:t> via </a:t>
            </a:r>
            <a:r>
              <a:rPr lang="en-US" dirty="0" err="1"/>
              <a:t>Dnumber</a:t>
            </a:r>
            <a:endParaRPr lang="en-US" dirty="0"/>
          </a:p>
          <a:p>
            <a:r>
              <a:rPr lang="en-US" dirty="0"/>
              <a:t>can normalize EMP_DEPT by decomposing it into two 3NF relation schemas ED1 and ED2  - ED1 and ED2 represent independent facts about employees and departments, both of which are entities in their own right; </a:t>
            </a:r>
          </a:p>
          <a:p>
            <a:r>
              <a:rPr lang="en-US" dirty="0"/>
              <a:t>a NATURAL JOIN operation on ED1 and ED2 will recover the original relation EMP_DEPT without generating spurious tuples</a:t>
            </a:r>
          </a:p>
        </p:txBody>
      </p:sp>
      <p:sp>
        <p:nvSpPr>
          <p:cNvPr id="4" name="Slide Number Placeholder 3">
            <a:extLst>
              <a:ext uri="{FF2B5EF4-FFF2-40B4-BE49-F238E27FC236}">
                <a16:creationId xmlns:a16="http://schemas.microsoft.com/office/drawing/2014/main" id="{B1543971-F092-3769-1472-C98C659AB54C}"/>
              </a:ext>
            </a:extLst>
          </p:cNvPr>
          <p:cNvSpPr>
            <a:spLocks noGrp="1"/>
          </p:cNvSpPr>
          <p:nvPr>
            <p:ph type="sldNum" sz="quarter" idx="12"/>
          </p:nvPr>
        </p:nvSpPr>
        <p:spPr/>
        <p:txBody>
          <a:bodyPr/>
          <a:lstStyle/>
          <a:p>
            <a:fld id="{6264BDCF-5269-49AC-A246-ED26C2B980E3}" type="slidenum">
              <a:rPr lang="en-US" smtClean="0"/>
              <a:t>98</a:t>
            </a:fld>
            <a:endParaRPr lang="en-US"/>
          </a:p>
        </p:txBody>
      </p:sp>
    </p:spTree>
    <p:extLst>
      <p:ext uri="{BB962C8B-B14F-4D97-AF65-F5344CB8AC3E}">
        <p14:creationId xmlns:p14="http://schemas.microsoft.com/office/powerpoint/2010/main" val="344212511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A6FF2-4F39-A668-E7FD-244601282E50}"/>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23BF06B2-FEEC-46AA-6D79-02AA0370D921}"/>
              </a:ext>
            </a:extLst>
          </p:cNvPr>
          <p:cNvPicPr>
            <a:picLocks noGrp="1" noChangeAspect="1"/>
          </p:cNvPicPr>
          <p:nvPr>
            <p:ph idx="1"/>
          </p:nvPr>
        </p:nvPicPr>
        <p:blipFill>
          <a:blip r:embed="rId2"/>
          <a:stretch>
            <a:fillRect/>
          </a:stretch>
        </p:blipFill>
        <p:spPr>
          <a:xfrm>
            <a:off x="365759" y="1280158"/>
            <a:ext cx="11658468" cy="4104640"/>
          </a:xfrm>
          <a:prstGeom prst="rect">
            <a:avLst/>
          </a:prstGeom>
        </p:spPr>
      </p:pic>
      <p:sp>
        <p:nvSpPr>
          <p:cNvPr id="4" name="Slide Number Placeholder 3">
            <a:extLst>
              <a:ext uri="{FF2B5EF4-FFF2-40B4-BE49-F238E27FC236}">
                <a16:creationId xmlns:a16="http://schemas.microsoft.com/office/drawing/2014/main" id="{3B7F79B0-A031-3BFF-0323-324F5BBB3EF1}"/>
              </a:ext>
            </a:extLst>
          </p:cNvPr>
          <p:cNvSpPr>
            <a:spLocks noGrp="1"/>
          </p:cNvSpPr>
          <p:nvPr>
            <p:ph type="sldNum" sz="quarter" idx="12"/>
          </p:nvPr>
        </p:nvSpPr>
        <p:spPr/>
        <p:txBody>
          <a:bodyPr/>
          <a:lstStyle/>
          <a:p>
            <a:fld id="{6264BDCF-5269-49AC-A246-ED26C2B980E3}" type="slidenum">
              <a:rPr lang="en-US" smtClean="0"/>
              <a:t>99</a:t>
            </a:fld>
            <a:endParaRPr lang="en-US"/>
          </a:p>
        </p:txBody>
      </p:sp>
    </p:spTree>
    <p:extLst>
      <p:ext uri="{BB962C8B-B14F-4D97-AF65-F5344CB8AC3E}">
        <p14:creationId xmlns:p14="http://schemas.microsoft.com/office/powerpoint/2010/main" val="9198380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0FF58-7BCD-A254-B73E-3AE973AFB6BC}"/>
              </a:ext>
            </a:extLst>
          </p:cNvPr>
          <p:cNvSpPr>
            <a:spLocks noGrp="1"/>
          </p:cNvSpPr>
          <p:nvPr>
            <p:ph type="title"/>
          </p:nvPr>
        </p:nvSpPr>
        <p:spPr>
          <a:xfrm>
            <a:off x="838201" y="364490"/>
            <a:ext cx="10515600" cy="1325563"/>
          </a:xfrm>
        </p:spPr>
        <p:txBody>
          <a:bodyPr/>
          <a:lstStyle/>
          <a:p>
            <a:endParaRPr lang="en-US"/>
          </a:p>
        </p:txBody>
      </p:sp>
      <p:graphicFrame>
        <p:nvGraphicFramePr>
          <p:cNvPr id="5" name="Content Placeholder 4">
            <a:extLst>
              <a:ext uri="{FF2B5EF4-FFF2-40B4-BE49-F238E27FC236}">
                <a16:creationId xmlns:a16="http://schemas.microsoft.com/office/drawing/2014/main" id="{7365D162-0361-DA80-DC76-AA6EF175DFD0}"/>
              </a:ext>
            </a:extLst>
          </p:cNvPr>
          <p:cNvGraphicFramePr>
            <a:graphicFrameLocks noGrp="1"/>
          </p:cNvGraphicFramePr>
          <p:nvPr>
            <p:ph idx="1"/>
            <p:extLst>
              <p:ext uri="{D42A27DB-BD31-4B8C-83A1-F6EECF244321}">
                <p14:modId xmlns:p14="http://schemas.microsoft.com/office/powerpoint/2010/main" val="2005150396"/>
              </p:ext>
            </p:extLst>
          </p:nvPr>
        </p:nvGraphicFramePr>
        <p:xfrm>
          <a:off x="639097" y="137161"/>
          <a:ext cx="10913806" cy="6583680"/>
        </p:xfrm>
        <a:graphic>
          <a:graphicData uri="http://schemas.openxmlformats.org/drawingml/2006/table">
            <a:tbl>
              <a:tblPr firstRow="1" bandRow="1">
                <a:tableStyleId>{5C22544A-7EE6-4342-B048-85BDC9FD1C3A}</a:tableStyleId>
              </a:tblPr>
              <a:tblGrid>
                <a:gridCol w="1858297">
                  <a:extLst>
                    <a:ext uri="{9D8B030D-6E8A-4147-A177-3AD203B41FA5}">
                      <a16:colId xmlns:a16="http://schemas.microsoft.com/office/drawing/2014/main" val="3255358007"/>
                    </a:ext>
                  </a:extLst>
                </a:gridCol>
                <a:gridCol w="4343542">
                  <a:extLst>
                    <a:ext uri="{9D8B030D-6E8A-4147-A177-3AD203B41FA5}">
                      <a16:colId xmlns:a16="http://schemas.microsoft.com/office/drawing/2014/main" val="661879840"/>
                    </a:ext>
                  </a:extLst>
                </a:gridCol>
                <a:gridCol w="4711967">
                  <a:extLst>
                    <a:ext uri="{9D8B030D-6E8A-4147-A177-3AD203B41FA5}">
                      <a16:colId xmlns:a16="http://schemas.microsoft.com/office/drawing/2014/main" val="691659373"/>
                    </a:ext>
                  </a:extLst>
                </a:gridCol>
              </a:tblGrid>
              <a:tr h="493439">
                <a:tc>
                  <a:txBody>
                    <a:bodyPr/>
                    <a:lstStyle/>
                    <a:p>
                      <a:r>
                        <a:rPr lang="en-US" sz="1800" b="1" i="0" u="none" strike="noStrike" baseline="0" dirty="0">
                          <a:latin typeface="AkzidenzGroteskBE-Md"/>
                        </a:rPr>
                        <a:t>Normal Form)</a:t>
                      </a:r>
                      <a:endParaRPr lang="en-US" sz="1800" dirty="0"/>
                    </a:p>
                  </a:txBody>
                  <a:tcPr/>
                </a:tc>
                <a:tc>
                  <a:txBody>
                    <a:bodyPr/>
                    <a:lstStyle/>
                    <a:p>
                      <a:r>
                        <a:rPr lang="en-US" sz="1800" b="1" i="0" u="none" strike="noStrike" baseline="0" dirty="0">
                          <a:latin typeface="AkzidenzGroteskBE-Md"/>
                        </a:rPr>
                        <a:t>Test</a:t>
                      </a:r>
                      <a:endParaRPr lang="en-US" sz="1800" dirty="0"/>
                    </a:p>
                  </a:txBody>
                  <a:tcPr/>
                </a:tc>
                <a:tc>
                  <a:txBody>
                    <a:bodyPr/>
                    <a:lstStyle/>
                    <a:p>
                      <a:r>
                        <a:rPr lang="en-US" sz="1800" b="1" i="0" u="none" strike="noStrike" baseline="0" dirty="0">
                          <a:latin typeface="AkzidenzGroteskBE-Md"/>
                        </a:rPr>
                        <a:t>Normalization</a:t>
                      </a:r>
                      <a:endParaRPr lang="en-US" sz="1800" dirty="0"/>
                    </a:p>
                  </a:txBody>
                  <a:tcPr/>
                </a:tc>
                <a:extLst>
                  <a:ext uri="{0D108BD9-81ED-4DB2-BD59-A6C34878D82A}">
                    <a16:rowId xmlns:a16="http://schemas.microsoft.com/office/drawing/2014/main" val="3598712676"/>
                  </a:ext>
                </a:extLst>
              </a:tr>
              <a:tr h="1158459">
                <a:tc>
                  <a:txBody>
                    <a:bodyPr/>
                    <a:lstStyle/>
                    <a:p>
                      <a:pPr algn="l"/>
                      <a:r>
                        <a:rPr lang="en-US" sz="2400" b="0" i="0" u="none" strike="noStrike" baseline="0" dirty="0">
                          <a:latin typeface="MinionPro-Regular"/>
                        </a:rPr>
                        <a:t>First (1NF)</a:t>
                      </a:r>
                      <a:endParaRPr lang="en-US" sz="2400" dirty="0"/>
                    </a:p>
                  </a:txBody>
                  <a:tcPr/>
                </a:tc>
                <a:tc>
                  <a:txBody>
                    <a:bodyPr/>
                    <a:lstStyle/>
                    <a:p>
                      <a:pPr algn="l"/>
                      <a:r>
                        <a:rPr lang="en-US" sz="2300" b="0" i="0" u="none" strike="noStrike" baseline="0" dirty="0">
                          <a:latin typeface="MinionPro-Regular"/>
                        </a:rPr>
                        <a:t>Relation should have no multivalued attributes or nested relations</a:t>
                      </a:r>
                    </a:p>
                  </a:txBody>
                  <a:tcPr/>
                </a:tc>
                <a:tc>
                  <a:txBody>
                    <a:bodyPr/>
                    <a:lstStyle/>
                    <a:p>
                      <a:pPr algn="l"/>
                      <a:r>
                        <a:rPr lang="en-US" sz="2300" b="0" i="0" u="none" strike="noStrike" baseline="0" dirty="0">
                          <a:latin typeface="MinionPro-Regular"/>
                        </a:rPr>
                        <a:t>Form new relations for each multivalued attribute or nested relation</a:t>
                      </a:r>
                      <a:endParaRPr lang="en-US" sz="2300" dirty="0"/>
                    </a:p>
                  </a:txBody>
                  <a:tcPr/>
                </a:tc>
                <a:extLst>
                  <a:ext uri="{0D108BD9-81ED-4DB2-BD59-A6C34878D82A}">
                    <a16:rowId xmlns:a16="http://schemas.microsoft.com/office/drawing/2014/main" val="908070577"/>
                  </a:ext>
                </a:extLst>
              </a:tr>
              <a:tr h="2352281">
                <a:tc>
                  <a:txBody>
                    <a:bodyPr/>
                    <a:lstStyle/>
                    <a:p>
                      <a:pPr algn="l"/>
                      <a:r>
                        <a:rPr lang="en-US" sz="2400" b="0" i="0" u="none" strike="noStrike" baseline="0" dirty="0">
                          <a:latin typeface="MinionPro-Regular"/>
                        </a:rPr>
                        <a:t>Second (2NF) </a:t>
                      </a:r>
                    </a:p>
                  </a:txBody>
                  <a:tcPr/>
                </a:tc>
                <a:tc>
                  <a:txBody>
                    <a:bodyPr/>
                    <a:lstStyle/>
                    <a:p>
                      <a:pPr algn="l"/>
                      <a:r>
                        <a:rPr lang="en-US" sz="2300" b="0" i="0" u="none" strike="noStrike" baseline="0" dirty="0">
                          <a:latin typeface="MinionPro-Regular"/>
                        </a:rPr>
                        <a:t>For relations where primary key</a:t>
                      </a:r>
                    </a:p>
                    <a:p>
                      <a:pPr algn="l"/>
                      <a:r>
                        <a:rPr lang="fr-FR" sz="2300" b="0" i="0" u="none" strike="noStrike" baseline="0" dirty="0" err="1">
                          <a:latin typeface="MinionPro-Regular"/>
                        </a:rPr>
                        <a:t>contains</a:t>
                      </a:r>
                      <a:r>
                        <a:rPr lang="fr-FR" sz="2300" b="0" i="0" u="none" strike="noStrike" baseline="0" dirty="0">
                          <a:latin typeface="MinionPro-Regular"/>
                        </a:rPr>
                        <a:t> multiple </a:t>
                      </a:r>
                      <a:r>
                        <a:rPr lang="fr-FR" sz="2300" b="0" i="0" u="none" strike="noStrike" baseline="0" dirty="0" err="1">
                          <a:latin typeface="MinionPro-Regular"/>
                        </a:rPr>
                        <a:t>attributes</a:t>
                      </a:r>
                      <a:r>
                        <a:rPr lang="fr-FR" sz="2300" b="0" i="0" u="none" strike="noStrike" baseline="0" dirty="0">
                          <a:latin typeface="MinionPro-Regular"/>
                        </a:rPr>
                        <a:t>, no </a:t>
                      </a:r>
                      <a:r>
                        <a:rPr lang="fr-FR" sz="2300" b="0" i="0" u="none" strike="noStrike" baseline="0" dirty="0" err="1">
                          <a:latin typeface="MinionPro-Regular"/>
                        </a:rPr>
                        <a:t>nonkey</a:t>
                      </a:r>
                      <a:r>
                        <a:rPr lang="fr-FR" sz="2300" b="0" i="0" u="none" strike="noStrike" baseline="0" dirty="0">
                          <a:latin typeface="MinionPro-Regular"/>
                        </a:rPr>
                        <a:t> </a:t>
                      </a:r>
                      <a:r>
                        <a:rPr lang="en-US" sz="2300" b="0" i="0" u="none" strike="noStrike" baseline="0" dirty="0">
                          <a:latin typeface="MinionPro-Regular"/>
                        </a:rPr>
                        <a:t>attribute should be functionally dependent on part of primary key</a:t>
                      </a:r>
                    </a:p>
                  </a:txBody>
                  <a:tcPr/>
                </a:tc>
                <a:tc>
                  <a:txBody>
                    <a:bodyPr/>
                    <a:lstStyle/>
                    <a:p>
                      <a:pPr algn="l"/>
                      <a:r>
                        <a:rPr lang="en-US" sz="2300" b="0" i="0" u="none" strike="noStrike" baseline="0" dirty="0">
                          <a:latin typeface="MinionPro-Regular"/>
                        </a:rPr>
                        <a:t>Decompose and set up new relation for each partial key with its dependent attribute(s). Make sure to keep a relation with original primary key and any attributes that are fully functionally dependent on it</a:t>
                      </a:r>
                      <a:endParaRPr lang="en-US" sz="2300" dirty="0"/>
                    </a:p>
                  </a:txBody>
                  <a:tcPr/>
                </a:tc>
                <a:extLst>
                  <a:ext uri="{0D108BD9-81ED-4DB2-BD59-A6C34878D82A}">
                    <a16:rowId xmlns:a16="http://schemas.microsoft.com/office/drawing/2014/main" val="2070066248"/>
                  </a:ext>
                </a:extLst>
              </a:tr>
              <a:tr h="2579501">
                <a:tc>
                  <a:txBody>
                    <a:bodyPr/>
                    <a:lstStyle/>
                    <a:p>
                      <a:pPr algn="l"/>
                      <a:r>
                        <a:rPr lang="en-US" sz="2400" b="0" i="0" u="none" strike="noStrike" baseline="0" dirty="0">
                          <a:latin typeface="MinionPro-Regular"/>
                        </a:rPr>
                        <a:t>Third (3NF)</a:t>
                      </a:r>
                      <a:endParaRPr lang="en-US" sz="2400" dirty="0"/>
                    </a:p>
                  </a:txBody>
                  <a:tcPr/>
                </a:tc>
                <a:tc>
                  <a:txBody>
                    <a:bodyPr/>
                    <a:lstStyle/>
                    <a:p>
                      <a:pPr algn="l"/>
                      <a:r>
                        <a:rPr lang="en-US" sz="2300" b="0" i="0" u="none" strike="noStrike" baseline="0" dirty="0">
                          <a:latin typeface="MinionPro-Regular"/>
                        </a:rPr>
                        <a:t>Relation should not have </a:t>
                      </a:r>
                      <a:r>
                        <a:rPr lang="en-US" sz="2300" b="0" i="0" u="none" strike="noStrike" baseline="0" dirty="0" err="1">
                          <a:latin typeface="MinionPro-Regular"/>
                        </a:rPr>
                        <a:t>nonkey</a:t>
                      </a:r>
                      <a:r>
                        <a:rPr lang="en-US" sz="2300" b="0" i="0" u="none" strike="noStrike" baseline="0" dirty="0">
                          <a:latin typeface="MinionPro-Regular"/>
                        </a:rPr>
                        <a:t> attribute functionally determined by another </a:t>
                      </a:r>
                      <a:r>
                        <a:rPr lang="en-US" sz="2300" b="0" i="0" u="none" strike="noStrike" baseline="0" dirty="0" err="1">
                          <a:latin typeface="MinionPro-Regular"/>
                        </a:rPr>
                        <a:t>nonkey</a:t>
                      </a:r>
                      <a:r>
                        <a:rPr lang="en-US" sz="2300" b="0" i="0" u="none" strike="noStrike" baseline="0" dirty="0">
                          <a:latin typeface="MinionPro-Regular"/>
                        </a:rPr>
                        <a:t> attribute (or by set of </a:t>
                      </a:r>
                      <a:r>
                        <a:rPr lang="en-US" sz="2300" b="0" i="0" u="none" strike="noStrike" baseline="0" dirty="0" err="1">
                          <a:latin typeface="MinionPro-Regular"/>
                        </a:rPr>
                        <a:t>nonkey</a:t>
                      </a:r>
                      <a:r>
                        <a:rPr lang="en-US" sz="2300" b="0" i="0" u="none" strike="noStrike" baseline="0" dirty="0">
                          <a:latin typeface="MinionPro-Regular"/>
                        </a:rPr>
                        <a:t> attributes). That is, there should be no transitive dependency of </a:t>
                      </a:r>
                      <a:r>
                        <a:rPr lang="en-US" sz="2300" b="0" i="0" u="none" strike="noStrike" baseline="0" dirty="0" err="1">
                          <a:latin typeface="MinionPro-Regular"/>
                        </a:rPr>
                        <a:t>nonkey</a:t>
                      </a:r>
                      <a:r>
                        <a:rPr lang="en-US" sz="2300" b="0" i="0" u="none" strike="noStrike" baseline="0" dirty="0">
                          <a:latin typeface="MinionPro-Regular"/>
                        </a:rPr>
                        <a:t> attribute on primary key</a:t>
                      </a:r>
                    </a:p>
                  </a:txBody>
                  <a:tcPr/>
                </a:tc>
                <a:tc>
                  <a:txBody>
                    <a:bodyPr/>
                    <a:lstStyle/>
                    <a:p>
                      <a:pPr algn="l"/>
                      <a:r>
                        <a:rPr lang="en-US" sz="2300" b="0" i="0" u="none" strike="noStrike" baseline="0" dirty="0">
                          <a:latin typeface="MinionPro-Regular"/>
                        </a:rPr>
                        <a:t>Decompose and set up relation that includes </a:t>
                      </a:r>
                      <a:r>
                        <a:rPr lang="en-US" sz="2300" b="0" i="0" u="none" strike="noStrike" baseline="0" dirty="0" err="1">
                          <a:latin typeface="MinionPro-Regular"/>
                        </a:rPr>
                        <a:t>nonkey</a:t>
                      </a:r>
                      <a:r>
                        <a:rPr lang="en-US" sz="2300" b="0" i="0" u="none" strike="noStrike" baseline="0" dirty="0">
                          <a:latin typeface="MinionPro-Regular"/>
                        </a:rPr>
                        <a:t> attribute(s) that functionally determine(s) other </a:t>
                      </a:r>
                      <a:r>
                        <a:rPr lang="en-US" sz="2300" b="0" i="0" u="none" strike="noStrike" baseline="0" dirty="0" err="1">
                          <a:latin typeface="MinionPro-Regular"/>
                        </a:rPr>
                        <a:t>nonkey</a:t>
                      </a:r>
                      <a:r>
                        <a:rPr lang="en-US" sz="2300" b="0" i="0" u="none" strike="noStrike" baseline="0" dirty="0">
                          <a:latin typeface="MinionPro-Regular"/>
                        </a:rPr>
                        <a:t> attribute(s)</a:t>
                      </a:r>
                      <a:endParaRPr lang="en-US" sz="2300" dirty="0"/>
                    </a:p>
                  </a:txBody>
                  <a:tcPr/>
                </a:tc>
                <a:extLst>
                  <a:ext uri="{0D108BD9-81ED-4DB2-BD59-A6C34878D82A}">
                    <a16:rowId xmlns:a16="http://schemas.microsoft.com/office/drawing/2014/main" val="3428815611"/>
                  </a:ext>
                </a:extLst>
              </a:tr>
            </a:tbl>
          </a:graphicData>
        </a:graphic>
      </p:graphicFrame>
      <p:sp>
        <p:nvSpPr>
          <p:cNvPr id="4" name="Slide Number Placeholder 3">
            <a:extLst>
              <a:ext uri="{FF2B5EF4-FFF2-40B4-BE49-F238E27FC236}">
                <a16:creationId xmlns:a16="http://schemas.microsoft.com/office/drawing/2014/main" id="{7DB71214-29DA-6E3F-540D-8E453FA287CC}"/>
              </a:ext>
            </a:extLst>
          </p:cNvPr>
          <p:cNvSpPr>
            <a:spLocks noGrp="1"/>
          </p:cNvSpPr>
          <p:nvPr>
            <p:ph type="sldNum" sz="quarter" idx="12"/>
          </p:nvPr>
        </p:nvSpPr>
        <p:spPr>
          <a:xfrm>
            <a:off x="8610601" y="6355715"/>
            <a:ext cx="2743200" cy="365125"/>
          </a:xfrm>
        </p:spPr>
        <p:txBody>
          <a:bodyPr/>
          <a:lstStyle/>
          <a:p>
            <a:fld id="{6264BDCF-5269-49AC-A246-ED26C2B980E3}" type="slidenum">
              <a:rPr lang="en-US" smtClean="0"/>
              <a:t>100</a:t>
            </a:fld>
            <a:endParaRPr lang="en-US"/>
          </a:p>
        </p:txBody>
      </p:sp>
    </p:spTree>
    <p:extLst>
      <p:ext uri="{BB962C8B-B14F-4D97-AF65-F5344CB8AC3E}">
        <p14:creationId xmlns:p14="http://schemas.microsoft.com/office/powerpoint/2010/main" val="261721738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3E4A0-7C50-6614-575E-A170FED9FAD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4F4CF8-C010-5552-17CD-0B238EDCE3A3}"/>
              </a:ext>
            </a:extLst>
          </p:cNvPr>
          <p:cNvSpPr>
            <a:spLocks noGrp="1"/>
          </p:cNvSpPr>
          <p:nvPr>
            <p:ph idx="1"/>
          </p:nvPr>
        </p:nvSpPr>
        <p:spPr/>
        <p:txBody>
          <a:bodyPr>
            <a:normAutofit fontScale="92500" lnSpcReduction="10000"/>
          </a:bodyPr>
          <a:lstStyle/>
          <a:p>
            <a:r>
              <a:rPr lang="en-US" dirty="0"/>
              <a:t>design relation schemas so that they have neither partial nor transitive dependencies because these types of dependencies cause the update anomalies</a:t>
            </a:r>
          </a:p>
          <a:p>
            <a:r>
              <a:rPr lang="en-US" dirty="0"/>
              <a:t>these definitions, however, do not take other candidate keys of a relation, if any, into account</a:t>
            </a:r>
          </a:p>
          <a:p>
            <a:r>
              <a:rPr lang="en-US" dirty="0"/>
              <a:t>more general definitions of 2NF and 3NF that take </a:t>
            </a:r>
            <a:r>
              <a:rPr lang="en-US" i="1" dirty="0"/>
              <a:t>all </a:t>
            </a:r>
            <a:r>
              <a:rPr lang="en-US" dirty="0"/>
              <a:t>candidate keys of a relation into account</a:t>
            </a:r>
          </a:p>
          <a:p>
            <a:r>
              <a:rPr lang="en-US" dirty="0"/>
              <a:t>prime attribute - attribute that is part of </a:t>
            </a:r>
            <a:r>
              <a:rPr lang="en-US" i="1" dirty="0"/>
              <a:t>any candidate key </a:t>
            </a:r>
            <a:r>
              <a:rPr lang="en-US" dirty="0"/>
              <a:t>will be considered as prime - partial and full functional dependencies and transitive dependencies will now be considered </a:t>
            </a:r>
            <a:r>
              <a:rPr lang="en-US" i="1" dirty="0"/>
              <a:t>with respect to all candidate keys </a:t>
            </a:r>
            <a:r>
              <a:rPr lang="en-US" dirty="0"/>
              <a:t>of a relation</a:t>
            </a:r>
          </a:p>
        </p:txBody>
      </p:sp>
      <p:sp>
        <p:nvSpPr>
          <p:cNvPr id="4" name="Slide Number Placeholder 3">
            <a:extLst>
              <a:ext uri="{FF2B5EF4-FFF2-40B4-BE49-F238E27FC236}">
                <a16:creationId xmlns:a16="http://schemas.microsoft.com/office/drawing/2014/main" id="{64942C67-1DD0-2433-03E5-E905BD0840CC}"/>
              </a:ext>
            </a:extLst>
          </p:cNvPr>
          <p:cNvSpPr>
            <a:spLocks noGrp="1"/>
          </p:cNvSpPr>
          <p:nvPr>
            <p:ph type="sldNum" sz="quarter" idx="12"/>
          </p:nvPr>
        </p:nvSpPr>
        <p:spPr/>
        <p:txBody>
          <a:bodyPr/>
          <a:lstStyle/>
          <a:p>
            <a:fld id="{6264BDCF-5269-49AC-A246-ED26C2B980E3}" type="slidenum">
              <a:rPr lang="en-US" smtClean="0"/>
              <a:t>101</a:t>
            </a:fld>
            <a:endParaRPr lang="en-US"/>
          </a:p>
        </p:txBody>
      </p:sp>
    </p:spTree>
    <p:extLst>
      <p:ext uri="{BB962C8B-B14F-4D97-AF65-F5344CB8AC3E}">
        <p14:creationId xmlns:p14="http://schemas.microsoft.com/office/powerpoint/2010/main" val="35756691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91A91-F8E8-C348-1749-3F4266010101}"/>
              </a:ext>
            </a:extLst>
          </p:cNvPr>
          <p:cNvSpPr>
            <a:spLocks noGrp="1"/>
          </p:cNvSpPr>
          <p:nvPr>
            <p:ph type="title"/>
          </p:nvPr>
        </p:nvSpPr>
        <p:spPr>
          <a:xfrm>
            <a:off x="838200" y="365125"/>
            <a:ext cx="10754032" cy="1325563"/>
          </a:xfrm>
        </p:spPr>
        <p:txBody>
          <a:bodyPr/>
          <a:lstStyle/>
          <a:p>
            <a:r>
              <a:rPr lang="en-US" dirty="0"/>
              <a:t>General Definition of Second Normal Form 2NF</a:t>
            </a:r>
          </a:p>
        </p:txBody>
      </p:sp>
      <p:sp>
        <p:nvSpPr>
          <p:cNvPr id="3" name="Content Placeholder 2">
            <a:extLst>
              <a:ext uri="{FF2B5EF4-FFF2-40B4-BE49-F238E27FC236}">
                <a16:creationId xmlns:a16="http://schemas.microsoft.com/office/drawing/2014/main" id="{30D9CF67-E3EE-9398-6673-FDDE991D5CA0}"/>
              </a:ext>
            </a:extLst>
          </p:cNvPr>
          <p:cNvSpPr>
            <a:spLocks noGrp="1"/>
          </p:cNvSpPr>
          <p:nvPr>
            <p:ph idx="1"/>
          </p:nvPr>
        </p:nvSpPr>
        <p:spPr/>
        <p:txBody>
          <a:bodyPr>
            <a:normAutofit/>
          </a:bodyPr>
          <a:lstStyle/>
          <a:p>
            <a:r>
              <a:rPr lang="en-US" dirty="0"/>
              <a:t>relation schema </a:t>
            </a:r>
            <a:r>
              <a:rPr lang="en-US" i="1" dirty="0"/>
              <a:t>R </a:t>
            </a:r>
            <a:r>
              <a:rPr lang="en-US" dirty="0"/>
              <a:t>is in </a:t>
            </a:r>
            <a:r>
              <a:rPr lang="en-US" b="1" dirty="0"/>
              <a:t>second normal form (2NF) </a:t>
            </a:r>
            <a:r>
              <a:rPr lang="en-US" dirty="0"/>
              <a:t>if every nonprime attribute </a:t>
            </a:r>
            <a:r>
              <a:rPr lang="en-US" i="1" dirty="0"/>
              <a:t>A </a:t>
            </a:r>
            <a:r>
              <a:rPr lang="en-US" dirty="0"/>
              <a:t>in </a:t>
            </a:r>
            <a:r>
              <a:rPr lang="en-US" i="1" dirty="0"/>
              <a:t>R </a:t>
            </a:r>
            <a:r>
              <a:rPr lang="en-US" dirty="0"/>
              <a:t>is not partially dependent on </a:t>
            </a:r>
            <a:r>
              <a:rPr lang="en-US" i="1" dirty="0"/>
              <a:t>any </a:t>
            </a:r>
            <a:r>
              <a:rPr lang="en-US" dirty="0"/>
              <a:t>key of </a:t>
            </a:r>
            <a:r>
              <a:rPr lang="en-US" i="1" dirty="0"/>
              <a:t>R</a:t>
            </a:r>
          </a:p>
          <a:p>
            <a:r>
              <a:rPr lang="en-US" dirty="0"/>
              <a:t>test for 2NF involves testing for functional dependencies whose left-hand side attributes are part of</a:t>
            </a:r>
            <a:r>
              <a:rPr lang="en-US" i="1" dirty="0"/>
              <a:t> </a:t>
            </a:r>
            <a:r>
              <a:rPr lang="en-US" dirty="0"/>
              <a:t>primary key; if primary key contains a single attribute, test need not be applied at all</a:t>
            </a:r>
          </a:p>
          <a:p>
            <a:endParaRPr lang="en-US" dirty="0"/>
          </a:p>
          <a:p>
            <a:r>
              <a:rPr lang="en-US" dirty="0"/>
              <a:t>relation schema </a:t>
            </a:r>
            <a:r>
              <a:rPr lang="en-US" i="1" dirty="0"/>
              <a:t>R </a:t>
            </a:r>
            <a:r>
              <a:rPr lang="en-US" dirty="0"/>
              <a:t>is in 2NF if every nonprime attribute </a:t>
            </a:r>
            <a:r>
              <a:rPr lang="en-US" i="1" dirty="0"/>
              <a:t>A </a:t>
            </a:r>
            <a:r>
              <a:rPr lang="en-US" dirty="0"/>
              <a:t>in </a:t>
            </a:r>
            <a:r>
              <a:rPr lang="en-US" i="1" dirty="0"/>
              <a:t>R </a:t>
            </a:r>
            <a:r>
              <a:rPr lang="en-US" dirty="0"/>
              <a:t>is fully functionally dependent on </a:t>
            </a:r>
            <a:r>
              <a:rPr lang="en-US" i="1" dirty="0"/>
              <a:t>every </a:t>
            </a:r>
            <a:r>
              <a:rPr lang="en-US" dirty="0"/>
              <a:t>key of </a:t>
            </a:r>
            <a:r>
              <a:rPr lang="en-US" i="1" dirty="0"/>
              <a:t>R</a:t>
            </a:r>
            <a:endParaRPr lang="en-US" dirty="0"/>
          </a:p>
        </p:txBody>
      </p:sp>
      <p:sp>
        <p:nvSpPr>
          <p:cNvPr id="4" name="Slide Number Placeholder 3">
            <a:extLst>
              <a:ext uri="{FF2B5EF4-FFF2-40B4-BE49-F238E27FC236}">
                <a16:creationId xmlns:a16="http://schemas.microsoft.com/office/drawing/2014/main" id="{B74429AA-2202-4B62-A153-FA4CB4EDCE12}"/>
              </a:ext>
            </a:extLst>
          </p:cNvPr>
          <p:cNvSpPr>
            <a:spLocks noGrp="1"/>
          </p:cNvSpPr>
          <p:nvPr>
            <p:ph type="sldNum" sz="quarter" idx="12"/>
          </p:nvPr>
        </p:nvSpPr>
        <p:spPr/>
        <p:txBody>
          <a:bodyPr/>
          <a:lstStyle/>
          <a:p>
            <a:fld id="{6264BDCF-5269-49AC-A246-ED26C2B980E3}" type="slidenum">
              <a:rPr lang="en-US" smtClean="0"/>
              <a:t>102</a:t>
            </a:fld>
            <a:endParaRPr lang="en-US"/>
          </a:p>
        </p:txBody>
      </p:sp>
    </p:spTree>
    <p:extLst>
      <p:ext uri="{BB962C8B-B14F-4D97-AF65-F5344CB8AC3E}">
        <p14:creationId xmlns:p14="http://schemas.microsoft.com/office/powerpoint/2010/main" val="30530137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4927F-D2B7-D95C-575C-51C12132FABF}"/>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FFC8FE2D-44ED-15FA-0D83-A1D41FA9C409}"/>
              </a:ext>
            </a:extLst>
          </p:cNvPr>
          <p:cNvPicPr>
            <a:picLocks noGrp="1" noChangeAspect="1"/>
          </p:cNvPicPr>
          <p:nvPr>
            <p:ph idx="1"/>
          </p:nvPr>
        </p:nvPicPr>
        <p:blipFill>
          <a:blip r:embed="rId2"/>
          <a:stretch>
            <a:fillRect/>
          </a:stretch>
        </p:blipFill>
        <p:spPr>
          <a:xfrm>
            <a:off x="731520" y="1463040"/>
            <a:ext cx="10779653" cy="4855351"/>
          </a:xfrm>
          <a:prstGeom prst="rect">
            <a:avLst/>
          </a:prstGeom>
        </p:spPr>
      </p:pic>
      <p:sp>
        <p:nvSpPr>
          <p:cNvPr id="4" name="Slide Number Placeholder 3">
            <a:extLst>
              <a:ext uri="{FF2B5EF4-FFF2-40B4-BE49-F238E27FC236}">
                <a16:creationId xmlns:a16="http://schemas.microsoft.com/office/drawing/2014/main" id="{01F86169-21CC-01E0-E1A8-BE40627A7E46}"/>
              </a:ext>
            </a:extLst>
          </p:cNvPr>
          <p:cNvSpPr>
            <a:spLocks noGrp="1"/>
          </p:cNvSpPr>
          <p:nvPr>
            <p:ph type="sldNum" sz="quarter" idx="12"/>
          </p:nvPr>
        </p:nvSpPr>
        <p:spPr/>
        <p:txBody>
          <a:bodyPr/>
          <a:lstStyle/>
          <a:p>
            <a:fld id="{6264BDCF-5269-49AC-A246-ED26C2B980E3}" type="slidenum">
              <a:rPr lang="en-US" smtClean="0"/>
              <a:t>103</a:t>
            </a:fld>
            <a:endParaRPr lang="en-US"/>
          </a:p>
        </p:txBody>
      </p:sp>
    </p:spTree>
    <p:extLst>
      <p:ext uri="{BB962C8B-B14F-4D97-AF65-F5344CB8AC3E}">
        <p14:creationId xmlns:p14="http://schemas.microsoft.com/office/powerpoint/2010/main" val="13169274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DAFF3-A52C-6778-8BA4-1E326A8E4C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78EBCB-A125-35B0-A262-A9A220B39219}"/>
              </a:ext>
            </a:extLst>
          </p:cNvPr>
          <p:cNvSpPr>
            <a:spLocks noGrp="1"/>
          </p:cNvSpPr>
          <p:nvPr>
            <p:ph idx="1"/>
          </p:nvPr>
        </p:nvSpPr>
        <p:spPr/>
        <p:txBody>
          <a:bodyPr/>
          <a:lstStyle/>
          <a:p>
            <a:r>
              <a:rPr lang="en-US" dirty="0"/>
              <a:t>relation schema LOTS describes parcels of land for sale in various counties of a state</a:t>
            </a:r>
          </a:p>
          <a:p>
            <a:r>
              <a:rPr lang="en-US" dirty="0"/>
              <a:t>two candidate keys: </a:t>
            </a:r>
            <a:r>
              <a:rPr lang="en-US" dirty="0" err="1"/>
              <a:t>Property_id</a:t>
            </a:r>
            <a:r>
              <a:rPr lang="en-US" dirty="0"/>
              <a:t># and {</a:t>
            </a:r>
            <a:r>
              <a:rPr lang="en-US" dirty="0" err="1"/>
              <a:t>County_name</a:t>
            </a:r>
            <a:r>
              <a:rPr lang="en-US" dirty="0"/>
              <a:t>, Lot#}; that is, lot numbers are unique only within each county, but </a:t>
            </a:r>
            <a:r>
              <a:rPr lang="en-US" dirty="0" err="1"/>
              <a:t>Property_id</a:t>
            </a:r>
            <a:r>
              <a:rPr lang="en-US" dirty="0"/>
              <a:t># numbers are unique across counties for entire state</a:t>
            </a:r>
          </a:p>
          <a:p>
            <a:endParaRPr lang="en-US" dirty="0"/>
          </a:p>
        </p:txBody>
      </p:sp>
      <p:sp>
        <p:nvSpPr>
          <p:cNvPr id="4" name="Slide Number Placeholder 3">
            <a:extLst>
              <a:ext uri="{FF2B5EF4-FFF2-40B4-BE49-F238E27FC236}">
                <a16:creationId xmlns:a16="http://schemas.microsoft.com/office/drawing/2014/main" id="{C5B78D43-2CE1-F2EC-C0F9-A6F8C442584C}"/>
              </a:ext>
            </a:extLst>
          </p:cNvPr>
          <p:cNvSpPr>
            <a:spLocks noGrp="1"/>
          </p:cNvSpPr>
          <p:nvPr>
            <p:ph type="sldNum" sz="quarter" idx="12"/>
          </p:nvPr>
        </p:nvSpPr>
        <p:spPr/>
        <p:txBody>
          <a:bodyPr/>
          <a:lstStyle/>
          <a:p>
            <a:fld id="{6264BDCF-5269-49AC-A246-ED26C2B980E3}" type="slidenum">
              <a:rPr lang="en-US" smtClean="0"/>
              <a:t>104</a:t>
            </a:fld>
            <a:endParaRPr lang="en-US"/>
          </a:p>
        </p:txBody>
      </p:sp>
    </p:spTree>
    <p:extLst>
      <p:ext uri="{BB962C8B-B14F-4D97-AF65-F5344CB8AC3E}">
        <p14:creationId xmlns:p14="http://schemas.microsoft.com/office/powerpoint/2010/main" val="144832263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B9BB8-C6F1-AA4D-1F12-DB2700A26B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6CC5F7-BEC9-EC90-4107-00608529128A}"/>
              </a:ext>
            </a:extLst>
          </p:cNvPr>
          <p:cNvSpPr>
            <a:spLocks noGrp="1"/>
          </p:cNvSpPr>
          <p:nvPr>
            <p:ph idx="1"/>
          </p:nvPr>
        </p:nvSpPr>
        <p:spPr>
          <a:xfrm>
            <a:off x="838200" y="1071716"/>
            <a:ext cx="10515600" cy="5105247"/>
          </a:xfrm>
        </p:spPr>
        <p:txBody>
          <a:bodyPr>
            <a:noAutofit/>
          </a:bodyPr>
          <a:lstStyle/>
          <a:p>
            <a:r>
              <a:rPr lang="en-US" sz="2700" dirty="0"/>
              <a:t>choose </a:t>
            </a:r>
            <a:r>
              <a:rPr lang="en-US" sz="2700" dirty="0" err="1"/>
              <a:t>Property_id</a:t>
            </a:r>
            <a:r>
              <a:rPr lang="en-US" sz="2700" dirty="0"/>
              <a:t># as primary key, so it is underlined </a:t>
            </a:r>
          </a:p>
          <a:p>
            <a:r>
              <a:rPr lang="en-US" sz="2700" dirty="0"/>
              <a:t>following additional functional dependencies hold in LOTS:</a:t>
            </a:r>
          </a:p>
          <a:p>
            <a:r>
              <a:rPr lang="en-US" sz="2700" dirty="0"/>
              <a:t>FD3: </a:t>
            </a:r>
            <a:r>
              <a:rPr lang="en-US" sz="2700" dirty="0" err="1"/>
              <a:t>County_name</a:t>
            </a:r>
            <a:r>
              <a:rPr lang="en-US" sz="2700" dirty="0"/>
              <a:t> → </a:t>
            </a:r>
            <a:r>
              <a:rPr lang="en-US" sz="2700" dirty="0" err="1"/>
              <a:t>Tax_rate</a:t>
            </a:r>
            <a:endParaRPr lang="en-US" sz="2700" dirty="0"/>
          </a:p>
          <a:p>
            <a:r>
              <a:rPr lang="en-US" sz="2700" dirty="0"/>
              <a:t>FD4: Area → Price</a:t>
            </a:r>
          </a:p>
          <a:p>
            <a:r>
              <a:rPr lang="en-US" sz="2700" dirty="0"/>
              <a:t>dependency FD3 says that tax rate is fixed for a given county (does not vary lot by lot within the same county)</a:t>
            </a:r>
          </a:p>
          <a:p>
            <a:r>
              <a:rPr lang="en-US" sz="2700" dirty="0"/>
              <a:t>dependency FD4 says that price of lot is determined by its area regardless of which county it is in - price of lot for tax purposes</a:t>
            </a:r>
          </a:p>
          <a:p>
            <a:r>
              <a:rPr lang="en-US" sz="2700" dirty="0"/>
              <a:t>LOTS relation schema violates general definition of 2NF because </a:t>
            </a:r>
            <a:r>
              <a:rPr lang="en-US" sz="2700" dirty="0" err="1"/>
              <a:t>Tax_rate</a:t>
            </a:r>
            <a:r>
              <a:rPr lang="en-US" sz="2700" dirty="0"/>
              <a:t> is partially dependent on candidate key {</a:t>
            </a:r>
            <a:r>
              <a:rPr lang="en-US" sz="2700" dirty="0" err="1"/>
              <a:t>County_name</a:t>
            </a:r>
            <a:r>
              <a:rPr lang="en-US" sz="2700" dirty="0"/>
              <a:t>, Lot#}, due to FD3</a:t>
            </a:r>
          </a:p>
        </p:txBody>
      </p:sp>
      <p:sp>
        <p:nvSpPr>
          <p:cNvPr id="4" name="Slide Number Placeholder 3">
            <a:extLst>
              <a:ext uri="{FF2B5EF4-FFF2-40B4-BE49-F238E27FC236}">
                <a16:creationId xmlns:a16="http://schemas.microsoft.com/office/drawing/2014/main" id="{E1644C10-AC77-C5CD-8D67-4E6FFE3F5A71}"/>
              </a:ext>
            </a:extLst>
          </p:cNvPr>
          <p:cNvSpPr>
            <a:spLocks noGrp="1"/>
          </p:cNvSpPr>
          <p:nvPr>
            <p:ph type="sldNum" sz="quarter" idx="12"/>
          </p:nvPr>
        </p:nvSpPr>
        <p:spPr/>
        <p:txBody>
          <a:bodyPr/>
          <a:lstStyle/>
          <a:p>
            <a:fld id="{6264BDCF-5269-49AC-A246-ED26C2B980E3}" type="slidenum">
              <a:rPr lang="en-US" smtClean="0"/>
              <a:t>105</a:t>
            </a:fld>
            <a:endParaRPr lang="en-US"/>
          </a:p>
        </p:txBody>
      </p:sp>
    </p:spTree>
    <p:extLst>
      <p:ext uri="{BB962C8B-B14F-4D97-AF65-F5344CB8AC3E}">
        <p14:creationId xmlns:p14="http://schemas.microsoft.com/office/powerpoint/2010/main" val="238557186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AAC4A-9858-033C-0153-A735C1457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4C49C-3629-E948-5C19-42BF1AB5A3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4EDE178-268A-9F9C-366E-8D636E9CD0D3}"/>
              </a:ext>
            </a:extLst>
          </p:cNvPr>
          <p:cNvSpPr>
            <a:spLocks noGrp="1"/>
          </p:cNvSpPr>
          <p:nvPr>
            <p:ph idx="1"/>
          </p:nvPr>
        </p:nvSpPr>
        <p:spPr/>
        <p:txBody>
          <a:bodyPr>
            <a:noAutofit/>
          </a:bodyPr>
          <a:lstStyle/>
          <a:p>
            <a:r>
              <a:rPr lang="en-US" dirty="0"/>
              <a:t>to normalize LOTS into 2NF, we decompose it into two relations LOTS1 and LOTS2,</a:t>
            </a:r>
          </a:p>
          <a:p>
            <a:r>
              <a:rPr lang="en-US" dirty="0"/>
              <a:t>LOTS1 by removing attribute </a:t>
            </a:r>
            <a:r>
              <a:rPr lang="en-US" dirty="0" err="1"/>
              <a:t>Tax_rate</a:t>
            </a:r>
            <a:r>
              <a:rPr lang="en-US" dirty="0"/>
              <a:t> that violates 2NF from LOTS and placing it with </a:t>
            </a:r>
            <a:r>
              <a:rPr lang="en-US" dirty="0" err="1"/>
              <a:t>County_name</a:t>
            </a:r>
            <a:r>
              <a:rPr lang="en-US" dirty="0"/>
              <a:t> (left-hand side of FD3 that causes partial dependency) into another relation LOTS2</a:t>
            </a:r>
          </a:p>
          <a:p>
            <a:r>
              <a:rPr lang="en-US" dirty="0"/>
              <a:t>both LOTS1 and LOTS2 are in 2NF</a:t>
            </a:r>
          </a:p>
          <a:p>
            <a:r>
              <a:rPr lang="en-US" dirty="0"/>
              <a:t>FD4 does not violate 2NF and is carried over to LOTS1</a:t>
            </a:r>
          </a:p>
        </p:txBody>
      </p:sp>
      <p:sp>
        <p:nvSpPr>
          <p:cNvPr id="4" name="Slide Number Placeholder 3">
            <a:extLst>
              <a:ext uri="{FF2B5EF4-FFF2-40B4-BE49-F238E27FC236}">
                <a16:creationId xmlns:a16="http://schemas.microsoft.com/office/drawing/2014/main" id="{1FC28E53-2C13-4723-A537-2153BDACFD9A}"/>
              </a:ext>
            </a:extLst>
          </p:cNvPr>
          <p:cNvSpPr>
            <a:spLocks noGrp="1"/>
          </p:cNvSpPr>
          <p:nvPr>
            <p:ph type="sldNum" sz="quarter" idx="12"/>
          </p:nvPr>
        </p:nvSpPr>
        <p:spPr/>
        <p:txBody>
          <a:bodyPr/>
          <a:lstStyle/>
          <a:p>
            <a:fld id="{6264BDCF-5269-49AC-A246-ED26C2B980E3}" type="slidenum">
              <a:rPr lang="en-US" smtClean="0"/>
              <a:t>106</a:t>
            </a:fld>
            <a:endParaRPr lang="en-US"/>
          </a:p>
        </p:txBody>
      </p:sp>
    </p:spTree>
    <p:extLst>
      <p:ext uri="{BB962C8B-B14F-4D97-AF65-F5344CB8AC3E}">
        <p14:creationId xmlns:p14="http://schemas.microsoft.com/office/powerpoint/2010/main" val="40039154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647EE-7834-5095-38E7-6FE21CD18B09}"/>
              </a:ext>
            </a:extLst>
          </p:cNvPr>
          <p:cNvSpPr>
            <a:spLocks noGrp="1"/>
          </p:cNvSpPr>
          <p:nvPr>
            <p:ph type="title"/>
          </p:nvPr>
        </p:nvSpPr>
        <p:spPr>
          <a:xfrm>
            <a:off x="838200" y="365125"/>
            <a:ext cx="11353800" cy="1325563"/>
          </a:xfrm>
        </p:spPr>
        <p:txBody>
          <a:bodyPr/>
          <a:lstStyle/>
          <a:p>
            <a:r>
              <a:rPr lang="en-US" dirty="0"/>
              <a:t>Decomposing into 2NF relations LOTS1 and LOTS2</a:t>
            </a:r>
          </a:p>
        </p:txBody>
      </p:sp>
      <p:sp>
        <p:nvSpPr>
          <p:cNvPr id="3" name="Content Placeholder 2">
            <a:extLst>
              <a:ext uri="{FF2B5EF4-FFF2-40B4-BE49-F238E27FC236}">
                <a16:creationId xmlns:a16="http://schemas.microsoft.com/office/drawing/2014/main" id="{3DE500DF-7109-21C3-A5FE-6CC43623A2A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63E2D47-7BEA-DE3D-5456-BAE962C6BA91}"/>
              </a:ext>
            </a:extLst>
          </p:cNvPr>
          <p:cNvSpPr>
            <a:spLocks noGrp="1"/>
          </p:cNvSpPr>
          <p:nvPr>
            <p:ph type="sldNum" sz="quarter" idx="12"/>
          </p:nvPr>
        </p:nvSpPr>
        <p:spPr/>
        <p:txBody>
          <a:bodyPr/>
          <a:lstStyle/>
          <a:p>
            <a:fld id="{6264BDCF-5269-49AC-A246-ED26C2B980E3}" type="slidenum">
              <a:rPr lang="en-US" smtClean="0"/>
              <a:t>107</a:t>
            </a:fld>
            <a:endParaRPr lang="en-US"/>
          </a:p>
        </p:txBody>
      </p:sp>
      <p:pic>
        <p:nvPicPr>
          <p:cNvPr id="6" name="Picture 5">
            <a:extLst>
              <a:ext uri="{FF2B5EF4-FFF2-40B4-BE49-F238E27FC236}">
                <a16:creationId xmlns:a16="http://schemas.microsoft.com/office/drawing/2014/main" id="{E54A07A8-FB5C-E633-03F2-B378441D3D4E}"/>
              </a:ext>
            </a:extLst>
          </p:cNvPr>
          <p:cNvPicPr>
            <a:picLocks noChangeAspect="1"/>
          </p:cNvPicPr>
          <p:nvPr/>
        </p:nvPicPr>
        <p:blipFill>
          <a:blip r:embed="rId2"/>
          <a:stretch>
            <a:fillRect/>
          </a:stretch>
        </p:blipFill>
        <p:spPr>
          <a:xfrm>
            <a:off x="640080" y="1825624"/>
            <a:ext cx="11230110" cy="2685902"/>
          </a:xfrm>
          <a:prstGeom prst="rect">
            <a:avLst/>
          </a:prstGeom>
        </p:spPr>
      </p:pic>
    </p:spTree>
    <p:extLst>
      <p:ext uri="{BB962C8B-B14F-4D97-AF65-F5344CB8AC3E}">
        <p14:creationId xmlns:p14="http://schemas.microsoft.com/office/powerpoint/2010/main" val="167587615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EB718-5374-4534-3D8B-ECA4B32AE533}"/>
              </a:ext>
            </a:extLst>
          </p:cNvPr>
          <p:cNvSpPr>
            <a:spLocks noGrp="1"/>
          </p:cNvSpPr>
          <p:nvPr>
            <p:ph type="title"/>
          </p:nvPr>
        </p:nvSpPr>
        <p:spPr/>
        <p:txBody>
          <a:bodyPr>
            <a:normAutofit fontScale="90000"/>
          </a:bodyPr>
          <a:lstStyle/>
          <a:p>
            <a:r>
              <a:rPr lang="en-US" dirty="0"/>
              <a:t>Decomposing LOTS1 into 3NF relations LOTS1A and LOTS1B normalization of LOTS into 3NF design</a:t>
            </a:r>
          </a:p>
        </p:txBody>
      </p:sp>
      <p:sp>
        <p:nvSpPr>
          <p:cNvPr id="4" name="Slide Number Placeholder 3">
            <a:extLst>
              <a:ext uri="{FF2B5EF4-FFF2-40B4-BE49-F238E27FC236}">
                <a16:creationId xmlns:a16="http://schemas.microsoft.com/office/drawing/2014/main" id="{6FBCEEED-7AC6-58E6-97EF-F8166EA88039}"/>
              </a:ext>
            </a:extLst>
          </p:cNvPr>
          <p:cNvSpPr>
            <a:spLocks noGrp="1"/>
          </p:cNvSpPr>
          <p:nvPr>
            <p:ph type="sldNum" sz="quarter" idx="12"/>
          </p:nvPr>
        </p:nvSpPr>
        <p:spPr/>
        <p:txBody>
          <a:bodyPr/>
          <a:lstStyle/>
          <a:p>
            <a:fld id="{6264BDCF-5269-49AC-A246-ED26C2B980E3}" type="slidenum">
              <a:rPr lang="en-US" smtClean="0"/>
              <a:t>108</a:t>
            </a:fld>
            <a:endParaRPr lang="en-US"/>
          </a:p>
        </p:txBody>
      </p:sp>
      <p:pic>
        <p:nvPicPr>
          <p:cNvPr id="6" name="Picture 5">
            <a:extLst>
              <a:ext uri="{FF2B5EF4-FFF2-40B4-BE49-F238E27FC236}">
                <a16:creationId xmlns:a16="http://schemas.microsoft.com/office/drawing/2014/main" id="{C361E41C-03B5-FAA0-EB31-DEFE64F60E4F}"/>
              </a:ext>
            </a:extLst>
          </p:cNvPr>
          <p:cNvPicPr>
            <a:picLocks noChangeAspect="1"/>
          </p:cNvPicPr>
          <p:nvPr/>
        </p:nvPicPr>
        <p:blipFill>
          <a:blip r:embed="rId2"/>
          <a:stretch>
            <a:fillRect/>
          </a:stretch>
        </p:blipFill>
        <p:spPr>
          <a:xfrm>
            <a:off x="640080" y="4114800"/>
            <a:ext cx="11076630" cy="2263337"/>
          </a:xfrm>
          <a:prstGeom prst="rect">
            <a:avLst/>
          </a:prstGeom>
        </p:spPr>
      </p:pic>
      <p:pic>
        <p:nvPicPr>
          <p:cNvPr id="7" name="Content Placeholder 6">
            <a:extLst>
              <a:ext uri="{FF2B5EF4-FFF2-40B4-BE49-F238E27FC236}">
                <a16:creationId xmlns:a16="http://schemas.microsoft.com/office/drawing/2014/main" id="{D4F43B3B-EB48-4080-7DA6-C76D7EFE12C7}"/>
              </a:ext>
            </a:extLst>
          </p:cNvPr>
          <p:cNvPicPr>
            <a:picLocks noGrp="1" noChangeAspect="1"/>
          </p:cNvPicPr>
          <p:nvPr>
            <p:ph idx="1"/>
          </p:nvPr>
        </p:nvPicPr>
        <p:blipFill>
          <a:blip r:embed="rId3"/>
          <a:stretch>
            <a:fillRect/>
          </a:stretch>
        </p:blipFill>
        <p:spPr>
          <a:xfrm>
            <a:off x="1554475" y="1554475"/>
            <a:ext cx="10385741" cy="2483954"/>
          </a:xfrm>
          <a:prstGeom prst="rect">
            <a:avLst/>
          </a:prstGeom>
        </p:spPr>
      </p:pic>
    </p:spTree>
    <p:extLst>
      <p:ext uri="{BB962C8B-B14F-4D97-AF65-F5344CB8AC3E}">
        <p14:creationId xmlns:p14="http://schemas.microsoft.com/office/powerpoint/2010/main" val="91056108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CF8A9-76EF-D635-8FD8-7C47ABAAA68F}"/>
              </a:ext>
            </a:extLst>
          </p:cNvPr>
          <p:cNvSpPr>
            <a:spLocks noGrp="1"/>
          </p:cNvSpPr>
          <p:nvPr>
            <p:ph type="title"/>
          </p:nvPr>
        </p:nvSpPr>
        <p:spPr/>
        <p:txBody>
          <a:bodyPr/>
          <a:lstStyle/>
          <a:p>
            <a:r>
              <a:rPr lang="en-US" dirty="0"/>
              <a:t>General Definition of Third Normal Form 3NF</a:t>
            </a:r>
          </a:p>
        </p:txBody>
      </p:sp>
      <p:sp>
        <p:nvSpPr>
          <p:cNvPr id="3" name="Content Placeholder 2">
            <a:extLst>
              <a:ext uri="{FF2B5EF4-FFF2-40B4-BE49-F238E27FC236}">
                <a16:creationId xmlns:a16="http://schemas.microsoft.com/office/drawing/2014/main" id="{B0B973E3-347F-34D7-F4E9-073D9A0E2330}"/>
              </a:ext>
            </a:extLst>
          </p:cNvPr>
          <p:cNvSpPr>
            <a:spLocks noGrp="1"/>
          </p:cNvSpPr>
          <p:nvPr>
            <p:ph idx="1"/>
          </p:nvPr>
        </p:nvSpPr>
        <p:spPr/>
        <p:txBody>
          <a:bodyPr/>
          <a:lstStyle/>
          <a:p>
            <a:r>
              <a:rPr lang="en-US" dirty="0"/>
              <a:t>relation schema </a:t>
            </a:r>
            <a:r>
              <a:rPr lang="en-US" i="1" dirty="0"/>
              <a:t>R </a:t>
            </a:r>
            <a:r>
              <a:rPr lang="en-US" dirty="0"/>
              <a:t>is in </a:t>
            </a:r>
            <a:r>
              <a:rPr lang="en-US" b="1" dirty="0"/>
              <a:t>third normal form (3NF) </a:t>
            </a:r>
            <a:r>
              <a:rPr lang="en-US" dirty="0"/>
              <a:t>if, whenever a </a:t>
            </a:r>
            <a:r>
              <a:rPr lang="en-US" i="1" dirty="0"/>
              <a:t>nontrivial </a:t>
            </a:r>
            <a:r>
              <a:rPr lang="en-US" dirty="0"/>
              <a:t>functional dependency </a:t>
            </a:r>
            <a:r>
              <a:rPr lang="en-US" i="1" dirty="0"/>
              <a:t>X </a:t>
            </a:r>
            <a:r>
              <a:rPr lang="en-US" dirty="0"/>
              <a:t>→ </a:t>
            </a:r>
            <a:r>
              <a:rPr lang="en-US" i="1" dirty="0"/>
              <a:t>A </a:t>
            </a:r>
            <a:r>
              <a:rPr lang="en-US" dirty="0"/>
              <a:t>holds in </a:t>
            </a:r>
            <a:r>
              <a:rPr lang="en-US" i="1" dirty="0"/>
              <a:t>R</a:t>
            </a:r>
            <a:r>
              <a:rPr lang="en-US" dirty="0"/>
              <a:t>, either (a) </a:t>
            </a:r>
            <a:r>
              <a:rPr lang="en-US" i="1" dirty="0"/>
              <a:t>X </a:t>
            </a:r>
            <a:r>
              <a:rPr lang="en-US" dirty="0"/>
              <a:t>is a </a:t>
            </a:r>
            <a:r>
              <a:rPr lang="en-US" dirty="0" err="1"/>
              <a:t>superkey</a:t>
            </a:r>
            <a:r>
              <a:rPr lang="en-US" dirty="0"/>
              <a:t> of </a:t>
            </a:r>
            <a:r>
              <a:rPr lang="en-US" i="1" dirty="0"/>
              <a:t>R</a:t>
            </a:r>
            <a:r>
              <a:rPr lang="en-US" dirty="0"/>
              <a:t>, or (b) </a:t>
            </a:r>
            <a:r>
              <a:rPr lang="en-US" i="1" dirty="0"/>
              <a:t>A </a:t>
            </a:r>
            <a:r>
              <a:rPr lang="en-US" dirty="0"/>
              <a:t>is a prime attribute of </a:t>
            </a:r>
            <a:r>
              <a:rPr lang="en-US" i="1" dirty="0"/>
              <a:t>R</a:t>
            </a:r>
          </a:p>
          <a:p>
            <a:endParaRPr lang="en-US" i="1" dirty="0"/>
          </a:p>
          <a:p>
            <a:endParaRPr lang="en-US" dirty="0"/>
          </a:p>
        </p:txBody>
      </p:sp>
      <p:sp>
        <p:nvSpPr>
          <p:cNvPr id="4" name="Slide Number Placeholder 3">
            <a:extLst>
              <a:ext uri="{FF2B5EF4-FFF2-40B4-BE49-F238E27FC236}">
                <a16:creationId xmlns:a16="http://schemas.microsoft.com/office/drawing/2014/main" id="{1D7765DA-2BFA-4D7F-434A-199BC1791AAC}"/>
              </a:ext>
            </a:extLst>
          </p:cNvPr>
          <p:cNvSpPr>
            <a:spLocks noGrp="1"/>
          </p:cNvSpPr>
          <p:nvPr>
            <p:ph type="sldNum" sz="quarter" idx="12"/>
          </p:nvPr>
        </p:nvSpPr>
        <p:spPr/>
        <p:txBody>
          <a:bodyPr/>
          <a:lstStyle/>
          <a:p>
            <a:fld id="{6264BDCF-5269-49AC-A246-ED26C2B980E3}" type="slidenum">
              <a:rPr lang="en-US" smtClean="0"/>
              <a:t>109</a:t>
            </a:fld>
            <a:endParaRPr lang="en-US"/>
          </a:p>
        </p:txBody>
      </p:sp>
    </p:spTree>
    <p:extLst>
      <p:ext uri="{BB962C8B-B14F-4D97-AF65-F5344CB8AC3E}">
        <p14:creationId xmlns:p14="http://schemas.microsoft.com/office/powerpoint/2010/main" val="147570906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F2721-8744-8F56-301A-0A61D16ACE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A7DFE7-E817-4DA9-D8B7-146CAC770627}"/>
              </a:ext>
            </a:extLst>
          </p:cNvPr>
          <p:cNvSpPr>
            <a:spLocks noGrp="1"/>
          </p:cNvSpPr>
          <p:nvPr>
            <p:ph idx="1"/>
          </p:nvPr>
        </p:nvSpPr>
        <p:spPr/>
        <p:txBody>
          <a:bodyPr>
            <a:normAutofit/>
          </a:bodyPr>
          <a:lstStyle/>
          <a:p>
            <a:r>
              <a:rPr lang="en-US" dirty="0"/>
              <a:t>according to this definition LOTS2 is in 3NF but FD4 in LOTS1 violates 3NF because Area is not a </a:t>
            </a:r>
            <a:r>
              <a:rPr lang="en-US" dirty="0" err="1"/>
              <a:t>superkey</a:t>
            </a:r>
            <a:r>
              <a:rPr lang="en-US" dirty="0"/>
              <a:t> and Price is not a prime attribute in LOTS1</a:t>
            </a:r>
          </a:p>
          <a:p>
            <a:r>
              <a:rPr lang="en-US" dirty="0"/>
              <a:t>to normalize LOTS1 into 3NF, we decompose it into relation schemas LOTS1A and LOTS1B </a:t>
            </a:r>
          </a:p>
          <a:p>
            <a:r>
              <a:rPr lang="en-US" dirty="0"/>
              <a:t>construct LOTS1A by removing attribute Price that violates 3NF from LOTS1 and placing it with Area (the left-hand side of FD4 that causes the transitive dependency) into another relation LOTS1B</a:t>
            </a:r>
          </a:p>
          <a:p>
            <a:r>
              <a:rPr lang="en-US" dirty="0"/>
              <a:t>both LOTS1A and LOTS1B are in 3NF</a:t>
            </a:r>
          </a:p>
        </p:txBody>
      </p:sp>
      <p:sp>
        <p:nvSpPr>
          <p:cNvPr id="4" name="Slide Number Placeholder 3">
            <a:extLst>
              <a:ext uri="{FF2B5EF4-FFF2-40B4-BE49-F238E27FC236}">
                <a16:creationId xmlns:a16="http://schemas.microsoft.com/office/drawing/2014/main" id="{A863764C-CEB0-79D2-8404-E961FFD04C6A}"/>
              </a:ext>
            </a:extLst>
          </p:cNvPr>
          <p:cNvSpPr>
            <a:spLocks noGrp="1"/>
          </p:cNvSpPr>
          <p:nvPr>
            <p:ph type="sldNum" sz="quarter" idx="12"/>
          </p:nvPr>
        </p:nvSpPr>
        <p:spPr/>
        <p:txBody>
          <a:bodyPr/>
          <a:lstStyle/>
          <a:p>
            <a:fld id="{6264BDCF-5269-49AC-A246-ED26C2B980E3}" type="slidenum">
              <a:rPr lang="en-US" smtClean="0"/>
              <a:t>110</a:t>
            </a:fld>
            <a:endParaRPr lang="en-US"/>
          </a:p>
        </p:txBody>
      </p:sp>
    </p:spTree>
    <p:extLst>
      <p:ext uri="{BB962C8B-B14F-4D97-AF65-F5344CB8AC3E}">
        <p14:creationId xmlns:p14="http://schemas.microsoft.com/office/powerpoint/2010/main" val="70657521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BC50-94A0-4323-9A4F-FD02B10372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DF4EB6-3755-94C0-8BA0-C5EF634DA174}"/>
              </a:ext>
            </a:extLst>
          </p:cNvPr>
          <p:cNvSpPr>
            <a:spLocks noGrp="1"/>
          </p:cNvSpPr>
          <p:nvPr>
            <p:ph idx="1"/>
          </p:nvPr>
        </p:nvSpPr>
        <p:spPr>
          <a:xfrm>
            <a:off x="838199" y="1825625"/>
            <a:ext cx="10763865" cy="4351338"/>
          </a:xfrm>
        </p:spPr>
        <p:txBody>
          <a:bodyPr>
            <a:normAutofit lnSpcReduction="10000"/>
          </a:bodyPr>
          <a:lstStyle/>
          <a:p>
            <a:r>
              <a:rPr lang="en-US" dirty="0"/>
              <a:t>this general definition can be applied directly to test whether a relation schema is in 3NF; it does not have to go through 2NF first</a:t>
            </a:r>
          </a:p>
          <a:p>
            <a:r>
              <a:rPr lang="en-US" dirty="0"/>
              <a:t>if relation passes general 3NF test, then it automatically passes 2NF test</a:t>
            </a:r>
          </a:p>
          <a:p>
            <a:endParaRPr lang="en-US" dirty="0"/>
          </a:p>
          <a:p>
            <a:r>
              <a:rPr lang="en-US" dirty="0"/>
              <a:t>if apply the above 3NF definition to LOTS with dependencies FD1 through FD4, we find that </a:t>
            </a:r>
            <a:r>
              <a:rPr lang="en-US" i="1" dirty="0"/>
              <a:t>both </a:t>
            </a:r>
            <a:r>
              <a:rPr lang="en-US" dirty="0"/>
              <a:t>FD3 and FD4 violate 3NF by general definition because the LHS </a:t>
            </a:r>
            <a:r>
              <a:rPr lang="en-US" dirty="0" err="1"/>
              <a:t>County_name</a:t>
            </a:r>
            <a:r>
              <a:rPr lang="en-US" dirty="0"/>
              <a:t> in FD3 is not a </a:t>
            </a:r>
            <a:r>
              <a:rPr lang="en-US" dirty="0" err="1"/>
              <a:t>superkey</a:t>
            </a:r>
            <a:endParaRPr lang="en-US" dirty="0"/>
          </a:p>
          <a:p>
            <a:r>
              <a:rPr lang="en-US" dirty="0"/>
              <a:t>decompose LOTS into LOTS1A, LOTS1B, and LOTS2 directly</a:t>
            </a:r>
          </a:p>
          <a:p>
            <a:r>
              <a:rPr lang="en-US" dirty="0"/>
              <a:t>transitive and partial dependencies that violate 3NF can be removed in any order</a:t>
            </a:r>
          </a:p>
        </p:txBody>
      </p:sp>
      <p:sp>
        <p:nvSpPr>
          <p:cNvPr id="4" name="Slide Number Placeholder 3">
            <a:extLst>
              <a:ext uri="{FF2B5EF4-FFF2-40B4-BE49-F238E27FC236}">
                <a16:creationId xmlns:a16="http://schemas.microsoft.com/office/drawing/2014/main" id="{E956D836-2920-D2FC-C401-0914CB6BFF92}"/>
              </a:ext>
            </a:extLst>
          </p:cNvPr>
          <p:cNvSpPr>
            <a:spLocks noGrp="1"/>
          </p:cNvSpPr>
          <p:nvPr>
            <p:ph type="sldNum" sz="quarter" idx="12"/>
          </p:nvPr>
        </p:nvSpPr>
        <p:spPr/>
        <p:txBody>
          <a:bodyPr/>
          <a:lstStyle/>
          <a:p>
            <a:fld id="{6264BDCF-5269-49AC-A246-ED26C2B980E3}" type="slidenum">
              <a:rPr lang="en-US" smtClean="0"/>
              <a:t>111</a:t>
            </a:fld>
            <a:endParaRPr lang="en-US"/>
          </a:p>
        </p:txBody>
      </p:sp>
    </p:spTree>
    <p:extLst>
      <p:ext uri="{BB962C8B-B14F-4D97-AF65-F5344CB8AC3E}">
        <p14:creationId xmlns:p14="http://schemas.microsoft.com/office/powerpoint/2010/main" val="21906354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20E5-3BAD-8D4E-F217-CE07045AD7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4EC944-0B67-05CB-84DA-2350A25D7E12}"/>
              </a:ext>
            </a:extLst>
          </p:cNvPr>
          <p:cNvSpPr>
            <a:spLocks noGrp="1"/>
          </p:cNvSpPr>
          <p:nvPr>
            <p:ph idx="1"/>
          </p:nvPr>
        </p:nvSpPr>
        <p:spPr/>
        <p:txBody>
          <a:bodyPr>
            <a:normAutofit/>
          </a:bodyPr>
          <a:lstStyle/>
          <a:p>
            <a:r>
              <a:rPr lang="en-US" dirty="0"/>
              <a:t>if apply the above 3NF definition to LOTS with dependencies FD1 through FD4, we find that </a:t>
            </a:r>
            <a:r>
              <a:rPr lang="en-US" i="1" dirty="0"/>
              <a:t>both </a:t>
            </a:r>
            <a:r>
              <a:rPr lang="en-US" dirty="0"/>
              <a:t>FD3 and FD4 violate 3NF by general definition because the LHS </a:t>
            </a:r>
            <a:r>
              <a:rPr lang="en-US" dirty="0" err="1"/>
              <a:t>County_name</a:t>
            </a:r>
            <a:r>
              <a:rPr lang="en-US" dirty="0"/>
              <a:t> in FD3 is not a </a:t>
            </a:r>
            <a:r>
              <a:rPr lang="en-US" dirty="0" err="1"/>
              <a:t>superkey</a:t>
            </a:r>
            <a:endParaRPr lang="en-US" dirty="0"/>
          </a:p>
          <a:p>
            <a:r>
              <a:rPr lang="en-US" dirty="0"/>
              <a:t>decompose LOTS into LOTS1A, LOTS1B, and LOTS2 directly</a:t>
            </a:r>
          </a:p>
          <a:p>
            <a:r>
              <a:rPr lang="en-US" dirty="0"/>
              <a:t>transitive and partial dependencies that violate 3NF can be removed in any order</a:t>
            </a:r>
          </a:p>
        </p:txBody>
      </p:sp>
      <p:sp>
        <p:nvSpPr>
          <p:cNvPr id="4" name="Slide Number Placeholder 3">
            <a:extLst>
              <a:ext uri="{FF2B5EF4-FFF2-40B4-BE49-F238E27FC236}">
                <a16:creationId xmlns:a16="http://schemas.microsoft.com/office/drawing/2014/main" id="{DC367055-25C4-B217-42F2-9F0D8740EF1B}"/>
              </a:ext>
            </a:extLst>
          </p:cNvPr>
          <p:cNvSpPr>
            <a:spLocks noGrp="1"/>
          </p:cNvSpPr>
          <p:nvPr>
            <p:ph type="sldNum" sz="quarter" idx="12"/>
          </p:nvPr>
        </p:nvSpPr>
        <p:spPr/>
        <p:txBody>
          <a:bodyPr/>
          <a:lstStyle/>
          <a:p>
            <a:fld id="{6264BDCF-5269-49AC-A246-ED26C2B980E3}" type="slidenum">
              <a:rPr lang="en-US" smtClean="0"/>
              <a:t>112</a:t>
            </a:fld>
            <a:endParaRPr lang="en-US"/>
          </a:p>
        </p:txBody>
      </p:sp>
    </p:spTree>
    <p:extLst>
      <p:ext uri="{BB962C8B-B14F-4D97-AF65-F5344CB8AC3E}">
        <p14:creationId xmlns:p14="http://schemas.microsoft.com/office/powerpoint/2010/main" val="72447078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D849C-48CA-2578-265C-AC2A35240A77}"/>
              </a:ext>
            </a:extLst>
          </p:cNvPr>
          <p:cNvSpPr>
            <a:spLocks noGrp="1"/>
          </p:cNvSpPr>
          <p:nvPr>
            <p:ph type="title"/>
          </p:nvPr>
        </p:nvSpPr>
        <p:spPr/>
        <p:txBody>
          <a:bodyPr/>
          <a:lstStyle/>
          <a:p>
            <a:r>
              <a:rPr lang="en-US" dirty="0"/>
              <a:t>General Definition of Third Normal Form 3NF</a:t>
            </a:r>
          </a:p>
        </p:txBody>
      </p:sp>
      <p:sp>
        <p:nvSpPr>
          <p:cNvPr id="3" name="Content Placeholder 2">
            <a:extLst>
              <a:ext uri="{FF2B5EF4-FFF2-40B4-BE49-F238E27FC236}">
                <a16:creationId xmlns:a16="http://schemas.microsoft.com/office/drawing/2014/main" id="{1B424D8B-AB6F-7487-8EE7-E6CE033E3A12}"/>
              </a:ext>
            </a:extLst>
          </p:cNvPr>
          <p:cNvSpPr>
            <a:spLocks noGrp="1"/>
          </p:cNvSpPr>
          <p:nvPr>
            <p:ph idx="1"/>
          </p:nvPr>
        </p:nvSpPr>
        <p:spPr>
          <a:xfrm>
            <a:off x="838200" y="1825625"/>
            <a:ext cx="11216148" cy="4351338"/>
          </a:xfrm>
        </p:spPr>
        <p:txBody>
          <a:bodyPr>
            <a:noAutofit/>
          </a:bodyPr>
          <a:lstStyle/>
          <a:p>
            <a:r>
              <a:rPr lang="en-US" dirty="0"/>
              <a:t>relation schema </a:t>
            </a:r>
            <a:r>
              <a:rPr lang="en-US" i="1" dirty="0"/>
              <a:t>R </a:t>
            </a:r>
            <a:r>
              <a:rPr lang="en-US" dirty="0"/>
              <a:t>violates the general definition of 3NF if a functional dependency </a:t>
            </a:r>
            <a:r>
              <a:rPr lang="en-US" i="1" dirty="0"/>
              <a:t>X </a:t>
            </a:r>
            <a:r>
              <a:rPr lang="en-US" dirty="0"/>
              <a:t>→ </a:t>
            </a:r>
            <a:r>
              <a:rPr lang="en-US" i="1" dirty="0"/>
              <a:t>A </a:t>
            </a:r>
            <a:r>
              <a:rPr lang="en-US" dirty="0"/>
              <a:t>holds in </a:t>
            </a:r>
            <a:r>
              <a:rPr lang="en-US" i="1" dirty="0"/>
              <a:t>R </a:t>
            </a:r>
            <a:r>
              <a:rPr lang="en-US" dirty="0"/>
              <a:t>that meets either of the two conditions:</a:t>
            </a:r>
          </a:p>
          <a:p>
            <a:pPr lvl="1"/>
            <a:r>
              <a:rPr lang="en-US" sz="2700" dirty="0"/>
              <a:t>a nonprime attribute determines another nonprime attribute</a:t>
            </a:r>
          </a:p>
          <a:p>
            <a:pPr lvl="2"/>
            <a:r>
              <a:rPr lang="en-US" sz="2600" dirty="0"/>
              <a:t>have a transitive dependency that violates 3NF</a:t>
            </a:r>
          </a:p>
          <a:p>
            <a:pPr lvl="1"/>
            <a:r>
              <a:rPr lang="en-US" sz="2700" dirty="0"/>
              <a:t>a proper subset of a key of </a:t>
            </a:r>
            <a:r>
              <a:rPr lang="en-US" sz="2700" i="1" dirty="0"/>
              <a:t>R </a:t>
            </a:r>
            <a:r>
              <a:rPr lang="en-US" sz="2700" dirty="0"/>
              <a:t>functionally determines a nonprime attribute</a:t>
            </a:r>
          </a:p>
          <a:p>
            <a:pPr lvl="2"/>
            <a:r>
              <a:rPr lang="en-US" sz="2600" dirty="0"/>
              <a:t>have a partial dependency that violates 2NF</a:t>
            </a:r>
          </a:p>
          <a:p>
            <a:r>
              <a:rPr lang="en-US" dirty="0"/>
              <a:t>addresses the problematic dependencies that were causes for second and third normalization</a:t>
            </a:r>
          </a:p>
        </p:txBody>
      </p:sp>
      <p:sp>
        <p:nvSpPr>
          <p:cNvPr id="4" name="Slide Number Placeholder 3">
            <a:extLst>
              <a:ext uri="{FF2B5EF4-FFF2-40B4-BE49-F238E27FC236}">
                <a16:creationId xmlns:a16="http://schemas.microsoft.com/office/drawing/2014/main" id="{1186AA2A-6ABB-3FF2-899F-11D414E1A85B}"/>
              </a:ext>
            </a:extLst>
          </p:cNvPr>
          <p:cNvSpPr>
            <a:spLocks noGrp="1"/>
          </p:cNvSpPr>
          <p:nvPr>
            <p:ph type="sldNum" sz="quarter" idx="12"/>
          </p:nvPr>
        </p:nvSpPr>
        <p:spPr/>
        <p:txBody>
          <a:bodyPr/>
          <a:lstStyle/>
          <a:p>
            <a:fld id="{6264BDCF-5269-49AC-A246-ED26C2B980E3}" type="slidenum">
              <a:rPr lang="en-US" smtClean="0"/>
              <a:t>113</a:t>
            </a:fld>
            <a:endParaRPr lang="en-US"/>
          </a:p>
        </p:txBody>
      </p:sp>
    </p:spTree>
    <p:extLst>
      <p:ext uri="{BB962C8B-B14F-4D97-AF65-F5344CB8AC3E}">
        <p14:creationId xmlns:p14="http://schemas.microsoft.com/office/powerpoint/2010/main" val="257465868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FD4DF-D341-16E1-BFE5-4B0457048D66}"/>
              </a:ext>
            </a:extLst>
          </p:cNvPr>
          <p:cNvSpPr>
            <a:spLocks noGrp="1"/>
          </p:cNvSpPr>
          <p:nvPr>
            <p:ph type="title"/>
          </p:nvPr>
        </p:nvSpPr>
        <p:spPr/>
        <p:txBody>
          <a:bodyPr/>
          <a:lstStyle/>
          <a:p>
            <a:r>
              <a:rPr lang="en-US" dirty="0"/>
              <a:t>General alternative Definition of </a:t>
            </a:r>
            <a:br>
              <a:rPr lang="en-US" dirty="0"/>
            </a:br>
            <a:r>
              <a:rPr lang="en-US" dirty="0"/>
              <a:t>Third Normal Form 3NF</a:t>
            </a:r>
          </a:p>
        </p:txBody>
      </p:sp>
      <p:sp>
        <p:nvSpPr>
          <p:cNvPr id="3" name="Content Placeholder 2">
            <a:extLst>
              <a:ext uri="{FF2B5EF4-FFF2-40B4-BE49-F238E27FC236}">
                <a16:creationId xmlns:a16="http://schemas.microsoft.com/office/drawing/2014/main" id="{D2891F08-37A2-B261-09AF-AC376D654E89}"/>
              </a:ext>
            </a:extLst>
          </p:cNvPr>
          <p:cNvSpPr>
            <a:spLocks noGrp="1"/>
          </p:cNvSpPr>
          <p:nvPr>
            <p:ph idx="1"/>
          </p:nvPr>
        </p:nvSpPr>
        <p:spPr/>
        <p:txBody>
          <a:bodyPr>
            <a:noAutofit/>
          </a:bodyPr>
          <a:lstStyle/>
          <a:p>
            <a:r>
              <a:rPr lang="en-US" dirty="0"/>
              <a:t>relation schema </a:t>
            </a:r>
            <a:r>
              <a:rPr lang="en-US" i="1" dirty="0"/>
              <a:t>R </a:t>
            </a:r>
            <a:r>
              <a:rPr lang="en-US" dirty="0"/>
              <a:t>is in 3NF if every nonprime attribute of </a:t>
            </a:r>
            <a:r>
              <a:rPr lang="en-US" i="1" dirty="0"/>
              <a:t>R </a:t>
            </a:r>
            <a:r>
              <a:rPr lang="en-US" dirty="0"/>
              <a:t>meets both of the following conditions:</a:t>
            </a:r>
          </a:p>
          <a:p>
            <a:r>
              <a:rPr lang="en-US" dirty="0"/>
              <a:t>it is fully functionally dependent on every key of </a:t>
            </a:r>
            <a:r>
              <a:rPr lang="en-US" i="1" dirty="0"/>
              <a:t>R</a:t>
            </a:r>
            <a:r>
              <a:rPr lang="en-US" dirty="0"/>
              <a:t>.</a:t>
            </a:r>
          </a:p>
          <a:p>
            <a:r>
              <a:rPr lang="en-US" dirty="0"/>
              <a:t>it is </a:t>
            </a:r>
            <a:r>
              <a:rPr lang="en-US" dirty="0" err="1"/>
              <a:t>nontransitively</a:t>
            </a:r>
            <a:r>
              <a:rPr lang="en-US" dirty="0"/>
              <a:t> dependent on every key of </a:t>
            </a:r>
            <a:r>
              <a:rPr lang="en-US" i="1" dirty="0"/>
              <a:t>R</a:t>
            </a:r>
            <a:r>
              <a:rPr lang="en-US" dirty="0"/>
              <a:t>.</a:t>
            </a:r>
          </a:p>
          <a:p>
            <a:endParaRPr lang="en-US" sz="1200" dirty="0"/>
          </a:p>
          <a:p>
            <a:r>
              <a:rPr lang="en-US" dirty="0"/>
              <a:t>note that the last clause in the general definition of 3NF allows certain functional dependencies to slip through or escape in that they are OK with the 3NF definition and hence are not “caught” by the 3NF definition even though they may be potentially problematic</a:t>
            </a:r>
          </a:p>
          <a:p>
            <a:r>
              <a:rPr lang="en-US" sz="2700" dirty="0"/>
              <a:t>Boyce-Codd normal form “catches” these dependencies in that it does not allow them</a:t>
            </a:r>
          </a:p>
        </p:txBody>
      </p:sp>
      <p:sp>
        <p:nvSpPr>
          <p:cNvPr id="4" name="Slide Number Placeholder 3">
            <a:extLst>
              <a:ext uri="{FF2B5EF4-FFF2-40B4-BE49-F238E27FC236}">
                <a16:creationId xmlns:a16="http://schemas.microsoft.com/office/drawing/2014/main" id="{E5A10DBA-A442-6A5C-9000-DE5D508312F2}"/>
              </a:ext>
            </a:extLst>
          </p:cNvPr>
          <p:cNvSpPr>
            <a:spLocks noGrp="1"/>
          </p:cNvSpPr>
          <p:nvPr>
            <p:ph type="sldNum" sz="quarter" idx="12"/>
          </p:nvPr>
        </p:nvSpPr>
        <p:spPr/>
        <p:txBody>
          <a:bodyPr/>
          <a:lstStyle/>
          <a:p>
            <a:fld id="{6264BDCF-5269-49AC-A246-ED26C2B980E3}" type="slidenum">
              <a:rPr lang="en-US" smtClean="0"/>
              <a:t>114</a:t>
            </a:fld>
            <a:endParaRPr lang="en-US"/>
          </a:p>
        </p:txBody>
      </p:sp>
    </p:spTree>
    <p:extLst>
      <p:ext uri="{BB962C8B-B14F-4D97-AF65-F5344CB8AC3E}">
        <p14:creationId xmlns:p14="http://schemas.microsoft.com/office/powerpoint/2010/main" val="39653489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8813A-781A-4879-8A40-5B5101A6469E}"/>
              </a:ext>
            </a:extLst>
          </p:cNvPr>
          <p:cNvSpPr>
            <a:spLocks noGrp="1"/>
          </p:cNvSpPr>
          <p:nvPr>
            <p:ph type="title"/>
          </p:nvPr>
        </p:nvSpPr>
        <p:spPr/>
        <p:txBody>
          <a:bodyPr/>
          <a:lstStyle/>
          <a:p>
            <a:r>
              <a:rPr lang="en-US" dirty="0"/>
              <a:t>Boyce-Codd normal form (BCNF)</a:t>
            </a:r>
          </a:p>
        </p:txBody>
      </p:sp>
      <p:sp>
        <p:nvSpPr>
          <p:cNvPr id="3" name="Content Placeholder 2">
            <a:extLst>
              <a:ext uri="{FF2B5EF4-FFF2-40B4-BE49-F238E27FC236}">
                <a16:creationId xmlns:a16="http://schemas.microsoft.com/office/drawing/2014/main" id="{7C37EDEE-E3D1-6048-891D-953003F0ACB0}"/>
              </a:ext>
            </a:extLst>
          </p:cNvPr>
          <p:cNvSpPr>
            <a:spLocks noGrp="1"/>
          </p:cNvSpPr>
          <p:nvPr>
            <p:ph idx="1"/>
          </p:nvPr>
        </p:nvSpPr>
        <p:spPr/>
        <p:txBody>
          <a:bodyPr>
            <a:normAutofit/>
          </a:bodyPr>
          <a:lstStyle/>
          <a:p>
            <a:r>
              <a:rPr lang="en-US" dirty="0"/>
              <a:t>proposed as a simpler form of 3NF, but it was found to be stricter than 3NF</a:t>
            </a:r>
          </a:p>
          <a:p>
            <a:r>
              <a:rPr lang="en-US" dirty="0"/>
              <a:t>every relation in BCNF is also in 3NF;</a:t>
            </a:r>
          </a:p>
          <a:p>
            <a:r>
              <a:rPr lang="en-US" dirty="0"/>
              <a:t>relation in 3NF is </a:t>
            </a:r>
            <a:r>
              <a:rPr lang="en-US" i="1" dirty="0"/>
              <a:t>not necessarily </a:t>
            </a:r>
            <a:r>
              <a:rPr lang="en-US" dirty="0"/>
              <a:t>in BCNF</a:t>
            </a:r>
          </a:p>
          <a:p>
            <a:r>
              <a:rPr lang="en-US" dirty="0"/>
              <a:t>3NF allows functional dependencies that conform to last clause in 3NF definition, BCNF disallows them and hence is a stricter definition of a normal form</a:t>
            </a:r>
          </a:p>
        </p:txBody>
      </p:sp>
      <p:sp>
        <p:nvSpPr>
          <p:cNvPr id="4" name="Slide Number Placeholder 3">
            <a:extLst>
              <a:ext uri="{FF2B5EF4-FFF2-40B4-BE49-F238E27FC236}">
                <a16:creationId xmlns:a16="http://schemas.microsoft.com/office/drawing/2014/main" id="{2680A209-2079-C47C-A57F-337AD4E65837}"/>
              </a:ext>
            </a:extLst>
          </p:cNvPr>
          <p:cNvSpPr>
            <a:spLocks noGrp="1"/>
          </p:cNvSpPr>
          <p:nvPr>
            <p:ph type="sldNum" sz="quarter" idx="12"/>
          </p:nvPr>
        </p:nvSpPr>
        <p:spPr/>
        <p:txBody>
          <a:bodyPr/>
          <a:lstStyle/>
          <a:p>
            <a:fld id="{6264BDCF-5269-49AC-A246-ED26C2B980E3}" type="slidenum">
              <a:rPr lang="en-US" smtClean="0"/>
              <a:t>115</a:t>
            </a:fld>
            <a:endParaRPr lang="en-US"/>
          </a:p>
        </p:txBody>
      </p:sp>
    </p:spTree>
    <p:extLst>
      <p:ext uri="{BB962C8B-B14F-4D97-AF65-F5344CB8AC3E}">
        <p14:creationId xmlns:p14="http://schemas.microsoft.com/office/powerpoint/2010/main" val="187065437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D714-7A26-63CE-C97A-C628A5E32A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C16D50-CAC2-9EB9-87D9-AB52C2D2EB2D}"/>
              </a:ext>
            </a:extLst>
          </p:cNvPr>
          <p:cNvSpPr>
            <a:spLocks noGrp="1"/>
          </p:cNvSpPr>
          <p:nvPr>
            <p:ph idx="1"/>
          </p:nvPr>
        </p:nvSpPr>
        <p:spPr/>
        <p:txBody>
          <a:bodyPr>
            <a:normAutofit/>
          </a:bodyPr>
          <a:lstStyle/>
          <a:p>
            <a:r>
              <a:rPr lang="en-US" dirty="0"/>
              <a:t>suppose that we have thousands of lots in relation but the lots are from only two counties; suppose also that lot sizes in first county are only 0.5, 0.6, 0.7, 0.8, 0.9, and 1.0 acres, whereas lot sizes in second county are restricted to 1.1, 1.2, … , 1.9, and 2.0 acres</a:t>
            </a:r>
          </a:p>
          <a:p>
            <a:r>
              <a:rPr lang="en-US" dirty="0"/>
              <a:t>have additional functional dependency FD5: Area → </a:t>
            </a:r>
            <a:r>
              <a:rPr lang="en-US" dirty="0" err="1"/>
              <a:t>County_name</a:t>
            </a:r>
            <a:endParaRPr lang="en-US" dirty="0"/>
          </a:p>
          <a:p>
            <a:r>
              <a:rPr lang="en-US" dirty="0"/>
              <a:t>add this to other dependencies, relation schema LOTS1A still is in 3NF because this FD conforms to clause in the general definition of 3NF, </a:t>
            </a:r>
            <a:r>
              <a:rPr lang="en-US" dirty="0" err="1"/>
              <a:t>County_name</a:t>
            </a:r>
            <a:r>
              <a:rPr lang="en-US" dirty="0"/>
              <a:t> being a prime attribute</a:t>
            </a:r>
          </a:p>
          <a:p>
            <a:endParaRPr lang="en-US" dirty="0"/>
          </a:p>
        </p:txBody>
      </p:sp>
      <p:sp>
        <p:nvSpPr>
          <p:cNvPr id="4" name="Slide Number Placeholder 3">
            <a:extLst>
              <a:ext uri="{FF2B5EF4-FFF2-40B4-BE49-F238E27FC236}">
                <a16:creationId xmlns:a16="http://schemas.microsoft.com/office/drawing/2014/main" id="{FEB340A5-1806-21CD-0EAA-7919AA3D8B3D}"/>
              </a:ext>
            </a:extLst>
          </p:cNvPr>
          <p:cNvSpPr>
            <a:spLocks noGrp="1"/>
          </p:cNvSpPr>
          <p:nvPr>
            <p:ph type="sldNum" sz="quarter" idx="12"/>
          </p:nvPr>
        </p:nvSpPr>
        <p:spPr/>
        <p:txBody>
          <a:bodyPr/>
          <a:lstStyle/>
          <a:p>
            <a:fld id="{6264BDCF-5269-49AC-A246-ED26C2B980E3}" type="slidenum">
              <a:rPr lang="en-US" smtClean="0"/>
              <a:t>116</a:t>
            </a:fld>
            <a:endParaRPr lang="en-US"/>
          </a:p>
        </p:txBody>
      </p:sp>
    </p:spTree>
    <p:extLst>
      <p:ext uri="{BB962C8B-B14F-4D97-AF65-F5344CB8AC3E}">
        <p14:creationId xmlns:p14="http://schemas.microsoft.com/office/powerpoint/2010/main" val="207106440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FB106-EE3E-6769-7200-0951C92013D7}"/>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ECA35C47-3492-887F-BED0-2FEA38B23CDC}"/>
              </a:ext>
            </a:extLst>
          </p:cNvPr>
          <p:cNvPicPr>
            <a:picLocks noGrp="1" noChangeAspect="1"/>
          </p:cNvPicPr>
          <p:nvPr>
            <p:ph idx="1"/>
          </p:nvPr>
        </p:nvPicPr>
        <p:blipFill>
          <a:blip r:embed="rId2"/>
          <a:stretch>
            <a:fillRect/>
          </a:stretch>
        </p:blipFill>
        <p:spPr>
          <a:xfrm>
            <a:off x="731520" y="365125"/>
            <a:ext cx="10276080" cy="6151855"/>
          </a:xfrm>
          <a:prstGeom prst="rect">
            <a:avLst/>
          </a:prstGeom>
        </p:spPr>
      </p:pic>
      <p:sp>
        <p:nvSpPr>
          <p:cNvPr id="4" name="Slide Number Placeholder 3">
            <a:extLst>
              <a:ext uri="{FF2B5EF4-FFF2-40B4-BE49-F238E27FC236}">
                <a16:creationId xmlns:a16="http://schemas.microsoft.com/office/drawing/2014/main" id="{2F5D0824-C742-EB82-F5DA-CD2C5CF5DF53}"/>
              </a:ext>
            </a:extLst>
          </p:cNvPr>
          <p:cNvSpPr>
            <a:spLocks noGrp="1"/>
          </p:cNvSpPr>
          <p:nvPr>
            <p:ph type="sldNum" sz="quarter" idx="12"/>
          </p:nvPr>
        </p:nvSpPr>
        <p:spPr/>
        <p:txBody>
          <a:bodyPr/>
          <a:lstStyle/>
          <a:p>
            <a:fld id="{6264BDCF-5269-49AC-A246-ED26C2B980E3}" type="slidenum">
              <a:rPr lang="en-US" smtClean="0"/>
              <a:t>117</a:t>
            </a:fld>
            <a:endParaRPr lang="en-US"/>
          </a:p>
        </p:txBody>
      </p:sp>
    </p:spTree>
    <p:extLst>
      <p:ext uri="{BB962C8B-B14F-4D97-AF65-F5344CB8AC3E}">
        <p14:creationId xmlns:p14="http://schemas.microsoft.com/office/powerpoint/2010/main" val="3535832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09405-1FEC-0B69-731B-6BE05F05B9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FE919C-1C96-CDE7-C955-E6BB954FAC20}"/>
              </a:ext>
            </a:extLst>
          </p:cNvPr>
          <p:cNvSpPr>
            <a:spLocks noGrp="1"/>
          </p:cNvSpPr>
          <p:nvPr>
            <p:ph idx="1"/>
          </p:nvPr>
        </p:nvSpPr>
        <p:spPr/>
        <p:txBody>
          <a:bodyPr>
            <a:normAutofit/>
          </a:bodyPr>
          <a:lstStyle/>
          <a:p>
            <a:r>
              <a:rPr lang="en-US" dirty="0"/>
              <a:t>area of a lot that determines county, as specified by FD5, can be represented by tuples in a separate relation </a:t>
            </a:r>
            <a:r>
              <a:rPr lang="en-US" i="1" dirty="0"/>
              <a:t>R</a:t>
            </a:r>
            <a:r>
              <a:rPr lang="en-US" dirty="0"/>
              <a:t>(Area, </a:t>
            </a:r>
            <a:r>
              <a:rPr lang="en-US" dirty="0" err="1"/>
              <a:t>County_name</a:t>
            </a:r>
            <a:r>
              <a:rPr lang="en-US" dirty="0"/>
              <a:t>)</a:t>
            </a:r>
          </a:p>
          <a:p>
            <a:r>
              <a:rPr lang="en-US" dirty="0"/>
              <a:t>representation reduces redundancy of repeating same information in the many thousands of LOTS1A tuples</a:t>
            </a:r>
          </a:p>
          <a:p>
            <a:r>
              <a:rPr lang="en-US" dirty="0"/>
              <a:t>BCNF is a </a:t>
            </a:r>
            <a:r>
              <a:rPr lang="en-US" i="1" dirty="0"/>
              <a:t>stronger normal form </a:t>
            </a:r>
            <a:r>
              <a:rPr lang="en-US" dirty="0"/>
              <a:t>that would disallow LOTS1A and suggest the need for decomposing it</a:t>
            </a:r>
          </a:p>
        </p:txBody>
      </p:sp>
      <p:sp>
        <p:nvSpPr>
          <p:cNvPr id="4" name="Slide Number Placeholder 3">
            <a:extLst>
              <a:ext uri="{FF2B5EF4-FFF2-40B4-BE49-F238E27FC236}">
                <a16:creationId xmlns:a16="http://schemas.microsoft.com/office/drawing/2014/main" id="{3E032332-C68E-4771-F3BB-6B2ACB387A16}"/>
              </a:ext>
            </a:extLst>
          </p:cNvPr>
          <p:cNvSpPr>
            <a:spLocks noGrp="1"/>
          </p:cNvSpPr>
          <p:nvPr>
            <p:ph type="sldNum" sz="quarter" idx="12"/>
          </p:nvPr>
        </p:nvSpPr>
        <p:spPr/>
        <p:txBody>
          <a:bodyPr/>
          <a:lstStyle/>
          <a:p>
            <a:fld id="{6264BDCF-5269-49AC-A246-ED26C2B980E3}" type="slidenum">
              <a:rPr lang="en-US" smtClean="0"/>
              <a:t>118</a:t>
            </a:fld>
            <a:endParaRPr lang="en-US"/>
          </a:p>
        </p:txBody>
      </p:sp>
      <p:pic>
        <p:nvPicPr>
          <p:cNvPr id="6" name="Picture 5">
            <a:extLst>
              <a:ext uri="{FF2B5EF4-FFF2-40B4-BE49-F238E27FC236}">
                <a16:creationId xmlns:a16="http://schemas.microsoft.com/office/drawing/2014/main" id="{D00BABF5-1492-445C-CA08-68EEBD18C5E1}"/>
              </a:ext>
            </a:extLst>
          </p:cNvPr>
          <p:cNvPicPr>
            <a:picLocks noChangeAspect="1"/>
          </p:cNvPicPr>
          <p:nvPr/>
        </p:nvPicPr>
        <p:blipFill>
          <a:blip r:embed="rId2"/>
          <a:stretch>
            <a:fillRect/>
          </a:stretch>
        </p:blipFill>
        <p:spPr>
          <a:xfrm>
            <a:off x="6857999" y="4114799"/>
            <a:ext cx="3297002" cy="2446993"/>
          </a:xfrm>
          <a:prstGeom prst="rect">
            <a:avLst/>
          </a:prstGeom>
        </p:spPr>
      </p:pic>
    </p:spTree>
    <p:extLst>
      <p:ext uri="{BB962C8B-B14F-4D97-AF65-F5344CB8AC3E}">
        <p14:creationId xmlns:p14="http://schemas.microsoft.com/office/powerpoint/2010/main" val="11092051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2A13A-5E7C-7BF3-93FE-222F498361B1}"/>
              </a:ext>
            </a:extLst>
          </p:cNvPr>
          <p:cNvSpPr>
            <a:spLocks noGrp="1"/>
          </p:cNvSpPr>
          <p:nvPr>
            <p:ph type="title"/>
          </p:nvPr>
        </p:nvSpPr>
        <p:spPr/>
        <p:txBody>
          <a:bodyPr/>
          <a:lstStyle/>
          <a:p>
            <a:r>
              <a:rPr lang="en-US" dirty="0"/>
              <a:t>Definition of Boyce Codd Normal Form BCNF</a:t>
            </a:r>
          </a:p>
        </p:txBody>
      </p:sp>
      <p:sp>
        <p:nvSpPr>
          <p:cNvPr id="3" name="Content Placeholder 2">
            <a:extLst>
              <a:ext uri="{FF2B5EF4-FFF2-40B4-BE49-F238E27FC236}">
                <a16:creationId xmlns:a16="http://schemas.microsoft.com/office/drawing/2014/main" id="{35237EB7-4AA5-C22C-A4AA-BCC5643274BC}"/>
              </a:ext>
            </a:extLst>
          </p:cNvPr>
          <p:cNvSpPr>
            <a:spLocks noGrp="1"/>
          </p:cNvSpPr>
          <p:nvPr>
            <p:ph idx="1"/>
          </p:nvPr>
        </p:nvSpPr>
        <p:spPr/>
        <p:txBody>
          <a:bodyPr/>
          <a:lstStyle/>
          <a:p>
            <a:r>
              <a:rPr lang="en-US" dirty="0"/>
              <a:t>relation schema </a:t>
            </a:r>
            <a:r>
              <a:rPr lang="en-US" i="1" dirty="0"/>
              <a:t>R </a:t>
            </a:r>
            <a:r>
              <a:rPr lang="en-US" dirty="0"/>
              <a:t>is in </a:t>
            </a:r>
            <a:r>
              <a:rPr lang="en-US" b="1" dirty="0"/>
              <a:t>BCNF </a:t>
            </a:r>
            <a:r>
              <a:rPr lang="en-US" dirty="0"/>
              <a:t>if whenever a </a:t>
            </a:r>
            <a:r>
              <a:rPr lang="en-US" i="1" dirty="0"/>
              <a:t>nontrivial </a:t>
            </a:r>
            <a:r>
              <a:rPr lang="en-US" dirty="0"/>
              <a:t>functional dependency </a:t>
            </a:r>
            <a:r>
              <a:rPr lang="en-US" i="1" dirty="0"/>
              <a:t>X </a:t>
            </a:r>
            <a:r>
              <a:rPr lang="en-US" dirty="0"/>
              <a:t>→ </a:t>
            </a:r>
            <a:r>
              <a:rPr lang="en-US" i="1" dirty="0"/>
              <a:t>A </a:t>
            </a:r>
            <a:r>
              <a:rPr lang="en-US" dirty="0"/>
              <a:t>holds in </a:t>
            </a:r>
            <a:r>
              <a:rPr lang="en-US" i="1" dirty="0"/>
              <a:t>R</a:t>
            </a:r>
            <a:r>
              <a:rPr lang="en-US" dirty="0"/>
              <a:t>, then </a:t>
            </a:r>
            <a:r>
              <a:rPr lang="en-US" i="1" dirty="0"/>
              <a:t>X </a:t>
            </a:r>
            <a:r>
              <a:rPr lang="en-US" dirty="0"/>
              <a:t>is a </a:t>
            </a:r>
            <a:r>
              <a:rPr lang="en-US" dirty="0" err="1"/>
              <a:t>superkey</a:t>
            </a:r>
            <a:r>
              <a:rPr lang="en-US" dirty="0"/>
              <a:t> of </a:t>
            </a:r>
            <a:r>
              <a:rPr lang="en-US" i="1" dirty="0"/>
              <a:t>R</a:t>
            </a:r>
            <a:endParaRPr lang="en-US" dirty="0"/>
          </a:p>
        </p:txBody>
      </p:sp>
      <p:sp>
        <p:nvSpPr>
          <p:cNvPr id="4" name="Slide Number Placeholder 3">
            <a:extLst>
              <a:ext uri="{FF2B5EF4-FFF2-40B4-BE49-F238E27FC236}">
                <a16:creationId xmlns:a16="http://schemas.microsoft.com/office/drawing/2014/main" id="{DE173BBE-5F4F-C4F1-E2B0-9995DCF97213}"/>
              </a:ext>
            </a:extLst>
          </p:cNvPr>
          <p:cNvSpPr>
            <a:spLocks noGrp="1"/>
          </p:cNvSpPr>
          <p:nvPr>
            <p:ph type="sldNum" sz="quarter" idx="12"/>
          </p:nvPr>
        </p:nvSpPr>
        <p:spPr/>
        <p:txBody>
          <a:bodyPr/>
          <a:lstStyle/>
          <a:p>
            <a:fld id="{6264BDCF-5269-49AC-A246-ED26C2B980E3}" type="slidenum">
              <a:rPr lang="en-US" smtClean="0"/>
              <a:t>119</a:t>
            </a:fld>
            <a:endParaRPr lang="en-US"/>
          </a:p>
        </p:txBody>
      </p:sp>
    </p:spTree>
    <p:extLst>
      <p:ext uri="{BB962C8B-B14F-4D97-AF65-F5344CB8AC3E}">
        <p14:creationId xmlns:p14="http://schemas.microsoft.com/office/powerpoint/2010/main" val="24294402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AC400-961D-062A-5729-0E539DA5C5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B25263-7E5F-EFD2-EB07-B80FC6193A58}"/>
              </a:ext>
            </a:extLst>
          </p:cNvPr>
          <p:cNvSpPr>
            <a:spLocks noGrp="1"/>
          </p:cNvSpPr>
          <p:nvPr>
            <p:ph idx="1"/>
          </p:nvPr>
        </p:nvSpPr>
        <p:spPr/>
        <p:txBody>
          <a:bodyPr/>
          <a:lstStyle/>
          <a:p>
            <a:r>
              <a:rPr lang="en-US" dirty="0"/>
              <a:t>in our example, FD5 violates BCNF in LOTS1A because Area is not a </a:t>
            </a:r>
            <a:r>
              <a:rPr lang="en-US" dirty="0" err="1"/>
              <a:t>superkey</a:t>
            </a:r>
            <a:r>
              <a:rPr lang="en-US" dirty="0"/>
              <a:t> of LOTS1A</a:t>
            </a:r>
          </a:p>
          <a:p>
            <a:r>
              <a:rPr lang="en-US" dirty="0"/>
              <a:t>decompose LOTS1A into two BCNF relations LOTS1AX and LOTS1AY</a:t>
            </a:r>
          </a:p>
          <a:p>
            <a:r>
              <a:rPr lang="en-US" dirty="0"/>
              <a:t>decomposition loses the functional dependency FD2 because its attributes no longer coexist in same relation after decomposition</a:t>
            </a:r>
          </a:p>
        </p:txBody>
      </p:sp>
      <p:sp>
        <p:nvSpPr>
          <p:cNvPr id="4" name="Slide Number Placeholder 3">
            <a:extLst>
              <a:ext uri="{FF2B5EF4-FFF2-40B4-BE49-F238E27FC236}">
                <a16:creationId xmlns:a16="http://schemas.microsoft.com/office/drawing/2014/main" id="{2E364ABD-5DE3-0C2B-ACD0-8386A61CA1FB}"/>
              </a:ext>
            </a:extLst>
          </p:cNvPr>
          <p:cNvSpPr>
            <a:spLocks noGrp="1"/>
          </p:cNvSpPr>
          <p:nvPr>
            <p:ph type="sldNum" sz="quarter" idx="12"/>
          </p:nvPr>
        </p:nvSpPr>
        <p:spPr/>
        <p:txBody>
          <a:bodyPr/>
          <a:lstStyle/>
          <a:p>
            <a:fld id="{6264BDCF-5269-49AC-A246-ED26C2B980E3}" type="slidenum">
              <a:rPr lang="en-US" smtClean="0"/>
              <a:t>120</a:t>
            </a:fld>
            <a:endParaRPr lang="en-US"/>
          </a:p>
        </p:txBody>
      </p:sp>
    </p:spTree>
    <p:extLst>
      <p:ext uri="{BB962C8B-B14F-4D97-AF65-F5344CB8AC3E}">
        <p14:creationId xmlns:p14="http://schemas.microsoft.com/office/powerpoint/2010/main" val="217132576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BA204-3285-C0F4-6BAD-A6A4A502F0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3BD6F8-4ACB-EE41-3BE9-6B8EFC4852B8}"/>
              </a:ext>
            </a:extLst>
          </p:cNvPr>
          <p:cNvSpPr>
            <a:spLocks noGrp="1"/>
          </p:cNvSpPr>
          <p:nvPr>
            <p:ph idx="1"/>
          </p:nvPr>
        </p:nvSpPr>
        <p:spPr/>
        <p:txBody>
          <a:bodyPr>
            <a:normAutofit/>
          </a:bodyPr>
          <a:lstStyle/>
          <a:p>
            <a:r>
              <a:rPr lang="en-US" dirty="0"/>
              <a:t>in practice, most relation schemas that are in 3NF are also in BCNF</a:t>
            </a:r>
          </a:p>
          <a:p>
            <a:r>
              <a:rPr lang="en-US" dirty="0"/>
              <a:t>only if there exists some FD </a:t>
            </a:r>
            <a:r>
              <a:rPr lang="en-US" i="1" dirty="0"/>
              <a:t>X </a:t>
            </a:r>
            <a:r>
              <a:rPr lang="en-US" dirty="0"/>
              <a:t>→ </a:t>
            </a:r>
            <a:r>
              <a:rPr lang="en-US" i="1" dirty="0"/>
              <a:t>A </a:t>
            </a:r>
            <a:r>
              <a:rPr lang="en-US" dirty="0"/>
              <a:t>that holds in a relation schema </a:t>
            </a:r>
            <a:r>
              <a:rPr lang="en-US" i="1" dirty="0"/>
              <a:t>R </a:t>
            </a:r>
            <a:r>
              <a:rPr lang="en-US" dirty="0"/>
              <a:t>with </a:t>
            </a:r>
            <a:r>
              <a:rPr lang="en-US" i="1" dirty="0"/>
              <a:t>X </a:t>
            </a:r>
            <a:r>
              <a:rPr lang="en-US" dirty="0"/>
              <a:t>not being a </a:t>
            </a:r>
            <a:r>
              <a:rPr lang="en-US" dirty="0" err="1"/>
              <a:t>superkey</a:t>
            </a:r>
            <a:r>
              <a:rPr lang="en-US" dirty="0"/>
              <a:t> and </a:t>
            </a:r>
            <a:r>
              <a:rPr lang="en-US" i="1" dirty="0"/>
              <a:t>A </a:t>
            </a:r>
            <a:r>
              <a:rPr lang="en-US" dirty="0"/>
              <a:t>being a prime attribute will </a:t>
            </a:r>
            <a:r>
              <a:rPr lang="en-US" i="1" dirty="0"/>
              <a:t>R </a:t>
            </a:r>
            <a:r>
              <a:rPr lang="en-US" dirty="0"/>
              <a:t>be in 3NF but not in BCNF</a:t>
            </a:r>
          </a:p>
          <a:p>
            <a:r>
              <a:rPr lang="en-US" dirty="0"/>
              <a:t>such FD leads to potential redundancy of data</a:t>
            </a:r>
          </a:p>
        </p:txBody>
      </p:sp>
      <p:sp>
        <p:nvSpPr>
          <p:cNvPr id="4" name="Slide Number Placeholder 3">
            <a:extLst>
              <a:ext uri="{FF2B5EF4-FFF2-40B4-BE49-F238E27FC236}">
                <a16:creationId xmlns:a16="http://schemas.microsoft.com/office/drawing/2014/main" id="{BA037130-E985-AA9A-6E04-304902AF25CB}"/>
              </a:ext>
            </a:extLst>
          </p:cNvPr>
          <p:cNvSpPr>
            <a:spLocks noGrp="1"/>
          </p:cNvSpPr>
          <p:nvPr>
            <p:ph type="sldNum" sz="quarter" idx="12"/>
          </p:nvPr>
        </p:nvSpPr>
        <p:spPr/>
        <p:txBody>
          <a:bodyPr/>
          <a:lstStyle/>
          <a:p>
            <a:fld id="{6264BDCF-5269-49AC-A246-ED26C2B980E3}" type="slidenum">
              <a:rPr lang="en-US" smtClean="0"/>
              <a:t>121</a:t>
            </a:fld>
            <a:endParaRPr lang="en-US"/>
          </a:p>
        </p:txBody>
      </p:sp>
    </p:spTree>
    <p:extLst>
      <p:ext uri="{BB962C8B-B14F-4D97-AF65-F5344CB8AC3E}">
        <p14:creationId xmlns:p14="http://schemas.microsoft.com/office/powerpoint/2010/main" val="399300434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E6CFE-8C6B-B45C-737E-952330B8630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B66CC0-870E-ADF9-543B-4848EC9282D7}"/>
              </a:ext>
            </a:extLst>
          </p:cNvPr>
          <p:cNvSpPr>
            <a:spLocks noGrp="1"/>
          </p:cNvSpPr>
          <p:nvPr>
            <p:ph idx="1"/>
          </p:nvPr>
        </p:nvSpPr>
        <p:spPr/>
        <p:txBody>
          <a:bodyPr/>
          <a:lstStyle/>
          <a:p>
            <a:r>
              <a:rPr lang="en-US" dirty="0"/>
              <a:t>ideally, relational database design should strive to achieve BCNF or 3NF for every relation schema</a:t>
            </a:r>
          </a:p>
          <a:p>
            <a:r>
              <a:rPr lang="en-US" dirty="0"/>
              <a:t>achieving the normalization status of just 1NF or 2NF is not considered adequate, since both were developed historically to be intermediate normal forms as stepping stones to 3NF and BCNF</a:t>
            </a:r>
          </a:p>
        </p:txBody>
      </p:sp>
      <p:sp>
        <p:nvSpPr>
          <p:cNvPr id="4" name="Slide Number Placeholder 3">
            <a:extLst>
              <a:ext uri="{FF2B5EF4-FFF2-40B4-BE49-F238E27FC236}">
                <a16:creationId xmlns:a16="http://schemas.microsoft.com/office/drawing/2014/main" id="{8D18BE4C-E17B-5B83-E167-112E1F25134E}"/>
              </a:ext>
            </a:extLst>
          </p:cNvPr>
          <p:cNvSpPr>
            <a:spLocks noGrp="1"/>
          </p:cNvSpPr>
          <p:nvPr>
            <p:ph type="sldNum" sz="quarter" idx="12"/>
          </p:nvPr>
        </p:nvSpPr>
        <p:spPr/>
        <p:txBody>
          <a:bodyPr/>
          <a:lstStyle/>
          <a:p>
            <a:fld id="{6264BDCF-5269-49AC-A246-ED26C2B980E3}" type="slidenum">
              <a:rPr lang="en-US" smtClean="0"/>
              <a:t>122</a:t>
            </a:fld>
            <a:endParaRPr lang="en-US"/>
          </a:p>
        </p:txBody>
      </p:sp>
    </p:spTree>
    <p:extLst>
      <p:ext uri="{BB962C8B-B14F-4D97-AF65-F5344CB8AC3E}">
        <p14:creationId xmlns:p14="http://schemas.microsoft.com/office/powerpoint/2010/main" val="245413448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21702-5C31-165D-CF32-C7CBF9829A30}"/>
              </a:ext>
            </a:extLst>
          </p:cNvPr>
          <p:cNvSpPr>
            <a:spLocks noGrp="1"/>
          </p:cNvSpPr>
          <p:nvPr>
            <p:ph type="title"/>
          </p:nvPr>
        </p:nvSpPr>
        <p:spPr/>
        <p:txBody>
          <a:bodyPr/>
          <a:lstStyle/>
          <a:p>
            <a:r>
              <a:rPr lang="en-US" dirty="0"/>
              <a:t>Decomposition of Relations in BCNF</a:t>
            </a:r>
          </a:p>
        </p:txBody>
      </p:sp>
      <p:sp>
        <p:nvSpPr>
          <p:cNvPr id="3" name="Content Placeholder 2">
            <a:extLst>
              <a:ext uri="{FF2B5EF4-FFF2-40B4-BE49-F238E27FC236}">
                <a16:creationId xmlns:a16="http://schemas.microsoft.com/office/drawing/2014/main" id="{54ABDE64-4019-09BC-7431-05BE1722C066}"/>
              </a:ext>
            </a:extLst>
          </p:cNvPr>
          <p:cNvSpPr>
            <a:spLocks noGrp="1"/>
          </p:cNvSpPr>
          <p:nvPr>
            <p:ph idx="1"/>
          </p:nvPr>
        </p:nvSpPr>
        <p:spPr/>
        <p:txBody>
          <a:bodyPr/>
          <a:lstStyle/>
          <a:p>
            <a:r>
              <a:rPr lang="en-US" dirty="0"/>
              <a:t>another example, relation TEACH with following dependencies:</a:t>
            </a:r>
          </a:p>
          <a:p>
            <a:r>
              <a:rPr lang="en-US" dirty="0"/>
              <a:t>FD1: {Student, Course} → Instructor</a:t>
            </a:r>
          </a:p>
          <a:p>
            <a:r>
              <a:rPr lang="en-US" dirty="0"/>
              <a:t>FD2:14 Instructor → Cours</a:t>
            </a:r>
          </a:p>
        </p:txBody>
      </p:sp>
      <p:sp>
        <p:nvSpPr>
          <p:cNvPr id="4" name="Slide Number Placeholder 3">
            <a:extLst>
              <a:ext uri="{FF2B5EF4-FFF2-40B4-BE49-F238E27FC236}">
                <a16:creationId xmlns:a16="http://schemas.microsoft.com/office/drawing/2014/main" id="{5EE8A6B2-BCCD-2BD2-0767-A17FA7C817EA}"/>
              </a:ext>
            </a:extLst>
          </p:cNvPr>
          <p:cNvSpPr>
            <a:spLocks noGrp="1"/>
          </p:cNvSpPr>
          <p:nvPr>
            <p:ph type="sldNum" sz="quarter" idx="12"/>
          </p:nvPr>
        </p:nvSpPr>
        <p:spPr/>
        <p:txBody>
          <a:bodyPr/>
          <a:lstStyle/>
          <a:p>
            <a:fld id="{6264BDCF-5269-49AC-A246-ED26C2B980E3}" type="slidenum">
              <a:rPr lang="en-US" smtClean="0"/>
              <a:t>123</a:t>
            </a:fld>
            <a:endParaRPr lang="en-US"/>
          </a:p>
        </p:txBody>
      </p:sp>
      <p:pic>
        <p:nvPicPr>
          <p:cNvPr id="6" name="Picture 5">
            <a:extLst>
              <a:ext uri="{FF2B5EF4-FFF2-40B4-BE49-F238E27FC236}">
                <a16:creationId xmlns:a16="http://schemas.microsoft.com/office/drawing/2014/main" id="{886712E8-CF0E-364D-94A6-09D4C4BE949A}"/>
              </a:ext>
            </a:extLst>
          </p:cNvPr>
          <p:cNvPicPr>
            <a:picLocks noChangeAspect="1"/>
          </p:cNvPicPr>
          <p:nvPr/>
        </p:nvPicPr>
        <p:blipFill>
          <a:blip r:embed="rId2"/>
          <a:stretch>
            <a:fillRect/>
          </a:stretch>
        </p:blipFill>
        <p:spPr>
          <a:xfrm>
            <a:off x="5212080" y="2743200"/>
            <a:ext cx="4857714" cy="3892023"/>
          </a:xfrm>
          <a:prstGeom prst="rect">
            <a:avLst/>
          </a:prstGeom>
        </p:spPr>
      </p:pic>
    </p:spTree>
    <p:extLst>
      <p:ext uri="{BB962C8B-B14F-4D97-AF65-F5344CB8AC3E}">
        <p14:creationId xmlns:p14="http://schemas.microsoft.com/office/powerpoint/2010/main" val="398914608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C885F-5A1B-45B8-33B4-34604C3FB9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EE2413F-07FE-5921-26B3-8799880B320A}"/>
              </a:ext>
            </a:extLst>
          </p:cNvPr>
          <p:cNvSpPr>
            <a:spLocks noGrp="1"/>
          </p:cNvSpPr>
          <p:nvPr>
            <p:ph idx="1"/>
          </p:nvPr>
        </p:nvSpPr>
        <p:spPr/>
        <p:txBody>
          <a:bodyPr>
            <a:normAutofit/>
          </a:bodyPr>
          <a:lstStyle/>
          <a:p>
            <a:r>
              <a:rPr lang="en-US" dirty="0"/>
              <a:t>{Student, Course} is a candidate key </a:t>
            </a:r>
          </a:p>
          <a:p>
            <a:r>
              <a:rPr lang="en-US" dirty="0"/>
              <a:t>functional dependencies follow BCNF pattern - relation is in 3NF but not BCNF</a:t>
            </a:r>
          </a:p>
          <a:p>
            <a:r>
              <a:rPr lang="en-US" dirty="0"/>
              <a:t>may be decomposed into one of following possible pairs:</a:t>
            </a:r>
          </a:p>
          <a:p>
            <a:pPr marL="514350" indent="-514350">
              <a:buFont typeface="+mj-lt"/>
              <a:buAutoNum type="arabicPeriod"/>
            </a:pPr>
            <a:r>
              <a:rPr lang="en-US" dirty="0"/>
              <a:t>R1 (Student, Instructor) and R2(Student, Course)</a:t>
            </a:r>
          </a:p>
          <a:p>
            <a:pPr marL="514350" indent="-514350">
              <a:buFont typeface="+mj-lt"/>
              <a:buAutoNum type="arabicPeriod"/>
            </a:pPr>
            <a:r>
              <a:rPr lang="en-US" dirty="0"/>
              <a:t>R1 (Course, Instructor) and R2(Course, Student)</a:t>
            </a:r>
          </a:p>
          <a:p>
            <a:pPr marL="514350" indent="-514350">
              <a:buFont typeface="+mj-lt"/>
              <a:buAutoNum type="arabicPeriod"/>
            </a:pPr>
            <a:r>
              <a:rPr lang="en-US" dirty="0"/>
              <a:t>R1 (Instructor, Course) and R2(Instructor, Student)</a:t>
            </a:r>
          </a:p>
        </p:txBody>
      </p:sp>
      <p:sp>
        <p:nvSpPr>
          <p:cNvPr id="4" name="Slide Number Placeholder 3">
            <a:extLst>
              <a:ext uri="{FF2B5EF4-FFF2-40B4-BE49-F238E27FC236}">
                <a16:creationId xmlns:a16="http://schemas.microsoft.com/office/drawing/2014/main" id="{35E92698-DF4E-602A-ECB5-F26382E1D0E8}"/>
              </a:ext>
            </a:extLst>
          </p:cNvPr>
          <p:cNvSpPr>
            <a:spLocks noGrp="1"/>
          </p:cNvSpPr>
          <p:nvPr>
            <p:ph type="sldNum" sz="quarter" idx="12"/>
          </p:nvPr>
        </p:nvSpPr>
        <p:spPr/>
        <p:txBody>
          <a:bodyPr/>
          <a:lstStyle/>
          <a:p>
            <a:fld id="{6264BDCF-5269-49AC-A246-ED26C2B980E3}" type="slidenum">
              <a:rPr lang="en-US" smtClean="0"/>
              <a:t>124</a:t>
            </a:fld>
            <a:endParaRPr lang="en-US"/>
          </a:p>
        </p:txBody>
      </p:sp>
    </p:spTree>
    <p:extLst>
      <p:ext uri="{BB962C8B-B14F-4D97-AF65-F5344CB8AC3E}">
        <p14:creationId xmlns:p14="http://schemas.microsoft.com/office/powerpoint/2010/main" val="70152748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A0AA3-7287-5943-75FE-56D043240B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5095B1-FBEB-7927-BB3D-88AA870BBB3F}"/>
              </a:ext>
            </a:extLst>
          </p:cNvPr>
          <p:cNvSpPr>
            <a:spLocks noGrp="1"/>
          </p:cNvSpPr>
          <p:nvPr>
            <p:ph idx="1"/>
          </p:nvPr>
        </p:nvSpPr>
        <p:spPr/>
        <p:txBody>
          <a:bodyPr>
            <a:normAutofit/>
          </a:bodyPr>
          <a:lstStyle/>
          <a:p>
            <a:r>
              <a:rPr lang="en-US" dirty="0"/>
              <a:t>all three decompositions lose functional dependency FD1</a:t>
            </a:r>
          </a:p>
          <a:p>
            <a:r>
              <a:rPr lang="en-US" dirty="0"/>
              <a:t>which of the above three is a desirable decomposition</a:t>
            </a:r>
          </a:p>
          <a:p>
            <a:r>
              <a:rPr lang="en-US" dirty="0"/>
              <a:t>strive to meet two properties of decomposition during normalization process: nonadditive join property and functional dependency preservation property - not able to meet functional dependency preservation for any of the above BCNF decompositions; but we must meet nonadditive join property</a:t>
            </a:r>
          </a:p>
        </p:txBody>
      </p:sp>
      <p:sp>
        <p:nvSpPr>
          <p:cNvPr id="4" name="Slide Number Placeholder 3">
            <a:extLst>
              <a:ext uri="{FF2B5EF4-FFF2-40B4-BE49-F238E27FC236}">
                <a16:creationId xmlns:a16="http://schemas.microsoft.com/office/drawing/2014/main" id="{224B14DC-6C94-BD84-DA94-EA8659AAABE9}"/>
              </a:ext>
            </a:extLst>
          </p:cNvPr>
          <p:cNvSpPr>
            <a:spLocks noGrp="1"/>
          </p:cNvSpPr>
          <p:nvPr>
            <p:ph type="sldNum" sz="quarter" idx="12"/>
          </p:nvPr>
        </p:nvSpPr>
        <p:spPr/>
        <p:txBody>
          <a:bodyPr/>
          <a:lstStyle/>
          <a:p>
            <a:fld id="{6264BDCF-5269-49AC-A246-ED26C2B980E3}" type="slidenum">
              <a:rPr lang="en-US" smtClean="0"/>
              <a:t>125</a:t>
            </a:fld>
            <a:endParaRPr lang="en-US"/>
          </a:p>
        </p:txBody>
      </p:sp>
    </p:spTree>
    <p:extLst>
      <p:ext uri="{BB962C8B-B14F-4D97-AF65-F5344CB8AC3E}">
        <p14:creationId xmlns:p14="http://schemas.microsoft.com/office/powerpoint/2010/main" val="39486173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13FBE-3DFB-08AE-6B48-BA55D025ACF7}"/>
              </a:ext>
            </a:extLst>
          </p:cNvPr>
          <p:cNvSpPr>
            <a:spLocks noGrp="1"/>
          </p:cNvSpPr>
          <p:nvPr>
            <p:ph type="title"/>
          </p:nvPr>
        </p:nvSpPr>
        <p:spPr/>
        <p:txBody>
          <a:bodyPr>
            <a:normAutofit/>
          </a:bodyPr>
          <a:lstStyle/>
          <a:p>
            <a:r>
              <a:rPr lang="en-US" sz="4200" dirty="0"/>
              <a:t>Nonadditive Join Test for Binary Decompositions</a:t>
            </a:r>
          </a:p>
        </p:txBody>
      </p:sp>
      <p:sp>
        <p:nvSpPr>
          <p:cNvPr id="3" name="Content Placeholder 2">
            <a:extLst>
              <a:ext uri="{FF2B5EF4-FFF2-40B4-BE49-F238E27FC236}">
                <a16:creationId xmlns:a16="http://schemas.microsoft.com/office/drawing/2014/main" id="{B8797461-5076-D26A-81A7-D2D504633C38}"/>
              </a:ext>
            </a:extLst>
          </p:cNvPr>
          <p:cNvSpPr>
            <a:spLocks noGrp="1"/>
          </p:cNvSpPr>
          <p:nvPr>
            <p:ph idx="1"/>
          </p:nvPr>
        </p:nvSpPr>
        <p:spPr/>
        <p:txBody>
          <a:bodyPr>
            <a:noAutofit/>
          </a:bodyPr>
          <a:lstStyle/>
          <a:p>
            <a:r>
              <a:rPr lang="en-US" dirty="0"/>
              <a:t>decomposition </a:t>
            </a:r>
            <a:r>
              <a:rPr lang="en-US" i="1" dirty="0"/>
              <a:t>D </a:t>
            </a:r>
            <a:r>
              <a:rPr lang="en-US" dirty="0"/>
              <a:t>= {</a:t>
            </a:r>
            <a:r>
              <a:rPr lang="en-US" i="1" dirty="0"/>
              <a:t>R</a:t>
            </a:r>
            <a:r>
              <a:rPr lang="en-US" dirty="0"/>
              <a:t>1, </a:t>
            </a:r>
            <a:r>
              <a:rPr lang="en-US" i="1" dirty="0"/>
              <a:t>R</a:t>
            </a:r>
            <a:r>
              <a:rPr lang="en-US" dirty="0"/>
              <a:t>2} of </a:t>
            </a:r>
            <a:r>
              <a:rPr lang="en-US" i="1" dirty="0"/>
              <a:t>R </a:t>
            </a:r>
            <a:r>
              <a:rPr lang="en-US" dirty="0"/>
              <a:t>has the lossless (nonadditive) join property with respect to a set of functional dependencies </a:t>
            </a:r>
            <a:r>
              <a:rPr lang="en-US" i="1" dirty="0"/>
              <a:t>F </a:t>
            </a:r>
            <a:r>
              <a:rPr lang="en-US" dirty="0"/>
              <a:t>on </a:t>
            </a:r>
            <a:r>
              <a:rPr lang="en-US" i="1" dirty="0"/>
              <a:t>R if and only if </a:t>
            </a:r>
            <a:r>
              <a:rPr lang="en-US" dirty="0"/>
              <a:t>either</a:t>
            </a:r>
          </a:p>
          <a:p>
            <a:r>
              <a:rPr lang="en-US" dirty="0"/>
              <a:t>FD ((</a:t>
            </a:r>
            <a:r>
              <a:rPr lang="en-US" i="1" dirty="0"/>
              <a:t>R</a:t>
            </a:r>
            <a:r>
              <a:rPr lang="en-US" dirty="0"/>
              <a:t>1 ∩ </a:t>
            </a:r>
            <a:r>
              <a:rPr lang="en-US" i="1" dirty="0"/>
              <a:t>R</a:t>
            </a:r>
            <a:r>
              <a:rPr lang="en-US" dirty="0"/>
              <a:t>2) → (</a:t>
            </a:r>
            <a:r>
              <a:rPr lang="en-US" i="1" dirty="0"/>
              <a:t>R</a:t>
            </a:r>
            <a:r>
              <a:rPr lang="en-US" dirty="0"/>
              <a:t>1 − </a:t>
            </a:r>
            <a:r>
              <a:rPr lang="en-US" i="1" dirty="0"/>
              <a:t>R</a:t>
            </a:r>
            <a:r>
              <a:rPr lang="en-US" dirty="0"/>
              <a:t>2)) is in </a:t>
            </a:r>
            <a:r>
              <a:rPr lang="en-US" i="1" dirty="0"/>
              <a:t>F</a:t>
            </a:r>
            <a:r>
              <a:rPr lang="en-US" baseline="30000" dirty="0"/>
              <a:t>+</a:t>
            </a:r>
          </a:p>
          <a:p>
            <a:r>
              <a:rPr lang="pt-BR" dirty="0"/>
              <a:t>FD ((</a:t>
            </a:r>
            <a:r>
              <a:rPr lang="pt-BR" i="1" dirty="0"/>
              <a:t>R</a:t>
            </a:r>
            <a:r>
              <a:rPr lang="pt-BR" dirty="0"/>
              <a:t>1 ∩ </a:t>
            </a:r>
            <a:r>
              <a:rPr lang="pt-BR" i="1" dirty="0"/>
              <a:t>R</a:t>
            </a:r>
            <a:r>
              <a:rPr lang="pt-BR" dirty="0"/>
              <a:t>2) → (</a:t>
            </a:r>
            <a:r>
              <a:rPr lang="pt-BR" i="1" dirty="0"/>
              <a:t>R</a:t>
            </a:r>
            <a:r>
              <a:rPr lang="pt-BR" dirty="0"/>
              <a:t>2 − </a:t>
            </a:r>
            <a:r>
              <a:rPr lang="pt-BR" i="1" dirty="0"/>
              <a:t>R</a:t>
            </a:r>
            <a:r>
              <a:rPr lang="pt-BR" dirty="0"/>
              <a:t>1)) is in </a:t>
            </a:r>
            <a:r>
              <a:rPr lang="pt-BR" i="1" dirty="0"/>
              <a:t>F</a:t>
            </a:r>
            <a:r>
              <a:rPr lang="pt-BR" baseline="30000" dirty="0"/>
              <a:t>+</a:t>
            </a:r>
          </a:p>
          <a:p>
            <a:endParaRPr lang="pt-BR" sz="1200" dirty="0"/>
          </a:p>
          <a:p>
            <a:r>
              <a:rPr lang="en-US" sz="2700" dirty="0"/>
              <a:t>find that only the third decomposition meets the test</a:t>
            </a:r>
          </a:p>
          <a:p>
            <a:r>
              <a:rPr lang="en-US" sz="2700" dirty="0"/>
              <a:t>the </a:t>
            </a:r>
            <a:r>
              <a:rPr lang="en-US" sz="2700" i="1" dirty="0"/>
              <a:t>R</a:t>
            </a:r>
            <a:r>
              <a:rPr lang="en-US" sz="2700" dirty="0"/>
              <a:t>1 ∩ </a:t>
            </a:r>
            <a:r>
              <a:rPr lang="en-US" sz="2700" i="1" dirty="0"/>
              <a:t>R</a:t>
            </a:r>
            <a:r>
              <a:rPr lang="en-US" sz="2700" dirty="0"/>
              <a:t>2 for the above test is Instructor and </a:t>
            </a:r>
            <a:r>
              <a:rPr lang="en-US" sz="2700" i="1" dirty="0"/>
              <a:t>R</a:t>
            </a:r>
            <a:r>
              <a:rPr lang="en-US" sz="2700" dirty="0"/>
              <a:t>1 − </a:t>
            </a:r>
            <a:r>
              <a:rPr lang="en-US" sz="2700" i="1" dirty="0"/>
              <a:t>R</a:t>
            </a:r>
            <a:r>
              <a:rPr lang="en-US" sz="2700" dirty="0"/>
              <a:t>2 is Course</a:t>
            </a:r>
          </a:p>
          <a:p>
            <a:r>
              <a:rPr lang="en-US" sz="2700" dirty="0"/>
              <a:t>because Instructor → Course, the NJB test is satisfied and decomposition is nonadditive</a:t>
            </a:r>
          </a:p>
        </p:txBody>
      </p:sp>
      <p:sp>
        <p:nvSpPr>
          <p:cNvPr id="4" name="Slide Number Placeholder 3">
            <a:extLst>
              <a:ext uri="{FF2B5EF4-FFF2-40B4-BE49-F238E27FC236}">
                <a16:creationId xmlns:a16="http://schemas.microsoft.com/office/drawing/2014/main" id="{1D9462E9-68D9-E9FC-B346-7910BC538AA6}"/>
              </a:ext>
            </a:extLst>
          </p:cNvPr>
          <p:cNvSpPr>
            <a:spLocks noGrp="1"/>
          </p:cNvSpPr>
          <p:nvPr>
            <p:ph type="sldNum" sz="quarter" idx="12"/>
          </p:nvPr>
        </p:nvSpPr>
        <p:spPr/>
        <p:txBody>
          <a:bodyPr/>
          <a:lstStyle/>
          <a:p>
            <a:fld id="{6264BDCF-5269-49AC-A246-ED26C2B980E3}" type="slidenum">
              <a:rPr lang="en-US" smtClean="0"/>
              <a:t>126</a:t>
            </a:fld>
            <a:endParaRPr lang="en-US"/>
          </a:p>
        </p:txBody>
      </p:sp>
    </p:spTree>
    <p:extLst>
      <p:ext uri="{BB962C8B-B14F-4D97-AF65-F5344CB8AC3E}">
        <p14:creationId xmlns:p14="http://schemas.microsoft.com/office/powerpoint/2010/main" val="412610848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C2DB4-6227-990C-D2E0-EEED307B17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55CB97-A246-3B92-7B5D-C441D0C7D504}"/>
              </a:ext>
            </a:extLst>
          </p:cNvPr>
          <p:cNvSpPr>
            <a:spLocks noGrp="1"/>
          </p:cNvSpPr>
          <p:nvPr>
            <p:ph idx="1"/>
          </p:nvPr>
        </p:nvSpPr>
        <p:spPr/>
        <p:txBody>
          <a:bodyPr/>
          <a:lstStyle/>
          <a:p>
            <a:r>
              <a:rPr lang="en-US" i="1" dirty="0"/>
              <a:t>notation F</a:t>
            </a:r>
            <a:r>
              <a:rPr lang="en-US" i="1" baseline="30000" dirty="0"/>
              <a:t>+</a:t>
            </a:r>
            <a:r>
              <a:rPr lang="en-US" i="1" dirty="0"/>
              <a:t> refers to the cover of the set of functional dependencies and includes all FD implied by F</a:t>
            </a:r>
          </a:p>
        </p:txBody>
      </p:sp>
      <p:sp>
        <p:nvSpPr>
          <p:cNvPr id="4" name="Slide Number Placeholder 3">
            <a:extLst>
              <a:ext uri="{FF2B5EF4-FFF2-40B4-BE49-F238E27FC236}">
                <a16:creationId xmlns:a16="http://schemas.microsoft.com/office/drawing/2014/main" id="{6EEBC2EF-FB0B-3896-6D39-F819C1468B00}"/>
              </a:ext>
            </a:extLst>
          </p:cNvPr>
          <p:cNvSpPr>
            <a:spLocks noGrp="1"/>
          </p:cNvSpPr>
          <p:nvPr>
            <p:ph type="sldNum" sz="quarter" idx="12"/>
          </p:nvPr>
        </p:nvSpPr>
        <p:spPr/>
        <p:txBody>
          <a:bodyPr/>
          <a:lstStyle/>
          <a:p>
            <a:fld id="{6264BDCF-5269-49AC-A246-ED26C2B980E3}" type="slidenum">
              <a:rPr lang="en-US" smtClean="0"/>
              <a:t>127</a:t>
            </a:fld>
            <a:endParaRPr lang="en-US"/>
          </a:p>
        </p:txBody>
      </p:sp>
    </p:spTree>
    <p:extLst>
      <p:ext uri="{BB962C8B-B14F-4D97-AF65-F5344CB8AC3E}">
        <p14:creationId xmlns:p14="http://schemas.microsoft.com/office/powerpoint/2010/main" val="189379695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3D04A-657C-EB68-15C6-4F6FD112D8D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3C8D12-DA0D-EB83-890A-9F4B4C9AA4B9}"/>
              </a:ext>
            </a:extLst>
          </p:cNvPr>
          <p:cNvSpPr>
            <a:spLocks noGrp="1"/>
          </p:cNvSpPr>
          <p:nvPr>
            <p:ph idx="1"/>
          </p:nvPr>
        </p:nvSpPr>
        <p:spPr>
          <a:xfrm>
            <a:off x="838200" y="1825625"/>
            <a:ext cx="11353800" cy="4351338"/>
          </a:xfrm>
        </p:spPr>
        <p:txBody>
          <a:bodyPr/>
          <a:lstStyle/>
          <a:p>
            <a:r>
              <a:rPr lang="en-US" dirty="0"/>
              <a:t>the proper decomposition for relation TEACH with following dependencies:</a:t>
            </a:r>
          </a:p>
          <a:p>
            <a:r>
              <a:rPr lang="en-US" dirty="0"/>
              <a:t>FD1: {Student, Course} → Instructor</a:t>
            </a:r>
          </a:p>
          <a:p>
            <a:r>
              <a:rPr lang="en-US" dirty="0"/>
              <a:t>FD2:14 Instructor → Cours</a:t>
            </a:r>
          </a:p>
          <a:p>
            <a:r>
              <a:rPr lang="en-US" dirty="0"/>
              <a:t> into BCNF relations is:</a:t>
            </a:r>
          </a:p>
          <a:p>
            <a:r>
              <a:rPr lang="en-US" dirty="0"/>
              <a:t>TEACH1 (Instructor, Course)</a:t>
            </a:r>
          </a:p>
          <a:p>
            <a:r>
              <a:rPr lang="en-US" dirty="0"/>
              <a:t>TEACH2 (Instructor, Student)</a:t>
            </a:r>
          </a:p>
        </p:txBody>
      </p:sp>
      <p:sp>
        <p:nvSpPr>
          <p:cNvPr id="4" name="Slide Number Placeholder 3">
            <a:extLst>
              <a:ext uri="{FF2B5EF4-FFF2-40B4-BE49-F238E27FC236}">
                <a16:creationId xmlns:a16="http://schemas.microsoft.com/office/drawing/2014/main" id="{B97B106D-F86A-9AA1-D50D-583CDA945DC3}"/>
              </a:ext>
            </a:extLst>
          </p:cNvPr>
          <p:cNvSpPr>
            <a:spLocks noGrp="1"/>
          </p:cNvSpPr>
          <p:nvPr>
            <p:ph type="sldNum" sz="quarter" idx="12"/>
          </p:nvPr>
        </p:nvSpPr>
        <p:spPr/>
        <p:txBody>
          <a:bodyPr/>
          <a:lstStyle/>
          <a:p>
            <a:fld id="{6264BDCF-5269-49AC-A246-ED26C2B980E3}" type="slidenum">
              <a:rPr lang="en-US" smtClean="0"/>
              <a:t>128</a:t>
            </a:fld>
            <a:endParaRPr lang="en-US"/>
          </a:p>
        </p:txBody>
      </p:sp>
      <p:pic>
        <p:nvPicPr>
          <p:cNvPr id="5" name="Picture 4">
            <a:extLst>
              <a:ext uri="{FF2B5EF4-FFF2-40B4-BE49-F238E27FC236}">
                <a16:creationId xmlns:a16="http://schemas.microsoft.com/office/drawing/2014/main" id="{27437C07-8030-C691-E719-A1237410842E}"/>
              </a:ext>
            </a:extLst>
          </p:cNvPr>
          <p:cNvPicPr>
            <a:picLocks noChangeAspect="1"/>
          </p:cNvPicPr>
          <p:nvPr/>
        </p:nvPicPr>
        <p:blipFill>
          <a:blip r:embed="rId2"/>
          <a:stretch>
            <a:fillRect/>
          </a:stretch>
        </p:blipFill>
        <p:spPr>
          <a:xfrm>
            <a:off x="6400801" y="2286001"/>
            <a:ext cx="5199272" cy="4165681"/>
          </a:xfrm>
          <a:prstGeom prst="rect">
            <a:avLst/>
          </a:prstGeom>
        </p:spPr>
      </p:pic>
    </p:spTree>
    <p:extLst>
      <p:ext uri="{BB962C8B-B14F-4D97-AF65-F5344CB8AC3E}">
        <p14:creationId xmlns:p14="http://schemas.microsoft.com/office/powerpoint/2010/main" val="92722232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A6526-5D83-5192-D18E-8FFF51725255}"/>
              </a:ext>
            </a:extLst>
          </p:cNvPr>
          <p:cNvSpPr>
            <a:spLocks noGrp="1"/>
          </p:cNvSpPr>
          <p:nvPr>
            <p:ph type="title"/>
          </p:nvPr>
        </p:nvSpPr>
        <p:spPr/>
        <p:txBody>
          <a:bodyPr/>
          <a:lstStyle/>
          <a:p>
            <a:r>
              <a:rPr lang="en-US" dirty="0"/>
              <a:t>Multivalued Dependency</a:t>
            </a:r>
          </a:p>
        </p:txBody>
      </p:sp>
      <p:sp>
        <p:nvSpPr>
          <p:cNvPr id="3" name="Content Placeholder 2">
            <a:extLst>
              <a:ext uri="{FF2B5EF4-FFF2-40B4-BE49-F238E27FC236}">
                <a16:creationId xmlns:a16="http://schemas.microsoft.com/office/drawing/2014/main" id="{2D7BBED2-AF56-DB04-2726-42C91D25C89C}"/>
              </a:ext>
            </a:extLst>
          </p:cNvPr>
          <p:cNvSpPr>
            <a:spLocks noGrp="1"/>
          </p:cNvSpPr>
          <p:nvPr>
            <p:ph idx="1"/>
          </p:nvPr>
        </p:nvSpPr>
        <p:spPr/>
        <p:txBody>
          <a:bodyPr/>
          <a:lstStyle/>
          <a:p>
            <a:r>
              <a:rPr lang="en-US" dirty="0"/>
              <a:t>consider the relation EMP  - tuple represents the fact that an employee whose name is </a:t>
            </a:r>
            <a:r>
              <a:rPr lang="en-US" dirty="0" err="1"/>
              <a:t>Ename</a:t>
            </a:r>
            <a:r>
              <a:rPr lang="en-US" dirty="0"/>
              <a:t> works on the project whose name is </a:t>
            </a:r>
            <a:r>
              <a:rPr lang="en-US" dirty="0" err="1"/>
              <a:t>Pname</a:t>
            </a:r>
            <a:r>
              <a:rPr lang="en-US" dirty="0"/>
              <a:t> and has a dependent whose name is </a:t>
            </a:r>
            <a:r>
              <a:rPr lang="en-US" dirty="0" err="1"/>
              <a:t>Dname</a:t>
            </a:r>
            <a:endParaRPr lang="en-US" dirty="0"/>
          </a:p>
          <a:p>
            <a:r>
              <a:rPr lang="en-US" dirty="0"/>
              <a:t>employee may work on several projects and employee may have several dependents, and employee’s projects and dependents are independent of one another</a:t>
            </a:r>
          </a:p>
          <a:p>
            <a:endParaRPr lang="en-US" dirty="0"/>
          </a:p>
        </p:txBody>
      </p:sp>
      <p:sp>
        <p:nvSpPr>
          <p:cNvPr id="4" name="Slide Number Placeholder 3">
            <a:extLst>
              <a:ext uri="{FF2B5EF4-FFF2-40B4-BE49-F238E27FC236}">
                <a16:creationId xmlns:a16="http://schemas.microsoft.com/office/drawing/2014/main" id="{6B6890BD-94C6-3FE9-FA8F-A7DBDB0007FC}"/>
              </a:ext>
            </a:extLst>
          </p:cNvPr>
          <p:cNvSpPr>
            <a:spLocks noGrp="1"/>
          </p:cNvSpPr>
          <p:nvPr>
            <p:ph type="sldNum" sz="quarter" idx="12"/>
          </p:nvPr>
        </p:nvSpPr>
        <p:spPr/>
        <p:txBody>
          <a:bodyPr/>
          <a:lstStyle/>
          <a:p>
            <a:fld id="{6264BDCF-5269-49AC-A246-ED26C2B980E3}" type="slidenum">
              <a:rPr lang="en-US" smtClean="0"/>
              <a:t>129</a:t>
            </a:fld>
            <a:endParaRPr lang="en-US"/>
          </a:p>
        </p:txBody>
      </p:sp>
    </p:spTree>
    <p:extLst>
      <p:ext uri="{BB962C8B-B14F-4D97-AF65-F5344CB8AC3E}">
        <p14:creationId xmlns:p14="http://schemas.microsoft.com/office/powerpoint/2010/main" val="217012878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8913-F92B-6491-3788-AB6CAC63C3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39A258-B4D7-08CE-8375-6BFE5B7C59D6}"/>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417EA347-AAC4-CB63-697D-8157259D3AA6}"/>
              </a:ext>
            </a:extLst>
          </p:cNvPr>
          <p:cNvSpPr>
            <a:spLocks noGrp="1"/>
          </p:cNvSpPr>
          <p:nvPr>
            <p:ph type="sldNum" sz="quarter" idx="12"/>
          </p:nvPr>
        </p:nvSpPr>
        <p:spPr/>
        <p:txBody>
          <a:bodyPr/>
          <a:lstStyle/>
          <a:p>
            <a:fld id="{6264BDCF-5269-49AC-A246-ED26C2B980E3}" type="slidenum">
              <a:rPr lang="en-US" smtClean="0"/>
              <a:t>130</a:t>
            </a:fld>
            <a:endParaRPr lang="en-US"/>
          </a:p>
        </p:txBody>
      </p:sp>
      <p:pic>
        <p:nvPicPr>
          <p:cNvPr id="6" name="Picture 5">
            <a:extLst>
              <a:ext uri="{FF2B5EF4-FFF2-40B4-BE49-F238E27FC236}">
                <a16:creationId xmlns:a16="http://schemas.microsoft.com/office/drawing/2014/main" id="{B7632287-B396-E935-E4ED-220EF03B2679}"/>
              </a:ext>
            </a:extLst>
          </p:cNvPr>
          <p:cNvPicPr>
            <a:picLocks noChangeAspect="1"/>
          </p:cNvPicPr>
          <p:nvPr/>
        </p:nvPicPr>
        <p:blipFill>
          <a:blip r:embed="rId2"/>
          <a:stretch>
            <a:fillRect/>
          </a:stretch>
        </p:blipFill>
        <p:spPr>
          <a:xfrm>
            <a:off x="1828800" y="182880"/>
            <a:ext cx="7331076" cy="6462320"/>
          </a:xfrm>
          <a:prstGeom prst="rect">
            <a:avLst/>
          </a:prstGeom>
        </p:spPr>
      </p:pic>
    </p:spTree>
    <p:extLst>
      <p:ext uri="{BB962C8B-B14F-4D97-AF65-F5344CB8AC3E}">
        <p14:creationId xmlns:p14="http://schemas.microsoft.com/office/powerpoint/2010/main" val="29758838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759AC-C9D3-FA49-5104-57E079B7A0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E50D372-FB2F-C246-C963-2EA62767D75C}"/>
              </a:ext>
            </a:extLst>
          </p:cNvPr>
          <p:cNvSpPr>
            <a:spLocks noGrp="1"/>
          </p:cNvSpPr>
          <p:nvPr>
            <p:ph idx="1"/>
          </p:nvPr>
        </p:nvSpPr>
        <p:spPr/>
        <p:txBody>
          <a:bodyPr>
            <a:normAutofit/>
          </a:bodyPr>
          <a:lstStyle/>
          <a:p>
            <a:r>
              <a:rPr lang="en-US" dirty="0"/>
              <a:t>must have a separate tuple to represent every combination of employee’s dependent and employee’s project</a:t>
            </a:r>
          </a:p>
          <a:p>
            <a:r>
              <a:rPr lang="en-US" dirty="0"/>
              <a:t>in EMP relation employee with </a:t>
            </a:r>
            <a:r>
              <a:rPr lang="en-US" dirty="0" err="1"/>
              <a:t>Ename</a:t>
            </a:r>
            <a:r>
              <a:rPr lang="en-US" dirty="0"/>
              <a:t> Smith works on two projects ‘X’ and ‘Y’ and has two dependents ‘John’ and ‘Anna’, and therefore there are four tuples to represent these facts together</a:t>
            </a:r>
          </a:p>
          <a:p>
            <a:r>
              <a:rPr lang="en-US" dirty="0"/>
              <a:t>relation EMP is an all-key relation (with key made up of all attributes) and therefore has no FD and as such qualifies to be a BCNF relation</a:t>
            </a:r>
          </a:p>
          <a:p>
            <a:r>
              <a:rPr lang="en-US" dirty="0"/>
              <a:t>can see that there is an obvious redundancy in relation EMP, dependent information is repeated for every project and project information is repeated for every dependent</a:t>
            </a:r>
          </a:p>
        </p:txBody>
      </p:sp>
      <p:sp>
        <p:nvSpPr>
          <p:cNvPr id="4" name="Slide Number Placeholder 3">
            <a:extLst>
              <a:ext uri="{FF2B5EF4-FFF2-40B4-BE49-F238E27FC236}">
                <a16:creationId xmlns:a16="http://schemas.microsoft.com/office/drawing/2014/main" id="{BAC1A8FF-5AD0-E198-7352-9EEE18B66666}"/>
              </a:ext>
            </a:extLst>
          </p:cNvPr>
          <p:cNvSpPr>
            <a:spLocks noGrp="1"/>
          </p:cNvSpPr>
          <p:nvPr>
            <p:ph type="sldNum" sz="quarter" idx="12"/>
          </p:nvPr>
        </p:nvSpPr>
        <p:spPr/>
        <p:txBody>
          <a:bodyPr/>
          <a:lstStyle/>
          <a:p>
            <a:fld id="{6264BDCF-5269-49AC-A246-ED26C2B980E3}" type="slidenum">
              <a:rPr lang="en-US" smtClean="0"/>
              <a:t>131</a:t>
            </a:fld>
            <a:endParaRPr lang="en-US"/>
          </a:p>
        </p:txBody>
      </p:sp>
    </p:spTree>
    <p:extLst>
      <p:ext uri="{BB962C8B-B14F-4D97-AF65-F5344CB8AC3E}">
        <p14:creationId xmlns:p14="http://schemas.microsoft.com/office/powerpoint/2010/main" val="162413591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6C222-76E9-3B9B-E865-518CDF2BB37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B22706-6A6F-135E-9FB8-92F99C2A0976}"/>
              </a:ext>
            </a:extLst>
          </p:cNvPr>
          <p:cNvSpPr>
            <a:spLocks noGrp="1"/>
          </p:cNvSpPr>
          <p:nvPr>
            <p:ph idx="1"/>
          </p:nvPr>
        </p:nvSpPr>
        <p:spPr/>
        <p:txBody>
          <a:bodyPr>
            <a:normAutofit/>
          </a:bodyPr>
          <a:lstStyle/>
          <a:p>
            <a:r>
              <a:rPr lang="en-US" dirty="0"/>
              <a:t>concept of multivalued dependency (MVD) was proposed and, based on this dependency, the fourth normal form was defined</a:t>
            </a:r>
          </a:p>
          <a:p>
            <a:r>
              <a:rPr lang="en-US" dirty="0"/>
              <a:t>multivalued dependencies are a consequence of first normal form (1NF) which disallows attribute in tuple to have set of values</a:t>
            </a:r>
          </a:p>
          <a:p>
            <a:r>
              <a:rPr lang="en-US" dirty="0"/>
              <a:t>whenever two independent 1:N relationships A:B and A:C are mixed in the same relation, R(A, B, C), an MVD may arise</a:t>
            </a:r>
          </a:p>
          <a:p>
            <a:r>
              <a:rPr lang="en-US" sz="2700" dirty="0"/>
              <a:t>Pizza(Restaurant, Type, </a:t>
            </a:r>
            <a:r>
              <a:rPr lang="en-US" sz="2700" dirty="0" err="1"/>
              <a:t>Delivery_Area</a:t>
            </a:r>
            <a:r>
              <a:rPr lang="en-US" sz="2700" dirty="0"/>
              <a:t>)</a:t>
            </a:r>
          </a:p>
          <a:p>
            <a:r>
              <a:rPr lang="en-US" sz="2700" dirty="0"/>
              <a:t>there could be cases – business rules – in which restaurant </a:t>
            </a:r>
            <a:r>
              <a:rPr lang="en-US" sz="2700" dirty="0" err="1"/>
              <a:t>Suete</a:t>
            </a:r>
            <a:r>
              <a:rPr lang="en-US" sz="2700" dirty="0"/>
              <a:t> will deliver pizza calzone only in Grigorescu </a:t>
            </a:r>
          </a:p>
        </p:txBody>
      </p:sp>
      <p:sp>
        <p:nvSpPr>
          <p:cNvPr id="4" name="Slide Number Placeholder 3">
            <a:extLst>
              <a:ext uri="{FF2B5EF4-FFF2-40B4-BE49-F238E27FC236}">
                <a16:creationId xmlns:a16="http://schemas.microsoft.com/office/drawing/2014/main" id="{6B6D6CF4-81D0-E6E0-6880-F955127FEBDC}"/>
              </a:ext>
            </a:extLst>
          </p:cNvPr>
          <p:cNvSpPr>
            <a:spLocks noGrp="1"/>
          </p:cNvSpPr>
          <p:nvPr>
            <p:ph type="sldNum" sz="quarter" idx="12"/>
          </p:nvPr>
        </p:nvSpPr>
        <p:spPr/>
        <p:txBody>
          <a:bodyPr/>
          <a:lstStyle/>
          <a:p>
            <a:fld id="{6264BDCF-5269-49AC-A246-ED26C2B980E3}" type="slidenum">
              <a:rPr lang="en-US" smtClean="0"/>
              <a:t>132</a:t>
            </a:fld>
            <a:endParaRPr lang="en-US"/>
          </a:p>
        </p:txBody>
      </p:sp>
    </p:spTree>
    <p:extLst>
      <p:ext uri="{BB962C8B-B14F-4D97-AF65-F5344CB8AC3E}">
        <p14:creationId xmlns:p14="http://schemas.microsoft.com/office/powerpoint/2010/main" val="244544879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53568-7907-5C24-9FAC-D1D3A8EF84E5}"/>
              </a:ext>
            </a:extLst>
          </p:cNvPr>
          <p:cNvSpPr>
            <a:spLocks noGrp="1"/>
          </p:cNvSpPr>
          <p:nvPr>
            <p:ph type="title"/>
          </p:nvPr>
        </p:nvSpPr>
        <p:spPr/>
        <p:txBody>
          <a:bodyPr/>
          <a:lstStyle/>
          <a:p>
            <a:r>
              <a:rPr lang="en-US" dirty="0"/>
              <a:t>Definition of Multivalued Dependency</a:t>
            </a:r>
          </a:p>
        </p:txBody>
      </p:sp>
      <p:sp>
        <p:nvSpPr>
          <p:cNvPr id="3" name="Content Placeholder 2">
            <a:extLst>
              <a:ext uri="{FF2B5EF4-FFF2-40B4-BE49-F238E27FC236}">
                <a16:creationId xmlns:a16="http://schemas.microsoft.com/office/drawing/2014/main" id="{61162863-6CB6-9067-4D03-4FE844B9A40F}"/>
              </a:ext>
            </a:extLst>
          </p:cNvPr>
          <p:cNvSpPr>
            <a:spLocks noGrp="1"/>
          </p:cNvSpPr>
          <p:nvPr>
            <p:ph idx="1"/>
          </p:nvPr>
        </p:nvSpPr>
        <p:spPr/>
        <p:txBody>
          <a:bodyPr>
            <a:normAutofit/>
          </a:bodyPr>
          <a:lstStyle/>
          <a:p>
            <a:r>
              <a:rPr lang="en-US" dirty="0"/>
              <a:t>a multivalued dependency </a:t>
            </a:r>
            <a:r>
              <a:rPr lang="en-US" i="1" dirty="0"/>
              <a:t>X </a:t>
            </a:r>
            <a:r>
              <a:rPr lang="en-US" dirty="0"/>
              <a:t>→→ </a:t>
            </a:r>
            <a:r>
              <a:rPr lang="en-US" i="1" dirty="0"/>
              <a:t>Y </a:t>
            </a:r>
            <a:r>
              <a:rPr lang="en-US" dirty="0"/>
              <a:t>specified on relation schema </a:t>
            </a:r>
            <a:r>
              <a:rPr lang="en-US" i="1" dirty="0"/>
              <a:t>R</a:t>
            </a:r>
            <a:r>
              <a:rPr lang="en-US" dirty="0"/>
              <a:t>, where </a:t>
            </a:r>
            <a:r>
              <a:rPr lang="en-US" i="1" dirty="0"/>
              <a:t>X </a:t>
            </a:r>
            <a:r>
              <a:rPr lang="en-US" dirty="0"/>
              <a:t>and </a:t>
            </a:r>
            <a:r>
              <a:rPr lang="en-US" i="1" dirty="0"/>
              <a:t>Y </a:t>
            </a:r>
            <a:r>
              <a:rPr lang="en-US" dirty="0"/>
              <a:t>are both subsets of </a:t>
            </a:r>
            <a:r>
              <a:rPr lang="en-US" i="1" dirty="0"/>
              <a:t>R</a:t>
            </a:r>
            <a:r>
              <a:rPr lang="en-US" dirty="0"/>
              <a:t>, specifies the following constraint on any relation state </a:t>
            </a:r>
            <a:r>
              <a:rPr lang="en-US" i="1" dirty="0"/>
              <a:t>r </a:t>
            </a:r>
            <a:r>
              <a:rPr lang="en-US" dirty="0"/>
              <a:t>of </a:t>
            </a:r>
            <a:r>
              <a:rPr lang="en-US" i="1" dirty="0"/>
              <a:t>R</a:t>
            </a:r>
            <a:r>
              <a:rPr lang="en-US" dirty="0"/>
              <a:t>: </a:t>
            </a:r>
          </a:p>
          <a:p>
            <a:r>
              <a:rPr lang="en-US" dirty="0"/>
              <a:t>if two tuples </a:t>
            </a:r>
            <a:r>
              <a:rPr lang="en-US" i="1" dirty="0"/>
              <a:t>t</a:t>
            </a:r>
            <a:r>
              <a:rPr lang="en-US" baseline="-25000" dirty="0"/>
              <a:t>1</a:t>
            </a:r>
            <a:r>
              <a:rPr lang="en-US" dirty="0"/>
              <a:t> and </a:t>
            </a:r>
            <a:r>
              <a:rPr lang="en-US" i="1" dirty="0"/>
              <a:t>t</a:t>
            </a:r>
            <a:r>
              <a:rPr lang="en-US" baseline="-25000" dirty="0"/>
              <a:t>2</a:t>
            </a:r>
            <a:r>
              <a:rPr lang="en-US" dirty="0"/>
              <a:t> exist in </a:t>
            </a:r>
            <a:r>
              <a:rPr lang="en-US" i="1" dirty="0"/>
              <a:t>r </a:t>
            </a:r>
            <a:r>
              <a:rPr lang="en-US" dirty="0"/>
              <a:t>such that </a:t>
            </a:r>
            <a:r>
              <a:rPr lang="en-US" i="1" dirty="0"/>
              <a:t>t</a:t>
            </a:r>
            <a:r>
              <a:rPr lang="en-US" baseline="-25000" dirty="0"/>
              <a:t>1</a:t>
            </a:r>
            <a:r>
              <a:rPr lang="en-US" dirty="0"/>
              <a:t>[X] = </a:t>
            </a:r>
            <a:r>
              <a:rPr lang="en-US" i="1" dirty="0"/>
              <a:t>t</a:t>
            </a:r>
            <a:r>
              <a:rPr lang="en-US" baseline="-25000" dirty="0"/>
              <a:t>2</a:t>
            </a:r>
            <a:r>
              <a:rPr lang="en-US" dirty="0"/>
              <a:t>[X], then two tuples </a:t>
            </a:r>
            <a:r>
              <a:rPr lang="en-US" i="1" dirty="0"/>
              <a:t>t</a:t>
            </a:r>
            <a:r>
              <a:rPr lang="en-US" baseline="-25000" dirty="0"/>
              <a:t>3</a:t>
            </a:r>
            <a:r>
              <a:rPr lang="en-US" dirty="0"/>
              <a:t> and </a:t>
            </a:r>
            <a:r>
              <a:rPr lang="en-US" i="1" dirty="0"/>
              <a:t>t</a:t>
            </a:r>
            <a:r>
              <a:rPr lang="en-US" baseline="-25000" dirty="0"/>
              <a:t>4</a:t>
            </a:r>
            <a:r>
              <a:rPr lang="en-US" dirty="0"/>
              <a:t> should also exist in </a:t>
            </a:r>
            <a:r>
              <a:rPr lang="en-US" i="1" dirty="0"/>
              <a:t>r </a:t>
            </a:r>
            <a:r>
              <a:rPr lang="en-US" dirty="0"/>
              <a:t>with following properties – where we use </a:t>
            </a:r>
            <a:r>
              <a:rPr lang="en-US" i="1" dirty="0"/>
              <a:t>Z </a:t>
            </a:r>
            <a:r>
              <a:rPr lang="en-US" dirty="0"/>
              <a:t>to denote (</a:t>
            </a:r>
            <a:r>
              <a:rPr lang="en-US" i="1" dirty="0"/>
              <a:t>R </a:t>
            </a:r>
            <a:r>
              <a:rPr lang="en-US" dirty="0"/>
              <a:t>− (</a:t>
            </a:r>
            <a:r>
              <a:rPr lang="en-US" i="1" dirty="0"/>
              <a:t>X </a:t>
            </a:r>
            <a:r>
              <a:rPr lang="en-US" dirty="0"/>
              <a:t>∪ Y)):</a:t>
            </a:r>
          </a:p>
          <a:p>
            <a:r>
              <a:rPr lang="en-US" i="1" dirty="0"/>
              <a:t>t</a:t>
            </a:r>
            <a:r>
              <a:rPr lang="en-US" baseline="-25000" dirty="0"/>
              <a:t>3</a:t>
            </a:r>
            <a:r>
              <a:rPr lang="en-US" dirty="0"/>
              <a:t>[</a:t>
            </a:r>
            <a:r>
              <a:rPr lang="en-US" i="1" dirty="0"/>
              <a:t>X</a:t>
            </a:r>
            <a:r>
              <a:rPr lang="en-US" dirty="0"/>
              <a:t>] = </a:t>
            </a:r>
            <a:r>
              <a:rPr lang="en-US" i="1" dirty="0"/>
              <a:t>t</a:t>
            </a:r>
            <a:r>
              <a:rPr lang="en-US" baseline="-25000" dirty="0"/>
              <a:t>4</a:t>
            </a:r>
            <a:r>
              <a:rPr lang="en-US" dirty="0"/>
              <a:t>[</a:t>
            </a:r>
            <a:r>
              <a:rPr lang="en-US" i="1" dirty="0"/>
              <a:t>X</a:t>
            </a:r>
            <a:r>
              <a:rPr lang="en-US" dirty="0"/>
              <a:t>] = </a:t>
            </a:r>
            <a:r>
              <a:rPr lang="en-US" i="1" dirty="0"/>
              <a:t>t</a:t>
            </a:r>
            <a:r>
              <a:rPr lang="en-US" baseline="-25000" dirty="0"/>
              <a:t>1</a:t>
            </a:r>
            <a:r>
              <a:rPr lang="en-US" dirty="0"/>
              <a:t> [</a:t>
            </a:r>
            <a:r>
              <a:rPr lang="en-US" i="1" dirty="0"/>
              <a:t>X</a:t>
            </a:r>
            <a:r>
              <a:rPr lang="en-US" dirty="0"/>
              <a:t>] = </a:t>
            </a:r>
            <a:r>
              <a:rPr lang="en-US" i="1" dirty="0"/>
              <a:t>t</a:t>
            </a:r>
            <a:r>
              <a:rPr lang="en-US" baseline="-25000" dirty="0"/>
              <a:t>2</a:t>
            </a:r>
            <a:r>
              <a:rPr lang="en-US" dirty="0"/>
              <a:t>[</a:t>
            </a:r>
            <a:r>
              <a:rPr lang="en-US" i="1" dirty="0"/>
              <a:t>X</a:t>
            </a:r>
            <a:r>
              <a:rPr lang="en-US" dirty="0"/>
              <a:t>]</a:t>
            </a:r>
          </a:p>
          <a:p>
            <a:r>
              <a:rPr lang="fr-FR" i="1" dirty="0"/>
              <a:t>t</a:t>
            </a:r>
            <a:r>
              <a:rPr lang="en-US" baseline="-25000" dirty="0"/>
              <a:t>3</a:t>
            </a:r>
            <a:r>
              <a:rPr lang="fr-FR" dirty="0"/>
              <a:t>[</a:t>
            </a:r>
            <a:r>
              <a:rPr lang="fr-FR" i="1" dirty="0"/>
              <a:t>Y</a:t>
            </a:r>
            <a:r>
              <a:rPr lang="fr-FR" dirty="0"/>
              <a:t>] = </a:t>
            </a:r>
            <a:r>
              <a:rPr lang="fr-FR" i="1" dirty="0"/>
              <a:t>t</a:t>
            </a:r>
            <a:r>
              <a:rPr lang="en-US" baseline="-25000" dirty="0"/>
              <a:t>1</a:t>
            </a:r>
            <a:r>
              <a:rPr lang="fr-FR" dirty="0"/>
              <a:t>[</a:t>
            </a:r>
            <a:r>
              <a:rPr lang="fr-FR" i="1" dirty="0"/>
              <a:t>Y</a:t>
            </a:r>
            <a:r>
              <a:rPr lang="fr-FR" dirty="0"/>
              <a:t>] and </a:t>
            </a:r>
            <a:r>
              <a:rPr lang="fr-FR" i="1" dirty="0"/>
              <a:t>t</a:t>
            </a:r>
            <a:r>
              <a:rPr lang="en-US" baseline="-25000" dirty="0"/>
              <a:t>4</a:t>
            </a:r>
            <a:r>
              <a:rPr lang="fr-FR" dirty="0"/>
              <a:t>[</a:t>
            </a:r>
            <a:r>
              <a:rPr lang="fr-FR" i="1" dirty="0"/>
              <a:t>Y</a:t>
            </a:r>
            <a:r>
              <a:rPr lang="fr-FR" dirty="0"/>
              <a:t>] = </a:t>
            </a:r>
            <a:r>
              <a:rPr lang="fr-FR" i="1" dirty="0"/>
              <a:t>t</a:t>
            </a:r>
            <a:r>
              <a:rPr lang="en-US" baseline="-25000" dirty="0"/>
              <a:t>2</a:t>
            </a:r>
            <a:r>
              <a:rPr lang="fr-FR" dirty="0"/>
              <a:t>[</a:t>
            </a:r>
            <a:r>
              <a:rPr lang="fr-FR" i="1" dirty="0"/>
              <a:t>Y</a:t>
            </a:r>
            <a:r>
              <a:rPr lang="fr-FR" dirty="0"/>
              <a:t>]</a:t>
            </a:r>
          </a:p>
          <a:p>
            <a:r>
              <a:rPr lang="en-US" i="1" dirty="0"/>
              <a:t>t</a:t>
            </a:r>
            <a:r>
              <a:rPr lang="en-US" baseline="-25000" dirty="0"/>
              <a:t>3</a:t>
            </a:r>
            <a:r>
              <a:rPr lang="en-US" dirty="0"/>
              <a:t>[</a:t>
            </a:r>
            <a:r>
              <a:rPr lang="en-US" i="1" dirty="0"/>
              <a:t>Z</a:t>
            </a:r>
            <a:r>
              <a:rPr lang="en-US" dirty="0"/>
              <a:t>] = </a:t>
            </a:r>
            <a:r>
              <a:rPr lang="en-US" i="1" dirty="0"/>
              <a:t>t</a:t>
            </a:r>
            <a:r>
              <a:rPr lang="en-US" baseline="-25000" dirty="0"/>
              <a:t>2</a:t>
            </a:r>
            <a:r>
              <a:rPr lang="en-US" dirty="0"/>
              <a:t>[</a:t>
            </a:r>
            <a:r>
              <a:rPr lang="en-US" i="1" dirty="0"/>
              <a:t>Z</a:t>
            </a:r>
            <a:r>
              <a:rPr lang="en-US" dirty="0"/>
              <a:t>] and </a:t>
            </a:r>
            <a:r>
              <a:rPr lang="en-US" i="1" dirty="0"/>
              <a:t>t</a:t>
            </a:r>
            <a:r>
              <a:rPr lang="en-US" baseline="-25000" dirty="0"/>
              <a:t>4</a:t>
            </a:r>
            <a:r>
              <a:rPr lang="en-US" dirty="0"/>
              <a:t>[</a:t>
            </a:r>
            <a:r>
              <a:rPr lang="en-US" i="1" dirty="0"/>
              <a:t>Z</a:t>
            </a:r>
            <a:r>
              <a:rPr lang="en-US" dirty="0"/>
              <a:t>] = </a:t>
            </a:r>
            <a:r>
              <a:rPr lang="en-US" i="1" dirty="0"/>
              <a:t>t</a:t>
            </a:r>
            <a:r>
              <a:rPr lang="en-US" baseline="-25000" dirty="0"/>
              <a:t>1</a:t>
            </a:r>
            <a:r>
              <a:rPr lang="en-US" i="1" dirty="0"/>
              <a:t> </a:t>
            </a:r>
            <a:r>
              <a:rPr lang="en-US" dirty="0"/>
              <a:t>[</a:t>
            </a:r>
            <a:r>
              <a:rPr lang="en-US" i="1" dirty="0"/>
              <a:t>Z</a:t>
            </a:r>
            <a:r>
              <a:rPr lang="en-US" dirty="0"/>
              <a:t>]</a:t>
            </a:r>
          </a:p>
        </p:txBody>
      </p:sp>
      <p:sp>
        <p:nvSpPr>
          <p:cNvPr id="4" name="Slide Number Placeholder 3">
            <a:extLst>
              <a:ext uri="{FF2B5EF4-FFF2-40B4-BE49-F238E27FC236}">
                <a16:creationId xmlns:a16="http://schemas.microsoft.com/office/drawing/2014/main" id="{D4BBD0CE-956A-93B7-51FE-3284F6A8785A}"/>
              </a:ext>
            </a:extLst>
          </p:cNvPr>
          <p:cNvSpPr>
            <a:spLocks noGrp="1"/>
          </p:cNvSpPr>
          <p:nvPr>
            <p:ph type="sldNum" sz="quarter" idx="12"/>
          </p:nvPr>
        </p:nvSpPr>
        <p:spPr/>
        <p:txBody>
          <a:bodyPr/>
          <a:lstStyle/>
          <a:p>
            <a:fld id="{6264BDCF-5269-49AC-A246-ED26C2B980E3}" type="slidenum">
              <a:rPr lang="en-US" smtClean="0"/>
              <a:t>133</a:t>
            </a:fld>
            <a:endParaRPr lang="en-US"/>
          </a:p>
        </p:txBody>
      </p:sp>
    </p:spTree>
    <p:extLst>
      <p:ext uri="{BB962C8B-B14F-4D97-AF65-F5344CB8AC3E}">
        <p14:creationId xmlns:p14="http://schemas.microsoft.com/office/powerpoint/2010/main" val="131576943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A4C12-6D6F-CD60-FAE0-F07D390D1A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A0EB7B-3CCD-C10D-DFA7-990F06781805}"/>
              </a:ext>
            </a:extLst>
          </p:cNvPr>
          <p:cNvSpPr>
            <a:spLocks noGrp="1"/>
          </p:cNvSpPr>
          <p:nvPr>
            <p:ph idx="1"/>
          </p:nvPr>
        </p:nvSpPr>
        <p:spPr/>
        <p:txBody>
          <a:bodyPr/>
          <a:lstStyle/>
          <a:p>
            <a:r>
              <a:rPr lang="en-US" dirty="0"/>
              <a:t>whenever </a:t>
            </a:r>
            <a:r>
              <a:rPr lang="en-US" i="1" dirty="0"/>
              <a:t>X </a:t>
            </a:r>
            <a:r>
              <a:rPr lang="en-US" dirty="0"/>
              <a:t>→→ </a:t>
            </a:r>
            <a:r>
              <a:rPr lang="en-US" i="1" dirty="0"/>
              <a:t>Y </a:t>
            </a:r>
            <a:r>
              <a:rPr lang="en-US" dirty="0"/>
              <a:t>holds, we say that </a:t>
            </a:r>
            <a:r>
              <a:rPr lang="en-US" i="1" dirty="0"/>
              <a:t>X </a:t>
            </a:r>
            <a:r>
              <a:rPr lang="en-US" dirty="0" err="1"/>
              <a:t>multidetermines</a:t>
            </a:r>
            <a:r>
              <a:rPr lang="en-US" b="1" dirty="0"/>
              <a:t> </a:t>
            </a:r>
            <a:r>
              <a:rPr lang="en-US" i="1" dirty="0"/>
              <a:t>Y</a:t>
            </a:r>
          </a:p>
          <a:p>
            <a:r>
              <a:rPr lang="en-US" dirty="0"/>
              <a:t>because of the symmetry in the definition, whenever </a:t>
            </a:r>
            <a:r>
              <a:rPr lang="en-US" i="1" dirty="0"/>
              <a:t>X </a:t>
            </a:r>
            <a:r>
              <a:rPr lang="en-US" dirty="0"/>
              <a:t>→→ </a:t>
            </a:r>
            <a:r>
              <a:rPr lang="en-US" i="1" dirty="0"/>
              <a:t>Y </a:t>
            </a:r>
            <a:r>
              <a:rPr lang="en-US" dirty="0"/>
              <a:t>holds in </a:t>
            </a:r>
            <a:r>
              <a:rPr lang="en-US" i="1" dirty="0"/>
              <a:t>R</a:t>
            </a:r>
            <a:r>
              <a:rPr lang="en-US" dirty="0"/>
              <a:t>, so does </a:t>
            </a:r>
            <a:r>
              <a:rPr lang="en-US" i="1" dirty="0"/>
              <a:t>X </a:t>
            </a:r>
            <a:r>
              <a:rPr lang="en-US" dirty="0"/>
              <a:t>→→ </a:t>
            </a:r>
            <a:r>
              <a:rPr lang="en-US" i="1" dirty="0"/>
              <a:t>Z</a:t>
            </a:r>
          </a:p>
          <a:p>
            <a:r>
              <a:rPr lang="en-US" dirty="0"/>
              <a:t>sometimes written as </a:t>
            </a:r>
            <a:r>
              <a:rPr lang="en-US" i="1" dirty="0"/>
              <a:t>X </a:t>
            </a:r>
            <a:r>
              <a:rPr lang="en-US" dirty="0"/>
              <a:t>→→ </a:t>
            </a:r>
            <a:r>
              <a:rPr lang="en-US" i="1" dirty="0"/>
              <a:t>Y|Z</a:t>
            </a:r>
            <a:endParaRPr lang="en-US" dirty="0"/>
          </a:p>
        </p:txBody>
      </p:sp>
      <p:sp>
        <p:nvSpPr>
          <p:cNvPr id="4" name="Slide Number Placeholder 3">
            <a:extLst>
              <a:ext uri="{FF2B5EF4-FFF2-40B4-BE49-F238E27FC236}">
                <a16:creationId xmlns:a16="http://schemas.microsoft.com/office/drawing/2014/main" id="{1247F9FA-A3F4-73A1-BFB8-73E55440503F}"/>
              </a:ext>
            </a:extLst>
          </p:cNvPr>
          <p:cNvSpPr>
            <a:spLocks noGrp="1"/>
          </p:cNvSpPr>
          <p:nvPr>
            <p:ph type="sldNum" sz="quarter" idx="12"/>
          </p:nvPr>
        </p:nvSpPr>
        <p:spPr/>
        <p:txBody>
          <a:bodyPr/>
          <a:lstStyle/>
          <a:p>
            <a:fld id="{6264BDCF-5269-49AC-A246-ED26C2B980E3}" type="slidenum">
              <a:rPr lang="en-US" smtClean="0"/>
              <a:t>134</a:t>
            </a:fld>
            <a:endParaRPr lang="en-US"/>
          </a:p>
        </p:txBody>
      </p:sp>
    </p:spTree>
    <p:extLst>
      <p:ext uri="{BB962C8B-B14F-4D97-AF65-F5344CB8AC3E}">
        <p14:creationId xmlns:p14="http://schemas.microsoft.com/office/powerpoint/2010/main" val="388793584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8E1CA-00F1-95CB-389C-A9147AF4AD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3EBC34-E5A2-2D72-278A-B97EE55F24C8}"/>
              </a:ext>
            </a:extLst>
          </p:cNvPr>
          <p:cNvSpPr>
            <a:spLocks noGrp="1"/>
          </p:cNvSpPr>
          <p:nvPr>
            <p:ph idx="1"/>
          </p:nvPr>
        </p:nvSpPr>
        <p:spPr>
          <a:xfrm>
            <a:off x="838199" y="1825625"/>
            <a:ext cx="10862187" cy="4351338"/>
          </a:xfrm>
        </p:spPr>
        <p:txBody>
          <a:bodyPr>
            <a:normAutofit/>
          </a:bodyPr>
          <a:lstStyle/>
          <a:p>
            <a:r>
              <a:rPr lang="en-US" dirty="0"/>
              <a:t>a MVD </a:t>
            </a:r>
            <a:r>
              <a:rPr lang="en-US" i="1" dirty="0"/>
              <a:t>X </a:t>
            </a:r>
            <a:r>
              <a:rPr lang="en-US" dirty="0"/>
              <a:t>→→ </a:t>
            </a:r>
            <a:r>
              <a:rPr lang="en-US" i="1" dirty="0"/>
              <a:t>Y </a:t>
            </a:r>
            <a:r>
              <a:rPr lang="en-US" dirty="0"/>
              <a:t>in </a:t>
            </a:r>
            <a:r>
              <a:rPr lang="en-US" i="1" dirty="0"/>
              <a:t>R </a:t>
            </a:r>
            <a:r>
              <a:rPr lang="en-US" dirty="0"/>
              <a:t>is called trivial MVD if </a:t>
            </a:r>
            <a:r>
              <a:rPr lang="en-US" i="1" dirty="0"/>
              <a:t>Y </a:t>
            </a:r>
            <a:r>
              <a:rPr lang="en-US" dirty="0"/>
              <a:t>is a subset of </a:t>
            </a:r>
            <a:r>
              <a:rPr lang="en-US" i="1" dirty="0"/>
              <a:t>X</a:t>
            </a:r>
            <a:r>
              <a:rPr lang="en-US" dirty="0"/>
              <a:t>, or </a:t>
            </a:r>
            <a:r>
              <a:rPr lang="en-US" i="1" dirty="0"/>
              <a:t>X </a:t>
            </a:r>
            <a:r>
              <a:rPr lang="en-US" dirty="0"/>
              <a:t>∪ Y = </a:t>
            </a:r>
            <a:r>
              <a:rPr lang="en-US" i="1" dirty="0"/>
              <a:t>R</a:t>
            </a:r>
            <a:endParaRPr lang="en-US" dirty="0"/>
          </a:p>
          <a:p>
            <a:r>
              <a:rPr lang="en-US" dirty="0"/>
              <a:t>for example, </a:t>
            </a:r>
          </a:p>
          <a:p>
            <a:r>
              <a:rPr lang="en-US" dirty="0"/>
              <a:t>relation EMP_PROJECTS has the trivial MVD </a:t>
            </a:r>
            <a:r>
              <a:rPr lang="en-US" dirty="0" err="1"/>
              <a:t>Ename</a:t>
            </a:r>
            <a:r>
              <a:rPr lang="en-US" dirty="0"/>
              <a:t> →→ </a:t>
            </a:r>
            <a:r>
              <a:rPr lang="en-US" dirty="0" err="1"/>
              <a:t>Pname</a:t>
            </a:r>
            <a:r>
              <a:rPr lang="en-US" dirty="0"/>
              <a:t> and relation EMP_DEPENDENTS has the trivial MVD </a:t>
            </a:r>
            <a:r>
              <a:rPr lang="en-US" dirty="0" err="1"/>
              <a:t>Ename</a:t>
            </a:r>
            <a:r>
              <a:rPr lang="en-US" dirty="0"/>
              <a:t> →→ </a:t>
            </a:r>
            <a:r>
              <a:rPr lang="en-US" dirty="0" err="1"/>
              <a:t>Dname</a:t>
            </a:r>
            <a:endParaRPr lang="en-US" dirty="0"/>
          </a:p>
          <a:p>
            <a:r>
              <a:rPr lang="en-US" dirty="0"/>
              <a:t>it is called trivial because it does not specify any significant or meaningful constraint on </a:t>
            </a:r>
            <a:r>
              <a:rPr lang="en-US" i="1" dirty="0"/>
              <a:t>R</a:t>
            </a:r>
            <a:endParaRPr lang="en-US" dirty="0"/>
          </a:p>
        </p:txBody>
      </p:sp>
      <p:sp>
        <p:nvSpPr>
          <p:cNvPr id="4" name="Slide Number Placeholder 3">
            <a:extLst>
              <a:ext uri="{FF2B5EF4-FFF2-40B4-BE49-F238E27FC236}">
                <a16:creationId xmlns:a16="http://schemas.microsoft.com/office/drawing/2014/main" id="{F864ADA0-FE09-CDB8-50E9-CC7095E45862}"/>
              </a:ext>
            </a:extLst>
          </p:cNvPr>
          <p:cNvSpPr>
            <a:spLocks noGrp="1"/>
          </p:cNvSpPr>
          <p:nvPr>
            <p:ph type="sldNum" sz="quarter" idx="12"/>
          </p:nvPr>
        </p:nvSpPr>
        <p:spPr/>
        <p:txBody>
          <a:bodyPr/>
          <a:lstStyle/>
          <a:p>
            <a:fld id="{6264BDCF-5269-49AC-A246-ED26C2B980E3}" type="slidenum">
              <a:rPr lang="en-US" smtClean="0"/>
              <a:t>135</a:t>
            </a:fld>
            <a:endParaRPr lang="en-US"/>
          </a:p>
        </p:txBody>
      </p:sp>
    </p:spTree>
    <p:extLst>
      <p:ext uri="{BB962C8B-B14F-4D97-AF65-F5344CB8AC3E}">
        <p14:creationId xmlns:p14="http://schemas.microsoft.com/office/powerpoint/2010/main" val="385935016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B1E81-6E2D-56C0-E881-4886AC8B75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10E4FC-AE9C-2030-DEE5-32C2E56A6F42}"/>
              </a:ext>
            </a:extLst>
          </p:cNvPr>
          <p:cNvSpPr>
            <a:spLocks noGrp="1"/>
          </p:cNvSpPr>
          <p:nvPr>
            <p:ph idx="1"/>
          </p:nvPr>
        </p:nvSpPr>
        <p:spPr/>
        <p:txBody>
          <a:bodyPr>
            <a:normAutofit/>
          </a:bodyPr>
          <a:lstStyle/>
          <a:p>
            <a:r>
              <a:rPr lang="en-US" dirty="0"/>
              <a:t>if we have nontrivial MVD</a:t>
            </a:r>
            <a:r>
              <a:rPr lang="en-US" i="1" dirty="0"/>
              <a:t> </a:t>
            </a:r>
            <a:r>
              <a:rPr lang="en-US" dirty="0"/>
              <a:t>in relation, we may have to repeat values redundantly in tuples</a:t>
            </a:r>
          </a:p>
          <a:p>
            <a:r>
              <a:rPr lang="en-US" dirty="0"/>
              <a:t>need to define a fourth normal form that is stronger than BCNF and disallows relation schemas with nontrivial MVD such as EMP</a:t>
            </a:r>
          </a:p>
          <a:p>
            <a:r>
              <a:rPr lang="en-US" dirty="0"/>
              <a:t>relations containing nontrivial MVDs tend to be all-key relations, that is, their key is all their attributes taken together</a:t>
            </a:r>
          </a:p>
          <a:p>
            <a:r>
              <a:rPr lang="en-US" dirty="0"/>
              <a:t>recognition of MVDs as a potential problematic dependency is essential in relational design</a:t>
            </a:r>
          </a:p>
        </p:txBody>
      </p:sp>
      <p:sp>
        <p:nvSpPr>
          <p:cNvPr id="4" name="Slide Number Placeholder 3">
            <a:extLst>
              <a:ext uri="{FF2B5EF4-FFF2-40B4-BE49-F238E27FC236}">
                <a16:creationId xmlns:a16="http://schemas.microsoft.com/office/drawing/2014/main" id="{0B0E21DD-70CB-5CA3-721C-ABD93914951D}"/>
              </a:ext>
            </a:extLst>
          </p:cNvPr>
          <p:cNvSpPr>
            <a:spLocks noGrp="1"/>
          </p:cNvSpPr>
          <p:nvPr>
            <p:ph type="sldNum" sz="quarter" idx="12"/>
          </p:nvPr>
        </p:nvSpPr>
        <p:spPr/>
        <p:txBody>
          <a:bodyPr/>
          <a:lstStyle/>
          <a:p>
            <a:fld id="{6264BDCF-5269-49AC-A246-ED26C2B980E3}" type="slidenum">
              <a:rPr lang="en-US" smtClean="0"/>
              <a:t>136</a:t>
            </a:fld>
            <a:endParaRPr lang="en-US"/>
          </a:p>
        </p:txBody>
      </p:sp>
    </p:spTree>
    <p:extLst>
      <p:ext uri="{BB962C8B-B14F-4D97-AF65-F5344CB8AC3E}">
        <p14:creationId xmlns:p14="http://schemas.microsoft.com/office/powerpoint/2010/main" val="288246262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6E4E6-672C-87BC-4B03-18DA38CD4B3B}"/>
              </a:ext>
            </a:extLst>
          </p:cNvPr>
          <p:cNvSpPr>
            <a:spLocks noGrp="1"/>
          </p:cNvSpPr>
          <p:nvPr>
            <p:ph type="title"/>
          </p:nvPr>
        </p:nvSpPr>
        <p:spPr/>
        <p:txBody>
          <a:bodyPr/>
          <a:lstStyle/>
          <a:p>
            <a:r>
              <a:rPr lang="en-US" dirty="0"/>
              <a:t>definition of fourth normal form (4NF)</a:t>
            </a:r>
          </a:p>
        </p:txBody>
      </p:sp>
      <p:sp>
        <p:nvSpPr>
          <p:cNvPr id="3" name="Content Placeholder 2">
            <a:extLst>
              <a:ext uri="{FF2B5EF4-FFF2-40B4-BE49-F238E27FC236}">
                <a16:creationId xmlns:a16="http://schemas.microsoft.com/office/drawing/2014/main" id="{AEDC2C12-4339-8D64-B538-1FD844B378C3}"/>
              </a:ext>
            </a:extLst>
          </p:cNvPr>
          <p:cNvSpPr>
            <a:spLocks noGrp="1"/>
          </p:cNvSpPr>
          <p:nvPr>
            <p:ph idx="1"/>
          </p:nvPr>
        </p:nvSpPr>
        <p:spPr/>
        <p:txBody>
          <a:bodyPr>
            <a:normAutofit/>
          </a:bodyPr>
          <a:lstStyle/>
          <a:p>
            <a:r>
              <a:rPr lang="en-US" dirty="0"/>
              <a:t>relation has undesirable multivalued dependencies and hence can be used to identify and decompose such relations</a:t>
            </a:r>
          </a:p>
          <a:p>
            <a:r>
              <a:rPr lang="en-US" dirty="0"/>
              <a:t>relation schema </a:t>
            </a:r>
            <a:r>
              <a:rPr lang="en-US" i="1" dirty="0"/>
              <a:t>R </a:t>
            </a:r>
            <a:r>
              <a:rPr lang="en-US" dirty="0"/>
              <a:t>is in 4NF</a:t>
            </a:r>
            <a:r>
              <a:rPr lang="en-US" b="1" dirty="0"/>
              <a:t> </a:t>
            </a:r>
            <a:r>
              <a:rPr lang="en-US" dirty="0"/>
              <a:t>with respect to a set of dependencies </a:t>
            </a:r>
            <a:r>
              <a:rPr lang="en-US" i="1" dirty="0"/>
              <a:t>F </a:t>
            </a:r>
            <a:r>
              <a:rPr lang="en-US" dirty="0"/>
              <a:t>(that includes functional dependencies and multivalued dependencies) if, for every </a:t>
            </a:r>
            <a:r>
              <a:rPr lang="en-US" i="1" dirty="0"/>
              <a:t>nontrivial </a:t>
            </a:r>
            <a:r>
              <a:rPr lang="en-US" dirty="0"/>
              <a:t>multivalued dependency </a:t>
            </a:r>
            <a:r>
              <a:rPr lang="en-US" i="1" dirty="0"/>
              <a:t>X </a:t>
            </a:r>
            <a:r>
              <a:rPr lang="en-US" dirty="0"/>
              <a:t>→→ </a:t>
            </a:r>
            <a:r>
              <a:rPr lang="en-US" i="1" dirty="0"/>
              <a:t>Y </a:t>
            </a:r>
            <a:r>
              <a:rPr lang="en-US" dirty="0"/>
              <a:t>in </a:t>
            </a:r>
            <a:r>
              <a:rPr lang="en-US" i="1" dirty="0"/>
              <a:t>F</a:t>
            </a:r>
            <a:r>
              <a:rPr lang="en-US" baseline="30000" dirty="0"/>
              <a:t>+</a:t>
            </a:r>
            <a:r>
              <a:rPr lang="en-US" dirty="0"/>
              <a:t>, </a:t>
            </a:r>
            <a:r>
              <a:rPr lang="en-US" i="1" dirty="0"/>
              <a:t>X </a:t>
            </a:r>
            <a:r>
              <a:rPr lang="en-US" dirty="0"/>
              <a:t>is a </a:t>
            </a:r>
            <a:r>
              <a:rPr lang="en-US" dirty="0" err="1"/>
              <a:t>superkey</a:t>
            </a:r>
            <a:r>
              <a:rPr lang="en-US" dirty="0"/>
              <a:t> for </a:t>
            </a:r>
            <a:r>
              <a:rPr lang="en-US" i="1" dirty="0"/>
              <a:t>R</a:t>
            </a:r>
            <a:endParaRPr lang="en-US" dirty="0"/>
          </a:p>
        </p:txBody>
      </p:sp>
      <p:sp>
        <p:nvSpPr>
          <p:cNvPr id="4" name="Slide Number Placeholder 3">
            <a:extLst>
              <a:ext uri="{FF2B5EF4-FFF2-40B4-BE49-F238E27FC236}">
                <a16:creationId xmlns:a16="http://schemas.microsoft.com/office/drawing/2014/main" id="{802DA1DF-6720-1B2C-F5EE-7C388A122FCD}"/>
              </a:ext>
            </a:extLst>
          </p:cNvPr>
          <p:cNvSpPr>
            <a:spLocks noGrp="1"/>
          </p:cNvSpPr>
          <p:nvPr>
            <p:ph type="sldNum" sz="quarter" idx="12"/>
          </p:nvPr>
        </p:nvSpPr>
        <p:spPr/>
        <p:txBody>
          <a:bodyPr/>
          <a:lstStyle/>
          <a:p>
            <a:fld id="{6264BDCF-5269-49AC-A246-ED26C2B980E3}" type="slidenum">
              <a:rPr lang="en-US" smtClean="0"/>
              <a:t>137</a:t>
            </a:fld>
            <a:endParaRPr lang="en-US"/>
          </a:p>
        </p:txBody>
      </p:sp>
    </p:spTree>
    <p:extLst>
      <p:ext uri="{BB962C8B-B14F-4D97-AF65-F5344CB8AC3E}">
        <p14:creationId xmlns:p14="http://schemas.microsoft.com/office/powerpoint/2010/main" val="356515809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0FCC1-A269-C746-CD70-BF1C4CAF60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D9AC085-5AEA-6B43-A2FC-74A3FA39A973}"/>
              </a:ext>
            </a:extLst>
          </p:cNvPr>
          <p:cNvSpPr>
            <a:spLocks noGrp="1"/>
          </p:cNvSpPr>
          <p:nvPr>
            <p:ph idx="1"/>
          </p:nvPr>
        </p:nvSpPr>
        <p:spPr/>
        <p:txBody>
          <a:bodyPr/>
          <a:lstStyle/>
          <a:p>
            <a:r>
              <a:rPr lang="en-US" dirty="0"/>
              <a:t>all-key relation is always in BCNF since it has no FDs</a:t>
            </a:r>
          </a:p>
          <a:p>
            <a:r>
              <a:rPr lang="en-US" dirty="0"/>
              <a:t>all-key relation such as EMP relation, which has no FDs but has the MVD </a:t>
            </a:r>
            <a:r>
              <a:rPr lang="en-US" dirty="0" err="1"/>
              <a:t>Ename</a:t>
            </a:r>
            <a:r>
              <a:rPr lang="en-US" dirty="0"/>
              <a:t> →→ </a:t>
            </a:r>
            <a:r>
              <a:rPr lang="en-US" dirty="0" err="1"/>
              <a:t>Pname</a:t>
            </a:r>
            <a:r>
              <a:rPr lang="en-US" dirty="0"/>
              <a:t> | </a:t>
            </a:r>
            <a:r>
              <a:rPr lang="en-US" dirty="0" err="1"/>
              <a:t>Dname</a:t>
            </a:r>
            <a:r>
              <a:rPr lang="en-US" dirty="0"/>
              <a:t>, is not in 4NF.</a:t>
            </a:r>
          </a:p>
          <a:p>
            <a:r>
              <a:rPr lang="en-US" dirty="0"/>
              <a:t>relation that is not in 4NF due to a nontrivial MVD must be  decomposed to convert it into set of relations in 4NF</a:t>
            </a:r>
          </a:p>
          <a:p>
            <a:r>
              <a:rPr lang="en-US" dirty="0"/>
              <a:t>decomposition removes the redundancy caused by the MVD.</a:t>
            </a:r>
          </a:p>
        </p:txBody>
      </p:sp>
      <p:sp>
        <p:nvSpPr>
          <p:cNvPr id="4" name="Slide Number Placeholder 3">
            <a:extLst>
              <a:ext uri="{FF2B5EF4-FFF2-40B4-BE49-F238E27FC236}">
                <a16:creationId xmlns:a16="http://schemas.microsoft.com/office/drawing/2014/main" id="{77722AC5-0B72-68CD-E49F-95F3F7C28875}"/>
              </a:ext>
            </a:extLst>
          </p:cNvPr>
          <p:cNvSpPr>
            <a:spLocks noGrp="1"/>
          </p:cNvSpPr>
          <p:nvPr>
            <p:ph type="sldNum" sz="quarter" idx="12"/>
          </p:nvPr>
        </p:nvSpPr>
        <p:spPr/>
        <p:txBody>
          <a:bodyPr/>
          <a:lstStyle/>
          <a:p>
            <a:fld id="{6264BDCF-5269-49AC-A246-ED26C2B980E3}" type="slidenum">
              <a:rPr lang="en-US" smtClean="0"/>
              <a:t>138</a:t>
            </a:fld>
            <a:endParaRPr lang="en-US"/>
          </a:p>
        </p:txBody>
      </p:sp>
    </p:spTree>
    <p:extLst>
      <p:ext uri="{BB962C8B-B14F-4D97-AF65-F5344CB8AC3E}">
        <p14:creationId xmlns:p14="http://schemas.microsoft.com/office/powerpoint/2010/main" val="298982666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9B332-A343-7D49-D7DF-A6EA91539D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5EC5AB-C100-9310-62E8-DED54DA11103}"/>
              </a:ext>
            </a:extLst>
          </p:cNvPr>
          <p:cNvSpPr>
            <a:spLocks noGrp="1"/>
          </p:cNvSpPr>
          <p:nvPr>
            <p:ph idx="1"/>
          </p:nvPr>
        </p:nvSpPr>
        <p:spPr/>
        <p:txBody>
          <a:bodyPr>
            <a:normAutofit/>
          </a:bodyPr>
          <a:lstStyle/>
          <a:p>
            <a:r>
              <a:rPr lang="en-US" dirty="0"/>
              <a:t>decompose EMP into EMP_PROJECTS and EMP_DEPENDENTS</a:t>
            </a:r>
          </a:p>
          <a:p>
            <a:r>
              <a:rPr lang="en-US" dirty="0"/>
              <a:t>EMP_PROJECTS and EMP_DEPENDENTS are in 4NF, because MVDs </a:t>
            </a:r>
            <a:r>
              <a:rPr lang="en-US" dirty="0" err="1"/>
              <a:t>Ename</a:t>
            </a:r>
            <a:r>
              <a:rPr lang="en-US" dirty="0"/>
              <a:t> →→ </a:t>
            </a:r>
            <a:r>
              <a:rPr lang="en-US" dirty="0" err="1"/>
              <a:t>Pname</a:t>
            </a:r>
            <a:r>
              <a:rPr lang="en-US" dirty="0"/>
              <a:t> in EMP_PROJECTS and </a:t>
            </a:r>
            <a:r>
              <a:rPr lang="en-US" dirty="0" err="1"/>
              <a:t>Ename</a:t>
            </a:r>
            <a:r>
              <a:rPr lang="en-US" dirty="0"/>
              <a:t> →→ </a:t>
            </a:r>
            <a:r>
              <a:rPr lang="en-US" dirty="0" err="1"/>
              <a:t>Dname</a:t>
            </a:r>
            <a:r>
              <a:rPr lang="en-US" dirty="0"/>
              <a:t> in EMP_DEPENDENTS are trivial MVDs</a:t>
            </a:r>
          </a:p>
          <a:p>
            <a:r>
              <a:rPr lang="en-US" dirty="0"/>
              <a:t>no other nontrivial MVDs hold in either EMP_PROJECTS or EMP_DEPENDENTS</a:t>
            </a:r>
          </a:p>
          <a:p>
            <a:r>
              <a:rPr lang="en-US" dirty="0"/>
              <a:t>no FDs hold in these relation schemas either</a:t>
            </a:r>
          </a:p>
        </p:txBody>
      </p:sp>
      <p:sp>
        <p:nvSpPr>
          <p:cNvPr id="4" name="Slide Number Placeholder 3">
            <a:extLst>
              <a:ext uri="{FF2B5EF4-FFF2-40B4-BE49-F238E27FC236}">
                <a16:creationId xmlns:a16="http://schemas.microsoft.com/office/drawing/2014/main" id="{6812E42D-3736-838E-B5B7-C5F1530DEEF9}"/>
              </a:ext>
            </a:extLst>
          </p:cNvPr>
          <p:cNvSpPr>
            <a:spLocks noGrp="1"/>
          </p:cNvSpPr>
          <p:nvPr>
            <p:ph type="sldNum" sz="quarter" idx="12"/>
          </p:nvPr>
        </p:nvSpPr>
        <p:spPr/>
        <p:txBody>
          <a:bodyPr/>
          <a:lstStyle/>
          <a:p>
            <a:fld id="{6264BDCF-5269-49AC-A246-ED26C2B980E3}" type="slidenum">
              <a:rPr lang="en-US" smtClean="0"/>
              <a:t>139</a:t>
            </a:fld>
            <a:endParaRPr lang="en-US"/>
          </a:p>
        </p:txBody>
      </p:sp>
    </p:spTree>
    <p:extLst>
      <p:ext uri="{BB962C8B-B14F-4D97-AF65-F5344CB8AC3E}">
        <p14:creationId xmlns:p14="http://schemas.microsoft.com/office/powerpoint/2010/main" val="410294553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B65B9-8BC2-1C87-620C-7E3EFE20C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AA905A-4EF6-9BA2-79AA-F741AE4CA1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CE16D8-25FA-7FBD-AB21-45A3EC6281D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4900458-D71F-79AF-6A7F-43348E81ECC0}"/>
              </a:ext>
            </a:extLst>
          </p:cNvPr>
          <p:cNvSpPr>
            <a:spLocks noGrp="1"/>
          </p:cNvSpPr>
          <p:nvPr>
            <p:ph type="sldNum" sz="quarter" idx="12"/>
          </p:nvPr>
        </p:nvSpPr>
        <p:spPr/>
        <p:txBody>
          <a:bodyPr/>
          <a:lstStyle/>
          <a:p>
            <a:fld id="{6264BDCF-5269-49AC-A246-ED26C2B980E3}" type="slidenum">
              <a:rPr lang="en-US" smtClean="0"/>
              <a:t>140</a:t>
            </a:fld>
            <a:endParaRPr lang="en-US"/>
          </a:p>
        </p:txBody>
      </p:sp>
      <p:pic>
        <p:nvPicPr>
          <p:cNvPr id="6" name="Picture 5">
            <a:extLst>
              <a:ext uri="{FF2B5EF4-FFF2-40B4-BE49-F238E27FC236}">
                <a16:creationId xmlns:a16="http://schemas.microsoft.com/office/drawing/2014/main" id="{685F2564-76BA-CF0C-7147-B2174A61C485}"/>
              </a:ext>
            </a:extLst>
          </p:cNvPr>
          <p:cNvPicPr>
            <a:picLocks noChangeAspect="1"/>
          </p:cNvPicPr>
          <p:nvPr/>
        </p:nvPicPr>
        <p:blipFill>
          <a:blip r:embed="rId2"/>
          <a:stretch>
            <a:fillRect/>
          </a:stretch>
        </p:blipFill>
        <p:spPr>
          <a:xfrm>
            <a:off x="1828800" y="182880"/>
            <a:ext cx="7331076" cy="6462320"/>
          </a:xfrm>
          <a:prstGeom prst="rect">
            <a:avLst/>
          </a:prstGeom>
        </p:spPr>
      </p:pic>
    </p:spTree>
    <p:extLst>
      <p:ext uri="{BB962C8B-B14F-4D97-AF65-F5344CB8AC3E}">
        <p14:creationId xmlns:p14="http://schemas.microsoft.com/office/powerpoint/2010/main" val="372162063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3FB5A-019B-EAE0-F62A-DDB174059BD4}"/>
              </a:ext>
            </a:extLst>
          </p:cNvPr>
          <p:cNvSpPr>
            <a:spLocks noGrp="1"/>
          </p:cNvSpPr>
          <p:nvPr>
            <p:ph type="title"/>
          </p:nvPr>
        </p:nvSpPr>
        <p:spPr/>
        <p:txBody>
          <a:bodyPr/>
          <a:lstStyle/>
          <a:p>
            <a:r>
              <a:rPr lang="en-US" dirty="0"/>
              <a:t>Join Dependencies</a:t>
            </a:r>
          </a:p>
        </p:txBody>
      </p:sp>
      <p:sp>
        <p:nvSpPr>
          <p:cNvPr id="3" name="Content Placeholder 2">
            <a:extLst>
              <a:ext uri="{FF2B5EF4-FFF2-40B4-BE49-F238E27FC236}">
                <a16:creationId xmlns:a16="http://schemas.microsoft.com/office/drawing/2014/main" id="{C9136C45-6A80-19E3-1DFF-B15D7C04C83D}"/>
              </a:ext>
            </a:extLst>
          </p:cNvPr>
          <p:cNvSpPr>
            <a:spLocks noGrp="1"/>
          </p:cNvSpPr>
          <p:nvPr>
            <p:ph idx="1"/>
          </p:nvPr>
        </p:nvSpPr>
        <p:spPr/>
        <p:txBody>
          <a:bodyPr>
            <a:noAutofit/>
          </a:bodyPr>
          <a:lstStyle/>
          <a:p>
            <a:r>
              <a:rPr lang="en-US" dirty="0"/>
              <a:t>functional dependencies, multivalued dependencies</a:t>
            </a:r>
          </a:p>
          <a:p>
            <a:r>
              <a:rPr lang="en-US" dirty="0"/>
              <a:t>decompositions </a:t>
            </a:r>
          </a:p>
          <a:p>
            <a:pPr lvl="1"/>
            <a:r>
              <a:rPr lang="en-US" sz="2800" dirty="0"/>
              <a:t>must obey the Nonadditive Join property</a:t>
            </a:r>
          </a:p>
          <a:p>
            <a:r>
              <a:rPr lang="en-US" dirty="0"/>
              <a:t>in some cases, there may be no nonadditive join decomposition of </a:t>
            </a:r>
            <a:r>
              <a:rPr lang="en-US" i="1" dirty="0"/>
              <a:t>R </a:t>
            </a:r>
            <a:r>
              <a:rPr lang="en-US" dirty="0"/>
              <a:t>into </a:t>
            </a:r>
            <a:r>
              <a:rPr lang="en-US" i="1" dirty="0"/>
              <a:t>two </a:t>
            </a:r>
            <a:r>
              <a:rPr lang="en-US" dirty="0"/>
              <a:t>relation schemas, but there may be a nonadditive join decomposition into </a:t>
            </a:r>
            <a:r>
              <a:rPr lang="en-US" i="1" dirty="0"/>
              <a:t>more than two </a:t>
            </a:r>
            <a:r>
              <a:rPr lang="en-US" dirty="0"/>
              <a:t>relation schemas</a:t>
            </a:r>
          </a:p>
        </p:txBody>
      </p:sp>
      <p:sp>
        <p:nvSpPr>
          <p:cNvPr id="4" name="Slide Number Placeholder 3">
            <a:extLst>
              <a:ext uri="{FF2B5EF4-FFF2-40B4-BE49-F238E27FC236}">
                <a16:creationId xmlns:a16="http://schemas.microsoft.com/office/drawing/2014/main" id="{B3AC61F8-AD98-0CAD-626D-ECBBDC2538C9}"/>
              </a:ext>
            </a:extLst>
          </p:cNvPr>
          <p:cNvSpPr>
            <a:spLocks noGrp="1"/>
          </p:cNvSpPr>
          <p:nvPr>
            <p:ph type="sldNum" sz="quarter" idx="12"/>
          </p:nvPr>
        </p:nvSpPr>
        <p:spPr/>
        <p:txBody>
          <a:bodyPr/>
          <a:lstStyle/>
          <a:p>
            <a:fld id="{6264BDCF-5269-49AC-A246-ED26C2B980E3}" type="slidenum">
              <a:rPr lang="en-US" smtClean="0"/>
              <a:t>141</a:t>
            </a:fld>
            <a:endParaRPr lang="en-US"/>
          </a:p>
        </p:txBody>
      </p:sp>
    </p:spTree>
    <p:extLst>
      <p:ext uri="{BB962C8B-B14F-4D97-AF65-F5344CB8AC3E}">
        <p14:creationId xmlns:p14="http://schemas.microsoft.com/office/powerpoint/2010/main" val="153009133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EB6A5-5DFE-1BED-F266-786E58B934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A74072-04DD-6F6A-82F6-F4B21EB27DB0}"/>
              </a:ext>
            </a:extLst>
          </p:cNvPr>
          <p:cNvSpPr>
            <a:spLocks noGrp="1"/>
          </p:cNvSpPr>
          <p:nvPr>
            <p:ph idx="1"/>
          </p:nvPr>
        </p:nvSpPr>
        <p:spPr/>
        <p:txBody>
          <a:bodyPr>
            <a:normAutofit/>
          </a:bodyPr>
          <a:lstStyle/>
          <a:p>
            <a:r>
              <a:rPr lang="en-US" dirty="0"/>
              <a:t>another dependency called the </a:t>
            </a:r>
            <a:r>
              <a:rPr lang="en-US" i="1" dirty="0"/>
              <a:t>join dependency </a:t>
            </a:r>
            <a:r>
              <a:rPr lang="en-US" dirty="0"/>
              <a:t>and, if it is present, carry out a </a:t>
            </a:r>
            <a:r>
              <a:rPr lang="en-US" i="1" dirty="0"/>
              <a:t>multiway decomposition </a:t>
            </a:r>
            <a:r>
              <a:rPr lang="en-US" dirty="0"/>
              <a:t>into fifth normal form (5NF)</a:t>
            </a:r>
          </a:p>
          <a:p>
            <a:r>
              <a:rPr lang="en-US" dirty="0"/>
              <a:t>important to note that such dependency is a peculiar semantic constraint that is difficult to detect in practice; therefore, normalization into 5NF is rarely done in practice</a:t>
            </a:r>
          </a:p>
        </p:txBody>
      </p:sp>
      <p:sp>
        <p:nvSpPr>
          <p:cNvPr id="4" name="Slide Number Placeholder 3">
            <a:extLst>
              <a:ext uri="{FF2B5EF4-FFF2-40B4-BE49-F238E27FC236}">
                <a16:creationId xmlns:a16="http://schemas.microsoft.com/office/drawing/2014/main" id="{C892D0E4-8D2E-8F7C-EB8D-1BD270A3F87F}"/>
              </a:ext>
            </a:extLst>
          </p:cNvPr>
          <p:cNvSpPr>
            <a:spLocks noGrp="1"/>
          </p:cNvSpPr>
          <p:nvPr>
            <p:ph type="sldNum" sz="quarter" idx="12"/>
          </p:nvPr>
        </p:nvSpPr>
        <p:spPr/>
        <p:txBody>
          <a:bodyPr/>
          <a:lstStyle/>
          <a:p>
            <a:fld id="{6264BDCF-5269-49AC-A246-ED26C2B980E3}" type="slidenum">
              <a:rPr lang="en-US" smtClean="0"/>
              <a:t>142</a:t>
            </a:fld>
            <a:endParaRPr lang="en-US"/>
          </a:p>
        </p:txBody>
      </p:sp>
    </p:spTree>
    <p:extLst>
      <p:ext uri="{BB962C8B-B14F-4D97-AF65-F5344CB8AC3E}">
        <p14:creationId xmlns:p14="http://schemas.microsoft.com/office/powerpoint/2010/main" val="185027318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D6C33-A564-146D-0937-97334716973C}"/>
              </a:ext>
            </a:extLst>
          </p:cNvPr>
          <p:cNvSpPr>
            <a:spLocks noGrp="1"/>
          </p:cNvSpPr>
          <p:nvPr>
            <p:ph type="title"/>
          </p:nvPr>
        </p:nvSpPr>
        <p:spPr/>
        <p:txBody>
          <a:bodyPr/>
          <a:lstStyle/>
          <a:p>
            <a:r>
              <a:rPr lang="en-US" dirty="0"/>
              <a:t>Definition Join Dependency</a:t>
            </a:r>
          </a:p>
        </p:txBody>
      </p:sp>
      <p:sp>
        <p:nvSpPr>
          <p:cNvPr id="3" name="Content Placeholder 2">
            <a:extLst>
              <a:ext uri="{FF2B5EF4-FFF2-40B4-BE49-F238E27FC236}">
                <a16:creationId xmlns:a16="http://schemas.microsoft.com/office/drawing/2014/main" id="{8A72E970-B34D-1F34-A328-E03706E985E6}"/>
              </a:ext>
            </a:extLst>
          </p:cNvPr>
          <p:cNvSpPr>
            <a:spLocks noGrp="1"/>
          </p:cNvSpPr>
          <p:nvPr>
            <p:ph idx="1"/>
          </p:nvPr>
        </p:nvSpPr>
        <p:spPr/>
        <p:txBody>
          <a:bodyPr/>
          <a:lstStyle/>
          <a:p>
            <a:r>
              <a:rPr lang="en-US" dirty="0"/>
              <a:t>denoted by JD(</a:t>
            </a:r>
            <a:r>
              <a:rPr lang="en-US" i="1" dirty="0"/>
              <a:t>R</a:t>
            </a:r>
            <a:r>
              <a:rPr lang="en-US" baseline="-25000" dirty="0"/>
              <a:t>1</a:t>
            </a:r>
            <a:r>
              <a:rPr lang="en-US" dirty="0"/>
              <a:t>, </a:t>
            </a:r>
            <a:r>
              <a:rPr lang="en-US" i="1" dirty="0"/>
              <a:t>R</a:t>
            </a:r>
            <a:r>
              <a:rPr lang="en-US" baseline="-25000" dirty="0"/>
              <a:t>2</a:t>
            </a:r>
            <a:r>
              <a:rPr lang="en-US" dirty="0"/>
              <a:t>, … , </a:t>
            </a:r>
            <a:r>
              <a:rPr lang="en-US" i="1" dirty="0"/>
              <a:t>R</a:t>
            </a:r>
            <a:r>
              <a:rPr lang="en-US" i="1" baseline="-25000" dirty="0"/>
              <a:t>n</a:t>
            </a:r>
            <a:r>
              <a:rPr lang="en-US" dirty="0"/>
              <a:t>), specified on relation schema </a:t>
            </a:r>
            <a:r>
              <a:rPr lang="en-US" i="1" dirty="0"/>
              <a:t>R</a:t>
            </a:r>
            <a:r>
              <a:rPr lang="en-US" dirty="0"/>
              <a:t>, specifies a constraint on the states </a:t>
            </a:r>
            <a:r>
              <a:rPr lang="en-US" i="1" dirty="0"/>
              <a:t>r </a:t>
            </a:r>
            <a:r>
              <a:rPr lang="en-US" dirty="0"/>
              <a:t>of </a:t>
            </a:r>
            <a:r>
              <a:rPr lang="en-US" i="1" dirty="0"/>
              <a:t>R</a:t>
            </a:r>
          </a:p>
          <a:p>
            <a:r>
              <a:rPr lang="en-US" dirty="0"/>
              <a:t>constraint states that every legal state </a:t>
            </a:r>
            <a:r>
              <a:rPr lang="en-US" i="1" dirty="0"/>
              <a:t>r </a:t>
            </a:r>
            <a:r>
              <a:rPr lang="en-US" dirty="0"/>
              <a:t>of </a:t>
            </a:r>
            <a:r>
              <a:rPr lang="en-US" i="1" dirty="0"/>
              <a:t>R </a:t>
            </a:r>
            <a:r>
              <a:rPr lang="en-US" dirty="0"/>
              <a:t>should have a nonadditive join decomposition into </a:t>
            </a:r>
            <a:r>
              <a:rPr lang="en-US" i="1" dirty="0"/>
              <a:t>R</a:t>
            </a:r>
            <a:r>
              <a:rPr lang="en-US" baseline="-25000" dirty="0"/>
              <a:t>1</a:t>
            </a:r>
            <a:r>
              <a:rPr lang="en-US" dirty="0"/>
              <a:t>, </a:t>
            </a:r>
            <a:r>
              <a:rPr lang="en-US" i="1" dirty="0"/>
              <a:t>R</a:t>
            </a:r>
            <a:r>
              <a:rPr lang="en-US" baseline="-25000" dirty="0"/>
              <a:t>2</a:t>
            </a:r>
            <a:r>
              <a:rPr lang="en-US" dirty="0"/>
              <a:t>, … , </a:t>
            </a:r>
            <a:r>
              <a:rPr lang="en-US" i="1" dirty="0"/>
              <a:t>R</a:t>
            </a:r>
            <a:r>
              <a:rPr lang="en-US" i="1" baseline="-25000" dirty="0"/>
              <a:t>n</a:t>
            </a:r>
          </a:p>
          <a:p>
            <a:r>
              <a:rPr lang="en-US" dirty="0"/>
              <a:t>hence, for every such </a:t>
            </a:r>
            <a:r>
              <a:rPr lang="en-US" i="1" dirty="0"/>
              <a:t>r </a:t>
            </a:r>
            <a:r>
              <a:rPr lang="en-US" dirty="0"/>
              <a:t>we have</a:t>
            </a:r>
          </a:p>
          <a:p>
            <a:r>
              <a:rPr lang="pt-BR" dirty="0"/>
              <a:t>* (π</a:t>
            </a:r>
            <a:r>
              <a:rPr lang="pt-BR" i="1" baseline="-25000" dirty="0"/>
              <a:t>R</a:t>
            </a:r>
            <a:r>
              <a:rPr lang="pt-BR" baseline="-25000" dirty="0"/>
              <a:t>1</a:t>
            </a:r>
            <a:r>
              <a:rPr lang="pt-BR" dirty="0"/>
              <a:t>(</a:t>
            </a:r>
            <a:r>
              <a:rPr lang="pt-BR" i="1" dirty="0"/>
              <a:t>r</a:t>
            </a:r>
            <a:r>
              <a:rPr lang="pt-BR" dirty="0"/>
              <a:t>), π</a:t>
            </a:r>
            <a:r>
              <a:rPr lang="pt-BR" i="1" baseline="-25000" dirty="0"/>
              <a:t>R</a:t>
            </a:r>
            <a:r>
              <a:rPr lang="pt-BR" baseline="-25000" dirty="0"/>
              <a:t>2</a:t>
            </a:r>
            <a:r>
              <a:rPr lang="pt-BR" dirty="0"/>
              <a:t>(</a:t>
            </a:r>
            <a:r>
              <a:rPr lang="pt-BR" i="1" dirty="0"/>
              <a:t>r</a:t>
            </a:r>
            <a:r>
              <a:rPr lang="pt-BR" dirty="0"/>
              <a:t>), … , π</a:t>
            </a:r>
            <a:r>
              <a:rPr lang="pt-BR" i="1" baseline="-25000" dirty="0"/>
              <a:t>Rn</a:t>
            </a:r>
            <a:r>
              <a:rPr lang="pt-BR" dirty="0"/>
              <a:t>(</a:t>
            </a:r>
            <a:r>
              <a:rPr lang="pt-BR" i="1" dirty="0"/>
              <a:t>r</a:t>
            </a:r>
            <a:r>
              <a:rPr lang="pt-BR" dirty="0"/>
              <a:t>)) = </a:t>
            </a:r>
            <a:r>
              <a:rPr lang="pt-BR" i="1" dirty="0"/>
              <a:t>r</a:t>
            </a:r>
          </a:p>
          <a:p>
            <a:r>
              <a:rPr lang="en-US" dirty="0"/>
              <a:t>notice that an MVD is a special case of a JD where </a:t>
            </a:r>
            <a:r>
              <a:rPr lang="en-US" i="1" dirty="0"/>
              <a:t>n </a:t>
            </a:r>
            <a:r>
              <a:rPr lang="en-US" dirty="0"/>
              <a:t>= 2</a:t>
            </a:r>
          </a:p>
        </p:txBody>
      </p:sp>
      <p:sp>
        <p:nvSpPr>
          <p:cNvPr id="4" name="Slide Number Placeholder 3">
            <a:extLst>
              <a:ext uri="{FF2B5EF4-FFF2-40B4-BE49-F238E27FC236}">
                <a16:creationId xmlns:a16="http://schemas.microsoft.com/office/drawing/2014/main" id="{6FE02A00-3B41-0B09-A045-D1873C1A36C9}"/>
              </a:ext>
            </a:extLst>
          </p:cNvPr>
          <p:cNvSpPr>
            <a:spLocks noGrp="1"/>
          </p:cNvSpPr>
          <p:nvPr>
            <p:ph type="sldNum" sz="quarter" idx="12"/>
          </p:nvPr>
        </p:nvSpPr>
        <p:spPr/>
        <p:txBody>
          <a:bodyPr/>
          <a:lstStyle/>
          <a:p>
            <a:fld id="{6264BDCF-5269-49AC-A246-ED26C2B980E3}" type="slidenum">
              <a:rPr lang="en-US" smtClean="0"/>
              <a:t>143</a:t>
            </a:fld>
            <a:endParaRPr lang="en-US"/>
          </a:p>
        </p:txBody>
      </p:sp>
    </p:spTree>
    <p:extLst>
      <p:ext uri="{BB962C8B-B14F-4D97-AF65-F5344CB8AC3E}">
        <p14:creationId xmlns:p14="http://schemas.microsoft.com/office/powerpoint/2010/main" val="195687187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7DD65-0D7A-4D90-3C4B-9DFBEF134EE8}"/>
              </a:ext>
            </a:extLst>
          </p:cNvPr>
          <p:cNvSpPr>
            <a:spLocks noGrp="1"/>
          </p:cNvSpPr>
          <p:nvPr>
            <p:ph type="title"/>
          </p:nvPr>
        </p:nvSpPr>
        <p:spPr/>
        <p:txBody>
          <a:bodyPr>
            <a:normAutofit/>
          </a:bodyPr>
          <a:lstStyle/>
          <a:p>
            <a:r>
              <a:rPr lang="en-US" dirty="0"/>
              <a:t>Definition of fifth normal form (5NF) </a:t>
            </a:r>
            <a:br>
              <a:rPr lang="en-US" dirty="0"/>
            </a:br>
            <a:r>
              <a:rPr lang="en-US" dirty="0"/>
              <a:t>(or project-join normal form (PJNF)</a:t>
            </a:r>
          </a:p>
        </p:txBody>
      </p:sp>
      <p:sp>
        <p:nvSpPr>
          <p:cNvPr id="3" name="Content Placeholder 2">
            <a:extLst>
              <a:ext uri="{FF2B5EF4-FFF2-40B4-BE49-F238E27FC236}">
                <a16:creationId xmlns:a16="http://schemas.microsoft.com/office/drawing/2014/main" id="{518BCE93-EFC4-7999-228E-1CE634BB45A5}"/>
              </a:ext>
            </a:extLst>
          </p:cNvPr>
          <p:cNvSpPr>
            <a:spLocks noGrp="1"/>
          </p:cNvSpPr>
          <p:nvPr>
            <p:ph idx="1"/>
          </p:nvPr>
        </p:nvSpPr>
        <p:spPr/>
        <p:txBody>
          <a:bodyPr/>
          <a:lstStyle/>
          <a:p>
            <a:r>
              <a:rPr lang="en-US" dirty="0"/>
              <a:t>relation schema </a:t>
            </a:r>
            <a:r>
              <a:rPr lang="en-US" i="1" dirty="0"/>
              <a:t>R </a:t>
            </a:r>
            <a:r>
              <a:rPr lang="en-US" dirty="0"/>
              <a:t>is in fifth normal form (5NF) (or project-join normal form (PJNF)) with respect to a set </a:t>
            </a:r>
            <a:r>
              <a:rPr lang="en-US" i="1" dirty="0"/>
              <a:t>F </a:t>
            </a:r>
            <a:r>
              <a:rPr lang="en-US" dirty="0"/>
              <a:t>of functional, multivalued, and join dependencies if, for every nontrivial join dependency JD(</a:t>
            </a:r>
            <a:r>
              <a:rPr lang="en-US" i="1" dirty="0"/>
              <a:t>R</a:t>
            </a:r>
            <a:r>
              <a:rPr lang="en-US" baseline="-25000" dirty="0"/>
              <a:t>1</a:t>
            </a:r>
            <a:r>
              <a:rPr lang="en-US" dirty="0"/>
              <a:t>, </a:t>
            </a:r>
            <a:r>
              <a:rPr lang="en-US" i="1" dirty="0"/>
              <a:t>R</a:t>
            </a:r>
            <a:r>
              <a:rPr lang="en-US" baseline="-25000" dirty="0"/>
              <a:t>2</a:t>
            </a:r>
            <a:r>
              <a:rPr lang="en-US" dirty="0"/>
              <a:t>, … , </a:t>
            </a:r>
            <a:r>
              <a:rPr lang="en-US" i="1" dirty="0"/>
              <a:t>R</a:t>
            </a:r>
            <a:r>
              <a:rPr lang="en-US" baseline="-25000" dirty="0"/>
              <a:t>n</a:t>
            </a:r>
            <a:r>
              <a:rPr lang="en-US" dirty="0"/>
              <a:t>) in </a:t>
            </a:r>
            <a:r>
              <a:rPr lang="en-US" i="1" dirty="0"/>
              <a:t>F</a:t>
            </a:r>
            <a:r>
              <a:rPr lang="en-US" baseline="30000" dirty="0"/>
              <a:t>+</a:t>
            </a:r>
            <a:r>
              <a:rPr lang="en-US" dirty="0"/>
              <a:t> (that is, implied by </a:t>
            </a:r>
            <a:r>
              <a:rPr lang="en-US" i="1" dirty="0"/>
              <a:t>F</a:t>
            </a:r>
            <a:r>
              <a:rPr lang="en-US" dirty="0"/>
              <a:t>), every </a:t>
            </a:r>
            <a:r>
              <a:rPr lang="en-US" i="1" dirty="0"/>
              <a:t>R</a:t>
            </a:r>
            <a:r>
              <a:rPr lang="en-US" baseline="-25000" dirty="0"/>
              <a:t>i</a:t>
            </a:r>
            <a:r>
              <a:rPr lang="en-US" i="1" dirty="0"/>
              <a:t> </a:t>
            </a:r>
            <a:r>
              <a:rPr lang="en-US" dirty="0"/>
              <a:t>is a </a:t>
            </a:r>
            <a:r>
              <a:rPr lang="en-US" dirty="0" err="1"/>
              <a:t>superkey</a:t>
            </a:r>
            <a:r>
              <a:rPr lang="en-US" dirty="0"/>
              <a:t> of </a:t>
            </a:r>
            <a:r>
              <a:rPr lang="en-US" i="1" dirty="0"/>
              <a:t>R</a:t>
            </a:r>
            <a:endParaRPr lang="en-US" dirty="0"/>
          </a:p>
        </p:txBody>
      </p:sp>
      <p:sp>
        <p:nvSpPr>
          <p:cNvPr id="4" name="Slide Number Placeholder 3">
            <a:extLst>
              <a:ext uri="{FF2B5EF4-FFF2-40B4-BE49-F238E27FC236}">
                <a16:creationId xmlns:a16="http://schemas.microsoft.com/office/drawing/2014/main" id="{C4003AE0-1092-62BC-9086-D7D4B310AC3D}"/>
              </a:ext>
            </a:extLst>
          </p:cNvPr>
          <p:cNvSpPr>
            <a:spLocks noGrp="1"/>
          </p:cNvSpPr>
          <p:nvPr>
            <p:ph type="sldNum" sz="quarter" idx="12"/>
          </p:nvPr>
        </p:nvSpPr>
        <p:spPr/>
        <p:txBody>
          <a:bodyPr/>
          <a:lstStyle/>
          <a:p>
            <a:fld id="{6264BDCF-5269-49AC-A246-ED26C2B980E3}" type="slidenum">
              <a:rPr lang="en-US" smtClean="0"/>
              <a:t>144</a:t>
            </a:fld>
            <a:endParaRPr lang="en-US"/>
          </a:p>
        </p:txBody>
      </p:sp>
    </p:spTree>
    <p:extLst>
      <p:ext uri="{BB962C8B-B14F-4D97-AF65-F5344CB8AC3E}">
        <p14:creationId xmlns:p14="http://schemas.microsoft.com/office/powerpoint/2010/main" val="192417415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DCFBA-D18D-5498-8C87-A3F2F4D81A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826029-B4C6-4A10-4921-D97A8B5C509E}"/>
              </a:ext>
            </a:extLst>
          </p:cNvPr>
          <p:cNvSpPr>
            <a:spLocks noGrp="1"/>
          </p:cNvSpPr>
          <p:nvPr>
            <p:ph idx="1"/>
          </p:nvPr>
        </p:nvSpPr>
        <p:spPr/>
        <p:txBody>
          <a:bodyPr>
            <a:noAutofit/>
          </a:bodyPr>
          <a:lstStyle/>
          <a:p>
            <a:r>
              <a:rPr lang="en-US" dirty="0"/>
              <a:t>SUPPLY all-key relation with additional constraint: whenever </a:t>
            </a:r>
          </a:p>
          <a:p>
            <a:r>
              <a:rPr lang="en-US" dirty="0"/>
              <a:t>supplier </a:t>
            </a:r>
            <a:r>
              <a:rPr lang="en-US" i="1" dirty="0"/>
              <a:t>s</a:t>
            </a:r>
            <a:r>
              <a:rPr lang="en-US" dirty="0"/>
              <a:t> supplies part </a:t>
            </a:r>
            <a:r>
              <a:rPr lang="en-US" i="1" dirty="0"/>
              <a:t>p</a:t>
            </a:r>
            <a:r>
              <a:rPr lang="en-US" dirty="0"/>
              <a:t>, and </a:t>
            </a:r>
          </a:p>
          <a:p>
            <a:r>
              <a:rPr lang="en-US" dirty="0"/>
              <a:t>project </a:t>
            </a:r>
            <a:r>
              <a:rPr lang="en-US" i="1" dirty="0"/>
              <a:t>j</a:t>
            </a:r>
            <a:r>
              <a:rPr lang="en-US" dirty="0"/>
              <a:t> uses part </a:t>
            </a:r>
            <a:r>
              <a:rPr lang="en-US" i="1" dirty="0"/>
              <a:t>p</a:t>
            </a:r>
            <a:r>
              <a:rPr lang="en-US" dirty="0"/>
              <a:t>, and </a:t>
            </a:r>
          </a:p>
          <a:p>
            <a:r>
              <a:rPr lang="en-US" dirty="0"/>
              <a:t>supplier </a:t>
            </a:r>
            <a:r>
              <a:rPr lang="en-US" i="1" dirty="0"/>
              <a:t>s</a:t>
            </a:r>
            <a:r>
              <a:rPr lang="en-US" dirty="0"/>
              <a:t> supplies at least one part to project </a:t>
            </a:r>
            <a:r>
              <a:rPr lang="en-US" i="1" dirty="0"/>
              <a:t>j</a:t>
            </a:r>
            <a:r>
              <a:rPr lang="en-US" dirty="0"/>
              <a:t>, </a:t>
            </a:r>
          </a:p>
          <a:p>
            <a:r>
              <a:rPr lang="en-US" dirty="0"/>
              <a:t>then supplier </a:t>
            </a:r>
            <a:r>
              <a:rPr lang="en-US" i="1" dirty="0"/>
              <a:t>s</a:t>
            </a:r>
            <a:r>
              <a:rPr lang="en-US" dirty="0"/>
              <a:t> will also be supplying part </a:t>
            </a:r>
            <a:r>
              <a:rPr lang="en-US" i="1" dirty="0"/>
              <a:t>p</a:t>
            </a:r>
            <a:r>
              <a:rPr lang="en-US" dirty="0"/>
              <a:t> to project </a:t>
            </a:r>
            <a:r>
              <a:rPr lang="en-US" i="1" dirty="0">
                <a:effectLst>
                  <a:outerShdw blurRad="38100" dist="38100" dir="2700000" algn="tl">
                    <a:srgbClr val="000000">
                      <a:alpha val="43137"/>
                    </a:srgbClr>
                  </a:outerShdw>
                </a:effectLst>
              </a:rPr>
              <a:t>j</a:t>
            </a:r>
          </a:p>
          <a:p>
            <a:r>
              <a:rPr lang="en-US" dirty="0"/>
              <a:t>constraint can be restated in other ways and specifies a join dependency JD(R</a:t>
            </a:r>
            <a:r>
              <a:rPr lang="en-US" baseline="-25000" dirty="0"/>
              <a:t>1</a:t>
            </a:r>
            <a:r>
              <a:rPr lang="en-US" dirty="0"/>
              <a:t>, R</a:t>
            </a:r>
            <a:r>
              <a:rPr lang="en-US" baseline="-25000" dirty="0"/>
              <a:t>2</a:t>
            </a:r>
            <a:r>
              <a:rPr lang="en-US" dirty="0"/>
              <a:t>, R</a:t>
            </a:r>
            <a:r>
              <a:rPr lang="en-US" baseline="-25000" dirty="0"/>
              <a:t>3</a:t>
            </a:r>
            <a:r>
              <a:rPr lang="en-US" dirty="0"/>
              <a:t>) among the three projections R</a:t>
            </a:r>
            <a:r>
              <a:rPr lang="en-US" baseline="-25000" dirty="0"/>
              <a:t>1</a:t>
            </a:r>
            <a:r>
              <a:rPr lang="en-US" dirty="0"/>
              <a:t>(</a:t>
            </a:r>
            <a:r>
              <a:rPr lang="en-US" dirty="0" err="1"/>
              <a:t>Sname</a:t>
            </a:r>
            <a:r>
              <a:rPr lang="en-US" dirty="0"/>
              <a:t>, </a:t>
            </a:r>
            <a:r>
              <a:rPr lang="en-US" dirty="0" err="1"/>
              <a:t>Part_name</a:t>
            </a:r>
            <a:r>
              <a:rPr lang="en-US" dirty="0"/>
              <a:t>), R</a:t>
            </a:r>
            <a:r>
              <a:rPr lang="en-US" baseline="-25000" dirty="0"/>
              <a:t>2</a:t>
            </a:r>
            <a:r>
              <a:rPr lang="en-US" dirty="0"/>
              <a:t>(</a:t>
            </a:r>
            <a:r>
              <a:rPr lang="en-US" dirty="0" err="1"/>
              <a:t>Sname</a:t>
            </a:r>
            <a:r>
              <a:rPr lang="en-US" dirty="0"/>
              <a:t>, </a:t>
            </a:r>
            <a:r>
              <a:rPr lang="en-US" dirty="0" err="1"/>
              <a:t>Proj_name</a:t>
            </a:r>
            <a:r>
              <a:rPr lang="en-US" dirty="0"/>
              <a:t>), and R</a:t>
            </a:r>
            <a:r>
              <a:rPr lang="en-US" baseline="-25000" dirty="0"/>
              <a:t>3</a:t>
            </a:r>
            <a:r>
              <a:rPr lang="en-US" dirty="0"/>
              <a:t>(</a:t>
            </a:r>
            <a:r>
              <a:rPr lang="en-US" dirty="0" err="1"/>
              <a:t>Part_name</a:t>
            </a:r>
            <a:r>
              <a:rPr lang="en-US" dirty="0"/>
              <a:t>, </a:t>
            </a:r>
            <a:r>
              <a:rPr lang="en-US" dirty="0" err="1"/>
              <a:t>Proj_name</a:t>
            </a:r>
            <a:r>
              <a:rPr lang="en-US" dirty="0"/>
              <a:t>) of SUPPLY</a:t>
            </a:r>
          </a:p>
        </p:txBody>
      </p:sp>
      <p:sp>
        <p:nvSpPr>
          <p:cNvPr id="4" name="Slide Number Placeholder 3">
            <a:extLst>
              <a:ext uri="{FF2B5EF4-FFF2-40B4-BE49-F238E27FC236}">
                <a16:creationId xmlns:a16="http://schemas.microsoft.com/office/drawing/2014/main" id="{7A46A585-178E-3433-C24A-645F4E426830}"/>
              </a:ext>
            </a:extLst>
          </p:cNvPr>
          <p:cNvSpPr>
            <a:spLocks noGrp="1"/>
          </p:cNvSpPr>
          <p:nvPr>
            <p:ph type="sldNum" sz="quarter" idx="12"/>
          </p:nvPr>
        </p:nvSpPr>
        <p:spPr/>
        <p:txBody>
          <a:bodyPr/>
          <a:lstStyle/>
          <a:p>
            <a:fld id="{6264BDCF-5269-49AC-A246-ED26C2B980E3}" type="slidenum">
              <a:rPr lang="en-US" smtClean="0"/>
              <a:t>145</a:t>
            </a:fld>
            <a:endParaRPr lang="en-US"/>
          </a:p>
        </p:txBody>
      </p:sp>
    </p:spTree>
    <p:extLst>
      <p:ext uri="{BB962C8B-B14F-4D97-AF65-F5344CB8AC3E}">
        <p14:creationId xmlns:p14="http://schemas.microsoft.com/office/powerpoint/2010/main" val="216456934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E5286-BFF3-48AC-EFE3-D2FD1A5688FE}"/>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404E8129-9FF6-BF34-4854-31557F5ECE2F}"/>
              </a:ext>
            </a:extLst>
          </p:cNvPr>
          <p:cNvPicPr>
            <a:picLocks noGrp="1" noChangeAspect="1"/>
          </p:cNvPicPr>
          <p:nvPr>
            <p:ph idx="1"/>
          </p:nvPr>
        </p:nvPicPr>
        <p:blipFill>
          <a:blip r:embed="rId2"/>
          <a:stretch>
            <a:fillRect/>
          </a:stretch>
        </p:blipFill>
        <p:spPr>
          <a:xfrm>
            <a:off x="2103120" y="1097280"/>
            <a:ext cx="6433830" cy="5107423"/>
          </a:xfrm>
          <a:prstGeom prst="rect">
            <a:avLst/>
          </a:prstGeom>
        </p:spPr>
      </p:pic>
      <p:sp>
        <p:nvSpPr>
          <p:cNvPr id="4" name="Slide Number Placeholder 3">
            <a:extLst>
              <a:ext uri="{FF2B5EF4-FFF2-40B4-BE49-F238E27FC236}">
                <a16:creationId xmlns:a16="http://schemas.microsoft.com/office/drawing/2014/main" id="{FEE4588A-5075-4D0A-01CC-481027A82345}"/>
              </a:ext>
            </a:extLst>
          </p:cNvPr>
          <p:cNvSpPr>
            <a:spLocks noGrp="1"/>
          </p:cNvSpPr>
          <p:nvPr>
            <p:ph type="sldNum" sz="quarter" idx="12"/>
          </p:nvPr>
        </p:nvSpPr>
        <p:spPr/>
        <p:txBody>
          <a:bodyPr/>
          <a:lstStyle/>
          <a:p>
            <a:fld id="{6264BDCF-5269-49AC-A246-ED26C2B980E3}" type="slidenum">
              <a:rPr lang="en-US" smtClean="0"/>
              <a:t>146</a:t>
            </a:fld>
            <a:endParaRPr lang="en-US"/>
          </a:p>
        </p:txBody>
      </p:sp>
    </p:spTree>
    <p:extLst>
      <p:ext uri="{BB962C8B-B14F-4D97-AF65-F5344CB8AC3E}">
        <p14:creationId xmlns:p14="http://schemas.microsoft.com/office/powerpoint/2010/main" val="148279316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FD5B0-91EC-CC2D-0D4D-3E85FD0EA9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F717EA-69C4-9DA1-C9CC-EDE1698BB40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925162-A8C6-E2A0-8497-9F9DEC68DA49}"/>
              </a:ext>
            </a:extLst>
          </p:cNvPr>
          <p:cNvSpPr>
            <a:spLocks noGrp="1"/>
          </p:cNvSpPr>
          <p:nvPr>
            <p:ph type="sldNum" sz="quarter" idx="12"/>
          </p:nvPr>
        </p:nvSpPr>
        <p:spPr/>
        <p:txBody>
          <a:bodyPr/>
          <a:lstStyle/>
          <a:p>
            <a:fld id="{6264BDCF-5269-49AC-A246-ED26C2B980E3}" type="slidenum">
              <a:rPr lang="en-US" smtClean="0"/>
              <a:t>147</a:t>
            </a:fld>
            <a:endParaRPr lang="en-US"/>
          </a:p>
        </p:txBody>
      </p:sp>
      <p:pic>
        <p:nvPicPr>
          <p:cNvPr id="6" name="Picture 5">
            <a:extLst>
              <a:ext uri="{FF2B5EF4-FFF2-40B4-BE49-F238E27FC236}">
                <a16:creationId xmlns:a16="http://schemas.microsoft.com/office/drawing/2014/main" id="{C883C5A3-FAF3-7555-9CE0-32F1C7A607C5}"/>
              </a:ext>
            </a:extLst>
          </p:cNvPr>
          <p:cNvPicPr>
            <a:picLocks noChangeAspect="1"/>
          </p:cNvPicPr>
          <p:nvPr/>
        </p:nvPicPr>
        <p:blipFill>
          <a:blip r:embed="rId2"/>
          <a:stretch>
            <a:fillRect/>
          </a:stretch>
        </p:blipFill>
        <p:spPr>
          <a:xfrm>
            <a:off x="731520" y="1825624"/>
            <a:ext cx="11042337" cy="2972058"/>
          </a:xfrm>
          <a:prstGeom prst="rect">
            <a:avLst/>
          </a:prstGeom>
        </p:spPr>
      </p:pic>
    </p:spTree>
    <p:extLst>
      <p:ext uri="{BB962C8B-B14F-4D97-AF65-F5344CB8AC3E}">
        <p14:creationId xmlns:p14="http://schemas.microsoft.com/office/powerpoint/2010/main" val="94837976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D3778-4BE2-65A2-3559-C8342CF85A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D0FA0-8027-00D9-C538-2ACFA6E905F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50A8B4-2F47-09A3-E7E2-408E99DA5AB6}"/>
              </a:ext>
            </a:extLst>
          </p:cNvPr>
          <p:cNvSpPr>
            <a:spLocks noGrp="1"/>
          </p:cNvSpPr>
          <p:nvPr>
            <p:ph idx="1"/>
          </p:nvPr>
        </p:nvSpPr>
        <p:spPr/>
        <p:txBody>
          <a:bodyPr>
            <a:noAutofit/>
          </a:bodyPr>
          <a:lstStyle/>
          <a:p>
            <a:r>
              <a:rPr lang="en-US" i="1" dirty="0"/>
              <a:t>applying a natural join to any two of these relations produces spurious tuples, but applying a natural join to all three together does not produces spurious tuples</a:t>
            </a:r>
          </a:p>
          <a:p>
            <a:r>
              <a:rPr lang="en-US" dirty="0"/>
              <a:t>the JD(</a:t>
            </a:r>
            <a:r>
              <a:rPr lang="en-US" i="1" dirty="0"/>
              <a:t>R</a:t>
            </a:r>
            <a:r>
              <a:rPr lang="en-US" dirty="0"/>
              <a:t>1, </a:t>
            </a:r>
            <a:r>
              <a:rPr lang="en-US" i="1" dirty="0"/>
              <a:t>R</a:t>
            </a:r>
            <a:r>
              <a:rPr lang="en-US" dirty="0"/>
              <a:t>2, </a:t>
            </a:r>
            <a:r>
              <a:rPr lang="en-US" i="1" dirty="0"/>
              <a:t>R</a:t>
            </a:r>
            <a:r>
              <a:rPr lang="en-US" dirty="0"/>
              <a:t>3) is specified on all legal relation states, not just on the one shown</a:t>
            </a:r>
          </a:p>
          <a:p>
            <a:r>
              <a:rPr lang="en-US" dirty="0"/>
              <a:t>discovering JDs in practical databases with hundreds of attributes is next to impossible; can be done only with a great degree of intuition about the data on the part of the designer</a:t>
            </a:r>
          </a:p>
          <a:p>
            <a:r>
              <a:rPr lang="en-US" dirty="0"/>
              <a:t>therefore, current practice of database design pays scant attention to them</a:t>
            </a:r>
          </a:p>
        </p:txBody>
      </p:sp>
      <p:sp>
        <p:nvSpPr>
          <p:cNvPr id="4" name="Slide Number Placeholder 3">
            <a:extLst>
              <a:ext uri="{FF2B5EF4-FFF2-40B4-BE49-F238E27FC236}">
                <a16:creationId xmlns:a16="http://schemas.microsoft.com/office/drawing/2014/main" id="{CA785AE4-B190-6278-96F6-374609C5C8F6}"/>
              </a:ext>
            </a:extLst>
          </p:cNvPr>
          <p:cNvSpPr>
            <a:spLocks noGrp="1"/>
          </p:cNvSpPr>
          <p:nvPr>
            <p:ph type="sldNum" sz="quarter" idx="12"/>
          </p:nvPr>
        </p:nvSpPr>
        <p:spPr/>
        <p:txBody>
          <a:bodyPr/>
          <a:lstStyle/>
          <a:p>
            <a:fld id="{6264BDCF-5269-49AC-A246-ED26C2B980E3}" type="slidenum">
              <a:rPr lang="en-US" smtClean="0"/>
              <a:t>148</a:t>
            </a:fld>
            <a:endParaRPr lang="en-US"/>
          </a:p>
        </p:txBody>
      </p:sp>
    </p:spTree>
    <p:extLst>
      <p:ext uri="{BB962C8B-B14F-4D97-AF65-F5344CB8AC3E}">
        <p14:creationId xmlns:p14="http://schemas.microsoft.com/office/powerpoint/2010/main" val="183341366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8238-769F-B8F8-C75F-6C1A5B4AC5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55BCB5-E20A-1CC1-2377-F8715F3A36BF}"/>
              </a:ext>
            </a:extLst>
          </p:cNvPr>
          <p:cNvSpPr>
            <a:spLocks noGrp="1"/>
          </p:cNvSpPr>
          <p:nvPr>
            <p:ph idx="1"/>
          </p:nvPr>
        </p:nvSpPr>
        <p:spPr/>
        <p:txBody>
          <a:bodyPr/>
          <a:lstStyle/>
          <a:p>
            <a:r>
              <a:rPr lang="en-US" dirty="0"/>
              <a:t>one scientific result due to Date and Fagin (1992) relates to conditions detected using functional dependencies alone and it states: </a:t>
            </a:r>
          </a:p>
          <a:p>
            <a:r>
              <a:rPr lang="en-US"/>
              <a:t>“</a:t>
            </a:r>
            <a:r>
              <a:rPr lang="en-US" dirty="0"/>
              <a:t>If a relation schema </a:t>
            </a:r>
            <a:r>
              <a:rPr lang="en-US"/>
              <a:t>is in 3NF </a:t>
            </a:r>
            <a:r>
              <a:rPr lang="en-US" dirty="0"/>
              <a:t>and each of its keys consists of a single attribute, it is also in </a:t>
            </a:r>
            <a:r>
              <a:rPr lang="en-US"/>
              <a:t>5NF.”</a:t>
            </a:r>
          </a:p>
          <a:p>
            <a:endParaRPr lang="en-US" dirty="0"/>
          </a:p>
          <a:p>
            <a:endParaRPr lang="en-US" dirty="0"/>
          </a:p>
        </p:txBody>
      </p:sp>
      <p:sp>
        <p:nvSpPr>
          <p:cNvPr id="4" name="Slide Number Placeholder 3">
            <a:extLst>
              <a:ext uri="{FF2B5EF4-FFF2-40B4-BE49-F238E27FC236}">
                <a16:creationId xmlns:a16="http://schemas.microsoft.com/office/drawing/2014/main" id="{FA95DE84-5757-C580-9D27-89B0BF45C7EA}"/>
              </a:ext>
            </a:extLst>
          </p:cNvPr>
          <p:cNvSpPr>
            <a:spLocks noGrp="1"/>
          </p:cNvSpPr>
          <p:nvPr>
            <p:ph type="sldNum" sz="quarter" idx="12"/>
          </p:nvPr>
        </p:nvSpPr>
        <p:spPr/>
        <p:txBody>
          <a:bodyPr/>
          <a:lstStyle/>
          <a:p>
            <a:fld id="{6264BDCF-5269-49AC-A246-ED26C2B980E3}" type="slidenum">
              <a:rPr lang="en-US" smtClean="0"/>
              <a:t>149</a:t>
            </a:fld>
            <a:endParaRPr lang="en-US"/>
          </a:p>
        </p:txBody>
      </p:sp>
    </p:spTree>
    <p:extLst>
      <p:ext uri="{BB962C8B-B14F-4D97-AF65-F5344CB8AC3E}">
        <p14:creationId xmlns:p14="http://schemas.microsoft.com/office/powerpoint/2010/main" val="2746171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B549D4E-734F-474F-9A03-E5FC709C4E2B}"/>
</file>

<file path=customXml/itemProps2.xml><?xml version="1.0" encoding="utf-8"?>
<ds:datastoreItem xmlns:ds="http://schemas.openxmlformats.org/officeDocument/2006/customXml" ds:itemID="{5F7A14C7-554D-4618-88B1-966A3F295F92}"/>
</file>

<file path=customXml/itemProps3.xml><?xml version="1.0" encoding="utf-8"?>
<ds:datastoreItem xmlns:ds="http://schemas.openxmlformats.org/officeDocument/2006/customXml" ds:itemID="{71600F1B-1701-4ECC-8673-0248AC8FFB00}"/>
</file>

<file path=docProps/app.xml><?xml version="1.0" encoding="utf-8"?>
<Properties xmlns="http://schemas.openxmlformats.org/officeDocument/2006/extended-properties" xmlns:vt="http://schemas.openxmlformats.org/officeDocument/2006/docPropsVTypes">
  <TotalTime>2749</TotalTime>
  <Words>8299</Words>
  <Application>Microsoft Office PowerPoint</Application>
  <PresentationFormat>Widescreen</PresentationFormat>
  <Paragraphs>691</Paragraphs>
  <Slides>149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149</vt:i4>
      </vt:variant>
    </vt:vector>
  </HeadingPairs>
  <TitlesOfParts>
    <vt:vector size="155" baseType="lpstr">
      <vt:lpstr>AkzidenzGroteskBE-Md</vt:lpstr>
      <vt:lpstr>Arial</vt:lpstr>
      <vt:lpstr>Calibri</vt:lpstr>
      <vt:lpstr>Calibri Light</vt:lpstr>
      <vt:lpstr>MinionPro-Regular</vt:lpstr>
      <vt:lpstr>Office Theme</vt:lpstr>
      <vt:lpstr>DataBase</vt:lpstr>
      <vt:lpstr>DataBase Design </vt:lpstr>
      <vt:lpstr>Design of Relational DataBase Structures</vt:lpstr>
      <vt:lpstr>PowerPoint Presentation</vt:lpstr>
      <vt:lpstr>PowerPoint Presentation</vt:lpstr>
      <vt:lpstr>PowerPoint Presentation</vt:lpstr>
      <vt:lpstr>“Data modeling is not optional”</vt:lpstr>
      <vt:lpstr>PowerPoint Presentation</vt:lpstr>
      <vt:lpstr>Design – Choice &amp; Creativity</vt:lpstr>
      <vt:lpstr>PowerPoint Presentation</vt:lpstr>
      <vt:lpstr>PowerPoint Presentation</vt:lpstr>
      <vt:lpstr>PowerPoint Presentation</vt:lpstr>
      <vt:lpstr>PowerPoint Presentation</vt:lpstr>
      <vt:lpstr>PowerPoint Presentation</vt:lpstr>
      <vt:lpstr>PowerPoint Presentation</vt:lpstr>
      <vt:lpstr>Data Model Important</vt:lpstr>
      <vt:lpstr>Leverage</vt:lpstr>
      <vt:lpstr>Leverage</vt:lpstr>
      <vt:lpstr>Conciseness</vt:lpstr>
      <vt:lpstr>Data Quality</vt:lpstr>
      <vt:lpstr>What Makes a Good Data Model?</vt:lpstr>
      <vt:lpstr>Completeness</vt:lpstr>
      <vt:lpstr>Non-redundancy</vt:lpstr>
      <vt:lpstr>Enforcement of Business Rules</vt:lpstr>
      <vt:lpstr>Data Reusability</vt:lpstr>
      <vt:lpstr>Stability and Flexibility</vt:lpstr>
      <vt:lpstr>Stability and Flexibility</vt:lpstr>
      <vt:lpstr>Elegance</vt:lpstr>
      <vt:lpstr>Communication</vt:lpstr>
      <vt:lpstr>Integration</vt:lpstr>
      <vt:lpstr>Conflicting Objectives</vt:lpstr>
      <vt:lpstr>Performance</vt:lpstr>
      <vt:lpstr>Performance</vt:lpstr>
      <vt:lpstr>PowerPoint Presentation</vt:lpstr>
      <vt:lpstr>PowerPoint Presentation</vt:lpstr>
      <vt:lpstr>bottom-up design methodology </vt:lpstr>
      <vt:lpstr>top-down design methodology </vt:lpstr>
      <vt:lpstr>PowerPoint Presentation</vt:lpstr>
      <vt:lpstr>PowerPoint Presentation</vt:lpstr>
      <vt:lpstr>Design Guidelines for Relation Schemas</vt:lpstr>
      <vt:lpstr>Guide (in German language die Datenbank führer)</vt:lpstr>
      <vt:lpstr>Redundant Information in Tuples  Update Anomalies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Insert Anomalies</vt:lpstr>
      <vt:lpstr>Delete Anomalies</vt:lpstr>
      <vt:lpstr>Modification – Update - Anomalies</vt:lpstr>
      <vt:lpstr>Guideline</vt:lpstr>
      <vt:lpstr>NULL Values in Tuples</vt:lpstr>
      <vt:lpstr>Guideline</vt:lpstr>
      <vt:lpstr>Guideline</vt:lpstr>
      <vt:lpstr>PowerPoint Presentation</vt:lpstr>
      <vt:lpstr>Functional Dependencies</vt:lpstr>
      <vt:lpstr>Functional Dependency</vt:lpstr>
      <vt:lpstr>Functional Dependency Definition</vt:lpstr>
      <vt:lpstr>Functional Dependency Definition</vt:lpstr>
      <vt:lpstr>Functional Dependency Definition</vt:lpstr>
      <vt:lpstr>functional dependency</vt:lpstr>
      <vt:lpstr>PowerPoint Presentation</vt:lpstr>
      <vt:lpstr>PowerPoint Presentation</vt:lpstr>
      <vt:lpstr>PowerPoint Presentation</vt:lpstr>
      <vt:lpstr>PowerPoint Presentation</vt:lpstr>
      <vt:lpstr>Normal Forms Based on Primary Keys</vt:lpstr>
      <vt:lpstr>Normalization of Relations</vt:lpstr>
      <vt:lpstr>Normalization of Relations</vt:lpstr>
      <vt:lpstr>Normalization</vt:lpstr>
      <vt:lpstr>Normal Form</vt:lpstr>
      <vt:lpstr>superkey</vt:lpstr>
      <vt:lpstr>key</vt:lpstr>
      <vt:lpstr>candidate key</vt:lpstr>
      <vt:lpstr>Primary Key</vt:lpstr>
      <vt:lpstr>secondary key</vt:lpstr>
      <vt:lpstr>PowerPoint Presentation</vt:lpstr>
      <vt:lpstr>First Normal Form (1NF)</vt:lpstr>
      <vt:lpstr>First Normal Form (1NF)</vt:lpstr>
      <vt:lpstr>PowerPoint Presentation</vt:lpstr>
      <vt:lpstr>PowerPoint Presentation</vt:lpstr>
      <vt:lpstr>PowerPoint Presentation</vt:lpstr>
      <vt:lpstr>1. Normal</vt:lpstr>
      <vt:lpstr>PowerPoint Presentation</vt:lpstr>
      <vt:lpstr>2. DeNormalize - redundancy</vt:lpstr>
      <vt:lpstr>3.</vt:lpstr>
      <vt:lpstr>PowerPoint Presentation</vt:lpstr>
      <vt:lpstr>PowerPoint Presentation</vt:lpstr>
      <vt:lpstr>Second Normal Form (2NF)</vt:lpstr>
      <vt:lpstr>PowerPoint Presentation</vt:lpstr>
      <vt:lpstr>Second Normal Form (2NF) definition</vt:lpstr>
      <vt:lpstr>PowerPoint Presentation</vt:lpstr>
      <vt:lpstr>PowerPoint Presentation</vt:lpstr>
      <vt:lpstr>Third Normal Form (3NF)</vt:lpstr>
      <vt:lpstr>Third Normal Form (3NF)</vt:lpstr>
      <vt:lpstr>Third Normal Form (3NF) definition</vt:lpstr>
      <vt:lpstr>PowerPoint Presentation</vt:lpstr>
      <vt:lpstr>PowerPoint Presentation</vt:lpstr>
      <vt:lpstr>PowerPoint Presentation</vt:lpstr>
      <vt:lpstr>PowerPoint Presentation</vt:lpstr>
      <vt:lpstr>General Definition of Second Normal Form 2NF</vt:lpstr>
      <vt:lpstr>PowerPoint Presentation</vt:lpstr>
      <vt:lpstr>PowerPoint Presentation</vt:lpstr>
      <vt:lpstr>PowerPoint Presentation</vt:lpstr>
      <vt:lpstr>PowerPoint Presentation</vt:lpstr>
      <vt:lpstr>Decomposing into 2NF relations LOTS1 and LOTS2</vt:lpstr>
      <vt:lpstr>Decomposing LOTS1 into 3NF relations LOTS1A and LOTS1B normalization of LOTS into 3NF design</vt:lpstr>
      <vt:lpstr>General Definition of Third Normal Form 3NF</vt:lpstr>
      <vt:lpstr>PowerPoint Presentation</vt:lpstr>
      <vt:lpstr>PowerPoint Presentation</vt:lpstr>
      <vt:lpstr>PowerPoint Presentation</vt:lpstr>
      <vt:lpstr>General Definition of Third Normal Form 3NF</vt:lpstr>
      <vt:lpstr>General alternative Definition of  Third Normal Form 3NF</vt:lpstr>
      <vt:lpstr>Boyce-Codd normal form (BCNF)</vt:lpstr>
      <vt:lpstr>PowerPoint Presentation</vt:lpstr>
      <vt:lpstr>PowerPoint Presentation</vt:lpstr>
      <vt:lpstr>PowerPoint Presentation</vt:lpstr>
      <vt:lpstr>Definition of Boyce Codd Normal Form BCNF</vt:lpstr>
      <vt:lpstr>PowerPoint Presentation</vt:lpstr>
      <vt:lpstr>PowerPoint Presentation</vt:lpstr>
      <vt:lpstr>PowerPoint Presentation</vt:lpstr>
      <vt:lpstr>Decomposition of Relations in BCNF</vt:lpstr>
      <vt:lpstr>PowerPoint Presentation</vt:lpstr>
      <vt:lpstr>PowerPoint Presentation</vt:lpstr>
      <vt:lpstr>Nonadditive Join Test for Binary Decompositions</vt:lpstr>
      <vt:lpstr>PowerPoint Presentation</vt:lpstr>
      <vt:lpstr>PowerPoint Presentation</vt:lpstr>
      <vt:lpstr>Multivalued Dependency</vt:lpstr>
      <vt:lpstr>PowerPoint Presentation</vt:lpstr>
      <vt:lpstr>PowerPoint Presentation</vt:lpstr>
      <vt:lpstr>PowerPoint Presentation</vt:lpstr>
      <vt:lpstr>Definition of Multivalued Dependency</vt:lpstr>
      <vt:lpstr>PowerPoint Presentation</vt:lpstr>
      <vt:lpstr>PowerPoint Presentation</vt:lpstr>
      <vt:lpstr>PowerPoint Presentation</vt:lpstr>
      <vt:lpstr>definition of fourth normal form (4NF)</vt:lpstr>
      <vt:lpstr>PowerPoint Presentation</vt:lpstr>
      <vt:lpstr>PowerPoint Presentation</vt:lpstr>
      <vt:lpstr>PowerPoint Presentation</vt:lpstr>
      <vt:lpstr>Join Dependencies</vt:lpstr>
      <vt:lpstr>PowerPoint Presentation</vt:lpstr>
      <vt:lpstr>Definition Join Dependency</vt:lpstr>
      <vt:lpstr>Definition of fifth normal form (5NF)  (or project-join normal form (PJNF)</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dc:title>
  <dc:creator>Calin Cenan</dc:creator>
  <cp:lastModifiedBy>Calin Cenan</cp:lastModifiedBy>
  <cp:revision>74</cp:revision>
  <dcterms:created xsi:type="dcterms:W3CDTF">2023-08-06T12:55:35Z</dcterms:created>
  <dcterms:modified xsi:type="dcterms:W3CDTF">2025-09-26T12:53:31Z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2023-08-06T13:14:17Z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de879172-8bb0-4294-827c-110d21e2f193</vt:lpwstr>
  </property>
  <property fmtid="{D5CDD505-2E9C-101B-9397-08002B2CF9AE}" pid="8" name="MSIP_Label_5b58b62f-6f94-46bd-8089-18e64b0a9abb_ContentBits">
    <vt:lpwstr>0</vt:lpwstr>
  </property>
  <property fmtid="{D5CDD505-2E9C-101B-9397-08002B2CF9AE}" pid="9" name="ContentTypeId">
    <vt:lpwstr>0x01010042D1F13D339BA04089B6530E3063BBB0</vt:lpwstr>
  </property>
</Properties>
</file>