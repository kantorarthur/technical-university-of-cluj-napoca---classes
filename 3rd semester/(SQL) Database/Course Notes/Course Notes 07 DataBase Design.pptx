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56" r:id="rId2"/>
    <p:sldId id="391" r:id="rId3"/>
    <p:sldId id="392" r:id="rId4"/>
    <p:sldId id="429" r:id="rId5"/>
    <p:sldId id="393" r:id="rId6"/>
    <p:sldId id="394" r:id="rId7"/>
    <p:sldId id="395" r:id="rId8"/>
    <p:sldId id="396" r:id="rId9"/>
    <p:sldId id="397" r:id="rId10"/>
    <p:sldId id="398" r:id="rId11"/>
    <p:sldId id="399" r:id="rId12"/>
    <p:sldId id="401" r:id="rId13"/>
    <p:sldId id="400" r:id="rId14"/>
    <p:sldId id="402" r:id="rId15"/>
    <p:sldId id="403" r:id="rId16"/>
    <p:sldId id="404" r:id="rId17"/>
    <p:sldId id="407" r:id="rId18"/>
    <p:sldId id="405" r:id="rId19"/>
    <p:sldId id="406" r:id="rId20"/>
    <p:sldId id="408" r:id="rId21"/>
    <p:sldId id="409" r:id="rId22"/>
    <p:sldId id="410" r:id="rId23"/>
    <p:sldId id="411" r:id="rId24"/>
    <p:sldId id="413" r:id="rId25"/>
    <p:sldId id="414" r:id="rId26"/>
    <p:sldId id="416" r:id="rId27"/>
    <p:sldId id="415" r:id="rId28"/>
    <p:sldId id="417" r:id="rId29"/>
    <p:sldId id="418" r:id="rId30"/>
    <p:sldId id="419" r:id="rId31"/>
    <p:sldId id="420" r:id="rId32"/>
    <p:sldId id="421" r:id="rId33"/>
    <p:sldId id="422" r:id="rId34"/>
    <p:sldId id="423" r:id="rId35"/>
    <p:sldId id="424" r:id="rId36"/>
    <p:sldId id="426" r:id="rId37"/>
    <p:sldId id="425" r:id="rId38"/>
    <p:sldId id="427" r:id="rId39"/>
    <p:sldId id="431" r:id="rId40"/>
    <p:sldId id="428" r:id="rId41"/>
    <p:sldId id="435" r:id="rId42"/>
    <p:sldId id="445" r:id="rId43"/>
    <p:sldId id="432" r:id="rId44"/>
    <p:sldId id="434" r:id="rId45"/>
    <p:sldId id="433" r:id="rId46"/>
    <p:sldId id="436" r:id="rId47"/>
    <p:sldId id="446" r:id="rId48"/>
    <p:sldId id="437" r:id="rId49"/>
    <p:sldId id="438" r:id="rId50"/>
    <p:sldId id="439" r:id="rId51"/>
    <p:sldId id="454" r:id="rId52"/>
    <p:sldId id="447" r:id="rId53"/>
    <p:sldId id="444" r:id="rId54"/>
    <p:sldId id="441" r:id="rId55"/>
    <p:sldId id="443" r:id="rId56"/>
    <p:sldId id="448" r:id="rId57"/>
    <p:sldId id="449" r:id="rId58"/>
    <p:sldId id="442" r:id="rId59"/>
    <p:sldId id="440" r:id="rId60"/>
    <p:sldId id="450" r:id="rId61"/>
    <p:sldId id="452" r:id="rId62"/>
    <p:sldId id="451" r:id="rId63"/>
    <p:sldId id="453" r:id="rId64"/>
    <p:sldId id="456" r:id="rId65"/>
    <p:sldId id="455" r:id="rId66"/>
    <p:sldId id="457" r:id="rId67"/>
    <p:sldId id="458" r:id="rId68"/>
    <p:sldId id="461" r:id="rId69"/>
    <p:sldId id="460" r:id="rId70"/>
    <p:sldId id="459" r:id="rId71"/>
    <p:sldId id="462" r:id="rId72"/>
    <p:sldId id="465" r:id="rId73"/>
    <p:sldId id="466" r:id="rId74"/>
    <p:sldId id="463" r:id="rId75"/>
    <p:sldId id="464" r:id="rId76"/>
    <p:sldId id="467" r:id="rId77"/>
    <p:sldId id="468" r:id="rId78"/>
    <p:sldId id="469" r:id="rId79"/>
    <p:sldId id="470" r:id="rId80"/>
    <p:sldId id="471" r:id="rId81"/>
    <p:sldId id="472" r:id="rId82"/>
    <p:sldId id="473" r:id="rId83"/>
    <p:sldId id="474" r:id="rId84"/>
    <p:sldId id="475" r:id="rId85"/>
    <p:sldId id="476" r:id="rId86"/>
    <p:sldId id="477"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95" Type="http://schemas.openxmlformats.org/officeDocument/2006/relationships/customXml" Target="../customXml/item3.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9/7/2025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DEAC430E-5A65-442F-9064-DEB17858D8F1}" type="datetime1">
              <a:rPr lang="en-US" smtClean="0"/>
              <a:t>9/7/2025</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8314E179-45D9-45BE-AAA6-FF7B7D57AEF0}" type="datetime1">
              <a:rPr lang="en-US" smtClean="0"/>
              <a:t>9/7/2025</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0B334156-D111-4B8A-9649-E929320D3996}" type="datetime1">
              <a:rPr lang="en-US" smtClean="0"/>
              <a:t>9/7/2025</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83FF7365-BEFC-4E6B-9F2A-FA9474576F81}" type="datetime1">
              <a:rPr lang="en-US" smtClean="0"/>
              <a:t>9/7/2025</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13137B2F-B566-42C1-8C47-FE2D3202CF99}" type="datetime1">
              <a:rPr lang="en-US" smtClean="0"/>
              <a:t>9/7/2025</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77340BE3-421C-4D71-A3C6-49D639A19F9F}" type="datetime1">
              <a:rPr lang="en-US" smtClean="0"/>
              <a:t>9/7/2025</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679B5E47-D439-4284-AE0D-962FCB75FAB6}" type="datetime1">
              <a:rPr lang="en-US" smtClean="0"/>
              <a:t>9/7/2025</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453BECBD-8257-458C-AEE3-AE942135D6AE}" type="datetime1">
              <a:rPr lang="en-US" smtClean="0"/>
              <a:t>9/7/2025</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BDF3CAC5-E83F-4F07-8EAE-BE5D8EAB68B2}" type="datetime1">
              <a:rPr lang="en-US" smtClean="0"/>
              <a:t>9/7/2025</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96BA5DA7-E5C5-46E6-B6AF-18BC49A4DE0B}" type="datetime1">
              <a:rPr lang="en-US" smtClean="0"/>
              <a:t>9/7/2025</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F4EFC786-2935-4265-9B26-B14D271DC5F5}" type="datetime1">
              <a:rPr lang="en-US" smtClean="0"/>
              <a:t>9/7/2025</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EC6D-4A47-4C37-A1F4-993B8D832209}" type="datetime1">
              <a:rPr lang="en-US" smtClean="0"/>
              <a:t>9/7/2025</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hyperlink" Target="https://www.youtube.com/watch?v=WpuFEpbE0d0"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carturesti.ro/carte/open-o-autobiografie-55486?p=1&amp;t=c_quick-search&amp;s=agassi"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hyperlink" Target="https://www.tenniswarehouse-europe.com/Nike_Mens_New_York_Slam_Crew/descpageMANIKEA-NMUSLC-EN.html?color=CO&amp;_gl=1*1kozfkj*_up*MQ..*_gs*MQ..&amp;gclid=CjwKCAjw2vTFBhAuEiwAFaScwltgQ-3_bkmJIf478ZsZxLpngKUeXMCUz_J157cx_DXob6Uck9b1xhoCYWkQAvD_BwE"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12EF6-520E-D21B-D71D-7758CB548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C78AD-A182-8472-7962-185D2CB90C29}"/>
              </a:ext>
            </a:extLst>
          </p:cNvPr>
          <p:cNvSpPr>
            <a:spLocks noGrp="1"/>
          </p:cNvSpPr>
          <p:nvPr>
            <p:ph type="ctrTitle"/>
          </p:nvPr>
        </p:nvSpPr>
        <p:spPr/>
        <p:txBody>
          <a:bodyPr/>
          <a:lstStyle/>
          <a:p>
            <a:r>
              <a:rPr lang="en-US" b="1" dirty="0"/>
              <a:t>Relational </a:t>
            </a:r>
            <a:r>
              <a:rPr lang="en-US" b="1" dirty="0" err="1"/>
              <a:t>DataBase</a:t>
            </a:r>
            <a:br>
              <a:rPr lang="en-US" b="1" dirty="0"/>
            </a:br>
            <a:r>
              <a:rPr lang="en-US" b="1" dirty="0"/>
              <a:t>Design</a:t>
            </a:r>
            <a:endParaRPr lang="en-US" dirty="0"/>
          </a:p>
        </p:txBody>
      </p:sp>
      <p:sp>
        <p:nvSpPr>
          <p:cNvPr id="3" name="Subtitle 2">
            <a:extLst>
              <a:ext uri="{FF2B5EF4-FFF2-40B4-BE49-F238E27FC236}">
                <a16:creationId xmlns:a16="http://schemas.microsoft.com/office/drawing/2014/main" id="{56E6C5CE-4600-67F6-DDFE-487B5680D946}"/>
              </a:ext>
            </a:extLst>
          </p:cNvPr>
          <p:cNvSpPr>
            <a:spLocks noGrp="1"/>
          </p:cNvSpPr>
          <p:nvPr>
            <p:ph type="subTitle" idx="1"/>
          </p:nvPr>
        </p:nvSpPr>
        <p:spPr/>
        <p:txBody>
          <a:bodyPr>
            <a:normAutofit/>
          </a:bodyPr>
          <a:lstStyle/>
          <a:p>
            <a:endParaRPr lang="en-US" sz="3600" dirty="0"/>
          </a:p>
        </p:txBody>
      </p:sp>
      <p:sp>
        <p:nvSpPr>
          <p:cNvPr id="4" name="Slide Number Placeholder 3">
            <a:extLst>
              <a:ext uri="{FF2B5EF4-FFF2-40B4-BE49-F238E27FC236}">
                <a16:creationId xmlns:a16="http://schemas.microsoft.com/office/drawing/2014/main" id="{B531E3A4-BEB6-64D4-2DD7-CEF077D13C87}"/>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2392291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6EFF1-6BE1-BAB8-034A-468F62CC28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1852AF-A176-519E-A884-2A7CAC8A6414}"/>
              </a:ext>
            </a:extLst>
          </p:cNvPr>
          <p:cNvSpPr>
            <a:spLocks noGrp="1"/>
          </p:cNvSpPr>
          <p:nvPr>
            <p:ph idx="1"/>
          </p:nvPr>
        </p:nvSpPr>
        <p:spPr/>
        <p:txBody>
          <a:bodyPr/>
          <a:lstStyle/>
          <a:p>
            <a:r>
              <a:rPr lang="en-US" dirty="0"/>
              <a:t>logical database design </a:t>
            </a:r>
          </a:p>
          <a:p>
            <a:pPr lvl="1"/>
            <a:r>
              <a:rPr lang="en-US" sz="2800" dirty="0"/>
              <a:t>also known as data model mapping</a:t>
            </a:r>
          </a:p>
          <a:p>
            <a:endParaRPr lang="en-US" dirty="0"/>
          </a:p>
          <a:p>
            <a:r>
              <a:rPr lang="en-US" dirty="0"/>
              <a:t>procedures to create a relational schema from an Entity–Relationship (ER) or Enhanced ER (EER) schema</a:t>
            </a:r>
          </a:p>
          <a:p>
            <a:endParaRPr lang="en-US" dirty="0"/>
          </a:p>
        </p:txBody>
      </p:sp>
      <p:sp>
        <p:nvSpPr>
          <p:cNvPr id="4" name="Slide Number Placeholder 3">
            <a:extLst>
              <a:ext uri="{FF2B5EF4-FFF2-40B4-BE49-F238E27FC236}">
                <a16:creationId xmlns:a16="http://schemas.microsoft.com/office/drawing/2014/main" id="{8A44F626-9A4B-4DCE-9AFB-171B770F95EB}"/>
              </a:ext>
            </a:extLst>
          </p:cNvPr>
          <p:cNvSpPr>
            <a:spLocks noGrp="1"/>
          </p:cNvSpPr>
          <p:nvPr>
            <p:ph type="sldNum" sz="quarter" idx="12"/>
          </p:nvPr>
        </p:nvSpPr>
        <p:spPr/>
        <p:txBody>
          <a:bodyPr/>
          <a:lstStyle/>
          <a:p>
            <a:fld id="{6264BDCF-5269-49AC-A246-ED26C2B980E3}" type="slidenum">
              <a:rPr lang="en-US" smtClean="0"/>
              <a:t>3</a:t>
            </a:fld>
            <a:endParaRPr lang="en-US"/>
          </a:p>
        </p:txBody>
      </p:sp>
    </p:spTree>
    <p:extLst>
      <p:ext uri="{BB962C8B-B14F-4D97-AF65-F5344CB8AC3E}">
        <p14:creationId xmlns:p14="http://schemas.microsoft.com/office/powerpoint/2010/main" val="57483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210FE5-C3B1-8222-681B-28080B037A32}"/>
              </a:ext>
            </a:extLst>
          </p:cNvPr>
          <p:cNvSpPr>
            <a:spLocks noGrp="1"/>
          </p:cNvSpPr>
          <p:nvPr>
            <p:ph type="title"/>
          </p:nvPr>
        </p:nvSpPr>
        <p:spPr/>
        <p:txBody>
          <a:bodyPr/>
          <a:lstStyle/>
          <a:p>
            <a:r>
              <a:rPr lang="en-US" sz="5400" b="1" dirty="0"/>
              <a:t>Mapping </a:t>
            </a:r>
            <a:r>
              <a:rPr lang="en-US" sz="4800" b="1" dirty="0"/>
              <a:t>Entity Relationship </a:t>
            </a:r>
            <a:br>
              <a:rPr lang="en-US" sz="4800" b="1" dirty="0"/>
            </a:br>
            <a:r>
              <a:rPr lang="en-US" sz="5400" b="1" dirty="0"/>
              <a:t>ER Model Constructs to Relatio</a:t>
            </a:r>
            <a:r>
              <a:rPr lang="en-US" b="1" dirty="0"/>
              <a:t>ns</a:t>
            </a:r>
            <a:endParaRPr lang="en-US" dirty="0"/>
          </a:p>
        </p:txBody>
      </p:sp>
      <p:sp>
        <p:nvSpPr>
          <p:cNvPr id="6" name="Text Placeholder 5">
            <a:extLst>
              <a:ext uri="{FF2B5EF4-FFF2-40B4-BE49-F238E27FC236}">
                <a16:creationId xmlns:a16="http://schemas.microsoft.com/office/drawing/2014/main" id="{1FBE4575-4E73-0005-8545-B70A3D8022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9FE5A3-0B51-6FA6-D0AA-8780553972B4}"/>
              </a:ext>
            </a:extLst>
          </p:cNvPr>
          <p:cNvSpPr>
            <a:spLocks noGrp="1"/>
          </p:cNvSpPr>
          <p:nvPr>
            <p:ph type="sldNum" sz="quarter" idx="12"/>
          </p:nvPr>
        </p:nvSpPr>
        <p:spPr/>
        <p:txBody>
          <a:bodyPr/>
          <a:lstStyle/>
          <a:p>
            <a:fld id="{6264BDCF-5269-49AC-A246-ED26C2B980E3}" type="slidenum">
              <a:rPr lang="en-US" smtClean="0"/>
              <a:t>4</a:t>
            </a:fld>
            <a:endParaRPr lang="en-US"/>
          </a:p>
        </p:txBody>
      </p:sp>
    </p:spTree>
    <p:extLst>
      <p:ext uri="{BB962C8B-B14F-4D97-AF65-F5344CB8AC3E}">
        <p14:creationId xmlns:p14="http://schemas.microsoft.com/office/powerpoint/2010/main" val="1959171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96E2-E99A-361F-0ED8-B0473E23AEB3}"/>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D7688626-81EF-89ED-8D30-1B26DE84C306}"/>
              </a:ext>
            </a:extLst>
          </p:cNvPr>
          <p:cNvPicPr>
            <a:picLocks noGrp="1" noChangeAspect="1"/>
          </p:cNvPicPr>
          <p:nvPr>
            <p:ph idx="1"/>
          </p:nvPr>
        </p:nvPicPr>
        <p:blipFill>
          <a:blip r:embed="rId2"/>
          <a:stretch>
            <a:fillRect/>
          </a:stretch>
        </p:blipFill>
        <p:spPr>
          <a:xfrm>
            <a:off x="1828797" y="91440"/>
            <a:ext cx="7608543" cy="6620068"/>
          </a:xfrm>
          <a:prstGeom prst="rect">
            <a:avLst/>
          </a:prstGeom>
        </p:spPr>
      </p:pic>
      <p:sp>
        <p:nvSpPr>
          <p:cNvPr id="4" name="Slide Number Placeholder 3">
            <a:extLst>
              <a:ext uri="{FF2B5EF4-FFF2-40B4-BE49-F238E27FC236}">
                <a16:creationId xmlns:a16="http://schemas.microsoft.com/office/drawing/2014/main" id="{1A462607-ECD2-8985-DDF4-95DDE9D8F1D7}"/>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3019009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C87E6-5F27-725F-2E4B-40335D35D448}"/>
              </a:ext>
            </a:extLst>
          </p:cNvPr>
          <p:cNvSpPr>
            <a:spLocks noGrp="1"/>
          </p:cNvSpPr>
          <p:nvPr>
            <p:ph type="title"/>
          </p:nvPr>
        </p:nvSpPr>
        <p:spPr>
          <a:xfrm>
            <a:off x="828368" y="355293"/>
            <a:ext cx="10515600" cy="1325563"/>
          </a:xfrm>
        </p:spPr>
        <p:txBody>
          <a:bodyPr/>
          <a:lstStyle/>
          <a:p>
            <a:r>
              <a:rPr lang="en-US" dirty="0"/>
              <a:t>ER-to-Relational Mapping</a:t>
            </a:r>
          </a:p>
        </p:txBody>
      </p:sp>
      <p:sp>
        <p:nvSpPr>
          <p:cNvPr id="3" name="Content Placeholder 2">
            <a:extLst>
              <a:ext uri="{FF2B5EF4-FFF2-40B4-BE49-F238E27FC236}">
                <a16:creationId xmlns:a16="http://schemas.microsoft.com/office/drawing/2014/main" id="{47072C6A-6BC9-EA7F-0D4C-450FCDDDDB6D}"/>
              </a:ext>
            </a:extLst>
          </p:cNvPr>
          <p:cNvSpPr>
            <a:spLocks noGrp="1"/>
          </p:cNvSpPr>
          <p:nvPr>
            <p:ph idx="1"/>
          </p:nvPr>
        </p:nvSpPr>
        <p:spPr/>
        <p:txBody>
          <a:bodyPr/>
          <a:lstStyle/>
          <a:p>
            <a:r>
              <a:rPr lang="en-US" dirty="0"/>
              <a:t>algorithm for ER-to-relational mapping</a:t>
            </a:r>
          </a:p>
          <a:p>
            <a:r>
              <a:rPr lang="en-US" dirty="0"/>
              <a:t>the COMPANY database example ER shown before</a:t>
            </a:r>
          </a:p>
          <a:p>
            <a:r>
              <a:rPr lang="en-US" dirty="0"/>
              <a:t>COMPANY relational database schema shown after</a:t>
            </a:r>
          </a:p>
          <a:p>
            <a:endParaRPr lang="en-US" dirty="0"/>
          </a:p>
          <a:p>
            <a:pPr lvl="1"/>
            <a:r>
              <a:rPr lang="en-US" sz="2800" dirty="0"/>
              <a:t>tables with simple single valued attributes</a:t>
            </a:r>
          </a:p>
          <a:p>
            <a:r>
              <a:rPr lang="en-US" dirty="0"/>
              <a:t>Primary Keys, unique keys (if any), and referential integrity constraints on relations</a:t>
            </a:r>
          </a:p>
          <a:p>
            <a:endParaRPr lang="en-US" dirty="0"/>
          </a:p>
        </p:txBody>
      </p:sp>
      <p:sp>
        <p:nvSpPr>
          <p:cNvPr id="4" name="Slide Number Placeholder 3">
            <a:extLst>
              <a:ext uri="{FF2B5EF4-FFF2-40B4-BE49-F238E27FC236}">
                <a16:creationId xmlns:a16="http://schemas.microsoft.com/office/drawing/2014/main" id="{F6B3E8F6-EAC8-4362-3C5E-0D525EC7B603}"/>
              </a:ext>
            </a:extLst>
          </p:cNvPr>
          <p:cNvSpPr>
            <a:spLocks noGrp="1"/>
          </p:cNvSpPr>
          <p:nvPr>
            <p:ph type="sldNum" sz="quarter" idx="12"/>
          </p:nvPr>
        </p:nvSpPr>
        <p:spPr/>
        <p:txBody>
          <a:bodyPr/>
          <a:lstStyle/>
          <a:p>
            <a:fld id="{6264BDCF-5269-49AC-A246-ED26C2B980E3}" type="slidenum">
              <a:rPr lang="en-US" smtClean="0"/>
              <a:t>6</a:t>
            </a:fld>
            <a:endParaRPr lang="en-US"/>
          </a:p>
        </p:txBody>
      </p:sp>
    </p:spTree>
    <p:extLst>
      <p:ext uri="{BB962C8B-B14F-4D97-AF65-F5344CB8AC3E}">
        <p14:creationId xmlns:p14="http://schemas.microsoft.com/office/powerpoint/2010/main" val="1610137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31F23-2A8E-6906-C5C2-6056300D500F}"/>
              </a:ext>
            </a:extLst>
          </p:cNvPr>
          <p:cNvSpPr>
            <a:spLocks noGrp="1"/>
          </p:cNvSpPr>
          <p:nvPr>
            <p:ph type="title"/>
          </p:nvPr>
        </p:nvSpPr>
        <p:spPr/>
        <p:txBody>
          <a:bodyPr/>
          <a:lstStyle/>
          <a:p>
            <a:endParaRPr lang="en-US"/>
          </a:p>
        </p:txBody>
      </p:sp>
      <p:pic>
        <p:nvPicPr>
          <p:cNvPr id="6" name="Content Placeholder 5" descr="A screenshot of a computer&#10;&#10;AI-generated content may be incorrect.">
            <a:extLst>
              <a:ext uri="{FF2B5EF4-FFF2-40B4-BE49-F238E27FC236}">
                <a16:creationId xmlns:a16="http://schemas.microsoft.com/office/drawing/2014/main" id="{A3B4EB8A-A1AE-C50A-B53D-5CE8EED737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91439"/>
            <a:ext cx="9131808" cy="6620256"/>
          </a:xfrm>
        </p:spPr>
      </p:pic>
      <p:sp>
        <p:nvSpPr>
          <p:cNvPr id="4" name="Slide Number Placeholder 3">
            <a:extLst>
              <a:ext uri="{FF2B5EF4-FFF2-40B4-BE49-F238E27FC236}">
                <a16:creationId xmlns:a16="http://schemas.microsoft.com/office/drawing/2014/main" id="{4E3433E4-685D-D0F4-A929-29C22AF95061}"/>
              </a:ext>
            </a:extLst>
          </p:cNvPr>
          <p:cNvSpPr>
            <a:spLocks noGrp="1"/>
          </p:cNvSpPr>
          <p:nvPr>
            <p:ph type="sldNum" sz="quarter" idx="12"/>
          </p:nvPr>
        </p:nvSpPr>
        <p:spPr/>
        <p:txBody>
          <a:bodyPr/>
          <a:lstStyle/>
          <a:p>
            <a:fld id="{6264BDCF-5269-49AC-A246-ED26C2B980E3}" type="slidenum">
              <a:rPr lang="en-US" smtClean="0"/>
              <a:t>7</a:t>
            </a:fld>
            <a:endParaRPr lang="en-US"/>
          </a:p>
        </p:txBody>
      </p:sp>
    </p:spTree>
    <p:extLst>
      <p:ext uri="{BB962C8B-B14F-4D97-AF65-F5344CB8AC3E}">
        <p14:creationId xmlns:p14="http://schemas.microsoft.com/office/powerpoint/2010/main" val="1613349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AFE10-D4CA-5BAD-5ED2-B1EDEDED64AF}"/>
              </a:ext>
            </a:extLst>
          </p:cNvPr>
          <p:cNvSpPr>
            <a:spLocks noGrp="1"/>
          </p:cNvSpPr>
          <p:nvPr>
            <p:ph type="title"/>
          </p:nvPr>
        </p:nvSpPr>
        <p:spPr/>
        <p:txBody>
          <a:bodyPr/>
          <a:lstStyle/>
          <a:p>
            <a:r>
              <a:rPr lang="en-US" dirty="0"/>
              <a:t>Step 1: Mapping of Regular Entity Types</a:t>
            </a:r>
          </a:p>
        </p:txBody>
      </p:sp>
      <p:sp>
        <p:nvSpPr>
          <p:cNvPr id="3" name="Content Placeholder 2">
            <a:extLst>
              <a:ext uri="{FF2B5EF4-FFF2-40B4-BE49-F238E27FC236}">
                <a16:creationId xmlns:a16="http://schemas.microsoft.com/office/drawing/2014/main" id="{C5DFD126-2E3A-910A-0CE0-F3CAE05890F3}"/>
              </a:ext>
            </a:extLst>
          </p:cNvPr>
          <p:cNvSpPr>
            <a:spLocks noGrp="1"/>
          </p:cNvSpPr>
          <p:nvPr>
            <p:ph idx="1"/>
          </p:nvPr>
        </p:nvSpPr>
        <p:spPr/>
        <p:txBody>
          <a:bodyPr>
            <a:noAutofit/>
          </a:bodyPr>
          <a:lstStyle/>
          <a:p>
            <a:r>
              <a:rPr lang="en-US" dirty="0"/>
              <a:t>for each regular (strong) entity type </a:t>
            </a:r>
            <a:r>
              <a:rPr lang="en-US" i="1" dirty="0"/>
              <a:t>E </a:t>
            </a:r>
            <a:r>
              <a:rPr lang="en-US" dirty="0"/>
              <a:t>in the ER schema, create relation </a:t>
            </a:r>
            <a:r>
              <a:rPr lang="en-US" i="1" dirty="0"/>
              <a:t>R </a:t>
            </a:r>
            <a:r>
              <a:rPr lang="en-US" dirty="0"/>
              <a:t>that includes all simple attributes of </a:t>
            </a:r>
            <a:r>
              <a:rPr lang="en-US" i="1" dirty="0"/>
              <a:t>E</a:t>
            </a:r>
            <a:endParaRPr lang="en-US" dirty="0"/>
          </a:p>
          <a:p>
            <a:r>
              <a:rPr lang="en-US" dirty="0"/>
              <a:t>include only simple component attributes of composite attribute</a:t>
            </a:r>
          </a:p>
        </p:txBody>
      </p:sp>
      <p:sp>
        <p:nvSpPr>
          <p:cNvPr id="4" name="Slide Number Placeholder 3">
            <a:extLst>
              <a:ext uri="{FF2B5EF4-FFF2-40B4-BE49-F238E27FC236}">
                <a16:creationId xmlns:a16="http://schemas.microsoft.com/office/drawing/2014/main" id="{07CFDCE7-2039-83D6-B5CD-D9292ECD9052}"/>
              </a:ext>
            </a:extLst>
          </p:cNvPr>
          <p:cNvSpPr>
            <a:spLocks noGrp="1"/>
          </p:cNvSpPr>
          <p:nvPr>
            <p:ph type="sldNum" sz="quarter" idx="12"/>
          </p:nvPr>
        </p:nvSpPr>
        <p:spPr/>
        <p:txBody>
          <a:bodyPr/>
          <a:lstStyle/>
          <a:p>
            <a:fld id="{6264BDCF-5269-49AC-A246-ED26C2B980E3}" type="slidenum">
              <a:rPr lang="en-US" smtClean="0"/>
              <a:t>8</a:t>
            </a:fld>
            <a:endParaRPr lang="en-US"/>
          </a:p>
        </p:txBody>
      </p:sp>
    </p:spTree>
    <p:extLst>
      <p:ext uri="{BB962C8B-B14F-4D97-AF65-F5344CB8AC3E}">
        <p14:creationId xmlns:p14="http://schemas.microsoft.com/office/powerpoint/2010/main" val="2636264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08709-7FFD-1EC2-AF2C-1E89221B2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1F20F-8517-A70B-1451-F9EEF242EE48}"/>
              </a:ext>
            </a:extLst>
          </p:cNvPr>
          <p:cNvSpPr>
            <a:spLocks noGrp="1"/>
          </p:cNvSpPr>
          <p:nvPr>
            <p:ph type="title"/>
          </p:nvPr>
        </p:nvSpPr>
        <p:spPr/>
        <p:txBody>
          <a:bodyPr/>
          <a:lstStyle/>
          <a:p>
            <a:r>
              <a:rPr lang="en-US" dirty="0"/>
              <a:t>Step 1: Mapping of Regular Entity Types</a:t>
            </a:r>
          </a:p>
        </p:txBody>
      </p:sp>
      <p:sp>
        <p:nvSpPr>
          <p:cNvPr id="3" name="Content Placeholder 2">
            <a:extLst>
              <a:ext uri="{FF2B5EF4-FFF2-40B4-BE49-F238E27FC236}">
                <a16:creationId xmlns:a16="http://schemas.microsoft.com/office/drawing/2014/main" id="{08B4160A-CEF8-2486-7769-5C3B06B9FE68}"/>
              </a:ext>
            </a:extLst>
          </p:cNvPr>
          <p:cNvSpPr>
            <a:spLocks noGrp="1"/>
          </p:cNvSpPr>
          <p:nvPr>
            <p:ph idx="1"/>
          </p:nvPr>
        </p:nvSpPr>
        <p:spPr/>
        <p:txBody>
          <a:bodyPr>
            <a:noAutofit/>
          </a:bodyPr>
          <a:lstStyle/>
          <a:p>
            <a:r>
              <a:rPr lang="en-US" dirty="0"/>
              <a:t>choose one of key attributes of </a:t>
            </a:r>
            <a:r>
              <a:rPr lang="en-US" i="1" dirty="0"/>
              <a:t>E </a:t>
            </a:r>
            <a:r>
              <a:rPr lang="en-US" dirty="0"/>
              <a:t>as primary key for </a:t>
            </a:r>
            <a:r>
              <a:rPr lang="en-US" i="1" dirty="0"/>
              <a:t>R</a:t>
            </a:r>
          </a:p>
          <a:p>
            <a:r>
              <a:rPr lang="en-US" dirty="0"/>
              <a:t>if chosen key of </a:t>
            </a:r>
            <a:r>
              <a:rPr lang="en-US" i="1" dirty="0"/>
              <a:t>E </a:t>
            </a:r>
            <a:r>
              <a:rPr lang="en-US" dirty="0"/>
              <a:t>is a composite, then the set of simple attributes that form it will together form primary key of </a:t>
            </a:r>
            <a:r>
              <a:rPr lang="en-US" i="1" dirty="0"/>
              <a:t>R</a:t>
            </a:r>
            <a:endParaRPr lang="en-US" dirty="0"/>
          </a:p>
          <a:p>
            <a:r>
              <a:rPr lang="en-US" dirty="0"/>
              <a:t>if multiple keys were identified for </a:t>
            </a:r>
            <a:r>
              <a:rPr lang="en-US" i="1" dirty="0"/>
              <a:t>E </a:t>
            </a:r>
            <a:r>
              <a:rPr lang="en-US" dirty="0"/>
              <a:t>during conceptual design, information describing attributes that form each additional key is kept in order to specify additional (unique) keys of relation </a:t>
            </a:r>
            <a:r>
              <a:rPr lang="en-US" i="1" dirty="0"/>
              <a:t>R</a:t>
            </a:r>
          </a:p>
          <a:p>
            <a:r>
              <a:rPr lang="en-US" dirty="0"/>
              <a:t>knowledge about keys is also kept for indexing purposes and other types of analyses</a:t>
            </a:r>
          </a:p>
        </p:txBody>
      </p:sp>
      <p:sp>
        <p:nvSpPr>
          <p:cNvPr id="4" name="Slide Number Placeholder 3">
            <a:extLst>
              <a:ext uri="{FF2B5EF4-FFF2-40B4-BE49-F238E27FC236}">
                <a16:creationId xmlns:a16="http://schemas.microsoft.com/office/drawing/2014/main" id="{D4BB38C8-0C9E-A3BE-6F6E-37207BF12CE1}"/>
              </a:ext>
            </a:extLst>
          </p:cNvPr>
          <p:cNvSpPr>
            <a:spLocks noGrp="1"/>
          </p:cNvSpPr>
          <p:nvPr>
            <p:ph type="sldNum" sz="quarter" idx="12"/>
          </p:nvPr>
        </p:nvSpPr>
        <p:spPr/>
        <p:txBody>
          <a:bodyPr/>
          <a:lstStyle/>
          <a:p>
            <a:fld id="{6264BDCF-5269-49AC-A246-ED26C2B980E3}" type="slidenum">
              <a:rPr lang="en-US" smtClean="0"/>
              <a:t>9</a:t>
            </a:fld>
            <a:endParaRPr lang="en-US"/>
          </a:p>
        </p:txBody>
      </p:sp>
    </p:spTree>
    <p:extLst>
      <p:ext uri="{BB962C8B-B14F-4D97-AF65-F5344CB8AC3E}">
        <p14:creationId xmlns:p14="http://schemas.microsoft.com/office/powerpoint/2010/main" val="1985927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237F1-01D4-6244-BB52-2858DC3690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AAFE1A-8A31-86B7-0CF4-3343C7941C82}"/>
              </a:ext>
            </a:extLst>
          </p:cNvPr>
          <p:cNvSpPr>
            <a:spLocks noGrp="1"/>
          </p:cNvSpPr>
          <p:nvPr>
            <p:ph idx="1"/>
          </p:nvPr>
        </p:nvSpPr>
        <p:spPr/>
        <p:txBody>
          <a:bodyPr/>
          <a:lstStyle/>
          <a:p>
            <a:r>
              <a:rPr lang="en-US" dirty="0"/>
              <a:t>EMPLOYEE, DEPARTMENT, and PROJECT</a:t>
            </a:r>
          </a:p>
        </p:txBody>
      </p:sp>
      <p:sp>
        <p:nvSpPr>
          <p:cNvPr id="4" name="Slide Number Placeholder 3">
            <a:extLst>
              <a:ext uri="{FF2B5EF4-FFF2-40B4-BE49-F238E27FC236}">
                <a16:creationId xmlns:a16="http://schemas.microsoft.com/office/drawing/2014/main" id="{8C70846A-2503-0E6B-0A7D-394B7AB5D988}"/>
              </a:ext>
            </a:extLst>
          </p:cNvPr>
          <p:cNvSpPr>
            <a:spLocks noGrp="1"/>
          </p:cNvSpPr>
          <p:nvPr>
            <p:ph type="sldNum" sz="quarter" idx="12"/>
          </p:nvPr>
        </p:nvSpPr>
        <p:spPr/>
        <p:txBody>
          <a:bodyPr/>
          <a:lstStyle/>
          <a:p>
            <a:fld id="{6264BDCF-5269-49AC-A246-ED26C2B980E3}" type="slidenum">
              <a:rPr lang="en-US" smtClean="0"/>
              <a:t>10</a:t>
            </a:fld>
            <a:endParaRPr lang="en-US"/>
          </a:p>
        </p:txBody>
      </p:sp>
    </p:spTree>
    <p:extLst>
      <p:ext uri="{BB962C8B-B14F-4D97-AF65-F5344CB8AC3E}">
        <p14:creationId xmlns:p14="http://schemas.microsoft.com/office/powerpoint/2010/main" val="772922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65093-88EE-71EB-29AA-01ED5E72E416}"/>
              </a:ext>
            </a:extLst>
          </p:cNvPr>
          <p:cNvSpPr>
            <a:spLocks noGrp="1"/>
          </p:cNvSpPr>
          <p:nvPr>
            <p:ph type="title"/>
          </p:nvPr>
        </p:nvSpPr>
        <p:spPr/>
        <p:txBody>
          <a:bodyPr/>
          <a:lstStyle/>
          <a:p>
            <a:r>
              <a:rPr lang="en-US" dirty="0"/>
              <a:t>Step 2: Mapping of Weak Entity Types</a:t>
            </a:r>
          </a:p>
        </p:txBody>
      </p:sp>
      <p:sp>
        <p:nvSpPr>
          <p:cNvPr id="3" name="Content Placeholder 2">
            <a:extLst>
              <a:ext uri="{FF2B5EF4-FFF2-40B4-BE49-F238E27FC236}">
                <a16:creationId xmlns:a16="http://schemas.microsoft.com/office/drawing/2014/main" id="{5D78F2BA-631C-B542-2B54-C9720AC32910}"/>
              </a:ext>
            </a:extLst>
          </p:cNvPr>
          <p:cNvSpPr>
            <a:spLocks noGrp="1"/>
          </p:cNvSpPr>
          <p:nvPr>
            <p:ph idx="1"/>
          </p:nvPr>
        </p:nvSpPr>
        <p:spPr/>
        <p:txBody>
          <a:bodyPr>
            <a:noAutofit/>
          </a:bodyPr>
          <a:lstStyle/>
          <a:p>
            <a:r>
              <a:rPr lang="en-US" dirty="0"/>
              <a:t>for each weak entity type </a:t>
            </a:r>
            <a:r>
              <a:rPr lang="en-US" i="1" dirty="0"/>
              <a:t>W </a:t>
            </a:r>
            <a:r>
              <a:rPr lang="en-US" dirty="0"/>
              <a:t>in ER schema with owner entity type </a:t>
            </a:r>
            <a:r>
              <a:rPr lang="en-US" i="1" dirty="0"/>
              <a:t>E</a:t>
            </a:r>
            <a:r>
              <a:rPr lang="en-US" dirty="0"/>
              <a:t>, create a relation </a:t>
            </a:r>
            <a:r>
              <a:rPr lang="en-US" i="1" dirty="0"/>
              <a:t>R </a:t>
            </a:r>
            <a:r>
              <a:rPr lang="en-US" dirty="0"/>
              <a:t>and include all simple attributes (or simple components of composite attributes) of </a:t>
            </a:r>
            <a:r>
              <a:rPr lang="en-US" i="1" dirty="0"/>
              <a:t>W </a:t>
            </a:r>
            <a:r>
              <a:rPr lang="en-US" dirty="0"/>
              <a:t>as attributes of </a:t>
            </a:r>
            <a:r>
              <a:rPr lang="en-US" i="1" dirty="0"/>
              <a:t>R</a:t>
            </a:r>
          </a:p>
          <a:p>
            <a:r>
              <a:rPr lang="en-US" dirty="0"/>
              <a:t>in addition, include as foreign key attributes of </a:t>
            </a:r>
            <a:r>
              <a:rPr lang="en-US" i="1" dirty="0"/>
              <a:t>R</a:t>
            </a:r>
            <a:r>
              <a:rPr lang="en-US" dirty="0"/>
              <a:t>, the primary key attribute(s) of relation(s) that correspond to owner entity type(s); this takes care of mapping identifying relationship type of </a:t>
            </a:r>
            <a:r>
              <a:rPr lang="en-US" i="1" dirty="0"/>
              <a:t>W</a:t>
            </a:r>
          </a:p>
          <a:p>
            <a:r>
              <a:rPr lang="en-US" dirty="0"/>
              <a:t>primary key of </a:t>
            </a:r>
            <a:r>
              <a:rPr lang="en-US" i="1" dirty="0"/>
              <a:t>R </a:t>
            </a:r>
            <a:r>
              <a:rPr lang="en-US" dirty="0"/>
              <a:t>is combination of primary key(s) of owner(s) and partial key of weak entity type </a:t>
            </a:r>
            <a:r>
              <a:rPr lang="en-US" i="1" dirty="0"/>
              <a:t>W</a:t>
            </a:r>
            <a:r>
              <a:rPr lang="en-US" dirty="0"/>
              <a:t>, if any</a:t>
            </a:r>
          </a:p>
          <a:p>
            <a:r>
              <a:rPr lang="en-US" dirty="0"/>
              <a:t>if there is weak entity type </a:t>
            </a:r>
            <a:r>
              <a:rPr lang="en-US" i="1" dirty="0"/>
              <a:t>E</a:t>
            </a:r>
            <a:r>
              <a:rPr lang="en-US" dirty="0"/>
              <a:t>2 whose owner is also a weak entity type </a:t>
            </a:r>
            <a:r>
              <a:rPr lang="en-US" i="1" dirty="0"/>
              <a:t>E</a:t>
            </a:r>
            <a:r>
              <a:rPr lang="en-US" dirty="0"/>
              <a:t>1, then </a:t>
            </a:r>
            <a:r>
              <a:rPr lang="en-US" i="1" dirty="0"/>
              <a:t>E</a:t>
            </a:r>
            <a:r>
              <a:rPr lang="en-US" dirty="0"/>
              <a:t>1 should be mapped before </a:t>
            </a:r>
            <a:r>
              <a:rPr lang="en-US" i="1" dirty="0"/>
              <a:t>E</a:t>
            </a:r>
            <a:r>
              <a:rPr lang="en-US" dirty="0"/>
              <a:t>2</a:t>
            </a:r>
          </a:p>
        </p:txBody>
      </p:sp>
      <p:sp>
        <p:nvSpPr>
          <p:cNvPr id="4" name="Slide Number Placeholder 3">
            <a:extLst>
              <a:ext uri="{FF2B5EF4-FFF2-40B4-BE49-F238E27FC236}">
                <a16:creationId xmlns:a16="http://schemas.microsoft.com/office/drawing/2014/main" id="{903B4FD1-539A-E716-F5F1-47F6A9C06CE4}"/>
              </a:ext>
            </a:extLst>
          </p:cNvPr>
          <p:cNvSpPr>
            <a:spLocks noGrp="1"/>
          </p:cNvSpPr>
          <p:nvPr>
            <p:ph type="sldNum" sz="quarter" idx="12"/>
          </p:nvPr>
        </p:nvSpPr>
        <p:spPr/>
        <p:txBody>
          <a:bodyPr/>
          <a:lstStyle/>
          <a:p>
            <a:fld id="{6264BDCF-5269-49AC-A246-ED26C2B980E3}" type="slidenum">
              <a:rPr lang="en-US" smtClean="0"/>
              <a:t>11</a:t>
            </a:fld>
            <a:endParaRPr lang="en-US"/>
          </a:p>
        </p:txBody>
      </p:sp>
    </p:spTree>
    <p:extLst>
      <p:ext uri="{BB962C8B-B14F-4D97-AF65-F5344CB8AC3E}">
        <p14:creationId xmlns:p14="http://schemas.microsoft.com/office/powerpoint/2010/main" val="1750741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2F83C-9021-6F69-7D09-75356A428C88}"/>
              </a:ext>
            </a:extLst>
          </p:cNvPr>
          <p:cNvSpPr>
            <a:spLocks noGrp="1"/>
          </p:cNvSpPr>
          <p:nvPr>
            <p:ph type="title"/>
          </p:nvPr>
        </p:nvSpPr>
        <p:spPr/>
        <p:txBody>
          <a:bodyPr/>
          <a:lstStyle/>
          <a:p>
            <a:r>
              <a:rPr lang="en-US" dirty="0"/>
              <a:t>Step 2: Mapping of Weak Entity Types</a:t>
            </a:r>
          </a:p>
        </p:txBody>
      </p:sp>
      <p:sp>
        <p:nvSpPr>
          <p:cNvPr id="3" name="Content Placeholder 2">
            <a:extLst>
              <a:ext uri="{FF2B5EF4-FFF2-40B4-BE49-F238E27FC236}">
                <a16:creationId xmlns:a16="http://schemas.microsoft.com/office/drawing/2014/main" id="{3372E4A6-57AB-E860-77E6-950863C19254}"/>
              </a:ext>
            </a:extLst>
          </p:cNvPr>
          <p:cNvSpPr>
            <a:spLocks noGrp="1"/>
          </p:cNvSpPr>
          <p:nvPr>
            <p:ph idx="1"/>
          </p:nvPr>
        </p:nvSpPr>
        <p:spPr/>
        <p:txBody>
          <a:bodyPr/>
          <a:lstStyle/>
          <a:p>
            <a:r>
              <a:rPr lang="en-US" dirty="0"/>
              <a:t>it is common to choose the propagate (CASCADE) option for the referential triggered action on the foreign key in the relation corresponding to the weak entity type, since a weak entity has an existence dependency on its owner entity</a:t>
            </a:r>
          </a:p>
          <a:p>
            <a:r>
              <a:rPr lang="en-US" dirty="0"/>
              <a:t>used for both ON UPDATE and ON DELETE</a:t>
            </a:r>
          </a:p>
          <a:p>
            <a:endParaRPr lang="en-US" dirty="0"/>
          </a:p>
        </p:txBody>
      </p:sp>
      <p:sp>
        <p:nvSpPr>
          <p:cNvPr id="4" name="Slide Number Placeholder 3">
            <a:extLst>
              <a:ext uri="{FF2B5EF4-FFF2-40B4-BE49-F238E27FC236}">
                <a16:creationId xmlns:a16="http://schemas.microsoft.com/office/drawing/2014/main" id="{B0D4E1D9-FF21-7CE1-0838-B61C504178FB}"/>
              </a:ext>
            </a:extLst>
          </p:cNvPr>
          <p:cNvSpPr>
            <a:spLocks noGrp="1"/>
          </p:cNvSpPr>
          <p:nvPr>
            <p:ph type="sldNum" sz="quarter" idx="12"/>
          </p:nvPr>
        </p:nvSpPr>
        <p:spPr/>
        <p:txBody>
          <a:bodyPr/>
          <a:lstStyle/>
          <a:p>
            <a:fld id="{6264BDCF-5269-49AC-A246-ED26C2B980E3}" type="slidenum">
              <a:rPr lang="en-US" smtClean="0"/>
              <a:t>12</a:t>
            </a:fld>
            <a:endParaRPr lang="en-US"/>
          </a:p>
        </p:txBody>
      </p:sp>
    </p:spTree>
    <p:extLst>
      <p:ext uri="{BB962C8B-B14F-4D97-AF65-F5344CB8AC3E}">
        <p14:creationId xmlns:p14="http://schemas.microsoft.com/office/powerpoint/2010/main" val="1047248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D9984-2421-30AA-3CC8-99B1FBD3B6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ED549E-6087-2A8D-D002-12D4ABA49A8F}"/>
              </a:ext>
            </a:extLst>
          </p:cNvPr>
          <p:cNvSpPr>
            <a:spLocks noGrp="1"/>
          </p:cNvSpPr>
          <p:nvPr>
            <p:ph idx="1"/>
          </p:nvPr>
        </p:nvSpPr>
        <p:spPr/>
        <p:txBody>
          <a:bodyPr/>
          <a:lstStyle/>
          <a:p>
            <a:r>
              <a:rPr lang="en-US" dirty="0"/>
              <a:t>DEPENDENT</a:t>
            </a:r>
          </a:p>
        </p:txBody>
      </p:sp>
      <p:sp>
        <p:nvSpPr>
          <p:cNvPr id="4" name="Slide Number Placeholder 3">
            <a:extLst>
              <a:ext uri="{FF2B5EF4-FFF2-40B4-BE49-F238E27FC236}">
                <a16:creationId xmlns:a16="http://schemas.microsoft.com/office/drawing/2014/main" id="{A6383F8D-4C5E-B67B-4853-D043FE5EEFD4}"/>
              </a:ext>
            </a:extLst>
          </p:cNvPr>
          <p:cNvSpPr>
            <a:spLocks noGrp="1"/>
          </p:cNvSpPr>
          <p:nvPr>
            <p:ph type="sldNum" sz="quarter" idx="12"/>
          </p:nvPr>
        </p:nvSpPr>
        <p:spPr/>
        <p:txBody>
          <a:bodyPr/>
          <a:lstStyle/>
          <a:p>
            <a:fld id="{6264BDCF-5269-49AC-A246-ED26C2B980E3}" type="slidenum">
              <a:rPr lang="en-US" smtClean="0"/>
              <a:t>13</a:t>
            </a:fld>
            <a:endParaRPr lang="en-US"/>
          </a:p>
        </p:txBody>
      </p:sp>
    </p:spTree>
    <p:extLst>
      <p:ext uri="{BB962C8B-B14F-4D97-AF65-F5344CB8AC3E}">
        <p14:creationId xmlns:p14="http://schemas.microsoft.com/office/powerpoint/2010/main" val="2759482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A77E5-9F20-614B-5535-113BC8246256}"/>
              </a:ext>
            </a:extLst>
          </p:cNvPr>
          <p:cNvSpPr>
            <a:spLocks noGrp="1"/>
          </p:cNvSpPr>
          <p:nvPr>
            <p:ph type="title"/>
          </p:nvPr>
        </p:nvSpPr>
        <p:spPr>
          <a:xfrm>
            <a:off x="838199" y="365125"/>
            <a:ext cx="11245645" cy="1325563"/>
          </a:xfrm>
        </p:spPr>
        <p:txBody>
          <a:bodyPr/>
          <a:lstStyle/>
          <a:p>
            <a:r>
              <a:rPr lang="en-US" dirty="0"/>
              <a:t>Step 3: Mapping of Binary 1:1 Relationship Types</a:t>
            </a:r>
          </a:p>
        </p:txBody>
      </p:sp>
      <p:sp>
        <p:nvSpPr>
          <p:cNvPr id="3" name="Content Placeholder 2">
            <a:extLst>
              <a:ext uri="{FF2B5EF4-FFF2-40B4-BE49-F238E27FC236}">
                <a16:creationId xmlns:a16="http://schemas.microsoft.com/office/drawing/2014/main" id="{86976F55-F1E0-3364-8C19-30E532D5ACD4}"/>
              </a:ext>
            </a:extLst>
          </p:cNvPr>
          <p:cNvSpPr>
            <a:spLocks noGrp="1"/>
          </p:cNvSpPr>
          <p:nvPr>
            <p:ph idx="1"/>
          </p:nvPr>
        </p:nvSpPr>
        <p:spPr/>
        <p:txBody>
          <a:bodyPr>
            <a:noAutofit/>
          </a:bodyPr>
          <a:lstStyle/>
          <a:p>
            <a:r>
              <a:rPr lang="en-US" dirty="0"/>
              <a:t>for each binary 1:1 relationship type </a:t>
            </a:r>
            <a:r>
              <a:rPr lang="en-US" i="1" dirty="0"/>
              <a:t>R </a:t>
            </a:r>
            <a:r>
              <a:rPr lang="en-US" dirty="0"/>
              <a:t>in the ER schema, identify the relations </a:t>
            </a:r>
            <a:r>
              <a:rPr lang="en-US" i="1" dirty="0"/>
              <a:t>S </a:t>
            </a:r>
            <a:r>
              <a:rPr lang="en-US" dirty="0"/>
              <a:t>and </a:t>
            </a:r>
            <a:r>
              <a:rPr lang="en-US" i="1" dirty="0"/>
              <a:t>T </a:t>
            </a:r>
            <a:r>
              <a:rPr lang="en-US" dirty="0"/>
              <a:t>that correspond to the entity types participating in </a:t>
            </a:r>
            <a:r>
              <a:rPr lang="en-US" i="1" dirty="0"/>
              <a:t>R</a:t>
            </a:r>
            <a:r>
              <a:rPr lang="en-US" dirty="0"/>
              <a:t> </a:t>
            </a:r>
          </a:p>
          <a:p>
            <a:r>
              <a:rPr lang="en-US" dirty="0"/>
              <a:t>there are three possible approaches: </a:t>
            </a:r>
          </a:p>
          <a:p>
            <a:pPr marL="514350" indent="-514350">
              <a:buFont typeface="+mj-lt"/>
              <a:buAutoNum type="arabicPeriod"/>
            </a:pPr>
            <a:r>
              <a:rPr lang="en-US" dirty="0"/>
              <a:t>foreign key approach</a:t>
            </a:r>
          </a:p>
          <a:p>
            <a:pPr marL="514350" indent="-514350">
              <a:buFont typeface="+mj-lt"/>
              <a:buAutoNum type="arabicPeriod"/>
            </a:pPr>
            <a:r>
              <a:rPr lang="en-US" dirty="0"/>
              <a:t>merged relationship approach</a:t>
            </a:r>
          </a:p>
          <a:p>
            <a:pPr marL="514350" indent="-514350">
              <a:buFont typeface="+mj-lt"/>
              <a:buAutoNum type="arabicPeriod"/>
            </a:pPr>
            <a:r>
              <a:rPr lang="en-US" dirty="0"/>
              <a:t>cross-reference or relationship relation approach</a:t>
            </a:r>
          </a:p>
          <a:p>
            <a:r>
              <a:rPr lang="en-US" dirty="0"/>
              <a:t>the first approach is the most useful and should be followed unless special conditions exist</a:t>
            </a:r>
          </a:p>
        </p:txBody>
      </p:sp>
      <p:sp>
        <p:nvSpPr>
          <p:cNvPr id="4" name="Slide Number Placeholder 3">
            <a:extLst>
              <a:ext uri="{FF2B5EF4-FFF2-40B4-BE49-F238E27FC236}">
                <a16:creationId xmlns:a16="http://schemas.microsoft.com/office/drawing/2014/main" id="{DBE4666A-4D22-CD35-B90E-0C3685C4B7B0}"/>
              </a:ext>
            </a:extLst>
          </p:cNvPr>
          <p:cNvSpPr>
            <a:spLocks noGrp="1"/>
          </p:cNvSpPr>
          <p:nvPr>
            <p:ph type="sldNum" sz="quarter" idx="12"/>
          </p:nvPr>
        </p:nvSpPr>
        <p:spPr/>
        <p:txBody>
          <a:bodyPr/>
          <a:lstStyle/>
          <a:p>
            <a:fld id="{6264BDCF-5269-49AC-A246-ED26C2B980E3}" type="slidenum">
              <a:rPr lang="en-US" smtClean="0"/>
              <a:t>14</a:t>
            </a:fld>
            <a:endParaRPr lang="en-US"/>
          </a:p>
        </p:txBody>
      </p:sp>
    </p:spTree>
    <p:extLst>
      <p:ext uri="{BB962C8B-B14F-4D97-AF65-F5344CB8AC3E}">
        <p14:creationId xmlns:p14="http://schemas.microsoft.com/office/powerpoint/2010/main" val="2235845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C6C01-2204-EC68-D05F-C6EBAD7D0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CEAF2-60BA-4A6A-A650-3CF8FF74814C}"/>
              </a:ext>
            </a:extLst>
          </p:cNvPr>
          <p:cNvSpPr>
            <a:spLocks noGrp="1"/>
          </p:cNvSpPr>
          <p:nvPr>
            <p:ph type="title"/>
          </p:nvPr>
        </p:nvSpPr>
        <p:spPr>
          <a:xfrm>
            <a:off x="838199" y="365125"/>
            <a:ext cx="11245645" cy="1325563"/>
          </a:xfrm>
        </p:spPr>
        <p:txBody>
          <a:bodyPr/>
          <a:lstStyle/>
          <a:p>
            <a:r>
              <a:rPr lang="en-US" dirty="0"/>
              <a:t>Step 3: Mapping of Binary 1:1 Relationship Types</a:t>
            </a:r>
            <a:br>
              <a:rPr lang="en-US" dirty="0"/>
            </a:br>
            <a:r>
              <a:rPr lang="en-US" dirty="0"/>
              <a:t>1. Foreign key approach</a:t>
            </a:r>
          </a:p>
        </p:txBody>
      </p:sp>
      <p:sp>
        <p:nvSpPr>
          <p:cNvPr id="3" name="Content Placeholder 2">
            <a:extLst>
              <a:ext uri="{FF2B5EF4-FFF2-40B4-BE49-F238E27FC236}">
                <a16:creationId xmlns:a16="http://schemas.microsoft.com/office/drawing/2014/main" id="{48E6E8BF-9D61-28E7-E04E-7CD7CF0A884F}"/>
              </a:ext>
            </a:extLst>
          </p:cNvPr>
          <p:cNvSpPr>
            <a:spLocks noGrp="1"/>
          </p:cNvSpPr>
          <p:nvPr>
            <p:ph idx="1"/>
          </p:nvPr>
        </p:nvSpPr>
        <p:spPr/>
        <p:txBody>
          <a:bodyPr>
            <a:noAutofit/>
          </a:bodyPr>
          <a:lstStyle/>
          <a:p>
            <a:r>
              <a:rPr lang="en-US" dirty="0"/>
              <a:t>choose one of the relations - </a:t>
            </a:r>
            <a:r>
              <a:rPr lang="en-US" i="1" dirty="0"/>
              <a:t>S</a:t>
            </a:r>
            <a:r>
              <a:rPr lang="en-US" dirty="0"/>
              <a:t>, say - and include as a foreign key in </a:t>
            </a:r>
            <a:r>
              <a:rPr lang="en-US" i="1" dirty="0"/>
              <a:t>S </a:t>
            </a:r>
            <a:r>
              <a:rPr lang="en-US" dirty="0"/>
              <a:t>the primary key of </a:t>
            </a:r>
            <a:r>
              <a:rPr lang="en-US" i="1" dirty="0"/>
              <a:t>T</a:t>
            </a:r>
          </a:p>
          <a:p>
            <a:r>
              <a:rPr lang="en-US" dirty="0"/>
              <a:t>better to choose an entity type with </a:t>
            </a:r>
            <a:r>
              <a:rPr lang="en-US" i="1" dirty="0"/>
              <a:t>total participation </a:t>
            </a:r>
            <a:r>
              <a:rPr lang="en-US" dirty="0"/>
              <a:t>in </a:t>
            </a:r>
            <a:r>
              <a:rPr lang="en-US" i="1" dirty="0"/>
              <a:t>R </a:t>
            </a:r>
            <a:r>
              <a:rPr lang="en-US" dirty="0"/>
              <a:t>in the role of </a:t>
            </a:r>
            <a:r>
              <a:rPr lang="en-US" i="1" dirty="0"/>
              <a:t>S</a:t>
            </a:r>
            <a:r>
              <a:rPr lang="en-US" dirty="0"/>
              <a:t> </a:t>
            </a:r>
          </a:p>
          <a:p>
            <a:r>
              <a:rPr lang="en-US" dirty="0"/>
              <a:t>include all simple attributes (or simple components of composite attributes) of the 1:1 relationship type </a:t>
            </a:r>
            <a:r>
              <a:rPr lang="en-US" i="1" dirty="0"/>
              <a:t>R </a:t>
            </a:r>
            <a:r>
              <a:rPr lang="en-US" dirty="0"/>
              <a:t>as attributes of </a:t>
            </a:r>
            <a:r>
              <a:rPr lang="en-US" i="1" dirty="0"/>
              <a:t>S</a:t>
            </a:r>
            <a:endParaRPr lang="en-US" dirty="0"/>
          </a:p>
          <a:p>
            <a:r>
              <a:rPr lang="en-US" dirty="0"/>
              <a:t>note that it is possible to include the primary key of </a:t>
            </a:r>
            <a:r>
              <a:rPr lang="en-US" i="1" dirty="0"/>
              <a:t>S </a:t>
            </a:r>
            <a:r>
              <a:rPr lang="en-US" dirty="0"/>
              <a:t>as a foreign key in </a:t>
            </a:r>
            <a:r>
              <a:rPr lang="en-US" i="1" dirty="0"/>
              <a:t>T </a:t>
            </a:r>
            <a:r>
              <a:rPr lang="en-US" dirty="0"/>
              <a:t>instead</a:t>
            </a:r>
          </a:p>
        </p:txBody>
      </p:sp>
      <p:sp>
        <p:nvSpPr>
          <p:cNvPr id="4" name="Slide Number Placeholder 3">
            <a:extLst>
              <a:ext uri="{FF2B5EF4-FFF2-40B4-BE49-F238E27FC236}">
                <a16:creationId xmlns:a16="http://schemas.microsoft.com/office/drawing/2014/main" id="{F0F51210-9AAE-0D23-668D-8C92F44DD270}"/>
              </a:ext>
            </a:extLst>
          </p:cNvPr>
          <p:cNvSpPr>
            <a:spLocks noGrp="1"/>
          </p:cNvSpPr>
          <p:nvPr>
            <p:ph type="sldNum" sz="quarter" idx="12"/>
          </p:nvPr>
        </p:nvSpPr>
        <p:spPr/>
        <p:txBody>
          <a:bodyPr/>
          <a:lstStyle/>
          <a:p>
            <a:fld id="{6264BDCF-5269-49AC-A246-ED26C2B980E3}" type="slidenum">
              <a:rPr lang="en-US" smtClean="0"/>
              <a:t>15</a:t>
            </a:fld>
            <a:endParaRPr lang="en-US"/>
          </a:p>
        </p:txBody>
      </p:sp>
    </p:spTree>
    <p:extLst>
      <p:ext uri="{BB962C8B-B14F-4D97-AF65-F5344CB8AC3E}">
        <p14:creationId xmlns:p14="http://schemas.microsoft.com/office/powerpoint/2010/main" val="2399439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D8EBF-BCBF-AD4E-DC81-EE7F79F60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3840F5-6919-44BA-C4AE-00CD7C466907}"/>
              </a:ext>
            </a:extLst>
          </p:cNvPr>
          <p:cNvSpPr>
            <a:spLocks noGrp="1"/>
          </p:cNvSpPr>
          <p:nvPr>
            <p:ph type="title"/>
          </p:nvPr>
        </p:nvSpPr>
        <p:spPr>
          <a:xfrm>
            <a:off x="838199" y="365125"/>
            <a:ext cx="11245645" cy="1325563"/>
          </a:xfrm>
        </p:spPr>
        <p:txBody>
          <a:bodyPr/>
          <a:lstStyle/>
          <a:p>
            <a:r>
              <a:rPr lang="en-US" dirty="0"/>
              <a:t>Step 3: Mapping of Binary 1:1 Relationship Types</a:t>
            </a:r>
            <a:br>
              <a:rPr lang="en-US" dirty="0"/>
            </a:br>
            <a:r>
              <a:rPr lang="en-US" dirty="0"/>
              <a:t>2. Merged relation approach</a:t>
            </a:r>
          </a:p>
        </p:txBody>
      </p:sp>
      <p:sp>
        <p:nvSpPr>
          <p:cNvPr id="3" name="Content Placeholder 2">
            <a:extLst>
              <a:ext uri="{FF2B5EF4-FFF2-40B4-BE49-F238E27FC236}">
                <a16:creationId xmlns:a16="http://schemas.microsoft.com/office/drawing/2014/main" id="{078C1905-DD05-59AC-64D6-5E993330BE9D}"/>
              </a:ext>
            </a:extLst>
          </p:cNvPr>
          <p:cNvSpPr>
            <a:spLocks noGrp="1"/>
          </p:cNvSpPr>
          <p:nvPr>
            <p:ph idx="1"/>
          </p:nvPr>
        </p:nvSpPr>
        <p:spPr/>
        <p:txBody>
          <a:bodyPr>
            <a:noAutofit/>
          </a:bodyPr>
          <a:lstStyle/>
          <a:p>
            <a:r>
              <a:rPr lang="en-US" dirty="0"/>
              <a:t>alternative mapping of a 1:1 relationship type is to merge the two entity types and the relationship into a single relation</a:t>
            </a:r>
          </a:p>
          <a:p>
            <a:r>
              <a:rPr lang="en-US" dirty="0"/>
              <a:t>possible when </a:t>
            </a:r>
            <a:r>
              <a:rPr lang="en-US" i="1" dirty="0"/>
              <a:t>both participations are total, </a:t>
            </a:r>
            <a:r>
              <a:rPr lang="en-US" dirty="0"/>
              <a:t>as this would indicate that the two tables will have the exact same number of tuples at all times</a:t>
            </a:r>
          </a:p>
        </p:txBody>
      </p:sp>
      <p:sp>
        <p:nvSpPr>
          <p:cNvPr id="4" name="Slide Number Placeholder 3">
            <a:extLst>
              <a:ext uri="{FF2B5EF4-FFF2-40B4-BE49-F238E27FC236}">
                <a16:creationId xmlns:a16="http://schemas.microsoft.com/office/drawing/2014/main" id="{4D812049-8343-F7AB-4183-1DA1568A3C33}"/>
              </a:ext>
            </a:extLst>
          </p:cNvPr>
          <p:cNvSpPr>
            <a:spLocks noGrp="1"/>
          </p:cNvSpPr>
          <p:nvPr>
            <p:ph type="sldNum" sz="quarter" idx="12"/>
          </p:nvPr>
        </p:nvSpPr>
        <p:spPr/>
        <p:txBody>
          <a:bodyPr/>
          <a:lstStyle/>
          <a:p>
            <a:fld id="{6264BDCF-5269-49AC-A246-ED26C2B980E3}" type="slidenum">
              <a:rPr lang="en-US" smtClean="0"/>
              <a:t>16</a:t>
            </a:fld>
            <a:endParaRPr lang="en-US"/>
          </a:p>
        </p:txBody>
      </p:sp>
    </p:spTree>
    <p:extLst>
      <p:ext uri="{BB962C8B-B14F-4D97-AF65-F5344CB8AC3E}">
        <p14:creationId xmlns:p14="http://schemas.microsoft.com/office/powerpoint/2010/main" val="1420984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B36E-619C-3001-5BF8-3236C38B5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8EC68-86A0-C73E-FF60-2B08B9624271}"/>
              </a:ext>
            </a:extLst>
          </p:cNvPr>
          <p:cNvSpPr>
            <a:spLocks noGrp="1"/>
          </p:cNvSpPr>
          <p:nvPr>
            <p:ph type="title"/>
          </p:nvPr>
        </p:nvSpPr>
        <p:spPr>
          <a:xfrm>
            <a:off x="838199" y="365125"/>
            <a:ext cx="11245645" cy="1325563"/>
          </a:xfrm>
        </p:spPr>
        <p:txBody>
          <a:bodyPr>
            <a:normAutofit fontScale="90000"/>
          </a:bodyPr>
          <a:lstStyle/>
          <a:p>
            <a:r>
              <a:rPr lang="en-US" dirty="0"/>
              <a:t>Step 3: Mapping of Binary 1:1 Relationship Types</a:t>
            </a:r>
            <a:br>
              <a:rPr lang="en-US" dirty="0"/>
            </a:br>
            <a:r>
              <a:rPr lang="en-US" dirty="0"/>
              <a:t>3. Cross-reference or relationship relation approach</a:t>
            </a:r>
          </a:p>
        </p:txBody>
      </p:sp>
      <p:sp>
        <p:nvSpPr>
          <p:cNvPr id="3" name="Content Placeholder 2">
            <a:extLst>
              <a:ext uri="{FF2B5EF4-FFF2-40B4-BE49-F238E27FC236}">
                <a16:creationId xmlns:a16="http://schemas.microsoft.com/office/drawing/2014/main" id="{3302E47B-745E-B852-19D1-2B7D20FAFA07}"/>
              </a:ext>
            </a:extLst>
          </p:cNvPr>
          <p:cNvSpPr>
            <a:spLocks noGrp="1"/>
          </p:cNvSpPr>
          <p:nvPr>
            <p:ph idx="1"/>
          </p:nvPr>
        </p:nvSpPr>
        <p:spPr/>
        <p:txBody>
          <a:bodyPr>
            <a:noAutofit/>
          </a:bodyPr>
          <a:lstStyle/>
          <a:p>
            <a:r>
              <a:rPr lang="en-US" dirty="0"/>
              <a:t>the third option is to set up a third relation </a:t>
            </a:r>
            <a:r>
              <a:rPr lang="en-US" i="1" dirty="0"/>
              <a:t>R </a:t>
            </a:r>
            <a:r>
              <a:rPr lang="en-US" dirty="0"/>
              <a:t>for the purpose of cross-referencing the primary keys of the two relations </a:t>
            </a:r>
            <a:r>
              <a:rPr lang="en-US" i="1" dirty="0"/>
              <a:t>S </a:t>
            </a:r>
            <a:r>
              <a:rPr lang="en-US" dirty="0"/>
              <a:t>and </a:t>
            </a:r>
            <a:r>
              <a:rPr lang="en-US" i="1" dirty="0"/>
              <a:t>T </a:t>
            </a:r>
            <a:r>
              <a:rPr lang="en-US" dirty="0"/>
              <a:t>representing the entity types</a:t>
            </a:r>
          </a:p>
          <a:p>
            <a:r>
              <a:rPr lang="en-US" dirty="0"/>
              <a:t>this approach is required for binary M:N relationships</a:t>
            </a:r>
          </a:p>
          <a:p>
            <a:r>
              <a:rPr lang="en-US" dirty="0"/>
              <a:t>relation </a:t>
            </a:r>
            <a:r>
              <a:rPr lang="en-US" i="1" dirty="0"/>
              <a:t>R </a:t>
            </a:r>
            <a:r>
              <a:rPr lang="en-US" dirty="0"/>
              <a:t>is called a </a:t>
            </a:r>
            <a:r>
              <a:rPr lang="en-US" i="1" dirty="0"/>
              <a:t>relationship relation</a:t>
            </a:r>
            <a:r>
              <a:rPr lang="en-US" b="1" dirty="0"/>
              <a:t> </a:t>
            </a:r>
            <a:r>
              <a:rPr lang="en-US" dirty="0"/>
              <a:t>(or sometimes a </a:t>
            </a:r>
            <a:r>
              <a:rPr lang="en-US" i="1" dirty="0"/>
              <a:t>lookup table</a:t>
            </a:r>
            <a:r>
              <a:rPr lang="en-US" dirty="0"/>
              <a:t>), because each tuple in </a:t>
            </a:r>
            <a:r>
              <a:rPr lang="en-US" i="1" dirty="0"/>
              <a:t>R </a:t>
            </a:r>
            <a:r>
              <a:rPr lang="en-US" dirty="0"/>
              <a:t>represents a relationship instance that relates one tuple from </a:t>
            </a:r>
            <a:r>
              <a:rPr lang="en-US" i="1" dirty="0"/>
              <a:t>S </a:t>
            </a:r>
            <a:r>
              <a:rPr lang="en-US" dirty="0"/>
              <a:t>with one tuple from </a:t>
            </a:r>
            <a:r>
              <a:rPr lang="en-US" i="1" dirty="0"/>
              <a:t>T</a:t>
            </a:r>
          </a:p>
          <a:p>
            <a:r>
              <a:rPr lang="en-US" dirty="0"/>
              <a:t>the relation </a:t>
            </a:r>
            <a:r>
              <a:rPr lang="en-US" i="1" dirty="0"/>
              <a:t>R </a:t>
            </a:r>
            <a:r>
              <a:rPr lang="en-US" dirty="0"/>
              <a:t>will include the primary key attributes of </a:t>
            </a:r>
            <a:r>
              <a:rPr lang="en-US" i="1" dirty="0"/>
              <a:t>S </a:t>
            </a:r>
            <a:r>
              <a:rPr lang="en-US" dirty="0"/>
              <a:t>and </a:t>
            </a:r>
            <a:r>
              <a:rPr lang="en-US" i="1" dirty="0"/>
              <a:t>T </a:t>
            </a:r>
            <a:r>
              <a:rPr lang="en-US" dirty="0"/>
              <a:t>as foreign keys to </a:t>
            </a:r>
            <a:r>
              <a:rPr lang="en-US" i="1" dirty="0"/>
              <a:t>S </a:t>
            </a:r>
            <a:r>
              <a:rPr lang="en-US" dirty="0"/>
              <a:t>and </a:t>
            </a:r>
            <a:r>
              <a:rPr lang="en-US" i="1" dirty="0"/>
              <a:t>T</a:t>
            </a:r>
          </a:p>
          <a:p>
            <a:r>
              <a:rPr lang="en-US" dirty="0"/>
              <a:t>primary key of </a:t>
            </a:r>
            <a:r>
              <a:rPr lang="en-US" i="1" dirty="0"/>
              <a:t>R </a:t>
            </a:r>
            <a:r>
              <a:rPr lang="en-US" dirty="0"/>
              <a:t>will be one of the two foreign keys, and the other foreign key will be a unique key of </a:t>
            </a:r>
            <a:r>
              <a:rPr lang="en-US" i="1" dirty="0"/>
              <a:t>R</a:t>
            </a:r>
          </a:p>
        </p:txBody>
      </p:sp>
      <p:sp>
        <p:nvSpPr>
          <p:cNvPr id="4" name="Slide Number Placeholder 3">
            <a:extLst>
              <a:ext uri="{FF2B5EF4-FFF2-40B4-BE49-F238E27FC236}">
                <a16:creationId xmlns:a16="http://schemas.microsoft.com/office/drawing/2014/main" id="{7E5C94EE-91AB-FF44-D245-586E19CFE04C}"/>
              </a:ext>
            </a:extLst>
          </p:cNvPr>
          <p:cNvSpPr>
            <a:spLocks noGrp="1"/>
          </p:cNvSpPr>
          <p:nvPr>
            <p:ph type="sldNum" sz="quarter" idx="12"/>
          </p:nvPr>
        </p:nvSpPr>
        <p:spPr/>
        <p:txBody>
          <a:bodyPr/>
          <a:lstStyle/>
          <a:p>
            <a:fld id="{6264BDCF-5269-49AC-A246-ED26C2B980E3}" type="slidenum">
              <a:rPr lang="en-US" smtClean="0"/>
              <a:t>17</a:t>
            </a:fld>
            <a:endParaRPr lang="en-US"/>
          </a:p>
        </p:txBody>
      </p:sp>
    </p:spTree>
    <p:extLst>
      <p:ext uri="{BB962C8B-B14F-4D97-AF65-F5344CB8AC3E}">
        <p14:creationId xmlns:p14="http://schemas.microsoft.com/office/powerpoint/2010/main" val="1620808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8FECF-BD9B-C248-BB02-50A76B23F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85999-F15D-0DB6-3029-C4D9ED03A862}"/>
              </a:ext>
            </a:extLst>
          </p:cNvPr>
          <p:cNvSpPr>
            <a:spLocks noGrp="1"/>
          </p:cNvSpPr>
          <p:nvPr>
            <p:ph type="title"/>
          </p:nvPr>
        </p:nvSpPr>
        <p:spPr>
          <a:xfrm>
            <a:off x="838199" y="365125"/>
            <a:ext cx="11245645" cy="1325563"/>
          </a:xfrm>
        </p:spPr>
        <p:txBody>
          <a:bodyPr>
            <a:normAutofit fontScale="90000"/>
          </a:bodyPr>
          <a:lstStyle/>
          <a:p>
            <a:r>
              <a:rPr lang="en-US" dirty="0"/>
              <a:t>Step 3: Mapping of Binary 1:1 Relationship Types</a:t>
            </a:r>
            <a:br>
              <a:rPr lang="en-US" dirty="0"/>
            </a:br>
            <a:r>
              <a:rPr lang="en-US" dirty="0"/>
              <a:t>3. Cross-reference or relationship relation approach</a:t>
            </a:r>
          </a:p>
        </p:txBody>
      </p:sp>
      <p:sp>
        <p:nvSpPr>
          <p:cNvPr id="3" name="Content Placeholder 2">
            <a:extLst>
              <a:ext uri="{FF2B5EF4-FFF2-40B4-BE49-F238E27FC236}">
                <a16:creationId xmlns:a16="http://schemas.microsoft.com/office/drawing/2014/main" id="{512E23CC-C095-150C-4563-14494BBE15C9}"/>
              </a:ext>
            </a:extLst>
          </p:cNvPr>
          <p:cNvSpPr>
            <a:spLocks noGrp="1"/>
          </p:cNvSpPr>
          <p:nvPr>
            <p:ph idx="1"/>
          </p:nvPr>
        </p:nvSpPr>
        <p:spPr/>
        <p:txBody>
          <a:bodyPr>
            <a:noAutofit/>
          </a:bodyPr>
          <a:lstStyle/>
          <a:p>
            <a:endParaRPr lang="en-US" dirty="0"/>
          </a:p>
          <a:p>
            <a:r>
              <a:rPr lang="en-US" dirty="0"/>
              <a:t>drawback is having an extra relation, and requiring extra join operations when combining related tuples from the tables</a:t>
            </a:r>
          </a:p>
        </p:txBody>
      </p:sp>
      <p:sp>
        <p:nvSpPr>
          <p:cNvPr id="4" name="Slide Number Placeholder 3">
            <a:extLst>
              <a:ext uri="{FF2B5EF4-FFF2-40B4-BE49-F238E27FC236}">
                <a16:creationId xmlns:a16="http://schemas.microsoft.com/office/drawing/2014/main" id="{2BB5F50C-140E-2C99-66A8-A64E25D46486}"/>
              </a:ext>
            </a:extLst>
          </p:cNvPr>
          <p:cNvSpPr>
            <a:spLocks noGrp="1"/>
          </p:cNvSpPr>
          <p:nvPr>
            <p:ph type="sldNum" sz="quarter" idx="12"/>
          </p:nvPr>
        </p:nvSpPr>
        <p:spPr/>
        <p:txBody>
          <a:bodyPr/>
          <a:lstStyle/>
          <a:p>
            <a:fld id="{6264BDCF-5269-49AC-A246-ED26C2B980E3}" type="slidenum">
              <a:rPr lang="en-US" smtClean="0"/>
              <a:t>18</a:t>
            </a:fld>
            <a:endParaRPr lang="en-US"/>
          </a:p>
        </p:txBody>
      </p:sp>
    </p:spTree>
    <p:extLst>
      <p:ext uri="{BB962C8B-B14F-4D97-AF65-F5344CB8AC3E}">
        <p14:creationId xmlns:p14="http://schemas.microsoft.com/office/powerpoint/2010/main" val="2451184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368BD-3E8D-C5CC-BF37-B3BA98502F9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CA47481-A868-E2C8-F094-229AB0E49F4E}"/>
              </a:ext>
            </a:extLst>
          </p:cNvPr>
          <p:cNvSpPr>
            <a:spLocks noGrp="1"/>
          </p:cNvSpPr>
          <p:nvPr>
            <p:ph idx="1"/>
          </p:nvPr>
        </p:nvSpPr>
        <p:spPr/>
        <p:txBody>
          <a:bodyPr>
            <a:noAutofit/>
          </a:bodyPr>
          <a:lstStyle/>
          <a:p>
            <a:r>
              <a:rPr lang="en-US" dirty="0"/>
              <a:t>map the 1:1 relationship type MANAGES by choosing participating entity type DEPARTMENT to serve in the role of </a:t>
            </a:r>
            <a:r>
              <a:rPr lang="en-US" i="1" dirty="0"/>
              <a:t>S </a:t>
            </a:r>
            <a:r>
              <a:rPr lang="en-US" dirty="0"/>
              <a:t>because its participation in the MANAGES relationship type is total (every department has a manager)</a:t>
            </a:r>
          </a:p>
          <a:p>
            <a:r>
              <a:rPr lang="en-US" dirty="0"/>
              <a:t>include primary key of EMPLOYEE relation as foreign key in DEPARTMENT relation and rename it to </a:t>
            </a:r>
            <a:r>
              <a:rPr lang="en-US" dirty="0" err="1"/>
              <a:t>Mgr_ssn</a:t>
            </a:r>
            <a:endParaRPr lang="en-US" dirty="0"/>
          </a:p>
          <a:p>
            <a:r>
              <a:rPr lang="en-US" dirty="0"/>
              <a:t>also include the simple attribute </a:t>
            </a:r>
            <a:r>
              <a:rPr lang="en-US" dirty="0" err="1"/>
              <a:t>Start_date</a:t>
            </a:r>
            <a:r>
              <a:rPr lang="en-US" dirty="0"/>
              <a:t> of MANAGES relationship type in DEPARTMENT relation and rename </a:t>
            </a:r>
            <a:r>
              <a:rPr lang="en-US" dirty="0" err="1"/>
              <a:t>Mgr_start_date</a:t>
            </a:r>
            <a:endParaRPr lang="en-US" dirty="0"/>
          </a:p>
        </p:txBody>
      </p:sp>
      <p:sp>
        <p:nvSpPr>
          <p:cNvPr id="4" name="Slide Number Placeholder 3">
            <a:extLst>
              <a:ext uri="{FF2B5EF4-FFF2-40B4-BE49-F238E27FC236}">
                <a16:creationId xmlns:a16="http://schemas.microsoft.com/office/drawing/2014/main" id="{118C7CC9-447E-A4E1-D973-A49C2F5D269C}"/>
              </a:ext>
            </a:extLst>
          </p:cNvPr>
          <p:cNvSpPr>
            <a:spLocks noGrp="1"/>
          </p:cNvSpPr>
          <p:nvPr>
            <p:ph type="sldNum" sz="quarter" idx="12"/>
          </p:nvPr>
        </p:nvSpPr>
        <p:spPr/>
        <p:txBody>
          <a:bodyPr/>
          <a:lstStyle/>
          <a:p>
            <a:fld id="{6264BDCF-5269-49AC-A246-ED26C2B980E3}" type="slidenum">
              <a:rPr lang="en-US" smtClean="0"/>
              <a:t>19</a:t>
            </a:fld>
            <a:endParaRPr lang="en-US"/>
          </a:p>
        </p:txBody>
      </p:sp>
    </p:spTree>
    <p:extLst>
      <p:ext uri="{BB962C8B-B14F-4D97-AF65-F5344CB8AC3E}">
        <p14:creationId xmlns:p14="http://schemas.microsoft.com/office/powerpoint/2010/main" val="1531669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C94C2-4969-EB2D-3014-EB729DDD1B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81BB1A-BCB1-2416-EF7B-4FC556B0C80A}"/>
              </a:ext>
            </a:extLst>
          </p:cNvPr>
          <p:cNvSpPr>
            <a:spLocks noGrp="1"/>
          </p:cNvSpPr>
          <p:nvPr>
            <p:ph idx="1"/>
          </p:nvPr>
        </p:nvSpPr>
        <p:spPr/>
        <p:txBody>
          <a:bodyPr>
            <a:normAutofit/>
          </a:bodyPr>
          <a:lstStyle/>
          <a:p>
            <a:r>
              <a:rPr lang="en-US" dirty="0"/>
              <a:t>amounts to having a foreign key attribute, say </a:t>
            </a:r>
            <a:r>
              <a:rPr lang="en-US" dirty="0" err="1"/>
              <a:t>Department_managed</a:t>
            </a:r>
            <a:r>
              <a:rPr lang="en-US" dirty="0"/>
              <a:t> in EMPLOYEE relation, but it will have a NULL value for employee tuples who do not manage a department - this would be a bad choice, because if only 2% of employees manage a department, then 98% of foreign keys would be NULL in this case</a:t>
            </a:r>
          </a:p>
          <a:p>
            <a:r>
              <a:rPr lang="en-US" dirty="0"/>
              <a:t>another possibility is to have foreign keys in both relations </a:t>
            </a:r>
            <a:r>
              <a:rPr lang="en-US" i="1" dirty="0"/>
              <a:t>S </a:t>
            </a:r>
            <a:r>
              <a:rPr lang="en-US" dirty="0"/>
              <a:t>and </a:t>
            </a:r>
            <a:r>
              <a:rPr lang="en-US" i="1" dirty="0"/>
              <a:t>T </a:t>
            </a:r>
            <a:r>
              <a:rPr lang="en-US" dirty="0"/>
              <a:t>redundantly, but this creates redundancy and incurs a penalty for consistency maintenance</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E542FC8-5206-9C65-877A-9BBA1FF6972A}"/>
              </a:ext>
            </a:extLst>
          </p:cNvPr>
          <p:cNvSpPr>
            <a:spLocks noGrp="1"/>
          </p:cNvSpPr>
          <p:nvPr>
            <p:ph type="sldNum" sz="quarter" idx="12"/>
          </p:nvPr>
        </p:nvSpPr>
        <p:spPr/>
        <p:txBody>
          <a:bodyPr/>
          <a:lstStyle/>
          <a:p>
            <a:fld id="{6264BDCF-5269-49AC-A246-ED26C2B980E3}" type="slidenum">
              <a:rPr lang="en-US" smtClean="0"/>
              <a:t>20</a:t>
            </a:fld>
            <a:endParaRPr lang="en-US"/>
          </a:p>
        </p:txBody>
      </p:sp>
    </p:spTree>
    <p:extLst>
      <p:ext uri="{BB962C8B-B14F-4D97-AF65-F5344CB8AC3E}">
        <p14:creationId xmlns:p14="http://schemas.microsoft.com/office/powerpoint/2010/main" val="1890629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79B68-81E5-16FF-6514-7DE6A25345EE}"/>
              </a:ext>
            </a:extLst>
          </p:cNvPr>
          <p:cNvSpPr>
            <a:spLocks noGrp="1"/>
          </p:cNvSpPr>
          <p:nvPr>
            <p:ph type="title"/>
          </p:nvPr>
        </p:nvSpPr>
        <p:spPr>
          <a:xfrm>
            <a:off x="838199" y="365125"/>
            <a:ext cx="11255477" cy="1325563"/>
          </a:xfrm>
        </p:spPr>
        <p:txBody>
          <a:bodyPr/>
          <a:lstStyle/>
          <a:p>
            <a:r>
              <a:rPr lang="en-US" dirty="0"/>
              <a:t>Step 4: Mapping of Binary 1:N Relationship Types</a:t>
            </a:r>
          </a:p>
        </p:txBody>
      </p:sp>
      <p:sp>
        <p:nvSpPr>
          <p:cNvPr id="3" name="Content Placeholder 2">
            <a:extLst>
              <a:ext uri="{FF2B5EF4-FFF2-40B4-BE49-F238E27FC236}">
                <a16:creationId xmlns:a16="http://schemas.microsoft.com/office/drawing/2014/main" id="{388FC088-7017-C381-3622-5862899BD340}"/>
              </a:ext>
            </a:extLst>
          </p:cNvPr>
          <p:cNvSpPr>
            <a:spLocks noGrp="1"/>
          </p:cNvSpPr>
          <p:nvPr>
            <p:ph idx="1"/>
          </p:nvPr>
        </p:nvSpPr>
        <p:spPr/>
        <p:txBody>
          <a:bodyPr>
            <a:noAutofit/>
          </a:bodyPr>
          <a:lstStyle/>
          <a:p>
            <a:r>
              <a:rPr lang="en-US" dirty="0"/>
              <a:t>there are two possible approaches: </a:t>
            </a:r>
          </a:p>
          <a:p>
            <a:pPr marL="514350" indent="-514350">
              <a:buFont typeface="+mj-lt"/>
              <a:buAutoNum type="arabicPeriod"/>
            </a:pPr>
            <a:r>
              <a:rPr lang="en-US" dirty="0"/>
              <a:t>foreign key approach</a:t>
            </a:r>
          </a:p>
          <a:p>
            <a:pPr marL="514350" indent="-514350">
              <a:buFont typeface="+mj-lt"/>
              <a:buAutoNum type="arabicPeriod"/>
            </a:pPr>
            <a:r>
              <a:rPr lang="en-US" dirty="0"/>
              <a:t>cross-reference or relationship relation approach</a:t>
            </a:r>
          </a:p>
          <a:p>
            <a:r>
              <a:rPr lang="en-US" dirty="0"/>
              <a:t>first approach is generally preferred as it reduces the number of tables</a:t>
            </a:r>
          </a:p>
        </p:txBody>
      </p:sp>
      <p:sp>
        <p:nvSpPr>
          <p:cNvPr id="4" name="Slide Number Placeholder 3">
            <a:extLst>
              <a:ext uri="{FF2B5EF4-FFF2-40B4-BE49-F238E27FC236}">
                <a16:creationId xmlns:a16="http://schemas.microsoft.com/office/drawing/2014/main" id="{35554F1C-8F4B-F47E-D9C4-327C5F43BDD0}"/>
              </a:ext>
            </a:extLst>
          </p:cNvPr>
          <p:cNvSpPr>
            <a:spLocks noGrp="1"/>
          </p:cNvSpPr>
          <p:nvPr>
            <p:ph type="sldNum" sz="quarter" idx="12"/>
          </p:nvPr>
        </p:nvSpPr>
        <p:spPr/>
        <p:txBody>
          <a:bodyPr/>
          <a:lstStyle/>
          <a:p>
            <a:fld id="{6264BDCF-5269-49AC-A246-ED26C2B980E3}" type="slidenum">
              <a:rPr lang="en-US" smtClean="0"/>
              <a:t>21</a:t>
            </a:fld>
            <a:endParaRPr lang="en-US"/>
          </a:p>
        </p:txBody>
      </p:sp>
    </p:spTree>
    <p:extLst>
      <p:ext uri="{BB962C8B-B14F-4D97-AF65-F5344CB8AC3E}">
        <p14:creationId xmlns:p14="http://schemas.microsoft.com/office/powerpoint/2010/main" val="3872627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D4D86-EB3B-02B7-3BAE-06857DF41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6DA28-32F4-24FE-A70E-44F74487A520}"/>
              </a:ext>
            </a:extLst>
          </p:cNvPr>
          <p:cNvSpPr>
            <a:spLocks noGrp="1"/>
          </p:cNvSpPr>
          <p:nvPr>
            <p:ph type="title"/>
          </p:nvPr>
        </p:nvSpPr>
        <p:spPr>
          <a:xfrm>
            <a:off x="838199" y="365125"/>
            <a:ext cx="11255477" cy="1325563"/>
          </a:xfrm>
        </p:spPr>
        <p:txBody>
          <a:bodyPr/>
          <a:lstStyle/>
          <a:p>
            <a:r>
              <a:rPr lang="en-US" dirty="0"/>
              <a:t>Step 4: Mapping of Binary 1:N Relationship Types</a:t>
            </a:r>
            <a:br>
              <a:rPr lang="en-US" dirty="0"/>
            </a:br>
            <a:r>
              <a:rPr lang="en-US" dirty="0"/>
              <a:t>1. The foreign key approach</a:t>
            </a:r>
          </a:p>
        </p:txBody>
      </p:sp>
      <p:sp>
        <p:nvSpPr>
          <p:cNvPr id="3" name="Content Placeholder 2">
            <a:extLst>
              <a:ext uri="{FF2B5EF4-FFF2-40B4-BE49-F238E27FC236}">
                <a16:creationId xmlns:a16="http://schemas.microsoft.com/office/drawing/2014/main" id="{F19D24B0-9F47-3F8B-C33D-DF58FAA45F98}"/>
              </a:ext>
            </a:extLst>
          </p:cNvPr>
          <p:cNvSpPr>
            <a:spLocks noGrp="1"/>
          </p:cNvSpPr>
          <p:nvPr>
            <p:ph idx="1"/>
          </p:nvPr>
        </p:nvSpPr>
        <p:spPr/>
        <p:txBody>
          <a:bodyPr>
            <a:noAutofit/>
          </a:bodyPr>
          <a:lstStyle/>
          <a:p>
            <a:r>
              <a:rPr lang="en-US" dirty="0"/>
              <a:t> for each regular binary 1:N relationship type </a:t>
            </a:r>
            <a:r>
              <a:rPr lang="en-US" i="1" dirty="0"/>
              <a:t>R</a:t>
            </a:r>
            <a:r>
              <a:rPr lang="en-US" dirty="0"/>
              <a:t>, identify relation </a:t>
            </a:r>
            <a:r>
              <a:rPr lang="en-US" i="1" dirty="0"/>
              <a:t>S </a:t>
            </a:r>
            <a:r>
              <a:rPr lang="en-US" dirty="0"/>
              <a:t>that represents the participating entity type at the </a:t>
            </a:r>
            <a:r>
              <a:rPr lang="en-US" i="1" dirty="0"/>
              <a:t>N-side </a:t>
            </a:r>
            <a:r>
              <a:rPr lang="en-US" dirty="0"/>
              <a:t>of the relationship type</a:t>
            </a:r>
          </a:p>
          <a:p>
            <a:r>
              <a:rPr lang="en-US" dirty="0"/>
              <a:t>include as foreign key in </a:t>
            </a:r>
            <a:r>
              <a:rPr lang="en-US" i="1" dirty="0"/>
              <a:t>S </a:t>
            </a:r>
            <a:r>
              <a:rPr lang="en-US" dirty="0"/>
              <a:t>the primary key of the relation </a:t>
            </a:r>
            <a:r>
              <a:rPr lang="en-US" i="1" dirty="0"/>
              <a:t>T </a:t>
            </a:r>
            <a:r>
              <a:rPr lang="en-US" dirty="0"/>
              <a:t>that represents the other entity type participating in </a:t>
            </a:r>
            <a:r>
              <a:rPr lang="en-US" i="1" dirty="0"/>
              <a:t>R</a:t>
            </a:r>
            <a:r>
              <a:rPr lang="en-US" dirty="0"/>
              <a:t>; because each entity instance on the N-side is related to at most one entity instance on the 1-side of the relationship type</a:t>
            </a:r>
          </a:p>
          <a:p>
            <a:r>
              <a:rPr lang="en-US" dirty="0"/>
              <a:t>include any simple attributes (or simple components of composite attributes) of the 1:N relationship type as attributes of </a:t>
            </a:r>
            <a:r>
              <a:rPr lang="en-US" i="1" dirty="0"/>
              <a:t>S</a:t>
            </a:r>
            <a:endParaRPr lang="en-US" dirty="0"/>
          </a:p>
        </p:txBody>
      </p:sp>
      <p:sp>
        <p:nvSpPr>
          <p:cNvPr id="4" name="Slide Number Placeholder 3">
            <a:extLst>
              <a:ext uri="{FF2B5EF4-FFF2-40B4-BE49-F238E27FC236}">
                <a16:creationId xmlns:a16="http://schemas.microsoft.com/office/drawing/2014/main" id="{F311ED21-863E-3CA3-BE0E-83D7A334625D}"/>
              </a:ext>
            </a:extLst>
          </p:cNvPr>
          <p:cNvSpPr>
            <a:spLocks noGrp="1"/>
          </p:cNvSpPr>
          <p:nvPr>
            <p:ph type="sldNum" sz="quarter" idx="12"/>
          </p:nvPr>
        </p:nvSpPr>
        <p:spPr/>
        <p:txBody>
          <a:bodyPr/>
          <a:lstStyle/>
          <a:p>
            <a:fld id="{6264BDCF-5269-49AC-A246-ED26C2B980E3}" type="slidenum">
              <a:rPr lang="en-US" smtClean="0"/>
              <a:t>22</a:t>
            </a:fld>
            <a:endParaRPr lang="en-US"/>
          </a:p>
        </p:txBody>
      </p:sp>
    </p:spTree>
    <p:extLst>
      <p:ext uri="{BB962C8B-B14F-4D97-AF65-F5344CB8AC3E}">
        <p14:creationId xmlns:p14="http://schemas.microsoft.com/office/powerpoint/2010/main" val="374635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55BE9-995B-E50A-06F8-24EDF2617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39728-7474-CDFE-30FA-092EF6966FCC}"/>
              </a:ext>
            </a:extLst>
          </p:cNvPr>
          <p:cNvSpPr>
            <a:spLocks noGrp="1"/>
          </p:cNvSpPr>
          <p:nvPr>
            <p:ph type="title"/>
          </p:nvPr>
        </p:nvSpPr>
        <p:spPr>
          <a:xfrm>
            <a:off x="838199" y="365125"/>
            <a:ext cx="11255477" cy="1325563"/>
          </a:xfrm>
        </p:spPr>
        <p:txBody>
          <a:bodyPr/>
          <a:lstStyle/>
          <a:p>
            <a:r>
              <a:rPr lang="en-US" dirty="0"/>
              <a:t>Step 4: Mapping of Binary 1:N Relationship Types</a:t>
            </a:r>
            <a:br>
              <a:rPr lang="en-US" dirty="0"/>
            </a:br>
            <a:r>
              <a:rPr lang="en-US" dirty="0"/>
              <a:t>2. The relationship relation approach</a:t>
            </a:r>
          </a:p>
        </p:txBody>
      </p:sp>
      <p:sp>
        <p:nvSpPr>
          <p:cNvPr id="3" name="Content Placeholder 2">
            <a:extLst>
              <a:ext uri="{FF2B5EF4-FFF2-40B4-BE49-F238E27FC236}">
                <a16:creationId xmlns:a16="http://schemas.microsoft.com/office/drawing/2014/main" id="{27BDA008-BCD2-4D06-E273-774A23D4DD3D}"/>
              </a:ext>
            </a:extLst>
          </p:cNvPr>
          <p:cNvSpPr>
            <a:spLocks noGrp="1"/>
          </p:cNvSpPr>
          <p:nvPr>
            <p:ph idx="1"/>
          </p:nvPr>
        </p:nvSpPr>
        <p:spPr/>
        <p:txBody>
          <a:bodyPr>
            <a:noAutofit/>
          </a:bodyPr>
          <a:lstStyle/>
          <a:p>
            <a:r>
              <a:rPr lang="en-US" dirty="0"/>
              <a:t>alternative approach is to use the </a:t>
            </a:r>
            <a:r>
              <a:rPr lang="en-US" i="1" dirty="0"/>
              <a:t>relationship relation</a:t>
            </a:r>
            <a:r>
              <a:rPr lang="en-US" b="1" dirty="0"/>
              <a:t> </a:t>
            </a:r>
            <a:r>
              <a:rPr lang="en-US" dirty="0"/>
              <a:t>(cross-reference) option as in the third option for binary 1:1 relationships</a:t>
            </a:r>
          </a:p>
          <a:p>
            <a:r>
              <a:rPr lang="en-US" dirty="0"/>
              <a:t>create a separate relation </a:t>
            </a:r>
            <a:r>
              <a:rPr lang="en-US" i="1" dirty="0"/>
              <a:t>R </a:t>
            </a:r>
            <a:r>
              <a:rPr lang="en-US" dirty="0"/>
              <a:t>whose attributes are the primary keys of </a:t>
            </a:r>
            <a:r>
              <a:rPr lang="en-US" i="1" dirty="0"/>
              <a:t>S </a:t>
            </a:r>
            <a:r>
              <a:rPr lang="en-US" dirty="0"/>
              <a:t>and </a:t>
            </a:r>
            <a:r>
              <a:rPr lang="en-US" i="1" dirty="0"/>
              <a:t>T</a:t>
            </a:r>
            <a:r>
              <a:rPr lang="en-US" dirty="0"/>
              <a:t>, which will also be foreign keys to </a:t>
            </a:r>
            <a:r>
              <a:rPr lang="en-US" i="1" dirty="0"/>
              <a:t>S </a:t>
            </a:r>
            <a:r>
              <a:rPr lang="en-US" dirty="0"/>
              <a:t>and </a:t>
            </a:r>
            <a:r>
              <a:rPr lang="en-US" i="1" dirty="0"/>
              <a:t>T</a:t>
            </a:r>
          </a:p>
          <a:p>
            <a:r>
              <a:rPr lang="en-US" dirty="0"/>
              <a:t>primary key of </a:t>
            </a:r>
            <a:r>
              <a:rPr lang="en-US" i="1" dirty="0"/>
              <a:t>R </a:t>
            </a:r>
            <a:r>
              <a:rPr lang="en-US" dirty="0"/>
              <a:t>is the same as the primary key of </a:t>
            </a:r>
            <a:r>
              <a:rPr lang="en-US" i="1" dirty="0"/>
              <a:t>S</a:t>
            </a:r>
          </a:p>
          <a:p>
            <a:r>
              <a:rPr lang="en-US" dirty="0"/>
              <a:t>option can be used if few tuples in </a:t>
            </a:r>
            <a:r>
              <a:rPr lang="en-US" i="1" dirty="0"/>
              <a:t>S </a:t>
            </a:r>
            <a:r>
              <a:rPr lang="en-US" dirty="0"/>
              <a:t>participate in relationship to avoid excessive NULL values in foreign key</a:t>
            </a:r>
          </a:p>
        </p:txBody>
      </p:sp>
      <p:sp>
        <p:nvSpPr>
          <p:cNvPr id="4" name="Slide Number Placeholder 3">
            <a:extLst>
              <a:ext uri="{FF2B5EF4-FFF2-40B4-BE49-F238E27FC236}">
                <a16:creationId xmlns:a16="http://schemas.microsoft.com/office/drawing/2014/main" id="{FBF0EC33-796E-3BF0-BF08-286E81094E7E}"/>
              </a:ext>
            </a:extLst>
          </p:cNvPr>
          <p:cNvSpPr>
            <a:spLocks noGrp="1"/>
          </p:cNvSpPr>
          <p:nvPr>
            <p:ph type="sldNum" sz="quarter" idx="12"/>
          </p:nvPr>
        </p:nvSpPr>
        <p:spPr/>
        <p:txBody>
          <a:bodyPr/>
          <a:lstStyle/>
          <a:p>
            <a:fld id="{6264BDCF-5269-49AC-A246-ED26C2B980E3}" type="slidenum">
              <a:rPr lang="en-US" smtClean="0"/>
              <a:t>23</a:t>
            </a:fld>
            <a:endParaRPr lang="en-US"/>
          </a:p>
        </p:txBody>
      </p:sp>
    </p:spTree>
    <p:extLst>
      <p:ext uri="{BB962C8B-B14F-4D97-AF65-F5344CB8AC3E}">
        <p14:creationId xmlns:p14="http://schemas.microsoft.com/office/powerpoint/2010/main" val="1117004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F6260-C911-9B6B-C6B0-23EC2839C8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48382A-55A5-01B9-C0E0-A51B66952B3A}"/>
              </a:ext>
            </a:extLst>
          </p:cNvPr>
          <p:cNvSpPr>
            <a:spLocks noGrp="1"/>
          </p:cNvSpPr>
          <p:nvPr>
            <p:ph idx="1"/>
          </p:nvPr>
        </p:nvSpPr>
        <p:spPr/>
        <p:txBody>
          <a:bodyPr>
            <a:noAutofit/>
          </a:bodyPr>
          <a:lstStyle/>
          <a:p>
            <a:r>
              <a:rPr lang="en-US" dirty="0"/>
              <a:t>map the 1:N relationship types WORKS_FOR, CONTROLS, and SUPERVISION </a:t>
            </a:r>
          </a:p>
          <a:p>
            <a:r>
              <a:rPr lang="en-US" dirty="0"/>
              <a:t>for WORKS_FOR include primary key </a:t>
            </a:r>
            <a:r>
              <a:rPr lang="en-US" dirty="0" err="1"/>
              <a:t>Dnumber</a:t>
            </a:r>
            <a:r>
              <a:rPr lang="en-US" dirty="0"/>
              <a:t> of DEPARTMENT relation as foreign key in EMPLOYEE relation and call it </a:t>
            </a:r>
            <a:r>
              <a:rPr lang="en-US" dirty="0" err="1"/>
              <a:t>Dno</a:t>
            </a:r>
            <a:endParaRPr lang="en-US" dirty="0"/>
          </a:p>
          <a:p>
            <a:r>
              <a:rPr lang="en-US" dirty="0"/>
              <a:t>for SUPERVISION include primary key of EMPLOYEE relation as foreign key in EMPLOYEE relation itself - because relationship is recursive - and call it </a:t>
            </a:r>
            <a:r>
              <a:rPr lang="en-US" dirty="0" err="1"/>
              <a:t>Super_ssn</a:t>
            </a:r>
            <a:endParaRPr lang="en-US" dirty="0"/>
          </a:p>
          <a:p>
            <a:r>
              <a:rPr lang="en-US" dirty="0"/>
              <a:t>CONTROLS relationship is mapped to foreign key attribute </a:t>
            </a:r>
            <a:r>
              <a:rPr lang="en-US" dirty="0" err="1"/>
              <a:t>Dnum</a:t>
            </a:r>
            <a:r>
              <a:rPr lang="en-US" dirty="0"/>
              <a:t> of PROJECT, which references primary key </a:t>
            </a:r>
            <a:r>
              <a:rPr lang="en-US" dirty="0" err="1"/>
              <a:t>Dnumber</a:t>
            </a:r>
            <a:r>
              <a:rPr lang="en-US" dirty="0"/>
              <a:t> of DEPARTMENT relation</a:t>
            </a:r>
          </a:p>
        </p:txBody>
      </p:sp>
      <p:sp>
        <p:nvSpPr>
          <p:cNvPr id="4" name="Slide Number Placeholder 3">
            <a:extLst>
              <a:ext uri="{FF2B5EF4-FFF2-40B4-BE49-F238E27FC236}">
                <a16:creationId xmlns:a16="http://schemas.microsoft.com/office/drawing/2014/main" id="{D8ACC2F4-FEA5-E8CF-BF65-3FBAD1E82509}"/>
              </a:ext>
            </a:extLst>
          </p:cNvPr>
          <p:cNvSpPr>
            <a:spLocks noGrp="1"/>
          </p:cNvSpPr>
          <p:nvPr>
            <p:ph type="sldNum" sz="quarter" idx="12"/>
          </p:nvPr>
        </p:nvSpPr>
        <p:spPr/>
        <p:txBody>
          <a:bodyPr/>
          <a:lstStyle/>
          <a:p>
            <a:fld id="{6264BDCF-5269-49AC-A246-ED26C2B980E3}" type="slidenum">
              <a:rPr lang="en-US" smtClean="0"/>
              <a:t>24</a:t>
            </a:fld>
            <a:endParaRPr lang="en-US"/>
          </a:p>
        </p:txBody>
      </p:sp>
    </p:spTree>
    <p:extLst>
      <p:ext uri="{BB962C8B-B14F-4D97-AF65-F5344CB8AC3E}">
        <p14:creationId xmlns:p14="http://schemas.microsoft.com/office/powerpoint/2010/main" val="35080184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AF79C-DEFF-23D5-9799-A68CFC03AB9F}"/>
              </a:ext>
            </a:extLst>
          </p:cNvPr>
          <p:cNvSpPr>
            <a:spLocks noGrp="1"/>
          </p:cNvSpPr>
          <p:nvPr>
            <p:ph type="title"/>
          </p:nvPr>
        </p:nvSpPr>
        <p:spPr>
          <a:xfrm>
            <a:off x="707923" y="365125"/>
            <a:ext cx="11484077" cy="1325563"/>
          </a:xfrm>
        </p:spPr>
        <p:txBody>
          <a:bodyPr/>
          <a:lstStyle/>
          <a:p>
            <a:r>
              <a:rPr lang="en-US" dirty="0"/>
              <a:t>Step 5: Mapping of Binary M:N Relationship Types</a:t>
            </a:r>
          </a:p>
        </p:txBody>
      </p:sp>
      <p:sp>
        <p:nvSpPr>
          <p:cNvPr id="3" name="Content Placeholder 2">
            <a:extLst>
              <a:ext uri="{FF2B5EF4-FFF2-40B4-BE49-F238E27FC236}">
                <a16:creationId xmlns:a16="http://schemas.microsoft.com/office/drawing/2014/main" id="{C5ACC102-EEC7-6844-C29F-A213864C2046}"/>
              </a:ext>
            </a:extLst>
          </p:cNvPr>
          <p:cNvSpPr>
            <a:spLocks noGrp="1"/>
          </p:cNvSpPr>
          <p:nvPr>
            <p:ph idx="1"/>
          </p:nvPr>
        </p:nvSpPr>
        <p:spPr/>
        <p:txBody>
          <a:bodyPr>
            <a:noAutofit/>
          </a:bodyPr>
          <a:lstStyle/>
          <a:p>
            <a:r>
              <a:rPr lang="en-US" dirty="0"/>
              <a:t>traditional relational model with no multivalued attributes, only option for M:N relationships is the </a:t>
            </a:r>
            <a:r>
              <a:rPr lang="en-US" i="1" dirty="0"/>
              <a:t>relationship relation (cross-reference) option</a:t>
            </a:r>
          </a:p>
          <a:p>
            <a:r>
              <a:rPr lang="en-US" dirty="0"/>
              <a:t>for each binary M:N relationship type </a:t>
            </a:r>
            <a:r>
              <a:rPr lang="en-US" i="1" dirty="0"/>
              <a:t>R</a:t>
            </a:r>
            <a:r>
              <a:rPr lang="en-US" dirty="0"/>
              <a:t>, create a new relation </a:t>
            </a:r>
            <a:r>
              <a:rPr lang="en-US" i="1" dirty="0"/>
              <a:t>S </a:t>
            </a:r>
            <a:r>
              <a:rPr lang="en-US" dirty="0"/>
              <a:t>to represent </a:t>
            </a:r>
            <a:r>
              <a:rPr lang="en-US" i="1" dirty="0"/>
              <a:t>R; </a:t>
            </a:r>
            <a:r>
              <a:rPr lang="en-US" dirty="0"/>
              <a:t>include as foreign key attributes in </a:t>
            </a:r>
            <a:r>
              <a:rPr lang="en-US" i="1" dirty="0"/>
              <a:t>S </a:t>
            </a:r>
            <a:r>
              <a:rPr lang="en-US" dirty="0"/>
              <a:t>the primary keys of the relations that represent the participating entity types; their </a:t>
            </a:r>
            <a:r>
              <a:rPr lang="en-US" i="1" dirty="0"/>
              <a:t>combination </a:t>
            </a:r>
            <a:r>
              <a:rPr lang="en-US" dirty="0"/>
              <a:t>will form the primary key of </a:t>
            </a:r>
            <a:r>
              <a:rPr lang="en-US" i="1" dirty="0"/>
              <a:t>S</a:t>
            </a:r>
          </a:p>
          <a:p>
            <a:r>
              <a:rPr lang="en-US" dirty="0"/>
              <a:t>also include any simple attributes of the M:N relationship type (or simple components of composite attributes) as attributes of </a:t>
            </a:r>
            <a:r>
              <a:rPr lang="en-US" i="1" dirty="0"/>
              <a:t>S</a:t>
            </a:r>
            <a:endParaRPr lang="en-US" dirty="0"/>
          </a:p>
          <a:p>
            <a:r>
              <a:rPr lang="en-US" dirty="0"/>
              <a:t>cannot represent an M:N relationship type by a single foreign key attribute in one of the participating relations</a:t>
            </a:r>
          </a:p>
        </p:txBody>
      </p:sp>
      <p:sp>
        <p:nvSpPr>
          <p:cNvPr id="4" name="Slide Number Placeholder 3">
            <a:extLst>
              <a:ext uri="{FF2B5EF4-FFF2-40B4-BE49-F238E27FC236}">
                <a16:creationId xmlns:a16="http://schemas.microsoft.com/office/drawing/2014/main" id="{4F06270D-C2A5-92D2-09B2-7AF0BB4AEF13}"/>
              </a:ext>
            </a:extLst>
          </p:cNvPr>
          <p:cNvSpPr>
            <a:spLocks noGrp="1"/>
          </p:cNvSpPr>
          <p:nvPr>
            <p:ph type="sldNum" sz="quarter" idx="12"/>
          </p:nvPr>
        </p:nvSpPr>
        <p:spPr/>
        <p:txBody>
          <a:bodyPr/>
          <a:lstStyle/>
          <a:p>
            <a:fld id="{6264BDCF-5269-49AC-A246-ED26C2B980E3}" type="slidenum">
              <a:rPr lang="en-US" smtClean="0"/>
              <a:t>25</a:t>
            </a:fld>
            <a:endParaRPr lang="en-US"/>
          </a:p>
        </p:txBody>
      </p:sp>
    </p:spTree>
    <p:extLst>
      <p:ext uri="{BB962C8B-B14F-4D97-AF65-F5344CB8AC3E}">
        <p14:creationId xmlns:p14="http://schemas.microsoft.com/office/powerpoint/2010/main" val="671735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3F2B1-A0D2-EFF0-2DE4-1EA80753B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A263A-D287-827D-B1BE-D59CEC7DBC4C}"/>
              </a:ext>
            </a:extLst>
          </p:cNvPr>
          <p:cNvSpPr>
            <a:spLocks noGrp="1"/>
          </p:cNvSpPr>
          <p:nvPr>
            <p:ph type="title"/>
          </p:nvPr>
        </p:nvSpPr>
        <p:spPr>
          <a:xfrm>
            <a:off x="707923" y="365125"/>
            <a:ext cx="11484077" cy="1325563"/>
          </a:xfrm>
        </p:spPr>
        <p:txBody>
          <a:bodyPr/>
          <a:lstStyle/>
          <a:p>
            <a:r>
              <a:rPr lang="en-US" dirty="0"/>
              <a:t>Step 5: Mapping of Binary M:N Relationship Types</a:t>
            </a:r>
          </a:p>
        </p:txBody>
      </p:sp>
      <p:sp>
        <p:nvSpPr>
          <p:cNvPr id="3" name="Content Placeholder 2">
            <a:extLst>
              <a:ext uri="{FF2B5EF4-FFF2-40B4-BE49-F238E27FC236}">
                <a16:creationId xmlns:a16="http://schemas.microsoft.com/office/drawing/2014/main" id="{396605C7-279B-D6E5-6593-90D78967D626}"/>
              </a:ext>
            </a:extLst>
          </p:cNvPr>
          <p:cNvSpPr>
            <a:spLocks noGrp="1"/>
          </p:cNvSpPr>
          <p:nvPr>
            <p:ph idx="1"/>
          </p:nvPr>
        </p:nvSpPr>
        <p:spPr/>
        <p:txBody>
          <a:bodyPr>
            <a:noAutofit/>
          </a:bodyPr>
          <a:lstStyle/>
          <a:p>
            <a:r>
              <a:rPr lang="en-US" dirty="0"/>
              <a:t>propagate (CASCADE) option for referential triggered action should be specified on foreign keys in relation corresponding to relationship R, since each relationship instance has an existence dependency on each of the entities it relates</a:t>
            </a:r>
          </a:p>
          <a:p>
            <a:r>
              <a:rPr lang="en-US" dirty="0"/>
              <a:t>used for both ON UPDATE and ON DELETE.</a:t>
            </a:r>
          </a:p>
          <a:p>
            <a:endParaRPr lang="en-US" sz="2700" dirty="0"/>
          </a:p>
          <a:p>
            <a:r>
              <a:rPr lang="en-US" sz="2700" dirty="0"/>
              <a:t>although we can map 1:1 or 1:N relationships in a manner similar to M:N relationships by using the cross-reference (relationship relation) approach, this is only recommended when few relationship instances exist, in order to avoid NULL values in foreign keys</a:t>
            </a:r>
          </a:p>
        </p:txBody>
      </p:sp>
      <p:sp>
        <p:nvSpPr>
          <p:cNvPr id="4" name="Slide Number Placeholder 3">
            <a:extLst>
              <a:ext uri="{FF2B5EF4-FFF2-40B4-BE49-F238E27FC236}">
                <a16:creationId xmlns:a16="http://schemas.microsoft.com/office/drawing/2014/main" id="{D363C016-80A1-B491-C9BF-F79104395DE5}"/>
              </a:ext>
            </a:extLst>
          </p:cNvPr>
          <p:cNvSpPr>
            <a:spLocks noGrp="1"/>
          </p:cNvSpPr>
          <p:nvPr>
            <p:ph type="sldNum" sz="quarter" idx="12"/>
          </p:nvPr>
        </p:nvSpPr>
        <p:spPr/>
        <p:txBody>
          <a:bodyPr/>
          <a:lstStyle/>
          <a:p>
            <a:fld id="{6264BDCF-5269-49AC-A246-ED26C2B980E3}" type="slidenum">
              <a:rPr lang="en-US" smtClean="0"/>
              <a:t>26</a:t>
            </a:fld>
            <a:endParaRPr lang="en-US"/>
          </a:p>
        </p:txBody>
      </p:sp>
    </p:spTree>
    <p:extLst>
      <p:ext uri="{BB962C8B-B14F-4D97-AF65-F5344CB8AC3E}">
        <p14:creationId xmlns:p14="http://schemas.microsoft.com/office/powerpoint/2010/main" val="337229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64F53-1331-F664-FB85-11CCD01CF1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F8668E-7D6E-364A-139B-E77827DE0F63}"/>
              </a:ext>
            </a:extLst>
          </p:cNvPr>
          <p:cNvSpPr>
            <a:spLocks noGrp="1"/>
          </p:cNvSpPr>
          <p:nvPr>
            <p:ph idx="1"/>
          </p:nvPr>
        </p:nvSpPr>
        <p:spPr/>
        <p:txBody>
          <a:bodyPr>
            <a:noAutofit/>
          </a:bodyPr>
          <a:lstStyle/>
          <a:p>
            <a:r>
              <a:rPr lang="en-US" dirty="0"/>
              <a:t>map the M:N relationship type WORKS_ON by creating the relation WORKS_ON </a:t>
            </a:r>
          </a:p>
          <a:p>
            <a:r>
              <a:rPr lang="en-US" dirty="0"/>
              <a:t>include the primary keys of PROJECT and EMPLOYEE relations as foreign keys in WORKS_ON and rename them </a:t>
            </a:r>
            <a:r>
              <a:rPr lang="en-US" dirty="0" err="1"/>
              <a:t>Pno</a:t>
            </a:r>
            <a:r>
              <a:rPr lang="en-US" dirty="0"/>
              <a:t> and </a:t>
            </a:r>
            <a:r>
              <a:rPr lang="en-US" dirty="0" err="1"/>
              <a:t>Essn</a:t>
            </a:r>
            <a:r>
              <a:rPr lang="en-US" dirty="0"/>
              <a:t>, respectively (renaming is not required; it is a design choice)</a:t>
            </a:r>
          </a:p>
          <a:p>
            <a:r>
              <a:rPr lang="en-US" dirty="0"/>
              <a:t>also include an attribute Hours in WORKS_ON to represent the Hours attribute of the relationship type</a:t>
            </a:r>
          </a:p>
          <a:p>
            <a:r>
              <a:rPr lang="en-US" dirty="0"/>
              <a:t>primary key of WORKS_ON relation is combination of foreign key attributes {</a:t>
            </a:r>
            <a:r>
              <a:rPr lang="en-US" dirty="0" err="1"/>
              <a:t>Essn</a:t>
            </a:r>
            <a:r>
              <a:rPr lang="en-US" dirty="0"/>
              <a:t>, </a:t>
            </a:r>
            <a:r>
              <a:rPr lang="en-US" dirty="0" err="1"/>
              <a:t>Pno</a:t>
            </a:r>
            <a:r>
              <a:rPr lang="en-US" dirty="0"/>
              <a:t>}</a:t>
            </a:r>
          </a:p>
        </p:txBody>
      </p:sp>
      <p:sp>
        <p:nvSpPr>
          <p:cNvPr id="4" name="Slide Number Placeholder 3">
            <a:extLst>
              <a:ext uri="{FF2B5EF4-FFF2-40B4-BE49-F238E27FC236}">
                <a16:creationId xmlns:a16="http://schemas.microsoft.com/office/drawing/2014/main" id="{16F50FFC-2006-C444-DAEB-242E8CE36287}"/>
              </a:ext>
            </a:extLst>
          </p:cNvPr>
          <p:cNvSpPr>
            <a:spLocks noGrp="1"/>
          </p:cNvSpPr>
          <p:nvPr>
            <p:ph type="sldNum" sz="quarter" idx="12"/>
          </p:nvPr>
        </p:nvSpPr>
        <p:spPr/>
        <p:txBody>
          <a:bodyPr/>
          <a:lstStyle/>
          <a:p>
            <a:fld id="{6264BDCF-5269-49AC-A246-ED26C2B980E3}" type="slidenum">
              <a:rPr lang="en-US" smtClean="0"/>
              <a:t>27</a:t>
            </a:fld>
            <a:endParaRPr lang="en-US"/>
          </a:p>
        </p:txBody>
      </p:sp>
    </p:spTree>
    <p:extLst>
      <p:ext uri="{BB962C8B-B14F-4D97-AF65-F5344CB8AC3E}">
        <p14:creationId xmlns:p14="http://schemas.microsoft.com/office/powerpoint/2010/main" val="1435545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5AA57-376B-EA45-E19B-C4ADC779B44E}"/>
              </a:ext>
            </a:extLst>
          </p:cNvPr>
          <p:cNvSpPr>
            <a:spLocks noGrp="1"/>
          </p:cNvSpPr>
          <p:nvPr>
            <p:ph type="title"/>
          </p:nvPr>
        </p:nvSpPr>
        <p:spPr/>
        <p:txBody>
          <a:bodyPr/>
          <a:lstStyle/>
          <a:p>
            <a:r>
              <a:rPr lang="en-US" dirty="0"/>
              <a:t>Step 6: Mapping of Multivalued Attributes</a:t>
            </a:r>
          </a:p>
        </p:txBody>
      </p:sp>
      <p:sp>
        <p:nvSpPr>
          <p:cNvPr id="3" name="Content Placeholder 2">
            <a:extLst>
              <a:ext uri="{FF2B5EF4-FFF2-40B4-BE49-F238E27FC236}">
                <a16:creationId xmlns:a16="http://schemas.microsoft.com/office/drawing/2014/main" id="{BC87144B-8D7F-0452-45D9-2FB48AE7787E}"/>
              </a:ext>
            </a:extLst>
          </p:cNvPr>
          <p:cNvSpPr>
            <a:spLocks noGrp="1"/>
          </p:cNvSpPr>
          <p:nvPr>
            <p:ph idx="1"/>
          </p:nvPr>
        </p:nvSpPr>
        <p:spPr/>
        <p:txBody>
          <a:bodyPr>
            <a:noAutofit/>
          </a:bodyPr>
          <a:lstStyle/>
          <a:p>
            <a:r>
              <a:rPr lang="en-US" dirty="0"/>
              <a:t>for each multivalued attribute </a:t>
            </a:r>
            <a:r>
              <a:rPr lang="en-US" i="1" dirty="0"/>
              <a:t>A</a:t>
            </a:r>
            <a:r>
              <a:rPr lang="en-US" dirty="0"/>
              <a:t>, create a new relation </a:t>
            </a:r>
            <a:r>
              <a:rPr lang="en-US" i="1" dirty="0"/>
              <a:t>R</a:t>
            </a:r>
          </a:p>
          <a:p>
            <a:r>
              <a:rPr lang="en-US" dirty="0"/>
              <a:t>this relation </a:t>
            </a:r>
            <a:r>
              <a:rPr lang="en-US" i="1" dirty="0"/>
              <a:t>R </a:t>
            </a:r>
            <a:r>
              <a:rPr lang="en-US" dirty="0"/>
              <a:t>will include attribute corresponding to </a:t>
            </a:r>
            <a:r>
              <a:rPr lang="en-US" i="1" dirty="0"/>
              <a:t>A</a:t>
            </a:r>
            <a:r>
              <a:rPr lang="en-US" dirty="0"/>
              <a:t>, plus the primary key attribute </a:t>
            </a:r>
            <a:r>
              <a:rPr lang="en-US" i="1" dirty="0"/>
              <a:t>K </a:t>
            </a:r>
            <a:r>
              <a:rPr lang="en-US" dirty="0"/>
              <a:t>- as foreign key in </a:t>
            </a:r>
            <a:r>
              <a:rPr lang="en-US" i="1" dirty="0"/>
              <a:t>R </a:t>
            </a:r>
            <a:r>
              <a:rPr lang="en-US" dirty="0"/>
              <a:t>- of the relation that represents the entity type or relationship type that has </a:t>
            </a:r>
            <a:r>
              <a:rPr lang="en-US" i="1" dirty="0"/>
              <a:t>A </a:t>
            </a:r>
            <a:r>
              <a:rPr lang="en-US" dirty="0"/>
              <a:t>as a multivalued attribute</a:t>
            </a:r>
          </a:p>
          <a:p>
            <a:r>
              <a:rPr lang="en-US" dirty="0"/>
              <a:t>primary key of </a:t>
            </a:r>
            <a:r>
              <a:rPr lang="en-US" i="1" dirty="0"/>
              <a:t>R </a:t>
            </a:r>
            <a:r>
              <a:rPr lang="en-US" dirty="0"/>
              <a:t>is combination of </a:t>
            </a:r>
            <a:r>
              <a:rPr lang="en-US" i="1" dirty="0"/>
              <a:t>A </a:t>
            </a:r>
            <a:r>
              <a:rPr lang="en-US" dirty="0"/>
              <a:t>and </a:t>
            </a:r>
            <a:r>
              <a:rPr lang="en-US" i="1" dirty="0"/>
              <a:t>K</a:t>
            </a:r>
          </a:p>
          <a:p>
            <a:r>
              <a:rPr lang="en-US" dirty="0"/>
              <a:t>if the multivalued attribute is composite, we include its simple components</a:t>
            </a:r>
          </a:p>
        </p:txBody>
      </p:sp>
      <p:sp>
        <p:nvSpPr>
          <p:cNvPr id="4" name="Slide Number Placeholder 3">
            <a:extLst>
              <a:ext uri="{FF2B5EF4-FFF2-40B4-BE49-F238E27FC236}">
                <a16:creationId xmlns:a16="http://schemas.microsoft.com/office/drawing/2014/main" id="{4F176566-F5FA-D22D-9553-1BCCEF712B2C}"/>
              </a:ext>
            </a:extLst>
          </p:cNvPr>
          <p:cNvSpPr>
            <a:spLocks noGrp="1"/>
          </p:cNvSpPr>
          <p:nvPr>
            <p:ph type="sldNum" sz="quarter" idx="12"/>
          </p:nvPr>
        </p:nvSpPr>
        <p:spPr/>
        <p:txBody>
          <a:bodyPr/>
          <a:lstStyle/>
          <a:p>
            <a:fld id="{6264BDCF-5269-49AC-A246-ED26C2B980E3}" type="slidenum">
              <a:rPr lang="en-US" smtClean="0"/>
              <a:t>28</a:t>
            </a:fld>
            <a:endParaRPr lang="en-US"/>
          </a:p>
        </p:txBody>
      </p:sp>
    </p:spTree>
    <p:extLst>
      <p:ext uri="{BB962C8B-B14F-4D97-AF65-F5344CB8AC3E}">
        <p14:creationId xmlns:p14="http://schemas.microsoft.com/office/powerpoint/2010/main" val="2213346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133DA-ECD0-B44A-1F77-57D96509B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C8370-65A0-DAB9-8C95-3777F0027E5C}"/>
              </a:ext>
            </a:extLst>
          </p:cNvPr>
          <p:cNvSpPr>
            <a:spLocks noGrp="1"/>
          </p:cNvSpPr>
          <p:nvPr>
            <p:ph type="title"/>
          </p:nvPr>
        </p:nvSpPr>
        <p:spPr/>
        <p:txBody>
          <a:bodyPr/>
          <a:lstStyle/>
          <a:p>
            <a:r>
              <a:rPr lang="en-US" dirty="0"/>
              <a:t>Step 6: Mapping of Multivalued Attributes</a:t>
            </a:r>
          </a:p>
        </p:txBody>
      </p:sp>
      <p:sp>
        <p:nvSpPr>
          <p:cNvPr id="3" name="Content Placeholder 2">
            <a:extLst>
              <a:ext uri="{FF2B5EF4-FFF2-40B4-BE49-F238E27FC236}">
                <a16:creationId xmlns:a16="http://schemas.microsoft.com/office/drawing/2014/main" id="{E9620244-CE94-DAC9-B7CC-8EB4B77102C2}"/>
              </a:ext>
            </a:extLst>
          </p:cNvPr>
          <p:cNvSpPr>
            <a:spLocks noGrp="1"/>
          </p:cNvSpPr>
          <p:nvPr>
            <p:ph idx="1"/>
          </p:nvPr>
        </p:nvSpPr>
        <p:spPr/>
        <p:txBody>
          <a:bodyPr>
            <a:noAutofit/>
          </a:bodyPr>
          <a:lstStyle/>
          <a:p>
            <a:r>
              <a:rPr lang="en-US" dirty="0"/>
              <a:t>propagate (CASCADE) option for referential triggered action should be specified on foreign key in relation </a:t>
            </a:r>
            <a:r>
              <a:rPr lang="en-US" i="1" dirty="0"/>
              <a:t>R </a:t>
            </a:r>
            <a:r>
              <a:rPr lang="en-US" dirty="0"/>
              <a:t>corresponding to multivalued attribute for both ON UPDATE and ON DELETE</a:t>
            </a:r>
          </a:p>
          <a:p>
            <a:r>
              <a:rPr lang="en-US" dirty="0"/>
              <a:t>key of </a:t>
            </a:r>
            <a:r>
              <a:rPr lang="en-US" i="1" dirty="0"/>
              <a:t>R </a:t>
            </a:r>
            <a:r>
              <a:rPr lang="en-US" dirty="0"/>
              <a:t>when mapping a composite, multivalued attribute requires some analysis of the meaning of the component attributes; in some cases, when a multivalued attribute is composite, only some of the component attributes are required</a:t>
            </a:r>
          </a:p>
          <a:p>
            <a:r>
              <a:rPr lang="en-US" dirty="0"/>
              <a:t>in more recent versions of the relational model (</a:t>
            </a:r>
            <a:r>
              <a:rPr lang="en-US" dirty="0" err="1"/>
              <a:t>PostGreSQL</a:t>
            </a:r>
            <a:r>
              <a:rPr lang="en-US" dirty="0"/>
              <a:t>, …) that allow array data types, the multivalued attribute can be mapped to an array attribute rather than requiring a separate table</a:t>
            </a:r>
          </a:p>
        </p:txBody>
      </p:sp>
      <p:sp>
        <p:nvSpPr>
          <p:cNvPr id="4" name="Slide Number Placeholder 3">
            <a:extLst>
              <a:ext uri="{FF2B5EF4-FFF2-40B4-BE49-F238E27FC236}">
                <a16:creationId xmlns:a16="http://schemas.microsoft.com/office/drawing/2014/main" id="{FC4A670F-B2DA-6355-2585-D1D592CCE2E5}"/>
              </a:ext>
            </a:extLst>
          </p:cNvPr>
          <p:cNvSpPr>
            <a:spLocks noGrp="1"/>
          </p:cNvSpPr>
          <p:nvPr>
            <p:ph type="sldNum" sz="quarter" idx="12"/>
          </p:nvPr>
        </p:nvSpPr>
        <p:spPr/>
        <p:txBody>
          <a:bodyPr/>
          <a:lstStyle/>
          <a:p>
            <a:fld id="{6264BDCF-5269-49AC-A246-ED26C2B980E3}" type="slidenum">
              <a:rPr lang="en-US" smtClean="0"/>
              <a:t>29</a:t>
            </a:fld>
            <a:endParaRPr lang="en-US"/>
          </a:p>
        </p:txBody>
      </p:sp>
    </p:spTree>
    <p:extLst>
      <p:ext uri="{BB962C8B-B14F-4D97-AF65-F5344CB8AC3E}">
        <p14:creationId xmlns:p14="http://schemas.microsoft.com/office/powerpoint/2010/main" val="2163037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2A54C-CA2D-3410-471A-B464C1867B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8BCE41-6175-303F-BF2B-B3239C0DD00A}"/>
              </a:ext>
            </a:extLst>
          </p:cNvPr>
          <p:cNvSpPr>
            <a:spLocks noGrp="1"/>
          </p:cNvSpPr>
          <p:nvPr>
            <p:ph idx="1"/>
          </p:nvPr>
        </p:nvSpPr>
        <p:spPr/>
        <p:txBody>
          <a:bodyPr>
            <a:noAutofit/>
          </a:bodyPr>
          <a:lstStyle/>
          <a:p>
            <a:r>
              <a:rPr lang="en-US" dirty="0"/>
              <a:t>we create a relation DEPT_LOCATIONS</a:t>
            </a:r>
          </a:p>
          <a:p>
            <a:r>
              <a:rPr lang="en-US" dirty="0"/>
              <a:t>attribute </a:t>
            </a:r>
            <a:r>
              <a:rPr lang="en-US" dirty="0" err="1"/>
              <a:t>Dlocation</a:t>
            </a:r>
            <a:r>
              <a:rPr lang="en-US" dirty="0"/>
              <a:t> represents the multivalued attribute LOCATIONS of DEPARTMENT, whereas </a:t>
            </a:r>
            <a:r>
              <a:rPr lang="en-US" dirty="0" err="1"/>
              <a:t>Dnumber</a:t>
            </a:r>
            <a:r>
              <a:rPr lang="en-US" dirty="0"/>
              <a:t> - as foreign key - represents the primary key of DEPARTMENT relation</a:t>
            </a:r>
          </a:p>
          <a:p>
            <a:r>
              <a:rPr lang="en-US" dirty="0"/>
              <a:t>primary key of DEPT_LOCATIONS is combination of {</a:t>
            </a:r>
            <a:r>
              <a:rPr lang="en-US" dirty="0" err="1"/>
              <a:t>Dnumber</a:t>
            </a:r>
            <a:r>
              <a:rPr lang="en-US" dirty="0"/>
              <a:t>, </a:t>
            </a:r>
            <a:r>
              <a:rPr lang="en-US" dirty="0" err="1"/>
              <a:t>Dlocation</a:t>
            </a:r>
            <a:r>
              <a:rPr lang="en-US" dirty="0"/>
              <a:t>}</a:t>
            </a:r>
          </a:p>
          <a:p>
            <a:r>
              <a:rPr lang="en-US" dirty="0"/>
              <a:t>separate tuple will exist in DEPT_LOCATIONS for each location that a department has</a:t>
            </a:r>
          </a:p>
        </p:txBody>
      </p:sp>
      <p:sp>
        <p:nvSpPr>
          <p:cNvPr id="4" name="Slide Number Placeholder 3">
            <a:extLst>
              <a:ext uri="{FF2B5EF4-FFF2-40B4-BE49-F238E27FC236}">
                <a16:creationId xmlns:a16="http://schemas.microsoft.com/office/drawing/2014/main" id="{8DE9824E-7621-7DFD-5005-CEE4CA1EB76B}"/>
              </a:ext>
            </a:extLst>
          </p:cNvPr>
          <p:cNvSpPr>
            <a:spLocks noGrp="1"/>
          </p:cNvSpPr>
          <p:nvPr>
            <p:ph type="sldNum" sz="quarter" idx="12"/>
          </p:nvPr>
        </p:nvSpPr>
        <p:spPr/>
        <p:txBody>
          <a:bodyPr/>
          <a:lstStyle/>
          <a:p>
            <a:fld id="{6264BDCF-5269-49AC-A246-ED26C2B980E3}" type="slidenum">
              <a:rPr lang="en-US" smtClean="0"/>
              <a:t>30</a:t>
            </a:fld>
            <a:endParaRPr lang="en-US"/>
          </a:p>
        </p:txBody>
      </p:sp>
    </p:spTree>
    <p:extLst>
      <p:ext uri="{BB962C8B-B14F-4D97-AF65-F5344CB8AC3E}">
        <p14:creationId xmlns:p14="http://schemas.microsoft.com/office/powerpoint/2010/main" val="2479148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CD696-F540-69B5-070C-8FA4E3A45066}"/>
              </a:ext>
            </a:extLst>
          </p:cNvPr>
          <p:cNvSpPr>
            <a:spLocks noGrp="1"/>
          </p:cNvSpPr>
          <p:nvPr>
            <p:ph type="title"/>
          </p:nvPr>
        </p:nvSpPr>
        <p:spPr/>
        <p:txBody>
          <a:bodyPr>
            <a:normAutofit/>
          </a:bodyPr>
          <a:lstStyle/>
          <a:p>
            <a:r>
              <a:rPr lang="en-US" dirty="0"/>
              <a:t>Step 7: Mapping of </a:t>
            </a:r>
            <a:r>
              <a:rPr lang="en-US" i="1" dirty="0"/>
              <a:t>N</a:t>
            </a:r>
            <a:r>
              <a:rPr lang="en-US" dirty="0"/>
              <a:t>-</a:t>
            </a:r>
            <a:r>
              <a:rPr lang="en-US" dirty="0" err="1"/>
              <a:t>ary</a:t>
            </a:r>
            <a:r>
              <a:rPr lang="en-US" dirty="0"/>
              <a:t> Relationship Types</a:t>
            </a:r>
            <a:br>
              <a:rPr lang="en-US" dirty="0"/>
            </a:br>
            <a:r>
              <a:rPr lang="en-US" dirty="0"/>
              <a:t>use the relationship relation option</a:t>
            </a:r>
          </a:p>
        </p:txBody>
      </p:sp>
      <p:sp>
        <p:nvSpPr>
          <p:cNvPr id="3" name="Content Placeholder 2">
            <a:extLst>
              <a:ext uri="{FF2B5EF4-FFF2-40B4-BE49-F238E27FC236}">
                <a16:creationId xmlns:a16="http://schemas.microsoft.com/office/drawing/2014/main" id="{4866E80B-4411-98A7-B312-D1E550EB4AD4}"/>
              </a:ext>
            </a:extLst>
          </p:cNvPr>
          <p:cNvSpPr>
            <a:spLocks noGrp="1"/>
          </p:cNvSpPr>
          <p:nvPr>
            <p:ph idx="1"/>
          </p:nvPr>
        </p:nvSpPr>
        <p:spPr/>
        <p:txBody>
          <a:bodyPr>
            <a:noAutofit/>
          </a:bodyPr>
          <a:lstStyle/>
          <a:p>
            <a:pPr algn="l"/>
            <a:r>
              <a:rPr lang="en-US" sz="2800" b="0" i="0" u="none" strike="noStrike" baseline="0" dirty="0"/>
              <a:t>for each </a:t>
            </a:r>
            <a:r>
              <a:rPr lang="en-US" sz="2800" b="0" i="1" u="none" strike="noStrike" baseline="0" dirty="0"/>
              <a:t>n</a:t>
            </a:r>
            <a:r>
              <a:rPr lang="en-US" sz="2800" b="0" i="0" u="none" strike="noStrike" baseline="0" dirty="0"/>
              <a:t>-</a:t>
            </a:r>
            <a:r>
              <a:rPr lang="en-US" sz="2800" b="0" i="0" u="none" strike="noStrike" baseline="0" dirty="0" err="1"/>
              <a:t>ary</a:t>
            </a:r>
            <a:r>
              <a:rPr lang="en-US" sz="2800" b="0" i="0" u="none" strike="noStrike" baseline="0" dirty="0"/>
              <a:t> relationship type </a:t>
            </a:r>
            <a:r>
              <a:rPr lang="en-US" sz="2800" b="0" i="1" u="none" strike="noStrike" baseline="0" dirty="0"/>
              <a:t>R</a:t>
            </a:r>
            <a:r>
              <a:rPr lang="en-US" sz="2800" b="0" i="0" u="none" strike="noStrike" baseline="0" dirty="0"/>
              <a:t>, where </a:t>
            </a:r>
            <a:r>
              <a:rPr lang="en-US" sz="2800" b="0" i="1" u="none" strike="noStrike" baseline="0" dirty="0"/>
              <a:t>n </a:t>
            </a:r>
            <a:r>
              <a:rPr lang="en-US" sz="2800" b="0" i="0" u="none" strike="noStrike" baseline="0" dirty="0"/>
              <a:t>&gt; 2, create a new relationship relation </a:t>
            </a:r>
            <a:r>
              <a:rPr lang="en-US" sz="2800" b="0" i="1" u="none" strike="noStrike" baseline="0" dirty="0"/>
              <a:t>S </a:t>
            </a:r>
            <a:r>
              <a:rPr lang="en-US" sz="2800" b="0" i="0" u="none" strike="noStrike" baseline="0" dirty="0"/>
              <a:t>to represent </a:t>
            </a:r>
            <a:r>
              <a:rPr lang="en-US" sz="2800" b="0" i="1" u="none" strike="noStrike" baseline="0" dirty="0"/>
              <a:t>R</a:t>
            </a:r>
          </a:p>
          <a:p>
            <a:pPr algn="l"/>
            <a:r>
              <a:rPr lang="en-US" sz="2800" b="0" i="0" u="none" strike="noStrike" baseline="0" dirty="0"/>
              <a:t>include as foreign key attributes in </a:t>
            </a:r>
            <a:r>
              <a:rPr lang="en-US" sz="2800" b="0" i="1" u="none" strike="noStrike" baseline="0" dirty="0"/>
              <a:t>S </a:t>
            </a:r>
            <a:r>
              <a:rPr lang="en-US" sz="2800" b="0" i="0" u="none" strike="noStrike" baseline="0" dirty="0"/>
              <a:t>the primary keys of the relations that represent the participating entity types; also include any simple attributes of the </a:t>
            </a:r>
            <a:r>
              <a:rPr lang="en-US" sz="2800" b="0" i="1" u="none" strike="noStrike" baseline="0" dirty="0"/>
              <a:t>n</a:t>
            </a:r>
            <a:r>
              <a:rPr lang="en-US" sz="2800" b="0" i="0" u="none" strike="noStrike" baseline="0" dirty="0"/>
              <a:t>-</a:t>
            </a:r>
            <a:r>
              <a:rPr lang="en-US" sz="2800" b="0" i="0" u="none" strike="noStrike" baseline="0" dirty="0" err="1"/>
              <a:t>ary</a:t>
            </a:r>
            <a:r>
              <a:rPr lang="en-US" sz="2800" b="0" i="0" u="none" strike="noStrike" baseline="0" dirty="0"/>
              <a:t> relationship type (or simple components of composite attributes) as attributes of </a:t>
            </a:r>
            <a:r>
              <a:rPr lang="en-US" sz="2800" b="0" i="1" u="none" strike="noStrike" baseline="0" dirty="0"/>
              <a:t>S</a:t>
            </a:r>
          </a:p>
          <a:p>
            <a:pPr algn="l"/>
            <a:r>
              <a:rPr lang="en-US" sz="2800" b="0" i="0" u="none" strike="noStrike" baseline="0" dirty="0"/>
              <a:t>primary key of </a:t>
            </a:r>
            <a:r>
              <a:rPr lang="en-US" sz="2800" b="0" i="1" u="none" strike="noStrike" baseline="0" dirty="0"/>
              <a:t>S </a:t>
            </a:r>
            <a:r>
              <a:rPr lang="en-US" sz="2800" b="0" i="0" u="none" strike="noStrike" baseline="0" dirty="0"/>
              <a:t>is usually a combination of all the foreign keys that reference the relations representing the participating entity types</a:t>
            </a:r>
          </a:p>
        </p:txBody>
      </p:sp>
      <p:sp>
        <p:nvSpPr>
          <p:cNvPr id="4" name="Slide Number Placeholder 3">
            <a:extLst>
              <a:ext uri="{FF2B5EF4-FFF2-40B4-BE49-F238E27FC236}">
                <a16:creationId xmlns:a16="http://schemas.microsoft.com/office/drawing/2014/main" id="{A453D6A8-FDE1-7C13-70C0-E1BCA67B503E}"/>
              </a:ext>
            </a:extLst>
          </p:cNvPr>
          <p:cNvSpPr>
            <a:spLocks noGrp="1"/>
          </p:cNvSpPr>
          <p:nvPr>
            <p:ph type="sldNum" sz="quarter" idx="12"/>
          </p:nvPr>
        </p:nvSpPr>
        <p:spPr/>
        <p:txBody>
          <a:bodyPr/>
          <a:lstStyle/>
          <a:p>
            <a:fld id="{6264BDCF-5269-49AC-A246-ED26C2B980E3}" type="slidenum">
              <a:rPr lang="en-US" smtClean="0"/>
              <a:t>31</a:t>
            </a:fld>
            <a:endParaRPr lang="en-US"/>
          </a:p>
        </p:txBody>
      </p:sp>
    </p:spTree>
    <p:extLst>
      <p:ext uri="{BB962C8B-B14F-4D97-AF65-F5344CB8AC3E}">
        <p14:creationId xmlns:p14="http://schemas.microsoft.com/office/powerpoint/2010/main" val="3456942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4C9C3-2CA8-8239-6522-FAC60DB1D8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99D53-B2BC-F135-C782-74A0383E7509}"/>
              </a:ext>
            </a:extLst>
          </p:cNvPr>
          <p:cNvSpPr>
            <a:spLocks noGrp="1"/>
          </p:cNvSpPr>
          <p:nvPr>
            <p:ph type="title"/>
          </p:nvPr>
        </p:nvSpPr>
        <p:spPr/>
        <p:txBody>
          <a:bodyPr>
            <a:normAutofit/>
          </a:bodyPr>
          <a:lstStyle/>
          <a:p>
            <a:r>
              <a:rPr lang="en-US" dirty="0"/>
              <a:t>Step 7: Mapping of </a:t>
            </a:r>
            <a:r>
              <a:rPr lang="en-US" i="1" dirty="0"/>
              <a:t>N</a:t>
            </a:r>
            <a:r>
              <a:rPr lang="en-US" dirty="0"/>
              <a:t>-</a:t>
            </a:r>
            <a:r>
              <a:rPr lang="en-US" dirty="0" err="1"/>
              <a:t>ary</a:t>
            </a:r>
            <a:r>
              <a:rPr lang="en-US" dirty="0"/>
              <a:t> Relationship Types</a:t>
            </a:r>
            <a:br>
              <a:rPr lang="en-US" dirty="0"/>
            </a:br>
            <a:r>
              <a:rPr lang="en-US" dirty="0"/>
              <a:t>use the relationship relation option</a:t>
            </a:r>
          </a:p>
        </p:txBody>
      </p:sp>
      <p:sp>
        <p:nvSpPr>
          <p:cNvPr id="3" name="Content Placeholder 2">
            <a:extLst>
              <a:ext uri="{FF2B5EF4-FFF2-40B4-BE49-F238E27FC236}">
                <a16:creationId xmlns:a16="http://schemas.microsoft.com/office/drawing/2014/main" id="{E6414EC7-09CF-143E-4C2D-1BE6049C4049}"/>
              </a:ext>
            </a:extLst>
          </p:cNvPr>
          <p:cNvSpPr>
            <a:spLocks noGrp="1"/>
          </p:cNvSpPr>
          <p:nvPr>
            <p:ph idx="1"/>
          </p:nvPr>
        </p:nvSpPr>
        <p:spPr/>
        <p:txBody>
          <a:bodyPr>
            <a:noAutofit/>
          </a:bodyPr>
          <a:lstStyle/>
          <a:p>
            <a:pPr algn="l"/>
            <a:r>
              <a:rPr lang="en-US" sz="2800" b="0" i="0" u="none" strike="noStrike" baseline="0" dirty="0"/>
              <a:t>if the cardinality constraints on any of the entity types </a:t>
            </a:r>
            <a:r>
              <a:rPr lang="en-US" sz="2800" b="0" i="1" u="none" strike="noStrike" baseline="0" dirty="0"/>
              <a:t>E </a:t>
            </a:r>
            <a:r>
              <a:rPr lang="en-US" sz="2800" b="0" i="0" u="none" strike="noStrike" baseline="0" dirty="0"/>
              <a:t>participating in </a:t>
            </a:r>
            <a:r>
              <a:rPr lang="en-US" sz="2800" b="0" i="1" u="none" strike="noStrike" baseline="0" dirty="0"/>
              <a:t>R </a:t>
            </a:r>
            <a:r>
              <a:rPr lang="en-US" sz="2800" b="0" i="0" u="none" strike="noStrike" baseline="0" dirty="0"/>
              <a:t>is 1, then the primary key of </a:t>
            </a:r>
            <a:r>
              <a:rPr lang="en-US" sz="2800" b="0" i="1" u="none" strike="noStrike" baseline="0" dirty="0"/>
              <a:t>S </a:t>
            </a:r>
            <a:r>
              <a:rPr lang="en-US" sz="2800" b="0" i="0" u="none" strike="noStrike" baseline="0" dirty="0"/>
              <a:t>should not include the foreign key attribute that references the relation </a:t>
            </a:r>
            <a:r>
              <a:rPr lang="en-US" sz="2800" b="0" i="1" u="none" strike="noStrike" baseline="0" dirty="0"/>
              <a:t>E</a:t>
            </a:r>
            <a:r>
              <a:rPr lang="en-US" sz="2800" b="0" i="1" u="none" strike="noStrike" baseline="30000" dirty="0"/>
              <a:t>’</a:t>
            </a:r>
            <a:r>
              <a:rPr lang="en-US" sz="2800" b="0" i="0" u="none" strike="noStrike" baseline="0" dirty="0"/>
              <a:t> corresponding to </a:t>
            </a:r>
            <a:r>
              <a:rPr lang="en-US" sz="2800" b="0" i="1" u="none" strike="noStrike" baseline="0" dirty="0"/>
              <a:t>E</a:t>
            </a:r>
            <a:endParaRPr lang="en-US" dirty="0"/>
          </a:p>
        </p:txBody>
      </p:sp>
      <p:sp>
        <p:nvSpPr>
          <p:cNvPr id="4" name="Slide Number Placeholder 3">
            <a:extLst>
              <a:ext uri="{FF2B5EF4-FFF2-40B4-BE49-F238E27FC236}">
                <a16:creationId xmlns:a16="http://schemas.microsoft.com/office/drawing/2014/main" id="{97032BDF-3D89-500B-388B-43848BA14A0D}"/>
              </a:ext>
            </a:extLst>
          </p:cNvPr>
          <p:cNvSpPr>
            <a:spLocks noGrp="1"/>
          </p:cNvSpPr>
          <p:nvPr>
            <p:ph type="sldNum" sz="quarter" idx="12"/>
          </p:nvPr>
        </p:nvSpPr>
        <p:spPr/>
        <p:txBody>
          <a:bodyPr/>
          <a:lstStyle/>
          <a:p>
            <a:fld id="{6264BDCF-5269-49AC-A246-ED26C2B980E3}" type="slidenum">
              <a:rPr lang="en-US" smtClean="0"/>
              <a:t>32</a:t>
            </a:fld>
            <a:endParaRPr lang="en-US"/>
          </a:p>
        </p:txBody>
      </p:sp>
    </p:spTree>
    <p:extLst>
      <p:ext uri="{BB962C8B-B14F-4D97-AF65-F5344CB8AC3E}">
        <p14:creationId xmlns:p14="http://schemas.microsoft.com/office/powerpoint/2010/main" val="2352243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71EBA-EEA5-BDD9-FBB3-5557B5F3DD21}"/>
              </a:ext>
            </a:extLst>
          </p:cNvPr>
          <p:cNvSpPr>
            <a:spLocks noGrp="1"/>
          </p:cNvSpPr>
          <p:nvPr>
            <p:ph type="title"/>
          </p:nvPr>
        </p:nvSpPr>
        <p:spPr/>
        <p:txBody>
          <a:bodyPr/>
          <a:lstStyle/>
          <a:p>
            <a:r>
              <a:rPr lang="en-US" dirty="0"/>
              <a:t>ternary relationship type SUPPLY</a:t>
            </a:r>
          </a:p>
        </p:txBody>
      </p:sp>
      <p:sp>
        <p:nvSpPr>
          <p:cNvPr id="3" name="Content Placeholder 2">
            <a:extLst>
              <a:ext uri="{FF2B5EF4-FFF2-40B4-BE49-F238E27FC236}">
                <a16:creationId xmlns:a16="http://schemas.microsoft.com/office/drawing/2014/main" id="{41D5F886-E4DE-24A4-B0F5-66D936BB37F5}"/>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537E47C5-407A-D9A7-1DEE-B7A28D2667B1}"/>
              </a:ext>
            </a:extLst>
          </p:cNvPr>
          <p:cNvSpPr>
            <a:spLocks noGrp="1"/>
          </p:cNvSpPr>
          <p:nvPr>
            <p:ph type="sldNum" sz="quarter" idx="12"/>
          </p:nvPr>
        </p:nvSpPr>
        <p:spPr/>
        <p:txBody>
          <a:bodyPr/>
          <a:lstStyle/>
          <a:p>
            <a:fld id="{6264BDCF-5269-49AC-A246-ED26C2B980E3}" type="slidenum">
              <a:rPr lang="en-US" smtClean="0"/>
              <a:t>33</a:t>
            </a:fld>
            <a:endParaRPr lang="en-US"/>
          </a:p>
        </p:txBody>
      </p:sp>
      <p:pic>
        <p:nvPicPr>
          <p:cNvPr id="6" name="Picture 5">
            <a:extLst>
              <a:ext uri="{FF2B5EF4-FFF2-40B4-BE49-F238E27FC236}">
                <a16:creationId xmlns:a16="http://schemas.microsoft.com/office/drawing/2014/main" id="{6B70DE19-46F1-B781-B21A-5BFEB28CB242}"/>
              </a:ext>
            </a:extLst>
          </p:cNvPr>
          <p:cNvPicPr>
            <a:picLocks noChangeAspect="1"/>
          </p:cNvPicPr>
          <p:nvPr/>
        </p:nvPicPr>
        <p:blipFill>
          <a:blip r:embed="rId2"/>
          <a:stretch>
            <a:fillRect/>
          </a:stretch>
        </p:blipFill>
        <p:spPr>
          <a:xfrm>
            <a:off x="2743194" y="1371599"/>
            <a:ext cx="6180660" cy="5251473"/>
          </a:xfrm>
          <a:prstGeom prst="rect">
            <a:avLst/>
          </a:prstGeom>
        </p:spPr>
      </p:pic>
    </p:spTree>
    <p:extLst>
      <p:ext uri="{BB962C8B-B14F-4D97-AF65-F5344CB8AC3E}">
        <p14:creationId xmlns:p14="http://schemas.microsoft.com/office/powerpoint/2010/main" val="3284782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274C6-C24C-8021-DADD-C634690495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EC443B-7F72-9573-E202-94054CA6DE07}"/>
              </a:ext>
            </a:extLst>
          </p:cNvPr>
          <p:cNvSpPr>
            <a:spLocks noGrp="1"/>
          </p:cNvSpPr>
          <p:nvPr>
            <p:ph idx="1"/>
          </p:nvPr>
        </p:nvSpPr>
        <p:spPr/>
        <p:txBody>
          <a:bodyPr/>
          <a:lstStyle/>
          <a:p>
            <a:r>
              <a:rPr lang="en-US" dirty="0"/>
              <a:t>ternary relationship type SUPPLY relates a SUPPLIER </a:t>
            </a:r>
            <a:r>
              <a:rPr lang="en-US" i="1" dirty="0"/>
              <a:t>s</a:t>
            </a:r>
            <a:r>
              <a:rPr lang="en-US" dirty="0"/>
              <a:t>, PART </a:t>
            </a:r>
            <a:r>
              <a:rPr lang="en-US" i="1" dirty="0"/>
              <a:t>p</a:t>
            </a:r>
            <a:r>
              <a:rPr lang="en-US" dirty="0"/>
              <a:t>, and PROJECT </a:t>
            </a:r>
            <a:r>
              <a:rPr lang="en-US" i="1" dirty="0"/>
              <a:t>j </a:t>
            </a:r>
            <a:r>
              <a:rPr lang="en-US" dirty="0"/>
              <a:t>whenever </a:t>
            </a:r>
            <a:r>
              <a:rPr lang="en-US" i="1" dirty="0"/>
              <a:t>s </a:t>
            </a:r>
            <a:r>
              <a:rPr lang="en-US" dirty="0"/>
              <a:t>is currently supplying </a:t>
            </a:r>
            <a:r>
              <a:rPr lang="en-US" i="1" dirty="0"/>
              <a:t>p </a:t>
            </a:r>
            <a:r>
              <a:rPr lang="en-US" dirty="0"/>
              <a:t>to </a:t>
            </a:r>
            <a:r>
              <a:rPr lang="en-US" i="1" dirty="0"/>
              <a:t>j</a:t>
            </a:r>
          </a:p>
          <a:p>
            <a:r>
              <a:rPr lang="en-US" dirty="0"/>
              <a:t>can be mapped to relation SUPPLY whose primary key is the combination of the three foreign keys {</a:t>
            </a:r>
            <a:r>
              <a:rPr lang="en-US" dirty="0" err="1"/>
              <a:t>Sname</a:t>
            </a:r>
            <a:r>
              <a:rPr lang="en-US" dirty="0"/>
              <a:t>, </a:t>
            </a:r>
            <a:r>
              <a:rPr lang="en-US" dirty="0" err="1"/>
              <a:t>Part_no</a:t>
            </a:r>
            <a:r>
              <a:rPr lang="en-US" dirty="0"/>
              <a:t>, </a:t>
            </a:r>
            <a:r>
              <a:rPr lang="en-US" dirty="0" err="1"/>
              <a:t>Proj_name</a:t>
            </a:r>
            <a:r>
              <a:rPr lang="en-US" dirty="0"/>
              <a:t>}</a:t>
            </a:r>
          </a:p>
        </p:txBody>
      </p:sp>
      <p:sp>
        <p:nvSpPr>
          <p:cNvPr id="4" name="Slide Number Placeholder 3">
            <a:extLst>
              <a:ext uri="{FF2B5EF4-FFF2-40B4-BE49-F238E27FC236}">
                <a16:creationId xmlns:a16="http://schemas.microsoft.com/office/drawing/2014/main" id="{CB8E1892-62D3-2128-414E-2EF528B74DFC}"/>
              </a:ext>
            </a:extLst>
          </p:cNvPr>
          <p:cNvSpPr>
            <a:spLocks noGrp="1"/>
          </p:cNvSpPr>
          <p:nvPr>
            <p:ph type="sldNum" sz="quarter" idx="12"/>
          </p:nvPr>
        </p:nvSpPr>
        <p:spPr/>
        <p:txBody>
          <a:bodyPr/>
          <a:lstStyle/>
          <a:p>
            <a:fld id="{6264BDCF-5269-49AC-A246-ED26C2B980E3}" type="slidenum">
              <a:rPr lang="en-US" smtClean="0"/>
              <a:t>34</a:t>
            </a:fld>
            <a:endParaRPr lang="en-US"/>
          </a:p>
        </p:txBody>
      </p:sp>
    </p:spTree>
    <p:extLst>
      <p:ext uri="{BB962C8B-B14F-4D97-AF65-F5344CB8AC3E}">
        <p14:creationId xmlns:p14="http://schemas.microsoft.com/office/powerpoint/2010/main" val="39395856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035FB0-B9A6-1644-F0BA-16DF04F48BF8}"/>
              </a:ext>
            </a:extLst>
          </p:cNvPr>
          <p:cNvSpPr>
            <a:spLocks noGrp="1"/>
          </p:cNvSpPr>
          <p:nvPr>
            <p:ph type="sldNum" sz="quarter" idx="12"/>
          </p:nvPr>
        </p:nvSpPr>
        <p:spPr/>
        <p:txBody>
          <a:bodyPr/>
          <a:lstStyle/>
          <a:p>
            <a:fld id="{6264BDCF-5269-49AC-A246-ED26C2B980E3}" type="slidenum">
              <a:rPr lang="en-US" smtClean="0"/>
              <a:t>35</a:t>
            </a:fld>
            <a:endParaRPr lang="en-US"/>
          </a:p>
        </p:txBody>
      </p:sp>
      <p:graphicFrame>
        <p:nvGraphicFramePr>
          <p:cNvPr id="5" name="Table 4">
            <a:extLst>
              <a:ext uri="{FF2B5EF4-FFF2-40B4-BE49-F238E27FC236}">
                <a16:creationId xmlns:a16="http://schemas.microsoft.com/office/drawing/2014/main" id="{2A1B5545-1415-E0C4-E227-DF0AA1389850}"/>
              </a:ext>
            </a:extLst>
          </p:cNvPr>
          <p:cNvGraphicFramePr>
            <a:graphicFrameLocks noGrp="1"/>
          </p:cNvGraphicFramePr>
          <p:nvPr>
            <p:extLst>
              <p:ext uri="{D42A27DB-BD31-4B8C-83A1-F6EECF244321}">
                <p14:modId xmlns:p14="http://schemas.microsoft.com/office/powerpoint/2010/main" val="3451847493"/>
              </p:ext>
            </p:extLst>
          </p:nvPr>
        </p:nvGraphicFramePr>
        <p:xfrm>
          <a:off x="1514168" y="719666"/>
          <a:ext cx="9153832" cy="4450080"/>
        </p:xfrm>
        <a:graphic>
          <a:graphicData uri="http://schemas.openxmlformats.org/drawingml/2006/table">
            <a:tbl>
              <a:tblPr firstRow="1" bandRow="1">
                <a:tableStyleId>{5C22544A-7EE6-4342-B048-85BDC9FD1C3A}</a:tableStyleId>
              </a:tblPr>
              <a:tblGrid>
                <a:gridCol w="4576916">
                  <a:extLst>
                    <a:ext uri="{9D8B030D-6E8A-4147-A177-3AD203B41FA5}">
                      <a16:colId xmlns:a16="http://schemas.microsoft.com/office/drawing/2014/main" val="2369952166"/>
                    </a:ext>
                  </a:extLst>
                </a:gridCol>
                <a:gridCol w="4576916">
                  <a:extLst>
                    <a:ext uri="{9D8B030D-6E8A-4147-A177-3AD203B41FA5}">
                      <a16:colId xmlns:a16="http://schemas.microsoft.com/office/drawing/2014/main" val="3916515859"/>
                    </a:ext>
                  </a:extLst>
                </a:gridCol>
              </a:tblGrid>
              <a:tr h="370840">
                <a:tc>
                  <a:txBody>
                    <a:bodyPr/>
                    <a:lstStyle/>
                    <a:p>
                      <a:r>
                        <a:rPr lang="en-US" sz="3200" dirty="0">
                          <a:latin typeface="+mn-lt"/>
                        </a:rPr>
                        <a:t>ER MODEL</a:t>
                      </a:r>
                    </a:p>
                  </a:txBody>
                  <a:tcPr/>
                </a:tc>
                <a:tc>
                  <a:txBody>
                    <a:bodyPr/>
                    <a:lstStyle/>
                    <a:p>
                      <a:r>
                        <a:rPr lang="en-US" sz="3200" dirty="0">
                          <a:latin typeface="+mn-lt"/>
                        </a:rPr>
                        <a:t>RELATIONAL MODEL</a:t>
                      </a:r>
                    </a:p>
                  </a:txBody>
                  <a:tcPr/>
                </a:tc>
                <a:extLst>
                  <a:ext uri="{0D108BD9-81ED-4DB2-BD59-A6C34878D82A}">
                    <a16:rowId xmlns:a16="http://schemas.microsoft.com/office/drawing/2014/main" val="292917567"/>
                  </a:ext>
                </a:extLst>
              </a:tr>
              <a:tr h="370840">
                <a:tc>
                  <a:txBody>
                    <a:bodyPr/>
                    <a:lstStyle/>
                    <a:p>
                      <a:r>
                        <a:rPr lang="en-US" sz="2800" b="0" i="0" u="none" strike="noStrike" baseline="0" dirty="0">
                          <a:latin typeface="+mn-lt"/>
                        </a:rPr>
                        <a:t>Entity type</a:t>
                      </a:r>
                      <a:endParaRPr lang="en-US" sz="5400" dirty="0">
                        <a:latin typeface="+mn-lt"/>
                      </a:endParaRPr>
                    </a:p>
                  </a:txBody>
                  <a:tcPr/>
                </a:tc>
                <a:tc>
                  <a:txBody>
                    <a:bodyPr/>
                    <a:lstStyle/>
                    <a:p>
                      <a:r>
                        <a:rPr lang="en-US" sz="2800" b="0" i="1" u="none" strike="noStrike" baseline="0" dirty="0">
                          <a:latin typeface="+mn-lt"/>
                        </a:rPr>
                        <a:t>Entity </a:t>
                      </a:r>
                      <a:r>
                        <a:rPr lang="en-US" sz="2800" b="0" i="0" u="none" strike="noStrike" baseline="0" dirty="0">
                          <a:latin typeface="+mn-lt"/>
                        </a:rPr>
                        <a:t>relation</a:t>
                      </a:r>
                      <a:endParaRPr lang="en-US" sz="5400" dirty="0">
                        <a:latin typeface="+mn-lt"/>
                      </a:endParaRPr>
                    </a:p>
                  </a:txBody>
                  <a:tcPr/>
                </a:tc>
                <a:extLst>
                  <a:ext uri="{0D108BD9-81ED-4DB2-BD59-A6C34878D82A}">
                    <a16:rowId xmlns:a16="http://schemas.microsoft.com/office/drawing/2014/main" val="3647794979"/>
                  </a:ext>
                </a:extLst>
              </a:tr>
              <a:tr h="370840">
                <a:tc>
                  <a:txBody>
                    <a:bodyPr/>
                    <a:lstStyle/>
                    <a:p>
                      <a:r>
                        <a:rPr lang="en-US" sz="2800" b="0" i="0" u="none" strike="noStrike" baseline="0" dirty="0">
                          <a:latin typeface="+mn-lt"/>
                        </a:rPr>
                        <a:t>1:1 or 1:N relationship type</a:t>
                      </a:r>
                      <a:endParaRPr lang="en-US" sz="13800" dirty="0">
                        <a:latin typeface="+mn-lt"/>
                      </a:endParaRPr>
                    </a:p>
                  </a:txBody>
                  <a:tcPr/>
                </a:tc>
                <a:tc>
                  <a:txBody>
                    <a:bodyPr/>
                    <a:lstStyle/>
                    <a:p>
                      <a:r>
                        <a:rPr lang="en-US" sz="2800" b="0" i="0" u="none" strike="noStrike" baseline="0" dirty="0">
                          <a:latin typeface="+mn-lt"/>
                        </a:rPr>
                        <a:t>Foreign key (or </a:t>
                      </a:r>
                      <a:r>
                        <a:rPr lang="en-US" sz="2800" b="0" i="1" u="none" strike="noStrike" baseline="0" dirty="0">
                          <a:latin typeface="+mn-lt"/>
                        </a:rPr>
                        <a:t>relationship </a:t>
                      </a:r>
                      <a:r>
                        <a:rPr lang="en-US" sz="2800" b="0" i="0" u="none" strike="noStrike" baseline="0" dirty="0">
                          <a:latin typeface="+mn-lt"/>
                        </a:rPr>
                        <a:t>relation)</a:t>
                      </a:r>
                      <a:endParaRPr lang="en-US" sz="13800" dirty="0">
                        <a:latin typeface="+mn-lt"/>
                      </a:endParaRPr>
                    </a:p>
                  </a:txBody>
                  <a:tcPr/>
                </a:tc>
                <a:extLst>
                  <a:ext uri="{0D108BD9-81ED-4DB2-BD59-A6C34878D82A}">
                    <a16:rowId xmlns:a16="http://schemas.microsoft.com/office/drawing/2014/main" val="3371742997"/>
                  </a:ext>
                </a:extLst>
              </a:tr>
              <a:tr h="490849">
                <a:tc>
                  <a:txBody>
                    <a:bodyPr/>
                    <a:lstStyle/>
                    <a:p>
                      <a:r>
                        <a:rPr lang="en-US" sz="2800" dirty="0">
                          <a:latin typeface="+mn-lt"/>
                        </a:rPr>
                        <a:t>M:N relationship type</a:t>
                      </a:r>
                    </a:p>
                  </a:txBody>
                  <a:tcPr/>
                </a:tc>
                <a:tc>
                  <a:txBody>
                    <a:bodyPr/>
                    <a:lstStyle/>
                    <a:p>
                      <a:r>
                        <a:rPr lang="en-US" sz="2800" dirty="0">
                          <a:latin typeface="+mn-lt"/>
                        </a:rPr>
                        <a:t>Relationship relation and two foreign keys</a:t>
                      </a:r>
                    </a:p>
                  </a:txBody>
                  <a:tcPr/>
                </a:tc>
                <a:extLst>
                  <a:ext uri="{0D108BD9-81ED-4DB2-BD59-A6C34878D82A}">
                    <a16:rowId xmlns:a16="http://schemas.microsoft.com/office/drawing/2014/main" val="1545499737"/>
                  </a:ext>
                </a:extLst>
              </a:tr>
              <a:tr h="370840">
                <a:tc>
                  <a:txBody>
                    <a:bodyPr/>
                    <a:lstStyle/>
                    <a:p>
                      <a:r>
                        <a:rPr lang="en-US" sz="2800" dirty="0">
                          <a:latin typeface="+mn-lt"/>
                        </a:rPr>
                        <a:t>n-</a:t>
                      </a:r>
                      <a:r>
                        <a:rPr lang="en-US" sz="2800" dirty="0" err="1">
                          <a:latin typeface="+mn-lt"/>
                        </a:rPr>
                        <a:t>ary</a:t>
                      </a:r>
                      <a:r>
                        <a:rPr lang="en-US" sz="2800" dirty="0">
                          <a:latin typeface="+mn-lt"/>
                        </a:rPr>
                        <a:t> relationship type</a:t>
                      </a:r>
                    </a:p>
                  </a:txBody>
                  <a:tcPr/>
                </a:tc>
                <a:tc>
                  <a:txBody>
                    <a:bodyPr/>
                    <a:lstStyle/>
                    <a:p>
                      <a:r>
                        <a:rPr lang="en-US" sz="2800" dirty="0">
                          <a:latin typeface="+mn-lt"/>
                        </a:rPr>
                        <a:t>Relationship relation and n foreign keys</a:t>
                      </a:r>
                    </a:p>
                  </a:txBody>
                  <a:tcPr/>
                </a:tc>
                <a:extLst>
                  <a:ext uri="{0D108BD9-81ED-4DB2-BD59-A6C34878D82A}">
                    <a16:rowId xmlns:a16="http://schemas.microsoft.com/office/drawing/2014/main" val="1651218508"/>
                  </a:ext>
                </a:extLst>
              </a:tr>
              <a:tr h="370840">
                <a:tc>
                  <a:txBody>
                    <a:bodyPr/>
                    <a:lstStyle/>
                    <a:p>
                      <a:r>
                        <a:rPr lang="en-US" sz="2800" dirty="0">
                          <a:latin typeface="+mn-lt"/>
                        </a:rPr>
                        <a:t>Simple attribute</a:t>
                      </a:r>
                    </a:p>
                  </a:txBody>
                  <a:tcPr/>
                </a:tc>
                <a:tc>
                  <a:txBody>
                    <a:bodyPr/>
                    <a:lstStyle/>
                    <a:p>
                      <a:r>
                        <a:rPr lang="en-US" sz="2800" dirty="0">
                          <a:latin typeface="+mn-lt"/>
                        </a:rPr>
                        <a:t>Attribute</a:t>
                      </a:r>
                    </a:p>
                  </a:txBody>
                  <a:tcPr/>
                </a:tc>
                <a:extLst>
                  <a:ext uri="{0D108BD9-81ED-4DB2-BD59-A6C34878D82A}">
                    <a16:rowId xmlns:a16="http://schemas.microsoft.com/office/drawing/2014/main" val="1572363516"/>
                  </a:ext>
                </a:extLst>
              </a:tr>
            </a:tbl>
          </a:graphicData>
        </a:graphic>
      </p:graphicFrame>
    </p:spTree>
    <p:extLst>
      <p:ext uri="{BB962C8B-B14F-4D97-AF65-F5344CB8AC3E}">
        <p14:creationId xmlns:p14="http://schemas.microsoft.com/office/powerpoint/2010/main" val="4005398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EFFB3-A7CA-B6CC-F8C3-ABE1FCDE40B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D0BB11-69D0-154B-5428-69CC49F088F9}"/>
              </a:ext>
            </a:extLst>
          </p:cNvPr>
          <p:cNvSpPr>
            <a:spLocks noGrp="1"/>
          </p:cNvSpPr>
          <p:nvPr>
            <p:ph type="sldNum" sz="quarter" idx="12"/>
          </p:nvPr>
        </p:nvSpPr>
        <p:spPr/>
        <p:txBody>
          <a:bodyPr/>
          <a:lstStyle/>
          <a:p>
            <a:fld id="{6264BDCF-5269-49AC-A246-ED26C2B980E3}" type="slidenum">
              <a:rPr lang="en-US" smtClean="0"/>
              <a:t>36</a:t>
            </a:fld>
            <a:endParaRPr lang="en-US"/>
          </a:p>
        </p:txBody>
      </p:sp>
      <p:graphicFrame>
        <p:nvGraphicFramePr>
          <p:cNvPr id="5" name="Table 4">
            <a:extLst>
              <a:ext uri="{FF2B5EF4-FFF2-40B4-BE49-F238E27FC236}">
                <a16:creationId xmlns:a16="http://schemas.microsoft.com/office/drawing/2014/main" id="{A9892567-EAF3-5167-03B4-C598FEE84A21}"/>
              </a:ext>
            </a:extLst>
          </p:cNvPr>
          <p:cNvGraphicFramePr>
            <a:graphicFrameLocks noGrp="1"/>
          </p:cNvGraphicFramePr>
          <p:nvPr>
            <p:extLst>
              <p:ext uri="{D42A27DB-BD31-4B8C-83A1-F6EECF244321}">
                <p14:modId xmlns:p14="http://schemas.microsoft.com/office/powerpoint/2010/main" val="3010342277"/>
              </p:ext>
            </p:extLst>
          </p:nvPr>
        </p:nvGraphicFramePr>
        <p:xfrm>
          <a:off x="1514168" y="719666"/>
          <a:ext cx="9153832" cy="3596640"/>
        </p:xfrm>
        <a:graphic>
          <a:graphicData uri="http://schemas.openxmlformats.org/drawingml/2006/table">
            <a:tbl>
              <a:tblPr firstRow="1" bandRow="1">
                <a:tableStyleId>{5C22544A-7EE6-4342-B048-85BDC9FD1C3A}</a:tableStyleId>
              </a:tblPr>
              <a:tblGrid>
                <a:gridCol w="4576916">
                  <a:extLst>
                    <a:ext uri="{9D8B030D-6E8A-4147-A177-3AD203B41FA5}">
                      <a16:colId xmlns:a16="http://schemas.microsoft.com/office/drawing/2014/main" val="2369952166"/>
                    </a:ext>
                  </a:extLst>
                </a:gridCol>
                <a:gridCol w="4576916">
                  <a:extLst>
                    <a:ext uri="{9D8B030D-6E8A-4147-A177-3AD203B41FA5}">
                      <a16:colId xmlns:a16="http://schemas.microsoft.com/office/drawing/2014/main" val="3916515859"/>
                    </a:ext>
                  </a:extLst>
                </a:gridCol>
              </a:tblGrid>
              <a:tr h="370840">
                <a:tc>
                  <a:txBody>
                    <a:bodyPr/>
                    <a:lstStyle/>
                    <a:p>
                      <a:r>
                        <a:rPr lang="en-US" sz="3200" dirty="0">
                          <a:latin typeface="+mn-lt"/>
                        </a:rPr>
                        <a:t>ER MODEL</a:t>
                      </a:r>
                    </a:p>
                  </a:txBody>
                  <a:tcPr/>
                </a:tc>
                <a:tc>
                  <a:txBody>
                    <a:bodyPr/>
                    <a:lstStyle/>
                    <a:p>
                      <a:r>
                        <a:rPr lang="en-US" sz="3200" dirty="0">
                          <a:latin typeface="+mn-lt"/>
                        </a:rPr>
                        <a:t>RELATIONAL MODEL</a:t>
                      </a:r>
                    </a:p>
                  </a:txBody>
                  <a:tcPr/>
                </a:tc>
                <a:extLst>
                  <a:ext uri="{0D108BD9-81ED-4DB2-BD59-A6C34878D82A}">
                    <a16:rowId xmlns:a16="http://schemas.microsoft.com/office/drawing/2014/main" val="292917567"/>
                  </a:ext>
                </a:extLst>
              </a:tr>
              <a:tr h="370840">
                <a:tc>
                  <a:txBody>
                    <a:bodyPr/>
                    <a:lstStyle/>
                    <a:p>
                      <a:r>
                        <a:rPr lang="en-US" sz="2800" b="0" i="0" u="none" strike="noStrike" baseline="0" dirty="0">
                          <a:latin typeface="+mn-lt"/>
                        </a:rPr>
                        <a:t>Composite attribute</a:t>
                      </a:r>
                      <a:endParaRPr lang="en-US" sz="5400" dirty="0">
                        <a:latin typeface="+mn-lt"/>
                      </a:endParaRPr>
                    </a:p>
                  </a:txBody>
                  <a:tcPr/>
                </a:tc>
                <a:tc>
                  <a:txBody>
                    <a:bodyPr/>
                    <a:lstStyle/>
                    <a:p>
                      <a:r>
                        <a:rPr lang="en-US" sz="2800" b="0" i="1" u="none" strike="noStrike" baseline="0" dirty="0">
                          <a:latin typeface="+mn-lt"/>
                        </a:rPr>
                        <a:t>Set of simple component attributes</a:t>
                      </a:r>
                      <a:endParaRPr lang="en-US" sz="5400" dirty="0">
                        <a:latin typeface="+mn-lt"/>
                      </a:endParaRPr>
                    </a:p>
                  </a:txBody>
                  <a:tcPr/>
                </a:tc>
                <a:extLst>
                  <a:ext uri="{0D108BD9-81ED-4DB2-BD59-A6C34878D82A}">
                    <a16:rowId xmlns:a16="http://schemas.microsoft.com/office/drawing/2014/main" val="3647794979"/>
                  </a:ext>
                </a:extLst>
              </a:tr>
              <a:tr h="370840">
                <a:tc>
                  <a:txBody>
                    <a:bodyPr/>
                    <a:lstStyle/>
                    <a:p>
                      <a:r>
                        <a:rPr lang="en-US" sz="2800" b="0" i="0" u="none" strike="noStrike" baseline="0" dirty="0">
                          <a:latin typeface="+mn-lt"/>
                        </a:rPr>
                        <a:t>Multivalued attribute</a:t>
                      </a:r>
                      <a:endParaRPr lang="en-US" sz="13800" dirty="0">
                        <a:latin typeface="+mn-lt"/>
                      </a:endParaRPr>
                    </a:p>
                  </a:txBody>
                  <a:tcPr/>
                </a:tc>
                <a:tc>
                  <a:txBody>
                    <a:bodyPr/>
                    <a:lstStyle/>
                    <a:p>
                      <a:r>
                        <a:rPr lang="en-US" sz="2800" b="0" i="0" u="none" strike="noStrike" baseline="0" dirty="0">
                          <a:latin typeface="+mn-lt"/>
                        </a:rPr>
                        <a:t>Relation and foreign key</a:t>
                      </a:r>
                      <a:endParaRPr lang="en-US" sz="13800" dirty="0">
                        <a:latin typeface="+mn-lt"/>
                      </a:endParaRPr>
                    </a:p>
                  </a:txBody>
                  <a:tcPr/>
                </a:tc>
                <a:extLst>
                  <a:ext uri="{0D108BD9-81ED-4DB2-BD59-A6C34878D82A}">
                    <a16:rowId xmlns:a16="http://schemas.microsoft.com/office/drawing/2014/main" val="3371742997"/>
                  </a:ext>
                </a:extLst>
              </a:tr>
              <a:tr h="490849">
                <a:tc>
                  <a:txBody>
                    <a:bodyPr/>
                    <a:lstStyle/>
                    <a:p>
                      <a:r>
                        <a:rPr lang="en-US" sz="2800" dirty="0">
                          <a:latin typeface="+mn-lt"/>
                        </a:rPr>
                        <a:t>Value set</a:t>
                      </a:r>
                    </a:p>
                  </a:txBody>
                  <a:tcPr/>
                </a:tc>
                <a:tc>
                  <a:txBody>
                    <a:bodyPr/>
                    <a:lstStyle/>
                    <a:p>
                      <a:r>
                        <a:rPr lang="en-US" sz="2800" dirty="0">
                          <a:latin typeface="+mn-lt"/>
                        </a:rPr>
                        <a:t>Domain</a:t>
                      </a:r>
                    </a:p>
                  </a:txBody>
                  <a:tcPr/>
                </a:tc>
                <a:extLst>
                  <a:ext uri="{0D108BD9-81ED-4DB2-BD59-A6C34878D82A}">
                    <a16:rowId xmlns:a16="http://schemas.microsoft.com/office/drawing/2014/main" val="1545499737"/>
                  </a:ext>
                </a:extLst>
              </a:tr>
              <a:tr h="370840">
                <a:tc>
                  <a:txBody>
                    <a:bodyPr/>
                    <a:lstStyle/>
                    <a:p>
                      <a:r>
                        <a:rPr lang="en-US" sz="2800" dirty="0">
                          <a:latin typeface="+mn-lt"/>
                        </a:rPr>
                        <a:t>Key attribute</a:t>
                      </a:r>
                    </a:p>
                  </a:txBody>
                  <a:tcPr/>
                </a:tc>
                <a:tc>
                  <a:txBody>
                    <a:bodyPr/>
                    <a:lstStyle/>
                    <a:p>
                      <a:r>
                        <a:rPr lang="en-US" sz="2800" dirty="0">
                          <a:latin typeface="+mn-lt"/>
                        </a:rPr>
                        <a:t>Primary (or secondary) key</a:t>
                      </a:r>
                    </a:p>
                  </a:txBody>
                  <a:tcPr/>
                </a:tc>
                <a:extLst>
                  <a:ext uri="{0D108BD9-81ED-4DB2-BD59-A6C34878D82A}">
                    <a16:rowId xmlns:a16="http://schemas.microsoft.com/office/drawing/2014/main" val="1651218508"/>
                  </a:ext>
                </a:extLst>
              </a:tr>
              <a:tr h="370840">
                <a:tc>
                  <a:txBody>
                    <a:bodyPr/>
                    <a:lstStyle/>
                    <a:p>
                      <a:endParaRPr lang="en-US" sz="2800" dirty="0">
                        <a:latin typeface="+mn-lt"/>
                      </a:endParaRPr>
                    </a:p>
                  </a:txBody>
                  <a:tcPr/>
                </a:tc>
                <a:tc>
                  <a:txBody>
                    <a:bodyPr/>
                    <a:lstStyle/>
                    <a:p>
                      <a:endParaRPr lang="en-US" sz="2800" dirty="0">
                        <a:latin typeface="+mn-lt"/>
                      </a:endParaRPr>
                    </a:p>
                  </a:txBody>
                  <a:tcPr/>
                </a:tc>
                <a:extLst>
                  <a:ext uri="{0D108BD9-81ED-4DB2-BD59-A6C34878D82A}">
                    <a16:rowId xmlns:a16="http://schemas.microsoft.com/office/drawing/2014/main" val="1572363516"/>
                  </a:ext>
                </a:extLst>
              </a:tr>
            </a:tbl>
          </a:graphicData>
        </a:graphic>
      </p:graphicFrame>
    </p:spTree>
    <p:extLst>
      <p:ext uri="{BB962C8B-B14F-4D97-AF65-F5344CB8AC3E}">
        <p14:creationId xmlns:p14="http://schemas.microsoft.com/office/powerpoint/2010/main" val="2554326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B776F-34D7-F73E-441A-CA6DFA4F6A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D0C955-85B0-6219-E260-902F1E2A1C57}"/>
              </a:ext>
            </a:extLst>
          </p:cNvPr>
          <p:cNvSpPr>
            <a:spLocks noGrp="1"/>
          </p:cNvSpPr>
          <p:nvPr>
            <p:ph idx="1"/>
          </p:nvPr>
        </p:nvSpPr>
        <p:spPr/>
        <p:txBody>
          <a:bodyPr>
            <a:noAutofit/>
          </a:bodyPr>
          <a:lstStyle/>
          <a:p>
            <a:r>
              <a:rPr lang="en-US" dirty="0"/>
              <a:t>relationship types are not represented explicitly; represented by having two attributes A and B, one a primary key and the other a foreign key (over the same domain) included in two relations S and T</a:t>
            </a:r>
          </a:p>
          <a:p>
            <a:r>
              <a:rPr lang="en-US" dirty="0"/>
              <a:t>two tuples in S and T are related when they have the same value for A and B</a:t>
            </a:r>
          </a:p>
        </p:txBody>
      </p:sp>
      <p:sp>
        <p:nvSpPr>
          <p:cNvPr id="4" name="Slide Number Placeholder 3">
            <a:extLst>
              <a:ext uri="{FF2B5EF4-FFF2-40B4-BE49-F238E27FC236}">
                <a16:creationId xmlns:a16="http://schemas.microsoft.com/office/drawing/2014/main" id="{C740B6C4-7BF9-80A3-D4DE-18EFFD1504E1}"/>
              </a:ext>
            </a:extLst>
          </p:cNvPr>
          <p:cNvSpPr>
            <a:spLocks noGrp="1"/>
          </p:cNvSpPr>
          <p:nvPr>
            <p:ph type="sldNum" sz="quarter" idx="12"/>
          </p:nvPr>
        </p:nvSpPr>
        <p:spPr/>
        <p:txBody>
          <a:bodyPr/>
          <a:lstStyle/>
          <a:p>
            <a:fld id="{6264BDCF-5269-49AC-A246-ED26C2B980E3}" type="slidenum">
              <a:rPr lang="en-US" smtClean="0"/>
              <a:t>37</a:t>
            </a:fld>
            <a:endParaRPr lang="en-US"/>
          </a:p>
        </p:txBody>
      </p:sp>
    </p:spTree>
    <p:extLst>
      <p:ext uri="{BB962C8B-B14F-4D97-AF65-F5344CB8AC3E}">
        <p14:creationId xmlns:p14="http://schemas.microsoft.com/office/powerpoint/2010/main" val="26472872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9E291-5A0D-B46F-C5DB-EBDD86860E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0B2A93-4E04-716D-B067-713D5CA4BE27}"/>
              </a:ext>
            </a:extLst>
          </p:cNvPr>
          <p:cNvSpPr>
            <a:spLocks noGrp="1"/>
          </p:cNvSpPr>
          <p:nvPr>
            <p:ph idx="1"/>
          </p:nvPr>
        </p:nvSpPr>
        <p:spPr/>
        <p:txBody>
          <a:bodyPr>
            <a:normAutofit/>
          </a:bodyPr>
          <a:lstStyle/>
          <a:p>
            <a:r>
              <a:rPr lang="en-US" dirty="0"/>
              <a:t>using the EQUIJOIN operation over S.A and T.B, we can combine all pairs of related tuples from S and T and materialize the relationship</a:t>
            </a:r>
          </a:p>
          <a:p>
            <a:r>
              <a:rPr lang="en-US" dirty="0"/>
              <a:t>when a binary 1:1 or 1:N relationship type is involved and foreign key mapping is used, a single join operation is usually needed</a:t>
            </a:r>
          </a:p>
          <a:p>
            <a:r>
              <a:rPr lang="en-US" dirty="0"/>
              <a:t>when relationship relation approach is used, such as for a binary M:N relationship type, two join operations are needed,</a:t>
            </a:r>
          </a:p>
          <a:p>
            <a:r>
              <a:rPr lang="en-US" dirty="0"/>
              <a:t>for n-</a:t>
            </a:r>
            <a:r>
              <a:rPr lang="en-US" dirty="0" err="1"/>
              <a:t>ary</a:t>
            </a:r>
            <a:r>
              <a:rPr lang="en-US" dirty="0"/>
              <a:t> relationship types, n joins are needed to fully materialize the relationship instances</a:t>
            </a:r>
          </a:p>
        </p:txBody>
      </p:sp>
      <p:sp>
        <p:nvSpPr>
          <p:cNvPr id="4" name="Slide Number Placeholder 3">
            <a:extLst>
              <a:ext uri="{FF2B5EF4-FFF2-40B4-BE49-F238E27FC236}">
                <a16:creationId xmlns:a16="http://schemas.microsoft.com/office/drawing/2014/main" id="{A115FABF-E6D3-DFDF-61E7-2622BDC1277A}"/>
              </a:ext>
            </a:extLst>
          </p:cNvPr>
          <p:cNvSpPr>
            <a:spLocks noGrp="1"/>
          </p:cNvSpPr>
          <p:nvPr>
            <p:ph type="sldNum" sz="quarter" idx="12"/>
          </p:nvPr>
        </p:nvSpPr>
        <p:spPr/>
        <p:txBody>
          <a:bodyPr/>
          <a:lstStyle/>
          <a:p>
            <a:fld id="{6264BDCF-5269-49AC-A246-ED26C2B980E3}" type="slidenum">
              <a:rPr lang="en-US" smtClean="0"/>
              <a:t>38</a:t>
            </a:fld>
            <a:endParaRPr lang="en-US"/>
          </a:p>
        </p:txBody>
      </p:sp>
    </p:spTree>
    <p:extLst>
      <p:ext uri="{BB962C8B-B14F-4D97-AF65-F5344CB8AC3E}">
        <p14:creationId xmlns:p14="http://schemas.microsoft.com/office/powerpoint/2010/main" val="12924737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8EFC8-C931-23E0-1F09-95FC133F1A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B0D44D7-0064-C188-C301-95B997739877}"/>
              </a:ext>
            </a:extLst>
          </p:cNvPr>
          <p:cNvSpPr>
            <a:spLocks noGrp="1"/>
          </p:cNvSpPr>
          <p:nvPr>
            <p:ph type="title"/>
          </p:nvPr>
        </p:nvSpPr>
        <p:spPr/>
        <p:txBody>
          <a:bodyPr/>
          <a:lstStyle/>
          <a:p>
            <a:r>
              <a:rPr lang="en-US" sz="5400" b="1" dirty="0"/>
              <a:t>Mapping </a:t>
            </a:r>
            <a:r>
              <a:rPr lang="en-US" sz="4800" b="1" dirty="0"/>
              <a:t>Enhanced Entity Relationship</a:t>
            </a:r>
            <a:r>
              <a:rPr lang="en-US" b="1" dirty="0"/>
              <a:t> </a:t>
            </a:r>
            <a:br>
              <a:rPr lang="en-US" b="1" dirty="0"/>
            </a:br>
            <a:r>
              <a:rPr lang="en-US" sz="5400" b="1" dirty="0"/>
              <a:t>EER Model Constructs to Relations</a:t>
            </a:r>
            <a:endParaRPr lang="en-US" dirty="0"/>
          </a:p>
        </p:txBody>
      </p:sp>
      <p:sp>
        <p:nvSpPr>
          <p:cNvPr id="6" name="Text Placeholder 5">
            <a:extLst>
              <a:ext uri="{FF2B5EF4-FFF2-40B4-BE49-F238E27FC236}">
                <a16:creationId xmlns:a16="http://schemas.microsoft.com/office/drawing/2014/main" id="{D824792F-ACAC-F9AD-51DB-9D2989E3FA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CC320D-6160-B93D-BDCD-CFDE4BCF8782}"/>
              </a:ext>
            </a:extLst>
          </p:cNvPr>
          <p:cNvSpPr>
            <a:spLocks noGrp="1"/>
          </p:cNvSpPr>
          <p:nvPr>
            <p:ph type="sldNum" sz="quarter" idx="12"/>
          </p:nvPr>
        </p:nvSpPr>
        <p:spPr/>
        <p:txBody>
          <a:bodyPr/>
          <a:lstStyle/>
          <a:p>
            <a:fld id="{6264BDCF-5269-49AC-A246-ED26C2B980E3}" type="slidenum">
              <a:rPr lang="en-US" smtClean="0"/>
              <a:t>39</a:t>
            </a:fld>
            <a:endParaRPr lang="en-US"/>
          </a:p>
        </p:txBody>
      </p:sp>
    </p:spTree>
    <p:extLst>
      <p:ext uri="{BB962C8B-B14F-4D97-AF65-F5344CB8AC3E}">
        <p14:creationId xmlns:p14="http://schemas.microsoft.com/office/powerpoint/2010/main" val="36276855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070BF-356B-41C3-B94B-9E9533A9ED37}"/>
              </a:ext>
            </a:extLst>
          </p:cNvPr>
          <p:cNvSpPr>
            <a:spLocks noGrp="1"/>
          </p:cNvSpPr>
          <p:nvPr>
            <p:ph type="title"/>
          </p:nvPr>
        </p:nvSpPr>
        <p:spPr/>
        <p:txBody>
          <a:bodyPr/>
          <a:lstStyle/>
          <a:p>
            <a:r>
              <a:rPr lang="en-US" dirty="0"/>
              <a:t>Mapping of </a:t>
            </a:r>
            <a:r>
              <a:rPr lang="en-US" b="1" dirty="0"/>
              <a:t>Specialization</a:t>
            </a:r>
            <a:r>
              <a:rPr lang="en-US" dirty="0"/>
              <a:t> or </a:t>
            </a:r>
            <a:r>
              <a:rPr lang="en-US" b="1" dirty="0"/>
              <a:t>Generalization</a:t>
            </a:r>
          </a:p>
        </p:txBody>
      </p:sp>
      <p:sp>
        <p:nvSpPr>
          <p:cNvPr id="3" name="Content Placeholder 2">
            <a:extLst>
              <a:ext uri="{FF2B5EF4-FFF2-40B4-BE49-F238E27FC236}">
                <a16:creationId xmlns:a16="http://schemas.microsoft.com/office/drawing/2014/main" id="{0054E285-FF0E-4966-6761-C14C189C4E03}"/>
              </a:ext>
            </a:extLst>
          </p:cNvPr>
          <p:cNvSpPr>
            <a:spLocks noGrp="1"/>
          </p:cNvSpPr>
          <p:nvPr>
            <p:ph idx="1"/>
          </p:nvPr>
        </p:nvSpPr>
        <p:spPr/>
        <p:txBody>
          <a:bodyPr>
            <a:normAutofit/>
          </a:bodyPr>
          <a:lstStyle/>
          <a:p>
            <a:r>
              <a:rPr lang="en-US" dirty="0"/>
              <a:t>two main options </a:t>
            </a:r>
          </a:p>
          <a:p>
            <a:pPr marL="514350" indent="-514350">
              <a:buFont typeface="+mj-lt"/>
              <a:buAutoNum type="arabicPeriod"/>
            </a:pPr>
            <a:r>
              <a:rPr lang="en-US" dirty="0"/>
              <a:t>map the whole specialization into a single table</a:t>
            </a:r>
          </a:p>
          <a:p>
            <a:pPr marL="514350" indent="-514350">
              <a:buFont typeface="+mj-lt"/>
              <a:buAutoNum type="arabicPeriod"/>
            </a:pPr>
            <a:r>
              <a:rPr lang="en-US" dirty="0"/>
              <a:t>map it into multiple tables</a:t>
            </a:r>
          </a:p>
          <a:p>
            <a:pPr marL="514350" indent="-514350">
              <a:buFont typeface="+mj-lt"/>
              <a:buAutoNum type="arabicPeriod"/>
            </a:pPr>
            <a:r>
              <a:rPr lang="en-US" dirty="0"/>
              <a:t>within each option are variations that depend on the constraints on the specialization/generalization !</a:t>
            </a:r>
          </a:p>
        </p:txBody>
      </p:sp>
      <p:sp>
        <p:nvSpPr>
          <p:cNvPr id="4" name="Slide Number Placeholder 3">
            <a:extLst>
              <a:ext uri="{FF2B5EF4-FFF2-40B4-BE49-F238E27FC236}">
                <a16:creationId xmlns:a16="http://schemas.microsoft.com/office/drawing/2014/main" id="{7EFA32F0-7CFC-2A43-4917-D139542E8742}"/>
              </a:ext>
            </a:extLst>
          </p:cNvPr>
          <p:cNvSpPr>
            <a:spLocks noGrp="1"/>
          </p:cNvSpPr>
          <p:nvPr>
            <p:ph type="sldNum" sz="quarter" idx="12"/>
          </p:nvPr>
        </p:nvSpPr>
        <p:spPr/>
        <p:txBody>
          <a:bodyPr/>
          <a:lstStyle/>
          <a:p>
            <a:fld id="{6264BDCF-5269-49AC-A246-ED26C2B980E3}" type="slidenum">
              <a:rPr lang="en-US" smtClean="0"/>
              <a:t>40</a:t>
            </a:fld>
            <a:endParaRPr lang="en-US"/>
          </a:p>
        </p:txBody>
      </p:sp>
    </p:spTree>
    <p:extLst>
      <p:ext uri="{BB962C8B-B14F-4D97-AF65-F5344CB8AC3E}">
        <p14:creationId xmlns:p14="http://schemas.microsoft.com/office/powerpoint/2010/main" val="13504301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2FE8E-3E2A-18C7-AAB5-B1CA438710B0}"/>
              </a:ext>
            </a:extLst>
          </p:cNvPr>
          <p:cNvSpPr>
            <a:spLocks noGrp="1"/>
          </p:cNvSpPr>
          <p:nvPr>
            <p:ph type="title"/>
          </p:nvPr>
        </p:nvSpPr>
        <p:spPr/>
        <p:txBody>
          <a:bodyPr/>
          <a:lstStyle/>
          <a:p>
            <a:r>
              <a:rPr lang="en-US" dirty="0"/>
              <a:t>Step 8: Options for Mapping </a:t>
            </a:r>
            <a:br>
              <a:rPr lang="en-US" dirty="0"/>
            </a:br>
            <a:r>
              <a:rPr lang="en-US" dirty="0"/>
              <a:t>Specialization or Generalization</a:t>
            </a:r>
          </a:p>
        </p:txBody>
      </p:sp>
      <p:sp>
        <p:nvSpPr>
          <p:cNvPr id="3" name="Content Placeholder 2">
            <a:extLst>
              <a:ext uri="{FF2B5EF4-FFF2-40B4-BE49-F238E27FC236}">
                <a16:creationId xmlns:a16="http://schemas.microsoft.com/office/drawing/2014/main" id="{29277E06-E8BC-C4F6-8526-77C27587022D}"/>
              </a:ext>
            </a:extLst>
          </p:cNvPr>
          <p:cNvSpPr>
            <a:spLocks noGrp="1"/>
          </p:cNvSpPr>
          <p:nvPr>
            <p:ph idx="1"/>
          </p:nvPr>
        </p:nvSpPr>
        <p:spPr/>
        <p:txBody>
          <a:bodyPr>
            <a:normAutofit/>
          </a:bodyPr>
          <a:lstStyle/>
          <a:p>
            <a:r>
              <a:rPr lang="en-US" dirty="0"/>
              <a:t>can add a further step to our ER-to-relational mapping algorithm to handle the mapping of specialization</a:t>
            </a:r>
          </a:p>
          <a:p>
            <a:r>
              <a:rPr lang="en-US" dirty="0"/>
              <a:t>use </a:t>
            </a:r>
            <a:r>
              <a:rPr lang="en-US" dirty="0" err="1"/>
              <a:t>Attrs</a:t>
            </a:r>
            <a:r>
              <a:rPr lang="en-US" dirty="0"/>
              <a:t>(</a:t>
            </a:r>
            <a:r>
              <a:rPr lang="en-US" i="1" dirty="0"/>
              <a:t>R</a:t>
            </a:r>
            <a:r>
              <a:rPr lang="en-US" dirty="0"/>
              <a:t>) to denote </a:t>
            </a:r>
            <a:r>
              <a:rPr lang="en-US" i="1" dirty="0"/>
              <a:t>the attributes of a relation R</a:t>
            </a:r>
            <a:r>
              <a:rPr lang="en-US" dirty="0"/>
              <a:t>, and PK(</a:t>
            </a:r>
            <a:r>
              <a:rPr lang="en-US" i="1" dirty="0"/>
              <a:t>R</a:t>
            </a:r>
            <a:r>
              <a:rPr lang="en-US" dirty="0"/>
              <a:t>) to denote the </a:t>
            </a:r>
            <a:r>
              <a:rPr lang="en-US" i="1" dirty="0"/>
              <a:t>primary key of R</a:t>
            </a:r>
            <a:r>
              <a:rPr lang="en-US" dirty="0"/>
              <a:t>.</a:t>
            </a:r>
          </a:p>
          <a:p>
            <a:r>
              <a:rPr lang="en-US" dirty="0"/>
              <a:t>convert each specialization with </a:t>
            </a:r>
            <a:r>
              <a:rPr lang="en-US" i="1" dirty="0"/>
              <a:t>m </a:t>
            </a:r>
            <a:r>
              <a:rPr lang="en-US" dirty="0"/>
              <a:t>subclasses {</a:t>
            </a:r>
            <a:r>
              <a:rPr lang="en-US" i="1" dirty="0"/>
              <a:t>S</a:t>
            </a:r>
            <a:r>
              <a:rPr lang="en-US" dirty="0"/>
              <a:t>1, </a:t>
            </a:r>
            <a:r>
              <a:rPr lang="en-US" i="1" dirty="0"/>
              <a:t>S</a:t>
            </a:r>
            <a:r>
              <a:rPr lang="en-US" dirty="0"/>
              <a:t>2, … , </a:t>
            </a:r>
            <a:r>
              <a:rPr lang="en-US" i="1" dirty="0" err="1"/>
              <a:t>Sm</a:t>
            </a:r>
            <a:r>
              <a:rPr lang="en-US" dirty="0"/>
              <a:t>} and (generalized) superclass </a:t>
            </a:r>
            <a:r>
              <a:rPr lang="en-US" i="1" dirty="0"/>
              <a:t>C</a:t>
            </a:r>
            <a:r>
              <a:rPr lang="en-US" dirty="0"/>
              <a:t>, where the attributes of </a:t>
            </a:r>
            <a:r>
              <a:rPr lang="en-US" i="1" dirty="0"/>
              <a:t>C </a:t>
            </a:r>
            <a:r>
              <a:rPr lang="en-US" dirty="0"/>
              <a:t>are {</a:t>
            </a:r>
            <a:r>
              <a:rPr lang="en-US" i="1" dirty="0"/>
              <a:t>k</a:t>
            </a:r>
            <a:r>
              <a:rPr lang="en-US" dirty="0"/>
              <a:t>, </a:t>
            </a:r>
            <a:r>
              <a:rPr lang="en-US" i="1" dirty="0"/>
              <a:t>a</a:t>
            </a:r>
            <a:r>
              <a:rPr lang="en-US" dirty="0"/>
              <a:t>1, … , </a:t>
            </a:r>
            <a:r>
              <a:rPr lang="en-US" i="1" dirty="0"/>
              <a:t>an</a:t>
            </a:r>
            <a:r>
              <a:rPr lang="en-US" dirty="0"/>
              <a:t>} and </a:t>
            </a:r>
            <a:r>
              <a:rPr lang="en-US" i="1" dirty="0"/>
              <a:t>k </a:t>
            </a:r>
            <a:r>
              <a:rPr lang="en-US" dirty="0"/>
              <a:t>is the (primary) key, into relation schemas using one of the following options:</a:t>
            </a:r>
          </a:p>
        </p:txBody>
      </p:sp>
      <p:sp>
        <p:nvSpPr>
          <p:cNvPr id="4" name="Slide Number Placeholder 3">
            <a:extLst>
              <a:ext uri="{FF2B5EF4-FFF2-40B4-BE49-F238E27FC236}">
                <a16:creationId xmlns:a16="http://schemas.microsoft.com/office/drawing/2014/main" id="{81FA674A-C5DC-AB69-8766-AD75455E47A6}"/>
              </a:ext>
            </a:extLst>
          </p:cNvPr>
          <p:cNvSpPr>
            <a:spLocks noGrp="1"/>
          </p:cNvSpPr>
          <p:nvPr>
            <p:ph type="sldNum" sz="quarter" idx="12"/>
          </p:nvPr>
        </p:nvSpPr>
        <p:spPr/>
        <p:txBody>
          <a:bodyPr/>
          <a:lstStyle/>
          <a:p>
            <a:fld id="{6264BDCF-5269-49AC-A246-ED26C2B980E3}" type="slidenum">
              <a:rPr lang="en-US" smtClean="0"/>
              <a:t>41</a:t>
            </a:fld>
            <a:endParaRPr lang="en-US"/>
          </a:p>
        </p:txBody>
      </p:sp>
    </p:spTree>
    <p:extLst>
      <p:ext uri="{BB962C8B-B14F-4D97-AF65-F5344CB8AC3E}">
        <p14:creationId xmlns:p14="http://schemas.microsoft.com/office/powerpoint/2010/main" val="2562191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34769-5E99-A6BC-8375-86A042FE3521}"/>
              </a:ext>
            </a:extLst>
          </p:cNvPr>
          <p:cNvSpPr>
            <a:spLocks noGrp="1"/>
          </p:cNvSpPr>
          <p:nvPr>
            <p:ph type="title"/>
          </p:nvPr>
        </p:nvSpPr>
        <p:spPr/>
        <p:txBody>
          <a:bodyPr/>
          <a:lstStyle/>
          <a:p>
            <a:r>
              <a:rPr lang="en-US" dirty="0"/>
              <a:t>A. multiple-relation options</a:t>
            </a:r>
            <a:br>
              <a:rPr lang="en-US" dirty="0"/>
            </a:br>
            <a:r>
              <a:rPr lang="en-US" dirty="0"/>
              <a:t>special and general relations</a:t>
            </a:r>
          </a:p>
        </p:txBody>
      </p:sp>
      <p:sp>
        <p:nvSpPr>
          <p:cNvPr id="3" name="Content Placeholder 2">
            <a:extLst>
              <a:ext uri="{FF2B5EF4-FFF2-40B4-BE49-F238E27FC236}">
                <a16:creationId xmlns:a16="http://schemas.microsoft.com/office/drawing/2014/main" id="{DDEC6E3A-41FD-FD20-A39D-14DE2E8F6D3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8CDC8DA-DA8B-F9AE-8951-313621FDF0E1}"/>
              </a:ext>
            </a:extLst>
          </p:cNvPr>
          <p:cNvSpPr>
            <a:spLocks noGrp="1"/>
          </p:cNvSpPr>
          <p:nvPr>
            <p:ph type="sldNum" sz="quarter" idx="12"/>
          </p:nvPr>
        </p:nvSpPr>
        <p:spPr/>
        <p:txBody>
          <a:bodyPr/>
          <a:lstStyle/>
          <a:p>
            <a:fld id="{6264BDCF-5269-49AC-A246-ED26C2B980E3}" type="slidenum">
              <a:rPr lang="en-US" smtClean="0"/>
              <a:t>42</a:t>
            </a:fld>
            <a:endParaRPr lang="en-US"/>
          </a:p>
        </p:txBody>
      </p:sp>
    </p:spTree>
    <p:extLst>
      <p:ext uri="{BB962C8B-B14F-4D97-AF65-F5344CB8AC3E}">
        <p14:creationId xmlns:p14="http://schemas.microsoft.com/office/powerpoint/2010/main" val="36507437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7FC4-E43F-BF94-BCCE-A43633588C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610C53-70C1-0AA4-2558-8B285ADCEC6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0F6C018-7368-0647-50C5-456D17EFD46F}"/>
              </a:ext>
            </a:extLst>
          </p:cNvPr>
          <p:cNvSpPr>
            <a:spLocks noGrp="1"/>
          </p:cNvSpPr>
          <p:nvPr>
            <p:ph type="sldNum" sz="quarter" idx="12"/>
          </p:nvPr>
        </p:nvSpPr>
        <p:spPr/>
        <p:txBody>
          <a:bodyPr/>
          <a:lstStyle/>
          <a:p>
            <a:fld id="{6264BDCF-5269-49AC-A246-ED26C2B980E3}" type="slidenum">
              <a:rPr lang="en-US" smtClean="0"/>
              <a:t>43</a:t>
            </a:fld>
            <a:endParaRPr lang="en-US"/>
          </a:p>
        </p:txBody>
      </p:sp>
      <p:pic>
        <p:nvPicPr>
          <p:cNvPr id="6" name="Picture 5">
            <a:extLst>
              <a:ext uri="{FF2B5EF4-FFF2-40B4-BE49-F238E27FC236}">
                <a16:creationId xmlns:a16="http://schemas.microsoft.com/office/drawing/2014/main" id="{65152619-69E8-3EC7-EF57-29DC47F7E2FA}"/>
              </a:ext>
            </a:extLst>
          </p:cNvPr>
          <p:cNvPicPr>
            <a:picLocks noChangeAspect="1"/>
          </p:cNvPicPr>
          <p:nvPr/>
        </p:nvPicPr>
        <p:blipFill>
          <a:blip r:embed="rId2"/>
          <a:stretch>
            <a:fillRect/>
          </a:stretch>
        </p:blipFill>
        <p:spPr>
          <a:xfrm>
            <a:off x="822960" y="182880"/>
            <a:ext cx="9853514" cy="6161304"/>
          </a:xfrm>
          <a:prstGeom prst="rect">
            <a:avLst/>
          </a:prstGeom>
        </p:spPr>
      </p:pic>
    </p:spTree>
    <p:extLst>
      <p:ext uri="{BB962C8B-B14F-4D97-AF65-F5344CB8AC3E}">
        <p14:creationId xmlns:p14="http://schemas.microsoft.com/office/powerpoint/2010/main" val="16248069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BE40-CB4C-B774-2555-C7481B7EC88D}"/>
              </a:ext>
            </a:extLst>
          </p:cNvPr>
          <p:cNvSpPr>
            <a:spLocks noGrp="1"/>
          </p:cNvSpPr>
          <p:nvPr>
            <p:ph type="title"/>
          </p:nvPr>
        </p:nvSpPr>
        <p:spPr/>
        <p:txBody>
          <a:bodyPr/>
          <a:lstStyle/>
          <a:p>
            <a:r>
              <a:rPr lang="en-US" dirty="0"/>
              <a:t>Option 8A: Multiple relations—superclass and subclasses</a:t>
            </a:r>
          </a:p>
        </p:txBody>
      </p:sp>
      <p:sp>
        <p:nvSpPr>
          <p:cNvPr id="3" name="Content Placeholder 2">
            <a:extLst>
              <a:ext uri="{FF2B5EF4-FFF2-40B4-BE49-F238E27FC236}">
                <a16:creationId xmlns:a16="http://schemas.microsoft.com/office/drawing/2014/main" id="{35825489-D285-0B50-5DFF-705560A04872}"/>
              </a:ext>
            </a:extLst>
          </p:cNvPr>
          <p:cNvSpPr>
            <a:spLocks noGrp="1"/>
          </p:cNvSpPr>
          <p:nvPr>
            <p:ph idx="1"/>
          </p:nvPr>
        </p:nvSpPr>
        <p:spPr/>
        <p:txBody>
          <a:bodyPr/>
          <a:lstStyle/>
          <a:p>
            <a:r>
              <a:rPr lang="en-US" dirty="0"/>
              <a:t>create a relation </a:t>
            </a:r>
            <a:r>
              <a:rPr lang="en-US" i="1" dirty="0"/>
              <a:t>L </a:t>
            </a:r>
            <a:r>
              <a:rPr lang="en-US" dirty="0"/>
              <a:t>for </a:t>
            </a:r>
            <a:r>
              <a:rPr lang="en-US" i="1" dirty="0"/>
              <a:t>C </a:t>
            </a:r>
            <a:r>
              <a:rPr lang="en-US" dirty="0"/>
              <a:t>with attributes </a:t>
            </a:r>
            <a:r>
              <a:rPr lang="en-US" dirty="0" err="1"/>
              <a:t>Attrs</a:t>
            </a:r>
            <a:r>
              <a:rPr lang="en-US" dirty="0"/>
              <a:t>(</a:t>
            </a:r>
            <a:r>
              <a:rPr lang="en-US" i="1" dirty="0"/>
              <a:t>L</a:t>
            </a:r>
            <a:r>
              <a:rPr lang="en-US" dirty="0"/>
              <a:t>) = {</a:t>
            </a:r>
            <a:r>
              <a:rPr lang="en-US" i="1" dirty="0"/>
              <a:t>k</a:t>
            </a:r>
            <a:r>
              <a:rPr lang="en-US" dirty="0"/>
              <a:t>, </a:t>
            </a:r>
            <a:r>
              <a:rPr lang="en-US" i="1" dirty="0"/>
              <a:t>a</a:t>
            </a:r>
            <a:r>
              <a:rPr lang="en-US" dirty="0"/>
              <a:t>1, … , </a:t>
            </a:r>
            <a:r>
              <a:rPr lang="en-US" i="1" dirty="0"/>
              <a:t>an</a:t>
            </a:r>
            <a:r>
              <a:rPr lang="en-US" dirty="0"/>
              <a:t>} and PK(</a:t>
            </a:r>
            <a:r>
              <a:rPr lang="en-US" i="1" dirty="0"/>
              <a:t>L</a:t>
            </a:r>
            <a:r>
              <a:rPr lang="en-US" dirty="0"/>
              <a:t>) = </a:t>
            </a:r>
            <a:r>
              <a:rPr lang="en-US" i="1" dirty="0"/>
              <a:t>k</a:t>
            </a:r>
            <a:endParaRPr lang="en-US" dirty="0"/>
          </a:p>
          <a:p>
            <a:r>
              <a:rPr lang="en-US" dirty="0"/>
              <a:t>create a relation </a:t>
            </a:r>
            <a:r>
              <a:rPr lang="en-US" i="1" dirty="0"/>
              <a:t>Li </a:t>
            </a:r>
            <a:r>
              <a:rPr lang="en-US" dirty="0"/>
              <a:t>for each subclass </a:t>
            </a:r>
            <a:r>
              <a:rPr lang="en-US" i="1" dirty="0"/>
              <a:t>Si</a:t>
            </a:r>
            <a:r>
              <a:rPr lang="en-US" dirty="0"/>
              <a:t>, 1 ≤ </a:t>
            </a:r>
            <a:r>
              <a:rPr lang="en-US" i="1" dirty="0" err="1"/>
              <a:t>i</a:t>
            </a:r>
            <a:r>
              <a:rPr lang="en-US" i="1" dirty="0"/>
              <a:t> </a:t>
            </a:r>
            <a:r>
              <a:rPr lang="en-US" dirty="0"/>
              <a:t>≤ </a:t>
            </a:r>
            <a:r>
              <a:rPr lang="en-US" i="1" dirty="0"/>
              <a:t>m</a:t>
            </a:r>
            <a:r>
              <a:rPr lang="en-US" dirty="0"/>
              <a:t>, with the attributes </a:t>
            </a:r>
            <a:r>
              <a:rPr lang="en-US" dirty="0" err="1"/>
              <a:t>Attrs</a:t>
            </a:r>
            <a:r>
              <a:rPr lang="en-US" dirty="0"/>
              <a:t>(</a:t>
            </a:r>
            <a:r>
              <a:rPr lang="en-US" i="1" dirty="0"/>
              <a:t>Li</a:t>
            </a:r>
            <a:r>
              <a:rPr lang="en-US" dirty="0"/>
              <a:t>) = {</a:t>
            </a:r>
            <a:r>
              <a:rPr lang="en-US" i="1" dirty="0"/>
              <a:t>k</a:t>
            </a:r>
            <a:r>
              <a:rPr lang="en-US" dirty="0"/>
              <a:t>} ∪ {attributes of </a:t>
            </a:r>
            <a:r>
              <a:rPr lang="en-US" i="1" dirty="0"/>
              <a:t>Si</a:t>
            </a:r>
            <a:r>
              <a:rPr lang="en-US" dirty="0"/>
              <a:t>} and PK(</a:t>
            </a:r>
            <a:r>
              <a:rPr lang="en-US" i="1" dirty="0"/>
              <a:t>Li</a:t>
            </a:r>
            <a:r>
              <a:rPr lang="en-US" dirty="0"/>
              <a:t>) = </a:t>
            </a:r>
            <a:r>
              <a:rPr lang="en-US" i="1" dirty="0"/>
              <a:t>k</a:t>
            </a:r>
            <a:r>
              <a:rPr lang="en-US" dirty="0"/>
              <a:t> </a:t>
            </a:r>
          </a:p>
          <a:p>
            <a:endParaRPr lang="en-US" dirty="0"/>
          </a:p>
          <a:p>
            <a:r>
              <a:rPr lang="en-US" dirty="0"/>
              <a:t>this option works for any specialization (total or partial, disjoint or overlapping)</a:t>
            </a:r>
          </a:p>
        </p:txBody>
      </p:sp>
      <p:sp>
        <p:nvSpPr>
          <p:cNvPr id="4" name="Slide Number Placeholder 3">
            <a:extLst>
              <a:ext uri="{FF2B5EF4-FFF2-40B4-BE49-F238E27FC236}">
                <a16:creationId xmlns:a16="http://schemas.microsoft.com/office/drawing/2014/main" id="{3ACC64A4-2E38-49BB-1A2F-FB1F059D247C}"/>
              </a:ext>
            </a:extLst>
          </p:cNvPr>
          <p:cNvSpPr>
            <a:spLocks noGrp="1"/>
          </p:cNvSpPr>
          <p:nvPr>
            <p:ph type="sldNum" sz="quarter" idx="12"/>
          </p:nvPr>
        </p:nvSpPr>
        <p:spPr/>
        <p:txBody>
          <a:bodyPr/>
          <a:lstStyle/>
          <a:p>
            <a:fld id="{6264BDCF-5269-49AC-A246-ED26C2B980E3}" type="slidenum">
              <a:rPr lang="en-US" smtClean="0"/>
              <a:t>44</a:t>
            </a:fld>
            <a:endParaRPr lang="en-US"/>
          </a:p>
        </p:txBody>
      </p:sp>
    </p:spTree>
    <p:extLst>
      <p:ext uri="{BB962C8B-B14F-4D97-AF65-F5344CB8AC3E}">
        <p14:creationId xmlns:p14="http://schemas.microsoft.com/office/powerpoint/2010/main" val="35488105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39C2C-8923-4D1E-323B-FF699650CD3D}"/>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3F88C8FF-B446-30F8-B7A0-EC405D81DBFF}"/>
              </a:ext>
            </a:extLst>
          </p:cNvPr>
          <p:cNvPicPr>
            <a:picLocks noGrp="1" noChangeAspect="1"/>
          </p:cNvPicPr>
          <p:nvPr>
            <p:ph idx="1"/>
          </p:nvPr>
        </p:nvPicPr>
        <p:blipFill>
          <a:blip r:embed="rId2"/>
          <a:stretch>
            <a:fillRect/>
          </a:stretch>
        </p:blipFill>
        <p:spPr>
          <a:xfrm>
            <a:off x="457200" y="1828800"/>
            <a:ext cx="11232244" cy="3094598"/>
          </a:xfrm>
          <a:prstGeom prst="rect">
            <a:avLst/>
          </a:prstGeom>
        </p:spPr>
      </p:pic>
      <p:sp>
        <p:nvSpPr>
          <p:cNvPr id="4" name="Slide Number Placeholder 3">
            <a:extLst>
              <a:ext uri="{FF2B5EF4-FFF2-40B4-BE49-F238E27FC236}">
                <a16:creationId xmlns:a16="http://schemas.microsoft.com/office/drawing/2014/main" id="{0597E180-82A8-0BB9-821F-F3F4445BF60F}"/>
              </a:ext>
            </a:extLst>
          </p:cNvPr>
          <p:cNvSpPr>
            <a:spLocks noGrp="1"/>
          </p:cNvSpPr>
          <p:nvPr>
            <p:ph type="sldNum" sz="quarter" idx="12"/>
          </p:nvPr>
        </p:nvSpPr>
        <p:spPr/>
        <p:txBody>
          <a:bodyPr/>
          <a:lstStyle/>
          <a:p>
            <a:fld id="{6264BDCF-5269-49AC-A246-ED26C2B980E3}" type="slidenum">
              <a:rPr lang="en-US" smtClean="0"/>
              <a:t>45</a:t>
            </a:fld>
            <a:endParaRPr lang="en-US"/>
          </a:p>
        </p:txBody>
      </p:sp>
    </p:spTree>
    <p:extLst>
      <p:ext uri="{BB962C8B-B14F-4D97-AF65-F5344CB8AC3E}">
        <p14:creationId xmlns:p14="http://schemas.microsoft.com/office/powerpoint/2010/main" val="2518418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257EF-14E9-97C4-0EAA-6D9EE2AFBE03}"/>
              </a:ext>
            </a:extLst>
          </p:cNvPr>
          <p:cNvSpPr>
            <a:spLocks noGrp="1"/>
          </p:cNvSpPr>
          <p:nvPr>
            <p:ph type="title"/>
          </p:nvPr>
        </p:nvSpPr>
        <p:spPr/>
        <p:txBody>
          <a:bodyPr/>
          <a:lstStyle/>
          <a:p>
            <a:r>
              <a:rPr lang="en-US" dirty="0"/>
              <a:t>CREATE VIEW</a:t>
            </a:r>
          </a:p>
        </p:txBody>
      </p:sp>
      <p:sp>
        <p:nvSpPr>
          <p:cNvPr id="3" name="Content Placeholder 2">
            <a:extLst>
              <a:ext uri="{FF2B5EF4-FFF2-40B4-BE49-F238E27FC236}">
                <a16:creationId xmlns:a16="http://schemas.microsoft.com/office/drawing/2014/main" id="{DECAEDEE-D7F2-A4AE-CA59-4426DA014F0D}"/>
              </a:ext>
            </a:extLst>
          </p:cNvPr>
          <p:cNvSpPr>
            <a:spLocks noGrp="1"/>
          </p:cNvSpPr>
          <p:nvPr>
            <p:ph idx="1"/>
          </p:nvPr>
        </p:nvSpPr>
        <p:spPr/>
        <p:txBody>
          <a:bodyPr/>
          <a:lstStyle/>
          <a:p>
            <a:r>
              <a:rPr lang="en-US" dirty="0" err="1"/>
              <a:t>Employee_Secretary</a:t>
            </a:r>
            <a:r>
              <a:rPr lang="en-US" dirty="0"/>
              <a:t>: </a:t>
            </a:r>
            <a:r>
              <a:rPr lang="en-US" dirty="0" err="1"/>
              <a:t>Ssn</a:t>
            </a:r>
            <a:r>
              <a:rPr lang="en-US" dirty="0"/>
              <a:t>, </a:t>
            </a:r>
            <a:r>
              <a:rPr lang="en-US" dirty="0" err="1"/>
              <a:t>Fname</a:t>
            </a:r>
            <a:r>
              <a:rPr lang="en-US" dirty="0"/>
              <a:t>, Minit, </a:t>
            </a:r>
            <a:r>
              <a:rPr lang="en-US" dirty="0" err="1"/>
              <a:t>Lname</a:t>
            </a:r>
            <a:r>
              <a:rPr lang="en-US" dirty="0"/>
              <a:t>, </a:t>
            </a:r>
            <a:r>
              <a:rPr lang="en-US" dirty="0" err="1"/>
              <a:t>Birth_date</a:t>
            </a:r>
            <a:r>
              <a:rPr lang="en-US" dirty="0"/>
              <a:t>, Address, </a:t>
            </a:r>
            <a:r>
              <a:rPr lang="en-US" dirty="0" err="1"/>
              <a:t>Job_type</a:t>
            </a:r>
            <a:r>
              <a:rPr lang="en-US" dirty="0"/>
              <a:t>, </a:t>
            </a:r>
            <a:r>
              <a:rPr lang="en-US" dirty="0" err="1"/>
              <a:t>Typing_speed</a:t>
            </a:r>
            <a:endParaRPr lang="en-US" dirty="0"/>
          </a:p>
          <a:p>
            <a:r>
              <a:rPr lang="en-US" dirty="0" err="1"/>
              <a:t>Employee_Technician</a:t>
            </a:r>
            <a:r>
              <a:rPr lang="en-US" dirty="0"/>
              <a:t>: </a:t>
            </a:r>
            <a:r>
              <a:rPr lang="en-US" dirty="0" err="1"/>
              <a:t>Ssn</a:t>
            </a:r>
            <a:r>
              <a:rPr lang="en-US" dirty="0"/>
              <a:t>, </a:t>
            </a:r>
            <a:r>
              <a:rPr lang="en-US" dirty="0" err="1"/>
              <a:t>Fname</a:t>
            </a:r>
            <a:r>
              <a:rPr lang="en-US" dirty="0"/>
              <a:t>, Minit, </a:t>
            </a:r>
            <a:r>
              <a:rPr lang="en-US" dirty="0" err="1"/>
              <a:t>Lname</a:t>
            </a:r>
            <a:r>
              <a:rPr lang="en-US" dirty="0"/>
              <a:t>, </a:t>
            </a:r>
            <a:r>
              <a:rPr lang="en-US" dirty="0" err="1"/>
              <a:t>Birth_date</a:t>
            </a:r>
            <a:r>
              <a:rPr lang="en-US" dirty="0"/>
              <a:t>, Address, </a:t>
            </a:r>
            <a:r>
              <a:rPr lang="en-US" dirty="0" err="1"/>
              <a:t>Job_type</a:t>
            </a:r>
            <a:r>
              <a:rPr lang="en-US" dirty="0"/>
              <a:t>, </a:t>
            </a:r>
            <a:r>
              <a:rPr lang="en-US" dirty="0" err="1"/>
              <a:t>Tgrade</a:t>
            </a:r>
            <a:endParaRPr lang="en-US" dirty="0"/>
          </a:p>
          <a:p>
            <a:r>
              <a:rPr lang="en-US" dirty="0" err="1"/>
              <a:t>Employee_Engineer</a:t>
            </a:r>
            <a:r>
              <a:rPr lang="en-US" dirty="0"/>
              <a:t>: </a:t>
            </a:r>
            <a:r>
              <a:rPr lang="en-US" dirty="0" err="1"/>
              <a:t>Ssn</a:t>
            </a:r>
            <a:r>
              <a:rPr lang="en-US" dirty="0"/>
              <a:t>, </a:t>
            </a:r>
            <a:r>
              <a:rPr lang="en-US" dirty="0" err="1"/>
              <a:t>Fname</a:t>
            </a:r>
            <a:r>
              <a:rPr lang="en-US" dirty="0"/>
              <a:t>, Minit, </a:t>
            </a:r>
            <a:r>
              <a:rPr lang="en-US" dirty="0" err="1"/>
              <a:t>Lname</a:t>
            </a:r>
            <a:r>
              <a:rPr lang="en-US" dirty="0"/>
              <a:t>, </a:t>
            </a:r>
            <a:r>
              <a:rPr lang="en-US" dirty="0" err="1"/>
              <a:t>Birth_date</a:t>
            </a:r>
            <a:r>
              <a:rPr lang="en-US" dirty="0"/>
              <a:t>, Address, </a:t>
            </a:r>
            <a:r>
              <a:rPr lang="en-US" dirty="0" err="1"/>
              <a:t>Job_type</a:t>
            </a:r>
            <a:r>
              <a:rPr lang="en-US" dirty="0"/>
              <a:t>, </a:t>
            </a:r>
            <a:r>
              <a:rPr lang="en-US" dirty="0" err="1"/>
              <a:t>Eng_type</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808D3688-4E80-0863-BFE0-95B157F8A1DC}"/>
              </a:ext>
            </a:extLst>
          </p:cNvPr>
          <p:cNvSpPr>
            <a:spLocks noGrp="1"/>
          </p:cNvSpPr>
          <p:nvPr>
            <p:ph type="sldNum" sz="quarter" idx="12"/>
          </p:nvPr>
        </p:nvSpPr>
        <p:spPr/>
        <p:txBody>
          <a:bodyPr/>
          <a:lstStyle/>
          <a:p>
            <a:fld id="{6264BDCF-5269-49AC-A246-ED26C2B980E3}" type="slidenum">
              <a:rPr lang="en-US" smtClean="0"/>
              <a:t>46</a:t>
            </a:fld>
            <a:endParaRPr lang="en-US"/>
          </a:p>
        </p:txBody>
      </p:sp>
    </p:spTree>
    <p:extLst>
      <p:ext uri="{BB962C8B-B14F-4D97-AF65-F5344CB8AC3E}">
        <p14:creationId xmlns:p14="http://schemas.microsoft.com/office/powerpoint/2010/main" val="747456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3D655-BF3B-623C-C164-CB8ED15F4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6EC32-1949-1E41-4010-42F4A4997A34}"/>
              </a:ext>
            </a:extLst>
          </p:cNvPr>
          <p:cNvSpPr>
            <a:spLocks noGrp="1"/>
          </p:cNvSpPr>
          <p:nvPr>
            <p:ph type="title"/>
          </p:nvPr>
        </p:nvSpPr>
        <p:spPr/>
        <p:txBody>
          <a:bodyPr/>
          <a:lstStyle/>
          <a:p>
            <a:r>
              <a:rPr lang="en-US" dirty="0"/>
              <a:t>B. multiple-relation options</a:t>
            </a:r>
            <a:br>
              <a:rPr lang="en-US" dirty="0"/>
            </a:br>
            <a:r>
              <a:rPr lang="en-US" dirty="0"/>
              <a:t>special relations</a:t>
            </a:r>
          </a:p>
        </p:txBody>
      </p:sp>
      <p:sp>
        <p:nvSpPr>
          <p:cNvPr id="3" name="Content Placeholder 2">
            <a:extLst>
              <a:ext uri="{FF2B5EF4-FFF2-40B4-BE49-F238E27FC236}">
                <a16:creationId xmlns:a16="http://schemas.microsoft.com/office/drawing/2014/main" id="{2AB5BF53-0588-2DAB-3033-B6FA99C6665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4865F94-B637-EF86-0237-99861086828D}"/>
              </a:ext>
            </a:extLst>
          </p:cNvPr>
          <p:cNvSpPr>
            <a:spLocks noGrp="1"/>
          </p:cNvSpPr>
          <p:nvPr>
            <p:ph type="sldNum" sz="quarter" idx="12"/>
          </p:nvPr>
        </p:nvSpPr>
        <p:spPr/>
        <p:txBody>
          <a:bodyPr/>
          <a:lstStyle/>
          <a:p>
            <a:fld id="{6264BDCF-5269-49AC-A246-ED26C2B980E3}" type="slidenum">
              <a:rPr lang="en-US" smtClean="0"/>
              <a:t>47</a:t>
            </a:fld>
            <a:endParaRPr lang="en-US"/>
          </a:p>
        </p:txBody>
      </p:sp>
    </p:spTree>
    <p:extLst>
      <p:ext uri="{BB962C8B-B14F-4D97-AF65-F5344CB8AC3E}">
        <p14:creationId xmlns:p14="http://schemas.microsoft.com/office/powerpoint/2010/main" val="12069599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14618-1EAC-396D-466E-C74987E4D5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DA8C7F-45B4-392D-32D2-991C78669911}"/>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F0EF957-CDE4-575E-D237-CE6F0DB6010D}"/>
              </a:ext>
            </a:extLst>
          </p:cNvPr>
          <p:cNvSpPr>
            <a:spLocks noGrp="1"/>
          </p:cNvSpPr>
          <p:nvPr>
            <p:ph type="sldNum" sz="quarter" idx="12"/>
          </p:nvPr>
        </p:nvSpPr>
        <p:spPr/>
        <p:txBody>
          <a:bodyPr/>
          <a:lstStyle/>
          <a:p>
            <a:fld id="{6264BDCF-5269-49AC-A246-ED26C2B980E3}" type="slidenum">
              <a:rPr lang="en-US" smtClean="0"/>
              <a:t>48</a:t>
            </a:fld>
            <a:endParaRPr lang="en-US"/>
          </a:p>
        </p:txBody>
      </p:sp>
      <p:pic>
        <p:nvPicPr>
          <p:cNvPr id="6" name="Picture 5">
            <a:extLst>
              <a:ext uri="{FF2B5EF4-FFF2-40B4-BE49-F238E27FC236}">
                <a16:creationId xmlns:a16="http://schemas.microsoft.com/office/drawing/2014/main" id="{C4B120F3-DDCB-A818-C51C-B6D305858A51}"/>
              </a:ext>
            </a:extLst>
          </p:cNvPr>
          <p:cNvPicPr>
            <a:picLocks noChangeAspect="1"/>
          </p:cNvPicPr>
          <p:nvPr/>
        </p:nvPicPr>
        <p:blipFill>
          <a:blip r:embed="rId2"/>
          <a:stretch>
            <a:fillRect/>
          </a:stretch>
        </p:blipFill>
        <p:spPr>
          <a:xfrm>
            <a:off x="914398" y="91438"/>
            <a:ext cx="9959288" cy="6281862"/>
          </a:xfrm>
          <a:prstGeom prst="rect">
            <a:avLst/>
          </a:prstGeom>
        </p:spPr>
      </p:pic>
    </p:spTree>
    <p:extLst>
      <p:ext uri="{BB962C8B-B14F-4D97-AF65-F5344CB8AC3E}">
        <p14:creationId xmlns:p14="http://schemas.microsoft.com/office/powerpoint/2010/main" val="13987486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C0CB-03BF-761D-B371-A67F9AE99ECF}"/>
              </a:ext>
            </a:extLst>
          </p:cNvPr>
          <p:cNvSpPr>
            <a:spLocks noGrp="1"/>
          </p:cNvSpPr>
          <p:nvPr>
            <p:ph type="title"/>
          </p:nvPr>
        </p:nvSpPr>
        <p:spPr/>
        <p:txBody>
          <a:bodyPr/>
          <a:lstStyle/>
          <a:p>
            <a:r>
              <a:rPr lang="en-US" dirty="0"/>
              <a:t>Option 8B: Multiple relations—subclass relations only</a:t>
            </a:r>
          </a:p>
        </p:txBody>
      </p:sp>
      <p:sp>
        <p:nvSpPr>
          <p:cNvPr id="3" name="Content Placeholder 2">
            <a:extLst>
              <a:ext uri="{FF2B5EF4-FFF2-40B4-BE49-F238E27FC236}">
                <a16:creationId xmlns:a16="http://schemas.microsoft.com/office/drawing/2014/main" id="{8EBF718D-308A-A836-A66E-9E261E638878}"/>
              </a:ext>
            </a:extLst>
          </p:cNvPr>
          <p:cNvSpPr>
            <a:spLocks noGrp="1"/>
          </p:cNvSpPr>
          <p:nvPr>
            <p:ph idx="1"/>
          </p:nvPr>
        </p:nvSpPr>
        <p:spPr/>
        <p:txBody>
          <a:bodyPr>
            <a:normAutofit/>
          </a:bodyPr>
          <a:lstStyle/>
          <a:p>
            <a:r>
              <a:rPr lang="en-US" dirty="0"/>
              <a:t>create a relation </a:t>
            </a:r>
            <a:r>
              <a:rPr lang="en-US" i="1" dirty="0"/>
              <a:t>Li </a:t>
            </a:r>
            <a:r>
              <a:rPr lang="en-US" dirty="0"/>
              <a:t>for each subclass </a:t>
            </a:r>
            <a:r>
              <a:rPr lang="en-US" i="1" dirty="0"/>
              <a:t>Si</a:t>
            </a:r>
            <a:r>
              <a:rPr lang="en-US" dirty="0"/>
              <a:t>, 1 ≤ </a:t>
            </a:r>
            <a:r>
              <a:rPr lang="en-US" i="1" dirty="0" err="1"/>
              <a:t>i</a:t>
            </a:r>
            <a:r>
              <a:rPr lang="en-US" i="1" dirty="0"/>
              <a:t> </a:t>
            </a:r>
            <a:r>
              <a:rPr lang="en-US" dirty="0"/>
              <a:t>≤ </a:t>
            </a:r>
            <a:r>
              <a:rPr lang="en-US" i="1" dirty="0"/>
              <a:t>m</a:t>
            </a:r>
            <a:r>
              <a:rPr lang="en-US" dirty="0"/>
              <a:t>, with the attributes </a:t>
            </a:r>
            <a:r>
              <a:rPr lang="en-US" dirty="0" err="1"/>
              <a:t>Attrs</a:t>
            </a:r>
            <a:r>
              <a:rPr lang="en-US" dirty="0"/>
              <a:t>(</a:t>
            </a:r>
            <a:r>
              <a:rPr lang="en-US" i="1" dirty="0"/>
              <a:t>Li</a:t>
            </a:r>
            <a:r>
              <a:rPr lang="en-US" dirty="0"/>
              <a:t>) = {attributes of </a:t>
            </a:r>
            <a:r>
              <a:rPr lang="en-US" i="1" dirty="0"/>
              <a:t>Si</a:t>
            </a:r>
            <a:r>
              <a:rPr lang="en-US" dirty="0"/>
              <a:t>} ∪ {</a:t>
            </a:r>
            <a:r>
              <a:rPr lang="en-US" i="1" dirty="0"/>
              <a:t>k</a:t>
            </a:r>
            <a:r>
              <a:rPr lang="en-US" dirty="0"/>
              <a:t>, </a:t>
            </a:r>
            <a:r>
              <a:rPr lang="en-US" i="1" dirty="0"/>
              <a:t>a1</a:t>
            </a:r>
            <a:r>
              <a:rPr lang="en-US" dirty="0"/>
              <a:t>, … , </a:t>
            </a:r>
            <a:r>
              <a:rPr lang="en-US" i="1" dirty="0"/>
              <a:t>an</a:t>
            </a:r>
            <a:r>
              <a:rPr lang="en-US" dirty="0"/>
              <a:t>} and PK(</a:t>
            </a:r>
            <a:r>
              <a:rPr lang="en-US" i="1" dirty="0"/>
              <a:t>Li</a:t>
            </a:r>
            <a:r>
              <a:rPr lang="en-US" dirty="0"/>
              <a:t>) = </a:t>
            </a:r>
            <a:r>
              <a:rPr lang="en-US" i="1" dirty="0"/>
              <a:t>k</a:t>
            </a:r>
          </a:p>
          <a:p>
            <a:r>
              <a:rPr lang="en-US" dirty="0"/>
              <a:t>this option only works for a specialization whose subclasses are </a:t>
            </a:r>
            <a:r>
              <a:rPr lang="en-US" i="1" dirty="0"/>
              <a:t>total </a:t>
            </a:r>
            <a:r>
              <a:rPr lang="en-US" dirty="0"/>
              <a:t>(every entity in the superclass must belong to (at least) one of the subclasses)</a:t>
            </a:r>
          </a:p>
          <a:p>
            <a:r>
              <a:rPr lang="en-US" dirty="0"/>
              <a:t>it is only accepted if specialization has the </a:t>
            </a:r>
            <a:r>
              <a:rPr lang="en-US" i="1" dirty="0"/>
              <a:t>disjointedness constraint </a:t>
            </a:r>
            <a:r>
              <a:rPr lang="en-US" dirty="0"/>
              <a:t>- if the specialization is </a:t>
            </a:r>
            <a:r>
              <a:rPr lang="en-US" i="1" dirty="0"/>
              <a:t>overlapping</a:t>
            </a:r>
            <a:r>
              <a:rPr lang="en-US" dirty="0"/>
              <a:t>, the same entity may be duplicated in several relations</a:t>
            </a:r>
          </a:p>
        </p:txBody>
      </p:sp>
      <p:sp>
        <p:nvSpPr>
          <p:cNvPr id="4" name="Slide Number Placeholder 3">
            <a:extLst>
              <a:ext uri="{FF2B5EF4-FFF2-40B4-BE49-F238E27FC236}">
                <a16:creationId xmlns:a16="http://schemas.microsoft.com/office/drawing/2014/main" id="{CBC15DF0-CE47-7FD3-5D8B-61E68C3A7C9C}"/>
              </a:ext>
            </a:extLst>
          </p:cNvPr>
          <p:cNvSpPr>
            <a:spLocks noGrp="1"/>
          </p:cNvSpPr>
          <p:nvPr>
            <p:ph type="sldNum" sz="quarter" idx="12"/>
          </p:nvPr>
        </p:nvSpPr>
        <p:spPr/>
        <p:txBody>
          <a:bodyPr/>
          <a:lstStyle/>
          <a:p>
            <a:fld id="{6264BDCF-5269-49AC-A246-ED26C2B980E3}" type="slidenum">
              <a:rPr lang="en-US" smtClean="0"/>
              <a:t>49</a:t>
            </a:fld>
            <a:endParaRPr lang="en-US"/>
          </a:p>
        </p:txBody>
      </p:sp>
    </p:spTree>
    <p:extLst>
      <p:ext uri="{BB962C8B-B14F-4D97-AF65-F5344CB8AC3E}">
        <p14:creationId xmlns:p14="http://schemas.microsoft.com/office/powerpoint/2010/main" val="17609098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0E0FC-F273-1AA5-F05A-8EDBDB11B4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253E2C-CB74-B96D-815E-D313CD64633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7918C99-50C0-E2CC-5099-7A099FCF6FA5}"/>
              </a:ext>
            </a:extLst>
          </p:cNvPr>
          <p:cNvSpPr>
            <a:spLocks noGrp="1"/>
          </p:cNvSpPr>
          <p:nvPr>
            <p:ph type="sldNum" sz="quarter" idx="12"/>
          </p:nvPr>
        </p:nvSpPr>
        <p:spPr/>
        <p:txBody>
          <a:bodyPr/>
          <a:lstStyle/>
          <a:p>
            <a:fld id="{6264BDCF-5269-49AC-A246-ED26C2B980E3}" type="slidenum">
              <a:rPr lang="en-US" smtClean="0"/>
              <a:t>50</a:t>
            </a:fld>
            <a:endParaRPr lang="en-US"/>
          </a:p>
        </p:txBody>
      </p:sp>
      <p:pic>
        <p:nvPicPr>
          <p:cNvPr id="6" name="Picture 5">
            <a:extLst>
              <a:ext uri="{FF2B5EF4-FFF2-40B4-BE49-F238E27FC236}">
                <a16:creationId xmlns:a16="http://schemas.microsoft.com/office/drawing/2014/main" id="{7EA3B6AE-F761-1449-FBE8-36223218AE6A}"/>
              </a:ext>
            </a:extLst>
          </p:cNvPr>
          <p:cNvPicPr>
            <a:picLocks noChangeAspect="1"/>
          </p:cNvPicPr>
          <p:nvPr/>
        </p:nvPicPr>
        <p:blipFill>
          <a:blip r:embed="rId2"/>
          <a:stretch>
            <a:fillRect/>
          </a:stretch>
        </p:blipFill>
        <p:spPr>
          <a:xfrm>
            <a:off x="457200" y="1828800"/>
            <a:ext cx="11212735" cy="2601998"/>
          </a:xfrm>
          <a:prstGeom prst="rect">
            <a:avLst/>
          </a:prstGeom>
        </p:spPr>
      </p:pic>
    </p:spTree>
    <p:extLst>
      <p:ext uri="{BB962C8B-B14F-4D97-AF65-F5344CB8AC3E}">
        <p14:creationId xmlns:p14="http://schemas.microsoft.com/office/powerpoint/2010/main" val="4547047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0E0C5-6E11-88D4-B2A8-175F4B4C9B41}"/>
              </a:ext>
            </a:extLst>
          </p:cNvPr>
          <p:cNvSpPr>
            <a:spLocks noGrp="1"/>
          </p:cNvSpPr>
          <p:nvPr>
            <p:ph type="title"/>
          </p:nvPr>
        </p:nvSpPr>
        <p:spPr/>
        <p:txBody>
          <a:bodyPr/>
          <a:lstStyle/>
          <a:p>
            <a:r>
              <a:rPr lang="en-US" dirty="0"/>
              <a:t>CREATE VIEW </a:t>
            </a:r>
          </a:p>
        </p:txBody>
      </p:sp>
      <p:sp>
        <p:nvSpPr>
          <p:cNvPr id="3" name="Content Placeholder 2">
            <a:extLst>
              <a:ext uri="{FF2B5EF4-FFF2-40B4-BE49-F238E27FC236}">
                <a16:creationId xmlns:a16="http://schemas.microsoft.com/office/drawing/2014/main" id="{49025453-4D0C-11C6-B9BF-C9DF3E30CA36}"/>
              </a:ext>
            </a:extLst>
          </p:cNvPr>
          <p:cNvSpPr>
            <a:spLocks noGrp="1"/>
          </p:cNvSpPr>
          <p:nvPr>
            <p:ph idx="1"/>
          </p:nvPr>
        </p:nvSpPr>
        <p:spPr/>
        <p:txBody>
          <a:bodyPr/>
          <a:lstStyle/>
          <a:p>
            <a:r>
              <a:rPr lang="en-US" dirty="0"/>
              <a:t>VEHICLE as </a:t>
            </a:r>
          </a:p>
          <a:p>
            <a:r>
              <a:rPr lang="en-US" dirty="0"/>
              <a:t>SELECT </a:t>
            </a:r>
            <a:r>
              <a:rPr lang="en-US" dirty="0" err="1"/>
              <a:t>Vehicle_id</a:t>
            </a:r>
            <a:r>
              <a:rPr lang="en-US" dirty="0"/>
              <a:t>, </a:t>
            </a:r>
            <a:r>
              <a:rPr lang="en-US" dirty="0" err="1"/>
              <a:t>Licenze_plate_no</a:t>
            </a:r>
            <a:r>
              <a:rPr lang="en-US" dirty="0"/>
              <a:t>, Price FROM CAR</a:t>
            </a:r>
          </a:p>
          <a:p>
            <a:r>
              <a:rPr lang="en-US" dirty="0"/>
              <a:t>UNION</a:t>
            </a:r>
          </a:p>
          <a:p>
            <a:r>
              <a:rPr lang="en-US" dirty="0"/>
              <a:t>SELECT </a:t>
            </a:r>
            <a:r>
              <a:rPr lang="en-US" dirty="0" err="1"/>
              <a:t>Vehicle_id</a:t>
            </a:r>
            <a:r>
              <a:rPr lang="en-US" dirty="0"/>
              <a:t>, </a:t>
            </a:r>
            <a:r>
              <a:rPr lang="en-US" dirty="0" err="1"/>
              <a:t>Licenze_plate_no</a:t>
            </a:r>
            <a:r>
              <a:rPr lang="en-US" dirty="0"/>
              <a:t>, Price FROM TRUCK</a:t>
            </a:r>
          </a:p>
          <a:p>
            <a:endParaRPr lang="en-US" dirty="0"/>
          </a:p>
        </p:txBody>
      </p:sp>
      <p:sp>
        <p:nvSpPr>
          <p:cNvPr id="4" name="Slide Number Placeholder 3">
            <a:extLst>
              <a:ext uri="{FF2B5EF4-FFF2-40B4-BE49-F238E27FC236}">
                <a16:creationId xmlns:a16="http://schemas.microsoft.com/office/drawing/2014/main" id="{AEBF03AB-6852-C45A-B86E-82193DBF412A}"/>
              </a:ext>
            </a:extLst>
          </p:cNvPr>
          <p:cNvSpPr>
            <a:spLocks noGrp="1"/>
          </p:cNvSpPr>
          <p:nvPr>
            <p:ph type="sldNum" sz="quarter" idx="12"/>
          </p:nvPr>
        </p:nvSpPr>
        <p:spPr/>
        <p:txBody>
          <a:bodyPr/>
          <a:lstStyle/>
          <a:p>
            <a:fld id="{6264BDCF-5269-49AC-A246-ED26C2B980E3}" type="slidenum">
              <a:rPr lang="en-US" smtClean="0"/>
              <a:t>51</a:t>
            </a:fld>
            <a:endParaRPr lang="en-US"/>
          </a:p>
        </p:txBody>
      </p:sp>
    </p:spTree>
    <p:extLst>
      <p:ext uri="{BB962C8B-B14F-4D97-AF65-F5344CB8AC3E}">
        <p14:creationId xmlns:p14="http://schemas.microsoft.com/office/powerpoint/2010/main" val="22932957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C498D-E6C1-9951-91E7-A42C98ECF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CBFC9-DD03-9738-8339-50B6DC0C7CB3}"/>
              </a:ext>
            </a:extLst>
          </p:cNvPr>
          <p:cNvSpPr>
            <a:spLocks noGrp="1"/>
          </p:cNvSpPr>
          <p:nvPr>
            <p:ph type="title"/>
          </p:nvPr>
        </p:nvSpPr>
        <p:spPr/>
        <p:txBody>
          <a:bodyPr/>
          <a:lstStyle/>
          <a:p>
            <a:r>
              <a:rPr lang="en-US" dirty="0"/>
              <a:t>C. single-relation options</a:t>
            </a:r>
            <a:br>
              <a:rPr lang="en-US" dirty="0"/>
            </a:br>
            <a:r>
              <a:rPr lang="en-US" dirty="0"/>
              <a:t>general relation</a:t>
            </a:r>
          </a:p>
        </p:txBody>
      </p:sp>
      <p:sp>
        <p:nvSpPr>
          <p:cNvPr id="3" name="Content Placeholder 2">
            <a:extLst>
              <a:ext uri="{FF2B5EF4-FFF2-40B4-BE49-F238E27FC236}">
                <a16:creationId xmlns:a16="http://schemas.microsoft.com/office/drawing/2014/main" id="{2621B7FC-5C30-0C53-43E5-01A8D5FFBD2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C90FB32-B496-E18E-8FEC-ED08907D273A}"/>
              </a:ext>
            </a:extLst>
          </p:cNvPr>
          <p:cNvSpPr>
            <a:spLocks noGrp="1"/>
          </p:cNvSpPr>
          <p:nvPr>
            <p:ph type="sldNum" sz="quarter" idx="12"/>
          </p:nvPr>
        </p:nvSpPr>
        <p:spPr/>
        <p:txBody>
          <a:bodyPr/>
          <a:lstStyle/>
          <a:p>
            <a:fld id="{6264BDCF-5269-49AC-A246-ED26C2B980E3}" type="slidenum">
              <a:rPr lang="en-US" smtClean="0"/>
              <a:t>52</a:t>
            </a:fld>
            <a:endParaRPr lang="en-US"/>
          </a:p>
        </p:txBody>
      </p:sp>
    </p:spTree>
    <p:extLst>
      <p:ext uri="{BB962C8B-B14F-4D97-AF65-F5344CB8AC3E}">
        <p14:creationId xmlns:p14="http://schemas.microsoft.com/office/powerpoint/2010/main" val="18195789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284AC-AA2C-5C7B-3C04-E3658FA67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1742CC-DAAF-95DD-6ED7-606F2EA286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B9E622-AC1D-400A-02EA-70AB1E37880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A01816F-9128-494D-CD06-F31141CE8E68}"/>
              </a:ext>
            </a:extLst>
          </p:cNvPr>
          <p:cNvSpPr>
            <a:spLocks noGrp="1"/>
          </p:cNvSpPr>
          <p:nvPr>
            <p:ph type="sldNum" sz="quarter" idx="12"/>
          </p:nvPr>
        </p:nvSpPr>
        <p:spPr/>
        <p:txBody>
          <a:bodyPr/>
          <a:lstStyle/>
          <a:p>
            <a:fld id="{6264BDCF-5269-49AC-A246-ED26C2B980E3}" type="slidenum">
              <a:rPr lang="en-US" smtClean="0"/>
              <a:t>53</a:t>
            </a:fld>
            <a:endParaRPr lang="en-US"/>
          </a:p>
        </p:txBody>
      </p:sp>
      <p:pic>
        <p:nvPicPr>
          <p:cNvPr id="6" name="Picture 5">
            <a:extLst>
              <a:ext uri="{FF2B5EF4-FFF2-40B4-BE49-F238E27FC236}">
                <a16:creationId xmlns:a16="http://schemas.microsoft.com/office/drawing/2014/main" id="{71634570-7687-54E0-8331-81E3A093106C}"/>
              </a:ext>
            </a:extLst>
          </p:cNvPr>
          <p:cNvPicPr>
            <a:picLocks noChangeAspect="1"/>
          </p:cNvPicPr>
          <p:nvPr/>
        </p:nvPicPr>
        <p:blipFill>
          <a:blip r:embed="rId2"/>
          <a:stretch>
            <a:fillRect/>
          </a:stretch>
        </p:blipFill>
        <p:spPr>
          <a:xfrm>
            <a:off x="822960" y="182880"/>
            <a:ext cx="9853514" cy="6161304"/>
          </a:xfrm>
          <a:prstGeom prst="rect">
            <a:avLst/>
          </a:prstGeom>
        </p:spPr>
      </p:pic>
    </p:spTree>
    <p:extLst>
      <p:ext uri="{BB962C8B-B14F-4D97-AF65-F5344CB8AC3E}">
        <p14:creationId xmlns:p14="http://schemas.microsoft.com/office/powerpoint/2010/main" val="21966215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0C042-F959-AE9D-F53F-CA551CAC21F1}"/>
              </a:ext>
            </a:extLst>
          </p:cNvPr>
          <p:cNvSpPr>
            <a:spLocks noGrp="1"/>
          </p:cNvSpPr>
          <p:nvPr>
            <p:ph type="title"/>
          </p:nvPr>
        </p:nvSpPr>
        <p:spPr/>
        <p:txBody>
          <a:bodyPr/>
          <a:lstStyle/>
          <a:p>
            <a:r>
              <a:rPr lang="en-US" dirty="0"/>
              <a:t>Option 8C: Single relation with one type attribute.</a:t>
            </a:r>
          </a:p>
        </p:txBody>
      </p:sp>
      <p:sp>
        <p:nvSpPr>
          <p:cNvPr id="3" name="Content Placeholder 2">
            <a:extLst>
              <a:ext uri="{FF2B5EF4-FFF2-40B4-BE49-F238E27FC236}">
                <a16:creationId xmlns:a16="http://schemas.microsoft.com/office/drawing/2014/main" id="{F391C57F-9A23-F701-B67D-7098294F2275}"/>
              </a:ext>
            </a:extLst>
          </p:cNvPr>
          <p:cNvSpPr>
            <a:spLocks noGrp="1"/>
          </p:cNvSpPr>
          <p:nvPr>
            <p:ph idx="1"/>
          </p:nvPr>
        </p:nvSpPr>
        <p:spPr/>
        <p:txBody>
          <a:bodyPr>
            <a:normAutofit/>
          </a:bodyPr>
          <a:lstStyle/>
          <a:p>
            <a:r>
              <a:rPr lang="en-US" dirty="0"/>
              <a:t>create a single relation </a:t>
            </a:r>
            <a:r>
              <a:rPr lang="en-US" i="1" dirty="0"/>
              <a:t>L </a:t>
            </a:r>
            <a:r>
              <a:rPr lang="en-US" dirty="0"/>
              <a:t>with attributes </a:t>
            </a:r>
            <a:r>
              <a:rPr lang="en-US" dirty="0" err="1"/>
              <a:t>Attrs</a:t>
            </a:r>
            <a:r>
              <a:rPr lang="en-US" dirty="0"/>
              <a:t>(</a:t>
            </a:r>
            <a:r>
              <a:rPr lang="en-US" i="1" dirty="0"/>
              <a:t>L</a:t>
            </a:r>
            <a:r>
              <a:rPr lang="en-US" dirty="0"/>
              <a:t>) = {</a:t>
            </a:r>
            <a:r>
              <a:rPr lang="en-US" i="1" dirty="0"/>
              <a:t>k</a:t>
            </a:r>
            <a:r>
              <a:rPr lang="en-US" dirty="0"/>
              <a:t>, </a:t>
            </a:r>
            <a:r>
              <a:rPr lang="en-US" i="1" dirty="0"/>
              <a:t>a</a:t>
            </a:r>
            <a:r>
              <a:rPr lang="en-US" dirty="0"/>
              <a:t>1, …, </a:t>
            </a:r>
            <a:r>
              <a:rPr lang="en-US" i="1" dirty="0"/>
              <a:t>an</a:t>
            </a:r>
            <a:r>
              <a:rPr lang="en-US" dirty="0"/>
              <a:t>} ∪ {attributes of </a:t>
            </a:r>
            <a:r>
              <a:rPr lang="en-US" i="1" dirty="0"/>
              <a:t>S</a:t>
            </a:r>
            <a:r>
              <a:rPr lang="en-US" dirty="0"/>
              <a:t>1} ∪ … ∪ {attributes of </a:t>
            </a:r>
            <a:r>
              <a:rPr lang="en-US" i="1" dirty="0" err="1"/>
              <a:t>Sm</a:t>
            </a:r>
            <a:r>
              <a:rPr lang="en-US" dirty="0"/>
              <a:t>} ∪ {</a:t>
            </a:r>
            <a:r>
              <a:rPr lang="en-US" i="1" dirty="0"/>
              <a:t>t</a:t>
            </a:r>
            <a:r>
              <a:rPr lang="en-US" dirty="0"/>
              <a:t>} and PK(</a:t>
            </a:r>
            <a:r>
              <a:rPr lang="en-US" i="1" dirty="0"/>
              <a:t>L</a:t>
            </a:r>
            <a:r>
              <a:rPr lang="en-US" dirty="0"/>
              <a:t>) = </a:t>
            </a:r>
            <a:r>
              <a:rPr lang="en-US" i="1" dirty="0"/>
              <a:t>k</a:t>
            </a:r>
            <a:r>
              <a:rPr lang="en-US" dirty="0"/>
              <a:t>.</a:t>
            </a:r>
          </a:p>
          <a:p>
            <a:r>
              <a:rPr lang="en-US" dirty="0"/>
              <a:t>the attribute </a:t>
            </a:r>
            <a:r>
              <a:rPr lang="en-US" i="1" dirty="0"/>
              <a:t>t </a:t>
            </a:r>
            <a:r>
              <a:rPr lang="en-US" dirty="0"/>
              <a:t>is called a </a:t>
            </a:r>
            <a:r>
              <a:rPr lang="en-US" i="1" dirty="0"/>
              <a:t>type</a:t>
            </a:r>
            <a:r>
              <a:rPr lang="en-US" b="1" dirty="0"/>
              <a:t> </a:t>
            </a:r>
            <a:r>
              <a:rPr lang="en-US" dirty="0"/>
              <a:t>(or </a:t>
            </a:r>
            <a:r>
              <a:rPr lang="en-US" i="1" dirty="0"/>
              <a:t>discriminating</a:t>
            </a:r>
            <a:r>
              <a:rPr lang="en-US" dirty="0"/>
              <a:t>) attribute whose value indicates the subclass to which each tuple belongs, if any</a:t>
            </a:r>
          </a:p>
          <a:p>
            <a:r>
              <a:rPr lang="en-US" dirty="0"/>
              <a:t>this option works only for a specialization whose subclasses are </a:t>
            </a:r>
            <a:r>
              <a:rPr lang="en-US" i="1" dirty="0"/>
              <a:t>disjoint, </a:t>
            </a:r>
            <a:r>
              <a:rPr lang="en-US" dirty="0"/>
              <a:t>and has the potential for generating many NULL values if many specific (local) attributes exist in the subclasses</a:t>
            </a:r>
          </a:p>
        </p:txBody>
      </p:sp>
      <p:sp>
        <p:nvSpPr>
          <p:cNvPr id="4" name="Slide Number Placeholder 3">
            <a:extLst>
              <a:ext uri="{FF2B5EF4-FFF2-40B4-BE49-F238E27FC236}">
                <a16:creationId xmlns:a16="http://schemas.microsoft.com/office/drawing/2014/main" id="{933F2F78-9B91-3E8F-5B26-178F9DF691FE}"/>
              </a:ext>
            </a:extLst>
          </p:cNvPr>
          <p:cNvSpPr>
            <a:spLocks noGrp="1"/>
          </p:cNvSpPr>
          <p:nvPr>
            <p:ph type="sldNum" sz="quarter" idx="12"/>
          </p:nvPr>
        </p:nvSpPr>
        <p:spPr/>
        <p:txBody>
          <a:bodyPr/>
          <a:lstStyle/>
          <a:p>
            <a:fld id="{6264BDCF-5269-49AC-A246-ED26C2B980E3}" type="slidenum">
              <a:rPr lang="en-US" smtClean="0"/>
              <a:t>54</a:t>
            </a:fld>
            <a:endParaRPr lang="en-US"/>
          </a:p>
        </p:txBody>
      </p:sp>
    </p:spTree>
    <p:extLst>
      <p:ext uri="{BB962C8B-B14F-4D97-AF65-F5344CB8AC3E}">
        <p14:creationId xmlns:p14="http://schemas.microsoft.com/office/powerpoint/2010/main" val="21151330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E0EBB-33FB-898F-49D4-F690560723A1}"/>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6A696141-BEB4-AF54-BB07-851F96138EC7}"/>
              </a:ext>
            </a:extLst>
          </p:cNvPr>
          <p:cNvPicPr>
            <a:picLocks noGrp="1" noChangeAspect="1"/>
          </p:cNvPicPr>
          <p:nvPr>
            <p:ph idx="1"/>
          </p:nvPr>
        </p:nvPicPr>
        <p:blipFill>
          <a:blip r:embed="rId2"/>
          <a:stretch>
            <a:fillRect/>
          </a:stretch>
        </p:blipFill>
        <p:spPr>
          <a:xfrm>
            <a:off x="182880" y="1828796"/>
            <a:ext cx="11894860" cy="1031532"/>
          </a:xfrm>
          <a:prstGeom prst="rect">
            <a:avLst/>
          </a:prstGeom>
        </p:spPr>
      </p:pic>
      <p:sp>
        <p:nvSpPr>
          <p:cNvPr id="4" name="Slide Number Placeholder 3">
            <a:extLst>
              <a:ext uri="{FF2B5EF4-FFF2-40B4-BE49-F238E27FC236}">
                <a16:creationId xmlns:a16="http://schemas.microsoft.com/office/drawing/2014/main" id="{765528B8-D125-F48B-464C-31E175985510}"/>
              </a:ext>
            </a:extLst>
          </p:cNvPr>
          <p:cNvSpPr>
            <a:spLocks noGrp="1"/>
          </p:cNvSpPr>
          <p:nvPr>
            <p:ph type="sldNum" sz="quarter" idx="12"/>
          </p:nvPr>
        </p:nvSpPr>
        <p:spPr/>
        <p:txBody>
          <a:bodyPr/>
          <a:lstStyle/>
          <a:p>
            <a:fld id="{6264BDCF-5269-49AC-A246-ED26C2B980E3}" type="slidenum">
              <a:rPr lang="en-US" smtClean="0"/>
              <a:t>55</a:t>
            </a:fld>
            <a:endParaRPr lang="en-US"/>
          </a:p>
        </p:txBody>
      </p:sp>
    </p:spTree>
    <p:extLst>
      <p:ext uri="{BB962C8B-B14F-4D97-AF65-F5344CB8AC3E}">
        <p14:creationId xmlns:p14="http://schemas.microsoft.com/office/powerpoint/2010/main" val="3704500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C0CDF-7885-B6CF-0007-45A66C7E0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F4894-0A2F-27F3-C2CA-ABE850158E91}"/>
              </a:ext>
            </a:extLst>
          </p:cNvPr>
          <p:cNvSpPr>
            <a:spLocks noGrp="1"/>
          </p:cNvSpPr>
          <p:nvPr>
            <p:ph type="title"/>
          </p:nvPr>
        </p:nvSpPr>
        <p:spPr/>
        <p:txBody>
          <a:bodyPr/>
          <a:lstStyle/>
          <a:p>
            <a:r>
              <a:rPr lang="en-US" dirty="0"/>
              <a:t>D. single-relation options</a:t>
            </a:r>
            <a:br>
              <a:rPr lang="en-US" dirty="0"/>
            </a:br>
            <a:r>
              <a:rPr lang="en-US" dirty="0"/>
              <a:t>general relation</a:t>
            </a:r>
          </a:p>
        </p:txBody>
      </p:sp>
      <p:sp>
        <p:nvSpPr>
          <p:cNvPr id="3" name="Content Placeholder 2">
            <a:extLst>
              <a:ext uri="{FF2B5EF4-FFF2-40B4-BE49-F238E27FC236}">
                <a16:creationId xmlns:a16="http://schemas.microsoft.com/office/drawing/2014/main" id="{2A2B444E-C81E-25E5-3D90-C9B0D36E77C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9FF9D82-C6DB-AC8F-F319-852943F4BE8E}"/>
              </a:ext>
            </a:extLst>
          </p:cNvPr>
          <p:cNvSpPr>
            <a:spLocks noGrp="1"/>
          </p:cNvSpPr>
          <p:nvPr>
            <p:ph type="sldNum" sz="quarter" idx="12"/>
          </p:nvPr>
        </p:nvSpPr>
        <p:spPr/>
        <p:txBody>
          <a:bodyPr/>
          <a:lstStyle/>
          <a:p>
            <a:fld id="{6264BDCF-5269-49AC-A246-ED26C2B980E3}" type="slidenum">
              <a:rPr lang="en-US" smtClean="0"/>
              <a:t>56</a:t>
            </a:fld>
            <a:endParaRPr lang="en-US"/>
          </a:p>
        </p:txBody>
      </p:sp>
    </p:spTree>
    <p:extLst>
      <p:ext uri="{BB962C8B-B14F-4D97-AF65-F5344CB8AC3E}">
        <p14:creationId xmlns:p14="http://schemas.microsoft.com/office/powerpoint/2010/main" val="28482864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E47E2-D169-7181-D269-F2F9EF0621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719F3C-4827-B6F2-184E-AC1FBF7B630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8837CF3-16F1-85ED-351F-070E2F58DD0B}"/>
              </a:ext>
            </a:extLst>
          </p:cNvPr>
          <p:cNvSpPr>
            <a:spLocks noGrp="1"/>
          </p:cNvSpPr>
          <p:nvPr>
            <p:ph type="sldNum" sz="quarter" idx="12"/>
          </p:nvPr>
        </p:nvSpPr>
        <p:spPr/>
        <p:txBody>
          <a:bodyPr/>
          <a:lstStyle/>
          <a:p>
            <a:fld id="{6264BDCF-5269-49AC-A246-ED26C2B980E3}" type="slidenum">
              <a:rPr lang="en-US" smtClean="0"/>
              <a:t>57</a:t>
            </a:fld>
            <a:endParaRPr lang="en-US"/>
          </a:p>
        </p:txBody>
      </p:sp>
      <p:pic>
        <p:nvPicPr>
          <p:cNvPr id="6" name="Picture 5">
            <a:extLst>
              <a:ext uri="{FF2B5EF4-FFF2-40B4-BE49-F238E27FC236}">
                <a16:creationId xmlns:a16="http://schemas.microsoft.com/office/drawing/2014/main" id="{BAE911D0-5201-8969-1394-05924D1DE105}"/>
              </a:ext>
            </a:extLst>
          </p:cNvPr>
          <p:cNvPicPr>
            <a:picLocks noChangeAspect="1"/>
          </p:cNvPicPr>
          <p:nvPr/>
        </p:nvPicPr>
        <p:blipFill>
          <a:blip r:embed="rId2"/>
          <a:stretch>
            <a:fillRect/>
          </a:stretch>
        </p:blipFill>
        <p:spPr>
          <a:xfrm>
            <a:off x="914397" y="457199"/>
            <a:ext cx="11006672" cy="3610364"/>
          </a:xfrm>
          <a:prstGeom prst="rect">
            <a:avLst/>
          </a:prstGeom>
        </p:spPr>
      </p:pic>
    </p:spTree>
    <p:extLst>
      <p:ext uri="{BB962C8B-B14F-4D97-AF65-F5344CB8AC3E}">
        <p14:creationId xmlns:p14="http://schemas.microsoft.com/office/powerpoint/2010/main" val="41921748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E0CF0-F36C-6E4D-3F1E-C4031D1DE32B}"/>
              </a:ext>
            </a:extLst>
          </p:cNvPr>
          <p:cNvSpPr>
            <a:spLocks noGrp="1"/>
          </p:cNvSpPr>
          <p:nvPr>
            <p:ph type="title"/>
          </p:nvPr>
        </p:nvSpPr>
        <p:spPr/>
        <p:txBody>
          <a:bodyPr/>
          <a:lstStyle/>
          <a:p>
            <a:r>
              <a:rPr lang="en-US" dirty="0"/>
              <a:t>Option 8D: Single relation with multiple type attributes</a:t>
            </a:r>
          </a:p>
        </p:txBody>
      </p:sp>
      <p:sp>
        <p:nvSpPr>
          <p:cNvPr id="3" name="Content Placeholder 2">
            <a:extLst>
              <a:ext uri="{FF2B5EF4-FFF2-40B4-BE49-F238E27FC236}">
                <a16:creationId xmlns:a16="http://schemas.microsoft.com/office/drawing/2014/main" id="{BA3799D8-20C9-5F08-CCE1-0BB515D01D77}"/>
              </a:ext>
            </a:extLst>
          </p:cNvPr>
          <p:cNvSpPr>
            <a:spLocks noGrp="1"/>
          </p:cNvSpPr>
          <p:nvPr>
            <p:ph idx="1"/>
          </p:nvPr>
        </p:nvSpPr>
        <p:spPr/>
        <p:txBody>
          <a:bodyPr/>
          <a:lstStyle/>
          <a:p>
            <a:r>
              <a:rPr lang="en-US" dirty="0"/>
              <a:t>create a single relation schema </a:t>
            </a:r>
            <a:r>
              <a:rPr lang="en-US" i="1" dirty="0"/>
              <a:t>L </a:t>
            </a:r>
            <a:r>
              <a:rPr lang="en-US" dirty="0"/>
              <a:t>with attributes </a:t>
            </a:r>
            <a:r>
              <a:rPr lang="en-US" dirty="0" err="1"/>
              <a:t>Attrs</a:t>
            </a:r>
            <a:r>
              <a:rPr lang="en-US" dirty="0"/>
              <a:t>(</a:t>
            </a:r>
            <a:r>
              <a:rPr lang="en-US" i="1" dirty="0"/>
              <a:t>L</a:t>
            </a:r>
            <a:r>
              <a:rPr lang="en-US" dirty="0"/>
              <a:t>) = {</a:t>
            </a:r>
            <a:r>
              <a:rPr lang="en-US" i="1" dirty="0"/>
              <a:t>k</a:t>
            </a:r>
            <a:r>
              <a:rPr lang="en-US" dirty="0"/>
              <a:t>, </a:t>
            </a:r>
            <a:r>
              <a:rPr lang="en-US" i="1" dirty="0"/>
              <a:t>a</a:t>
            </a:r>
            <a:r>
              <a:rPr lang="en-US" dirty="0"/>
              <a:t>1, …, </a:t>
            </a:r>
            <a:r>
              <a:rPr lang="en-US" i="1" dirty="0"/>
              <a:t>an</a:t>
            </a:r>
            <a:r>
              <a:rPr lang="en-US" dirty="0"/>
              <a:t>} ∪ {attributes of </a:t>
            </a:r>
            <a:r>
              <a:rPr lang="en-US" i="1" dirty="0"/>
              <a:t>S</a:t>
            </a:r>
            <a:r>
              <a:rPr lang="en-US" dirty="0"/>
              <a:t>1} ∪ … ∪ {attributes of </a:t>
            </a:r>
            <a:r>
              <a:rPr lang="en-US" i="1" dirty="0" err="1"/>
              <a:t>Sm</a:t>
            </a:r>
            <a:r>
              <a:rPr lang="en-US" dirty="0"/>
              <a:t>} ∪ {</a:t>
            </a:r>
            <a:r>
              <a:rPr lang="en-US" i="1" dirty="0"/>
              <a:t>t</a:t>
            </a:r>
            <a:r>
              <a:rPr lang="en-US" dirty="0"/>
              <a:t>1, </a:t>
            </a:r>
            <a:r>
              <a:rPr lang="en-US" i="1" dirty="0"/>
              <a:t>t</a:t>
            </a:r>
            <a:r>
              <a:rPr lang="en-US" dirty="0"/>
              <a:t>2, …, </a:t>
            </a:r>
            <a:r>
              <a:rPr lang="en-US" i="1" dirty="0"/>
              <a:t>tm</a:t>
            </a:r>
            <a:r>
              <a:rPr lang="en-US" dirty="0"/>
              <a:t>} and PK(</a:t>
            </a:r>
            <a:r>
              <a:rPr lang="en-US" i="1" dirty="0"/>
              <a:t>L</a:t>
            </a:r>
            <a:r>
              <a:rPr lang="en-US" dirty="0"/>
              <a:t>) = </a:t>
            </a:r>
            <a:r>
              <a:rPr lang="en-US" i="1" dirty="0"/>
              <a:t>k</a:t>
            </a:r>
            <a:r>
              <a:rPr lang="en-US" dirty="0"/>
              <a:t>. Each </a:t>
            </a:r>
            <a:r>
              <a:rPr lang="en-US" i="1" dirty="0" err="1"/>
              <a:t>ti</a:t>
            </a:r>
            <a:r>
              <a:rPr lang="en-US" dirty="0"/>
              <a:t>, 1 ≤ </a:t>
            </a:r>
            <a:r>
              <a:rPr lang="en-US" i="1" dirty="0" err="1"/>
              <a:t>i</a:t>
            </a:r>
            <a:r>
              <a:rPr lang="en-US" i="1" dirty="0"/>
              <a:t> </a:t>
            </a:r>
            <a:r>
              <a:rPr lang="en-US" dirty="0"/>
              <a:t>≤ </a:t>
            </a:r>
            <a:r>
              <a:rPr lang="en-US" i="1" dirty="0"/>
              <a:t>m</a:t>
            </a:r>
            <a:r>
              <a:rPr lang="en-US" dirty="0"/>
              <a:t>, is a Boolean type attribute</a:t>
            </a:r>
            <a:r>
              <a:rPr lang="en-US" b="1" dirty="0"/>
              <a:t> </a:t>
            </a:r>
            <a:r>
              <a:rPr lang="en-US" dirty="0"/>
              <a:t>indicating whether or not a tuple belongs to subclass </a:t>
            </a:r>
            <a:r>
              <a:rPr lang="en-US" i="1" dirty="0"/>
              <a:t>Si</a:t>
            </a:r>
          </a:p>
          <a:p>
            <a:r>
              <a:rPr lang="en-US" dirty="0"/>
              <a:t>this option is used for a specialization whose subclasses are </a:t>
            </a:r>
            <a:r>
              <a:rPr lang="en-US" i="1" dirty="0"/>
              <a:t>overlapping </a:t>
            </a:r>
            <a:r>
              <a:rPr lang="en-US" dirty="0"/>
              <a:t>(but will also work for a disjoint specialization)</a:t>
            </a:r>
          </a:p>
        </p:txBody>
      </p:sp>
      <p:sp>
        <p:nvSpPr>
          <p:cNvPr id="4" name="Slide Number Placeholder 3">
            <a:extLst>
              <a:ext uri="{FF2B5EF4-FFF2-40B4-BE49-F238E27FC236}">
                <a16:creationId xmlns:a16="http://schemas.microsoft.com/office/drawing/2014/main" id="{CDB1ACBA-1D2C-6D5A-DA96-C70949BCE3A1}"/>
              </a:ext>
            </a:extLst>
          </p:cNvPr>
          <p:cNvSpPr>
            <a:spLocks noGrp="1"/>
          </p:cNvSpPr>
          <p:nvPr>
            <p:ph type="sldNum" sz="quarter" idx="12"/>
          </p:nvPr>
        </p:nvSpPr>
        <p:spPr/>
        <p:txBody>
          <a:bodyPr/>
          <a:lstStyle/>
          <a:p>
            <a:fld id="{6264BDCF-5269-49AC-A246-ED26C2B980E3}" type="slidenum">
              <a:rPr lang="en-US" smtClean="0"/>
              <a:t>58</a:t>
            </a:fld>
            <a:endParaRPr lang="en-US"/>
          </a:p>
        </p:txBody>
      </p:sp>
    </p:spTree>
    <p:extLst>
      <p:ext uri="{BB962C8B-B14F-4D97-AF65-F5344CB8AC3E}">
        <p14:creationId xmlns:p14="http://schemas.microsoft.com/office/powerpoint/2010/main" val="16078218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0D211-EE63-038C-C1D0-D094034888F0}"/>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CD4664A0-1D6C-6A88-7B4A-E77C955DD07B}"/>
              </a:ext>
            </a:extLst>
          </p:cNvPr>
          <p:cNvPicPr>
            <a:picLocks noGrp="1" noChangeAspect="1"/>
          </p:cNvPicPr>
          <p:nvPr>
            <p:ph idx="1"/>
          </p:nvPr>
        </p:nvPicPr>
        <p:blipFill>
          <a:blip r:embed="rId2"/>
          <a:stretch>
            <a:fillRect/>
          </a:stretch>
        </p:blipFill>
        <p:spPr>
          <a:xfrm>
            <a:off x="274318" y="1828797"/>
            <a:ext cx="11698018" cy="918595"/>
          </a:xfrm>
          <a:prstGeom prst="rect">
            <a:avLst/>
          </a:prstGeom>
        </p:spPr>
      </p:pic>
      <p:sp>
        <p:nvSpPr>
          <p:cNvPr id="4" name="Slide Number Placeholder 3">
            <a:extLst>
              <a:ext uri="{FF2B5EF4-FFF2-40B4-BE49-F238E27FC236}">
                <a16:creationId xmlns:a16="http://schemas.microsoft.com/office/drawing/2014/main" id="{030984E3-CDC4-915B-26BC-D88C04450D35}"/>
              </a:ext>
            </a:extLst>
          </p:cNvPr>
          <p:cNvSpPr>
            <a:spLocks noGrp="1"/>
          </p:cNvSpPr>
          <p:nvPr>
            <p:ph type="sldNum" sz="quarter" idx="12"/>
          </p:nvPr>
        </p:nvSpPr>
        <p:spPr/>
        <p:txBody>
          <a:bodyPr/>
          <a:lstStyle/>
          <a:p>
            <a:fld id="{6264BDCF-5269-49AC-A246-ED26C2B980E3}" type="slidenum">
              <a:rPr lang="en-US" smtClean="0"/>
              <a:t>59</a:t>
            </a:fld>
            <a:endParaRPr lang="en-US"/>
          </a:p>
        </p:txBody>
      </p:sp>
    </p:spTree>
    <p:extLst>
      <p:ext uri="{BB962C8B-B14F-4D97-AF65-F5344CB8AC3E}">
        <p14:creationId xmlns:p14="http://schemas.microsoft.com/office/powerpoint/2010/main" val="17288431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D4059-6E56-C880-F5AA-2E721C22E7E1}"/>
              </a:ext>
            </a:extLst>
          </p:cNvPr>
          <p:cNvSpPr>
            <a:spLocks noGrp="1"/>
          </p:cNvSpPr>
          <p:nvPr>
            <p:ph type="title"/>
          </p:nvPr>
        </p:nvSpPr>
        <p:spPr/>
        <p:txBody>
          <a:bodyPr/>
          <a:lstStyle/>
          <a:p>
            <a:r>
              <a:rPr lang="en-US" dirty="0"/>
              <a:t>Recommend </a:t>
            </a:r>
          </a:p>
        </p:txBody>
      </p:sp>
      <p:sp>
        <p:nvSpPr>
          <p:cNvPr id="3" name="Content Placeholder 2">
            <a:extLst>
              <a:ext uri="{FF2B5EF4-FFF2-40B4-BE49-F238E27FC236}">
                <a16:creationId xmlns:a16="http://schemas.microsoft.com/office/drawing/2014/main" id="{5CDAD57F-0004-2E84-181C-A3CC545F578A}"/>
              </a:ext>
            </a:extLst>
          </p:cNvPr>
          <p:cNvSpPr>
            <a:spLocks noGrp="1"/>
          </p:cNvSpPr>
          <p:nvPr>
            <p:ph idx="1"/>
          </p:nvPr>
        </p:nvSpPr>
        <p:spPr/>
        <p:txBody>
          <a:bodyPr>
            <a:noAutofit/>
          </a:bodyPr>
          <a:lstStyle/>
          <a:p>
            <a:r>
              <a:rPr lang="en-US" dirty="0"/>
              <a:t>Step 8. Option 8A creates a relation L for superclass C and its attributes, plus a relation L</a:t>
            </a:r>
            <a:r>
              <a:rPr lang="en-US" baseline="-25000" dirty="0"/>
              <a:t>i</a:t>
            </a:r>
            <a:r>
              <a:rPr lang="en-US" dirty="0"/>
              <a:t> for each subclass S</a:t>
            </a:r>
            <a:r>
              <a:rPr lang="en-US" baseline="-25000" dirty="0"/>
              <a:t>i</a:t>
            </a:r>
            <a:r>
              <a:rPr lang="en-US" dirty="0"/>
              <a:t>; each L</a:t>
            </a:r>
            <a:r>
              <a:rPr lang="en-US" baseline="-25000" dirty="0"/>
              <a:t>i</a:t>
            </a:r>
            <a:r>
              <a:rPr lang="en-US" dirty="0"/>
              <a:t> includes the specific (local) attributes of S</a:t>
            </a:r>
            <a:r>
              <a:rPr lang="en-US" baseline="-25000" dirty="0"/>
              <a:t>i</a:t>
            </a:r>
            <a:r>
              <a:rPr lang="en-US" dirty="0"/>
              <a:t>, plus primary key of superclass C, which is propagated to L</a:t>
            </a:r>
            <a:r>
              <a:rPr lang="en-US" baseline="-25000" dirty="0"/>
              <a:t>i</a:t>
            </a:r>
            <a:r>
              <a:rPr lang="en-US" dirty="0"/>
              <a:t> and becomes its primary key - it also becomes a foreign key to the superclass relation</a:t>
            </a:r>
          </a:p>
          <a:p>
            <a:r>
              <a:rPr lang="en-US" dirty="0"/>
              <a:t>an EQUIJOIN operation on primary key between any L</a:t>
            </a:r>
            <a:r>
              <a:rPr lang="en-US" baseline="-25000" dirty="0"/>
              <a:t>i</a:t>
            </a:r>
            <a:r>
              <a:rPr lang="en-US" dirty="0"/>
              <a:t> and L produces all the specific and inherited attributes of the entities in S</a:t>
            </a:r>
            <a:r>
              <a:rPr lang="en-US" baseline="-25000" dirty="0"/>
              <a:t>i</a:t>
            </a:r>
            <a:r>
              <a:rPr lang="en-US" dirty="0"/>
              <a:t> </a:t>
            </a:r>
          </a:p>
          <a:p>
            <a:r>
              <a:rPr lang="en-US" dirty="0"/>
              <a:t>works for any constraints on the specialization: disjoint or overlapping, total or partial</a:t>
            </a:r>
          </a:p>
        </p:txBody>
      </p:sp>
      <p:sp>
        <p:nvSpPr>
          <p:cNvPr id="4" name="Slide Number Placeholder 3">
            <a:extLst>
              <a:ext uri="{FF2B5EF4-FFF2-40B4-BE49-F238E27FC236}">
                <a16:creationId xmlns:a16="http://schemas.microsoft.com/office/drawing/2014/main" id="{A32A7167-C599-539D-89D6-2AE32D74F48F}"/>
              </a:ext>
            </a:extLst>
          </p:cNvPr>
          <p:cNvSpPr>
            <a:spLocks noGrp="1"/>
          </p:cNvSpPr>
          <p:nvPr>
            <p:ph type="sldNum" sz="quarter" idx="12"/>
          </p:nvPr>
        </p:nvSpPr>
        <p:spPr/>
        <p:txBody>
          <a:bodyPr/>
          <a:lstStyle/>
          <a:p>
            <a:fld id="{6264BDCF-5269-49AC-A246-ED26C2B980E3}" type="slidenum">
              <a:rPr lang="en-US" smtClean="0"/>
              <a:t>60</a:t>
            </a:fld>
            <a:endParaRPr lang="en-US"/>
          </a:p>
        </p:txBody>
      </p:sp>
    </p:spTree>
    <p:extLst>
      <p:ext uri="{BB962C8B-B14F-4D97-AF65-F5344CB8AC3E}">
        <p14:creationId xmlns:p14="http://schemas.microsoft.com/office/powerpoint/2010/main" val="24967259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5CA0C-D076-BE37-F785-6D7005435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C1BB8-64D5-2073-1527-36205633A933}"/>
              </a:ext>
            </a:extLst>
          </p:cNvPr>
          <p:cNvSpPr>
            <a:spLocks noGrp="1"/>
          </p:cNvSpPr>
          <p:nvPr>
            <p:ph type="title"/>
          </p:nvPr>
        </p:nvSpPr>
        <p:spPr/>
        <p:txBody>
          <a:bodyPr/>
          <a:lstStyle/>
          <a:p>
            <a:r>
              <a:rPr lang="en-US" dirty="0"/>
              <a:t>Recommend </a:t>
            </a:r>
          </a:p>
        </p:txBody>
      </p:sp>
      <p:sp>
        <p:nvSpPr>
          <p:cNvPr id="3" name="Content Placeholder 2">
            <a:extLst>
              <a:ext uri="{FF2B5EF4-FFF2-40B4-BE49-F238E27FC236}">
                <a16:creationId xmlns:a16="http://schemas.microsoft.com/office/drawing/2014/main" id="{71026B32-57F9-C291-838B-95FDC7D36C15}"/>
              </a:ext>
            </a:extLst>
          </p:cNvPr>
          <p:cNvSpPr>
            <a:spLocks noGrp="1"/>
          </p:cNvSpPr>
          <p:nvPr>
            <p:ph idx="1"/>
          </p:nvPr>
        </p:nvSpPr>
        <p:spPr/>
        <p:txBody>
          <a:bodyPr>
            <a:noAutofit/>
          </a:bodyPr>
          <a:lstStyle/>
          <a:p>
            <a:r>
              <a:rPr lang="en-US" dirty="0"/>
              <a:t>works for any constraints on the specialization: disjoint or overlapping, total or partial</a:t>
            </a:r>
          </a:p>
          <a:p>
            <a:r>
              <a:rPr lang="en-US" dirty="0"/>
              <a:t> </a:t>
            </a:r>
            <a:r>
              <a:rPr lang="en-US" sz="4000" dirty="0"/>
              <a:t>π</a:t>
            </a:r>
            <a:r>
              <a:rPr lang="en-US" baseline="-25000" dirty="0"/>
              <a:t>&lt;k&gt;</a:t>
            </a:r>
            <a:r>
              <a:rPr lang="en-US" dirty="0"/>
              <a:t>(L</a:t>
            </a:r>
            <a:r>
              <a:rPr lang="en-US" baseline="-25000" dirty="0"/>
              <a:t>i</a:t>
            </a:r>
            <a:r>
              <a:rPr lang="en-US" dirty="0"/>
              <a:t>) ⊆ </a:t>
            </a:r>
            <a:r>
              <a:rPr lang="en-US" sz="4000" dirty="0"/>
              <a:t>π</a:t>
            </a:r>
            <a:r>
              <a:rPr lang="en-US" baseline="-25000" dirty="0"/>
              <a:t>&lt;k&gt;</a:t>
            </a:r>
            <a:r>
              <a:rPr lang="en-US" dirty="0"/>
              <a:t>(L)	</a:t>
            </a:r>
          </a:p>
          <a:p>
            <a:r>
              <a:rPr lang="en-US" dirty="0"/>
              <a:t>must hold for each L</a:t>
            </a:r>
            <a:r>
              <a:rPr lang="en-US" baseline="-25000" dirty="0"/>
              <a:t>i</a:t>
            </a:r>
            <a:r>
              <a:rPr lang="en-US" dirty="0"/>
              <a:t>; this specifies a foreign key from each L</a:t>
            </a:r>
            <a:r>
              <a:rPr lang="en-US" baseline="-25000" dirty="0"/>
              <a:t>i</a:t>
            </a:r>
            <a:r>
              <a:rPr lang="en-US" dirty="0"/>
              <a:t> to L</a:t>
            </a:r>
          </a:p>
        </p:txBody>
      </p:sp>
      <p:sp>
        <p:nvSpPr>
          <p:cNvPr id="4" name="Slide Number Placeholder 3">
            <a:extLst>
              <a:ext uri="{FF2B5EF4-FFF2-40B4-BE49-F238E27FC236}">
                <a16:creationId xmlns:a16="http://schemas.microsoft.com/office/drawing/2014/main" id="{FD9BB66F-7BDA-EB82-4D45-ED1B9C0713C3}"/>
              </a:ext>
            </a:extLst>
          </p:cNvPr>
          <p:cNvSpPr>
            <a:spLocks noGrp="1"/>
          </p:cNvSpPr>
          <p:nvPr>
            <p:ph type="sldNum" sz="quarter" idx="12"/>
          </p:nvPr>
        </p:nvSpPr>
        <p:spPr/>
        <p:txBody>
          <a:bodyPr/>
          <a:lstStyle/>
          <a:p>
            <a:fld id="{6264BDCF-5269-49AC-A246-ED26C2B980E3}" type="slidenum">
              <a:rPr lang="en-US" smtClean="0"/>
              <a:t>61</a:t>
            </a:fld>
            <a:endParaRPr lang="en-US"/>
          </a:p>
        </p:txBody>
      </p:sp>
    </p:spTree>
    <p:extLst>
      <p:ext uri="{BB962C8B-B14F-4D97-AF65-F5344CB8AC3E}">
        <p14:creationId xmlns:p14="http://schemas.microsoft.com/office/powerpoint/2010/main" val="34939252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10A5F-4A95-16A9-D500-E6213645CA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45DBF-F802-D202-4FE9-6AF0F7B6AE2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EC034E2-47AD-F9D2-3D79-D475E6E59700}"/>
              </a:ext>
            </a:extLst>
          </p:cNvPr>
          <p:cNvSpPr>
            <a:spLocks noGrp="1"/>
          </p:cNvSpPr>
          <p:nvPr>
            <p:ph idx="1"/>
          </p:nvPr>
        </p:nvSpPr>
        <p:spPr/>
        <p:txBody>
          <a:bodyPr>
            <a:noAutofit/>
          </a:bodyPr>
          <a:lstStyle/>
          <a:p>
            <a:r>
              <a:rPr lang="en-US" dirty="0"/>
              <a:t>in option 8B, the EQUIJOIN operation between each subclass and the superclass is built into the schema and the superclass relation L is done away with</a:t>
            </a:r>
          </a:p>
          <a:p>
            <a:r>
              <a:rPr lang="en-US" dirty="0"/>
              <a:t>option works well only when both the disjoint and total constraints hold; if specialization is not total, an entity that does not belong to any of the subclasses Si is lost; if specialization is not disjoint, an entity belonging to more than one subclass will have its inherited attributes from the superclass C stored redundantly in more than one table Li</a:t>
            </a:r>
          </a:p>
        </p:txBody>
      </p:sp>
      <p:sp>
        <p:nvSpPr>
          <p:cNvPr id="4" name="Slide Number Placeholder 3">
            <a:extLst>
              <a:ext uri="{FF2B5EF4-FFF2-40B4-BE49-F238E27FC236}">
                <a16:creationId xmlns:a16="http://schemas.microsoft.com/office/drawing/2014/main" id="{CB9801BA-3091-B8BD-3826-64D93CA0A8E3}"/>
              </a:ext>
            </a:extLst>
          </p:cNvPr>
          <p:cNvSpPr>
            <a:spLocks noGrp="1"/>
          </p:cNvSpPr>
          <p:nvPr>
            <p:ph type="sldNum" sz="quarter" idx="12"/>
          </p:nvPr>
        </p:nvSpPr>
        <p:spPr/>
        <p:txBody>
          <a:bodyPr/>
          <a:lstStyle/>
          <a:p>
            <a:fld id="{6264BDCF-5269-49AC-A246-ED26C2B980E3}" type="slidenum">
              <a:rPr lang="en-US" smtClean="0"/>
              <a:t>62</a:t>
            </a:fld>
            <a:endParaRPr lang="en-US"/>
          </a:p>
        </p:txBody>
      </p:sp>
    </p:spTree>
    <p:extLst>
      <p:ext uri="{BB962C8B-B14F-4D97-AF65-F5344CB8AC3E}">
        <p14:creationId xmlns:p14="http://schemas.microsoft.com/office/powerpoint/2010/main" val="38237411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4EF05-206C-3F3C-A313-884A4C6357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005A2-2336-96CF-9AE2-3209FED8534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36BB12F-66C0-4E18-38EA-46E1A79A7D46}"/>
              </a:ext>
            </a:extLst>
          </p:cNvPr>
          <p:cNvSpPr>
            <a:spLocks noGrp="1"/>
          </p:cNvSpPr>
          <p:nvPr>
            <p:ph idx="1"/>
          </p:nvPr>
        </p:nvSpPr>
        <p:spPr/>
        <p:txBody>
          <a:bodyPr>
            <a:noAutofit/>
          </a:bodyPr>
          <a:lstStyle/>
          <a:p>
            <a:r>
              <a:rPr lang="en-US" dirty="0"/>
              <a:t>options 8C and 8D create a single relation to represent the superclass C and all its subclasses</a:t>
            </a:r>
          </a:p>
          <a:p>
            <a:r>
              <a:rPr lang="en-US" dirty="0"/>
              <a:t>an entity that does not belong to some of the subclasses will have NULL values for the specific (local) attributes of these subclasses</a:t>
            </a:r>
          </a:p>
          <a:p>
            <a:r>
              <a:rPr lang="en-US" dirty="0"/>
              <a:t>these options are not recommended if many specific attributes are defined for the subclasses; if few local subclass attributes exists, these mappings are preferable to options 8B because they do away with the need to specify JOIN operations; therefore, they can yield a more efficient implementation for queries</a:t>
            </a:r>
          </a:p>
          <a:p>
            <a:r>
              <a:rPr lang="en-US" dirty="0"/>
              <a:t>Option 8C is used to handle disjoint subclasses by including a single type (or image</a:t>
            </a:r>
          </a:p>
          <a:p>
            <a:r>
              <a:rPr lang="en-US" dirty="0"/>
              <a:t>or discriminating) attribute t to indicate to which of the m subclasses each tuple</a:t>
            </a:r>
          </a:p>
          <a:p>
            <a:r>
              <a:rPr lang="en-US" dirty="0"/>
              <a:t>belongs; hence, the domain of t could be {1, 2, … , m}. If the specialization is partial, t</a:t>
            </a:r>
          </a:p>
          <a:p>
            <a:r>
              <a:rPr lang="en-US" dirty="0"/>
              <a:t>can have NULL values in tuples that do not belong to any subclass. If the specialization</a:t>
            </a:r>
          </a:p>
          <a:p>
            <a:r>
              <a:rPr lang="en-US" dirty="0"/>
              <a:t>is attribute-defined, that attribute itself serves the purpose of t and t is not needed; this</a:t>
            </a:r>
          </a:p>
          <a:p>
            <a:r>
              <a:rPr lang="en-US" dirty="0"/>
              <a:t>option is illustrated in Figure 9.5(c) for the EER specialization in Figure 4.4.</a:t>
            </a:r>
          </a:p>
          <a:p>
            <a:r>
              <a:rPr lang="en-US" dirty="0"/>
              <a:t>Option 8D is designed to handle overlapping subclasses by including m Boolean</a:t>
            </a:r>
          </a:p>
          <a:p>
            <a:r>
              <a:rPr lang="en-US" dirty="0"/>
              <a:t>type (or flag) fields, one for each subclass. It can also be used for disjoint subclasses.</a:t>
            </a:r>
          </a:p>
        </p:txBody>
      </p:sp>
      <p:sp>
        <p:nvSpPr>
          <p:cNvPr id="4" name="Slide Number Placeholder 3">
            <a:extLst>
              <a:ext uri="{FF2B5EF4-FFF2-40B4-BE49-F238E27FC236}">
                <a16:creationId xmlns:a16="http://schemas.microsoft.com/office/drawing/2014/main" id="{C33770D1-41B8-40E0-6CBB-5B0B4CBA0C9B}"/>
              </a:ext>
            </a:extLst>
          </p:cNvPr>
          <p:cNvSpPr>
            <a:spLocks noGrp="1"/>
          </p:cNvSpPr>
          <p:nvPr>
            <p:ph type="sldNum" sz="quarter" idx="12"/>
          </p:nvPr>
        </p:nvSpPr>
        <p:spPr/>
        <p:txBody>
          <a:bodyPr/>
          <a:lstStyle/>
          <a:p>
            <a:fld id="{6264BDCF-5269-49AC-A246-ED26C2B980E3}" type="slidenum">
              <a:rPr lang="en-US" smtClean="0"/>
              <a:t>63</a:t>
            </a:fld>
            <a:endParaRPr lang="en-US"/>
          </a:p>
        </p:txBody>
      </p:sp>
    </p:spTree>
    <p:extLst>
      <p:ext uri="{BB962C8B-B14F-4D97-AF65-F5344CB8AC3E}">
        <p14:creationId xmlns:p14="http://schemas.microsoft.com/office/powerpoint/2010/main" val="9366166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59FA8-3589-4230-EBEA-99CF6B8F8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5A9A5-B687-CF26-4A62-35EFF77131F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42D8F7E-B606-D2FB-9E99-ABC20DFC41D7}"/>
              </a:ext>
            </a:extLst>
          </p:cNvPr>
          <p:cNvSpPr>
            <a:spLocks noGrp="1"/>
          </p:cNvSpPr>
          <p:nvPr>
            <p:ph idx="1"/>
          </p:nvPr>
        </p:nvSpPr>
        <p:spPr/>
        <p:txBody>
          <a:bodyPr>
            <a:noAutofit/>
          </a:bodyPr>
          <a:lstStyle/>
          <a:p>
            <a:r>
              <a:rPr lang="en-US" dirty="0"/>
              <a:t>options 8C and 8D create a single relation to represent the superclass C and all its subclasses</a:t>
            </a:r>
          </a:p>
          <a:p>
            <a:r>
              <a:rPr lang="en-US" dirty="0"/>
              <a:t>an entity that does not belong to some of the subclasses will have NULL values for the specific (local) attributes of these subclasses</a:t>
            </a:r>
          </a:p>
          <a:p>
            <a:r>
              <a:rPr lang="en-US" dirty="0"/>
              <a:t>these options are not recommended if many specific attributes are defined for the subclasses; if few local subclass attributes exists, these mappings are preferable to options 8B because they do away with the need to specify JOIN operations; therefore, they can yield a more efficient implementation for queries</a:t>
            </a:r>
          </a:p>
        </p:txBody>
      </p:sp>
      <p:sp>
        <p:nvSpPr>
          <p:cNvPr id="4" name="Slide Number Placeholder 3">
            <a:extLst>
              <a:ext uri="{FF2B5EF4-FFF2-40B4-BE49-F238E27FC236}">
                <a16:creationId xmlns:a16="http://schemas.microsoft.com/office/drawing/2014/main" id="{EE197537-23FD-C59F-CA27-584BDA2B90B8}"/>
              </a:ext>
            </a:extLst>
          </p:cNvPr>
          <p:cNvSpPr>
            <a:spLocks noGrp="1"/>
          </p:cNvSpPr>
          <p:nvPr>
            <p:ph type="sldNum" sz="quarter" idx="12"/>
          </p:nvPr>
        </p:nvSpPr>
        <p:spPr/>
        <p:txBody>
          <a:bodyPr/>
          <a:lstStyle/>
          <a:p>
            <a:fld id="{6264BDCF-5269-49AC-A246-ED26C2B980E3}" type="slidenum">
              <a:rPr lang="en-US" smtClean="0"/>
              <a:t>64</a:t>
            </a:fld>
            <a:endParaRPr lang="en-US"/>
          </a:p>
        </p:txBody>
      </p:sp>
    </p:spTree>
    <p:extLst>
      <p:ext uri="{BB962C8B-B14F-4D97-AF65-F5344CB8AC3E}">
        <p14:creationId xmlns:p14="http://schemas.microsoft.com/office/powerpoint/2010/main" val="1177846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16FE2-8927-DF4E-1646-A94812255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7E257-4BDD-6A7D-90DE-16BF8589EDA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BAB0180-BA3A-15C6-0087-4E4BB7D4D158}"/>
              </a:ext>
            </a:extLst>
          </p:cNvPr>
          <p:cNvSpPr>
            <a:spLocks noGrp="1"/>
          </p:cNvSpPr>
          <p:nvPr>
            <p:ph idx="1"/>
          </p:nvPr>
        </p:nvSpPr>
        <p:spPr/>
        <p:txBody>
          <a:bodyPr>
            <a:noAutofit/>
          </a:bodyPr>
          <a:lstStyle/>
          <a:p>
            <a:r>
              <a:rPr lang="en-US" dirty="0"/>
              <a:t>option 8C is used to handle disjoint subclasses by including a single type (or image or discriminating) attribute t to indicate to which of the </a:t>
            </a:r>
            <a:r>
              <a:rPr lang="en-US" i="1" dirty="0"/>
              <a:t>m</a:t>
            </a:r>
            <a:r>
              <a:rPr lang="en-US" dirty="0"/>
              <a:t> subclasses each tuple belongs; hence, the domain of t could be {1, 2, … , m}</a:t>
            </a:r>
          </a:p>
          <a:p>
            <a:r>
              <a:rPr lang="en-US" dirty="0"/>
              <a:t>if the specialization is partial, t can have NULL values in tuples that do not belong to any subclass</a:t>
            </a:r>
          </a:p>
          <a:p>
            <a:r>
              <a:rPr lang="en-US" dirty="0"/>
              <a:t>if the specialization is attribute-defined, that attribute itself serves the purpose of t and t is not needed</a:t>
            </a:r>
          </a:p>
        </p:txBody>
      </p:sp>
      <p:sp>
        <p:nvSpPr>
          <p:cNvPr id="4" name="Slide Number Placeholder 3">
            <a:extLst>
              <a:ext uri="{FF2B5EF4-FFF2-40B4-BE49-F238E27FC236}">
                <a16:creationId xmlns:a16="http://schemas.microsoft.com/office/drawing/2014/main" id="{DC92037C-FFDA-AC58-F3C8-6780D7A3D55B}"/>
              </a:ext>
            </a:extLst>
          </p:cNvPr>
          <p:cNvSpPr>
            <a:spLocks noGrp="1"/>
          </p:cNvSpPr>
          <p:nvPr>
            <p:ph type="sldNum" sz="quarter" idx="12"/>
          </p:nvPr>
        </p:nvSpPr>
        <p:spPr/>
        <p:txBody>
          <a:bodyPr/>
          <a:lstStyle/>
          <a:p>
            <a:fld id="{6264BDCF-5269-49AC-A246-ED26C2B980E3}" type="slidenum">
              <a:rPr lang="en-US" smtClean="0"/>
              <a:t>65</a:t>
            </a:fld>
            <a:endParaRPr lang="en-US"/>
          </a:p>
        </p:txBody>
      </p:sp>
    </p:spTree>
    <p:extLst>
      <p:ext uri="{BB962C8B-B14F-4D97-AF65-F5344CB8AC3E}">
        <p14:creationId xmlns:p14="http://schemas.microsoft.com/office/powerpoint/2010/main" val="7142851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32BC2-33E4-B3F6-5027-CA55657B7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D24645-174F-E8BD-A787-0E4B33ABAD9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65C4210-815F-2A5D-D271-FA0EAE7CB59F}"/>
              </a:ext>
            </a:extLst>
          </p:cNvPr>
          <p:cNvSpPr>
            <a:spLocks noGrp="1"/>
          </p:cNvSpPr>
          <p:nvPr>
            <p:ph idx="1"/>
          </p:nvPr>
        </p:nvSpPr>
        <p:spPr/>
        <p:txBody>
          <a:bodyPr>
            <a:noAutofit/>
          </a:bodyPr>
          <a:lstStyle/>
          <a:p>
            <a:r>
              <a:rPr lang="en-US" dirty="0"/>
              <a:t>option 8D is designed to handle overlapping subclasses by including </a:t>
            </a:r>
            <a:r>
              <a:rPr lang="en-US" i="1" dirty="0"/>
              <a:t>m</a:t>
            </a:r>
            <a:r>
              <a:rPr lang="en-US" dirty="0"/>
              <a:t> Boolean type (or flag) fields, one for each subclass</a:t>
            </a:r>
          </a:p>
          <a:p>
            <a:r>
              <a:rPr lang="en-US" dirty="0"/>
              <a:t>it can also be used for disjoint </a:t>
            </a:r>
            <a:r>
              <a:rPr lang="en-US" dirty="0" err="1"/>
              <a:t>subclaEach</a:t>
            </a:r>
            <a:r>
              <a:rPr lang="en-US" dirty="0"/>
              <a:t> type field </a:t>
            </a:r>
            <a:r>
              <a:rPr lang="en-US" dirty="0" err="1"/>
              <a:t>t</a:t>
            </a:r>
            <a:r>
              <a:rPr lang="en-US" baseline="-25000" dirty="0" err="1"/>
              <a:t>i</a:t>
            </a:r>
            <a:r>
              <a:rPr lang="en-US" dirty="0"/>
              <a:t> can have a domain {yes, no}, where a value of yes indicates that the tuple is a member of subclass S</a:t>
            </a:r>
            <a:r>
              <a:rPr lang="en-US" baseline="-25000" dirty="0"/>
              <a:t>i</a:t>
            </a:r>
            <a:r>
              <a:rPr lang="en-US" dirty="0"/>
              <a:t> </a:t>
            </a:r>
          </a:p>
        </p:txBody>
      </p:sp>
      <p:sp>
        <p:nvSpPr>
          <p:cNvPr id="4" name="Slide Number Placeholder 3">
            <a:extLst>
              <a:ext uri="{FF2B5EF4-FFF2-40B4-BE49-F238E27FC236}">
                <a16:creationId xmlns:a16="http://schemas.microsoft.com/office/drawing/2014/main" id="{A2062144-FF10-E3CE-7F16-57EA47A3ED46}"/>
              </a:ext>
            </a:extLst>
          </p:cNvPr>
          <p:cNvSpPr>
            <a:spLocks noGrp="1"/>
          </p:cNvSpPr>
          <p:nvPr>
            <p:ph type="sldNum" sz="quarter" idx="12"/>
          </p:nvPr>
        </p:nvSpPr>
        <p:spPr/>
        <p:txBody>
          <a:bodyPr/>
          <a:lstStyle/>
          <a:p>
            <a:fld id="{6264BDCF-5269-49AC-A246-ED26C2B980E3}" type="slidenum">
              <a:rPr lang="en-US" smtClean="0"/>
              <a:t>66</a:t>
            </a:fld>
            <a:endParaRPr lang="en-US"/>
          </a:p>
        </p:txBody>
      </p:sp>
    </p:spTree>
    <p:extLst>
      <p:ext uri="{BB962C8B-B14F-4D97-AF65-F5344CB8AC3E}">
        <p14:creationId xmlns:p14="http://schemas.microsoft.com/office/powerpoint/2010/main" val="13006816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33D5-3886-AC5F-D92B-8D070D2A2B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8B1568-3936-B6EA-D9B3-E77389926A2A}"/>
              </a:ext>
            </a:extLst>
          </p:cNvPr>
          <p:cNvSpPr>
            <a:spLocks noGrp="1"/>
          </p:cNvSpPr>
          <p:nvPr>
            <p:ph idx="1"/>
          </p:nvPr>
        </p:nvSpPr>
        <p:spPr/>
        <p:txBody>
          <a:bodyPr>
            <a:noAutofit/>
          </a:bodyPr>
          <a:lstStyle/>
          <a:p>
            <a:r>
              <a:rPr lang="en-US" dirty="0"/>
              <a:t>for a multilevel specialization (or generalization) hierarchy, we do not have to follow the same mapping option for all the specializations; instead, we can use one mapping option for part of the hierarchy and other options for other parts</a:t>
            </a:r>
          </a:p>
        </p:txBody>
      </p:sp>
      <p:sp>
        <p:nvSpPr>
          <p:cNvPr id="4" name="Slide Number Placeholder 3">
            <a:extLst>
              <a:ext uri="{FF2B5EF4-FFF2-40B4-BE49-F238E27FC236}">
                <a16:creationId xmlns:a16="http://schemas.microsoft.com/office/drawing/2014/main" id="{BEE8E9B6-C359-3E7D-5DD6-2D5E74E81056}"/>
              </a:ext>
            </a:extLst>
          </p:cNvPr>
          <p:cNvSpPr>
            <a:spLocks noGrp="1"/>
          </p:cNvSpPr>
          <p:nvPr>
            <p:ph type="sldNum" sz="quarter" idx="12"/>
          </p:nvPr>
        </p:nvSpPr>
        <p:spPr/>
        <p:txBody>
          <a:bodyPr/>
          <a:lstStyle/>
          <a:p>
            <a:fld id="{6264BDCF-5269-49AC-A246-ED26C2B980E3}" type="slidenum">
              <a:rPr lang="en-US" smtClean="0"/>
              <a:t>67</a:t>
            </a:fld>
            <a:endParaRPr lang="en-US"/>
          </a:p>
        </p:txBody>
      </p:sp>
    </p:spTree>
    <p:extLst>
      <p:ext uri="{BB962C8B-B14F-4D97-AF65-F5344CB8AC3E}">
        <p14:creationId xmlns:p14="http://schemas.microsoft.com/office/powerpoint/2010/main" val="17198470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34B1A-3780-1F62-6DF2-C34E30CF88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A79C8FF-0CC4-68C4-194E-D32F5FC3BA6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2BF1BD5-DD58-C14F-E503-F1095033DADC}"/>
              </a:ext>
            </a:extLst>
          </p:cNvPr>
          <p:cNvSpPr>
            <a:spLocks noGrp="1"/>
          </p:cNvSpPr>
          <p:nvPr>
            <p:ph type="sldNum" sz="quarter" idx="12"/>
          </p:nvPr>
        </p:nvSpPr>
        <p:spPr/>
        <p:txBody>
          <a:bodyPr/>
          <a:lstStyle/>
          <a:p>
            <a:fld id="{6264BDCF-5269-49AC-A246-ED26C2B980E3}" type="slidenum">
              <a:rPr lang="en-US" smtClean="0"/>
              <a:t>68</a:t>
            </a:fld>
            <a:endParaRPr lang="en-US"/>
          </a:p>
        </p:txBody>
      </p:sp>
    </p:spTree>
    <p:extLst>
      <p:ext uri="{BB962C8B-B14F-4D97-AF65-F5344CB8AC3E}">
        <p14:creationId xmlns:p14="http://schemas.microsoft.com/office/powerpoint/2010/main" val="35706510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31582-E6B6-CC1A-3EB9-B94ABAAF7C2A}"/>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E488899B-FE94-DD2A-F5AA-DD7457E13707}"/>
              </a:ext>
            </a:extLst>
          </p:cNvPr>
          <p:cNvPicPr>
            <a:picLocks noGrp="1" noChangeAspect="1"/>
          </p:cNvPicPr>
          <p:nvPr>
            <p:ph idx="1"/>
          </p:nvPr>
        </p:nvPicPr>
        <p:blipFill>
          <a:blip r:embed="rId2"/>
          <a:stretch>
            <a:fillRect/>
          </a:stretch>
        </p:blipFill>
        <p:spPr>
          <a:xfrm>
            <a:off x="838200" y="2125311"/>
            <a:ext cx="10515600" cy="3751966"/>
          </a:xfrm>
          <a:prstGeom prst="rect">
            <a:avLst/>
          </a:prstGeom>
        </p:spPr>
      </p:pic>
      <p:sp>
        <p:nvSpPr>
          <p:cNvPr id="4" name="Slide Number Placeholder 3">
            <a:extLst>
              <a:ext uri="{FF2B5EF4-FFF2-40B4-BE49-F238E27FC236}">
                <a16:creationId xmlns:a16="http://schemas.microsoft.com/office/drawing/2014/main" id="{49142D0F-1A64-716A-B77A-F782DE12466B}"/>
              </a:ext>
            </a:extLst>
          </p:cNvPr>
          <p:cNvSpPr>
            <a:spLocks noGrp="1"/>
          </p:cNvSpPr>
          <p:nvPr>
            <p:ph type="sldNum" sz="quarter" idx="12"/>
          </p:nvPr>
        </p:nvSpPr>
        <p:spPr/>
        <p:txBody>
          <a:bodyPr/>
          <a:lstStyle/>
          <a:p>
            <a:fld id="{6264BDCF-5269-49AC-A246-ED26C2B980E3}" type="slidenum">
              <a:rPr lang="en-US" smtClean="0"/>
              <a:t>69</a:t>
            </a:fld>
            <a:endParaRPr lang="en-US"/>
          </a:p>
        </p:txBody>
      </p:sp>
    </p:spTree>
    <p:extLst>
      <p:ext uri="{BB962C8B-B14F-4D97-AF65-F5344CB8AC3E}">
        <p14:creationId xmlns:p14="http://schemas.microsoft.com/office/powerpoint/2010/main" val="42922836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590F7-A982-23A4-FDAA-75C0D8DED14C}"/>
              </a:ext>
            </a:extLst>
          </p:cNvPr>
          <p:cNvSpPr>
            <a:spLocks noGrp="1"/>
          </p:cNvSpPr>
          <p:nvPr>
            <p:ph type="title"/>
          </p:nvPr>
        </p:nvSpPr>
        <p:spPr/>
        <p:txBody>
          <a:bodyPr>
            <a:normAutofit/>
          </a:bodyPr>
          <a:lstStyle/>
          <a:p>
            <a:r>
              <a:rPr lang="en-US" dirty="0"/>
              <a:t>Mapping of Shared Subclasses (Multiple Inheritance)</a:t>
            </a:r>
          </a:p>
        </p:txBody>
      </p:sp>
      <p:sp>
        <p:nvSpPr>
          <p:cNvPr id="3" name="Content Placeholder 2">
            <a:extLst>
              <a:ext uri="{FF2B5EF4-FFF2-40B4-BE49-F238E27FC236}">
                <a16:creationId xmlns:a16="http://schemas.microsoft.com/office/drawing/2014/main" id="{AC4E158F-2DA8-FC91-19C1-F08D0657C7AB}"/>
              </a:ext>
            </a:extLst>
          </p:cNvPr>
          <p:cNvSpPr>
            <a:spLocks noGrp="1"/>
          </p:cNvSpPr>
          <p:nvPr>
            <p:ph idx="1"/>
          </p:nvPr>
        </p:nvSpPr>
        <p:spPr/>
        <p:txBody>
          <a:bodyPr>
            <a:normAutofit fontScale="92500"/>
          </a:bodyPr>
          <a:lstStyle/>
          <a:p>
            <a:r>
              <a:rPr lang="en-US" dirty="0"/>
              <a:t>shared subclass, such as ENGINEERING_MANAGER is a subclass of several </a:t>
            </a:r>
            <a:r>
              <a:rPr lang="en-US" dirty="0" err="1"/>
              <a:t>superclasses</a:t>
            </a:r>
            <a:r>
              <a:rPr lang="en-US" dirty="0"/>
              <a:t>, indicating multiple inheritance</a:t>
            </a:r>
          </a:p>
          <a:p>
            <a:r>
              <a:rPr lang="en-US" dirty="0"/>
              <a:t>these classes must all have the same key attribute; otherwise, the shared subclass would be modeled as a category (union type) </a:t>
            </a:r>
          </a:p>
          <a:p>
            <a:r>
              <a:rPr lang="en-US" dirty="0"/>
              <a:t>can apply any of the options discussed in step 8 to a shared subclass, subject to the restrictions</a:t>
            </a:r>
          </a:p>
          <a:p>
            <a:r>
              <a:rPr lang="en-US" dirty="0"/>
              <a:t>options 8C and 8D are used for the shared subclass STUDENT_ASSISTANT</a:t>
            </a:r>
          </a:p>
          <a:p>
            <a:r>
              <a:rPr lang="en-US" dirty="0"/>
              <a:t>option 8C is used in the EMPLOYEE relation (</a:t>
            </a:r>
            <a:r>
              <a:rPr lang="en-US" dirty="0" err="1"/>
              <a:t>Employee_type</a:t>
            </a:r>
            <a:r>
              <a:rPr lang="en-US" dirty="0"/>
              <a:t> attribute)</a:t>
            </a:r>
          </a:p>
          <a:p>
            <a:r>
              <a:rPr lang="en-US" dirty="0"/>
              <a:t>option 8D is used in the STUDENT relation (</a:t>
            </a:r>
            <a:r>
              <a:rPr lang="en-US" dirty="0" err="1"/>
              <a:t>Student_assist_flag</a:t>
            </a:r>
            <a:r>
              <a:rPr lang="en-US" dirty="0"/>
              <a:t> attribute)</a:t>
            </a:r>
          </a:p>
        </p:txBody>
      </p:sp>
      <p:sp>
        <p:nvSpPr>
          <p:cNvPr id="4" name="Slide Number Placeholder 3">
            <a:extLst>
              <a:ext uri="{FF2B5EF4-FFF2-40B4-BE49-F238E27FC236}">
                <a16:creationId xmlns:a16="http://schemas.microsoft.com/office/drawing/2014/main" id="{D7EF7B04-7BB6-E92D-F240-D038D912B3A6}"/>
              </a:ext>
            </a:extLst>
          </p:cNvPr>
          <p:cNvSpPr>
            <a:spLocks noGrp="1"/>
          </p:cNvSpPr>
          <p:nvPr>
            <p:ph type="sldNum" sz="quarter" idx="12"/>
          </p:nvPr>
        </p:nvSpPr>
        <p:spPr/>
        <p:txBody>
          <a:bodyPr/>
          <a:lstStyle/>
          <a:p>
            <a:fld id="{6264BDCF-5269-49AC-A246-ED26C2B980E3}" type="slidenum">
              <a:rPr lang="en-US" smtClean="0"/>
              <a:t>70</a:t>
            </a:fld>
            <a:endParaRPr lang="en-US"/>
          </a:p>
        </p:txBody>
      </p:sp>
    </p:spTree>
    <p:extLst>
      <p:ext uri="{BB962C8B-B14F-4D97-AF65-F5344CB8AC3E}">
        <p14:creationId xmlns:p14="http://schemas.microsoft.com/office/powerpoint/2010/main" val="37690731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52E0-5EFC-7723-B0BE-E8078B7522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140249-7C64-C55A-49EA-9E59D5022D2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14CE932-CD73-84EE-47E8-3472C2A62522}"/>
              </a:ext>
            </a:extLst>
          </p:cNvPr>
          <p:cNvSpPr>
            <a:spLocks noGrp="1"/>
          </p:cNvSpPr>
          <p:nvPr>
            <p:ph type="sldNum" sz="quarter" idx="12"/>
          </p:nvPr>
        </p:nvSpPr>
        <p:spPr/>
        <p:txBody>
          <a:bodyPr/>
          <a:lstStyle/>
          <a:p>
            <a:fld id="{6264BDCF-5269-49AC-A246-ED26C2B980E3}" type="slidenum">
              <a:rPr lang="en-US" smtClean="0"/>
              <a:t>71</a:t>
            </a:fld>
            <a:endParaRPr lang="en-US"/>
          </a:p>
        </p:txBody>
      </p:sp>
      <p:pic>
        <p:nvPicPr>
          <p:cNvPr id="6" name="Picture 5">
            <a:extLst>
              <a:ext uri="{FF2B5EF4-FFF2-40B4-BE49-F238E27FC236}">
                <a16:creationId xmlns:a16="http://schemas.microsoft.com/office/drawing/2014/main" id="{60042683-704D-F073-A9CC-6C181194D630}"/>
              </a:ext>
            </a:extLst>
          </p:cNvPr>
          <p:cNvPicPr>
            <a:picLocks noChangeAspect="1"/>
          </p:cNvPicPr>
          <p:nvPr/>
        </p:nvPicPr>
        <p:blipFill>
          <a:blip r:embed="rId2"/>
          <a:stretch>
            <a:fillRect/>
          </a:stretch>
        </p:blipFill>
        <p:spPr>
          <a:xfrm>
            <a:off x="380202" y="975970"/>
            <a:ext cx="11431595" cy="4906060"/>
          </a:xfrm>
          <a:prstGeom prst="rect">
            <a:avLst/>
          </a:prstGeom>
        </p:spPr>
      </p:pic>
    </p:spTree>
    <p:extLst>
      <p:ext uri="{BB962C8B-B14F-4D97-AF65-F5344CB8AC3E}">
        <p14:creationId xmlns:p14="http://schemas.microsoft.com/office/powerpoint/2010/main" val="1786478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2E4A6-7364-B335-7701-FFB449C033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0E670-B399-08B7-988A-3B9C180998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755DF2-8D1A-A883-52DD-AEA15DC9CD1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D273C24-3E0A-2F7B-02B4-20FE950B6AA3}"/>
              </a:ext>
            </a:extLst>
          </p:cNvPr>
          <p:cNvSpPr>
            <a:spLocks noGrp="1"/>
          </p:cNvSpPr>
          <p:nvPr>
            <p:ph type="sldNum" sz="quarter" idx="12"/>
          </p:nvPr>
        </p:nvSpPr>
        <p:spPr/>
        <p:txBody>
          <a:bodyPr/>
          <a:lstStyle/>
          <a:p>
            <a:fld id="{6264BDCF-5269-49AC-A246-ED26C2B980E3}" type="slidenum">
              <a:rPr lang="en-US" smtClean="0"/>
              <a:t>72</a:t>
            </a:fld>
            <a:endParaRPr lang="en-US"/>
          </a:p>
        </p:txBody>
      </p:sp>
    </p:spTree>
    <p:extLst>
      <p:ext uri="{BB962C8B-B14F-4D97-AF65-F5344CB8AC3E}">
        <p14:creationId xmlns:p14="http://schemas.microsoft.com/office/powerpoint/2010/main" val="37265975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47AA0-9D74-47E8-03DD-4B9812DDD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88008-971B-1398-6780-35BF4522C947}"/>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517EFC7E-14F9-9590-A78E-BFDDEB88696F}"/>
              </a:ext>
            </a:extLst>
          </p:cNvPr>
          <p:cNvSpPr>
            <a:spLocks noGrp="1"/>
          </p:cNvSpPr>
          <p:nvPr>
            <p:ph type="sldNum" sz="quarter" idx="12"/>
          </p:nvPr>
        </p:nvSpPr>
        <p:spPr/>
        <p:txBody>
          <a:bodyPr/>
          <a:lstStyle/>
          <a:p>
            <a:fld id="{6264BDCF-5269-49AC-A246-ED26C2B980E3}" type="slidenum">
              <a:rPr lang="en-US" smtClean="0"/>
              <a:t>73</a:t>
            </a:fld>
            <a:endParaRPr lang="en-US"/>
          </a:p>
        </p:txBody>
      </p:sp>
      <p:pic>
        <p:nvPicPr>
          <p:cNvPr id="8" name="Content Placeholder 7">
            <a:extLst>
              <a:ext uri="{FF2B5EF4-FFF2-40B4-BE49-F238E27FC236}">
                <a16:creationId xmlns:a16="http://schemas.microsoft.com/office/drawing/2014/main" id="{0F105D8D-2590-EFE6-15BA-6DFC8F0C8799}"/>
              </a:ext>
            </a:extLst>
          </p:cNvPr>
          <p:cNvPicPr>
            <a:picLocks noGrp="1" noChangeAspect="1"/>
          </p:cNvPicPr>
          <p:nvPr>
            <p:ph idx="1"/>
          </p:nvPr>
        </p:nvPicPr>
        <p:blipFill>
          <a:blip r:embed="rId2"/>
          <a:stretch>
            <a:fillRect/>
          </a:stretch>
        </p:blipFill>
        <p:spPr>
          <a:xfrm>
            <a:off x="2103118" y="91439"/>
            <a:ext cx="4789586" cy="6607113"/>
          </a:xfrm>
          <a:prstGeom prst="rect">
            <a:avLst/>
          </a:prstGeom>
        </p:spPr>
      </p:pic>
    </p:spTree>
    <p:extLst>
      <p:ext uri="{BB962C8B-B14F-4D97-AF65-F5344CB8AC3E}">
        <p14:creationId xmlns:p14="http://schemas.microsoft.com/office/powerpoint/2010/main" val="15324725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DBE3-C432-8DA9-1D17-42EFBDB2E0E9}"/>
              </a:ext>
            </a:extLst>
          </p:cNvPr>
          <p:cNvSpPr>
            <a:spLocks noGrp="1"/>
          </p:cNvSpPr>
          <p:nvPr>
            <p:ph type="title"/>
          </p:nvPr>
        </p:nvSpPr>
        <p:spPr/>
        <p:txBody>
          <a:bodyPr/>
          <a:lstStyle/>
          <a:p>
            <a:r>
              <a:rPr lang="en-US" dirty="0"/>
              <a:t>Mapping of Categories (Union Types)</a:t>
            </a:r>
          </a:p>
        </p:txBody>
      </p:sp>
      <p:sp>
        <p:nvSpPr>
          <p:cNvPr id="3" name="Content Placeholder 2">
            <a:extLst>
              <a:ext uri="{FF2B5EF4-FFF2-40B4-BE49-F238E27FC236}">
                <a16:creationId xmlns:a16="http://schemas.microsoft.com/office/drawing/2014/main" id="{845524E9-44F9-EECF-44F8-6FE653A05084}"/>
              </a:ext>
            </a:extLst>
          </p:cNvPr>
          <p:cNvSpPr>
            <a:spLocks noGrp="1"/>
          </p:cNvSpPr>
          <p:nvPr>
            <p:ph idx="1"/>
          </p:nvPr>
        </p:nvSpPr>
        <p:spPr/>
        <p:txBody>
          <a:bodyPr>
            <a:normAutofit/>
          </a:bodyPr>
          <a:lstStyle/>
          <a:p>
            <a:r>
              <a:rPr lang="en-US" dirty="0"/>
              <a:t>add another step to the mapping procedure to handle categories</a:t>
            </a:r>
          </a:p>
          <a:p>
            <a:r>
              <a:rPr lang="en-US" dirty="0"/>
              <a:t>a category (or union type) is a subclass of the </a:t>
            </a:r>
            <a:r>
              <a:rPr lang="en-US" i="1" dirty="0"/>
              <a:t>union </a:t>
            </a:r>
            <a:r>
              <a:rPr lang="en-US" dirty="0"/>
              <a:t>of two or more </a:t>
            </a:r>
            <a:r>
              <a:rPr lang="en-US" dirty="0" err="1"/>
              <a:t>superclasses</a:t>
            </a:r>
            <a:r>
              <a:rPr lang="en-US" dirty="0"/>
              <a:t> that can have different keys because they can be of different entity types </a:t>
            </a:r>
          </a:p>
          <a:p>
            <a:r>
              <a:rPr lang="en-US" dirty="0"/>
              <a:t>an example is the OWNER category which is a subset of the union of three entity types PERSON, BANK, and COMPANY</a:t>
            </a:r>
          </a:p>
          <a:p>
            <a:r>
              <a:rPr lang="en-US" dirty="0"/>
              <a:t>the other category in that figure, REGISTERED_VEHICLE, has two </a:t>
            </a:r>
            <a:r>
              <a:rPr lang="en-US" dirty="0" err="1"/>
              <a:t>superclasses</a:t>
            </a:r>
            <a:r>
              <a:rPr lang="en-US" dirty="0"/>
              <a:t> that have the same key attribute</a:t>
            </a:r>
          </a:p>
        </p:txBody>
      </p:sp>
      <p:sp>
        <p:nvSpPr>
          <p:cNvPr id="4" name="Slide Number Placeholder 3">
            <a:extLst>
              <a:ext uri="{FF2B5EF4-FFF2-40B4-BE49-F238E27FC236}">
                <a16:creationId xmlns:a16="http://schemas.microsoft.com/office/drawing/2014/main" id="{461F2F28-B51A-7E60-DF2A-07DCCBEFEB4D}"/>
              </a:ext>
            </a:extLst>
          </p:cNvPr>
          <p:cNvSpPr>
            <a:spLocks noGrp="1"/>
          </p:cNvSpPr>
          <p:nvPr>
            <p:ph type="sldNum" sz="quarter" idx="12"/>
          </p:nvPr>
        </p:nvSpPr>
        <p:spPr/>
        <p:txBody>
          <a:bodyPr/>
          <a:lstStyle/>
          <a:p>
            <a:fld id="{6264BDCF-5269-49AC-A246-ED26C2B980E3}" type="slidenum">
              <a:rPr lang="en-US" smtClean="0"/>
              <a:t>74</a:t>
            </a:fld>
            <a:endParaRPr lang="en-US"/>
          </a:p>
        </p:txBody>
      </p:sp>
    </p:spTree>
    <p:extLst>
      <p:ext uri="{BB962C8B-B14F-4D97-AF65-F5344CB8AC3E}">
        <p14:creationId xmlns:p14="http://schemas.microsoft.com/office/powerpoint/2010/main" val="32705352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2310A-2484-EE07-1FBF-E5128166B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470B97-482A-D3D7-AA87-2E202F6690E9}"/>
              </a:ext>
            </a:extLst>
          </p:cNvPr>
          <p:cNvSpPr>
            <a:spLocks noGrp="1"/>
          </p:cNvSpPr>
          <p:nvPr>
            <p:ph type="title"/>
          </p:nvPr>
        </p:nvSpPr>
        <p:spPr/>
        <p:txBody>
          <a:bodyPr/>
          <a:lstStyle/>
          <a:p>
            <a:r>
              <a:rPr lang="en-US" dirty="0"/>
              <a:t>Step 9: Mapping of Union Types (Categories).</a:t>
            </a:r>
          </a:p>
        </p:txBody>
      </p:sp>
      <p:sp>
        <p:nvSpPr>
          <p:cNvPr id="3" name="Content Placeholder 2">
            <a:extLst>
              <a:ext uri="{FF2B5EF4-FFF2-40B4-BE49-F238E27FC236}">
                <a16:creationId xmlns:a16="http://schemas.microsoft.com/office/drawing/2014/main" id="{0BF23BCF-40BE-B8B9-982B-DEEB8F42C18E}"/>
              </a:ext>
            </a:extLst>
          </p:cNvPr>
          <p:cNvSpPr>
            <a:spLocks noGrp="1"/>
          </p:cNvSpPr>
          <p:nvPr>
            <p:ph idx="1"/>
          </p:nvPr>
        </p:nvSpPr>
        <p:spPr/>
        <p:txBody>
          <a:bodyPr>
            <a:normAutofit/>
          </a:bodyPr>
          <a:lstStyle/>
          <a:p>
            <a:r>
              <a:rPr lang="en-US" dirty="0"/>
              <a:t>for mapping a category whose defining </a:t>
            </a:r>
            <a:r>
              <a:rPr lang="en-US" dirty="0" err="1"/>
              <a:t>superclasses</a:t>
            </a:r>
            <a:r>
              <a:rPr lang="en-US" dirty="0"/>
              <a:t> have different keys, it is customary to specify a new key attribute, called a </a:t>
            </a:r>
            <a:r>
              <a:rPr lang="en-US" i="1" dirty="0"/>
              <a:t>surrogate key</a:t>
            </a:r>
            <a:r>
              <a:rPr lang="en-US" dirty="0"/>
              <a:t>, when creating a relation to correspond to the union type</a:t>
            </a:r>
          </a:p>
          <a:p>
            <a:r>
              <a:rPr lang="en-US" dirty="0"/>
              <a:t>the keys of the defining classes are different, so we cannot use any one of them exclusively to identify all entities in the relation</a:t>
            </a:r>
          </a:p>
          <a:p>
            <a:r>
              <a:rPr lang="en-US" dirty="0"/>
              <a:t>in our example we create a relation OWNER to correspond to OWNER category and include any attributes of the category in this relation</a:t>
            </a:r>
          </a:p>
          <a:p>
            <a:r>
              <a:rPr lang="en-US" dirty="0"/>
              <a:t>the primary key of the OWNER relation is the surrogate key, which we called </a:t>
            </a:r>
            <a:r>
              <a:rPr lang="en-US" dirty="0" err="1"/>
              <a:t>Owner_id</a:t>
            </a:r>
            <a:endParaRPr lang="en-US" dirty="0"/>
          </a:p>
        </p:txBody>
      </p:sp>
      <p:sp>
        <p:nvSpPr>
          <p:cNvPr id="4" name="Slide Number Placeholder 3">
            <a:extLst>
              <a:ext uri="{FF2B5EF4-FFF2-40B4-BE49-F238E27FC236}">
                <a16:creationId xmlns:a16="http://schemas.microsoft.com/office/drawing/2014/main" id="{B694F551-A2B4-8618-1F45-4A98707DD40F}"/>
              </a:ext>
            </a:extLst>
          </p:cNvPr>
          <p:cNvSpPr>
            <a:spLocks noGrp="1"/>
          </p:cNvSpPr>
          <p:nvPr>
            <p:ph type="sldNum" sz="quarter" idx="12"/>
          </p:nvPr>
        </p:nvSpPr>
        <p:spPr/>
        <p:txBody>
          <a:bodyPr/>
          <a:lstStyle/>
          <a:p>
            <a:fld id="{6264BDCF-5269-49AC-A246-ED26C2B980E3}" type="slidenum">
              <a:rPr lang="en-US" smtClean="0"/>
              <a:t>75</a:t>
            </a:fld>
            <a:endParaRPr lang="en-US"/>
          </a:p>
        </p:txBody>
      </p:sp>
    </p:spTree>
    <p:extLst>
      <p:ext uri="{BB962C8B-B14F-4D97-AF65-F5344CB8AC3E}">
        <p14:creationId xmlns:p14="http://schemas.microsoft.com/office/powerpoint/2010/main" val="28810332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81359-E84A-7B6E-4068-C95F73BFB3D9}"/>
              </a:ext>
            </a:extLst>
          </p:cNvPr>
          <p:cNvSpPr>
            <a:spLocks noGrp="1"/>
          </p:cNvSpPr>
          <p:nvPr>
            <p:ph type="title"/>
          </p:nvPr>
        </p:nvSpPr>
        <p:spPr/>
        <p:txBody>
          <a:bodyPr/>
          <a:lstStyle/>
          <a:p>
            <a:r>
              <a:rPr lang="en-US" dirty="0"/>
              <a:t>Step 9: Mapping of Union Types (Categories).</a:t>
            </a:r>
          </a:p>
        </p:txBody>
      </p:sp>
      <p:sp>
        <p:nvSpPr>
          <p:cNvPr id="3" name="Content Placeholder 2">
            <a:extLst>
              <a:ext uri="{FF2B5EF4-FFF2-40B4-BE49-F238E27FC236}">
                <a16:creationId xmlns:a16="http://schemas.microsoft.com/office/drawing/2014/main" id="{BBA3BA79-CD70-1BBE-14D2-4DD88C9C3E3E}"/>
              </a:ext>
            </a:extLst>
          </p:cNvPr>
          <p:cNvSpPr>
            <a:spLocks noGrp="1"/>
          </p:cNvSpPr>
          <p:nvPr>
            <p:ph idx="1"/>
          </p:nvPr>
        </p:nvSpPr>
        <p:spPr/>
        <p:txBody>
          <a:bodyPr>
            <a:noAutofit/>
          </a:bodyPr>
          <a:lstStyle/>
          <a:p>
            <a:r>
              <a:rPr lang="en-US" dirty="0"/>
              <a:t>also, include the surrogate key attribute </a:t>
            </a:r>
            <a:r>
              <a:rPr lang="en-US" dirty="0" err="1"/>
              <a:t>Owner_id</a:t>
            </a:r>
            <a:r>
              <a:rPr lang="en-US" dirty="0"/>
              <a:t> as foreign key in each relation corresponding to a superclass of the category, to specify the correspondence in values between the surrogate key and the original key of each superclass</a:t>
            </a:r>
          </a:p>
          <a:p>
            <a:r>
              <a:rPr lang="en-US" dirty="0"/>
              <a:t>if a particular PERSON (or BANK or COMPANY) entity is not a member of OWNER, it would have a NULL value for its </a:t>
            </a:r>
            <a:r>
              <a:rPr lang="en-US" dirty="0" err="1"/>
              <a:t>Owner_id</a:t>
            </a:r>
            <a:r>
              <a:rPr lang="en-US" dirty="0"/>
              <a:t> attribute in its corresponding tuple in the PERSON (or BANK or COMPANY) relation, and it would not have a tuple in the OWNER relation</a:t>
            </a:r>
          </a:p>
          <a:p>
            <a:r>
              <a:rPr lang="en-US" dirty="0"/>
              <a:t>also recommended to add a type attribute to the OWNER relation to indicate the particular entity type to which each tuple belongs (PERSON or BANK or COMPANY)</a:t>
            </a:r>
          </a:p>
        </p:txBody>
      </p:sp>
      <p:sp>
        <p:nvSpPr>
          <p:cNvPr id="4" name="Slide Number Placeholder 3">
            <a:extLst>
              <a:ext uri="{FF2B5EF4-FFF2-40B4-BE49-F238E27FC236}">
                <a16:creationId xmlns:a16="http://schemas.microsoft.com/office/drawing/2014/main" id="{D229BAD6-055B-3857-9244-45C4E73C5915}"/>
              </a:ext>
            </a:extLst>
          </p:cNvPr>
          <p:cNvSpPr>
            <a:spLocks noGrp="1"/>
          </p:cNvSpPr>
          <p:nvPr>
            <p:ph type="sldNum" sz="quarter" idx="12"/>
          </p:nvPr>
        </p:nvSpPr>
        <p:spPr/>
        <p:txBody>
          <a:bodyPr/>
          <a:lstStyle/>
          <a:p>
            <a:fld id="{6264BDCF-5269-49AC-A246-ED26C2B980E3}" type="slidenum">
              <a:rPr lang="en-US" smtClean="0"/>
              <a:t>76</a:t>
            </a:fld>
            <a:endParaRPr lang="en-US"/>
          </a:p>
        </p:txBody>
      </p:sp>
    </p:spTree>
    <p:extLst>
      <p:ext uri="{BB962C8B-B14F-4D97-AF65-F5344CB8AC3E}">
        <p14:creationId xmlns:p14="http://schemas.microsoft.com/office/powerpoint/2010/main" val="41638312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69974-BFA6-51FB-FEAF-D4F1A17E2F5C}"/>
              </a:ext>
            </a:extLst>
          </p:cNvPr>
          <p:cNvSpPr>
            <a:spLocks noGrp="1"/>
          </p:cNvSpPr>
          <p:nvPr>
            <p:ph type="title"/>
          </p:nvPr>
        </p:nvSpPr>
        <p:spPr/>
        <p:txBody>
          <a:bodyPr/>
          <a:lstStyle/>
          <a:p>
            <a:r>
              <a:rPr lang="en-US" dirty="0"/>
              <a:t>Step 9: Mapping of Union Types (Categories).</a:t>
            </a:r>
          </a:p>
        </p:txBody>
      </p:sp>
      <p:sp>
        <p:nvSpPr>
          <p:cNvPr id="3" name="Content Placeholder 2">
            <a:extLst>
              <a:ext uri="{FF2B5EF4-FFF2-40B4-BE49-F238E27FC236}">
                <a16:creationId xmlns:a16="http://schemas.microsoft.com/office/drawing/2014/main" id="{3460245E-984B-6C3A-88DE-F34EA5827859}"/>
              </a:ext>
            </a:extLst>
          </p:cNvPr>
          <p:cNvSpPr>
            <a:spLocks noGrp="1"/>
          </p:cNvSpPr>
          <p:nvPr>
            <p:ph idx="1"/>
          </p:nvPr>
        </p:nvSpPr>
        <p:spPr/>
        <p:txBody>
          <a:bodyPr/>
          <a:lstStyle/>
          <a:p>
            <a:r>
              <a:rPr lang="en-US" dirty="0"/>
              <a:t>for a category whose </a:t>
            </a:r>
            <a:r>
              <a:rPr lang="en-US" dirty="0" err="1"/>
              <a:t>superclasses</a:t>
            </a:r>
            <a:r>
              <a:rPr lang="en-US" dirty="0"/>
              <a:t> have the same key, such as VEHICLE, there is no need for a surrogate key</a:t>
            </a:r>
          </a:p>
          <a:p>
            <a:r>
              <a:rPr lang="en-US" dirty="0"/>
              <a:t>mapping of the REGISTERED_VEHICLE category, which illustrates this case, is also shown in next figure</a:t>
            </a:r>
          </a:p>
        </p:txBody>
      </p:sp>
      <p:sp>
        <p:nvSpPr>
          <p:cNvPr id="4" name="Slide Number Placeholder 3">
            <a:extLst>
              <a:ext uri="{FF2B5EF4-FFF2-40B4-BE49-F238E27FC236}">
                <a16:creationId xmlns:a16="http://schemas.microsoft.com/office/drawing/2014/main" id="{E9BD0B5B-3A5C-29F8-770E-A611C3756801}"/>
              </a:ext>
            </a:extLst>
          </p:cNvPr>
          <p:cNvSpPr>
            <a:spLocks noGrp="1"/>
          </p:cNvSpPr>
          <p:nvPr>
            <p:ph type="sldNum" sz="quarter" idx="12"/>
          </p:nvPr>
        </p:nvSpPr>
        <p:spPr/>
        <p:txBody>
          <a:bodyPr/>
          <a:lstStyle/>
          <a:p>
            <a:fld id="{6264BDCF-5269-49AC-A246-ED26C2B980E3}" type="slidenum">
              <a:rPr lang="en-US" smtClean="0"/>
              <a:t>77</a:t>
            </a:fld>
            <a:endParaRPr lang="en-US"/>
          </a:p>
        </p:txBody>
      </p:sp>
    </p:spTree>
    <p:extLst>
      <p:ext uri="{BB962C8B-B14F-4D97-AF65-F5344CB8AC3E}">
        <p14:creationId xmlns:p14="http://schemas.microsoft.com/office/powerpoint/2010/main" val="32755177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A72CF-BDF7-CA8E-D1BC-DA4FBF8E63C5}"/>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726BA7E-4405-D109-4841-39EBE6CDBE80}"/>
              </a:ext>
            </a:extLst>
          </p:cNvPr>
          <p:cNvPicPr>
            <a:picLocks noGrp="1" noChangeAspect="1"/>
          </p:cNvPicPr>
          <p:nvPr>
            <p:ph idx="1"/>
          </p:nvPr>
        </p:nvPicPr>
        <p:blipFill>
          <a:blip r:embed="rId2"/>
          <a:stretch>
            <a:fillRect/>
          </a:stretch>
        </p:blipFill>
        <p:spPr>
          <a:xfrm>
            <a:off x="2103120" y="274320"/>
            <a:ext cx="5308094" cy="6457824"/>
          </a:xfrm>
          <a:prstGeom prst="rect">
            <a:avLst/>
          </a:prstGeom>
        </p:spPr>
      </p:pic>
      <p:sp>
        <p:nvSpPr>
          <p:cNvPr id="4" name="Slide Number Placeholder 3">
            <a:extLst>
              <a:ext uri="{FF2B5EF4-FFF2-40B4-BE49-F238E27FC236}">
                <a16:creationId xmlns:a16="http://schemas.microsoft.com/office/drawing/2014/main" id="{08AEEE32-0B86-B72E-3E0B-B15A6CDB2211}"/>
              </a:ext>
            </a:extLst>
          </p:cNvPr>
          <p:cNvSpPr>
            <a:spLocks noGrp="1"/>
          </p:cNvSpPr>
          <p:nvPr>
            <p:ph type="sldNum" sz="quarter" idx="12"/>
          </p:nvPr>
        </p:nvSpPr>
        <p:spPr/>
        <p:txBody>
          <a:bodyPr/>
          <a:lstStyle/>
          <a:p>
            <a:fld id="{6264BDCF-5269-49AC-A246-ED26C2B980E3}" type="slidenum">
              <a:rPr lang="en-US" smtClean="0"/>
              <a:t>78</a:t>
            </a:fld>
            <a:endParaRPr lang="en-US"/>
          </a:p>
        </p:txBody>
      </p:sp>
    </p:spTree>
    <p:extLst>
      <p:ext uri="{BB962C8B-B14F-4D97-AF65-F5344CB8AC3E}">
        <p14:creationId xmlns:p14="http://schemas.microsoft.com/office/powerpoint/2010/main" val="23024711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5DC2F-D430-BEF2-9FD0-90ED0A003761}"/>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64EF3F8E-F1D7-02B2-E9AB-C827DEBE9D92}"/>
              </a:ext>
            </a:extLst>
          </p:cNvPr>
          <p:cNvPicPr>
            <a:picLocks noGrp="1" noChangeAspect="1"/>
          </p:cNvPicPr>
          <p:nvPr>
            <p:ph idx="1"/>
          </p:nvPr>
        </p:nvPicPr>
        <p:blipFill>
          <a:blip r:embed="rId2"/>
          <a:stretch>
            <a:fillRect/>
          </a:stretch>
        </p:blipFill>
        <p:spPr>
          <a:xfrm>
            <a:off x="914400" y="457200"/>
            <a:ext cx="9955401" cy="6040212"/>
          </a:xfrm>
          <a:prstGeom prst="rect">
            <a:avLst/>
          </a:prstGeom>
        </p:spPr>
      </p:pic>
      <p:sp>
        <p:nvSpPr>
          <p:cNvPr id="4" name="Slide Number Placeholder 3">
            <a:extLst>
              <a:ext uri="{FF2B5EF4-FFF2-40B4-BE49-F238E27FC236}">
                <a16:creationId xmlns:a16="http://schemas.microsoft.com/office/drawing/2014/main" id="{FC3698FD-44CF-7E39-B538-F5ED9E2B8780}"/>
              </a:ext>
            </a:extLst>
          </p:cNvPr>
          <p:cNvSpPr>
            <a:spLocks noGrp="1"/>
          </p:cNvSpPr>
          <p:nvPr>
            <p:ph type="sldNum" sz="quarter" idx="12"/>
          </p:nvPr>
        </p:nvSpPr>
        <p:spPr/>
        <p:txBody>
          <a:bodyPr/>
          <a:lstStyle/>
          <a:p>
            <a:fld id="{6264BDCF-5269-49AC-A246-ED26C2B980E3}" type="slidenum">
              <a:rPr lang="en-US" smtClean="0"/>
              <a:t>79</a:t>
            </a:fld>
            <a:endParaRPr lang="en-US"/>
          </a:p>
        </p:txBody>
      </p:sp>
    </p:spTree>
    <p:extLst>
      <p:ext uri="{BB962C8B-B14F-4D97-AF65-F5344CB8AC3E}">
        <p14:creationId xmlns:p14="http://schemas.microsoft.com/office/powerpoint/2010/main" val="20783882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7400-06AC-84FC-422B-B4A54F6FD2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6E1FF5-8588-B8F6-131D-77A43369BFF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409FB045-79D4-2D7C-FFEA-51CCEE86F462}"/>
              </a:ext>
            </a:extLst>
          </p:cNvPr>
          <p:cNvSpPr>
            <a:spLocks noGrp="1"/>
          </p:cNvSpPr>
          <p:nvPr>
            <p:ph type="sldNum" sz="quarter" idx="12"/>
          </p:nvPr>
        </p:nvSpPr>
        <p:spPr/>
        <p:txBody>
          <a:bodyPr/>
          <a:lstStyle/>
          <a:p>
            <a:fld id="{6264BDCF-5269-49AC-A246-ED26C2B980E3}" type="slidenum">
              <a:rPr lang="en-US" smtClean="0"/>
              <a:t>80</a:t>
            </a:fld>
            <a:endParaRPr lang="en-US"/>
          </a:p>
        </p:txBody>
      </p:sp>
      <p:pic>
        <p:nvPicPr>
          <p:cNvPr id="6" name="Picture 5">
            <a:extLst>
              <a:ext uri="{FF2B5EF4-FFF2-40B4-BE49-F238E27FC236}">
                <a16:creationId xmlns:a16="http://schemas.microsoft.com/office/drawing/2014/main" id="{C1E47065-F004-BFF6-34C1-99A873F8C33C}"/>
              </a:ext>
            </a:extLst>
          </p:cNvPr>
          <p:cNvPicPr>
            <a:picLocks noChangeAspect="1"/>
          </p:cNvPicPr>
          <p:nvPr/>
        </p:nvPicPr>
        <p:blipFill>
          <a:blip r:embed="rId2"/>
          <a:stretch>
            <a:fillRect/>
          </a:stretch>
        </p:blipFill>
        <p:spPr>
          <a:xfrm>
            <a:off x="914370" y="457189"/>
            <a:ext cx="9903887" cy="6130363"/>
          </a:xfrm>
          <a:prstGeom prst="rect">
            <a:avLst/>
          </a:prstGeom>
        </p:spPr>
      </p:pic>
    </p:spTree>
    <p:extLst>
      <p:ext uri="{BB962C8B-B14F-4D97-AF65-F5344CB8AC3E}">
        <p14:creationId xmlns:p14="http://schemas.microsoft.com/office/powerpoint/2010/main" val="15052711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4DEBD-5E41-E148-4CD2-6591ACA6C764}"/>
              </a:ext>
            </a:extLst>
          </p:cNvPr>
          <p:cNvSpPr>
            <a:spLocks noGrp="1"/>
          </p:cNvSpPr>
          <p:nvPr>
            <p:ph type="title"/>
          </p:nvPr>
        </p:nvSpPr>
        <p:spPr/>
        <p:txBody>
          <a:bodyPr/>
          <a:lstStyle/>
          <a:p>
            <a:r>
              <a:rPr lang="en-US" dirty="0">
                <a:hlinkClick r:id="rId2"/>
              </a:rPr>
              <a:t>Andre Agassi Image Is Everything</a:t>
            </a:r>
            <a:endParaRPr lang="en-US" dirty="0"/>
          </a:p>
        </p:txBody>
      </p:sp>
      <p:sp>
        <p:nvSpPr>
          <p:cNvPr id="3" name="Content Placeholder 2">
            <a:extLst>
              <a:ext uri="{FF2B5EF4-FFF2-40B4-BE49-F238E27FC236}">
                <a16:creationId xmlns:a16="http://schemas.microsoft.com/office/drawing/2014/main" id="{28EACB87-506D-E1EA-2049-24F625DC815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B0D2085-51C5-2992-6C29-2C29C5876BF8}"/>
              </a:ext>
            </a:extLst>
          </p:cNvPr>
          <p:cNvSpPr>
            <a:spLocks noGrp="1"/>
          </p:cNvSpPr>
          <p:nvPr>
            <p:ph type="sldNum" sz="quarter" idx="12"/>
          </p:nvPr>
        </p:nvSpPr>
        <p:spPr/>
        <p:txBody>
          <a:bodyPr/>
          <a:lstStyle/>
          <a:p>
            <a:fld id="{6264BDCF-5269-49AC-A246-ED26C2B980E3}" type="slidenum">
              <a:rPr lang="en-US" smtClean="0"/>
              <a:t>81</a:t>
            </a:fld>
            <a:endParaRPr lang="en-US"/>
          </a:p>
        </p:txBody>
      </p:sp>
    </p:spTree>
    <p:extLst>
      <p:ext uri="{BB962C8B-B14F-4D97-AF65-F5344CB8AC3E}">
        <p14:creationId xmlns:p14="http://schemas.microsoft.com/office/powerpoint/2010/main" val="18553031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668D-A0F7-C585-7A55-71756F49B26F}"/>
              </a:ext>
            </a:extLst>
          </p:cNvPr>
          <p:cNvSpPr>
            <a:spLocks noGrp="1"/>
          </p:cNvSpPr>
          <p:nvPr>
            <p:ph type="title"/>
          </p:nvPr>
        </p:nvSpPr>
        <p:spPr/>
        <p:txBody>
          <a:bodyPr/>
          <a:lstStyle/>
          <a:p>
            <a:r>
              <a:rPr lang="en-US" dirty="0">
                <a:hlinkClick r:id="rId2"/>
              </a:rPr>
              <a:t>Open. O </a:t>
            </a:r>
            <a:r>
              <a:rPr lang="en-US" dirty="0" err="1">
                <a:hlinkClick r:id="rId2"/>
              </a:rPr>
              <a:t>autobiografie</a:t>
            </a:r>
            <a:r>
              <a:rPr lang="en-US" dirty="0">
                <a:hlinkClick r:id="rId2"/>
              </a:rPr>
              <a:t> - Andre Agassi</a:t>
            </a:r>
            <a:endParaRPr lang="en-US" dirty="0"/>
          </a:p>
        </p:txBody>
      </p:sp>
      <p:sp>
        <p:nvSpPr>
          <p:cNvPr id="3" name="Content Placeholder 2">
            <a:extLst>
              <a:ext uri="{FF2B5EF4-FFF2-40B4-BE49-F238E27FC236}">
                <a16:creationId xmlns:a16="http://schemas.microsoft.com/office/drawing/2014/main" id="{AC731AB3-CCA6-142B-92D0-DDA7927CC827}"/>
              </a:ext>
            </a:extLst>
          </p:cNvPr>
          <p:cNvSpPr>
            <a:spLocks noGrp="1"/>
          </p:cNvSpPr>
          <p:nvPr>
            <p:ph idx="1"/>
          </p:nvPr>
        </p:nvSpPr>
        <p:spPr/>
        <p:txBody>
          <a:bodyPr/>
          <a:lstStyle/>
          <a:p>
            <a:r>
              <a:rPr lang="en-US" dirty="0">
                <a:hlinkClick r:id="rId2"/>
              </a:rPr>
              <a:t>https://carturesti.ro/carte/open-o-autobiografie-55486?p=1&amp;t=c_quick-search&amp;s=agassi</a:t>
            </a:r>
            <a:endParaRPr lang="en-US" dirty="0"/>
          </a:p>
          <a:p>
            <a:endParaRPr lang="en-US" dirty="0"/>
          </a:p>
        </p:txBody>
      </p:sp>
      <p:sp>
        <p:nvSpPr>
          <p:cNvPr id="4" name="Slide Number Placeholder 3">
            <a:extLst>
              <a:ext uri="{FF2B5EF4-FFF2-40B4-BE49-F238E27FC236}">
                <a16:creationId xmlns:a16="http://schemas.microsoft.com/office/drawing/2014/main" id="{3E22275F-CC6F-DCAD-22D2-A8A2B5C33620}"/>
              </a:ext>
            </a:extLst>
          </p:cNvPr>
          <p:cNvSpPr>
            <a:spLocks noGrp="1"/>
          </p:cNvSpPr>
          <p:nvPr>
            <p:ph type="sldNum" sz="quarter" idx="12"/>
          </p:nvPr>
        </p:nvSpPr>
        <p:spPr/>
        <p:txBody>
          <a:bodyPr/>
          <a:lstStyle/>
          <a:p>
            <a:fld id="{6264BDCF-5269-49AC-A246-ED26C2B980E3}" type="slidenum">
              <a:rPr lang="en-US" smtClean="0"/>
              <a:t>82</a:t>
            </a:fld>
            <a:endParaRPr lang="en-US"/>
          </a:p>
        </p:txBody>
      </p:sp>
      <p:pic>
        <p:nvPicPr>
          <p:cNvPr id="6" name="Picture 5">
            <a:extLst>
              <a:ext uri="{FF2B5EF4-FFF2-40B4-BE49-F238E27FC236}">
                <a16:creationId xmlns:a16="http://schemas.microsoft.com/office/drawing/2014/main" id="{0F6EC64B-163B-1642-8542-A18C538D8D2A}"/>
              </a:ext>
            </a:extLst>
          </p:cNvPr>
          <p:cNvPicPr>
            <a:picLocks noChangeAspect="1"/>
          </p:cNvPicPr>
          <p:nvPr/>
        </p:nvPicPr>
        <p:blipFill>
          <a:blip r:embed="rId3"/>
          <a:stretch>
            <a:fillRect/>
          </a:stretch>
        </p:blipFill>
        <p:spPr>
          <a:xfrm>
            <a:off x="1371600" y="2743200"/>
            <a:ext cx="6756859" cy="4027824"/>
          </a:xfrm>
          <a:prstGeom prst="rect">
            <a:avLst/>
          </a:prstGeom>
        </p:spPr>
      </p:pic>
    </p:spTree>
    <p:extLst>
      <p:ext uri="{BB962C8B-B14F-4D97-AF65-F5344CB8AC3E}">
        <p14:creationId xmlns:p14="http://schemas.microsoft.com/office/powerpoint/2010/main" val="10392588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463E7-A153-9013-B6E9-94A37ED688F2}"/>
              </a:ext>
            </a:extLst>
          </p:cNvPr>
          <p:cNvSpPr>
            <a:spLocks noGrp="1"/>
          </p:cNvSpPr>
          <p:nvPr>
            <p:ph type="title"/>
          </p:nvPr>
        </p:nvSpPr>
        <p:spPr/>
        <p:txBody>
          <a:bodyPr/>
          <a:lstStyle/>
          <a:p>
            <a:r>
              <a:rPr lang="en-US" dirty="0">
                <a:hlinkClick r:id="rId2"/>
              </a:rPr>
              <a:t>Nike Men's New York Slam Crew | Tennis Warehouse Europe</a:t>
            </a:r>
            <a:endParaRPr lang="en-US" dirty="0"/>
          </a:p>
        </p:txBody>
      </p:sp>
      <p:sp>
        <p:nvSpPr>
          <p:cNvPr id="3" name="Content Placeholder 2">
            <a:extLst>
              <a:ext uri="{FF2B5EF4-FFF2-40B4-BE49-F238E27FC236}">
                <a16:creationId xmlns:a16="http://schemas.microsoft.com/office/drawing/2014/main" id="{AFDBD4CA-D598-C993-63FC-5867606BAF24}"/>
              </a:ext>
            </a:extLst>
          </p:cNvPr>
          <p:cNvSpPr>
            <a:spLocks noGrp="1"/>
          </p:cNvSpPr>
          <p:nvPr>
            <p:ph idx="1"/>
          </p:nvPr>
        </p:nvSpPr>
        <p:spPr/>
        <p:txBody>
          <a:bodyPr/>
          <a:lstStyle/>
          <a:p>
            <a:r>
              <a:rPr lang="en-US" dirty="0">
                <a:hlinkClick r:id="rId2"/>
              </a:rPr>
              <a:t>https://www.tenniswarehouse-europe.com/</a:t>
            </a:r>
            <a:r>
              <a:rPr lang="en-US" dirty="0" err="1">
                <a:hlinkClick r:id="rId2"/>
              </a:rPr>
              <a:t>Nike_Mens_New_York_Slam_Crew</a:t>
            </a:r>
            <a:r>
              <a:rPr lang="en-US" dirty="0">
                <a:hlinkClick r:id="rId2"/>
              </a:rPr>
              <a:t>/</a:t>
            </a:r>
            <a:r>
              <a:rPr lang="en-US" dirty="0" err="1">
                <a:hlinkClick r:id="rId2"/>
              </a:rPr>
              <a:t>descpageMANIKEA-NMUSLC-EN.html?color</a:t>
            </a:r>
            <a:r>
              <a:rPr lang="en-US" dirty="0">
                <a:hlinkClick r:id="rId2"/>
              </a:rPr>
              <a:t>=CO&amp;_</a:t>
            </a:r>
            <a:r>
              <a:rPr lang="en-US" dirty="0" err="1">
                <a:hlinkClick r:id="rId2"/>
              </a:rPr>
              <a:t>gl</a:t>
            </a:r>
            <a:r>
              <a:rPr lang="en-US" dirty="0">
                <a:hlinkClick r:id="rId2"/>
              </a:rPr>
              <a:t>=1*1kozfkj*_up*MQ..*_</a:t>
            </a:r>
            <a:r>
              <a:rPr lang="en-US" dirty="0" err="1">
                <a:hlinkClick r:id="rId2"/>
              </a:rPr>
              <a:t>gs</a:t>
            </a:r>
            <a:r>
              <a:rPr lang="en-US" dirty="0">
                <a:hlinkClick r:id="rId2"/>
              </a:rPr>
              <a:t>*MQ..&amp;</a:t>
            </a:r>
            <a:r>
              <a:rPr lang="en-US" dirty="0" err="1">
                <a:hlinkClick r:id="rId2"/>
              </a:rPr>
              <a:t>gclid</a:t>
            </a:r>
            <a:r>
              <a:rPr lang="en-US" dirty="0">
                <a:hlinkClick r:id="rId2"/>
              </a:rPr>
              <a:t>=CjwKCAjw2vTFBhAuEiwAFaScwltgQ-3_bkmJIf478ZsZxLpngKUeXMCUz_J157cx_DXob6Uck9b1xhoCYWkQAvD_BwE</a:t>
            </a:r>
            <a:endParaRPr lang="en-US" dirty="0"/>
          </a:p>
          <a:p>
            <a:endParaRPr lang="en-US" dirty="0"/>
          </a:p>
        </p:txBody>
      </p:sp>
      <p:sp>
        <p:nvSpPr>
          <p:cNvPr id="4" name="Slide Number Placeholder 3">
            <a:extLst>
              <a:ext uri="{FF2B5EF4-FFF2-40B4-BE49-F238E27FC236}">
                <a16:creationId xmlns:a16="http://schemas.microsoft.com/office/drawing/2014/main" id="{81B8A42B-1D0E-C10B-2399-EE7D2F1316AC}"/>
              </a:ext>
            </a:extLst>
          </p:cNvPr>
          <p:cNvSpPr>
            <a:spLocks noGrp="1"/>
          </p:cNvSpPr>
          <p:nvPr>
            <p:ph type="sldNum" sz="quarter" idx="12"/>
          </p:nvPr>
        </p:nvSpPr>
        <p:spPr/>
        <p:txBody>
          <a:bodyPr/>
          <a:lstStyle/>
          <a:p>
            <a:fld id="{6264BDCF-5269-49AC-A246-ED26C2B980E3}" type="slidenum">
              <a:rPr lang="en-US" smtClean="0"/>
              <a:t>83</a:t>
            </a:fld>
            <a:endParaRPr lang="en-US"/>
          </a:p>
        </p:txBody>
      </p:sp>
    </p:spTree>
    <p:extLst>
      <p:ext uri="{BB962C8B-B14F-4D97-AF65-F5344CB8AC3E}">
        <p14:creationId xmlns:p14="http://schemas.microsoft.com/office/powerpoint/2010/main" val="7128828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1321D-30E5-0139-7741-6FBB013EF87C}"/>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FEE4EE59-5A68-B3F6-E61C-7544D72075BE}"/>
              </a:ext>
            </a:extLst>
          </p:cNvPr>
          <p:cNvPicPr>
            <a:picLocks noGrp="1" noChangeAspect="1"/>
          </p:cNvPicPr>
          <p:nvPr>
            <p:ph idx="1"/>
          </p:nvPr>
        </p:nvPicPr>
        <p:blipFill>
          <a:blip r:embed="rId2"/>
          <a:stretch>
            <a:fillRect/>
          </a:stretch>
        </p:blipFill>
        <p:spPr>
          <a:xfrm>
            <a:off x="822960" y="274320"/>
            <a:ext cx="10252226" cy="6454166"/>
          </a:xfrm>
          <a:prstGeom prst="rect">
            <a:avLst/>
          </a:prstGeom>
        </p:spPr>
      </p:pic>
      <p:sp>
        <p:nvSpPr>
          <p:cNvPr id="4" name="Slide Number Placeholder 3">
            <a:extLst>
              <a:ext uri="{FF2B5EF4-FFF2-40B4-BE49-F238E27FC236}">
                <a16:creationId xmlns:a16="http://schemas.microsoft.com/office/drawing/2014/main" id="{6B554C4E-AA16-EABB-3B38-4859AF0E781F}"/>
              </a:ext>
            </a:extLst>
          </p:cNvPr>
          <p:cNvSpPr>
            <a:spLocks noGrp="1"/>
          </p:cNvSpPr>
          <p:nvPr>
            <p:ph type="sldNum" sz="quarter" idx="12"/>
          </p:nvPr>
        </p:nvSpPr>
        <p:spPr/>
        <p:txBody>
          <a:bodyPr/>
          <a:lstStyle/>
          <a:p>
            <a:fld id="{6264BDCF-5269-49AC-A246-ED26C2B980E3}" type="slidenum">
              <a:rPr lang="en-US" smtClean="0"/>
              <a:t>84</a:t>
            </a:fld>
            <a:endParaRPr lang="en-US"/>
          </a:p>
        </p:txBody>
      </p:sp>
    </p:spTree>
    <p:extLst>
      <p:ext uri="{BB962C8B-B14F-4D97-AF65-F5344CB8AC3E}">
        <p14:creationId xmlns:p14="http://schemas.microsoft.com/office/powerpoint/2010/main" val="29808743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CE923-3021-17B6-72A1-33D967D5424F}"/>
              </a:ext>
            </a:extLst>
          </p:cNvPr>
          <p:cNvSpPr>
            <a:spLocks noGrp="1"/>
          </p:cNvSpPr>
          <p:nvPr>
            <p:ph type="title"/>
          </p:nvPr>
        </p:nvSpPr>
        <p:spPr/>
        <p:txBody>
          <a:bodyPr/>
          <a:lstStyle/>
          <a:p>
            <a:r>
              <a:rPr lang="en-US" dirty="0"/>
              <a:t>Product</a:t>
            </a:r>
          </a:p>
        </p:txBody>
      </p:sp>
      <p:sp>
        <p:nvSpPr>
          <p:cNvPr id="3" name="Content Placeholder 2">
            <a:extLst>
              <a:ext uri="{FF2B5EF4-FFF2-40B4-BE49-F238E27FC236}">
                <a16:creationId xmlns:a16="http://schemas.microsoft.com/office/drawing/2014/main" id="{3AF7A4B1-517A-DE47-BEDB-515B19D363D5}"/>
              </a:ext>
            </a:extLst>
          </p:cNvPr>
          <p:cNvSpPr>
            <a:spLocks noGrp="1"/>
          </p:cNvSpPr>
          <p:nvPr>
            <p:ph idx="1"/>
          </p:nvPr>
        </p:nvSpPr>
        <p:spPr/>
        <p:txBody>
          <a:bodyPr>
            <a:normAutofit lnSpcReduction="10000"/>
          </a:bodyPr>
          <a:lstStyle/>
          <a:p>
            <a:r>
              <a:rPr lang="en-US" dirty="0"/>
              <a:t>Code</a:t>
            </a:r>
          </a:p>
          <a:p>
            <a:r>
              <a:rPr lang="en-US" dirty="0"/>
              <a:t>Name</a:t>
            </a:r>
          </a:p>
          <a:p>
            <a:r>
              <a:rPr lang="en-US" dirty="0"/>
              <a:t>Description</a:t>
            </a:r>
          </a:p>
          <a:p>
            <a:r>
              <a:rPr lang="en-US" dirty="0"/>
              <a:t>Price</a:t>
            </a:r>
          </a:p>
          <a:p>
            <a:r>
              <a:rPr lang="en-US" dirty="0"/>
              <a:t>Images</a:t>
            </a:r>
          </a:p>
          <a:p>
            <a:r>
              <a:rPr lang="en-US" dirty="0"/>
              <a:t>…</a:t>
            </a:r>
          </a:p>
          <a:p>
            <a:endParaRPr lang="en-US" dirty="0"/>
          </a:p>
          <a:p>
            <a:r>
              <a:rPr lang="en-US" dirty="0"/>
              <a:t>Publishing house, Authors, …</a:t>
            </a:r>
          </a:p>
          <a:p>
            <a:r>
              <a:rPr lang="en-US" dirty="0"/>
              <a:t>Brand, Collection, …</a:t>
            </a:r>
          </a:p>
          <a:p>
            <a:endParaRPr lang="en-US" dirty="0"/>
          </a:p>
        </p:txBody>
      </p:sp>
      <p:sp>
        <p:nvSpPr>
          <p:cNvPr id="4" name="Slide Number Placeholder 3">
            <a:extLst>
              <a:ext uri="{FF2B5EF4-FFF2-40B4-BE49-F238E27FC236}">
                <a16:creationId xmlns:a16="http://schemas.microsoft.com/office/drawing/2014/main" id="{F9375666-329D-BA08-BE91-972AC168BCEF}"/>
              </a:ext>
            </a:extLst>
          </p:cNvPr>
          <p:cNvSpPr>
            <a:spLocks noGrp="1"/>
          </p:cNvSpPr>
          <p:nvPr>
            <p:ph type="sldNum" sz="quarter" idx="12"/>
          </p:nvPr>
        </p:nvSpPr>
        <p:spPr/>
        <p:txBody>
          <a:bodyPr/>
          <a:lstStyle/>
          <a:p>
            <a:fld id="{6264BDCF-5269-49AC-A246-ED26C2B980E3}" type="slidenum">
              <a:rPr lang="en-US" smtClean="0"/>
              <a:t>85</a:t>
            </a:fld>
            <a:endParaRPr lang="en-US"/>
          </a:p>
        </p:txBody>
      </p:sp>
    </p:spTree>
    <p:extLst>
      <p:ext uri="{BB962C8B-B14F-4D97-AF65-F5344CB8AC3E}">
        <p14:creationId xmlns:p14="http://schemas.microsoft.com/office/powerpoint/2010/main" val="227207572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23B27E-C55F-87B5-21CA-63BEEC57A7E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769F5E2F-3880-772B-DB81-6B3F3251B4AC}"/>
              </a:ext>
            </a:extLst>
          </p:cNvPr>
          <p:cNvSpPr>
            <a:spLocks noGrp="1"/>
          </p:cNvSpPr>
          <p:nvPr>
            <p:ph sz="half" idx="1"/>
          </p:nvPr>
        </p:nvSpPr>
        <p:spPr/>
        <p:txBody>
          <a:bodyPr/>
          <a:lstStyle/>
          <a:p>
            <a:r>
              <a:rPr lang="en-US" dirty="0"/>
              <a:t>One product goes in the shopping cart</a:t>
            </a:r>
          </a:p>
          <a:p>
            <a:r>
              <a:rPr lang="en-US" dirty="0"/>
              <a:t>stock</a:t>
            </a:r>
          </a:p>
          <a:p>
            <a:endParaRPr lang="en-US" dirty="0"/>
          </a:p>
          <a:p>
            <a:r>
              <a:rPr lang="en-US" dirty="0"/>
              <a:t>share</a:t>
            </a:r>
          </a:p>
          <a:p>
            <a:r>
              <a:rPr lang="en-US" dirty="0"/>
              <a:t>One page on E-Commerce page</a:t>
            </a:r>
          </a:p>
        </p:txBody>
      </p:sp>
      <p:sp>
        <p:nvSpPr>
          <p:cNvPr id="7" name="Content Placeholder 6">
            <a:extLst>
              <a:ext uri="{FF2B5EF4-FFF2-40B4-BE49-F238E27FC236}">
                <a16:creationId xmlns:a16="http://schemas.microsoft.com/office/drawing/2014/main" id="{506CB6C4-3E58-EB43-3196-68548FAA5DF4}"/>
              </a:ext>
            </a:extLst>
          </p:cNvPr>
          <p:cNvSpPr>
            <a:spLocks noGrp="1"/>
          </p:cNvSpPr>
          <p:nvPr>
            <p:ph sz="half" idx="2"/>
          </p:nvPr>
        </p:nvSpPr>
        <p:spPr/>
        <p:txBody>
          <a:bodyPr/>
          <a:lstStyle/>
          <a:p>
            <a:r>
              <a:rPr lang="en-US" dirty="0"/>
              <a:t>Many product goes in the shopping cart</a:t>
            </a:r>
          </a:p>
          <a:p>
            <a:r>
              <a:rPr lang="en-US" dirty="0"/>
              <a:t>different colors, size</a:t>
            </a:r>
          </a:p>
          <a:p>
            <a:r>
              <a:rPr lang="en-US" dirty="0"/>
              <a:t>stock</a:t>
            </a:r>
          </a:p>
          <a:p>
            <a:r>
              <a:rPr lang="en-US" dirty="0"/>
              <a:t>share</a:t>
            </a:r>
          </a:p>
          <a:p>
            <a:r>
              <a:rPr lang="en-US" dirty="0"/>
              <a:t>One page on E-Commerce page</a:t>
            </a:r>
          </a:p>
          <a:p>
            <a:endParaRPr lang="en-US" dirty="0"/>
          </a:p>
        </p:txBody>
      </p:sp>
      <p:sp>
        <p:nvSpPr>
          <p:cNvPr id="4" name="Slide Number Placeholder 3">
            <a:extLst>
              <a:ext uri="{FF2B5EF4-FFF2-40B4-BE49-F238E27FC236}">
                <a16:creationId xmlns:a16="http://schemas.microsoft.com/office/drawing/2014/main" id="{D45D84EF-F12F-AA41-1AC4-43732C615C47}"/>
              </a:ext>
            </a:extLst>
          </p:cNvPr>
          <p:cNvSpPr>
            <a:spLocks noGrp="1"/>
          </p:cNvSpPr>
          <p:nvPr>
            <p:ph type="sldNum" sz="quarter" idx="12"/>
          </p:nvPr>
        </p:nvSpPr>
        <p:spPr/>
        <p:txBody>
          <a:bodyPr/>
          <a:lstStyle/>
          <a:p>
            <a:fld id="{6264BDCF-5269-49AC-A246-ED26C2B980E3}" type="slidenum">
              <a:rPr lang="en-US" smtClean="0"/>
              <a:t>86</a:t>
            </a:fld>
            <a:endParaRPr lang="en-US"/>
          </a:p>
        </p:txBody>
      </p:sp>
    </p:spTree>
    <p:extLst>
      <p:ext uri="{BB962C8B-B14F-4D97-AF65-F5344CB8AC3E}">
        <p14:creationId xmlns:p14="http://schemas.microsoft.com/office/powerpoint/2010/main" val="999294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09854C1-25F0-4B07-84A5-E69D8C0EEBD2}"/>
</file>

<file path=customXml/itemProps2.xml><?xml version="1.0" encoding="utf-8"?>
<ds:datastoreItem xmlns:ds="http://schemas.openxmlformats.org/officeDocument/2006/customXml" ds:itemID="{52C08012-C2C3-4CD1-A4F5-75A5AFA2F940}"/>
</file>

<file path=customXml/itemProps3.xml><?xml version="1.0" encoding="utf-8"?>
<ds:datastoreItem xmlns:ds="http://schemas.openxmlformats.org/officeDocument/2006/customXml" ds:itemID="{10EEEA79-9029-4C36-BCD8-80042DA39CEA}"/>
</file>

<file path=docProps/app.xml><?xml version="1.0" encoding="utf-8"?>
<Properties xmlns="http://schemas.openxmlformats.org/officeDocument/2006/extended-properties" xmlns:vt="http://schemas.openxmlformats.org/officeDocument/2006/docPropsVTypes">
  <TotalTime>4253</TotalTime>
  <Words>4531</Words>
  <Application>Microsoft Office PowerPoint</Application>
  <PresentationFormat>Widescreen</PresentationFormat>
  <Paragraphs>348</Paragraphs>
  <Slides>86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86</vt:i4>
      </vt:variant>
    </vt:vector>
  </HeadingPairs>
  <TitlesOfParts>
    <vt:vector size="90" baseType="lpstr">
      <vt:lpstr>Arial</vt:lpstr>
      <vt:lpstr>Calibri</vt:lpstr>
      <vt:lpstr>Calibri Light</vt:lpstr>
      <vt:lpstr>Office Theme</vt:lpstr>
      <vt:lpstr>DataBase</vt:lpstr>
      <vt:lpstr>Relational DataBase Design</vt:lpstr>
      <vt:lpstr>PowerPoint Presentation</vt:lpstr>
      <vt:lpstr>Mapping Entity Relationship  ER Model Constructs to Relations</vt:lpstr>
      <vt:lpstr>PowerPoint Presentation</vt:lpstr>
      <vt:lpstr>ER-to-Relational Mapping</vt:lpstr>
      <vt:lpstr>PowerPoint Presentation</vt:lpstr>
      <vt:lpstr>Step 1: Mapping of Regular Entity Types</vt:lpstr>
      <vt:lpstr>Step 1: Mapping of Regular Entity Types</vt:lpstr>
      <vt:lpstr>PowerPoint Presentation</vt:lpstr>
      <vt:lpstr>Step 2: Mapping of Weak Entity Types</vt:lpstr>
      <vt:lpstr>Step 2: Mapping of Weak Entity Types</vt:lpstr>
      <vt:lpstr>PowerPoint Presentation</vt:lpstr>
      <vt:lpstr>Step 3: Mapping of Binary 1:1 Relationship Types</vt:lpstr>
      <vt:lpstr>Step 3: Mapping of Binary 1:1 Relationship Types 1. Foreign key approach</vt:lpstr>
      <vt:lpstr>Step 3: Mapping of Binary 1:1 Relationship Types 2. Merged relation approach</vt:lpstr>
      <vt:lpstr>Step 3: Mapping of Binary 1:1 Relationship Types 3. Cross-reference or relationship relation approach</vt:lpstr>
      <vt:lpstr>Step 3: Mapping of Binary 1:1 Relationship Types 3. Cross-reference or relationship relation approach</vt:lpstr>
      <vt:lpstr>PowerPoint Presentation</vt:lpstr>
      <vt:lpstr>PowerPoint Presentation</vt:lpstr>
      <vt:lpstr>Step 4: Mapping of Binary 1:N Relationship Types</vt:lpstr>
      <vt:lpstr>Step 4: Mapping of Binary 1:N Relationship Types 1. The foreign key approach</vt:lpstr>
      <vt:lpstr>Step 4: Mapping of Binary 1:N Relationship Types 2. The relationship relation approach</vt:lpstr>
      <vt:lpstr>PowerPoint Presentation</vt:lpstr>
      <vt:lpstr>Step 5: Mapping of Binary M:N Relationship Types</vt:lpstr>
      <vt:lpstr>Step 5: Mapping of Binary M:N Relationship Types</vt:lpstr>
      <vt:lpstr>PowerPoint Presentation</vt:lpstr>
      <vt:lpstr>Step 6: Mapping of Multivalued Attributes</vt:lpstr>
      <vt:lpstr>Step 6: Mapping of Multivalued Attributes</vt:lpstr>
      <vt:lpstr>PowerPoint Presentation</vt:lpstr>
      <vt:lpstr>Step 7: Mapping of N-ary Relationship Types use the relationship relation option</vt:lpstr>
      <vt:lpstr>Step 7: Mapping of N-ary Relationship Types use the relationship relation option</vt:lpstr>
      <vt:lpstr>ternary relationship type SUPPLY</vt:lpstr>
      <vt:lpstr>PowerPoint Presentation</vt:lpstr>
      <vt:lpstr>PowerPoint Presentation</vt:lpstr>
      <vt:lpstr>PowerPoint Presentation</vt:lpstr>
      <vt:lpstr>PowerPoint Presentation</vt:lpstr>
      <vt:lpstr>PowerPoint Presentation</vt:lpstr>
      <vt:lpstr>Mapping Enhanced Entity Relationship  EER Model Constructs to Relations</vt:lpstr>
      <vt:lpstr>Mapping of Specialization or Generalization</vt:lpstr>
      <vt:lpstr>Step 8: Options for Mapping  Specialization or Generalization</vt:lpstr>
      <vt:lpstr>A. multiple-relation options special and general relations</vt:lpstr>
      <vt:lpstr>PowerPoint Presentation</vt:lpstr>
      <vt:lpstr>Option 8A: Multiple relations—superclass and subclasses</vt:lpstr>
      <vt:lpstr>PowerPoint Presentation</vt:lpstr>
      <vt:lpstr>CREATE VIEW</vt:lpstr>
      <vt:lpstr>B. multiple-relation options special relations</vt:lpstr>
      <vt:lpstr>PowerPoint Presentation</vt:lpstr>
      <vt:lpstr>Option 8B: Multiple relations—subclass relations only</vt:lpstr>
      <vt:lpstr>PowerPoint Presentation</vt:lpstr>
      <vt:lpstr>CREATE VIEW </vt:lpstr>
      <vt:lpstr>C. single-relation options general relation</vt:lpstr>
      <vt:lpstr>PowerPoint Presentation</vt:lpstr>
      <vt:lpstr>Option 8C: Single relation with one type attribute.</vt:lpstr>
      <vt:lpstr>PowerPoint Presentation</vt:lpstr>
      <vt:lpstr>D. single-relation options general relation</vt:lpstr>
      <vt:lpstr>PowerPoint Presentation</vt:lpstr>
      <vt:lpstr>Option 8D: Single relation with multiple type attributes</vt:lpstr>
      <vt:lpstr>PowerPoint Presentation</vt:lpstr>
      <vt:lpstr>Recommend </vt:lpstr>
      <vt:lpstr>Recommend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Mapping of Shared Subclasses (Multiple Inheritance)</vt:lpstr>
      <vt:lpstr>PowerPoint Presentation</vt:lpstr>
      <vt:lpstr>PowerPoint Presentation</vt:lpstr>
      <vt:lpstr>PowerPoint Presentation</vt:lpstr>
      <vt:lpstr>Mapping of Categories (Union Types)</vt:lpstr>
      <vt:lpstr>Step 9: Mapping of Union Types (Categories).</vt:lpstr>
      <vt:lpstr>Step 9: Mapping of Union Types (Categories).</vt:lpstr>
      <vt:lpstr>Step 9: Mapping of Union Types (Categories).</vt:lpstr>
      <vt:lpstr>PowerPoint Presentation</vt:lpstr>
      <vt:lpstr>PowerPoint Presentation</vt:lpstr>
      <vt:lpstr>PowerPoint Presentation</vt:lpstr>
      <vt:lpstr>Andre Agassi Image Is Everything</vt:lpstr>
      <vt:lpstr>Open. O autobiografie - Andre Agassi</vt:lpstr>
      <vt:lpstr>Nike Men's New York Slam Crew | Tennis Warehouse Europe</vt:lpstr>
      <vt:lpstr>PowerPoint Presentation</vt:lpstr>
      <vt:lpstr>Product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175</cp:revision>
  <dcterms:created xsi:type="dcterms:W3CDTF">2023-08-06T12:55:35Z</dcterms:created>
  <dcterms:modified xsi:type="dcterms:W3CDTF">2025-09-07T08:36:15Z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