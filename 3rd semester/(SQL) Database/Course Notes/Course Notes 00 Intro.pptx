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1" r:id="rId3"/>
    <p:sldId id="258" r:id="rId4"/>
    <p:sldId id="498" r:id="rId5"/>
    <p:sldId id="257" r:id="rId6"/>
    <p:sldId id="457" r:id="rId7"/>
    <p:sldId id="495" r:id="rId8"/>
    <p:sldId id="391" r:id="rId9"/>
    <p:sldId id="473" r:id="rId10"/>
    <p:sldId id="454" r:id="rId11"/>
    <p:sldId id="394" r:id="rId12"/>
    <p:sldId id="452" r:id="rId13"/>
    <p:sldId id="395" r:id="rId14"/>
    <p:sldId id="453" r:id="rId15"/>
    <p:sldId id="262" r:id="rId16"/>
    <p:sldId id="264" r:id="rId17"/>
    <p:sldId id="458" r:id="rId18"/>
    <p:sldId id="459" r:id="rId19"/>
    <p:sldId id="490" r:id="rId20"/>
    <p:sldId id="480" r:id="rId21"/>
    <p:sldId id="479" r:id="rId22"/>
    <p:sldId id="487" r:id="rId23"/>
    <p:sldId id="488" r:id="rId24"/>
    <p:sldId id="481" r:id="rId25"/>
    <p:sldId id="489" r:id="rId26"/>
    <p:sldId id="491" r:id="rId27"/>
    <p:sldId id="492" r:id="rId28"/>
    <p:sldId id="497" r:id="rId29"/>
    <p:sldId id="47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EAB0-20EB-4DF7-837B-371DDD1B95C0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AE39B-1103-4190-9942-3807C5A66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2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930C-760D-5883-ECC1-F5CB6465D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64E95-C921-0CB2-83A2-29CEC570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FD1E-FFDF-6B9B-391C-832B885E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430E-5A65-442F-9064-DEB17858D8F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FC09-CB58-1A98-44F8-DBDC4F50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FBC4E-168F-EAEF-CFF4-122B5A78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843C-D16F-310D-4FA1-1770C7C4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EFEC-D274-3CE4-42AD-5111479AB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A0F2E-18F9-69C4-3350-10D36632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E179-45D9-45BE-AAA6-FF7B7D57AEF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32DEE-4207-0B12-6389-B20CBEF9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92F1E-3EC2-CF71-F9CB-EC8DC886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9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A0F8-BF06-2ADC-8889-D45C2EC9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5234B-00B7-B1C8-175F-A98E178C1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76CC-1FA3-98AE-E860-9DB0608A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4156-D111-4B8A-9649-E929320D3996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DB7F2-4B1B-DDD7-9588-D2C9C263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58A86-DB04-E206-C61A-28D61489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2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7934-58E2-6C87-8517-91D784E6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4FA1-51FD-BDD7-08D8-CB22949ED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A14B0-AB9F-84A5-DCFF-AF29D610B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74DE0-D4E6-B98A-0A7A-6199C46F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7365-BEFC-4E6B-9F2A-FA9474576F81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7B8B2-CEA6-EA62-4C6E-6C903F93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96544-3A77-9F6F-A9A9-14340023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2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5363-41F2-E6A8-F4B1-CD1FFAB3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AC76C-821C-A4CF-E20D-28A35FB1A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10B08-0A91-BC33-F467-764F5842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E10F4-B1CD-E882-ADC7-E67EB6795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8411-74C8-D893-F7D4-63FB702F1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A8843-6A85-EBA5-EACE-D31AE341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37B2F-B566-42C1-8C47-FE2D3202CF99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BBCF3-2913-461E-AD28-FDC7B6B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B7710-25A1-0BB7-4D14-D8B4331A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1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97EF-6A4C-4E15-3A3D-09B6216B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C6005-4DF2-B1D3-F14D-C8E8D586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0BE3-421C-4D71-A3C6-49D639A19F9F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B5121-2E4F-976C-B042-58478DDE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2A568-1B5A-A844-5FEE-3C9477D8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9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6BE25-6954-DC36-134A-6597CFDF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5E47-D439-4284-AE0D-962FCB75FAB6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03941-91C4-7A76-45CF-7066AD1A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CB0C5-B44E-B54F-CFD1-EDD7E30F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DF43-2516-CD44-C72D-9495FB26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BC6C8-737E-06B7-89DA-D63713584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2FE81-C2D0-FEAE-8767-51F60ADA8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E62AB-E046-F609-762A-CFEDAB93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BECBD-8257-458C-AEE3-AE942135D6AE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ECE13-A79A-69BD-9DB1-2A174276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27B68-E2DF-8982-4DF5-D4C4397E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DE69-5905-BC3C-C645-91E6D6C2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53DAA-F625-F974-8D2C-1373B1158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F7B45-CD9A-C6B1-F58C-0341BCC9C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9E8BC-CB6F-F740-3924-593736BA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CAC5-E83F-4F07-8EAE-BE5D8EAB68B2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A5595-E2B3-6B7E-1C62-1515F5F5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32C9-6D22-EF5A-C318-89619C4F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6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1039-EF43-212D-7EB3-340A5138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A0E3D-A0E9-C266-077E-DFBD0C4D2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D565F-9519-15CB-09A9-53305AE3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DA7-E5C5-46E6-B6AF-18BC49A4DE0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AFDD-7C39-8E1A-B031-9AA5A2F5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0541-3970-D9E8-80EF-0B798E68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DAE23E-03A8-AE9D-8E36-BA90B5684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840BB-AB25-B52A-9656-E117AF381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D23E-B3F5-FBA5-C80E-A574CC18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C786-2935-4265-9B26-B14D271DC5F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A6015-6A82-66FB-892D-7D52F165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8FE3-2185-D0F2-F9B2-2354C09E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2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736D2-BD27-C33D-3016-B5C22D73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F75BE-AE64-BECA-E759-43100BE0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69206-125B-41DF-997C-750E4FDE9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EC6D-4A47-4C37-A1F4-993B8D83220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39EDE-9A6C-95C6-EF1C-2D6885F9F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1B1B-62CF-80AA-081B-D24CFA9A0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6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cs.utcluj.ro/csd/pics/plan_invatamant/Fise_an2_3_cs_18-19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4E64-D01B-5FDF-22D9-EC08BEB62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B3069-C608-4303-DE85-85C98B0515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3C704-9F31-242D-BF15-7D930A15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DataBase Course Notes 0 - Intro.</a:t>
            </a:r>
            <a:endParaRPr lang="en-US" altLang="en-US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DataBase</a:t>
            </a:r>
            <a:r>
              <a:rPr lang="en-US" altLang="en-US" dirty="0"/>
              <a:t> people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Me - Calin CENAN</a:t>
            </a:r>
          </a:p>
          <a:p>
            <a:r>
              <a:rPr lang="en-US" altLang="en-US" sz="3200" dirty="0"/>
              <a:t>You</a:t>
            </a: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9B4F74C-BBE8-4E95-8F3D-A8A6D31AB16E}" type="slidenum">
              <a:rPr lang="en-US" altLang="en-US" smtClean="0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D2F0-21AB-4753-157F-4B738575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31F0E-A7ED-E71C-D59B-A5E21E01C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761820"/>
          </a:xfrm>
        </p:spPr>
        <p:txBody>
          <a:bodyPr>
            <a:noAutofit/>
          </a:bodyPr>
          <a:lstStyle/>
          <a:p>
            <a:r>
              <a:rPr lang="en-US" dirty="0"/>
              <a:t>Alexandru LELUTIU</a:t>
            </a:r>
          </a:p>
          <a:p>
            <a:r>
              <a:rPr lang="en-US" dirty="0"/>
              <a:t>Robert DOLLINGER</a:t>
            </a:r>
          </a:p>
          <a:p>
            <a:endParaRPr lang="en-US" dirty="0"/>
          </a:p>
          <a:p>
            <a:r>
              <a:rPr lang="en-US"/>
              <a:t>Ramona MARFIEVICI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FB855-E0E3-459D-A244-D9358F10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3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584C-D892-161F-04AC-C931AB56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F458-5DB6-2258-A04B-A00072DC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8B18-D66A-0D56-FDF3-F2AE5372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761820"/>
          </a:xfrm>
        </p:spPr>
        <p:txBody>
          <a:bodyPr>
            <a:noAutofit/>
          </a:bodyPr>
          <a:lstStyle/>
          <a:p>
            <a:r>
              <a:rPr lang="en-US" dirty="0"/>
              <a:t>Marcel ANTAL</a:t>
            </a:r>
          </a:p>
          <a:p>
            <a:r>
              <a:rPr lang="en-US" dirty="0"/>
              <a:t>Alexandru RANCEA</a:t>
            </a:r>
          </a:p>
          <a:p>
            <a:r>
              <a:rPr lang="en-US" dirty="0"/>
              <a:t>Bogdan BINDEA</a:t>
            </a:r>
          </a:p>
          <a:p>
            <a:r>
              <a:rPr lang="en-US" dirty="0"/>
              <a:t>Calin CENAN</a:t>
            </a:r>
          </a:p>
          <a:p>
            <a:r>
              <a:rPr lang="en-US" dirty="0"/>
              <a:t>Delia MITREA</a:t>
            </a:r>
          </a:p>
          <a:p>
            <a:r>
              <a:rPr lang="en-US" dirty="0"/>
              <a:t>Gabriel DRAGOMIR</a:t>
            </a:r>
          </a:p>
          <a:p>
            <a:r>
              <a:rPr lang="en-US" dirty="0"/>
              <a:t>Cosmina IVAN</a:t>
            </a:r>
          </a:p>
          <a:p>
            <a:r>
              <a:rPr lang="en-US" dirty="0"/>
              <a:t>Paulina MITREA</a:t>
            </a:r>
          </a:p>
          <a:p>
            <a:r>
              <a:rPr lang="en-US" dirty="0"/>
              <a:t>Amalia FILIMON</a:t>
            </a:r>
          </a:p>
          <a:p>
            <a:r>
              <a:rPr lang="en-US" dirty="0"/>
              <a:t>Victor SESERMAN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2DE7C-FAEA-0AB6-431F-DF6F4529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5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715A-949C-25E0-739B-0B821756C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E06C0-20EF-43F9-103D-38FFA0AC8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year </a:t>
            </a:r>
            <a:r>
              <a:rPr lang="en-US" dirty="0" err="1"/>
              <a:t>DataBase</a:t>
            </a:r>
            <a:r>
              <a:rPr lang="en-US" dirty="0"/>
              <a:t> course – mandatory in Computer Science </a:t>
            </a:r>
          </a:p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year advanced </a:t>
            </a:r>
            <a:r>
              <a:rPr lang="en-US" dirty="0" err="1"/>
              <a:t>DataBase</a:t>
            </a:r>
            <a:r>
              <a:rPr lang="en-US" dirty="0"/>
              <a:t> course – optional in Computer Science</a:t>
            </a:r>
          </a:p>
          <a:p>
            <a:pPr lvl="1"/>
            <a:r>
              <a:rPr lang="en-US" sz="2800" dirty="0" err="1"/>
              <a:t>DataBase</a:t>
            </a:r>
            <a:r>
              <a:rPr lang="en-US" sz="2800" dirty="0"/>
              <a:t> Design</a:t>
            </a:r>
          </a:p>
          <a:p>
            <a:pPr lvl="1"/>
            <a:r>
              <a:rPr lang="en-US" sz="2800" dirty="0" err="1"/>
              <a:t>DataBase</a:t>
            </a:r>
            <a:r>
              <a:rPr lang="en-US" sz="2800" dirty="0"/>
              <a:t> Administration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56AEF-77A8-D58D-0703-0121CE21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6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study databases … ?</a:t>
            </a:r>
          </a:p>
          <a:p>
            <a:r>
              <a:rPr lang="en-US" dirty="0"/>
              <a:t>myths …</a:t>
            </a:r>
          </a:p>
          <a:p>
            <a:r>
              <a:rPr lang="en-US" dirty="0"/>
              <a:t>What are </a:t>
            </a:r>
            <a:r>
              <a:rPr lang="en-US" b="1" i="1" dirty="0"/>
              <a:t>you</a:t>
            </a:r>
            <a:r>
              <a:rPr lang="en-US" dirty="0"/>
              <a:t> want to learn during course and laboratory work  on database topic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DataBase Course Notes 0 - Intro.</a:t>
            </a:r>
            <a:endParaRPr lang="en-US" altLang="en-US" dirty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DataBase</a:t>
            </a:r>
            <a:endParaRPr lang="en-US" altLang="en-US" dirty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technology still plays key role in information management</a:t>
            </a:r>
          </a:p>
          <a:p>
            <a:r>
              <a:rPr lang="en-US" dirty="0"/>
              <a:t>database theory and technology are important components in center of information systems</a:t>
            </a:r>
          </a:p>
        </p:txBody>
      </p:sp>
      <p:sp>
        <p:nvSpPr>
          <p:cNvPr id="30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9B4F74C-BBE8-4E95-8F3D-A8A6D31AB16E}" type="slidenum">
              <a:rPr lang="en-US" altLang="en-US" smtClean="0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 curriculum requirements </a:t>
            </a:r>
          </a:p>
          <a:p>
            <a:r>
              <a:rPr lang="en-US" dirty="0"/>
              <a:t>help students developing database systems</a:t>
            </a:r>
          </a:p>
          <a:p>
            <a:r>
              <a:rPr lang="en-US" dirty="0"/>
              <a:t>Database, design database, design database system (database system - integrated project that consists of various technologies)</a:t>
            </a:r>
          </a:p>
          <a:p>
            <a:r>
              <a:rPr lang="en-US" dirty="0"/>
              <a:t>how database can be used to process information</a:t>
            </a: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autovit.ro</a:t>
            </a:r>
            <a:r>
              <a:rPr lang="en-US" dirty="0"/>
              <a:t> last transaction (Naspers) value </a:t>
            </a:r>
            <a:r>
              <a:rPr lang="en-US" b="1" dirty="0"/>
              <a:t>4.7 mil. Euro</a:t>
            </a:r>
          </a:p>
          <a:p>
            <a:r>
              <a:rPr lang="en-US" dirty="0"/>
              <a:t>Site revenue &gt; 630.000 euro / year </a:t>
            </a:r>
          </a:p>
          <a:p>
            <a:r>
              <a:rPr lang="en-US" dirty="0"/>
              <a:t>maintenance &lt; 100.000 euro</a:t>
            </a:r>
          </a:p>
          <a:p>
            <a:r>
              <a:rPr lang="en-US" dirty="0" err="1"/>
              <a:t>DataBase</a:t>
            </a:r>
            <a:r>
              <a:rPr lang="en-US" dirty="0"/>
              <a:t> = value = $ (a lot of $)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45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  <a:p>
            <a:r>
              <a:rPr lang="en-US" dirty="0" err="1"/>
              <a:t>TextBooks</a:t>
            </a:r>
            <a:endParaRPr lang="en-US" dirty="0"/>
          </a:p>
          <a:p>
            <a:r>
              <a:rPr lang="en-US" dirty="0"/>
              <a:t>Definition</a:t>
            </a:r>
          </a:p>
          <a:p>
            <a:pPr lvl="1"/>
            <a:r>
              <a:rPr lang="en-US" sz="3200" dirty="0"/>
              <a:t>Data Model - Relational</a:t>
            </a:r>
            <a:endParaRPr lang="en-US" dirty="0"/>
          </a:p>
          <a:p>
            <a:r>
              <a:rPr lang="en-US" dirty="0"/>
              <a:t>Importance</a:t>
            </a:r>
          </a:p>
          <a:p>
            <a:r>
              <a:rPr lang="en-US" dirty="0"/>
              <a:t>Relation theory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DataBase Course Notes 0 - Intro.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DataBase</a:t>
            </a:r>
            <a:r>
              <a:rPr lang="en-US" altLang="en-US" dirty="0"/>
              <a:t> Course’s GOAL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present introduction to database and database management systems</a:t>
            </a:r>
          </a:p>
          <a:p>
            <a:pPr lvl="1"/>
            <a:r>
              <a:rPr lang="en-US" altLang="en-US" sz="2700" dirty="0"/>
              <a:t>organize information in DBMS</a:t>
            </a:r>
          </a:p>
          <a:p>
            <a:pPr lvl="1"/>
            <a:r>
              <a:rPr lang="en-US" altLang="en-US" sz="2700" dirty="0"/>
              <a:t>retrieve it efficiently</a:t>
            </a:r>
          </a:p>
          <a:p>
            <a:r>
              <a:rPr lang="en-US" altLang="en-US" dirty="0"/>
              <a:t>concentrates on </a:t>
            </a:r>
            <a:r>
              <a:rPr lang="en-US" altLang="en-US" b="1" i="1" dirty="0"/>
              <a:t>relational</a:t>
            </a:r>
            <a:r>
              <a:rPr lang="en-US" altLang="en-US" i="1" dirty="0"/>
              <a:t> </a:t>
            </a:r>
            <a:r>
              <a:rPr lang="en-US" altLang="en-US" dirty="0"/>
              <a:t>systems, which are by far the dominant type of DBMS today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78CE1A3-A52D-461F-B539-217FA2380BA8}" type="slidenum">
              <a:rPr lang="en-US" altLang="en-US" smtClean="0"/>
              <a:pPr eaLnBrk="1" hangingPunct="1"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DataBase</a:t>
            </a:r>
            <a:r>
              <a:rPr lang="en-US" altLang="en-US" dirty="0"/>
              <a:t> Course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85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DataBase Course Notes 0 - Intro.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Practice GOAL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use </a:t>
            </a:r>
            <a:r>
              <a:rPr lang="en-US" altLang="en-US" dirty="0" err="1"/>
              <a:t>DataBase</a:t>
            </a:r>
            <a:r>
              <a:rPr lang="en-US" altLang="en-US" dirty="0"/>
              <a:t> Management System</a:t>
            </a:r>
          </a:p>
          <a:p>
            <a:r>
              <a:rPr lang="en-US" altLang="en-US" dirty="0"/>
              <a:t>i</a:t>
            </a:r>
            <a:r>
              <a:rPr lang="en-US" altLang="en-US" sz="3200" dirty="0"/>
              <a:t>mplement databases</a:t>
            </a:r>
          </a:p>
          <a:p>
            <a:pPr lvl="1"/>
            <a:r>
              <a:rPr lang="en-US" altLang="en-US" sz="2700" dirty="0"/>
              <a:t>SQLite, </a:t>
            </a:r>
            <a:r>
              <a:rPr lang="en-US" altLang="en-US" sz="2700" dirty="0" err="1"/>
              <a:t>PostGreSQL</a:t>
            </a:r>
            <a:endParaRPr lang="en-US" altLang="en-US" sz="2700" dirty="0"/>
          </a:p>
          <a:p>
            <a:pPr lvl="2"/>
            <a:r>
              <a:rPr lang="en-US" altLang="en-US" sz="2500" dirty="0"/>
              <a:t>MySQL, SQL Server, Oracle</a:t>
            </a:r>
          </a:p>
          <a:p>
            <a:r>
              <a:rPr lang="en-US" altLang="en-US" b="1" i="1" dirty="0"/>
              <a:t>Structured Query Language SQL</a:t>
            </a:r>
          </a:p>
          <a:p>
            <a:r>
              <a:rPr lang="en-US" altLang="en-US" dirty="0"/>
              <a:t>implement databases applications</a:t>
            </a:r>
          </a:p>
          <a:p>
            <a:pPr lvl="1"/>
            <a:r>
              <a:rPr lang="en-US" altLang="en-US" sz="2700" strike="sngStrike" dirty="0"/>
              <a:t>PHP, Fat Free Framework</a:t>
            </a:r>
          </a:p>
          <a:p>
            <a:pPr lvl="1"/>
            <a:r>
              <a:rPr lang="en-US" altLang="en-US" sz="2700" i="1" dirty="0"/>
              <a:t>Python ?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C0D71E-57B6-4FBF-917F-B89C327654DA}" type="slidenum">
              <a:rPr lang="en-US" altLang="en-US" smtClean="0"/>
              <a:pPr eaLnBrk="1" hangingPunct="1"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DataBase</a:t>
            </a:r>
            <a:r>
              <a:rPr lang="en-US" altLang="en-US" dirty="0"/>
              <a:t> Laboratory Work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13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DataBase Course Notes 0 - Intro.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Textbooks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R. Ramakrishnan, J. </a:t>
            </a:r>
            <a:r>
              <a:rPr lang="en-US" altLang="en-US" b="1" dirty="0" err="1"/>
              <a:t>Gerhrke</a:t>
            </a:r>
            <a:r>
              <a:rPr lang="en-US" altLang="en-US" b="1" dirty="0"/>
              <a:t>, Database Management Systems, McGraw Hill, 2002</a:t>
            </a:r>
          </a:p>
          <a:p>
            <a:r>
              <a:rPr lang="en-US" altLang="en-US" dirty="0"/>
              <a:t>J. Ullman, H.G. Molina, J. </a:t>
            </a:r>
            <a:r>
              <a:rPr lang="en-US" altLang="en-US" dirty="0" err="1"/>
              <a:t>Widom</a:t>
            </a:r>
            <a:r>
              <a:rPr lang="en-US" altLang="en-US" dirty="0"/>
              <a:t>, Database Systems, Prentice Hall, 2001</a:t>
            </a: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B3183D-479B-4BD4-AB08-886F78A90505}" type="slidenum">
              <a:rPr lang="en-US" altLang="en-US" smtClean="0"/>
              <a:pPr eaLnBrk="1" hangingPunct="1"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DataBase Course Notes 0 - Intro.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Course Textbooks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R. Dollinger, Ed. Albastra 2001</a:t>
            </a:r>
          </a:p>
          <a:p>
            <a:r>
              <a:rPr lang="vi-VN" altLang="en-US"/>
              <a:t>Baze de date </a:t>
            </a:r>
          </a:p>
          <a:p>
            <a:r>
              <a:rPr lang="vi-VN" altLang="en-US"/>
              <a:t>Baze de date şi gestiunea tranzacţiilor </a:t>
            </a:r>
          </a:p>
          <a:p>
            <a:r>
              <a:rPr lang="vi-VN" altLang="en-US"/>
              <a:t>Utilizarea sistemului SQL Server (SQL 7.0, SQL 2000) 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64AB62F-BFCE-48CB-A464-314B2C0607CD}" type="slidenum">
              <a:rPr lang="en-US" altLang="en-US" smtClean="0"/>
              <a:pPr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17C9-388D-4FCF-9F9C-EE628D82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Course Textbooks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DC76-6752-4887-8C49-5F658470D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Sams</a:t>
            </a:r>
            <a:r>
              <a:rPr lang="en-US" dirty="0"/>
              <a:t> Teach Yourself SQL in 10 Minutes</a:t>
            </a:r>
          </a:p>
          <a:p>
            <a:r>
              <a:rPr lang="en-US" dirty="0"/>
              <a:t>SQL For Dummies</a:t>
            </a:r>
          </a:p>
          <a:p>
            <a:r>
              <a:rPr lang="en-US" dirty="0"/>
              <a:t>Lynn </a:t>
            </a:r>
            <a:r>
              <a:rPr lang="en-US" dirty="0" err="1"/>
              <a:t>Beighley</a:t>
            </a:r>
            <a:r>
              <a:rPr lang="en-US" dirty="0"/>
              <a:t>, Head First SQL - Your Brain on SQL, O'Reilly, 2009</a:t>
            </a:r>
          </a:p>
          <a:p>
            <a:r>
              <a:rPr lang="en-US" dirty="0"/>
              <a:t>https://www.w3schools.com/sql/</a:t>
            </a:r>
          </a:p>
          <a:p>
            <a:r>
              <a:rPr lang="en-US" b="1" i="1" dirty="0"/>
              <a:t>https://sqlzoo.net/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F6547-E968-412E-BBFF-141EFC46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A311E-B319-4A0B-B254-19534E35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8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BEBA-7AAC-4FD2-A0A8-26B79A6B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Course Textbooks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79AE-9847-411D-91FC-B1709A9AB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%</a:t>
            </a:r>
            <a:r>
              <a:rPr lang="en-US" dirty="0" err="1"/>
              <a:t>PostGreSQL</a:t>
            </a:r>
            <a:r>
              <a:rPr lang="en-US" dirty="0"/>
              <a:t>%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FFB0C-8E51-4E44-82B7-94B96791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81AD6-EE55-4E39-A9D5-6AEB41C1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28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59E1E0-1DBF-47E3-AB19-4A1DB853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1C830C-BE70-4ECC-B197-F64A8C921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dirty="0"/>
              <a:t>Course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59665-CA80-4403-B525-B28CAABC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B35A-9D2C-4DF3-B445-591CDD97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1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3AB-0873-417C-B668-2FE01C55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I: DATABASE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2500-75FA-48F4-B356-8ED3D07D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Database Systems</a:t>
            </a:r>
          </a:p>
          <a:p>
            <a:pPr lvl="1"/>
            <a:r>
              <a:rPr lang="en-US" sz="2500" dirty="0"/>
              <a:t>Basic Concepts and Definitions</a:t>
            </a:r>
          </a:p>
          <a:p>
            <a:pPr lvl="1"/>
            <a:r>
              <a:rPr lang="en-US" sz="2500" dirty="0"/>
              <a:t>Data Versus Information</a:t>
            </a:r>
          </a:p>
          <a:p>
            <a:pPr lvl="1"/>
            <a:r>
              <a:rPr lang="en-US" sz="2500" dirty="0"/>
              <a:t>Database, </a:t>
            </a:r>
            <a:r>
              <a:rPr lang="en-US" sz="2500" dirty="0" err="1"/>
              <a:t>DataBase</a:t>
            </a:r>
            <a:r>
              <a:rPr lang="en-US" sz="2500" dirty="0"/>
              <a:t> Management System</a:t>
            </a:r>
          </a:p>
          <a:p>
            <a:r>
              <a:rPr lang="en-US" dirty="0"/>
              <a:t>Database System Architecture</a:t>
            </a:r>
          </a:p>
          <a:p>
            <a:pPr lvl="1"/>
            <a:r>
              <a:rPr lang="en-US" sz="2500" dirty="0"/>
              <a:t>Schemas</a:t>
            </a:r>
          </a:p>
          <a:p>
            <a:pPr lvl="1"/>
            <a:r>
              <a:rPr lang="en-US" sz="2500" dirty="0"/>
              <a:t>ANSI-SPARC Database Architecture: Internal, Conceptual, External</a:t>
            </a:r>
          </a:p>
          <a:p>
            <a:pPr lvl="1"/>
            <a:r>
              <a:rPr lang="en-US" sz="2500" b="1" dirty="0"/>
              <a:t>Data Independence</a:t>
            </a:r>
          </a:p>
          <a:p>
            <a:pPr lvl="1"/>
            <a:r>
              <a:rPr lang="en-US" sz="2500" dirty="0"/>
              <a:t>Data Models</a:t>
            </a:r>
          </a:p>
          <a:p>
            <a:pPr lvl="1"/>
            <a:r>
              <a:rPr lang="en-US" sz="2500" dirty="0"/>
              <a:t>Entity-Relationship (E-R) Data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C821-44D6-4C42-8425-9DE6228D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5CB9-E522-4890-AF25-25564ED4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01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3AB-0873-417C-B668-2FE01C55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II: RELATIONAL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2500-75FA-48F4-B356-8ED3D07D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Algebra and Calculus</a:t>
            </a:r>
          </a:p>
          <a:p>
            <a:r>
              <a:rPr lang="en-US" dirty="0"/>
              <a:t>Relational Query Languages</a:t>
            </a:r>
          </a:p>
          <a:p>
            <a:pPr lvl="1"/>
            <a:r>
              <a:rPr lang="en-US" sz="2500" dirty="0"/>
              <a:t>Codd’s Rules</a:t>
            </a:r>
          </a:p>
          <a:p>
            <a:pPr lvl="1"/>
            <a:r>
              <a:rPr lang="en-US" sz="2800" b="1" dirty="0"/>
              <a:t>Structured Query Language (SQL)</a:t>
            </a:r>
          </a:p>
          <a:p>
            <a:r>
              <a:rPr lang="en-US" dirty="0"/>
              <a:t>Entity-Relationship (ER)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C821-44D6-4C42-8425-9DE6228D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5CB9-E522-4890-AF25-25564ED4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12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3AB-0873-417C-B668-2FE01C55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III: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2500-75FA-48F4-B356-8ED3D07D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Dependency, Decomposition</a:t>
            </a:r>
          </a:p>
          <a:p>
            <a:r>
              <a:rPr lang="en-US" dirty="0"/>
              <a:t>Normalization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C821-44D6-4C42-8425-9DE6228D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5CB9-E522-4890-AF25-25564ED4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00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3AB-0873-417C-B668-2FE01C55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IV: PHYSICAL, COMMERCIAL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2500-75FA-48F4-B356-8ED3D07D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Data Organization</a:t>
            </a:r>
          </a:p>
          <a:p>
            <a:pPr lvl="1"/>
            <a:r>
              <a:rPr lang="en-US" sz="2800" dirty="0"/>
              <a:t>Indexing</a:t>
            </a:r>
          </a:p>
          <a:p>
            <a:r>
              <a:rPr lang="en-US" dirty="0"/>
              <a:t>COMMERCIAL DATABASES</a:t>
            </a:r>
          </a:p>
          <a:p>
            <a:pPr lvl="1"/>
            <a:r>
              <a:rPr lang="en-US" sz="3000" dirty="0" err="1"/>
              <a:t>PostGreSQL</a:t>
            </a:r>
            <a:r>
              <a:rPr lang="en-US" sz="3000" dirty="0"/>
              <a:t>, SQLite</a:t>
            </a:r>
          </a:p>
          <a:p>
            <a:pPr lvl="2"/>
            <a:r>
              <a:rPr lang="en-US" sz="2700" dirty="0"/>
              <a:t>Python, web database applications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C821-44D6-4C42-8425-9DE6228D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5CB9-E522-4890-AF25-25564ED4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4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3AB-0873-417C-B668-2FE01C55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2500-75FA-48F4-B356-8ED3D07D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Processing and Optimization</a:t>
            </a:r>
          </a:p>
          <a:p>
            <a:r>
              <a:rPr lang="en-US" dirty="0"/>
              <a:t>Transaction Processing and Concurrency Control</a:t>
            </a:r>
          </a:p>
          <a:p>
            <a:r>
              <a:rPr lang="en-US" dirty="0"/>
              <a:t>Database Recovery System</a:t>
            </a:r>
          </a:p>
          <a:p>
            <a:pPr lvl="1"/>
            <a:r>
              <a:rPr lang="en-US" sz="2700" dirty="0"/>
              <a:t>Backup &amp; Restore</a:t>
            </a:r>
          </a:p>
          <a:p>
            <a:r>
              <a:rPr lang="en-US" dirty="0"/>
              <a:t>Database Security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C821-44D6-4C42-8425-9DE6228D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5CB9-E522-4890-AF25-25564ED4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2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3AB-0873-417C-B668-2FE01C55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for Advanced Hardcore </a:t>
            </a:r>
            <a:r>
              <a:rPr lang="en-US" dirty="0" err="1"/>
              <a:t>DataBase</a:t>
            </a:r>
            <a:r>
              <a:rPr lang="en-US" dirty="0"/>
              <a:t> Design 4</a:t>
            </a:r>
            <a:r>
              <a:rPr lang="en-US" baseline="30000" dirty="0"/>
              <a:t>th</a:t>
            </a:r>
            <a:r>
              <a:rPr lang="en-US" dirty="0"/>
              <a:t> year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2500-75FA-48F4-B356-8ED3D07D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Object-Oriented Databases</a:t>
            </a:r>
          </a:p>
          <a:p>
            <a:r>
              <a:rPr lang="en-US" dirty="0"/>
              <a:t>Object-Relational Database</a:t>
            </a:r>
          </a:p>
          <a:p>
            <a:r>
              <a:rPr lang="en-US" dirty="0"/>
              <a:t>Parallel Database Systems</a:t>
            </a:r>
          </a:p>
          <a:p>
            <a:r>
              <a:rPr lang="en-US" dirty="0"/>
              <a:t>Distribution Database Systems</a:t>
            </a:r>
          </a:p>
          <a:p>
            <a:r>
              <a:rPr lang="en-US" dirty="0"/>
              <a:t>Decision Support Systems (DSS)</a:t>
            </a:r>
          </a:p>
          <a:p>
            <a:r>
              <a:rPr lang="en-US" dirty="0"/>
              <a:t>Data Warehousing and Data Mining</a:t>
            </a:r>
          </a:p>
          <a:p>
            <a:r>
              <a:rPr lang="en-US" dirty="0"/>
              <a:t>Emerging Database Technologies (NoSQL)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FC821-44D6-4C42-8425-9DE6228D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5CB9-E522-4890-AF25-25564ED4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13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59E1E0-1DBF-47E3-AB19-4A1DB853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1C830C-BE70-4ECC-B197-F64A8C921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dirty="0"/>
              <a:t>Laboratory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59665-CA80-4403-B525-B28CAABC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B35A-9D2C-4DF3-B445-591CDD97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91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6A3FEB-AA54-41E8-9C5F-13BB6605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609AA1-8404-4830-AD47-43734AAF7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weeks SQLZOO.NET</a:t>
            </a:r>
          </a:p>
          <a:p>
            <a:r>
              <a:rPr lang="en-US" dirty="0"/>
              <a:t>3 weeks SQLite, </a:t>
            </a:r>
            <a:r>
              <a:rPr lang="en-US" dirty="0" err="1"/>
              <a:t>PostGreSQL</a:t>
            </a:r>
            <a:r>
              <a:rPr lang="en-US" dirty="0"/>
              <a:t> </a:t>
            </a:r>
          </a:p>
          <a:p>
            <a:r>
              <a:rPr lang="en-US" dirty="0"/>
              <a:t>3 weeks </a:t>
            </a:r>
            <a:r>
              <a:rPr lang="en-US" dirty="0" err="1"/>
              <a:t>DataBases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E41D8-5A2F-4786-97C1-08190F8D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9D315-054E-43C5-8876-367DC09D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002D1F-D4D2-4BC5-BD70-04DE933FF46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72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D8B0-D9A5-444C-931A-BA1841E4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Curricula 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3CAA-1D0F-4EEF-B2CF-CE639B099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http://cs.utcluj.ro/csd/pics/plan_invatamant/Fise_an2_3_cs_18-19.pdf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64DD5-AC5A-4383-A3CF-E576BEFFC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85B64-5F59-40E3-9E97-DDBD85F9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93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0FA5-0B2F-4324-A599-3DDF5A58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FBC55-3908-4F47-A333-EBF782B0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always it is not possible to close whiteout </a:t>
            </a:r>
            <a:r>
              <a:rPr lang="en-US" sz="3600" b="1" dirty="0"/>
              <a:t>thank you for your kindly attention!</a:t>
            </a:r>
            <a:endParaRPr lang="en-US" b="1" dirty="0"/>
          </a:p>
          <a:p>
            <a:r>
              <a:rPr lang="en-US" i="1" dirty="0"/>
              <a:t>If you get half as much pleasure - the guilty variety, to be sure - from reading this slides as I get from writing it, we're all doing pretty well.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C3F12-7C8A-41C1-85DF-AA07ACA4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Course Notes 0 - Intro.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668AF-87BF-4A2F-A410-339F80D3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709EE-7E63-49B5-8FAE-10539C88DD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20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A2316C-4145-4752-92F4-684AD1C6BF5E}"/>
</file>

<file path=customXml/itemProps2.xml><?xml version="1.0" encoding="utf-8"?>
<ds:datastoreItem xmlns:ds="http://schemas.openxmlformats.org/officeDocument/2006/customXml" ds:itemID="{EE4121FF-D618-4562-8649-80CBEB8E8561}"/>
</file>

<file path=customXml/itemProps3.xml><?xml version="1.0" encoding="utf-8"?>
<ds:datastoreItem xmlns:ds="http://schemas.openxmlformats.org/officeDocument/2006/customXml" ds:itemID="{FE93BCEB-5DF4-46FB-8EB9-79EDCB2AA79B}"/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824</Words>
  <Application>Microsoft Office PowerPoint</Application>
  <PresentationFormat>Widescreen</PresentationFormat>
  <Paragraphs>180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DataBase</vt:lpstr>
      <vt:lpstr>DataBase people</vt:lpstr>
      <vt:lpstr>DataBase people</vt:lpstr>
      <vt:lpstr>DataBase people</vt:lpstr>
      <vt:lpstr>PowerPoint Presentation</vt:lpstr>
      <vt:lpstr>Test</vt:lpstr>
      <vt:lpstr>DataBase</vt:lpstr>
      <vt:lpstr>PowerPoint Presentation</vt:lpstr>
      <vt:lpstr>PowerPoint Presentation</vt:lpstr>
      <vt:lpstr>PowerPoint Presentation</vt:lpstr>
      <vt:lpstr>DataBase Course’s GOAL</vt:lpstr>
      <vt:lpstr>DataBase Course Schedule</vt:lpstr>
      <vt:lpstr>DataBase Practice GOAL</vt:lpstr>
      <vt:lpstr>DataBase Laboratory Work Schedule</vt:lpstr>
      <vt:lpstr>Course Textbooks</vt:lpstr>
      <vt:lpstr>Course Textbooks</vt:lpstr>
      <vt:lpstr>Course Textbooks</vt:lpstr>
      <vt:lpstr>Course Textbooks</vt:lpstr>
      <vt:lpstr>PowerPoint Presentation</vt:lpstr>
      <vt:lpstr>PART I: DATABASE CONCEPTS</vt:lpstr>
      <vt:lpstr>PART II: RELATIONAL MODEL</vt:lpstr>
      <vt:lpstr>PART III: DATABASE DESIGN</vt:lpstr>
      <vt:lpstr>PART IV: PHYSICAL, COMMERCIAL DATABASES</vt:lpstr>
      <vt:lpstr>PART V</vt:lpstr>
      <vt:lpstr>PARTS for Advanced Hardcore DataBase Design 4th year </vt:lpstr>
      <vt:lpstr>PowerPoint Presentation</vt:lpstr>
      <vt:lpstr>PowerPoint Presentation</vt:lpstr>
      <vt:lpstr>Curricula Syllabus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</dc:title>
  <dc:creator>Calin Cenan</dc:creator>
  <cp:lastModifiedBy>Calin Cenan</cp:lastModifiedBy>
  <cp:revision>21</cp:revision>
  <dcterms:created xsi:type="dcterms:W3CDTF">2023-08-06T12:55:35Z</dcterms:created>
  <dcterms:modified xsi:type="dcterms:W3CDTF">2025-09-29T14:27:42Z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2023-08-06T13:14:17Z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de879172-8bb0-4294-827c-110d21e2f193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0x01010042D1F13D339BA04089B6530E3063BBB0</vt:lpwstr>
  </property>
</Properties>
</file>