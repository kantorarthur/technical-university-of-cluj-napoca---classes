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101.xml" ContentType="application/vnd.openxmlformats-officedocument.presentationml.slide+xml"/>
  <Override PartName="/ppt/slides/slide54.xml" ContentType="application/vnd.openxmlformats-officedocument.presentationml.slide+xml"/>
  <Override PartName="/ppt/slides/slide100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90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59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84.xml" ContentType="application/vnd.openxmlformats-officedocument.presentationml.slide+xml"/>
  <Override PartName="/ppt/slides/slide58.xml" ContentType="application/vnd.openxmlformats-officedocument.presentationml.slide+xml"/>
  <Override PartName="/ppt/slides/slide21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99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94.xml" ContentType="application/vnd.openxmlformats-officedocument.presentationml.slide+xml"/>
  <Override PartName="/ppt/slides/slide29.xml" ContentType="application/vnd.openxmlformats-officedocument.presentationml.slide+xml"/>
  <Override PartName="/ppt/slides/_rels/slide83.xml.rels" ContentType="application/vnd.openxmlformats-package.relationships+xml"/>
  <Override PartName="/ppt/slides/_rels/slide18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57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96.xml.rels" ContentType="application/vnd.openxmlformats-package.relationships+xml"/>
  <Override PartName="/ppt/slides/_rels/slide82.xml.rels" ContentType="application/vnd.openxmlformats-package.relationships+xml"/>
  <Override PartName="/ppt/slides/_rels/slide17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95.xml.rels" ContentType="application/vnd.openxmlformats-package.relationships+xml"/>
  <Override PartName="/ppt/slides/_rels/slide8.xml.rels" ContentType="application/vnd.openxmlformats-package.relationships+xml"/>
  <Override PartName="/ppt/slides/_rels/slide81.xml.rels" ContentType="application/vnd.openxmlformats-package.relationships+xml"/>
  <Override PartName="/ppt/slides/_rels/slide16.xml.rels" ContentType="application/vnd.openxmlformats-package.relationships+xml"/>
  <Override PartName="/ppt/slides/_rels/slide46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94.xml.rels" ContentType="application/vnd.openxmlformats-package.relationships+xml"/>
  <Override PartName="/ppt/slides/_rels/slide7.xml.rels" ContentType="application/vnd.openxmlformats-package.relationships+xml"/>
  <Override PartName="/ppt/slides/_rels/slide80.xml.rels" ContentType="application/vnd.openxmlformats-package.relationships+xml"/>
  <Override PartName="/ppt/slides/_rels/slide15.xml.rels" ContentType="application/vnd.openxmlformats-package.relationships+xml"/>
  <Override PartName="/ppt/slides/_rels/slide6.xml.rels" ContentType="application/vnd.openxmlformats-package.relationships+xml"/>
  <Override PartName="/ppt/slides/_rels/slide99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91.xml.rels" ContentType="application/vnd.openxmlformats-package.relationships+xml"/>
  <Override PartName="/ppt/slides/_rels/slide27.xml.rels" ContentType="application/vnd.openxmlformats-package.relationships+xml"/>
  <Override PartName="/ppt/slides/_rels/slide92.xml.rels" ContentType="application/vnd.openxmlformats-package.relationships+xml"/>
  <Override PartName="/ppt/slides/_rels/slide78.xml.rels" ContentType="application/vnd.openxmlformats-package.relationships+xml"/>
  <Override PartName="/ppt/slides/_rels/slide79.xml.rels" ContentType="application/vnd.openxmlformats-package.relationships+xml"/>
  <Override PartName="/ppt/slides/_rels/slide73.xml.rels" ContentType="application/vnd.openxmlformats-package.relationships+xml"/>
  <Override PartName="/ppt/slides/_rels/slide85.xml.rels" ContentType="application/vnd.openxmlformats-package.relationships+xml"/>
  <Override PartName="/ppt/slides/_rels/slide74.xml.rels" ContentType="application/vnd.openxmlformats-package.relationships+xml"/>
  <Override PartName="/ppt/slides/_rels/slide86.xml.rels" ContentType="application/vnd.openxmlformats-package.relationships+xml"/>
  <Override PartName="/ppt/slides/_rels/slide75.xml.rels" ContentType="application/vnd.openxmlformats-package.relationships+xml"/>
  <Override PartName="/ppt/slides/_rels/slide87.xml.rels" ContentType="application/vnd.openxmlformats-package.relationships+xml"/>
  <Override PartName="/ppt/slides/_rels/slide76.xml.rels" ContentType="application/vnd.openxmlformats-package.relationships+xml"/>
  <Override PartName="/ppt/slides/_rels/slide88.xml.rels" ContentType="application/vnd.openxmlformats-package.relationships+xml"/>
  <Override PartName="/ppt/slides/_rels/slide77.xml.rels" ContentType="application/vnd.openxmlformats-package.relationships+xml"/>
  <Override PartName="/ppt/slides/_rels/slide59.xml.rels" ContentType="application/vnd.openxmlformats-package.relationships+xml"/>
  <Override PartName="/ppt/slides/_rels/slide24.xml.rels" ContentType="application/vnd.openxmlformats-package.relationships+xml"/>
  <Override PartName="/ppt/slides/_rels/slide30.xml.rels" ContentType="application/vnd.openxmlformats-package.relationships+xml"/>
  <Override PartName="/ppt/slides/_rels/slide67.xml.rels" ContentType="application/vnd.openxmlformats-package.relationships+xml"/>
  <Override PartName="/ppt/slides/_rels/slide31.xml.rels" ContentType="application/vnd.openxmlformats-package.relationships+xml"/>
  <Override PartName="/ppt/slides/_rels/slide68.xml.rels" ContentType="application/vnd.openxmlformats-package.relationships+xml"/>
  <Override PartName="/ppt/slides/_rels/slide32.xml.rels" ContentType="application/vnd.openxmlformats-package.relationships+xml"/>
  <Override PartName="/ppt/slides/_rels/slide69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23.xml.rels" ContentType="application/vnd.openxmlformats-package.relationships+xml"/>
  <Override PartName="/ppt/slides/_rels/slide101.xml.rels" ContentType="application/vnd.openxmlformats-package.relationships+xml"/>
  <Override PartName="/ppt/slides/_rels/slide37.xml.rels" ContentType="application/vnd.openxmlformats-package.relationships+xml"/>
  <Override PartName="/ppt/slides/_rels/slide56.xml.rels" ContentType="application/vnd.openxmlformats-package.relationships+xml"/>
  <Override PartName="/ppt/slides/_rels/slide44.xml.rels" ContentType="application/vnd.openxmlformats-package.relationships+xml"/>
  <Override PartName="/ppt/slides/_rels/slide55.xml.rels" ContentType="application/vnd.openxmlformats-package.relationships+xml"/>
  <Override PartName="/ppt/slides/_rels/slide43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25.xml.rels" ContentType="application/vnd.openxmlformats-package.relationships+xml"/>
  <Override PartName="/ppt/slides/_rels/slide90.xml.rels" ContentType="application/vnd.openxmlformats-package.relationships+xml"/>
  <Override PartName="/ppt/slides/_rels/slide53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52.xml.rels" ContentType="application/vnd.openxmlformats-package.relationships+xml"/>
  <Override PartName="/ppt/slides/_rels/slide89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51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22.xml.rels" ContentType="application/vnd.openxmlformats-package.relationships+xml"/>
  <Override PartName="/ppt/slides/_rels/slide100.xml.rels" ContentType="application/vnd.openxmlformats-package.relationships+xml"/>
  <Override PartName="/ppt/slides/_rels/slide13.xml.rels" ContentType="application/vnd.openxmlformats-package.relationships+xml"/>
  <Override PartName="/ppt/slides/_rels/slide61.xml.rels" ContentType="application/vnd.openxmlformats-package.relationships+xml"/>
  <Override PartName="/ppt/slides/_rels/slide5.xml.rels" ContentType="application/vnd.openxmlformats-package.relationships+xml"/>
  <Override PartName="/ppt/slides/_rels/slide98.xml.rels" ContentType="application/vnd.openxmlformats-package.relationships+xml"/>
  <Override PartName="/ppt/slides/_rels/slide19.xml.rels" ContentType="application/vnd.openxmlformats-package.relationships+xml"/>
  <Override PartName="/ppt/slides/_rels/slide84.xml.rels" ContentType="application/vnd.openxmlformats-package.relationships+xml"/>
  <Override PartName="/ppt/slides/_rels/slide58.xml.rels" ContentType="application/vnd.openxmlformats-package.relationships+xml"/>
  <Override PartName="/ppt/slides/_rels/slide21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4.xml.rels" ContentType="application/vnd.openxmlformats-package.relationships+xml"/>
  <Override PartName="/ppt/slides/_rels/slide65.xml.rels" ContentType="application/vnd.openxmlformats-package.relationships+xml"/>
  <Override PartName="/ppt/slides/_rels/slide71.xml.rels" ContentType="application/vnd.openxmlformats-package.relationships+xml"/>
  <Override PartName="/ppt/slides/_rels/slide66.xml.rels" ContentType="application/vnd.openxmlformats-package.relationships+xml"/>
  <Override PartName="/ppt/slides/_rels/slide70.xml.rels" ContentType="application/vnd.openxmlformats-package.relationships+xml"/>
  <Override PartName="/ppt/slides/_rels/slide93.xml.rels" ContentType="application/vnd.openxmlformats-package.relationships+xml"/>
  <Override PartName="/ppt/slides/_rels/slide28.xml.rels" ContentType="application/vnd.openxmlformats-package.relationships+xml"/>
  <Override PartName="/ppt/slides/_rels/slide72.xml.rels" ContentType="application/vnd.openxmlformats-package.relationships+xml"/>
  <Override PartName="/ppt/slides/_rels/slide60.xml.rels" ContentType="application/vnd.openxmlformats-package.relationships+xml"/>
  <Override PartName="/ppt/slides/_rels/slide4.xml.rels" ContentType="application/vnd.openxmlformats-package.relationships+xml"/>
  <Override PartName="/ppt/slides/_rels/slide97.xml.rels" ContentType="application/vnd.openxmlformats-package.relationships+xml"/>
  <Override PartName="/ppt/slides/slide71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0.xml" ContentType="application/vnd.openxmlformats-officedocument.presentationml.slide+xml"/>
  <Override PartName="/ppt/slides/slide93.xml" ContentType="application/vnd.openxmlformats-officedocument.presentationml.slide+xml"/>
  <Override PartName="/ppt/slides/slide28.xml" ContentType="application/vnd.openxmlformats-officedocument.presentationml.slide+xml"/>
  <Override PartName="/ppt/slides/slide69.xml" ContentType="application/vnd.openxmlformats-officedocument.presentationml.slide+xml"/>
  <Override PartName="/ppt/slides/slide72.xml" ContentType="application/vnd.openxmlformats-officedocument.presentationml.slide+xml"/>
  <Override PartName="/ppt/slides/slide60.xml" ContentType="application/vnd.openxmlformats-officedocument.presentationml.slide+xml"/>
  <Override PartName="/ppt/slides/slide95.xml" ContentType="application/vnd.openxmlformats-officedocument.presentationml.slide+xml"/>
  <Override PartName="/ppt/slides/slide8.xml" ContentType="application/vnd.openxmlformats-officedocument.presentationml.slide+xml"/>
  <Override PartName="/ppt/slides/slide8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76.xml" ContentType="application/vnd.openxmlformats-officedocument.presentationml.slide+xml"/>
  <Override PartName="/ppt/slides/slide8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74.xml" ContentType="application/vnd.openxmlformats-officedocument.presentationml.slide+xml"/>
  <Override PartName="/ppt/slides/slide85.xml" ContentType="application/vnd.openxmlformats-officedocument.presentationml.slide+xml"/>
  <Override PartName="/ppt/slides/slide73.xml" ContentType="application/vnd.openxmlformats-officedocument.presentationml.slide+xml"/>
  <Override PartName="/ppt/slides/slide79.xml" ContentType="application/vnd.openxmlformats-officedocument.presentationml.slide+xml"/>
  <Override PartName="/ppt/slides/slide78.xml" ContentType="application/vnd.openxmlformats-officedocument.presentationml.slide+xml"/>
  <Override PartName="/ppt/slides/slide92.xml" ContentType="application/vnd.openxmlformats-officedocument.presentationml.slide+xml"/>
  <Override PartName="/ppt/slides/slide27.xml" ContentType="application/vnd.openxmlformats-officedocument.presentationml.slide+xml"/>
  <Override PartName="/ppt/slides/slide91.xml" ContentType="application/vnd.openxmlformats-officedocument.presentationml.slide+xml"/>
  <Override PartName="/ppt/slides/slide26.xml" ContentType="application/vnd.openxmlformats-officedocument.presentationml.slide+xml"/>
  <Override PartName="/ppt/slides/slide15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slides/slide96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1.xml" ContentType="application/vnd.openxmlformats-officedocument.presentationml.slide+xml"/>
  <Override PartName="/ppt/slides/slide97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82.xml" ContentType="application/vnd.openxmlformats-officedocument.presentationml.slide+xml"/>
  <Override PartName="/ppt/slides/slide9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8.xml" ContentType="application/vnd.openxmlformats-officedocument.presentationml.slide+xml"/>
  <Override PartName="/ppt/slides/slide83.xml" ContentType="application/vnd.openxmlformats-officedocument.presentationml.slide+xml"/>
  <Override PartName="/ppt/media/image12.png" ContentType="image/png"/>
  <Override PartName="/ppt/media/image3.png" ContentType="image/png"/>
  <Override PartName="/ppt/media/image17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11.png" ContentType="image/png"/>
  <Override PartName="/ppt/media/image2.png" ContentType="image/png"/>
  <Override PartName="/ppt/media/image8.wmf" ContentType="image/x-wmf"/>
  <Override PartName="/ppt/media/image13.png" ContentType="image/png"/>
  <Override PartName="/ppt/media/image4.png" ContentType="image/png"/>
  <Override PartName="/ppt/media/image7.png" ContentType="image/png"/>
  <Override PartName="/ppt/media/image9.wmf" ContentType="image/x-wmf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_rels/presentation.xml.rels" ContentType="application/vnd.openxmlformats-package.relationships+xml"/>
  <Override PartName="/customXml/itemProps6.xml" ContentType="application/vnd.openxmlformats-officedocument.customXml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1" r:id="rId68"/>
    <p:sldId id="312" r:id="rId69"/>
    <p:sldId id="313" r:id="rId70"/>
    <p:sldId id="314" r:id="rId71"/>
    <p:sldId id="315" r:id="rId72"/>
    <p:sldId id="316" r:id="rId73"/>
    <p:sldId id="317" r:id="rId74"/>
    <p:sldId id="318" r:id="rId75"/>
    <p:sldId id="319" r:id="rId76"/>
    <p:sldId id="320" r:id="rId77"/>
    <p:sldId id="321" r:id="rId78"/>
    <p:sldId id="322" r:id="rId79"/>
    <p:sldId id="323" r:id="rId80"/>
    <p:sldId id="324" r:id="rId81"/>
    <p:sldId id="325" r:id="rId82"/>
    <p:sldId id="326" r:id="rId83"/>
    <p:sldId id="327" r:id="rId84"/>
    <p:sldId id="328" r:id="rId85"/>
    <p:sldId id="329" r:id="rId86"/>
    <p:sldId id="330" r:id="rId87"/>
    <p:sldId id="331" r:id="rId88"/>
    <p:sldId id="332" r:id="rId89"/>
    <p:sldId id="333" r:id="rId90"/>
    <p:sldId id="334" r:id="rId91"/>
    <p:sldId id="335" r:id="rId92"/>
    <p:sldId id="336" r:id="rId93"/>
    <p:sldId id="337" r:id="rId94"/>
    <p:sldId id="338" r:id="rId95"/>
    <p:sldId id="339" r:id="rId96"/>
    <p:sldId id="340" r:id="rId97"/>
    <p:sldId id="341" r:id="rId98"/>
    <p:sldId id="342" r:id="rId99"/>
    <p:sldId id="343" r:id="rId100"/>
    <p:sldId id="344" r:id="rId101"/>
    <p:sldId id="345" r:id="rId102"/>
    <p:sldId id="346" r:id="rId103"/>
    <p:sldId id="347" r:id="rId104"/>
    <p:sldId id="348" r:id="rId105"/>
    <p:sldId id="349" r:id="rId106"/>
    <p:sldId id="350" r:id="rId107"/>
    <p:sldId id="351" r:id="rId108"/>
    <p:sldId id="352" r:id="rId109"/>
    <p:sldId id="353" r:id="rId110"/>
    <p:sldId id="354" r:id="rId111"/>
    <p:sldId id="355" r:id="rId112"/>
    <p:sldId id="356" r:id="rId1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4.xml"/><Relationship Id="rId117" Type="http://schemas.openxmlformats.org/officeDocument/2006/relationships/customXml" Target="../customXml/item6.xml"/><Relationship Id="rId21" Type="http://schemas.openxmlformats.org/officeDocument/2006/relationships/slide" Target="slides/slide9.xml"/><Relationship Id="rId42" Type="http://schemas.openxmlformats.org/officeDocument/2006/relationships/slide" Target="slides/slide30.xml"/><Relationship Id="rId47" Type="http://schemas.openxmlformats.org/officeDocument/2006/relationships/slide" Target="slides/slide35.xml"/><Relationship Id="rId63" Type="http://schemas.openxmlformats.org/officeDocument/2006/relationships/slide" Target="slides/slide51.xml"/><Relationship Id="rId68" Type="http://schemas.openxmlformats.org/officeDocument/2006/relationships/slide" Target="slides/slide56.xml"/><Relationship Id="rId84" Type="http://schemas.openxmlformats.org/officeDocument/2006/relationships/slide" Target="slides/slide72.xml"/><Relationship Id="rId89" Type="http://schemas.openxmlformats.org/officeDocument/2006/relationships/slide" Target="slides/slide77.xml"/><Relationship Id="rId112" Type="http://schemas.openxmlformats.org/officeDocument/2006/relationships/slide" Target="slides/slide100.xml"/><Relationship Id="rId16" Type="http://schemas.openxmlformats.org/officeDocument/2006/relationships/slide" Target="slides/slide4.xml"/><Relationship Id="rId107" Type="http://schemas.openxmlformats.org/officeDocument/2006/relationships/slide" Target="slides/slide95.xml"/><Relationship Id="rId11" Type="http://schemas.openxmlformats.org/officeDocument/2006/relationships/slideMaster" Target="slideMasters/slideMaster10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53" Type="http://schemas.openxmlformats.org/officeDocument/2006/relationships/slide" Target="slides/slide41.xml"/><Relationship Id="rId58" Type="http://schemas.openxmlformats.org/officeDocument/2006/relationships/slide" Target="slides/slide46.xml"/><Relationship Id="rId74" Type="http://schemas.openxmlformats.org/officeDocument/2006/relationships/slide" Target="slides/slide62.xml"/><Relationship Id="rId79" Type="http://schemas.openxmlformats.org/officeDocument/2006/relationships/slide" Target="slides/slide67.xml"/><Relationship Id="rId102" Type="http://schemas.openxmlformats.org/officeDocument/2006/relationships/slide" Target="slides/slide90.xml"/><Relationship Id="rId5" Type="http://schemas.openxmlformats.org/officeDocument/2006/relationships/slideMaster" Target="slideMasters/slideMaster4.xml"/><Relationship Id="rId90" Type="http://schemas.openxmlformats.org/officeDocument/2006/relationships/slide" Target="slides/slide78.xml"/><Relationship Id="rId95" Type="http://schemas.openxmlformats.org/officeDocument/2006/relationships/slide" Target="slides/slide83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64" Type="http://schemas.openxmlformats.org/officeDocument/2006/relationships/slide" Target="slides/slide52.xml"/><Relationship Id="rId69" Type="http://schemas.openxmlformats.org/officeDocument/2006/relationships/slide" Target="slides/slide57.xml"/><Relationship Id="rId113" Type="http://schemas.openxmlformats.org/officeDocument/2006/relationships/slide" Target="slides/slide101.xml"/><Relationship Id="rId80" Type="http://schemas.openxmlformats.org/officeDocument/2006/relationships/slide" Target="slides/slide68.xml"/><Relationship Id="rId85" Type="http://schemas.openxmlformats.org/officeDocument/2006/relationships/slide" Target="slides/slide73.xml"/><Relationship Id="rId12" Type="http://schemas.openxmlformats.org/officeDocument/2006/relationships/slideMaster" Target="slideMasters/slideMaster11.xml"/><Relationship Id="rId17" Type="http://schemas.openxmlformats.org/officeDocument/2006/relationships/slide" Target="slides/slide5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59" Type="http://schemas.openxmlformats.org/officeDocument/2006/relationships/slide" Target="slides/slide47.xml"/><Relationship Id="rId103" Type="http://schemas.openxmlformats.org/officeDocument/2006/relationships/slide" Target="slides/slide91.xml"/><Relationship Id="rId108" Type="http://schemas.openxmlformats.org/officeDocument/2006/relationships/slide" Target="slides/slide96.xml"/><Relationship Id="rId54" Type="http://schemas.openxmlformats.org/officeDocument/2006/relationships/slide" Target="slides/slide42.xml"/><Relationship Id="rId70" Type="http://schemas.openxmlformats.org/officeDocument/2006/relationships/slide" Target="slides/slide58.xml"/><Relationship Id="rId75" Type="http://schemas.openxmlformats.org/officeDocument/2006/relationships/slide" Target="slides/slide63.xml"/><Relationship Id="rId91" Type="http://schemas.openxmlformats.org/officeDocument/2006/relationships/slide" Target="slides/slide79.xml"/><Relationship Id="rId96" Type="http://schemas.openxmlformats.org/officeDocument/2006/relationships/slide" Target="slides/slide84.xml"/><Relationship Id="rId1" Type="http://schemas.openxmlformats.org/officeDocument/2006/relationships/theme" Target="theme/theme1.xml"/><Relationship Id="rId6" Type="http://schemas.openxmlformats.org/officeDocument/2006/relationships/slideMaster" Target="slideMasters/slideMaster5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49" Type="http://schemas.openxmlformats.org/officeDocument/2006/relationships/slide" Target="slides/slide37.xml"/><Relationship Id="rId114" Type="http://schemas.openxmlformats.org/officeDocument/2006/relationships/presProps" Target="presProps.xml"/><Relationship Id="rId10" Type="http://schemas.openxmlformats.org/officeDocument/2006/relationships/slideMaster" Target="slideMasters/slideMaster9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slide" Target="slides/slide40.xml"/><Relationship Id="rId60" Type="http://schemas.openxmlformats.org/officeDocument/2006/relationships/slide" Target="slides/slide48.xml"/><Relationship Id="rId65" Type="http://schemas.openxmlformats.org/officeDocument/2006/relationships/slide" Target="slides/slide53.xml"/><Relationship Id="rId73" Type="http://schemas.openxmlformats.org/officeDocument/2006/relationships/slide" Target="slides/slide61.xml"/><Relationship Id="rId78" Type="http://schemas.openxmlformats.org/officeDocument/2006/relationships/slide" Target="slides/slide66.xml"/><Relationship Id="rId81" Type="http://schemas.openxmlformats.org/officeDocument/2006/relationships/slide" Target="slides/slide69.xml"/><Relationship Id="rId86" Type="http://schemas.openxmlformats.org/officeDocument/2006/relationships/slide" Target="slides/slide74.xml"/><Relationship Id="rId94" Type="http://schemas.openxmlformats.org/officeDocument/2006/relationships/slide" Target="slides/slide82.xml"/><Relationship Id="rId99" Type="http://schemas.openxmlformats.org/officeDocument/2006/relationships/slide" Target="slides/slide87.xml"/><Relationship Id="rId101" Type="http://schemas.openxmlformats.org/officeDocument/2006/relationships/slide" Target="slides/slide89.xml"/><Relationship Id="rId4" Type="http://schemas.openxmlformats.org/officeDocument/2006/relationships/slideMaster" Target="slideMasters/slideMaster3.xml"/><Relationship Id="rId9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9" Type="http://schemas.openxmlformats.org/officeDocument/2006/relationships/slide" Target="slides/slide27.xml"/><Relationship Id="rId109" Type="http://schemas.openxmlformats.org/officeDocument/2006/relationships/slide" Target="slides/slide97.xml"/><Relationship Id="rId34" Type="http://schemas.openxmlformats.org/officeDocument/2006/relationships/slide" Target="slides/slide22.xml"/><Relationship Id="rId50" Type="http://schemas.openxmlformats.org/officeDocument/2006/relationships/slide" Target="slides/slide38.xml"/><Relationship Id="rId55" Type="http://schemas.openxmlformats.org/officeDocument/2006/relationships/slide" Target="slides/slide43.xml"/><Relationship Id="rId76" Type="http://schemas.openxmlformats.org/officeDocument/2006/relationships/slide" Target="slides/slide64.xml"/><Relationship Id="rId97" Type="http://schemas.openxmlformats.org/officeDocument/2006/relationships/slide" Target="slides/slide85.xml"/><Relationship Id="rId104" Type="http://schemas.openxmlformats.org/officeDocument/2006/relationships/slide" Target="slides/slide92.xml"/><Relationship Id="rId7" Type="http://schemas.openxmlformats.org/officeDocument/2006/relationships/slideMaster" Target="slideMasters/slideMaster6.xml"/><Relationship Id="rId71" Type="http://schemas.openxmlformats.org/officeDocument/2006/relationships/slide" Target="slides/slide59.xml"/><Relationship Id="rId92" Type="http://schemas.openxmlformats.org/officeDocument/2006/relationships/slide" Target="slides/slide80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17.xml"/><Relationship Id="rId24" Type="http://schemas.openxmlformats.org/officeDocument/2006/relationships/slide" Target="slides/slide12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66" Type="http://schemas.openxmlformats.org/officeDocument/2006/relationships/slide" Target="slides/slide54.xml"/><Relationship Id="rId87" Type="http://schemas.openxmlformats.org/officeDocument/2006/relationships/slide" Target="slides/slide75.xml"/><Relationship Id="rId110" Type="http://schemas.openxmlformats.org/officeDocument/2006/relationships/slide" Target="slides/slide98.xml"/><Relationship Id="rId115" Type="http://schemas.openxmlformats.org/officeDocument/2006/relationships/customXml" Target="../customXml/item4.xml"/><Relationship Id="rId61" Type="http://schemas.openxmlformats.org/officeDocument/2006/relationships/slide" Target="slides/slide49.xml"/><Relationship Id="rId82" Type="http://schemas.openxmlformats.org/officeDocument/2006/relationships/slide" Target="slides/slide70.xml"/><Relationship Id="rId19" Type="http://schemas.openxmlformats.org/officeDocument/2006/relationships/slide" Target="slides/slide7.xml"/><Relationship Id="rId14" Type="http://schemas.openxmlformats.org/officeDocument/2006/relationships/slide" Target="slides/slide2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56" Type="http://schemas.openxmlformats.org/officeDocument/2006/relationships/slide" Target="slides/slide44.xml"/><Relationship Id="rId77" Type="http://schemas.openxmlformats.org/officeDocument/2006/relationships/slide" Target="slides/slide65.xml"/><Relationship Id="rId100" Type="http://schemas.openxmlformats.org/officeDocument/2006/relationships/slide" Target="slides/slide88.xml"/><Relationship Id="rId105" Type="http://schemas.openxmlformats.org/officeDocument/2006/relationships/slide" Target="slides/slide93.xml"/><Relationship Id="rId8" Type="http://schemas.openxmlformats.org/officeDocument/2006/relationships/slideMaster" Target="slideMasters/slideMaster7.xml"/><Relationship Id="rId51" Type="http://schemas.openxmlformats.org/officeDocument/2006/relationships/slide" Target="slides/slide39.xml"/><Relationship Id="rId72" Type="http://schemas.openxmlformats.org/officeDocument/2006/relationships/slide" Target="slides/slide60.xml"/><Relationship Id="rId93" Type="http://schemas.openxmlformats.org/officeDocument/2006/relationships/slide" Target="slides/slide81.xml"/><Relationship Id="rId98" Type="http://schemas.openxmlformats.org/officeDocument/2006/relationships/slide" Target="slides/slide86.xml"/><Relationship Id="rId3" Type="http://schemas.openxmlformats.org/officeDocument/2006/relationships/slideMaster" Target="slideMasters/slideMaster2.xml"/><Relationship Id="rId25" Type="http://schemas.openxmlformats.org/officeDocument/2006/relationships/slide" Target="slides/slide13.xml"/><Relationship Id="rId46" Type="http://schemas.openxmlformats.org/officeDocument/2006/relationships/slide" Target="slides/slide34.xml"/><Relationship Id="rId67" Type="http://schemas.openxmlformats.org/officeDocument/2006/relationships/slide" Target="slides/slide55.xml"/><Relationship Id="rId116" Type="http://schemas.openxmlformats.org/officeDocument/2006/relationships/customXml" Target="../customXml/item5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62" Type="http://schemas.openxmlformats.org/officeDocument/2006/relationships/slide" Target="slides/slide50.xml"/><Relationship Id="rId83" Type="http://schemas.openxmlformats.org/officeDocument/2006/relationships/slide" Target="slides/slide71.xml"/><Relationship Id="rId88" Type="http://schemas.openxmlformats.org/officeDocument/2006/relationships/slide" Target="slides/slide76.xml"/><Relationship Id="rId111" Type="http://schemas.openxmlformats.org/officeDocument/2006/relationships/slide" Target="slides/slide99.xml"/><Relationship Id="rId15" Type="http://schemas.openxmlformats.org/officeDocument/2006/relationships/slide" Target="slides/slide3.xml"/><Relationship Id="rId36" Type="http://schemas.openxmlformats.org/officeDocument/2006/relationships/slide" Target="slides/slide24.xml"/><Relationship Id="rId57" Type="http://schemas.openxmlformats.org/officeDocument/2006/relationships/slide" Target="slides/slide45.xml"/><Relationship Id="rId106" Type="http://schemas.openxmlformats.org/officeDocument/2006/relationships/slide" Target="slides/slide94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46F87E-656B-4B06-9747-A29413E5EF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BF9C18-E0CF-40E2-8C44-7350C86CD3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7AAD169-3B1D-4240-A32C-91B13CE9C9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A46BD99-3738-4076-9637-ECEBC8B7B8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EA05F37-6049-468F-9F9F-2637E160C5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DEDDE3F-36F3-44E6-B847-37EF2B5687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9FB2E98-E87B-4F90-90DC-6A564A25F9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9EDADBD-BF9E-4645-B403-6867E4935D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0CFB081-02EC-4EA8-8C3A-ADA99DB3CF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7B7FE6D-EB63-4604-A098-941D1D57A7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0706BC9-A342-4964-8593-91220F9B9B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129ACB8-F6A4-4E7D-AE0E-8CA9BC2136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D6459E-0579-4035-9540-CD682D1E40D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5ACFA0-FD11-488D-A0E7-0513AEF5C89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680452-BE14-41C2-BE13-EF3BB874001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B45AD3-8614-457B-A39D-ED939C78A79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  <p:sldLayoutId id="2147483656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682559-E858-4211-ACA8-BED5E5F8C91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CEC0BE-A6BB-446D-A369-94E938B596D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7BBBEF-E7E0-4F44-AC13-AFFC8461822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B955E8-A4C2-4A54-AE8C-E1460B6EACD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B64DA6-08C2-4F0D-B8A0-4831E92CD3E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F4D973-FBCD-4B3D-9E7F-60BD387BF09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DAA170-2390-4438-A4DE-764ACDD9F6D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8.wmf"/><Relationship Id="rId2" Type="http://schemas.openxmlformats.org/officeDocument/2006/relationships/slideLayout" Target="../slideLayouts/slideLayout5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9.wmf"/><Relationship Id="rId2" Type="http://schemas.openxmlformats.org/officeDocument/2006/relationships/slideLayout" Target="../slideLayouts/slideLayout5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5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5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5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5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5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hyperlink" Target="https://wiki.postgresql.org/wiki/Sample_Databases" TargetMode="External"/><Relationship Id="rId2" Type="http://schemas.openxmlformats.org/officeDocument/2006/relationships/hyperlink" Target="https://wiki.postgresql.org/wiki/Sample_Databases" TargetMode="External"/><Relationship Id="rId3" Type="http://schemas.openxmlformats.org/officeDocument/2006/relationships/slideLayout" Target="../slideLayouts/slideLayout4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hyperlink" Target="https://www.wikiversity.org/" TargetMode="External"/><Relationship Id="rId2" Type="http://schemas.openxmlformats.org/officeDocument/2006/relationships/hyperlink" Target="https://www.wikiversity.org/" TargetMode="External"/><Relationship Id="rId3" Type="http://schemas.openxmlformats.org/officeDocument/2006/relationships/hyperlink" Target="https://en.wikiversity.org/wiki/Database_Examples/Northwind" TargetMode="External"/><Relationship Id="rId4" Type="http://schemas.openxmlformats.org/officeDocument/2006/relationships/hyperlink" Target="https://en.wikiversity.org/wiki/Database_Examples/Northwind" TargetMode="External"/><Relationship Id="rId5" Type="http://schemas.openxmlformats.org/officeDocument/2006/relationships/slideLayout" Target="../slideLayouts/slideLayout5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hyperlink" Target="https://github.com/pthom/northwind_psql" TargetMode="External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DataBase with PostgreSQL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DataBase with PostgreSQL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7252BE-AADB-416F-A2BF-E1E79987C32F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BackUp DataBase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pg_dump -U postgres -W -F p </a:t>
            </a:r>
            <a:r>
              <a:rPr b="0" i="1" lang="en-US" sz="3200" spc="-1" strike="noStrike">
                <a:solidFill>
                  <a:schemeClr val="dk1"/>
                </a:solidFill>
                <a:latin typeface="Calibri"/>
              </a:rPr>
              <a:t>databasename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&gt; </a:t>
            </a:r>
            <a:r>
              <a:rPr b="0" i="1" lang="en-US" sz="3200" spc="-1" strike="noStrike">
                <a:solidFill>
                  <a:schemeClr val="dk1"/>
                </a:solidFill>
                <a:latin typeface="Calibri"/>
              </a:rPr>
              <a:t>databasenameyyyymmdd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.sql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C1C6178-16B6-4B5B-94D1-B79B59CE1167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CREATE DATABASE </a:t>
            </a:r>
            <a:r>
              <a:rPr b="0" i="1" lang="en-US" sz="4400" spc="-1" strike="noStrike">
                <a:solidFill>
                  <a:schemeClr val="dk1"/>
                </a:solidFill>
                <a:latin typeface="Calibri Light"/>
              </a:rPr>
              <a:t>newdatabase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30D92DE-42DD-48F9-A19A-96CAB3494207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ReStore DataBase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psql -U postgres -d </a:t>
            </a:r>
            <a:r>
              <a:rPr b="0" i="1" lang="en-US" sz="3200" spc="-1" strike="noStrike">
                <a:solidFill>
                  <a:schemeClr val="dk1"/>
                </a:solidFill>
                <a:latin typeface="Calibri"/>
              </a:rPr>
              <a:t>newdatabase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&lt; </a:t>
            </a:r>
            <a:r>
              <a:rPr b="0" i="1" lang="en-US" sz="3200" spc="-1" strike="noStrike">
                <a:solidFill>
                  <a:schemeClr val="dk1"/>
                </a:solidFill>
                <a:latin typeface="Calibri"/>
              </a:rPr>
              <a:t>databasenameyyyymmdd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.sql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D69376D-A6B8-40DB-BDAC-BD28F058DEB7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pg_dump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command line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86F8FEA-C5F7-49EF-9BDC-686560FF2FFC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pg_dump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55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extract PostgreSQL database into script file or other archive file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pg_dump [connection-option...] [option...] [dbname]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utility for backing up PostgreSQL database; makes consistent backups even if database is being used concurrently (does not block other users accessing database (readers or writers))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only dumps single database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to back up entire cluster, or global objects that are common to all databases use pg_dumpall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8DAECC8-5DCE-4A74-B153-206EC9FCCF87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Calibri Light"/>
              </a:rPr>
              <a:t>pg_dump [connection-option...] [option...] [dbname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]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dbname: specifies name of database to be dumped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-a or --data-only: dump only data, not schema (data definitions)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-b or –blobs: include large objects in dump; this is default behavior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-f file or --file=file: send output to specified file; can be omitted in which case standard output is used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7A78E3B-C2EB-4BFA-A4E3-0E33FFD902B0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-F format or --format=format: selects format of output; can be one of following: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 or plain: output plain-text SQL script file (the default)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 or custom: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 or directory: output directory-format archive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 or tar: output tar-format archive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2C16EB2-74FD-477F-BA9A-9C7C94FF8526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-O or --no-owner: do not output commands to set ownership of objects to match original database; by default, pg_dump issues ALTER OWNER or SET SESSION AUTHORIZATION statements to set ownership of created database objects; to make script that can be restored by any user, but will give that user ownership of all objects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-s or --schema-only: dump only object definitions (schema), not data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-v or --verbose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40F4458-A3B9-4B8B-8E1A-030B344629CA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-d dbname or --dbname=dbname: specifies database to connect to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can be connection string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-h host or --host=host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-p port or --port=port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-U username or --username=username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D6DBF9A-01C3-4C52-AD29-0AD2E4115DF0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-w or --no-password: never issue password prompt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if server requires password authentication and is not available by other means connection attempt will fail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useful in batch jobs and scripts where no user is present to enter password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-W or –password: force pg_dump to prompt for password before connecting to database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1" i="1" lang="en-US" sz="2600" spc="-1" strike="noStrike">
                <a:solidFill>
                  <a:schemeClr val="dk1"/>
                </a:solidFill>
                <a:latin typeface="Calibri"/>
              </a:rPr>
              <a:t>accept password, do not show characters from password (not even *)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C5FCC03-48EF-49C5-9525-F2855769C7BE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psql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command line tool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E095A44-788C-43B8-8949-CE09901AD1D1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psql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psql [option...] [dbname [username]]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terminal-based command line front-end to PostgreSQL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enables you to type in queries interactively, issue them to PostgreSQL, and see query results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alternatively, input can be from script file or from command line arguments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 addition to Structured Query Language SQL statements, provides a number of meta-commands and various shell-like features to facilitate writing scripts and automating tasks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64BE6E0-EA28-458B-8892-D623D460BC64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-c command or --command=command: specifies that psql is to execute given command string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command must be either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command string that is completely parsable by server (i.e., it contains no psql-specific features)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single backslash command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cannot mix SQL and psql meta-commands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-f filename or --file=filename: read commands from file, rather than standard input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41C4554-3C38-43AF-89DA-B8CC439B0364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-U username or --username=username: connect to database as user username instead of default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-d dbname or --dbname=dbname: specifies name of database to connect; equivalent to specifying dbname as first non-option argument on command line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dbname can be connection string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8FD21BB-22D0-4C87-89D7-392C46B72A19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output of psql --help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0" name="Content Placeholder 6" descr=""/>
          <p:cNvPicPr/>
          <p:nvPr/>
        </p:nvPicPr>
        <p:blipFill>
          <a:blip r:embed="rId1"/>
          <a:stretch/>
        </p:blipFill>
        <p:spPr>
          <a:xfrm>
            <a:off x="1371600" y="1371600"/>
            <a:ext cx="8435880" cy="48920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1FB83EA-51F5-405A-8E58-6D1B517914C7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psql help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2" name="Content Placeholder 6" descr=""/>
          <p:cNvPicPr/>
          <p:nvPr/>
        </p:nvPicPr>
        <p:blipFill>
          <a:blip r:embed="rId1"/>
          <a:stretch/>
        </p:blipFill>
        <p:spPr>
          <a:xfrm>
            <a:off x="1371600" y="1371600"/>
            <a:ext cx="8427960" cy="48463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4C59F3A-8EA7-4595-8700-121119CF99EB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psql quit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4" name="Content Placeholder 6" descr=""/>
          <p:cNvPicPr/>
          <p:nvPr/>
        </p:nvPicPr>
        <p:blipFill>
          <a:blip r:embed="rId1"/>
          <a:stretch/>
        </p:blipFill>
        <p:spPr>
          <a:xfrm>
            <a:off x="1371600" y="1371600"/>
            <a:ext cx="8443440" cy="48769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1280A6F-56C4-49A1-B4B1-2CD4FF3172B2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select 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6" name="Content Placeholder 6" descr=""/>
          <p:cNvPicPr/>
          <p:nvPr/>
        </p:nvPicPr>
        <p:blipFill>
          <a:blip r:embed="rId1"/>
          <a:stretch/>
        </p:blipFill>
        <p:spPr>
          <a:xfrm>
            <a:off x="1371600" y="1371600"/>
            <a:ext cx="8374680" cy="48844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BF8773C-5A01-45DD-A319-8B76ACE9B547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Structured Query Language</a:t>
            </a:r>
            <a:br>
              <a:rPr sz="4400"/>
            </a:b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PostGreSQL specific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LIMIT is optional clause of SELECT statement that constrains number of rows returned by query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SELECT select_list FROM table_name</a:t>
            </a: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ORDER BY sort_expression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LIMIT row_count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OFFSET row_to_skip;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returns row_count rows generated by query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 case you want to skip number of rows before returning row_count rows, you use OFFSET clause placed after LIMIT clause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LIMIT and OFFSET are last clauses in SQL statement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E0A86E3-E7E3-42DD-BCD8-961032DC095B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list DataBases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0" name="Content Placeholder 6" descr=""/>
          <p:cNvPicPr/>
          <p:nvPr/>
        </p:nvPicPr>
        <p:blipFill>
          <a:blip r:embed="rId1"/>
          <a:stretch/>
        </p:blipFill>
        <p:spPr>
          <a:xfrm>
            <a:off x="1554480" y="1554480"/>
            <a:ext cx="8397720" cy="48618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DDC7C1F-E34C-40FF-A08D-5A93CB1BA494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list DataBases </a:t>
            </a:r>
            <a:br>
              <a:rPr sz="4400"/>
            </a:b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SELECT datname FROM pg_database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2" name="Content Placeholder 6" descr=""/>
          <p:cNvPicPr/>
          <p:nvPr/>
        </p:nvPicPr>
        <p:blipFill>
          <a:blip r:embed="rId1"/>
          <a:stretch/>
        </p:blipFill>
        <p:spPr>
          <a:xfrm>
            <a:off x="1554480" y="1554480"/>
            <a:ext cx="8382240" cy="48463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22F9E9A-BEE4-4844-8827-593CDD8C4048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pic>
        <p:nvPicPr>
          <p:cNvPr id="114" name="Content Placeholder 6" descr=""/>
          <p:cNvPicPr/>
          <p:nvPr/>
        </p:nvPicPr>
        <p:blipFill>
          <a:blip r:embed="rId1"/>
          <a:stretch/>
        </p:blipFill>
        <p:spPr>
          <a:xfrm>
            <a:off x="914400" y="365040"/>
            <a:ext cx="10962000" cy="5990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D69D8E5-3A66-41B0-90E1-7C6842833D00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server database schema 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>
                  <a:tint val="7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F67B266-FB7E-48A6-AF3C-A793AE320494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Template databases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when database is created, it is cloned from template database called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template1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template database contains set of tables, views, and functions, which is used to model relation between user defined database objects; part of system catalog schema called pg_catalog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template0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it is a  safeguard or version database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E582760-EDD7-449F-B4AB-39A3CDD14DE6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Schema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is very close to namespace concept in object-oriented languages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used to organize database objects, functionality,  security access, or to eliminate name collision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046DF16-6459-4117-952E-A537947361B5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User DataBases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can have as many databases as one wants in database cluster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client connection to PostgreSQL server can access only the data in a single database that is specified in connection string; that means that data is not shared between databases, </a:t>
            </a:r>
            <a:r>
              <a:rPr b="0" lang="en-US" sz="2500" spc="-1" strike="noStrike">
                <a:solidFill>
                  <a:schemeClr val="dk1"/>
                </a:solidFill>
                <a:latin typeface="Calibri"/>
              </a:rPr>
              <a:t>unless postgres foreign data wrapper or dblink extensions are used</a:t>
            </a:r>
            <a:endParaRPr b="0" lang="en-US" sz="2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every database in cluster has owner and set of associated  permissions to control actions allowed for particular role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54A0041-E9B7-4AB1-8279-22A0D13CEFC1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Roles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belong to PostgreSQL server cluster and not to certain database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can either be a database user or a database group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role concept subsumes concepts of users and groups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CREATE USER is equivalent to CREATE ROLE with LOGIN option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CREATE GROUP is equivalent to CREATE ROLE with NOLOGIN option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782AD0F-ECE7-44D1-88F3-98703547EA36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roles attributes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550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Super user: can bypass all permission checks except login attribute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Login: can be used by client to connect to database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Create database: can create databases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Initiating replication: can be used for streaming replication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Password: can be used with md5 authentication method; can be encrypted; password expiration can be controlled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Connection limit: specifies number of concurrent connections that user can initiate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Inherit: will inherit privileges assigned to roles that it is a member of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81AF459-BFEE-4C18-9DFA-859D4B697922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Tablespace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defined storage location for a database or database objects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583EA44-E26F-4A5F-A909-0D7FB23E1BB2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763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database could be considered as container for database schema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database must contain at least one schema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schema is used to organize database objects in a manner similar to namespaces in programing languages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schema contains all database named objects: tables, views, functions, aggregates, indexes, sequences, triggers, data types, domains, ranges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inherited from template databases, by default, there is a schema called public and all users can access this schema implicitly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36A3FCD-7EF4-4249-B769-B3A0E43BC8AD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Setting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PostgreSQL provides SET and SHOW commands to change and inspect value of a setting parameters; used to change setting parameters in superuser and user context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typically, changing value of setting parameter in postgresql.conf file makes the effect global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80FB1A4-756A-4AFB-9940-7DA5AD82D831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pic>
        <p:nvPicPr>
          <p:cNvPr id="134" name="Content Placeholder 5" descr=""/>
          <p:cNvPicPr/>
          <p:nvPr/>
        </p:nvPicPr>
        <p:blipFill>
          <a:blip r:embed="rId1"/>
          <a:stretch/>
        </p:blipFill>
        <p:spPr>
          <a:xfrm>
            <a:off x="1005840" y="274320"/>
            <a:ext cx="10142280" cy="62571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CABB5B7-2D5E-4A86-B6CF-06D201A4F89D}" type="slidenum">
              <a:t>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Schema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contains all database named objects: tables, views, functions, aggregates, indexes, sequences, triggers, data types, domains, ranges; object names can be reused in different schema without conflict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by default, there is a schema called public in template databases -&gt; all newly created databases also contain this schema; all users, by default, can access this schema implicitly (inherited from template databases)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to access object, specify schema_name.object_name dot separated (.)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7" name="Picture 5" descr=""/>
          <p:cNvPicPr/>
          <p:nvPr/>
        </p:nvPicPr>
        <p:blipFill>
          <a:blip r:embed="rId1"/>
          <a:stretch/>
        </p:blipFill>
        <p:spPr>
          <a:xfrm>
            <a:off x="1545480" y="1545480"/>
            <a:ext cx="8400960" cy="18496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C129E74-F74E-4694-9A42-DB74D7CC2E90}" type="slidenum">
              <a:t>34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developers prefer to use unqualified object name, only object name, without schema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search_path setting composed of schemas that are used by server to search for object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SHOW search_path;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$user, public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control authorization, organize database objects, maintain third-party SQL code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A4D7EEF-2D40-4557-A492-A2E0FF3D3B01}" type="slidenum">
              <a:t>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Table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SQL statement is CREATE TABLE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permanent table, temporary table, unlogged table (tables are not crash-safe), child table (inherits one or more tables)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C9ECBEA-F465-4198-A58D-6F87E8E28996}" type="slidenum">
              <a:t>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one server (localhost)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many users could connect to database server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many database inside server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postgres is the name of the superuser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postgres is the name of the special database 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8C32B04-8E2B-4B02-B990-844CE4AE0BE5}" type="slidenum">
              <a:t>37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user can have rights on database or database objects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GRANT or not DENY to READ, WRITE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SELECT | INSERT | UPDATE | DELETE | TRUNCATE | REFERENCES | TRIGGER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USAGE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CREATE | CONNECT | TEMPORARY | TEMP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EXECUTE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ALL [ PRIVILEGES ]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9950034-8E4E-437E-90C5-D371037214DF}" type="slidenum">
              <a:t>38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connection string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Server (localhost)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port (5432)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UserName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PassWord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DataBase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Front-End tool: psql, DataGrip, pgAdmin, …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Programming Language: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81BE449-7013-4477-90E0-96DCC84A2938}" type="slidenum">
              <a:t>39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DataBases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i="1" lang="en-US" sz="2800" spc="-1" strike="noStrike">
                <a:solidFill>
                  <a:schemeClr val="dk1"/>
                </a:solidFill>
                <a:latin typeface="Calibri"/>
              </a:rPr>
              <a:t>1 special (postgres)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many – one for each domain: northwind, chinook, dvdrental, sailing, myautovit, bookshop, …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inside databases are many schema – containers for database objects like tables, index, procedures, …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default schema is public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0FEEF39-BE84-4C13-B0DB-2230850DD4D7}" type="slidenum">
              <a:t>40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schema as container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names are unique inside a schema / container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could not be two object / tables with same name inside a container / schema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could be two table with same name in two different schema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referred as schema1.table_name and schema2.table_name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585DD62-5C55-4AD7-A1C8-E92057E4515A}" type="slidenum">
              <a:t>41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default schema public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40B6E14-5131-4C54-9B4B-D6F31B7668E9}" type="slidenum">
              <a:t>42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CREATE TABLE staff(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staff_id SERIAL PRIMARY KEY,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first_name VARCHAR(45) NOT NULL,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last_name VARCHAR(45) NOT NULL,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email VARCHAR(100) NOT NULL UNIQUE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);v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750391E-A8FA-4EE5-BE10-67D7A6D75779}" type="slidenum">
              <a:t>43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CREATE TABLE public.staff(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staff_id SERIAL PRIMARY KEY,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first_name VARCHAR(45) NOT NULL,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last_name VARCHAR(45) NOT NULL,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email VARCHAR(100) NOT NULL UNIQUE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);v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85F1E2D-C4B5-451F-8F5D-57AD281DA911}" type="slidenum">
              <a:t>44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ourier New"/>
              </a:rPr>
              <a:t>SHOW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search_path;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public, public, "$user"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CD310FF-ADDD-4314-9828-B2702600699E}" type="slidenum">
              <a:t>45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Creating and Using Schemas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to create a new schema, can use the CREATE SCHEMA statement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CREATE SCHEMA sale;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command creates a schema named sale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DROP SCHEMA schema_name;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1A8EA9E-52F2-4EA4-B030-B6E1CC69CD00}" type="slidenum">
              <a:t>46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Creating and Using Schemas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to add schema to search path, use: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SET search_path TO sale, public;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to access staff table in sale schema, can use: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SELECT * FROM sale.staff;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to access staff table in public schema, must qualify table name: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SELECT * FROM public.staff;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C306234-ECDB-49F7-AF77-7CA61DB1E4F6}" type="slidenum">
              <a:t>47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schema search path is a list of schemas that PostgreSQL uses to look for objects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first schema in search path is called current schema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when create new object without explicitly specifying schema name, PostgreSQL uses current schema for new object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E17FC54-6B3B-4498-AC7E-80E34238B11A}" type="slidenum">
              <a:t>48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1051524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ourier New"/>
              </a:rPr>
              <a:t>SHOW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search_path;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ourier New"/>
              </a:rPr>
              <a:t>SET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search_path </a:t>
            </a:r>
            <a:r>
              <a:rPr b="1" lang="en-US" sz="2800" spc="-1" strike="noStrike">
                <a:solidFill>
                  <a:schemeClr val="dk1"/>
                </a:solidFill>
                <a:latin typeface="Courier New"/>
              </a:rPr>
              <a:t>TO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sale, public;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ourier New"/>
              </a:rPr>
              <a:t>SHOW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search_path;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if create new table without specifying schema name, PostgreSQL will place it into current schema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sale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: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ourier New"/>
              </a:rPr>
              <a:t>CREATE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</a:t>
            </a:r>
            <a:r>
              <a:rPr b="1" lang="en-US" sz="2800" spc="-1" strike="noStrike">
                <a:solidFill>
                  <a:schemeClr val="dk1"/>
                </a:solidFill>
                <a:latin typeface="Courier New"/>
              </a:rPr>
              <a:t>TABLE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staff(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staff_id SERIAL </a:t>
            </a:r>
            <a:r>
              <a:rPr b="1" lang="en-US" sz="2800" spc="-1" strike="noStrike">
                <a:solidFill>
                  <a:schemeClr val="dk1"/>
                </a:solidFill>
                <a:latin typeface="Courier New"/>
              </a:rPr>
              <a:t>PRIMARY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</a:t>
            </a:r>
            <a:r>
              <a:rPr b="1" lang="en-US" sz="2800" spc="-1" strike="noStrike">
                <a:solidFill>
                  <a:schemeClr val="dk1"/>
                </a:solidFill>
                <a:latin typeface="Courier New"/>
              </a:rPr>
              <a:t>KEY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,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first_name </a:t>
            </a:r>
            <a:r>
              <a:rPr b="1" lang="en-US" sz="2800" spc="-1" strike="noStrike">
                <a:solidFill>
                  <a:schemeClr val="dk1"/>
                </a:solidFill>
                <a:latin typeface="Courier New"/>
              </a:rPr>
              <a:t>VARCHAR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(45) </a:t>
            </a:r>
            <a:r>
              <a:rPr b="1" lang="en-US" sz="2800" spc="-1" strike="noStrike">
                <a:solidFill>
                  <a:schemeClr val="dk1"/>
                </a:solidFill>
                <a:latin typeface="Courier New"/>
              </a:rPr>
              <a:t>NOT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</a:t>
            </a:r>
            <a:r>
              <a:rPr b="1" lang="en-US" sz="2800" spc="-1" strike="noStrike">
                <a:solidFill>
                  <a:schemeClr val="dk1"/>
                </a:solidFill>
                <a:latin typeface="Courier New"/>
              </a:rPr>
              <a:t>NULL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,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last_name </a:t>
            </a:r>
            <a:r>
              <a:rPr b="1" lang="en-US" sz="2800" spc="-1" strike="noStrike">
                <a:solidFill>
                  <a:schemeClr val="dk1"/>
                </a:solidFill>
                <a:latin typeface="Courier New"/>
              </a:rPr>
              <a:t>VARCHAR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(45) </a:t>
            </a:r>
            <a:r>
              <a:rPr b="1" lang="en-US" sz="2800" spc="-1" strike="noStrike">
                <a:solidFill>
                  <a:schemeClr val="dk1"/>
                </a:solidFill>
                <a:latin typeface="Courier New"/>
              </a:rPr>
              <a:t>NOT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</a:t>
            </a:r>
            <a:r>
              <a:rPr b="1" lang="en-US" sz="2800" spc="-1" strike="noStrike">
                <a:solidFill>
                  <a:schemeClr val="dk1"/>
                </a:solidFill>
                <a:latin typeface="Courier New"/>
              </a:rPr>
              <a:t>NULL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,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email </a:t>
            </a:r>
            <a:r>
              <a:rPr b="1" lang="en-US" sz="2800" spc="-1" strike="noStrike">
                <a:solidFill>
                  <a:schemeClr val="dk1"/>
                </a:solidFill>
                <a:latin typeface="Courier New"/>
              </a:rPr>
              <a:t>VARCHAR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(100) </a:t>
            </a:r>
            <a:r>
              <a:rPr b="1" lang="en-US" sz="2800" spc="-1" strike="noStrike">
                <a:solidFill>
                  <a:schemeClr val="dk1"/>
                </a:solidFill>
                <a:latin typeface="Courier New"/>
              </a:rPr>
              <a:t>NOT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</a:t>
            </a:r>
            <a:r>
              <a:rPr b="1" lang="en-US" sz="2800" spc="-1" strike="noStrike">
                <a:solidFill>
                  <a:schemeClr val="dk1"/>
                </a:solidFill>
                <a:latin typeface="Courier New"/>
              </a:rPr>
              <a:t>NULL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 </a:t>
            </a:r>
            <a:r>
              <a:rPr b="1" lang="en-US" sz="2800" spc="-1" strike="noStrike">
                <a:solidFill>
                  <a:schemeClr val="dk1"/>
                </a:solidFill>
                <a:latin typeface="Courier New"/>
              </a:rPr>
              <a:t>UNIQUE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</a:rPr>
              <a:t>);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0F0945D-E0C9-486B-8941-B32572420076}" type="slidenum">
              <a:t>49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SELECT * FROM table_name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SELECT * FROM server_name.database_name.schema.table_name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i="1" lang="en-US" sz="2800" spc="-1" strike="noStrike">
                <a:solidFill>
                  <a:schemeClr val="dk1"/>
                </a:solidFill>
                <a:latin typeface="Calibri"/>
              </a:rPr>
              <a:t>default values: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server_name: from connection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database_name: from connection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schema: public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D7E723A-6E85-4FB5-B423-FF7CAF3071A7}" type="slidenum">
              <a:t>50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Backup Restore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>
                  <a:tint val="7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6B891DF-FE14-4756-B268-6894A6B003B3}" type="slidenum">
              <a:t>51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BackUp &amp; ReStore DataBase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backup with command line utility pg_dump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pg_dump -U postgres -W -F p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database_name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&gt;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script_file_name.sql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restore with command line utility psql to run script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psql -U postgres -d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database_name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&lt;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script_file_name.sql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011C608-027A-4B45-8D9E-45E9758C2C18}" type="slidenum">
              <a:t>52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these are full database backup and restore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not incremental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policy to name backup script files according with date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B57B7DE-A4EA-4564-B958-C600D9F96BE4}" type="slidenum">
              <a:t>53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 MacOS there are various ways in which you can install Postgres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location of PostGreSQL depend on installation type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interactive installer by EDB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\Library\postgres\13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HomeBrew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MacPorts Project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Fink Project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C750930-0111-46D3-86A2-AC6CAC3685AD}" type="slidenum">
              <a:t>54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making location of PostGreSQL utilities, including psql, available on path on Windows OS by Edit the System Environment variables: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PATH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add \Program Files\PostgreSQL\13\bin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making location of PostGreSQL psql utilities, including psql, available on path on MacOS and various Linux distributions depend on the type of shell command in use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B5E36E8-8EC8-4532-B097-1A3218140783}" type="slidenum">
              <a:t>55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Data types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>
                  <a:tint val="7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581EDE5-4194-4CFC-A37A-77692F2842F3}" type="slidenum">
              <a:t>56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800" spc="-1" strike="noStrike">
                <a:solidFill>
                  <a:schemeClr val="dk1"/>
                </a:solidFill>
                <a:latin typeface="Calibri Light"/>
              </a:rPr>
              <a:t>Data Types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PostgreSQL native data types: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numbers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character strings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date time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A041C28-8AED-40F1-B1FD-57709807CEF4}" type="slidenum">
              <a:t>57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Numbers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smallint, integer - alias for int - bigint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numeric or decimal, no difference in PostgreSQL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real 4 bytes; double precision 8 bytes -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special values: NaN, Infinity, -Infinity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serial types are wrappers on top of int; often used as surrogate keys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utilizes sequences behind scene: database object used to generate sequences by specifying min., max., and increment values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B4782A8-924B-40BA-8EAE-F323668E8041}" type="slidenum">
              <a:t>58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CREATE TABLE customer (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customer_id SERIAL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);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CREATE SEQUENCE custome_customer_id_seq;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CREATE TABLE customer (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customer_id integer NOT NULL DEFAULT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nextval('customer_customer_id_seq’)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);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ALTER SEQUENCE customer_customer_id_seq OWNED BY customer.Customer_id;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EE4EEA8-5678-4D3E-B2B6-415D51C76855}" type="slidenum">
              <a:t>59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Sequence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sequence will be created with name tableName_columnName_seq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column will have Not Null value constraint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column will have default value generated by function nextval()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sequence will be owned by column, means that sequence will be dropped automatically if column is dropped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16657C5-3BA1-4D0C-9358-4917739BAFBB}" type="slidenum">
              <a:t>60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Character strings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"char", equivalent to char(1), it must be quoted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name, equivalent to varchar(64)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char(n) - fixed length character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varchar(n) - alias: character varying(n) – up to: 10.485.760 =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10*1024*1024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text – unlimited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operations on char data types ignore trailing spaces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2752106-D190-4D50-B72B-AC8717E7B446}" type="slidenum">
              <a:t>61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Date and Time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timestamp with / without time zone; 4713 BC - 294276 AD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time with / without time zone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interval [fields ]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stores timestamp with and without time zone in universal coordinated time (UTC)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B835A36-9198-44A9-A0BA-876C47176ADF}" type="slidenum">
              <a:t>62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Data types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Boolean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Character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Number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Temporal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PostgreSQL extension types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Binary Large Object (BLOB)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2A067E3-017D-45CF-8DDF-E77F73FED067}" type="slidenum">
              <a:t>63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Boolean (bool)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true and false,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and NULL, for when value is unknown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'1' '0'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'yes' 'no'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'y' 'n'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'true' 'false'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't' 'f’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these are also case-insensitive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when displays contents show only t, f, and space character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for NULL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8E72018-410F-4EC0-9833-3FDA740D9562}" type="slidenum">
              <a:t>64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Character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char - single character.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char(n) - set of characters exactly n characters in length, padded with spaces if needed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varchar(n) - set of characters up to n characters in length, with no padding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varchar; text - unlimited (1Gb) length character string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not standard SQL type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can also contain NULL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phone numbers: char(10); names varchar(100), …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5D87EEB-73FF-4A2F-9018-603970689D74}" type="slidenum">
              <a:t>65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Number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small integer smallint - 2-byte signed integer, capable of storing numbers from –32.768 to 32.767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integer int- 4-byte integer, capable of storing numbers from –2.147.483.648 to 2.147.483.647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serial - same as integer, except that its value is normally automatically entered by PostgreSQL database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57FD395-3D96-45D7-AE39-60450754AEA3}" type="slidenum">
              <a:t>66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Number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float float(n) - floating-point number with at least precision n, up to maximum of 8 bytes of storage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float8 real - double-precision (8-byte) floating-point number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numeric numeric(p,s) - real number with p digits, s of them after decimal point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always exact number, but less efficient to work with than ordinary float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money numeric(9,2) - PostgreSQL-specific type, though common in other databases; became deprecated in version 8.0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463B249-CE56-4B3A-8A55-B79AD9244857}" type="slidenum">
              <a:t>67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Number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NULL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383911D-16B9-4B9C-B98F-00983AC27E2A}" type="slidenum">
              <a:t>68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Temporal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date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time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timestamp - stores date and time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interval - stores information about difference in timestamps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timestamptz - PostgreSQL extension that stores timestamp and time zone information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NULL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4BFC156-3FA5-468A-8E96-8D85FA414CFF}" type="slidenum">
              <a:t>69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Special Data Types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origins as research database system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box - rectangular box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line - set of points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point - geometric pair of numbers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lseg - line segment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polygon - closed geometric line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cidr or inet - IP version 4 address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macaddr - MAC (Ethernet physical) address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B8767F1-EC34-4284-8C9E-BE81C0F207F7}" type="slidenum">
              <a:t>70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PostgreSQL allows to create own types for use in database, using SQL CREATE TYPE command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B564453-4E8F-4194-88A2-6D08CCFC1855}" type="slidenum">
              <a:t>71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Calibri Light"/>
              </a:rPr>
              <a:t>PostgreSQL Style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Arrays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to declare column in table as array, simply add [] after type; there is no need to declare number of elements; if declare size, PostgreSQL accepts definition, but doesn’t enforce number of elements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to insert values into array column, need to enclose comma-separated list of values in a pair of {} delimiters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can select all values of array elements at once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can select individual elements by giving array index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500" spc="-1" strike="noStrike">
                <a:solidFill>
                  <a:schemeClr val="dk1"/>
                </a:solidFill>
                <a:latin typeface="Calibri"/>
              </a:rPr>
              <a:t>notice that first array element is at offset 1</a:t>
            </a:r>
            <a:endParaRPr b="0" lang="en-US" sz="2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try to select nonexistent array element, NULL will be returned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allows multidimensional arrays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DB0762A-91A5-45CA-B4B2-BE0FCA4B180B}" type="slidenum">
              <a:t>72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Standard SQL Style Arrays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number of elements must be declared [n]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only declaration syntax is different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FC322E1-31F0-4D7C-963B-0B11E8EB4F4F}" type="slidenum">
              <a:t>73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Converting Between Data Types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cast(column-name AS type-definition-to-convert-to)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alternative, more succinct, double-colon syntax can be used in postgreSQL: column-name::type-definition-to-convert-to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12CF9C6-AB48-473A-AFFA-EAB628F941FE}" type="slidenum">
              <a:t>74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Calibri Light"/>
              </a:rPr>
              <a:t>SELECT company_name, postal_code </a:t>
            </a:r>
            <a:br>
              <a:rPr sz="4000"/>
            </a:br>
            <a:r>
              <a:rPr b="0" lang="en-US" sz="4000" spc="-1" strike="noStrike">
                <a:solidFill>
                  <a:schemeClr val="dk1"/>
                </a:solidFill>
                <a:latin typeface="Calibri Light"/>
              </a:rPr>
              <a:t>FROM customers where country='USA'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19" name="Content Placeholder 7" descr=""/>
          <p:cNvPicPr/>
          <p:nvPr/>
        </p:nvPicPr>
        <p:blipFill>
          <a:blip r:embed="rId1"/>
          <a:stretch/>
        </p:blipFill>
        <p:spPr>
          <a:xfrm>
            <a:off x="914400" y="1737360"/>
            <a:ext cx="10257120" cy="43128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8E42A4A-B0F2-4797-B960-84B0F42DF8E1}" type="slidenum">
              <a:t>75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Calibri Light"/>
              </a:rPr>
              <a:t>SELECT company_name, CAST(postal_code AS INT)</a:t>
            </a:r>
            <a:br>
              <a:rPr sz="4000"/>
            </a:br>
            <a:r>
              <a:rPr b="0" lang="en-US" sz="4000" spc="-1" strike="noStrike">
                <a:solidFill>
                  <a:schemeClr val="dk1"/>
                </a:solidFill>
                <a:latin typeface="Calibri Light"/>
              </a:rPr>
              <a:t>FROM customers where country='USA'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21" name="Content Placeholder 6" descr=""/>
          <p:cNvPicPr/>
          <p:nvPr/>
        </p:nvPicPr>
        <p:blipFill>
          <a:blip r:embed="rId1"/>
          <a:stretch/>
        </p:blipFill>
        <p:spPr>
          <a:xfrm>
            <a:off x="914400" y="1737360"/>
            <a:ext cx="10257120" cy="43282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54BB83E-69B9-4E5A-93FD-B1956B410CE6}" type="slidenum">
              <a:t>76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SELECT company_name, postal_code::INT</a:t>
            </a:r>
            <a:br>
              <a:rPr sz="4400"/>
            </a:b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FROM customers where country='USA'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professor faculty of medicine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C1942DD-BB0D-465D-873E-3F6C1AB40476}" type="slidenum">
              <a:t>77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useful Data Manipulation Function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55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length(column-name-expr) - returns length of string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trim(column-name-expr) - removes leading and trailing spaces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strpos(column-name-expr, string) - returns position of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string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in expression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substr(column-name-expr, position, length) - returns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length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characters from string, starting search from given character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position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 first character is counted as position 1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round(column-name-expr, length) - rounds number to given number of decimal places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abs(number) - gets the absolute value of number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888BF98-B0CA-49F2-BF1C-6C836F86AED7}" type="slidenum">
              <a:t>78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some useful “magic” PreDefined Variables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CURRENT_DATE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CURRENT_TIME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CURRENT_TIMESTAMP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CURRENT_USER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D11558E-E503-432C-96E4-63D853584F9B}" type="slidenum">
              <a:t>79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CREATE TABLE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CREATE [TEMPORARY] TABLE table-name (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{ column-name type [ column-constraint ] [,...] }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[ CONSTRAINT table-constraint ]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) [ INHERITS (existing-table-name) ]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69073AA-6DC9-46F7-AE2D-F6BB5D5A8A8A}" type="slidenum">
              <a:t>80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column-constraint 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NOT NULL - column cannot have NULL value stored in it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UNIQUE - value stored in column must be different for each row in database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PRIMARY KEY - effectively, combination of NOT NULL and UNIQUE; each table have only single column marked PK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500" spc="-1" strike="noStrike">
                <a:solidFill>
                  <a:schemeClr val="dk1"/>
                </a:solidFill>
                <a:latin typeface="Calibri"/>
              </a:rPr>
              <a:t>if need to create composite primary key must use table- level constraint, rather than column-level constraint</a:t>
            </a:r>
            <a:endParaRPr b="0" lang="en-US" sz="25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DEFAULT </a:t>
            </a:r>
            <a:r>
              <a:rPr b="0" i="1" lang="en-US" sz="2700" spc="-1" strike="noStrike">
                <a:solidFill>
                  <a:schemeClr val="dk1"/>
                </a:solidFill>
                <a:latin typeface="Calibri"/>
              </a:rPr>
              <a:t>default-value - </a:t>
            </a: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provide default value when inserting data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CHECK (</a:t>
            </a:r>
            <a:r>
              <a:rPr b="0" i="1" lang="en-US" sz="2700" spc="-1" strike="noStrike">
                <a:solidFill>
                  <a:schemeClr val="dk1"/>
                </a:solidFill>
                <a:latin typeface="Calibri"/>
              </a:rPr>
              <a:t>condition</a:t>
            </a: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) - check condition when inserting or updating data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REFERENCES - constrains value to be one that appears in column in a separate table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CC60643-BAC6-4543-9B0F-DD360FE181EF}" type="slidenum">
              <a:t>81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CREATE TABLE example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33b3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33b3"/>
                </a:solidFill>
                <a:latin typeface="JetBrains Mono"/>
              </a:rPr>
              <a:t>CREATE TABLE </a:t>
            </a:r>
            <a:r>
              <a:rPr b="0" lang="en-US" sz="2800" spc="-1" strike="noStrike">
                <a:solidFill>
                  <a:srgbClr val="000000"/>
                </a:solidFill>
                <a:latin typeface="JetBrains Mono"/>
              </a:rPr>
              <a:t>categories2 </a:t>
            </a:r>
            <a:r>
              <a:rPr b="0" lang="en-US" sz="2800" spc="-1" strike="noStrike">
                <a:solidFill>
                  <a:srgbClr val="080808"/>
                </a:solidFill>
                <a:latin typeface="JetBrains Mono"/>
              </a:rPr>
              <a:t>(</a:t>
            </a:r>
            <a:br>
              <a:rPr sz="2800"/>
            </a:br>
            <a:r>
              <a:rPr b="0" lang="en-US" sz="2800" spc="-1" strike="noStrike">
                <a:solidFill>
                  <a:srgbClr val="080808"/>
                </a:solidFill>
                <a:latin typeface="JetBrains Mono"/>
              </a:rPr>
              <a:t>    </a:t>
            </a:r>
            <a:r>
              <a:rPr b="0" lang="en-US" sz="2800" spc="-1" strike="noStrike">
                <a:solidFill>
                  <a:srgbClr val="871094"/>
                </a:solidFill>
                <a:latin typeface="JetBrains Mono"/>
              </a:rPr>
              <a:t>category_id </a:t>
            </a:r>
            <a:r>
              <a:rPr b="0" lang="en-US" sz="2800" spc="-1" strike="noStrike">
                <a:solidFill>
                  <a:srgbClr val="0033b3"/>
                </a:solidFill>
                <a:latin typeface="JetBrains Mono"/>
              </a:rPr>
              <a:t>INTEGER PRIMARY KEY</a:t>
            </a:r>
            <a:r>
              <a:rPr b="0" lang="en-US" sz="2800" spc="-1" strike="noStrike">
                <a:solidFill>
                  <a:srgbClr val="080808"/>
                </a:solidFill>
                <a:latin typeface="JetBrains Mono"/>
              </a:rPr>
              <a:t>,</a:t>
            </a:r>
            <a:br>
              <a:rPr sz="2800"/>
            </a:br>
            <a:r>
              <a:rPr b="0" lang="en-US" sz="2800" spc="-1" strike="noStrike">
                <a:solidFill>
                  <a:srgbClr val="080808"/>
                </a:solidFill>
                <a:latin typeface="JetBrains Mono"/>
              </a:rPr>
              <a:t>    </a:t>
            </a:r>
            <a:r>
              <a:rPr b="0" lang="en-US" sz="2800" spc="-1" strike="noStrike">
                <a:solidFill>
                  <a:srgbClr val="871094"/>
                </a:solidFill>
                <a:latin typeface="JetBrains Mono"/>
              </a:rPr>
              <a:t>category_name </a:t>
            </a:r>
            <a:r>
              <a:rPr b="0" lang="en-US" sz="2800" spc="-1" strike="noStrike">
                <a:solidFill>
                  <a:srgbClr val="0033b3"/>
                </a:solidFill>
                <a:latin typeface="JetBrains Mono"/>
              </a:rPr>
              <a:t>VARCHAR</a:t>
            </a:r>
            <a:r>
              <a:rPr b="0" lang="en-US" sz="2800" spc="-1" strike="noStrike">
                <a:solidFill>
                  <a:srgbClr val="080808"/>
                </a:solidFill>
                <a:latin typeface="JetBrains Mono"/>
              </a:rPr>
              <a:t>(</a:t>
            </a:r>
            <a:r>
              <a:rPr b="0" lang="en-US" sz="2800" spc="-1" strike="noStrike">
                <a:solidFill>
                  <a:srgbClr val="1750eb"/>
                </a:solidFill>
                <a:latin typeface="JetBrains Mono"/>
              </a:rPr>
              <a:t>50</a:t>
            </a:r>
            <a:r>
              <a:rPr b="0" lang="en-US" sz="2800" spc="-1" strike="noStrike">
                <a:solidFill>
                  <a:srgbClr val="080808"/>
                </a:solidFill>
                <a:latin typeface="JetBrains Mono"/>
              </a:rPr>
              <a:t>) </a:t>
            </a:r>
            <a:r>
              <a:rPr b="0" lang="en-US" sz="2800" spc="-1" strike="noStrike">
                <a:solidFill>
                  <a:srgbClr val="0033b3"/>
                </a:solidFill>
                <a:latin typeface="JetBrains Mono"/>
              </a:rPr>
              <a:t>UNIQUE NOT NULL</a:t>
            </a:r>
            <a:r>
              <a:rPr b="0" lang="en-US" sz="2800" spc="-1" strike="noStrike">
                <a:solidFill>
                  <a:srgbClr val="080808"/>
                </a:solidFill>
                <a:latin typeface="JetBrains Mono"/>
              </a:rPr>
              <a:t>,</a:t>
            </a:r>
            <a:br>
              <a:rPr sz="2800"/>
            </a:br>
            <a:r>
              <a:rPr b="0" lang="en-US" sz="2800" spc="-1" strike="noStrike">
                <a:solidFill>
                  <a:srgbClr val="080808"/>
                </a:solidFill>
                <a:latin typeface="JetBrains Mono"/>
              </a:rPr>
              <a:t>    </a:t>
            </a:r>
            <a:r>
              <a:rPr b="0" lang="en-US" sz="2800" spc="-1" strike="noStrike">
                <a:solidFill>
                  <a:srgbClr val="871094"/>
                </a:solidFill>
                <a:latin typeface="JetBrains Mono"/>
              </a:rPr>
              <a:t>description </a:t>
            </a:r>
            <a:r>
              <a:rPr b="0" lang="en-US" sz="2800" spc="-1" strike="noStrike">
                <a:solidFill>
                  <a:srgbClr val="0033b3"/>
                </a:solidFill>
                <a:latin typeface="JetBrains Mono"/>
              </a:rPr>
              <a:t>TEXT</a:t>
            </a:r>
            <a:r>
              <a:rPr b="0" lang="en-US" sz="2800" spc="-1" strike="noStrike">
                <a:solidFill>
                  <a:srgbClr val="080808"/>
                </a:solidFill>
                <a:latin typeface="JetBrains Mono"/>
              </a:rPr>
              <a:t>,</a:t>
            </a:r>
            <a:br>
              <a:rPr sz="2800"/>
            </a:br>
            <a:r>
              <a:rPr b="0" lang="en-US" sz="2800" spc="-1" strike="noStrike">
                <a:solidFill>
                  <a:srgbClr val="080808"/>
                </a:solidFill>
                <a:latin typeface="JetBrains Mono"/>
              </a:rPr>
              <a:t>    </a:t>
            </a:r>
            <a:r>
              <a:rPr b="0" lang="en-US" sz="2800" spc="-1" strike="noStrike">
                <a:solidFill>
                  <a:srgbClr val="871094"/>
                </a:solidFill>
                <a:latin typeface="JetBrains Mono"/>
              </a:rPr>
              <a:t>picture </a:t>
            </a:r>
            <a:r>
              <a:rPr b="0" lang="en-US" sz="2800" spc="-1" strike="noStrike">
                <a:solidFill>
                  <a:srgbClr val="0033b3"/>
                </a:solidFill>
                <a:latin typeface="JetBrains Mono"/>
              </a:rPr>
              <a:t>BYTEA</a:t>
            </a:r>
            <a:br>
              <a:rPr sz="2800"/>
            </a:br>
            <a:r>
              <a:rPr b="0" lang="en-US" sz="2800" spc="-1" strike="noStrike">
                <a:solidFill>
                  <a:srgbClr val="080808"/>
                </a:solidFill>
                <a:latin typeface="JetBrains Mono"/>
              </a:rPr>
              <a:t>);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33b3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33b3"/>
                </a:solidFill>
                <a:latin typeface="JetBrains Mono"/>
              </a:rPr>
              <a:t>INSERT INTO </a:t>
            </a:r>
            <a:r>
              <a:rPr b="0" lang="en-US" sz="2800" spc="-1" strike="noStrike">
                <a:solidFill>
                  <a:srgbClr val="000000"/>
                </a:solidFill>
                <a:latin typeface="JetBrains Mono"/>
              </a:rPr>
              <a:t>categories2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33b3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33b3"/>
                </a:solidFill>
                <a:latin typeface="JetBrains Mono"/>
              </a:rPr>
              <a:t>SELECT </a:t>
            </a:r>
            <a:r>
              <a:rPr b="0" i="1" lang="en-US" sz="2800" spc="-1" strike="noStrike">
                <a:solidFill>
                  <a:srgbClr val="080808"/>
                </a:solidFill>
                <a:latin typeface="JetBrains Mono"/>
              </a:rPr>
              <a:t>* </a:t>
            </a:r>
            <a:r>
              <a:rPr b="0" lang="en-US" sz="2800" spc="-1" strike="noStrike">
                <a:solidFill>
                  <a:srgbClr val="0033b3"/>
                </a:solidFill>
                <a:latin typeface="JetBrains Mono"/>
              </a:rPr>
              <a:t>FROM </a:t>
            </a:r>
            <a:r>
              <a:rPr b="0" lang="en-US" sz="2800" spc="-1" strike="noStrike">
                <a:solidFill>
                  <a:srgbClr val="000000"/>
                </a:solidFill>
                <a:latin typeface="JetBrains Mono"/>
              </a:rPr>
              <a:t>categories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05F994C-5780-461B-BAA5-C7112F2921E0}" type="slidenum">
              <a:t>82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Table Constraints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763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UNIQUE(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column-list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) - value stored in columns listed must be different from that stored in all other rows of this column-list of table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PRIMARY KEY(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column-list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) - effectively combination of NOT NULL and UNIQUE; each table may have only a single PRIMARY KEY constraint, either as table constraint or as column constraint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can refer to more than one column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listed after all columns in CREATE TABLE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F11FF1D-B77B-4093-8F0E-D1078B4BA1F4}" type="slidenum">
              <a:t>83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Row Constraint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TheSansMonoConSemiLight"/>
              </a:rPr>
              <a:t>CHECK (</a:t>
            </a:r>
            <a:r>
              <a:rPr b="0" i="1" lang="en-US" sz="2800" spc="-1" strike="noStrike">
                <a:solidFill>
                  <a:schemeClr val="dk1"/>
                </a:solidFill>
                <a:latin typeface="TheSansMonoConSemiLight-Italic"/>
              </a:rPr>
              <a:t>condition</a:t>
            </a:r>
            <a:r>
              <a:rPr b="0" lang="en-US" sz="2800" spc="-1" strike="noStrike">
                <a:solidFill>
                  <a:schemeClr val="dk1"/>
                </a:solidFill>
                <a:latin typeface="TheSansMonoConSemiLight"/>
              </a:rPr>
              <a:t>) </a:t>
            </a:r>
            <a:r>
              <a:rPr b="0" lang="en-US" sz="2800" spc="-1" strike="noStrike">
                <a:solidFill>
                  <a:schemeClr val="dk1"/>
                </a:solidFill>
                <a:latin typeface="Utopia-Regular"/>
              </a:rPr>
              <a:t>- allows to check condition when inserting or updating data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B564006-D0F7-4CA6-B09E-6EB3056A1FB7}" type="slidenum">
              <a:t>84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Multi Table Constraint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TheSansMonoConSemiLight"/>
              </a:rPr>
              <a:t>REFERENCES - c</a:t>
            </a:r>
            <a:r>
              <a:rPr b="0" lang="en-US" sz="2800" spc="-1" strike="noStrike">
                <a:solidFill>
                  <a:schemeClr val="dk1"/>
                </a:solidFill>
                <a:latin typeface="Utopia-Regular"/>
              </a:rPr>
              <a:t>onstrains value to be one that appears in column in separate table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B4A09D6-E8F1-4C17-BB9A-DCF8051D4F41}" type="slidenum">
              <a:t>85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ALTER TABLE structure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create new working table with identical structure to existing table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use INSERT INTO to populate working table with data identical to original table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drop (delete) existing table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re-create table with same name, but with changes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use INSERT INTO again to populate altered table from working table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delete working table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1C9F0D4-51DE-46FD-9B90-3D02DCD02D84}" type="slidenum">
              <a:t>86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DROP TABLE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51746A8-C171-4F86-AA27-A808AA12441F}" type="slidenum">
              <a:t>87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pic>
        <p:nvPicPr>
          <p:cNvPr id="245" name="Content Placeholder 6" descr=""/>
          <p:cNvPicPr/>
          <p:nvPr/>
        </p:nvPicPr>
        <p:blipFill>
          <a:blip r:embed="rId1"/>
          <a:stretch/>
        </p:blipFill>
        <p:spPr>
          <a:xfrm>
            <a:off x="914400" y="457200"/>
            <a:ext cx="8328600" cy="58942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B06AD24-C1E1-475C-AAFB-928EDC4CA851}" type="slidenum">
              <a:t>88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pic>
        <p:nvPicPr>
          <p:cNvPr id="247" name="Content Placeholder 6" descr=""/>
          <p:cNvPicPr/>
          <p:nvPr/>
        </p:nvPicPr>
        <p:blipFill>
          <a:blip r:embed="rId1"/>
          <a:stretch/>
        </p:blipFill>
        <p:spPr>
          <a:xfrm>
            <a:off x="914400" y="457200"/>
            <a:ext cx="6870240" cy="36176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B84CE59-06F7-4F20-B31D-2D2A6369C262}" type="slidenum">
              <a:t>89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pic>
        <p:nvPicPr>
          <p:cNvPr id="249" name="Picture 7" descr=""/>
          <p:cNvPicPr/>
          <p:nvPr/>
        </p:nvPicPr>
        <p:blipFill>
          <a:blip r:embed="rId1"/>
          <a:stretch/>
        </p:blipFill>
        <p:spPr>
          <a:xfrm>
            <a:off x="914400" y="457200"/>
            <a:ext cx="6860880" cy="3373920"/>
          </a:xfrm>
          <a:prstGeom prst="rect">
            <a:avLst/>
          </a:prstGeom>
          <a:ln w="0">
            <a:noFill/>
          </a:ln>
        </p:spPr>
      </p:pic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51" name="Content Placeholder 6" descr=""/>
          <p:cNvPicPr/>
          <p:nvPr/>
        </p:nvPicPr>
        <p:blipFill>
          <a:blip r:embed="rId2"/>
          <a:stretch/>
        </p:blipFill>
        <p:spPr>
          <a:xfrm>
            <a:off x="4754880" y="2926080"/>
            <a:ext cx="6879600" cy="33084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0C3FE8D-28E3-477B-A2B0-579E42D04FDC}" type="slidenum">
              <a:t>90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pic>
        <p:nvPicPr>
          <p:cNvPr id="253" name="Content Placeholder 6" descr=""/>
          <p:cNvPicPr/>
          <p:nvPr/>
        </p:nvPicPr>
        <p:blipFill>
          <a:blip r:embed="rId1"/>
          <a:stretch/>
        </p:blipFill>
        <p:spPr>
          <a:xfrm>
            <a:off x="914400" y="914400"/>
            <a:ext cx="10139040" cy="39891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68DB9D3-D42D-446C-9E55-0C618224FF2F}" type="slidenum">
              <a:t>91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pic>
        <p:nvPicPr>
          <p:cNvPr id="255" name="Content Placeholder 6" descr=""/>
          <p:cNvPicPr/>
          <p:nvPr/>
        </p:nvPicPr>
        <p:blipFill>
          <a:blip r:embed="rId1"/>
          <a:stretch/>
        </p:blipFill>
        <p:spPr>
          <a:xfrm>
            <a:off x="1463040" y="274320"/>
            <a:ext cx="5570280" cy="60886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E96E9E1-A1F4-47A1-9826-4E8618A0DB3A}" type="slidenum">
              <a:t>92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Foreign Key as</a:t>
            </a:r>
            <a:br>
              <a:rPr sz="4400"/>
            </a:b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Column Constraint / Table Constraint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[CONSTRAINT arbitrary-name] existing-column-name type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REFERENCES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foreign-table-name(column-in-foreign-table)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/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CONSTRAINT [arbitrary-name] FOREIGN KEY (column-list)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REFERENCES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foreign-table-name(column-list-in-foreign-table)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63E9C6D-7910-4585-A47F-FF19D1D98501}" type="slidenum">
              <a:t>93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ON UPDATE and ON DELETE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specify rules in Foreign Key constraint about how to handle violation in two circumstances: UPDATE and DELETE operations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could CASCADE change from table with primary key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could SET NULL to make column NULL, since it no longer references primary table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62A7E7C-DE2E-48F0-908B-6341B122DD57}" type="slidenum">
              <a:t>94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763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33b3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33b3"/>
                </a:solidFill>
                <a:latin typeface="JetBrains Mono"/>
              </a:rPr>
              <a:t>ALTER TABLE </a:t>
            </a:r>
            <a:r>
              <a:rPr b="0" lang="en-US" sz="2800" spc="-1" strike="noStrike">
                <a:solidFill>
                  <a:srgbClr val="000000"/>
                </a:solidFill>
                <a:latin typeface="JetBrains Mono"/>
              </a:rPr>
              <a:t>orders</a:t>
            </a:r>
            <a:br>
              <a:rPr sz="2800"/>
            </a:br>
            <a:r>
              <a:rPr b="0" lang="en-US" sz="2800" spc="-1" strike="noStrike">
                <a:solidFill>
                  <a:srgbClr val="000000"/>
                </a:solidFill>
                <a:latin typeface="JetBrains Mono"/>
              </a:rPr>
              <a:t>	</a:t>
            </a:r>
            <a:r>
              <a:rPr b="0" lang="en-US" sz="2800" spc="-1" strike="noStrike">
                <a:solidFill>
                  <a:srgbClr val="0033b3"/>
                </a:solidFill>
                <a:latin typeface="JetBrains Mono"/>
              </a:rPr>
              <a:t>ADD CONSTRAINT </a:t>
            </a:r>
            <a:r>
              <a:rPr b="0" lang="en-US" sz="2800" spc="-1" strike="noStrike">
                <a:solidFill>
                  <a:srgbClr val="080808"/>
                </a:solidFill>
                <a:latin typeface="JetBrains Mono"/>
              </a:rPr>
              <a:t>fk_orders_customers</a:t>
            </a:r>
            <a:br>
              <a:rPr sz="2800"/>
            </a:br>
            <a:r>
              <a:rPr b="0" lang="en-US" sz="2800" spc="-1" strike="noStrike">
                <a:solidFill>
                  <a:srgbClr val="080808"/>
                </a:solidFill>
                <a:latin typeface="JetBrains Mono"/>
              </a:rPr>
              <a:t>	</a:t>
            </a:r>
            <a:r>
              <a:rPr b="0" lang="en-US" sz="2800" spc="-1" strike="noStrike">
                <a:solidFill>
                  <a:srgbClr val="080808"/>
                </a:solidFill>
                <a:latin typeface="JetBrains Mono"/>
              </a:rPr>
              <a:t>	</a:t>
            </a:r>
            <a:r>
              <a:rPr b="0" lang="en-US" sz="2800" spc="-1" strike="noStrike">
                <a:solidFill>
                  <a:srgbClr val="0033b3"/>
                </a:solidFill>
                <a:latin typeface="JetBrains Mono"/>
              </a:rPr>
              <a:t>Foreign Key </a:t>
            </a:r>
            <a:r>
              <a:rPr b="0" lang="en-US" sz="2800" spc="-1" strike="noStrike">
                <a:solidFill>
                  <a:srgbClr val="080808"/>
                </a:solidFill>
                <a:latin typeface="JetBrains Mono"/>
              </a:rPr>
              <a:t>(</a:t>
            </a:r>
            <a:r>
              <a:rPr b="0" lang="en-US" sz="2800" spc="-1" strike="noStrike">
                <a:solidFill>
                  <a:srgbClr val="871094"/>
                </a:solidFill>
                <a:latin typeface="JetBrains Mono"/>
              </a:rPr>
              <a:t>customer_id</a:t>
            </a:r>
            <a:r>
              <a:rPr b="0" lang="en-US" sz="2800" spc="-1" strike="noStrike">
                <a:solidFill>
                  <a:srgbClr val="080808"/>
                </a:solidFill>
                <a:latin typeface="JetBrains Mono"/>
              </a:rPr>
              <a:t>) </a:t>
            </a:r>
            <a:r>
              <a:rPr b="0" lang="en-US" sz="2800" spc="-1" strike="noStrike">
                <a:solidFill>
                  <a:srgbClr val="0033b3"/>
                </a:solidFill>
                <a:latin typeface="JetBrains Mono"/>
              </a:rPr>
              <a:t>REFERENCES </a:t>
            </a:r>
            <a:r>
              <a:rPr b="0" lang="en-US" sz="2800" spc="-1" strike="noStrike">
                <a:solidFill>
                  <a:srgbClr val="000000"/>
                </a:solidFill>
                <a:latin typeface="JetBrains Mono"/>
              </a:rPr>
              <a:t>customers</a:t>
            </a:r>
            <a:br>
              <a:rPr sz="2800"/>
            </a:br>
            <a:r>
              <a:rPr b="0" lang="en-US" sz="2800" spc="-1" strike="noStrike">
                <a:solidFill>
                  <a:srgbClr val="000000"/>
                </a:solidFill>
                <a:latin typeface="JetBrains Mono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JetBrains Mono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JetBrains Mono"/>
              </a:rPr>
              <a:t>	</a:t>
            </a:r>
            <a:r>
              <a:rPr b="0" lang="en-US" sz="2800" spc="-1" strike="noStrike">
                <a:solidFill>
                  <a:srgbClr val="0033b3"/>
                </a:solidFill>
                <a:latin typeface="JetBrains Mono"/>
              </a:rPr>
              <a:t>ON UPDATE CASCADE</a:t>
            </a:r>
            <a:r>
              <a:rPr b="0" lang="en-US" sz="2800" spc="-1" strike="noStrike">
                <a:solidFill>
                  <a:srgbClr val="080808"/>
                </a:solidFill>
                <a:latin typeface="JetBrains Mono"/>
              </a:rPr>
              <a:t>;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80808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80808"/>
                </a:solidFill>
                <a:latin typeface="JetBrains Mono"/>
              </a:rPr>
              <a:t>example tells PostgreSQL that if we delete row in customers with customer_id that is being used in orders table, it should automatically delete related rows in orders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80808"/>
              </a:buClr>
              <a:buFont typeface="Arial"/>
              <a:buChar char="•"/>
            </a:pPr>
            <a:r>
              <a:rPr b="0" lang="en-US" sz="2700" spc="-1" strike="noStrike">
                <a:solidFill>
                  <a:srgbClr val="080808"/>
                </a:solidFill>
                <a:latin typeface="JetBrains Mono"/>
              </a:rPr>
              <a:t>might be what we intended, but it is normally dangerous choice; usually much better to ensure applications delete rows in correct order, make sure there are no orders for customer before deleting customer entry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0BE5E88-24B1-4CAA-8B9B-56E5A74AF4FA}" type="slidenum">
              <a:t>95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usually applicable for Weak entities …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4DEFCBC-B84D-444F-9A1D-1E10C7A5B21B}" type="slidenum">
              <a:t>96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CREATE VIEW name-of-view </a:t>
            </a:r>
            <a:br>
              <a:rPr sz="4400"/>
            </a:b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AS select-statement;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E043C8C-CE72-4C61-842D-786CFB62028C}" type="slidenum">
              <a:t>97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7C0E7E1-357A-4AA8-B505-8BBBFD53B6BE}" type="slidenum">
              <a:t>98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800" spc="-1" strike="noStrike">
                <a:solidFill>
                  <a:schemeClr val="dk1"/>
                </a:solidFill>
                <a:latin typeface="Calibri Light"/>
              </a:rPr>
              <a:t>Samples</a:t>
            </a:r>
            <a:endParaRPr b="1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subTitle"/>
          </p:nvPr>
        </p:nvSpPr>
        <p:spPr>
          <a:xfrm>
            <a:off x="838080" y="18288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just">
              <a:spcAft>
                <a:spcPts val="601"/>
              </a:spcAft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Many database systems provide sample databases with the product. A good intro to popular ones that include discussion of samples available could be found on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  <a:hlinkClick r:id="rId1"/>
              </a:rPr>
              <a:t>Sample Databases - PostgreSQL wiki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  <a:hlinkClick r:id="rId2"/>
              </a:rPr>
              <a:t>https://wiki.postgresql.org/wiki/Sample_Databases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8F4BBD1-DB68-4A32-9D79-4D907E3CC8A4}" type="slidenum">
              <a:t>99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just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hlinkClick r:id="rId1"/>
              </a:rPr>
              <a:t>Wikiversity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hlinkClick r:id="rId2"/>
              </a:rPr>
              <a:t>https://www.wikiversity.org/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 is a Wikimedia Foundation project that supports learning communities, their learning materials, and resulting activities. If search there for database examples the first result will be northwind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hlinkClick r:id="rId3"/>
              </a:rPr>
              <a:t>Database Examples/Northwind - Wikiversity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algn="just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hlinkClick r:id="rId4"/>
              </a:rPr>
              <a:t>https://en.wikiversity.org/wiki/Database_Examples/Northwind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487DB41-B534-46DE-9E29-C26DA537B549}" type="slidenum">
              <a:t>100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just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Noto Sans CJK SC"/>
              </a:rPr>
              <a:t>Northwind database for Postgres could be found at</a:t>
            </a:r>
            <a:r>
              <a:rPr b="0" lang="en-US" sz="1100" spc="-1" strike="noStrike">
                <a:solidFill>
                  <a:schemeClr val="dk1"/>
                </a:solidFill>
                <a:latin typeface="Calibri"/>
                <a:ea typeface="Noto Sans CJK SC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Noto Sans CJK SC"/>
                <a:hlinkClick r:id="rId1"/>
              </a:rPr>
              <a:t>https://github.com/pthom/northwind_psql</a:t>
            </a:r>
            <a:r>
              <a:rPr b="0" lang="en-US" sz="1100" spc="-1" strike="noStrike">
                <a:solidFill>
                  <a:schemeClr val="dk1"/>
                </a:solidFill>
                <a:latin typeface="Calibri"/>
                <a:ea typeface="Noto Sans CJK SC"/>
              </a:rPr>
              <a:t>.</a:t>
            </a:r>
            <a:endParaRPr b="0" lang="en-US" sz="11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DataBase with PostgreSQL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BEB690A-F3F2-4BB8-8BD4-E8A71241FE3A}" type="slidenum">
              <a:t>101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BCB035F6A4924FAB4D0AF17A7740BA" ma:contentTypeVersion="2" ma:contentTypeDescription="Create a new document." ma:contentTypeScope="" ma:versionID="51cfe8286ea8c87a0832a25babf95ca7">
  <xsd:schema xmlns:xsd="http://www.w3.org/2001/XMLSchema" xmlns:xs="http://www.w3.org/2001/XMLSchema" xmlns:p="http://schemas.microsoft.com/office/2006/metadata/properties" xmlns:ns2="4cf17023-5a66-4a35-8e2d-e27f76ae3781" targetNamespace="http://schemas.microsoft.com/office/2006/metadata/properties" ma:root="true" ma:fieldsID="4dc61c72fef6f8bc85be3af2e80721e0" ns2:_="">
    <xsd:import namespace="4cf17023-5a66-4a35-8e2d-e27f76ae37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f17023-5a66-4a35-8e2d-e27f76ae37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D1F13D339BA04089B6530E3063BBB0" ma:contentTypeVersion="3" ma:contentTypeDescription="Create a new document." ma:contentTypeScope="" ma:versionID="53edffdedc90a5cc23417a2d239f45a4">
  <xsd:schema xmlns:xsd="http://www.w3.org/2001/XMLSchema" xmlns:xs="http://www.w3.org/2001/XMLSchema" xmlns:p="http://schemas.microsoft.com/office/2006/metadata/properties" xmlns:ns2="a1338ef3-f957-4fbb-b33a-3b606fe126b3" targetNamespace="http://schemas.microsoft.com/office/2006/metadata/properties" ma:root="true" ma:fieldsID="9f407ff9521a5dcbcc967750435157a3" ns2:_="">
    <xsd:import namespace="a1338ef3-f957-4fbb-b33a-3b606fe126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38ef3-f957-4fbb-b33a-3b606fe126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FD5B4DF-17EC-43B9-98B8-B308922DD0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f17023-5a66-4a35-8e2d-e27f76ae37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A54FFE-5E8B-4E9C-99EA-714907EC7F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8BF8D4-D863-4E50-BA6A-34888A9F0E7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BF792EC2-F1B3-4239-9664-6F09E5AC48C7}"/>
</file>

<file path=customXml/itemProps5.xml><?xml version="1.0" encoding="utf-8"?>
<ds:datastoreItem xmlns:ds="http://schemas.openxmlformats.org/officeDocument/2006/customXml" ds:itemID="{6F95FD58-4265-4274-A483-BFEC0A02EAB7}"/>
</file>

<file path=customXml/itemProps6.xml><?xml version="1.0" encoding="utf-8"?>
<ds:datastoreItem xmlns:ds="http://schemas.openxmlformats.org/officeDocument/2006/customXml" ds:itemID="{941756F2-C4CB-43FD-95FA-8409DA48C62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1534</TotalTime>
  <Application>LibreOffice/24.2.7.2$Linux_X86_64 LibreOffice_project/420$Build-2</Application>
  <AppVersion>15.0000</AppVersion>
  <Words>5045</Words>
  <Paragraphs>731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with PostgreSQL</dc:title>
  <dc:subject/>
  <dc:creator>Calin Cenan</dc:creator>
  <dc:description/>
  <cp:lastModifiedBy/>
  <cp:revision>84</cp:revision>
  <dcterms:created xsi:type="dcterms:W3CDTF">2021-01-09T16:08:19Z</dcterms:created>
  <dcterms:modified xsi:type="dcterms:W3CDTF">2025-11-03T16:58:37Z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0x01010042D1F13D339BA04089B6530E3063BBB0</vt:lpwstr>
  </property>
  <property fmtid="{D5CDD505-2E9C-101B-9397-08002B2CF9AE}" pid="3" name="MSIP_Label_5b58b62f-6f94-46bd-8089-18e64b0a9abb_ActionId">
    <vt:lpwstr>e50ec3d3-af3b-4635-bffd-235a209df665</vt:lpwstr>
  </property>
  <property fmtid="{D5CDD505-2E9C-101B-9397-08002B2CF9AE}" pid="4" name="MSIP_Label_5b58b62f-6f94-46bd-8089-18e64b0a9abb_ContentBits">
    <vt:lpwstr>0</vt:lpwstr>
  </property>
  <property fmtid="{D5CDD505-2E9C-101B-9397-08002B2CF9AE}" pid="5" name="MSIP_Label_5b58b62f-6f94-46bd-8089-18e64b0a9abb_Enabled">
    <vt:lpwstr>true</vt:lpwstr>
  </property>
  <property fmtid="{D5CDD505-2E9C-101B-9397-08002B2CF9AE}" pid="6" name="MSIP_Label_5b58b62f-6f94-46bd-8089-18e64b0a9abb_Method">
    <vt:lpwstr>Standard</vt:lpwstr>
  </property>
  <property fmtid="{D5CDD505-2E9C-101B-9397-08002B2CF9AE}" pid="7" name="MSIP_Label_5b58b62f-6f94-46bd-8089-18e64b0a9abb_Name">
    <vt:lpwstr>defa4170-0d19-0005-0004-bc88714345d2</vt:lpwstr>
  </property>
  <property fmtid="{D5CDD505-2E9C-101B-9397-08002B2CF9AE}" pid="8" name="MSIP_Label_5b58b62f-6f94-46bd-8089-18e64b0a9abb_SetDate">
    <vt:lpwstr>2023-11-06T09:28:51Z</vt:lpwstr>
  </property>
  <property fmtid="{D5CDD505-2E9C-101B-9397-08002B2CF9AE}" pid="9" name="MSIP_Label_5b58b62f-6f94-46bd-8089-18e64b0a9abb_SiteId">
    <vt:lpwstr>a6eb79fa-c4a9-4cce-818d-b85274d15305</vt:lpwstr>
  </property>
  <property fmtid="{D5CDD505-2E9C-101B-9397-08002B2CF9AE}" pid="10" name="PresentationFormat">
    <vt:lpwstr>Widescreen</vt:lpwstr>
  </property>
  <property fmtid="{D5CDD505-2E9C-101B-9397-08002B2CF9AE}" pid="11" name="Slides">
    <vt:i4>129</vt:i4>
  </property>
</Properties>
</file>