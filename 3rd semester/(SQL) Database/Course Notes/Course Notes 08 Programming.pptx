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56" r:id="rId2"/>
    <p:sldId id="391" r:id="rId3"/>
    <p:sldId id="393" r:id="rId4"/>
    <p:sldId id="394" r:id="rId5"/>
    <p:sldId id="392" r:id="rId6"/>
    <p:sldId id="395" r:id="rId7"/>
    <p:sldId id="396" r:id="rId8"/>
    <p:sldId id="398" r:id="rId9"/>
    <p:sldId id="401" r:id="rId10"/>
    <p:sldId id="399" r:id="rId11"/>
    <p:sldId id="402" r:id="rId12"/>
    <p:sldId id="403" r:id="rId13"/>
    <p:sldId id="404" r:id="rId14"/>
    <p:sldId id="405" r:id="rId15"/>
    <p:sldId id="406" r:id="rId16"/>
    <p:sldId id="407" r:id="rId17"/>
    <p:sldId id="421" r:id="rId18"/>
    <p:sldId id="408" r:id="rId19"/>
    <p:sldId id="409" r:id="rId20"/>
    <p:sldId id="411" r:id="rId21"/>
    <p:sldId id="410" r:id="rId22"/>
    <p:sldId id="412" r:id="rId23"/>
    <p:sldId id="413" r:id="rId24"/>
    <p:sldId id="416" r:id="rId25"/>
    <p:sldId id="414" r:id="rId26"/>
    <p:sldId id="415" r:id="rId27"/>
    <p:sldId id="417" r:id="rId28"/>
    <p:sldId id="418" r:id="rId29"/>
    <p:sldId id="419" r:id="rId30"/>
    <p:sldId id="420" r:id="rId31"/>
    <p:sldId id="422" r:id="rId32"/>
    <p:sldId id="424" r:id="rId33"/>
    <p:sldId id="423" r:id="rId34"/>
    <p:sldId id="425" r:id="rId35"/>
    <p:sldId id="426" r:id="rId36"/>
    <p:sldId id="427" r:id="rId37"/>
    <p:sldId id="428" r:id="rId38"/>
    <p:sldId id="429" r:id="rId39"/>
    <p:sldId id="430" r:id="rId40"/>
    <p:sldId id="431" r:id="rId41"/>
    <p:sldId id="432" r:id="rId42"/>
    <p:sldId id="433" r:id="rId43"/>
    <p:sldId id="434" r:id="rId44"/>
    <p:sldId id="435" r:id="rId45"/>
    <p:sldId id="436" r:id="rId46"/>
    <p:sldId id="437" r:id="rId47"/>
    <p:sldId id="439" r:id="rId48"/>
    <p:sldId id="438" r:id="rId49"/>
    <p:sldId id="440" r:id="rId50"/>
    <p:sldId id="441" r:id="rId51"/>
    <p:sldId id="442" r:id="rId52"/>
    <p:sldId id="443" r:id="rId53"/>
    <p:sldId id="444" r:id="rId54"/>
    <p:sldId id="447" r:id="rId55"/>
    <p:sldId id="445" r:id="rId56"/>
    <p:sldId id="446" r:id="rId57"/>
    <p:sldId id="448" r:id="rId58"/>
    <p:sldId id="449" r:id="rId59"/>
    <p:sldId id="450" r:id="rId60"/>
    <p:sldId id="451" r:id="rId61"/>
    <p:sldId id="452" r:id="rId62"/>
    <p:sldId id="456" r:id="rId63"/>
    <p:sldId id="453" r:id="rId64"/>
    <p:sldId id="457" r:id="rId65"/>
    <p:sldId id="455" r:id="rId66"/>
    <p:sldId id="459" r:id="rId67"/>
    <p:sldId id="458" r:id="rId68"/>
    <p:sldId id="460" r:id="rId69"/>
    <p:sldId id="461" r:id="rId70"/>
    <p:sldId id="462" r:id="rId71"/>
    <p:sldId id="463" r:id="rId72"/>
    <p:sldId id="464" r:id="rId73"/>
    <p:sldId id="465" r:id="rId74"/>
    <p:sldId id="466" r:id="rId75"/>
    <p:sldId id="467" r:id="rId76"/>
    <p:sldId id="468" r:id="rId77"/>
    <p:sldId id="469" r:id="rId78"/>
    <p:sldId id="471" r:id="rId79"/>
    <p:sldId id="470" r:id="rId80"/>
    <p:sldId id="472" r:id="rId81"/>
    <p:sldId id="473" r:id="rId82"/>
    <p:sldId id="474" r:id="rId83"/>
    <p:sldId id="475"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ustomXml" Target="../customXml/item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3.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9/20/2025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9/20/2025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9/20/2025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9/20/2025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9/20/2025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9/20/2025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9/20/2025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9/20/2025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9/20/2025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9/20/2025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9/20/2025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9/20/2025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9/20/2025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ebsinu.utcluj.r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12EF6-520E-D21B-D71D-7758CB548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C78AD-A182-8472-7962-185D2CB90C29}"/>
              </a:ext>
            </a:extLst>
          </p:cNvPr>
          <p:cNvSpPr>
            <a:spLocks noGrp="1"/>
          </p:cNvSpPr>
          <p:nvPr>
            <p:ph type="ctrTitle"/>
          </p:nvPr>
        </p:nvSpPr>
        <p:spPr/>
        <p:txBody>
          <a:bodyPr/>
          <a:lstStyle/>
          <a:p>
            <a:r>
              <a:rPr lang="en-US" b="1" dirty="0" err="1"/>
              <a:t>DataBase</a:t>
            </a:r>
            <a:r>
              <a:rPr lang="en-US" b="1" dirty="0"/>
              <a:t> Programming</a:t>
            </a:r>
            <a:endParaRPr lang="en-US" dirty="0"/>
          </a:p>
        </p:txBody>
      </p:sp>
      <p:sp>
        <p:nvSpPr>
          <p:cNvPr id="3" name="Subtitle 2">
            <a:extLst>
              <a:ext uri="{FF2B5EF4-FFF2-40B4-BE49-F238E27FC236}">
                <a16:creationId xmlns:a16="http://schemas.microsoft.com/office/drawing/2014/main" id="{56E6C5CE-4600-67F6-DDFE-487B5680D946}"/>
              </a:ext>
            </a:extLst>
          </p:cNvPr>
          <p:cNvSpPr>
            <a:spLocks noGrp="1"/>
          </p:cNvSpPr>
          <p:nvPr>
            <p:ph type="subTitle" idx="1"/>
          </p:nvPr>
        </p:nvSpPr>
        <p:spPr/>
        <p:txBody>
          <a:bodyPr>
            <a:normAutofit/>
          </a:bodyPr>
          <a:lstStyle/>
          <a:p>
            <a:r>
              <a:rPr lang="en-US" sz="3200" dirty="0"/>
              <a:t>methods that have been developed</a:t>
            </a:r>
          </a:p>
          <a:p>
            <a:r>
              <a:rPr lang="en-US" sz="3200" dirty="0"/>
              <a:t>for accessing databases from programs</a:t>
            </a:r>
            <a:endParaRPr lang="en-US" sz="4400" dirty="0"/>
          </a:p>
        </p:txBody>
      </p:sp>
      <p:sp>
        <p:nvSpPr>
          <p:cNvPr id="4" name="Slide Number Placeholder 3">
            <a:extLst>
              <a:ext uri="{FF2B5EF4-FFF2-40B4-BE49-F238E27FC236}">
                <a16:creationId xmlns:a16="http://schemas.microsoft.com/office/drawing/2014/main" id="{B531E3A4-BEB6-64D4-2DD7-CEF077D13C87}"/>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239229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76DA-B6A0-7926-2A09-681FA4DA42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2A7E4A-5480-5492-9F0E-278B8C2A3645}"/>
              </a:ext>
            </a:extLst>
          </p:cNvPr>
          <p:cNvSpPr>
            <a:spLocks noGrp="1"/>
          </p:cNvSpPr>
          <p:nvPr>
            <p:ph idx="1"/>
          </p:nvPr>
        </p:nvSpPr>
        <p:spPr/>
        <p:txBody>
          <a:bodyPr>
            <a:noAutofit/>
          </a:bodyPr>
          <a:lstStyle/>
          <a:p>
            <a:r>
              <a:rPr lang="en-US" dirty="0"/>
              <a:t>software usually developed in a general-purpose programming language such as Java, C/C++/C#, COBOL (historically), or some other programming language; scripting languages, such as PHP, Python, and JavaScript, are also being used for programming of database access within Web applications</a:t>
            </a:r>
          </a:p>
          <a:p>
            <a:r>
              <a:rPr lang="en-US" dirty="0"/>
              <a:t>how databases can be accessed from the traditional programming languages C/C++ and Java and PHP, …</a:t>
            </a:r>
          </a:p>
          <a:p>
            <a:r>
              <a:rPr lang="en-US" dirty="0"/>
              <a:t>when database statements are included in a program, the general-purpose programming language is called the </a:t>
            </a:r>
            <a:r>
              <a:rPr lang="en-US" i="1" dirty="0"/>
              <a:t>host language</a:t>
            </a:r>
            <a:r>
              <a:rPr lang="en-US" dirty="0"/>
              <a:t>, whereas the database language, SQL,  is called the </a:t>
            </a:r>
            <a:r>
              <a:rPr lang="en-US" i="1" dirty="0"/>
              <a:t>data sublanguage</a:t>
            </a:r>
            <a:endParaRPr lang="en-US" dirty="0"/>
          </a:p>
        </p:txBody>
      </p:sp>
      <p:sp>
        <p:nvSpPr>
          <p:cNvPr id="4" name="Slide Number Placeholder 3">
            <a:extLst>
              <a:ext uri="{FF2B5EF4-FFF2-40B4-BE49-F238E27FC236}">
                <a16:creationId xmlns:a16="http://schemas.microsoft.com/office/drawing/2014/main" id="{964DE9FD-58D6-BAFC-1496-5074D3E113A1}"/>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4118478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E1FC0-5412-D7ED-9F50-B210E1E074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2DDA6B-D0AA-4103-634A-01FD6ED704DF}"/>
              </a:ext>
            </a:extLst>
          </p:cNvPr>
          <p:cNvSpPr>
            <a:spLocks noGrp="1"/>
          </p:cNvSpPr>
          <p:nvPr>
            <p:ph idx="1"/>
          </p:nvPr>
        </p:nvSpPr>
        <p:spPr/>
        <p:txBody>
          <a:bodyPr>
            <a:normAutofit/>
          </a:bodyPr>
          <a:lstStyle/>
          <a:p>
            <a:r>
              <a:rPr lang="en-US" dirty="0"/>
              <a:t>in special cases, special </a:t>
            </a:r>
            <a:r>
              <a:rPr lang="en-US" i="1" dirty="0"/>
              <a:t>database programming languages </a:t>
            </a:r>
            <a:r>
              <a:rPr lang="en-US" dirty="0"/>
              <a:t>are developed specifically for writing database applications: Oracle’s PL/SQL, Transact-SQL (T-SQL) Microsoft's SQL Server, </a:t>
            </a:r>
            <a:r>
              <a:rPr lang="en-US" dirty="0" err="1"/>
              <a:t>PostGreSQL</a:t>
            </a:r>
            <a:r>
              <a:rPr lang="en-US" dirty="0"/>
              <a:t> Procedural Language/PostgreSQL (PL/</a:t>
            </a:r>
            <a:r>
              <a:rPr lang="en-US" dirty="0" err="1"/>
              <a:t>pgSQL</a:t>
            </a:r>
            <a:r>
              <a:rPr lang="en-US" dirty="0"/>
              <a:t>)</a:t>
            </a:r>
          </a:p>
        </p:txBody>
      </p:sp>
      <p:sp>
        <p:nvSpPr>
          <p:cNvPr id="4" name="Slide Number Placeholder 3">
            <a:extLst>
              <a:ext uri="{FF2B5EF4-FFF2-40B4-BE49-F238E27FC236}">
                <a16:creationId xmlns:a16="http://schemas.microsoft.com/office/drawing/2014/main" id="{455CA6C3-C12E-738E-BE51-C108057060EF}"/>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1954792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74DF2-2917-300D-497E-F90646405DD1}"/>
              </a:ext>
            </a:extLst>
          </p:cNvPr>
          <p:cNvSpPr>
            <a:spLocks noGrp="1"/>
          </p:cNvSpPr>
          <p:nvPr>
            <p:ph type="title"/>
          </p:nvPr>
        </p:nvSpPr>
        <p:spPr/>
        <p:txBody>
          <a:bodyPr/>
          <a:lstStyle/>
          <a:p>
            <a:r>
              <a:rPr lang="en-US" dirty="0"/>
              <a:t>Database Programming Techniques</a:t>
            </a:r>
            <a:br>
              <a:rPr lang="en-US" dirty="0"/>
            </a:br>
            <a:r>
              <a:rPr lang="en-US" dirty="0"/>
              <a:t>	and Issues</a:t>
            </a:r>
          </a:p>
        </p:txBody>
      </p:sp>
      <p:sp>
        <p:nvSpPr>
          <p:cNvPr id="3" name="Content Placeholder 2">
            <a:extLst>
              <a:ext uri="{FF2B5EF4-FFF2-40B4-BE49-F238E27FC236}">
                <a16:creationId xmlns:a16="http://schemas.microsoft.com/office/drawing/2014/main" id="{62EF42A3-9325-FC09-20BA-515712A3977C}"/>
              </a:ext>
            </a:extLst>
          </p:cNvPr>
          <p:cNvSpPr>
            <a:spLocks noGrp="1"/>
          </p:cNvSpPr>
          <p:nvPr>
            <p:ph idx="1"/>
          </p:nvPr>
        </p:nvSpPr>
        <p:spPr>
          <a:xfrm>
            <a:off x="838200" y="1815793"/>
            <a:ext cx="10515600" cy="4351338"/>
          </a:xfrm>
        </p:spPr>
        <p:txBody>
          <a:bodyPr>
            <a:normAutofit/>
          </a:bodyPr>
          <a:lstStyle/>
          <a:p>
            <a:r>
              <a:rPr lang="en-US" dirty="0"/>
              <a:t>relational database systems have interactive interface / database front-end tool where SQL commands can be typed directly into a monitor for execution by database system</a:t>
            </a:r>
          </a:p>
          <a:p>
            <a:r>
              <a:rPr lang="en-US" dirty="0"/>
              <a:t>alternatively, a file of commands / script can be created and executed through the interactive interface - system will execute commands written in file and display results</a:t>
            </a:r>
          </a:p>
        </p:txBody>
      </p:sp>
      <p:sp>
        <p:nvSpPr>
          <p:cNvPr id="4" name="Slide Number Placeholder 3">
            <a:extLst>
              <a:ext uri="{FF2B5EF4-FFF2-40B4-BE49-F238E27FC236}">
                <a16:creationId xmlns:a16="http://schemas.microsoft.com/office/drawing/2014/main" id="{637B3DB8-AC16-6732-5223-2EDBF6980E63}"/>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30894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5567-EDBD-188F-9F8A-CF7FB3FB6CA8}"/>
              </a:ext>
            </a:extLst>
          </p:cNvPr>
          <p:cNvSpPr>
            <a:spLocks noGrp="1"/>
          </p:cNvSpPr>
          <p:nvPr>
            <p:ph type="title"/>
          </p:nvPr>
        </p:nvSpPr>
        <p:spPr/>
        <p:txBody>
          <a:bodyPr/>
          <a:lstStyle/>
          <a:p>
            <a:r>
              <a:rPr lang="en-US" dirty="0"/>
              <a:t>Database Programming Techniques</a:t>
            </a:r>
            <a:br>
              <a:rPr lang="en-US" dirty="0"/>
            </a:br>
            <a:r>
              <a:rPr lang="en-US" dirty="0"/>
              <a:t>	and Issues</a:t>
            </a:r>
          </a:p>
        </p:txBody>
      </p:sp>
      <p:sp>
        <p:nvSpPr>
          <p:cNvPr id="3" name="Content Placeholder 2">
            <a:extLst>
              <a:ext uri="{FF2B5EF4-FFF2-40B4-BE49-F238E27FC236}">
                <a16:creationId xmlns:a16="http://schemas.microsoft.com/office/drawing/2014/main" id="{6B4B9278-1569-55AD-E3F8-FC371BC4FABB}"/>
              </a:ext>
            </a:extLst>
          </p:cNvPr>
          <p:cNvSpPr>
            <a:spLocks noGrp="1"/>
          </p:cNvSpPr>
          <p:nvPr>
            <p:ph idx="1"/>
          </p:nvPr>
        </p:nvSpPr>
        <p:spPr/>
        <p:txBody>
          <a:bodyPr>
            <a:normAutofit/>
          </a:bodyPr>
          <a:lstStyle/>
          <a:p>
            <a:r>
              <a:rPr lang="en-US" dirty="0"/>
              <a:t>large part of database interactions are executed through programs, generally known as </a:t>
            </a:r>
            <a:r>
              <a:rPr lang="en-US" b="1" dirty="0"/>
              <a:t>application programs </a:t>
            </a:r>
            <a:r>
              <a:rPr lang="en-US" dirty="0"/>
              <a:t>or </a:t>
            </a:r>
            <a:r>
              <a:rPr lang="en-US" b="1" dirty="0"/>
              <a:t>database applications</a:t>
            </a:r>
            <a:r>
              <a:rPr lang="en-US" dirty="0"/>
              <a:t>, and are used as canned transactions</a:t>
            </a:r>
            <a:r>
              <a:rPr lang="en-US" i="1" dirty="0"/>
              <a:t> </a:t>
            </a:r>
            <a:r>
              <a:rPr lang="en-US" dirty="0"/>
              <a:t>by end users (SINU Secretariat)</a:t>
            </a:r>
          </a:p>
          <a:p>
            <a:r>
              <a:rPr lang="en-US" dirty="0"/>
              <a:t>through application program that implements a </a:t>
            </a:r>
            <a:r>
              <a:rPr lang="en-US" b="1" dirty="0"/>
              <a:t>Web interface</a:t>
            </a:r>
            <a:r>
              <a:rPr lang="en-US" dirty="0"/>
              <a:t>, (</a:t>
            </a:r>
            <a:r>
              <a:rPr lang="en-US" dirty="0">
                <a:hlinkClick r:id="rId2"/>
              </a:rPr>
              <a:t>https://WebSINU.utcluj.ro/</a:t>
            </a:r>
            <a:r>
              <a:rPr lang="en-US" dirty="0"/>
              <a:t>)</a:t>
            </a:r>
          </a:p>
          <a:p>
            <a:r>
              <a:rPr lang="en-US" dirty="0"/>
              <a:t>majority of Web applications include some database access commands</a:t>
            </a:r>
          </a:p>
        </p:txBody>
      </p:sp>
      <p:sp>
        <p:nvSpPr>
          <p:cNvPr id="4" name="Slide Number Placeholder 3">
            <a:extLst>
              <a:ext uri="{FF2B5EF4-FFF2-40B4-BE49-F238E27FC236}">
                <a16:creationId xmlns:a16="http://schemas.microsoft.com/office/drawing/2014/main" id="{75D8F5D2-1F53-B158-3F70-60FBDF28D5B7}"/>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205319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D48E-36AE-A09A-E742-AE281966353B}"/>
              </a:ext>
            </a:extLst>
          </p:cNvPr>
          <p:cNvSpPr>
            <a:spLocks noGrp="1"/>
          </p:cNvSpPr>
          <p:nvPr>
            <p:ph type="title"/>
          </p:nvPr>
        </p:nvSpPr>
        <p:spPr/>
        <p:txBody>
          <a:bodyPr/>
          <a:lstStyle/>
          <a:p>
            <a:r>
              <a:rPr lang="en-US" dirty="0"/>
              <a:t>Approaches to Database Programming</a:t>
            </a:r>
          </a:p>
        </p:txBody>
      </p:sp>
      <p:sp>
        <p:nvSpPr>
          <p:cNvPr id="3" name="Content Placeholder 2">
            <a:extLst>
              <a:ext uri="{FF2B5EF4-FFF2-40B4-BE49-F238E27FC236}">
                <a16:creationId xmlns:a16="http://schemas.microsoft.com/office/drawing/2014/main" id="{38F6129E-DD79-ACAC-12DC-3EF9920D1676}"/>
              </a:ext>
            </a:extLst>
          </p:cNvPr>
          <p:cNvSpPr>
            <a:spLocks noGrp="1"/>
          </p:cNvSpPr>
          <p:nvPr>
            <p:ph idx="1"/>
          </p:nvPr>
        </p:nvSpPr>
        <p:spPr/>
        <p:txBody>
          <a:bodyPr>
            <a:noAutofit/>
          </a:bodyPr>
          <a:lstStyle/>
          <a:p>
            <a:pPr marL="514350" indent="-514350">
              <a:buFont typeface="+mj-lt"/>
              <a:buAutoNum type="arabicPeriod"/>
            </a:pPr>
            <a:r>
              <a:rPr lang="en-US" dirty="0"/>
              <a:t>embedding database commands in a general-purpose programming language; database statements are embedded into host programming language</a:t>
            </a:r>
          </a:p>
          <a:p>
            <a:pPr lvl="1"/>
            <a:r>
              <a:rPr lang="en-US" sz="2800" dirty="0"/>
              <a:t>but they are identified by a special prefix</a:t>
            </a:r>
          </a:p>
          <a:p>
            <a:pPr lvl="1"/>
            <a:r>
              <a:rPr lang="en-US" sz="2800" dirty="0"/>
              <a:t>for example, the prefix for embedded SQL is EXEC SQL, which precedes all SQL commands in a host language program</a:t>
            </a:r>
          </a:p>
          <a:p>
            <a:pPr lvl="1"/>
            <a:r>
              <a:rPr lang="en-US" sz="2800" dirty="0" err="1"/>
              <a:t>precompiler</a:t>
            </a:r>
            <a:r>
              <a:rPr lang="en-US" sz="2800" dirty="0"/>
              <a:t> or </a:t>
            </a:r>
            <a:r>
              <a:rPr lang="en-US" sz="2800" dirty="0" err="1"/>
              <a:t>preproccessor</a:t>
            </a:r>
            <a:r>
              <a:rPr lang="en-US" sz="2800" dirty="0"/>
              <a:t> scans source program code to identify database statements and extract them for processing by RDBMS</a:t>
            </a:r>
          </a:p>
          <a:p>
            <a:pPr lvl="1"/>
            <a:r>
              <a:rPr lang="en-US" sz="2800" dirty="0"/>
              <a:t>replaced in program by function calls to RDBMS-generated code</a:t>
            </a:r>
          </a:p>
          <a:p>
            <a:pPr lvl="1"/>
            <a:r>
              <a:rPr lang="en-US" sz="2800" dirty="0"/>
              <a:t>technique is generally referred to as </a:t>
            </a:r>
            <a:r>
              <a:rPr lang="en-US" sz="2800" b="1" dirty="0"/>
              <a:t>embedded SQL</a:t>
            </a:r>
            <a:r>
              <a:rPr lang="en-US" sz="2800" dirty="0"/>
              <a:t>.</a:t>
            </a:r>
          </a:p>
        </p:txBody>
      </p:sp>
      <p:sp>
        <p:nvSpPr>
          <p:cNvPr id="4" name="Slide Number Placeholder 3">
            <a:extLst>
              <a:ext uri="{FF2B5EF4-FFF2-40B4-BE49-F238E27FC236}">
                <a16:creationId xmlns:a16="http://schemas.microsoft.com/office/drawing/2014/main" id="{B1225B41-D105-1C16-9171-5EA61030BE81}"/>
              </a:ext>
            </a:extLst>
          </p:cNvPr>
          <p:cNvSpPr>
            <a:spLocks noGrp="1"/>
          </p:cNvSpPr>
          <p:nvPr>
            <p:ph type="sldNum" sz="quarter" idx="12"/>
          </p:nvPr>
        </p:nvSpPr>
        <p:spPr/>
        <p:txBody>
          <a:bodyPr/>
          <a:lstStyle/>
          <a:p>
            <a:fld id="{6264BDCF-5269-49AC-A246-ED26C2B980E3}" type="slidenum">
              <a:rPr lang="en-US" smtClean="0"/>
              <a:t>7</a:t>
            </a:fld>
            <a:endParaRPr lang="en-US"/>
          </a:p>
        </p:txBody>
      </p:sp>
    </p:spTree>
    <p:extLst>
      <p:ext uri="{BB962C8B-B14F-4D97-AF65-F5344CB8AC3E}">
        <p14:creationId xmlns:p14="http://schemas.microsoft.com/office/powerpoint/2010/main" val="862537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869F4-C7D0-17CF-40DB-0A167FA61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EADAA-8B04-C482-5CC3-04025C537318}"/>
              </a:ext>
            </a:extLst>
          </p:cNvPr>
          <p:cNvSpPr>
            <a:spLocks noGrp="1"/>
          </p:cNvSpPr>
          <p:nvPr>
            <p:ph type="title"/>
          </p:nvPr>
        </p:nvSpPr>
        <p:spPr/>
        <p:txBody>
          <a:bodyPr/>
          <a:lstStyle/>
          <a:p>
            <a:r>
              <a:rPr lang="en-US" dirty="0"/>
              <a:t>Approaches to Database Programming</a:t>
            </a:r>
          </a:p>
        </p:txBody>
      </p:sp>
      <p:sp>
        <p:nvSpPr>
          <p:cNvPr id="3" name="Content Placeholder 2">
            <a:extLst>
              <a:ext uri="{FF2B5EF4-FFF2-40B4-BE49-F238E27FC236}">
                <a16:creationId xmlns:a16="http://schemas.microsoft.com/office/drawing/2014/main" id="{75836363-45B4-D47B-48C5-307F3A98C27B}"/>
              </a:ext>
            </a:extLst>
          </p:cNvPr>
          <p:cNvSpPr>
            <a:spLocks noGrp="1"/>
          </p:cNvSpPr>
          <p:nvPr>
            <p:ph idx="1"/>
          </p:nvPr>
        </p:nvSpPr>
        <p:spPr>
          <a:xfrm>
            <a:off x="838199" y="1825625"/>
            <a:ext cx="11068665" cy="4351338"/>
          </a:xfrm>
        </p:spPr>
        <p:txBody>
          <a:bodyPr>
            <a:noAutofit/>
          </a:bodyPr>
          <a:lstStyle/>
          <a:p>
            <a:pPr marL="514350" indent="-514350">
              <a:buFont typeface="+mj-lt"/>
              <a:buAutoNum type="arabicPeriod" startAt="2"/>
            </a:pPr>
            <a:r>
              <a:rPr lang="en-US" dirty="0"/>
              <a:t>using a library of database functions or classes</a:t>
            </a:r>
          </a:p>
          <a:p>
            <a:pPr lvl="1"/>
            <a:r>
              <a:rPr lang="en-US" sz="2800" dirty="0"/>
              <a:t>made available to host programming language for database calls</a:t>
            </a:r>
          </a:p>
          <a:p>
            <a:pPr lvl="1"/>
            <a:r>
              <a:rPr lang="en-US" sz="2800" dirty="0"/>
              <a:t>functions to connect to database, prepare query, execute query, execute update, loop over query result </a:t>
            </a:r>
          </a:p>
          <a:p>
            <a:pPr lvl="2"/>
            <a:r>
              <a:rPr lang="en-US" sz="2700" dirty="0"/>
              <a:t>actual database query and update commands and any other necessary information are included as parameters in the function calls</a:t>
            </a:r>
          </a:p>
          <a:p>
            <a:pPr lvl="1"/>
            <a:r>
              <a:rPr lang="en-US" sz="2800" dirty="0"/>
              <a:t>approach provides what is known as </a:t>
            </a:r>
            <a:r>
              <a:rPr lang="en-US" sz="2800" b="1" dirty="0"/>
              <a:t>application programming interface </a:t>
            </a:r>
            <a:r>
              <a:rPr lang="en-US" sz="2800" dirty="0"/>
              <a:t>(</a:t>
            </a:r>
            <a:r>
              <a:rPr lang="en-US" sz="2800" b="1" dirty="0"/>
              <a:t>API</a:t>
            </a:r>
            <a:r>
              <a:rPr lang="en-US" sz="2800" dirty="0"/>
              <a:t>) for accessing a database from application programs</a:t>
            </a:r>
          </a:p>
        </p:txBody>
      </p:sp>
      <p:sp>
        <p:nvSpPr>
          <p:cNvPr id="4" name="Slide Number Placeholder 3">
            <a:extLst>
              <a:ext uri="{FF2B5EF4-FFF2-40B4-BE49-F238E27FC236}">
                <a16:creationId xmlns:a16="http://schemas.microsoft.com/office/drawing/2014/main" id="{0A659E71-8EDA-B285-927E-C81BEDB13D3A}"/>
              </a:ext>
            </a:extLst>
          </p:cNvPr>
          <p:cNvSpPr>
            <a:spLocks noGrp="1"/>
          </p:cNvSpPr>
          <p:nvPr>
            <p:ph type="sldNum" sz="quarter" idx="12"/>
          </p:nvPr>
        </p:nvSpPr>
        <p:spPr/>
        <p:txBody>
          <a:bodyPr/>
          <a:lstStyle/>
          <a:p>
            <a:fld id="{6264BDCF-5269-49AC-A246-ED26C2B980E3}" type="slidenum">
              <a:rPr lang="en-US" smtClean="0"/>
              <a:t>8</a:t>
            </a:fld>
            <a:endParaRPr lang="en-US"/>
          </a:p>
        </p:txBody>
      </p:sp>
    </p:spTree>
    <p:extLst>
      <p:ext uri="{BB962C8B-B14F-4D97-AF65-F5344CB8AC3E}">
        <p14:creationId xmlns:p14="http://schemas.microsoft.com/office/powerpoint/2010/main" val="1005656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86AC-0203-7054-6E5F-F8D6DB739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FFFF8-8721-E583-0539-A709F4E238D3}"/>
              </a:ext>
            </a:extLst>
          </p:cNvPr>
          <p:cNvSpPr>
            <a:spLocks noGrp="1"/>
          </p:cNvSpPr>
          <p:nvPr>
            <p:ph type="title"/>
          </p:nvPr>
        </p:nvSpPr>
        <p:spPr/>
        <p:txBody>
          <a:bodyPr/>
          <a:lstStyle/>
          <a:p>
            <a:r>
              <a:rPr lang="en-US" dirty="0"/>
              <a:t>Approaches to Database Programming</a:t>
            </a:r>
          </a:p>
        </p:txBody>
      </p:sp>
      <p:sp>
        <p:nvSpPr>
          <p:cNvPr id="3" name="Content Placeholder 2">
            <a:extLst>
              <a:ext uri="{FF2B5EF4-FFF2-40B4-BE49-F238E27FC236}">
                <a16:creationId xmlns:a16="http://schemas.microsoft.com/office/drawing/2014/main" id="{F616A12E-8B91-420F-F432-32D6813F943E}"/>
              </a:ext>
            </a:extLst>
          </p:cNvPr>
          <p:cNvSpPr>
            <a:spLocks noGrp="1"/>
          </p:cNvSpPr>
          <p:nvPr>
            <p:ph idx="1"/>
          </p:nvPr>
        </p:nvSpPr>
        <p:spPr/>
        <p:txBody>
          <a:bodyPr>
            <a:noAutofit/>
          </a:bodyPr>
          <a:lstStyle/>
          <a:p>
            <a:pPr marL="514350" indent="-514350">
              <a:buFont typeface="+mj-lt"/>
              <a:buAutoNum type="arabicPeriod" startAt="2"/>
            </a:pPr>
            <a:r>
              <a:rPr lang="en-US" dirty="0"/>
              <a:t>using a library of database functions or classes</a:t>
            </a:r>
          </a:p>
          <a:p>
            <a:pPr lvl="1"/>
            <a:r>
              <a:rPr lang="en-US" sz="2800" dirty="0"/>
              <a:t>in object-oriented programming languages a class library</a:t>
            </a:r>
            <a:r>
              <a:rPr lang="en-US" sz="2800" b="1" dirty="0"/>
              <a:t> </a:t>
            </a:r>
            <a:r>
              <a:rPr lang="en-US" sz="2800" dirty="0"/>
              <a:t>is used</a:t>
            </a:r>
          </a:p>
          <a:p>
            <a:pPr lvl="1"/>
            <a:r>
              <a:rPr lang="en-US" sz="2800" dirty="0"/>
              <a:t>for example, Java has the JDBC class library, which can generate various types of objects such as connection objects to particular database, query objects, and query result objects; each type of object has a set of operations associated with the class corresponding to the object.</a:t>
            </a:r>
          </a:p>
        </p:txBody>
      </p:sp>
      <p:sp>
        <p:nvSpPr>
          <p:cNvPr id="4" name="Slide Number Placeholder 3">
            <a:extLst>
              <a:ext uri="{FF2B5EF4-FFF2-40B4-BE49-F238E27FC236}">
                <a16:creationId xmlns:a16="http://schemas.microsoft.com/office/drawing/2014/main" id="{46289294-5917-9C69-D913-A6601D297142}"/>
              </a:ext>
            </a:extLst>
          </p:cNvPr>
          <p:cNvSpPr>
            <a:spLocks noGrp="1"/>
          </p:cNvSpPr>
          <p:nvPr>
            <p:ph type="sldNum" sz="quarter" idx="12"/>
          </p:nvPr>
        </p:nvSpPr>
        <p:spPr/>
        <p:txBody>
          <a:bodyPr/>
          <a:lstStyle/>
          <a:p>
            <a:fld id="{6264BDCF-5269-49AC-A246-ED26C2B980E3}" type="slidenum">
              <a:rPr lang="en-US" smtClean="0"/>
              <a:t>9</a:t>
            </a:fld>
            <a:endParaRPr lang="en-US"/>
          </a:p>
        </p:txBody>
      </p:sp>
    </p:spTree>
    <p:extLst>
      <p:ext uri="{BB962C8B-B14F-4D97-AF65-F5344CB8AC3E}">
        <p14:creationId xmlns:p14="http://schemas.microsoft.com/office/powerpoint/2010/main" val="1131621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D284D-AE0F-1E53-FA6C-16B0A6E45A9A}"/>
              </a:ext>
            </a:extLst>
          </p:cNvPr>
          <p:cNvSpPr>
            <a:spLocks noGrp="1"/>
          </p:cNvSpPr>
          <p:nvPr>
            <p:ph type="title"/>
          </p:nvPr>
        </p:nvSpPr>
        <p:spPr/>
        <p:txBody>
          <a:bodyPr/>
          <a:lstStyle/>
          <a:p>
            <a:r>
              <a:rPr lang="en-US" dirty="0"/>
              <a:t>Approaches to Database Programming</a:t>
            </a:r>
          </a:p>
        </p:txBody>
      </p:sp>
      <p:sp>
        <p:nvSpPr>
          <p:cNvPr id="3" name="Content Placeholder 2">
            <a:extLst>
              <a:ext uri="{FF2B5EF4-FFF2-40B4-BE49-F238E27FC236}">
                <a16:creationId xmlns:a16="http://schemas.microsoft.com/office/drawing/2014/main" id="{279FC29A-3B1F-E60B-6D81-9478784BA483}"/>
              </a:ext>
            </a:extLst>
          </p:cNvPr>
          <p:cNvSpPr>
            <a:spLocks noGrp="1"/>
          </p:cNvSpPr>
          <p:nvPr>
            <p:ph idx="1"/>
          </p:nvPr>
        </p:nvSpPr>
        <p:spPr>
          <a:xfrm>
            <a:off x="838199" y="1825625"/>
            <a:ext cx="11019503" cy="4351338"/>
          </a:xfrm>
        </p:spPr>
        <p:txBody>
          <a:bodyPr>
            <a:normAutofit/>
          </a:bodyPr>
          <a:lstStyle/>
          <a:p>
            <a:pPr marL="514350" indent="-514350">
              <a:buFont typeface="+mj-lt"/>
              <a:buAutoNum type="arabicPeriod" startAt="3"/>
            </a:pPr>
            <a:r>
              <a:rPr lang="en-US" dirty="0"/>
              <a:t>designing a brand-new language</a:t>
            </a:r>
          </a:p>
          <a:p>
            <a:pPr lvl="1"/>
            <a:r>
              <a:rPr lang="en-US" sz="2800" dirty="0"/>
              <a:t>a database programming language is designed from scratch to be compatible with database model and query language</a:t>
            </a:r>
          </a:p>
          <a:p>
            <a:pPr lvl="1"/>
            <a:r>
              <a:rPr lang="en-US" sz="2800" dirty="0"/>
              <a:t>additional programming structures such as loops and conditional statements are added to database language to convert it into a full-fledged programming language</a:t>
            </a:r>
          </a:p>
          <a:p>
            <a:pPr lvl="2"/>
            <a:r>
              <a:rPr lang="en-US" sz="2700" dirty="0"/>
              <a:t>Oracle’s PL/SQL, Transact-SQL (T-SQL) Microsoft's SQL Server, </a:t>
            </a:r>
            <a:r>
              <a:rPr lang="en-US" sz="2700" dirty="0" err="1"/>
              <a:t>PostGreSQL</a:t>
            </a:r>
            <a:r>
              <a:rPr lang="en-US" sz="2700" dirty="0"/>
              <a:t> Procedural Language/PostgreSQL (PL/</a:t>
            </a:r>
            <a:r>
              <a:rPr lang="en-US" sz="2700" dirty="0" err="1"/>
              <a:t>pgSQL</a:t>
            </a:r>
            <a:r>
              <a:rPr lang="en-US" sz="2700" dirty="0"/>
              <a:t>)</a:t>
            </a:r>
          </a:p>
          <a:p>
            <a:pPr lvl="1"/>
            <a:r>
              <a:rPr lang="en-US" sz="2800" dirty="0"/>
              <a:t>SQL standard has SQL/PSM language for specifying stored procedures</a:t>
            </a:r>
          </a:p>
        </p:txBody>
      </p:sp>
      <p:sp>
        <p:nvSpPr>
          <p:cNvPr id="4" name="Slide Number Placeholder 3">
            <a:extLst>
              <a:ext uri="{FF2B5EF4-FFF2-40B4-BE49-F238E27FC236}">
                <a16:creationId xmlns:a16="http://schemas.microsoft.com/office/drawing/2014/main" id="{60D498D3-4DBE-F434-3585-C4A5637D4C3F}"/>
              </a:ext>
            </a:extLst>
          </p:cNvPr>
          <p:cNvSpPr>
            <a:spLocks noGrp="1"/>
          </p:cNvSpPr>
          <p:nvPr>
            <p:ph type="sldNum" sz="quarter" idx="12"/>
          </p:nvPr>
        </p:nvSpPr>
        <p:spPr/>
        <p:txBody>
          <a:bodyPr/>
          <a:lstStyle/>
          <a:p>
            <a:fld id="{6264BDCF-5269-49AC-A246-ED26C2B980E3}" type="slidenum">
              <a:rPr lang="en-US" smtClean="0"/>
              <a:t>10</a:t>
            </a:fld>
            <a:endParaRPr lang="en-US"/>
          </a:p>
        </p:txBody>
      </p:sp>
    </p:spTree>
    <p:extLst>
      <p:ext uri="{BB962C8B-B14F-4D97-AF65-F5344CB8AC3E}">
        <p14:creationId xmlns:p14="http://schemas.microsoft.com/office/powerpoint/2010/main" val="2907085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09B96-D5A3-83A5-D2D2-F44E8AFBB504}"/>
              </a:ext>
            </a:extLst>
          </p:cNvPr>
          <p:cNvSpPr>
            <a:spLocks noGrp="1"/>
          </p:cNvSpPr>
          <p:nvPr>
            <p:ph type="title"/>
          </p:nvPr>
        </p:nvSpPr>
        <p:spPr/>
        <p:txBody>
          <a:bodyPr/>
          <a:lstStyle/>
          <a:p>
            <a:r>
              <a:rPr lang="en-US" dirty="0"/>
              <a:t>Impedance Mismatch</a:t>
            </a:r>
          </a:p>
        </p:txBody>
      </p:sp>
      <p:sp>
        <p:nvSpPr>
          <p:cNvPr id="3" name="Content Placeholder 2">
            <a:extLst>
              <a:ext uri="{FF2B5EF4-FFF2-40B4-BE49-F238E27FC236}">
                <a16:creationId xmlns:a16="http://schemas.microsoft.com/office/drawing/2014/main" id="{ECB45B40-2761-F0A2-5A76-F74C1AAB96E5}"/>
              </a:ext>
            </a:extLst>
          </p:cNvPr>
          <p:cNvSpPr>
            <a:spLocks noGrp="1"/>
          </p:cNvSpPr>
          <p:nvPr>
            <p:ph idx="1"/>
          </p:nvPr>
        </p:nvSpPr>
        <p:spPr/>
        <p:txBody>
          <a:bodyPr>
            <a:normAutofit/>
          </a:bodyPr>
          <a:lstStyle/>
          <a:p>
            <a:r>
              <a:rPr lang="en-US" dirty="0"/>
              <a:t>term used to refer to the problems that occur because of differences between the database model and the programming language model</a:t>
            </a:r>
          </a:p>
          <a:p>
            <a:r>
              <a:rPr lang="en-US" dirty="0"/>
              <a:t>data types of programming language differ from attribute data types that are available in data model; it is necessary to have a </a:t>
            </a:r>
            <a:r>
              <a:rPr lang="en-US" i="1" dirty="0"/>
              <a:t>binding</a:t>
            </a:r>
            <a:r>
              <a:rPr lang="en-US" dirty="0"/>
              <a:t> for each host programming language that specifies for each attribute type the compatible programming language types</a:t>
            </a:r>
          </a:p>
          <a:p>
            <a:pPr lvl="1"/>
            <a:r>
              <a:rPr lang="en-US" sz="2700" dirty="0"/>
              <a:t>different binding is needed for each programming language</a:t>
            </a:r>
          </a:p>
          <a:p>
            <a:pPr lvl="1"/>
            <a:r>
              <a:rPr lang="en-US" sz="2700" dirty="0"/>
              <a:t>different languages have different data types</a:t>
            </a:r>
          </a:p>
          <a:p>
            <a:pPr lvl="2"/>
            <a:r>
              <a:rPr lang="en-US" sz="2600" dirty="0"/>
              <a:t>data types available in C/C++ and Java are different, and both differ from SQL data types</a:t>
            </a:r>
          </a:p>
        </p:txBody>
      </p:sp>
      <p:sp>
        <p:nvSpPr>
          <p:cNvPr id="4" name="Slide Number Placeholder 3">
            <a:extLst>
              <a:ext uri="{FF2B5EF4-FFF2-40B4-BE49-F238E27FC236}">
                <a16:creationId xmlns:a16="http://schemas.microsoft.com/office/drawing/2014/main" id="{DF14E838-2BB1-7D71-F218-E1B5D1ECD0FE}"/>
              </a:ext>
            </a:extLst>
          </p:cNvPr>
          <p:cNvSpPr>
            <a:spLocks noGrp="1"/>
          </p:cNvSpPr>
          <p:nvPr>
            <p:ph type="sldNum" sz="quarter" idx="12"/>
          </p:nvPr>
        </p:nvSpPr>
        <p:spPr/>
        <p:txBody>
          <a:bodyPr/>
          <a:lstStyle/>
          <a:p>
            <a:fld id="{6264BDCF-5269-49AC-A246-ED26C2B980E3}" type="slidenum">
              <a:rPr lang="en-US" smtClean="0"/>
              <a:t>11</a:t>
            </a:fld>
            <a:endParaRPr lang="en-US"/>
          </a:p>
        </p:txBody>
      </p:sp>
    </p:spTree>
    <p:extLst>
      <p:ext uri="{BB962C8B-B14F-4D97-AF65-F5344CB8AC3E}">
        <p14:creationId xmlns:p14="http://schemas.microsoft.com/office/powerpoint/2010/main" val="2510982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D0D7E-4BE3-CF91-1CA5-A40E99CE51C0}"/>
              </a:ext>
            </a:extLst>
          </p:cNvPr>
          <p:cNvSpPr>
            <a:spLocks noGrp="1"/>
          </p:cNvSpPr>
          <p:nvPr>
            <p:ph type="title"/>
          </p:nvPr>
        </p:nvSpPr>
        <p:spPr/>
        <p:txBody>
          <a:bodyPr/>
          <a:lstStyle/>
          <a:p>
            <a:r>
              <a:rPr lang="en-US" dirty="0"/>
              <a:t>Impedance Mismatch</a:t>
            </a:r>
          </a:p>
        </p:txBody>
      </p:sp>
      <p:sp>
        <p:nvSpPr>
          <p:cNvPr id="3" name="Content Placeholder 2">
            <a:extLst>
              <a:ext uri="{FF2B5EF4-FFF2-40B4-BE49-F238E27FC236}">
                <a16:creationId xmlns:a16="http://schemas.microsoft.com/office/drawing/2014/main" id="{0845B402-10A9-01DB-D8A2-AF25DAE0A4E8}"/>
              </a:ext>
            </a:extLst>
          </p:cNvPr>
          <p:cNvSpPr>
            <a:spLocks noGrp="1"/>
          </p:cNvSpPr>
          <p:nvPr>
            <p:ph idx="1"/>
          </p:nvPr>
        </p:nvSpPr>
        <p:spPr>
          <a:xfrm>
            <a:off x="838199" y="1825625"/>
            <a:ext cx="11098161" cy="4351338"/>
          </a:xfrm>
        </p:spPr>
        <p:txBody>
          <a:bodyPr>
            <a:noAutofit/>
          </a:bodyPr>
          <a:lstStyle/>
          <a:p>
            <a:r>
              <a:rPr lang="en-US" sz="2700" dirty="0"/>
              <a:t>results of most queries are sets or multisets of tuples (rows), and each tuple is formed of a sequence of attribute values</a:t>
            </a:r>
          </a:p>
          <a:p>
            <a:r>
              <a:rPr lang="en-US" sz="2700" dirty="0"/>
              <a:t>in program, it is often necessary to access individual data values within individual tuples for processing</a:t>
            </a:r>
          </a:p>
          <a:p>
            <a:r>
              <a:rPr lang="en-US" sz="2700" i="1" dirty="0"/>
              <a:t>binding</a:t>
            </a:r>
            <a:r>
              <a:rPr lang="en-US" sz="2700" dirty="0"/>
              <a:t> is needed to map query result data structure, which is a table, to appropriate data structure in programming language</a:t>
            </a:r>
          </a:p>
          <a:p>
            <a:r>
              <a:rPr lang="en-US" sz="2700" dirty="0"/>
              <a:t>mechanism is needed to loop over the tuples in query result in order to access a single tuple at a time and to extract individual values; extracted attribute values are typically copied to appropriate program variables for further processing</a:t>
            </a:r>
          </a:p>
          <a:p>
            <a:r>
              <a:rPr lang="en-US" sz="2700" i="1" dirty="0"/>
              <a:t>cursor</a:t>
            </a:r>
            <a:r>
              <a:rPr lang="en-US" sz="2700" dirty="0"/>
              <a:t> or </a:t>
            </a:r>
            <a:r>
              <a:rPr lang="en-US" sz="2700" i="1" dirty="0"/>
              <a:t>iterator</a:t>
            </a:r>
            <a:r>
              <a:rPr lang="en-US" sz="2700" dirty="0"/>
              <a:t> variable is typically used to loop over tuples in query result</a:t>
            </a:r>
          </a:p>
        </p:txBody>
      </p:sp>
      <p:sp>
        <p:nvSpPr>
          <p:cNvPr id="4" name="Slide Number Placeholder 3">
            <a:extLst>
              <a:ext uri="{FF2B5EF4-FFF2-40B4-BE49-F238E27FC236}">
                <a16:creationId xmlns:a16="http://schemas.microsoft.com/office/drawing/2014/main" id="{EDB01D62-495E-43EC-3EFC-39BEB675FEF4}"/>
              </a:ext>
            </a:extLst>
          </p:cNvPr>
          <p:cNvSpPr>
            <a:spLocks noGrp="1"/>
          </p:cNvSpPr>
          <p:nvPr>
            <p:ph type="sldNum" sz="quarter" idx="12"/>
          </p:nvPr>
        </p:nvSpPr>
        <p:spPr/>
        <p:txBody>
          <a:bodyPr/>
          <a:lstStyle/>
          <a:p>
            <a:fld id="{6264BDCF-5269-49AC-A246-ED26C2B980E3}" type="slidenum">
              <a:rPr lang="en-US" smtClean="0"/>
              <a:t>12</a:t>
            </a:fld>
            <a:endParaRPr lang="en-US"/>
          </a:p>
        </p:txBody>
      </p:sp>
    </p:spTree>
    <p:extLst>
      <p:ext uri="{BB962C8B-B14F-4D97-AF65-F5344CB8AC3E}">
        <p14:creationId xmlns:p14="http://schemas.microsoft.com/office/powerpoint/2010/main" val="398928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6FE55-15A7-ABE7-0AFC-A9F995DD38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9958D2-E45E-72AC-E3AA-30F814B9A726}"/>
              </a:ext>
            </a:extLst>
          </p:cNvPr>
          <p:cNvSpPr>
            <a:spLocks noGrp="1"/>
          </p:cNvSpPr>
          <p:nvPr>
            <p:ph idx="1"/>
          </p:nvPr>
        </p:nvSpPr>
        <p:spPr/>
        <p:txBody>
          <a:bodyPr/>
          <a:lstStyle/>
          <a:p>
            <a:r>
              <a:rPr lang="en-US" dirty="0"/>
              <a:t>Impedance mismatch is less of a problem when a special database programming language is designed that uses the same data model and data types as the database model</a:t>
            </a:r>
          </a:p>
          <a:p>
            <a:r>
              <a:rPr lang="en-US" dirty="0"/>
              <a:t>Oracle’s PL/SQL, Transact-SQL (T-SQL) Microsoft's SQL Server, </a:t>
            </a:r>
            <a:r>
              <a:rPr lang="en-US" dirty="0" err="1"/>
              <a:t>PostGreSQL</a:t>
            </a:r>
            <a:r>
              <a:rPr lang="en-US" dirty="0"/>
              <a:t> Procedural Language/PostgreSQL (PL/</a:t>
            </a:r>
            <a:r>
              <a:rPr lang="en-US" dirty="0" err="1"/>
              <a:t>pgSQL</a:t>
            </a:r>
            <a:r>
              <a:rPr lang="en-US" dirty="0"/>
              <a:t>)</a:t>
            </a:r>
          </a:p>
          <a:p>
            <a:r>
              <a:rPr lang="en-US" dirty="0"/>
              <a:t>no impedance mismatch between Oracle’s PL/SQL and Oracle; Transact-SQL (T-SQL) and Microsoft's SQL Server, </a:t>
            </a:r>
            <a:r>
              <a:rPr lang="en-US" dirty="0" err="1"/>
              <a:t>PostGreSQL</a:t>
            </a:r>
            <a:r>
              <a:rPr lang="en-US" dirty="0"/>
              <a:t> Procedural Language/PostgreSQL (PL/</a:t>
            </a:r>
            <a:r>
              <a:rPr lang="en-US" dirty="0" err="1"/>
              <a:t>pgSQL</a:t>
            </a:r>
            <a:r>
              <a:rPr lang="en-US" dirty="0"/>
              <a:t>) and </a:t>
            </a:r>
            <a:r>
              <a:rPr lang="en-US" dirty="0" err="1"/>
              <a:t>PostGreSQL</a:t>
            </a:r>
            <a:endParaRPr lang="en-US" dirty="0"/>
          </a:p>
          <a:p>
            <a:r>
              <a:rPr lang="en-US" dirty="0"/>
              <a:t>but huge impedance mismatch and impossibility of using in any other combination …</a:t>
            </a:r>
          </a:p>
        </p:txBody>
      </p:sp>
      <p:sp>
        <p:nvSpPr>
          <p:cNvPr id="4" name="Slide Number Placeholder 3">
            <a:extLst>
              <a:ext uri="{FF2B5EF4-FFF2-40B4-BE49-F238E27FC236}">
                <a16:creationId xmlns:a16="http://schemas.microsoft.com/office/drawing/2014/main" id="{DCB39757-7DEA-59FE-13C9-23EBEB253FE5}"/>
              </a:ext>
            </a:extLst>
          </p:cNvPr>
          <p:cNvSpPr>
            <a:spLocks noGrp="1"/>
          </p:cNvSpPr>
          <p:nvPr>
            <p:ph type="sldNum" sz="quarter" idx="12"/>
          </p:nvPr>
        </p:nvSpPr>
        <p:spPr/>
        <p:txBody>
          <a:bodyPr/>
          <a:lstStyle/>
          <a:p>
            <a:fld id="{6264BDCF-5269-49AC-A246-ED26C2B980E3}" type="slidenum">
              <a:rPr lang="en-US" smtClean="0"/>
              <a:t>13</a:t>
            </a:fld>
            <a:endParaRPr lang="en-US"/>
          </a:p>
        </p:txBody>
      </p:sp>
    </p:spTree>
    <p:extLst>
      <p:ext uri="{BB962C8B-B14F-4D97-AF65-F5344CB8AC3E}">
        <p14:creationId xmlns:p14="http://schemas.microsoft.com/office/powerpoint/2010/main" val="154396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85AAB9-E492-455F-958B-005BCDEFD8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5F5FF9-09CD-1E8A-2701-126D70594563}"/>
              </a:ext>
            </a:extLst>
          </p:cNvPr>
          <p:cNvSpPr>
            <a:spLocks noGrp="1"/>
          </p:cNvSpPr>
          <p:nvPr>
            <p:ph sz="half" idx="1"/>
          </p:nvPr>
        </p:nvSpPr>
        <p:spPr>
          <a:xfrm>
            <a:off x="501445" y="1825625"/>
            <a:ext cx="5518355" cy="4351338"/>
          </a:xfrm>
        </p:spPr>
        <p:txBody>
          <a:bodyPr>
            <a:normAutofit lnSpcReduction="10000"/>
          </a:bodyPr>
          <a:lstStyle/>
          <a:p>
            <a:r>
              <a:rPr lang="en-US" dirty="0"/>
              <a:t>database application that rely on an SQL Server database</a:t>
            </a:r>
          </a:p>
          <a:p>
            <a:r>
              <a:rPr lang="en-US" dirty="0"/>
              <a:t>written in any programming language</a:t>
            </a:r>
          </a:p>
          <a:p>
            <a:r>
              <a:rPr lang="en-US" dirty="0"/>
              <a:t>do not rely on Transact-SQL (T-SQL) </a:t>
            </a:r>
          </a:p>
          <a:p>
            <a:r>
              <a:rPr lang="en-US" dirty="0"/>
              <a:t>it is relatively easy to change the database to MySQL or any other RDBMS</a:t>
            </a:r>
          </a:p>
          <a:p>
            <a:endParaRPr lang="en-US" dirty="0"/>
          </a:p>
        </p:txBody>
      </p:sp>
      <p:sp>
        <p:nvSpPr>
          <p:cNvPr id="6" name="Content Placeholder 5">
            <a:extLst>
              <a:ext uri="{FF2B5EF4-FFF2-40B4-BE49-F238E27FC236}">
                <a16:creationId xmlns:a16="http://schemas.microsoft.com/office/drawing/2014/main" id="{BF507709-5DEE-AD45-70FC-556A554F7F3A}"/>
              </a:ext>
            </a:extLst>
          </p:cNvPr>
          <p:cNvSpPr>
            <a:spLocks noGrp="1"/>
          </p:cNvSpPr>
          <p:nvPr>
            <p:ph sz="half" idx="2"/>
          </p:nvPr>
        </p:nvSpPr>
        <p:spPr/>
        <p:txBody>
          <a:bodyPr>
            <a:normAutofit lnSpcReduction="10000"/>
          </a:bodyPr>
          <a:lstStyle/>
          <a:p>
            <a:r>
              <a:rPr lang="en-US" dirty="0"/>
              <a:t>database application that rely on an SQL Server database</a:t>
            </a:r>
          </a:p>
          <a:p>
            <a:r>
              <a:rPr lang="en-US" dirty="0"/>
              <a:t>written in any programming language</a:t>
            </a:r>
          </a:p>
          <a:p>
            <a:r>
              <a:rPr lang="en-US" dirty="0"/>
              <a:t>rely on Transact-SQL (T-SQL) </a:t>
            </a:r>
          </a:p>
          <a:p>
            <a:r>
              <a:rPr lang="en-US" dirty="0"/>
              <a:t>it is very difficult  to change the database to MySQL or any other RDBMS – must re-write all business rule implemented in Transact-SQL (T-SQL) which is not available there</a:t>
            </a:r>
          </a:p>
        </p:txBody>
      </p:sp>
      <p:sp>
        <p:nvSpPr>
          <p:cNvPr id="4" name="Slide Number Placeholder 3">
            <a:extLst>
              <a:ext uri="{FF2B5EF4-FFF2-40B4-BE49-F238E27FC236}">
                <a16:creationId xmlns:a16="http://schemas.microsoft.com/office/drawing/2014/main" id="{84B4A92D-9EFE-7550-D743-224AA4E89369}"/>
              </a:ext>
            </a:extLst>
          </p:cNvPr>
          <p:cNvSpPr>
            <a:spLocks noGrp="1"/>
          </p:cNvSpPr>
          <p:nvPr>
            <p:ph type="sldNum" sz="quarter" idx="12"/>
          </p:nvPr>
        </p:nvSpPr>
        <p:spPr/>
        <p:txBody>
          <a:bodyPr/>
          <a:lstStyle/>
          <a:p>
            <a:fld id="{6264BDCF-5269-49AC-A246-ED26C2B980E3}" type="slidenum">
              <a:rPr lang="en-US" smtClean="0"/>
              <a:t>14</a:t>
            </a:fld>
            <a:endParaRPr lang="en-US"/>
          </a:p>
        </p:txBody>
      </p:sp>
    </p:spTree>
    <p:extLst>
      <p:ext uri="{BB962C8B-B14F-4D97-AF65-F5344CB8AC3E}">
        <p14:creationId xmlns:p14="http://schemas.microsoft.com/office/powerpoint/2010/main" val="3373489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4424-B693-6DC5-65E2-FBC43B031397}"/>
              </a:ext>
            </a:extLst>
          </p:cNvPr>
          <p:cNvSpPr>
            <a:spLocks noGrp="1"/>
          </p:cNvSpPr>
          <p:nvPr>
            <p:ph type="title"/>
          </p:nvPr>
        </p:nvSpPr>
        <p:spPr/>
        <p:txBody>
          <a:bodyPr>
            <a:normAutofit/>
          </a:bodyPr>
          <a:lstStyle/>
          <a:p>
            <a:r>
              <a:rPr lang="en-US" dirty="0"/>
              <a:t>Typical Sequence of Interaction in a </a:t>
            </a:r>
            <a:br>
              <a:rPr lang="en-US" dirty="0"/>
            </a:br>
            <a:r>
              <a:rPr lang="en-US" dirty="0"/>
              <a:t>Database Application Programming</a:t>
            </a:r>
          </a:p>
        </p:txBody>
      </p:sp>
      <p:sp>
        <p:nvSpPr>
          <p:cNvPr id="3" name="Content Placeholder 2">
            <a:extLst>
              <a:ext uri="{FF2B5EF4-FFF2-40B4-BE49-F238E27FC236}">
                <a16:creationId xmlns:a16="http://schemas.microsoft.com/office/drawing/2014/main" id="{43EFC6A0-D237-0B7E-F90A-5E23B6646E0F}"/>
              </a:ext>
            </a:extLst>
          </p:cNvPr>
          <p:cNvSpPr>
            <a:spLocks noGrp="1"/>
          </p:cNvSpPr>
          <p:nvPr>
            <p:ph idx="1"/>
          </p:nvPr>
        </p:nvSpPr>
        <p:spPr/>
        <p:txBody>
          <a:bodyPr>
            <a:normAutofit/>
          </a:bodyPr>
          <a:lstStyle/>
          <a:p>
            <a:r>
              <a:rPr lang="en-US" dirty="0"/>
              <a:t>program running on one computer and database is installed on another</a:t>
            </a:r>
          </a:p>
          <a:p>
            <a:r>
              <a:rPr lang="en-US" dirty="0"/>
              <a:t>common architecture for database access is the three-tier client/server model, where a top-tier </a:t>
            </a:r>
            <a:r>
              <a:rPr lang="en-US" i="1" dirty="0"/>
              <a:t>client program </a:t>
            </a:r>
            <a:r>
              <a:rPr lang="en-US" dirty="0"/>
              <a:t>handles display of information on workstation or mobile device usually as a Web client or mobile app, a middle-tier </a:t>
            </a:r>
            <a:r>
              <a:rPr lang="en-US" i="1" dirty="0"/>
              <a:t>application program</a:t>
            </a:r>
            <a:r>
              <a:rPr lang="en-US" b="1" dirty="0"/>
              <a:t> </a:t>
            </a:r>
            <a:r>
              <a:rPr lang="en-US" dirty="0"/>
              <a:t>implements logic of a business software application but includes some calls to one or more </a:t>
            </a:r>
            <a:r>
              <a:rPr lang="en-US" i="1" dirty="0"/>
              <a:t>database servers</a:t>
            </a:r>
            <a:r>
              <a:rPr lang="en-US" b="1" dirty="0"/>
              <a:t> </a:t>
            </a:r>
            <a:r>
              <a:rPr lang="en-US" dirty="0"/>
              <a:t>at the bottom tier to access or update the data</a:t>
            </a:r>
          </a:p>
        </p:txBody>
      </p:sp>
      <p:sp>
        <p:nvSpPr>
          <p:cNvPr id="4" name="Slide Number Placeholder 3">
            <a:extLst>
              <a:ext uri="{FF2B5EF4-FFF2-40B4-BE49-F238E27FC236}">
                <a16:creationId xmlns:a16="http://schemas.microsoft.com/office/drawing/2014/main" id="{EF331B9D-18A8-EB3B-BDF3-DBDE462BE186}"/>
              </a:ext>
            </a:extLst>
          </p:cNvPr>
          <p:cNvSpPr>
            <a:spLocks noGrp="1"/>
          </p:cNvSpPr>
          <p:nvPr>
            <p:ph type="sldNum" sz="quarter" idx="12"/>
          </p:nvPr>
        </p:nvSpPr>
        <p:spPr/>
        <p:txBody>
          <a:bodyPr/>
          <a:lstStyle/>
          <a:p>
            <a:fld id="{6264BDCF-5269-49AC-A246-ED26C2B980E3}" type="slidenum">
              <a:rPr lang="en-US" smtClean="0"/>
              <a:t>15</a:t>
            </a:fld>
            <a:endParaRPr lang="en-US"/>
          </a:p>
        </p:txBody>
      </p:sp>
    </p:spTree>
    <p:extLst>
      <p:ext uri="{BB962C8B-B14F-4D97-AF65-F5344CB8AC3E}">
        <p14:creationId xmlns:p14="http://schemas.microsoft.com/office/powerpoint/2010/main" val="3156749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B207-EC52-4A0B-F8ED-30FD430035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30973F-A188-C614-2645-65DD5D8F1C40}"/>
              </a:ext>
            </a:extLst>
          </p:cNvPr>
          <p:cNvSpPr>
            <a:spLocks noGrp="1"/>
          </p:cNvSpPr>
          <p:nvPr>
            <p:ph idx="1"/>
          </p:nvPr>
        </p:nvSpPr>
        <p:spPr/>
        <p:txBody>
          <a:bodyPr>
            <a:noAutofit/>
          </a:bodyPr>
          <a:lstStyle/>
          <a:p>
            <a:pPr marL="514350" indent="-514350">
              <a:buFont typeface="+mj-lt"/>
              <a:buAutoNum type="arabicPeriod"/>
            </a:pPr>
            <a:r>
              <a:rPr lang="en-US" sz="2700" dirty="0"/>
              <a:t>when application program requires access to particular database, the program must first establish or open a connection to the database server; typically, this involves specifying the Internet address (URL) of the machine where database server is located, plus providing login account name and password for database access, …</a:t>
            </a:r>
          </a:p>
          <a:p>
            <a:pPr marL="514350" indent="-514350">
              <a:buFont typeface="+mj-lt"/>
              <a:buAutoNum type="arabicPeriod"/>
            </a:pPr>
            <a:r>
              <a:rPr lang="en-US" sz="2700" dirty="0"/>
              <a:t>once the connection is established, program can interact with the database by submitting queries, updates, and other database commands; most types of SQL statements can be included in application program</a:t>
            </a:r>
          </a:p>
          <a:p>
            <a:pPr marL="514350" indent="-514350">
              <a:buFont typeface="+mj-lt"/>
              <a:buAutoNum type="arabicPeriod"/>
            </a:pPr>
            <a:r>
              <a:rPr lang="en-US" sz="2700" dirty="0"/>
              <a:t>when the program no longer needs access to particular database, it should terminate or close connection to database</a:t>
            </a:r>
          </a:p>
        </p:txBody>
      </p:sp>
      <p:sp>
        <p:nvSpPr>
          <p:cNvPr id="4" name="Slide Number Placeholder 3">
            <a:extLst>
              <a:ext uri="{FF2B5EF4-FFF2-40B4-BE49-F238E27FC236}">
                <a16:creationId xmlns:a16="http://schemas.microsoft.com/office/drawing/2014/main" id="{F3D66826-BF5F-1ED1-B4F0-4379D02FFFCC}"/>
              </a:ext>
            </a:extLst>
          </p:cNvPr>
          <p:cNvSpPr>
            <a:spLocks noGrp="1"/>
          </p:cNvSpPr>
          <p:nvPr>
            <p:ph type="sldNum" sz="quarter" idx="12"/>
          </p:nvPr>
        </p:nvSpPr>
        <p:spPr/>
        <p:txBody>
          <a:bodyPr/>
          <a:lstStyle/>
          <a:p>
            <a:fld id="{6264BDCF-5269-49AC-A246-ED26C2B980E3}" type="slidenum">
              <a:rPr lang="en-US" smtClean="0"/>
              <a:t>16</a:t>
            </a:fld>
            <a:endParaRPr lang="en-US"/>
          </a:p>
        </p:txBody>
      </p:sp>
    </p:spTree>
    <p:extLst>
      <p:ext uri="{BB962C8B-B14F-4D97-AF65-F5344CB8AC3E}">
        <p14:creationId xmlns:p14="http://schemas.microsoft.com/office/powerpoint/2010/main" val="1064201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A5DC57-0040-1965-0080-AC4F4D5AC663}"/>
              </a:ext>
            </a:extLst>
          </p:cNvPr>
          <p:cNvSpPr>
            <a:spLocks noGrp="1"/>
          </p:cNvSpPr>
          <p:nvPr>
            <p:ph type="title"/>
          </p:nvPr>
        </p:nvSpPr>
        <p:spPr/>
        <p:txBody>
          <a:bodyPr/>
          <a:lstStyle/>
          <a:p>
            <a:r>
              <a:rPr lang="en-US" b="1" dirty="0"/>
              <a:t>Embedded SQL</a:t>
            </a:r>
            <a:endParaRPr lang="en-US" dirty="0"/>
          </a:p>
        </p:txBody>
      </p:sp>
      <p:sp>
        <p:nvSpPr>
          <p:cNvPr id="6" name="Text Placeholder 5">
            <a:extLst>
              <a:ext uri="{FF2B5EF4-FFF2-40B4-BE49-F238E27FC236}">
                <a16:creationId xmlns:a16="http://schemas.microsoft.com/office/drawing/2014/main" id="{19A892C0-5315-CE09-0408-3A4AA882C5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DA66E1-BDFB-CEB5-AD69-E8C6B80FA526}"/>
              </a:ext>
            </a:extLst>
          </p:cNvPr>
          <p:cNvSpPr>
            <a:spLocks noGrp="1"/>
          </p:cNvSpPr>
          <p:nvPr>
            <p:ph type="sldNum" sz="quarter" idx="12"/>
          </p:nvPr>
        </p:nvSpPr>
        <p:spPr/>
        <p:txBody>
          <a:bodyPr/>
          <a:lstStyle/>
          <a:p>
            <a:fld id="{6264BDCF-5269-49AC-A246-ED26C2B980E3}" type="slidenum">
              <a:rPr lang="en-US" smtClean="0"/>
              <a:t>17</a:t>
            </a:fld>
            <a:endParaRPr lang="en-US"/>
          </a:p>
        </p:txBody>
      </p:sp>
    </p:spTree>
    <p:extLst>
      <p:ext uri="{BB962C8B-B14F-4D97-AF65-F5344CB8AC3E}">
        <p14:creationId xmlns:p14="http://schemas.microsoft.com/office/powerpoint/2010/main" val="1255809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B802-76BE-B6B5-4B41-D0DDF47EAA0C}"/>
              </a:ext>
            </a:extLst>
          </p:cNvPr>
          <p:cNvSpPr>
            <a:spLocks noGrp="1"/>
          </p:cNvSpPr>
          <p:nvPr>
            <p:ph type="title"/>
          </p:nvPr>
        </p:nvSpPr>
        <p:spPr/>
        <p:txBody>
          <a:bodyPr/>
          <a:lstStyle/>
          <a:p>
            <a:r>
              <a:rPr lang="en-US" b="1" dirty="0"/>
              <a:t>Embedded SQL</a:t>
            </a:r>
            <a:endParaRPr lang="en-US" dirty="0"/>
          </a:p>
        </p:txBody>
      </p:sp>
      <p:sp>
        <p:nvSpPr>
          <p:cNvPr id="3" name="Content Placeholder 2">
            <a:extLst>
              <a:ext uri="{FF2B5EF4-FFF2-40B4-BE49-F238E27FC236}">
                <a16:creationId xmlns:a16="http://schemas.microsoft.com/office/drawing/2014/main" id="{C9173C0E-6FC1-D67C-6B35-29C080CB7F79}"/>
              </a:ext>
            </a:extLst>
          </p:cNvPr>
          <p:cNvSpPr>
            <a:spLocks noGrp="1"/>
          </p:cNvSpPr>
          <p:nvPr>
            <p:ph idx="1"/>
          </p:nvPr>
        </p:nvSpPr>
        <p:spPr>
          <a:xfrm>
            <a:off x="838199" y="1825625"/>
            <a:ext cx="10636045" cy="4351338"/>
          </a:xfrm>
        </p:spPr>
        <p:txBody>
          <a:bodyPr>
            <a:normAutofit/>
          </a:bodyPr>
          <a:lstStyle/>
          <a:p>
            <a:r>
              <a:rPr lang="en-US" dirty="0"/>
              <a:t>to illustrate the concepts of embedded SQL, we will use C as the host programming language</a:t>
            </a:r>
          </a:p>
          <a:p>
            <a:r>
              <a:rPr lang="en-US" dirty="0"/>
              <a:t>in C embedded SQL statement is distinguished from programming language statements by prefixing it with the keywords EXEC SQL so that a preprocessor (or </a:t>
            </a:r>
            <a:r>
              <a:rPr lang="en-US" dirty="0" err="1"/>
              <a:t>precompiler</a:t>
            </a:r>
            <a:r>
              <a:rPr lang="en-US" dirty="0"/>
              <a:t>) can separate embedded SQL statements from the host language source code</a:t>
            </a:r>
          </a:p>
          <a:p>
            <a:endParaRPr lang="en-US" dirty="0"/>
          </a:p>
          <a:p>
            <a:r>
              <a:rPr lang="en-US" dirty="0"/>
              <a:t>similar rules apply to embedding SQL in other programming languages</a:t>
            </a:r>
          </a:p>
        </p:txBody>
      </p:sp>
      <p:sp>
        <p:nvSpPr>
          <p:cNvPr id="4" name="Slide Number Placeholder 3">
            <a:extLst>
              <a:ext uri="{FF2B5EF4-FFF2-40B4-BE49-F238E27FC236}">
                <a16:creationId xmlns:a16="http://schemas.microsoft.com/office/drawing/2014/main" id="{5EB1F294-B302-2151-9EF3-4F9F9E67FE10}"/>
              </a:ext>
            </a:extLst>
          </p:cNvPr>
          <p:cNvSpPr>
            <a:spLocks noGrp="1"/>
          </p:cNvSpPr>
          <p:nvPr>
            <p:ph type="sldNum" sz="quarter" idx="12"/>
          </p:nvPr>
        </p:nvSpPr>
        <p:spPr/>
        <p:txBody>
          <a:bodyPr/>
          <a:lstStyle/>
          <a:p>
            <a:fld id="{6264BDCF-5269-49AC-A246-ED26C2B980E3}" type="slidenum">
              <a:rPr lang="en-US" smtClean="0"/>
              <a:t>18</a:t>
            </a:fld>
            <a:endParaRPr lang="en-US"/>
          </a:p>
        </p:txBody>
      </p:sp>
    </p:spTree>
    <p:extLst>
      <p:ext uri="{BB962C8B-B14F-4D97-AF65-F5344CB8AC3E}">
        <p14:creationId xmlns:p14="http://schemas.microsoft.com/office/powerpoint/2010/main" val="543542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0CD4F-44EF-D415-5CC6-A546385F3B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7CDF47-0BEF-A985-6DF7-AC64C1FE5AD0}"/>
              </a:ext>
            </a:extLst>
          </p:cNvPr>
          <p:cNvSpPr>
            <a:spLocks noGrp="1"/>
          </p:cNvSpPr>
          <p:nvPr>
            <p:ph idx="1"/>
          </p:nvPr>
        </p:nvSpPr>
        <p:spPr/>
        <p:txBody>
          <a:bodyPr>
            <a:normAutofit/>
          </a:bodyPr>
          <a:lstStyle/>
          <a:p>
            <a:r>
              <a:rPr lang="en-US" dirty="0"/>
              <a:t>within an embedded SQL command, programmer can refer to specially declared variables; these are called shared variables because they are used in both the C program and the embedded SQL statements</a:t>
            </a:r>
          </a:p>
          <a:p>
            <a:r>
              <a:rPr lang="en-US" dirty="0"/>
              <a:t>shared variables are prefixed by a colon (:) when they appear in an SQL statement; distinguishes program variable names from the names of database schema constructs</a:t>
            </a:r>
          </a:p>
          <a:p>
            <a:r>
              <a:rPr lang="en-US" dirty="0"/>
              <a:t>shared program variables can be used elsewhere in the C program without the colon (:) prefix</a:t>
            </a:r>
          </a:p>
        </p:txBody>
      </p:sp>
      <p:sp>
        <p:nvSpPr>
          <p:cNvPr id="4" name="Slide Number Placeholder 3">
            <a:extLst>
              <a:ext uri="{FF2B5EF4-FFF2-40B4-BE49-F238E27FC236}">
                <a16:creationId xmlns:a16="http://schemas.microsoft.com/office/drawing/2014/main" id="{0EF4E073-EE07-E453-E7F9-88C322F74E68}"/>
              </a:ext>
            </a:extLst>
          </p:cNvPr>
          <p:cNvSpPr>
            <a:spLocks noGrp="1"/>
          </p:cNvSpPr>
          <p:nvPr>
            <p:ph type="sldNum" sz="quarter" idx="12"/>
          </p:nvPr>
        </p:nvSpPr>
        <p:spPr/>
        <p:txBody>
          <a:bodyPr/>
          <a:lstStyle/>
          <a:p>
            <a:fld id="{6264BDCF-5269-49AC-A246-ED26C2B980E3}" type="slidenum">
              <a:rPr lang="en-US" smtClean="0"/>
              <a:t>19</a:t>
            </a:fld>
            <a:endParaRPr lang="en-US"/>
          </a:p>
        </p:txBody>
      </p:sp>
    </p:spTree>
    <p:extLst>
      <p:ext uri="{BB962C8B-B14F-4D97-AF65-F5344CB8AC3E}">
        <p14:creationId xmlns:p14="http://schemas.microsoft.com/office/powerpoint/2010/main" val="4251601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1B54-A8F1-6080-AA11-0834629B2A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12003A-E5EA-F8BA-33A6-155235EAEB1A}"/>
              </a:ext>
            </a:extLst>
          </p:cNvPr>
          <p:cNvSpPr>
            <a:spLocks noGrp="1"/>
          </p:cNvSpPr>
          <p:nvPr>
            <p:ph idx="1"/>
          </p:nvPr>
        </p:nvSpPr>
        <p:spPr/>
        <p:txBody>
          <a:bodyPr>
            <a:normAutofit/>
          </a:bodyPr>
          <a:lstStyle/>
          <a:p>
            <a:r>
              <a:rPr lang="en-US" dirty="0"/>
              <a:t>the SQL types INTEGER, SMALLINT, REAL, and DOUBLE are mapped to the C data types long, short, float, and double; fixed-length and varying-length strings, CHAR [</a:t>
            </a:r>
            <a:r>
              <a:rPr lang="en-US" i="1" dirty="0" err="1"/>
              <a:t>i</a:t>
            </a:r>
            <a:r>
              <a:rPr lang="en-US" dirty="0"/>
              <a:t>], VARCHAR [</a:t>
            </a:r>
            <a:r>
              <a:rPr lang="en-US" i="1" dirty="0" err="1"/>
              <a:t>i</a:t>
            </a:r>
            <a:r>
              <a:rPr lang="en-US" dirty="0"/>
              <a:t>], in SQL can be mapped to arrays of characters in C that are one character longer - strings in C are terminated by NULL character (\0), which is not part of character string itself</a:t>
            </a:r>
          </a:p>
        </p:txBody>
      </p:sp>
      <p:sp>
        <p:nvSpPr>
          <p:cNvPr id="4" name="Slide Number Placeholder 3">
            <a:extLst>
              <a:ext uri="{FF2B5EF4-FFF2-40B4-BE49-F238E27FC236}">
                <a16:creationId xmlns:a16="http://schemas.microsoft.com/office/drawing/2014/main" id="{3C2FECEE-2215-1836-DC85-856E9CA3DED4}"/>
              </a:ext>
            </a:extLst>
          </p:cNvPr>
          <p:cNvSpPr>
            <a:spLocks noGrp="1"/>
          </p:cNvSpPr>
          <p:nvPr>
            <p:ph type="sldNum" sz="quarter" idx="12"/>
          </p:nvPr>
        </p:nvSpPr>
        <p:spPr/>
        <p:txBody>
          <a:bodyPr/>
          <a:lstStyle/>
          <a:p>
            <a:fld id="{6264BDCF-5269-49AC-A246-ED26C2B980E3}" type="slidenum">
              <a:rPr lang="en-US" smtClean="0"/>
              <a:t>20</a:t>
            </a:fld>
            <a:endParaRPr lang="en-US"/>
          </a:p>
        </p:txBody>
      </p:sp>
    </p:spTree>
    <p:extLst>
      <p:ext uri="{BB962C8B-B14F-4D97-AF65-F5344CB8AC3E}">
        <p14:creationId xmlns:p14="http://schemas.microsoft.com/office/powerpoint/2010/main" val="3286445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4C52-C888-77BE-8989-4790A1D00C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0A8413-3F02-A6BF-FFB4-557C5060CFB3}"/>
              </a:ext>
            </a:extLst>
          </p:cNvPr>
          <p:cNvSpPr>
            <a:spLocks noGrp="1"/>
          </p:cNvSpPr>
          <p:nvPr>
            <p:ph idx="1"/>
          </p:nvPr>
        </p:nvSpPr>
        <p:spPr>
          <a:xfrm>
            <a:off x="373627" y="365125"/>
            <a:ext cx="11621728" cy="5811838"/>
          </a:xfrm>
        </p:spPr>
        <p:txBody>
          <a:bodyPr>
            <a:normAutofit/>
          </a:bodyPr>
          <a:lstStyle/>
          <a:p>
            <a:r>
              <a:rPr lang="en-US" sz="2300" dirty="0">
                <a:latin typeface="Courier New" panose="02070309020205020404" pitchFamily="49" charset="0"/>
                <a:cs typeface="Courier New" panose="02070309020205020404" pitchFamily="49" charset="0"/>
              </a:rPr>
              <a:t>0) loop = 1 ;</a:t>
            </a:r>
          </a:p>
          <a:p>
            <a:r>
              <a:rPr lang="en-US" sz="2300" dirty="0">
                <a:latin typeface="Courier New" panose="02070309020205020404" pitchFamily="49" charset="0"/>
                <a:cs typeface="Courier New" panose="02070309020205020404" pitchFamily="49" charset="0"/>
              </a:rPr>
              <a:t>1) while (loop) {</a:t>
            </a:r>
          </a:p>
          <a:p>
            <a:r>
              <a:rPr lang="en-US" sz="2300" dirty="0">
                <a:latin typeface="Courier New" panose="02070309020205020404" pitchFamily="49" charset="0"/>
                <a:cs typeface="Courier New" panose="02070309020205020404" pitchFamily="49" charset="0"/>
              </a:rPr>
              <a:t>2) prompt("Enter a Social Security Number: ", </a:t>
            </a:r>
            <a:r>
              <a:rPr lang="en-US" sz="2300" dirty="0" err="1">
                <a:latin typeface="Courier New" panose="02070309020205020404" pitchFamily="49" charset="0"/>
                <a:cs typeface="Courier New" panose="02070309020205020404" pitchFamily="49" charset="0"/>
              </a:rPr>
              <a:t>ssn</a:t>
            </a:r>
            <a:r>
              <a:rPr lang="en-US" sz="2300" dirty="0">
                <a:latin typeface="Courier New" panose="02070309020205020404" pitchFamily="49" charset="0"/>
                <a:cs typeface="Courier New" panose="02070309020205020404" pitchFamily="49" charset="0"/>
              </a:rPr>
              <a:t>) ;</a:t>
            </a:r>
          </a:p>
          <a:p>
            <a:r>
              <a:rPr lang="en-US" sz="2300" dirty="0">
                <a:latin typeface="Courier New" panose="02070309020205020404" pitchFamily="49" charset="0"/>
                <a:cs typeface="Courier New" panose="02070309020205020404" pitchFamily="49" charset="0"/>
              </a:rPr>
              <a:t>3) EXEC SQL</a:t>
            </a:r>
          </a:p>
          <a:p>
            <a:r>
              <a:rPr lang="en-US" sz="2300" dirty="0">
                <a:latin typeface="Courier New" panose="02070309020205020404" pitchFamily="49" charset="0"/>
                <a:cs typeface="Courier New" panose="02070309020205020404" pitchFamily="49" charset="0"/>
              </a:rPr>
              <a:t>4) SELECT </a:t>
            </a:r>
            <a:r>
              <a:rPr lang="en-US" sz="2300" dirty="0" err="1">
                <a:latin typeface="Courier New" panose="02070309020205020404" pitchFamily="49" charset="0"/>
                <a:cs typeface="Courier New" panose="02070309020205020404" pitchFamily="49" charset="0"/>
              </a:rPr>
              <a:t>Fname</a:t>
            </a:r>
            <a:r>
              <a:rPr lang="en-US" sz="2300" dirty="0">
                <a:latin typeface="Courier New" panose="02070309020205020404" pitchFamily="49" charset="0"/>
                <a:cs typeface="Courier New" panose="02070309020205020404" pitchFamily="49" charset="0"/>
              </a:rPr>
              <a:t>, Minit, </a:t>
            </a:r>
            <a:r>
              <a:rPr lang="en-US" sz="2300" dirty="0" err="1">
                <a:latin typeface="Courier New" panose="02070309020205020404" pitchFamily="49" charset="0"/>
                <a:cs typeface="Courier New" panose="02070309020205020404" pitchFamily="49" charset="0"/>
              </a:rPr>
              <a:t>Lname</a:t>
            </a:r>
            <a:r>
              <a:rPr lang="en-US" sz="2300" dirty="0">
                <a:latin typeface="Courier New" panose="02070309020205020404" pitchFamily="49" charset="0"/>
                <a:cs typeface="Courier New" panose="02070309020205020404" pitchFamily="49" charset="0"/>
              </a:rPr>
              <a:t>, Address, Salary</a:t>
            </a:r>
          </a:p>
          <a:p>
            <a:r>
              <a:rPr lang="en-US" sz="2300" dirty="0">
                <a:latin typeface="Courier New" panose="02070309020205020404" pitchFamily="49" charset="0"/>
                <a:cs typeface="Courier New" panose="02070309020205020404" pitchFamily="49" charset="0"/>
              </a:rPr>
              <a:t>5) INTO :</a:t>
            </a:r>
            <a:r>
              <a:rPr lang="en-US" sz="2300" dirty="0" err="1">
                <a:latin typeface="Courier New" panose="02070309020205020404" pitchFamily="49" charset="0"/>
                <a:cs typeface="Courier New" panose="02070309020205020404" pitchFamily="49" charset="0"/>
              </a:rPr>
              <a:t>fname</a:t>
            </a:r>
            <a:r>
              <a:rPr lang="en-US" sz="2300" dirty="0">
                <a:latin typeface="Courier New" panose="02070309020205020404" pitchFamily="49" charset="0"/>
                <a:cs typeface="Courier New" panose="02070309020205020404" pitchFamily="49" charset="0"/>
              </a:rPr>
              <a:t>, :</a:t>
            </a:r>
            <a:r>
              <a:rPr lang="en-US" sz="2300" dirty="0" err="1">
                <a:latin typeface="Courier New" panose="02070309020205020404" pitchFamily="49" charset="0"/>
                <a:cs typeface="Courier New" panose="02070309020205020404" pitchFamily="49" charset="0"/>
              </a:rPr>
              <a:t>minit</a:t>
            </a:r>
            <a:r>
              <a:rPr lang="en-US" sz="2300" dirty="0">
                <a:latin typeface="Courier New" panose="02070309020205020404" pitchFamily="49" charset="0"/>
                <a:cs typeface="Courier New" panose="02070309020205020404" pitchFamily="49" charset="0"/>
              </a:rPr>
              <a:t>, :</a:t>
            </a:r>
            <a:r>
              <a:rPr lang="en-US" sz="2300" dirty="0" err="1">
                <a:latin typeface="Courier New" panose="02070309020205020404" pitchFamily="49" charset="0"/>
                <a:cs typeface="Courier New" panose="02070309020205020404" pitchFamily="49" charset="0"/>
              </a:rPr>
              <a:t>lname</a:t>
            </a:r>
            <a:r>
              <a:rPr lang="en-US" sz="2300" dirty="0">
                <a:latin typeface="Courier New" panose="02070309020205020404" pitchFamily="49" charset="0"/>
                <a:cs typeface="Courier New" panose="02070309020205020404" pitchFamily="49" charset="0"/>
              </a:rPr>
              <a:t>, :address, :salary</a:t>
            </a:r>
          </a:p>
          <a:p>
            <a:r>
              <a:rPr lang="en-US" sz="2300" dirty="0">
                <a:latin typeface="Courier New" panose="02070309020205020404" pitchFamily="49" charset="0"/>
                <a:cs typeface="Courier New" panose="02070309020205020404" pitchFamily="49" charset="0"/>
              </a:rPr>
              <a:t>6) FROM EMPLOYEE WHERE </a:t>
            </a:r>
            <a:r>
              <a:rPr lang="en-US" sz="2300" dirty="0" err="1">
                <a:latin typeface="Courier New" panose="02070309020205020404" pitchFamily="49" charset="0"/>
                <a:cs typeface="Courier New" panose="02070309020205020404" pitchFamily="49" charset="0"/>
              </a:rPr>
              <a:t>Ssn</a:t>
            </a:r>
            <a:r>
              <a:rPr lang="en-US" sz="2300" dirty="0">
                <a:latin typeface="Courier New" panose="02070309020205020404" pitchFamily="49" charset="0"/>
                <a:cs typeface="Courier New" panose="02070309020205020404" pitchFamily="49" charset="0"/>
              </a:rPr>
              <a:t> = :</a:t>
            </a:r>
            <a:r>
              <a:rPr lang="en-US" sz="2300" dirty="0" err="1">
                <a:latin typeface="Courier New" panose="02070309020205020404" pitchFamily="49" charset="0"/>
                <a:cs typeface="Courier New" panose="02070309020205020404" pitchFamily="49" charset="0"/>
              </a:rPr>
              <a:t>ssn</a:t>
            </a:r>
            <a:r>
              <a:rPr lang="en-US" sz="2300" dirty="0">
                <a:latin typeface="Courier New" panose="02070309020205020404" pitchFamily="49" charset="0"/>
                <a:cs typeface="Courier New" panose="02070309020205020404" pitchFamily="49" charset="0"/>
              </a:rPr>
              <a:t> ;</a:t>
            </a:r>
          </a:p>
          <a:p>
            <a:r>
              <a:rPr lang="en-US" sz="2300" dirty="0">
                <a:latin typeface="Courier New" panose="02070309020205020404" pitchFamily="49" charset="0"/>
                <a:cs typeface="Courier New" panose="02070309020205020404" pitchFamily="49" charset="0"/>
              </a:rPr>
              <a:t>7) if (SQLCODE = = 0) </a:t>
            </a:r>
            <a:r>
              <a:rPr lang="en-US" sz="2300" dirty="0" err="1">
                <a:latin typeface="Courier New" panose="02070309020205020404" pitchFamily="49" charset="0"/>
                <a:cs typeface="Courier New" panose="02070309020205020404" pitchFamily="49" charset="0"/>
              </a:rPr>
              <a:t>printf</a:t>
            </a:r>
            <a:r>
              <a:rPr lang="en-US" sz="2300" dirty="0">
                <a:latin typeface="Courier New" panose="02070309020205020404" pitchFamily="49" charset="0"/>
                <a:cs typeface="Courier New" panose="02070309020205020404" pitchFamily="49" charset="0"/>
              </a:rPr>
              <a:t>(</a:t>
            </a:r>
            <a:r>
              <a:rPr lang="en-US" sz="2300" dirty="0" err="1">
                <a:latin typeface="Courier New" panose="02070309020205020404" pitchFamily="49" charset="0"/>
                <a:cs typeface="Courier New" panose="02070309020205020404" pitchFamily="49" charset="0"/>
              </a:rPr>
              <a:t>fname</a:t>
            </a:r>
            <a:r>
              <a:rPr lang="en-US" sz="2300" dirty="0">
                <a:latin typeface="Courier New" panose="02070309020205020404" pitchFamily="49" charset="0"/>
                <a:cs typeface="Courier New" panose="02070309020205020404" pitchFamily="49" charset="0"/>
              </a:rPr>
              <a:t>, </a:t>
            </a:r>
            <a:r>
              <a:rPr lang="en-US" sz="2300" dirty="0" err="1">
                <a:latin typeface="Courier New" panose="02070309020205020404" pitchFamily="49" charset="0"/>
                <a:cs typeface="Courier New" panose="02070309020205020404" pitchFamily="49" charset="0"/>
              </a:rPr>
              <a:t>minit</a:t>
            </a:r>
            <a:r>
              <a:rPr lang="en-US" sz="2300" dirty="0">
                <a:latin typeface="Courier New" panose="02070309020205020404" pitchFamily="49" charset="0"/>
                <a:cs typeface="Courier New" panose="02070309020205020404" pitchFamily="49" charset="0"/>
              </a:rPr>
              <a:t>, </a:t>
            </a:r>
            <a:r>
              <a:rPr lang="en-US" sz="2300" dirty="0" err="1">
                <a:latin typeface="Courier New" panose="02070309020205020404" pitchFamily="49" charset="0"/>
                <a:cs typeface="Courier New" panose="02070309020205020404" pitchFamily="49" charset="0"/>
              </a:rPr>
              <a:t>lname</a:t>
            </a:r>
            <a:r>
              <a:rPr lang="en-US" sz="2300" dirty="0">
                <a:latin typeface="Courier New" panose="02070309020205020404" pitchFamily="49" charset="0"/>
                <a:cs typeface="Courier New" panose="02070309020205020404" pitchFamily="49" charset="0"/>
              </a:rPr>
              <a:t>, address, salary)</a:t>
            </a:r>
          </a:p>
          <a:p>
            <a:r>
              <a:rPr lang="en-US" sz="2300" dirty="0">
                <a:latin typeface="Courier New" panose="02070309020205020404" pitchFamily="49" charset="0"/>
                <a:cs typeface="Courier New" panose="02070309020205020404" pitchFamily="49" charset="0"/>
              </a:rPr>
              <a:t>8) else </a:t>
            </a:r>
            <a:r>
              <a:rPr lang="en-US" sz="2300" dirty="0" err="1">
                <a:latin typeface="Courier New" panose="02070309020205020404" pitchFamily="49" charset="0"/>
                <a:cs typeface="Courier New" panose="02070309020205020404" pitchFamily="49" charset="0"/>
              </a:rPr>
              <a:t>printf</a:t>
            </a:r>
            <a:r>
              <a:rPr lang="en-US" sz="2300" dirty="0">
                <a:latin typeface="Courier New" panose="02070309020205020404" pitchFamily="49" charset="0"/>
                <a:cs typeface="Courier New" panose="02070309020205020404" pitchFamily="49" charset="0"/>
              </a:rPr>
              <a:t>("Social Security Number does not exist: ", </a:t>
            </a:r>
            <a:r>
              <a:rPr lang="en-US" sz="2300" dirty="0" err="1">
                <a:latin typeface="Courier New" panose="02070309020205020404" pitchFamily="49" charset="0"/>
                <a:cs typeface="Courier New" panose="02070309020205020404" pitchFamily="49" charset="0"/>
              </a:rPr>
              <a:t>ssn</a:t>
            </a:r>
            <a:r>
              <a:rPr lang="en-US" sz="2300" dirty="0">
                <a:latin typeface="Courier New" panose="02070309020205020404" pitchFamily="49" charset="0"/>
                <a:cs typeface="Courier New" panose="02070309020205020404" pitchFamily="49" charset="0"/>
              </a:rPr>
              <a:t>) ;</a:t>
            </a:r>
          </a:p>
          <a:p>
            <a:r>
              <a:rPr lang="en-US" sz="2300" dirty="0">
                <a:latin typeface="Courier New" panose="02070309020205020404" pitchFamily="49" charset="0"/>
                <a:cs typeface="Courier New" panose="02070309020205020404" pitchFamily="49" charset="0"/>
              </a:rPr>
              <a:t>9) prompt("More Social Security Numbers (enter 1 for Yes, 0 for No): ", loop) ;</a:t>
            </a:r>
          </a:p>
          <a:p>
            <a:r>
              <a:rPr lang="en-US" sz="2300" dirty="0">
                <a:latin typeface="Courier New" panose="02070309020205020404" pitchFamily="49" charset="0"/>
                <a:cs typeface="Courier New" panose="02070309020205020404" pitchFamily="49" charset="0"/>
              </a:rPr>
              <a:t>10) }</a:t>
            </a:r>
          </a:p>
        </p:txBody>
      </p:sp>
      <p:sp>
        <p:nvSpPr>
          <p:cNvPr id="4" name="Slide Number Placeholder 3">
            <a:extLst>
              <a:ext uri="{FF2B5EF4-FFF2-40B4-BE49-F238E27FC236}">
                <a16:creationId xmlns:a16="http://schemas.microsoft.com/office/drawing/2014/main" id="{4D0BCF06-5939-99CF-07A3-759C2E566BAB}"/>
              </a:ext>
            </a:extLst>
          </p:cNvPr>
          <p:cNvSpPr>
            <a:spLocks noGrp="1"/>
          </p:cNvSpPr>
          <p:nvPr>
            <p:ph type="sldNum" sz="quarter" idx="12"/>
          </p:nvPr>
        </p:nvSpPr>
        <p:spPr/>
        <p:txBody>
          <a:bodyPr/>
          <a:lstStyle/>
          <a:p>
            <a:fld id="{6264BDCF-5269-49AC-A246-ED26C2B980E3}" type="slidenum">
              <a:rPr lang="en-US" smtClean="0"/>
              <a:t>21</a:t>
            </a:fld>
            <a:endParaRPr lang="en-US"/>
          </a:p>
        </p:txBody>
      </p:sp>
    </p:spTree>
    <p:extLst>
      <p:ext uri="{BB962C8B-B14F-4D97-AF65-F5344CB8AC3E}">
        <p14:creationId xmlns:p14="http://schemas.microsoft.com/office/powerpoint/2010/main" val="3382856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D6227-8695-750A-8D1F-8F1C17EE5E1D}"/>
              </a:ext>
            </a:extLst>
          </p:cNvPr>
          <p:cNvSpPr>
            <a:spLocks noGrp="1"/>
          </p:cNvSpPr>
          <p:nvPr>
            <p:ph type="title"/>
          </p:nvPr>
        </p:nvSpPr>
        <p:spPr/>
        <p:txBody>
          <a:bodyPr/>
          <a:lstStyle/>
          <a:p>
            <a:r>
              <a:rPr lang="en-US" dirty="0"/>
              <a:t>Connecting to the Database</a:t>
            </a:r>
          </a:p>
        </p:txBody>
      </p:sp>
      <p:sp>
        <p:nvSpPr>
          <p:cNvPr id="3" name="Content Placeholder 2">
            <a:extLst>
              <a:ext uri="{FF2B5EF4-FFF2-40B4-BE49-F238E27FC236}">
                <a16:creationId xmlns:a16="http://schemas.microsoft.com/office/drawing/2014/main" id="{D1C251F9-F8DF-73E1-156A-D44F3C62093E}"/>
              </a:ext>
            </a:extLst>
          </p:cNvPr>
          <p:cNvSpPr>
            <a:spLocks noGrp="1"/>
          </p:cNvSpPr>
          <p:nvPr>
            <p:ph idx="1"/>
          </p:nvPr>
        </p:nvSpPr>
        <p:spPr/>
        <p:txBody>
          <a:bodyPr>
            <a:normAutofit lnSpcReduction="10000"/>
          </a:bodyPr>
          <a:lstStyle/>
          <a:p>
            <a:r>
              <a:rPr lang="en-US" dirty="0"/>
              <a:t>SQL command for establishing connection to database:</a:t>
            </a:r>
          </a:p>
          <a:p>
            <a:r>
              <a:rPr lang="en-US" i="1" dirty="0"/>
              <a:t>CONNECT TO</a:t>
            </a:r>
            <a:r>
              <a:rPr lang="en-US" b="1" dirty="0"/>
              <a:t> </a:t>
            </a:r>
            <a:r>
              <a:rPr lang="en-US" dirty="0"/>
              <a:t>&lt;server name&gt; </a:t>
            </a:r>
            <a:r>
              <a:rPr lang="en-US" i="1" dirty="0"/>
              <a:t>AS</a:t>
            </a:r>
            <a:r>
              <a:rPr lang="en-US" b="1" dirty="0"/>
              <a:t> </a:t>
            </a:r>
            <a:r>
              <a:rPr lang="en-US" dirty="0"/>
              <a:t>&lt;connection name&gt;</a:t>
            </a:r>
          </a:p>
          <a:p>
            <a:r>
              <a:rPr lang="en-US" i="1" dirty="0"/>
              <a:t>AUTHORIZATION</a:t>
            </a:r>
            <a:r>
              <a:rPr lang="en-US" b="1" dirty="0"/>
              <a:t> </a:t>
            </a:r>
            <a:r>
              <a:rPr lang="en-US" dirty="0"/>
              <a:t>&lt;user account name and password&gt; ;</a:t>
            </a:r>
          </a:p>
          <a:p>
            <a:endParaRPr lang="en-US" sz="1000" dirty="0"/>
          </a:p>
          <a:p>
            <a:r>
              <a:rPr lang="en-US" dirty="0"/>
              <a:t>several connections can be established, but only one connection can be active</a:t>
            </a:r>
          </a:p>
          <a:p>
            <a:r>
              <a:rPr lang="en-US" i="1" dirty="0"/>
              <a:t>SET CONNECTION </a:t>
            </a:r>
            <a:r>
              <a:rPr lang="en-US" dirty="0"/>
              <a:t>&lt;connection name&gt; ;</a:t>
            </a:r>
          </a:p>
          <a:p>
            <a:endParaRPr lang="en-US" sz="1000" dirty="0"/>
          </a:p>
          <a:p>
            <a:r>
              <a:rPr lang="en-US" dirty="0"/>
              <a:t>once connection is no longer needed, it can be terminated:</a:t>
            </a:r>
          </a:p>
          <a:p>
            <a:r>
              <a:rPr lang="en-US" i="1" dirty="0"/>
              <a:t>DISCONNECT</a:t>
            </a:r>
            <a:r>
              <a:rPr lang="en-US" b="1" dirty="0"/>
              <a:t> </a:t>
            </a:r>
            <a:r>
              <a:rPr lang="en-US" dirty="0"/>
              <a:t>&lt;connection name&gt;</a:t>
            </a:r>
          </a:p>
        </p:txBody>
      </p:sp>
      <p:sp>
        <p:nvSpPr>
          <p:cNvPr id="4" name="Slide Number Placeholder 3">
            <a:extLst>
              <a:ext uri="{FF2B5EF4-FFF2-40B4-BE49-F238E27FC236}">
                <a16:creationId xmlns:a16="http://schemas.microsoft.com/office/drawing/2014/main" id="{8F860654-35B1-B69F-5B8C-4FEAEF04F8C9}"/>
              </a:ext>
            </a:extLst>
          </p:cNvPr>
          <p:cNvSpPr>
            <a:spLocks noGrp="1"/>
          </p:cNvSpPr>
          <p:nvPr>
            <p:ph type="sldNum" sz="quarter" idx="12"/>
          </p:nvPr>
        </p:nvSpPr>
        <p:spPr/>
        <p:txBody>
          <a:bodyPr/>
          <a:lstStyle/>
          <a:p>
            <a:fld id="{6264BDCF-5269-49AC-A246-ED26C2B980E3}" type="slidenum">
              <a:rPr lang="en-US" smtClean="0"/>
              <a:t>22</a:t>
            </a:fld>
            <a:endParaRPr lang="en-US"/>
          </a:p>
        </p:txBody>
      </p:sp>
    </p:spTree>
    <p:extLst>
      <p:ext uri="{BB962C8B-B14F-4D97-AF65-F5344CB8AC3E}">
        <p14:creationId xmlns:p14="http://schemas.microsoft.com/office/powerpoint/2010/main" val="2837452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1F94-02AE-09B8-8EA9-4668DF384D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90E5FB-FE04-70C2-D510-9D70607ABC5E}"/>
              </a:ext>
            </a:extLst>
          </p:cNvPr>
          <p:cNvSpPr>
            <a:spLocks noGrp="1"/>
          </p:cNvSpPr>
          <p:nvPr>
            <p:ph idx="1"/>
          </p:nvPr>
        </p:nvSpPr>
        <p:spPr/>
        <p:txBody>
          <a:bodyPr/>
          <a:lstStyle/>
          <a:p>
            <a:r>
              <a:rPr lang="en-US" dirty="0"/>
              <a:t>SQLCODE and SQLSTATE - two special communication variables that are used by the DBMS to communicate exception or error conditions to the program</a:t>
            </a:r>
          </a:p>
        </p:txBody>
      </p:sp>
      <p:sp>
        <p:nvSpPr>
          <p:cNvPr id="4" name="Slide Number Placeholder 3">
            <a:extLst>
              <a:ext uri="{FF2B5EF4-FFF2-40B4-BE49-F238E27FC236}">
                <a16:creationId xmlns:a16="http://schemas.microsoft.com/office/drawing/2014/main" id="{2D763047-CB5B-0A40-E70B-B40D74458E5C}"/>
              </a:ext>
            </a:extLst>
          </p:cNvPr>
          <p:cNvSpPr>
            <a:spLocks noGrp="1"/>
          </p:cNvSpPr>
          <p:nvPr>
            <p:ph type="sldNum" sz="quarter" idx="12"/>
          </p:nvPr>
        </p:nvSpPr>
        <p:spPr/>
        <p:txBody>
          <a:bodyPr/>
          <a:lstStyle/>
          <a:p>
            <a:fld id="{6264BDCF-5269-49AC-A246-ED26C2B980E3}" type="slidenum">
              <a:rPr lang="en-US" smtClean="0"/>
              <a:t>23</a:t>
            </a:fld>
            <a:endParaRPr lang="en-US"/>
          </a:p>
        </p:txBody>
      </p:sp>
    </p:spTree>
    <p:extLst>
      <p:ext uri="{BB962C8B-B14F-4D97-AF65-F5344CB8AC3E}">
        <p14:creationId xmlns:p14="http://schemas.microsoft.com/office/powerpoint/2010/main" val="3694554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FAD5-4328-B163-2101-45BE153619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0E312C-F588-488E-8E0C-A972B7BF4981}"/>
              </a:ext>
            </a:extLst>
          </p:cNvPr>
          <p:cNvSpPr>
            <a:spLocks noGrp="1"/>
          </p:cNvSpPr>
          <p:nvPr>
            <p:ph idx="1"/>
          </p:nvPr>
        </p:nvSpPr>
        <p:spPr>
          <a:xfrm>
            <a:off x="619432" y="136525"/>
            <a:ext cx="10734368" cy="6040438"/>
          </a:xfrm>
        </p:spPr>
        <p:txBody>
          <a:bodyPr>
            <a:noAutofit/>
          </a:bodyPr>
          <a:lstStyle/>
          <a:p>
            <a:r>
              <a:rPr lang="en-US" sz="1600" dirty="0">
                <a:latin typeface="Courier New" panose="02070309020205020404" pitchFamily="49" charset="0"/>
                <a:cs typeface="Courier New" panose="02070309020205020404" pitchFamily="49" charset="0"/>
              </a:rPr>
              <a:t>0) prompt("Enter the Department Name: ", </a:t>
            </a:r>
            <a:r>
              <a:rPr lang="en-US" sz="1600" dirty="0" err="1">
                <a:latin typeface="Courier New" panose="02070309020205020404" pitchFamily="49" charset="0"/>
                <a:cs typeface="Courier New" panose="02070309020205020404" pitchFamily="49" charset="0"/>
              </a:rPr>
              <a:t>dname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1) EXEC SQL</a:t>
            </a:r>
          </a:p>
          <a:p>
            <a:r>
              <a:rPr lang="en-US" sz="1600" dirty="0">
                <a:latin typeface="Courier New" panose="02070309020205020404" pitchFamily="49" charset="0"/>
                <a:cs typeface="Courier New" panose="02070309020205020404" pitchFamily="49" charset="0"/>
              </a:rPr>
              <a:t>2) SELECT </a:t>
            </a:r>
            <a:r>
              <a:rPr lang="en-US" sz="1600" dirty="0" err="1">
                <a:latin typeface="Courier New" panose="02070309020205020404" pitchFamily="49" charset="0"/>
                <a:cs typeface="Courier New" panose="02070309020205020404" pitchFamily="49" charset="0"/>
              </a:rPr>
              <a:t>Dnumber</a:t>
            </a:r>
            <a:r>
              <a:rPr lang="en-US" sz="1600" dirty="0">
                <a:latin typeface="Courier New" panose="02070309020205020404" pitchFamily="49" charset="0"/>
                <a:cs typeface="Courier New" panose="02070309020205020404" pitchFamily="49" charset="0"/>
              </a:rPr>
              <a:t> INTO :</a:t>
            </a:r>
            <a:r>
              <a:rPr lang="en-US" sz="1600" dirty="0" err="1">
                <a:latin typeface="Courier New" panose="02070309020205020404" pitchFamily="49" charset="0"/>
                <a:cs typeface="Courier New" panose="02070309020205020404" pitchFamily="49" charset="0"/>
              </a:rPr>
              <a:t>dnumber</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3) FROM DEPARTMENT WHERE </a:t>
            </a:r>
            <a:r>
              <a:rPr lang="en-US" sz="1600" dirty="0" err="1">
                <a:latin typeface="Courier New" panose="02070309020205020404" pitchFamily="49" charset="0"/>
                <a:cs typeface="Courier New" panose="02070309020205020404" pitchFamily="49" charset="0"/>
              </a:rPr>
              <a:t>Dname</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dname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4) EXEC SQL DECLARE EMP CURSOR FOR</a:t>
            </a:r>
          </a:p>
          <a:p>
            <a:r>
              <a:rPr lang="en-US" sz="1600" dirty="0">
                <a:latin typeface="Courier New" panose="02070309020205020404" pitchFamily="49" charset="0"/>
                <a:cs typeface="Courier New" panose="02070309020205020404" pitchFamily="49" charset="0"/>
              </a:rPr>
              <a:t>5) SELECT </a:t>
            </a:r>
            <a:r>
              <a:rPr lang="en-US" sz="1600" dirty="0" err="1">
                <a:latin typeface="Courier New" panose="02070309020205020404" pitchFamily="49" charset="0"/>
                <a:cs typeface="Courier New" panose="02070309020205020404" pitchFamily="49" charset="0"/>
              </a:rPr>
              <a:t>Ssn</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Fname</a:t>
            </a:r>
            <a:r>
              <a:rPr lang="en-US" sz="1600" dirty="0">
                <a:latin typeface="Courier New" panose="02070309020205020404" pitchFamily="49" charset="0"/>
                <a:cs typeface="Courier New" panose="02070309020205020404" pitchFamily="49" charset="0"/>
              </a:rPr>
              <a:t>, Minit, </a:t>
            </a:r>
            <a:r>
              <a:rPr lang="en-US" sz="1600" dirty="0" err="1">
                <a:latin typeface="Courier New" panose="02070309020205020404" pitchFamily="49" charset="0"/>
                <a:cs typeface="Courier New" panose="02070309020205020404" pitchFamily="49" charset="0"/>
              </a:rPr>
              <a:t>Lname</a:t>
            </a:r>
            <a:r>
              <a:rPr lang="en-US" sz="1600" dirty="0">
                <a:latin typeface="Courier New" panose="02070309020205020404" pitchFamily="49" charset="0"/>
                <a:cs typeface="Courier New" panose="02070309020205020404" pitchFamily="49" charset="0"/>
              </a:rPr>
              <a:t>, Salary</a:t>
            </a:r>
          </a:p>
          <a:p>
            <a:r>
              <a:rPr lang="en-US" sz="1600" dirty="0">
                <a:latin typeface="Courier New" panose="02070309020205020404" pitchFamily="49" charset="0"/>
                <a:cs typeface="Courier New" panose="02070309020205020404" pitchFamily="49" charset="0"/>
              </a:rPr>
              <a:t>6) FROM EMPLOYEE WHERE </a:t>
            </a:r>
            <a:r>
              <a:rPr lang="en-US" sz="1600" dirty="0" err="1">
                <a:latin typeface="Courier New" panose="02070309020205020404" pitchFamily="49" charset="0"/>
                <a:cs typeface="Courier New" panose="02070309020205020404" pitchFamily="49" charset="0"/>
              </a:rPr>
              <a:t>Dno</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dnumber</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7) FOR UPDATE OF Salary ;</a:t>
            </a:r>
          </a:p>
          <a:p>
            <a:r>
              <a:rPr lang="en-US" sz="1600" dirty="0">
                <a:latin typeface="Courier New" panose="02070309020205020404" pitchFamily="49" charset="0"/>
                <a:cs typeface="Courier New" panose="02070309020205020404" pitchFamily="49" charset="0"/>
              </a:rPr>
              <a:t>8) EXEC SQL OPEN EMP ;</a:t>
            </a:r>
          </a:p>
          <a:p>
            <a:r>
              <a:rPr lang="en-US" sz="1600" dirty="0">
                <a:latin typeface="Courier New" panose="02070309020205020404" pitchFamily="49" charset="0"/>
                <a:cs typeface="Courier New" panose="02070309020205020404" pitchFamily="49" charset="0"/>
              </a:rPr>
              <a:t>9) EXEC SQL FETCH FROM EMP INTO :</a:t>
            </a:r>
            <a:r>
              <a:rPr lang="en-US" sz="1600" dirty="0" err="1">
                <a:latin typeface="Courier New" panose="02070309020205020404" pitchFamily="49" charset="0"/>
                <a:cs typeface="Courier New" panose="02070309020205020404" pitchFamily="49" charset="0"/>
              </a:rPr>
              <a:t>ssn</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fname</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minit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lname</a:t>
            </a:r>
            <a:r>
              <a:rPr lang="en-US" sz="1600" dirty="0">
                <a:latin typeface="Courier New" panose="02070309020205020404" pitchFamily="49" charset="0"/>
                <a:cs typeface="Courier New" panose="02070309020205020404" pitchFamily="49" charset="0"/>
              </a:rPr>
              <a:t>, :salary ;</a:t>
            </a:r>
          </a:p>
          <a:p>
            <a:r>
              <a:rPr lang="en-US" sz="1600" dirty="0">
                <a:latin typeface="Courier New" panose="02070309020205020404" pitchFamily="49" charset="0"/>
                <a:cs typeface="Courier New" panose="02070309020205020404" pitchFamily="49" charset="0"/>
              </a:rPr>
              <a:t>10) while (SQLCODE = = 0) {</a:t>
            </a:r>
          </a:p>
          <a:p>
            <a:r>
              <a:rPr lang="en-US" sz="1600" dirty="0">
                <a:latin typeface="Courier New" panose="02070309020205020404" pitchFamily="49" charset="0"/>
                <a:cs typeface="Courier New" panose="02070309020205020404" pitchFamily="49" charset="0"/>
              </a:rPr>
              <a:t>11) </a:t>
            </a:r>
            <a:r>
              <a:rPr lang="en-US" sz="1600" dirty="0" err="1">
                <a:latin typeface="Courier New" panose="02070309020205020404" pitchFamily="49" charset="0"/>
                <a:cs typeface="Courier New" panose="02070309020205020404" pitchFamily="49" charset="0"/>
              </a:rPr>
              <a:t>printf</a:t>
            </a:r>
            <a:r>
              <a:rPr lang="en-US" sz="1600" dirty="0">
                <a:latin typeface="Courier New" panose="02070309020205020404" pitchFamily="49" charset="0"/>
                <a:cs typeface="Courier New" panose="02070309020205020404" pitchFamily="49" charset="0"/>
              </a:rPr>
              <a:t>("Employee name is:", </a:t>
            </a:r>
            <a:r>
              <a:rPr lang="en-US" sz="1600" dirty="0" err="1">
                <a:latin typeface="Courier New" panose="02070309020205020404" pitchFamily="49" charset="0"/>
                <a:cs typeface="Courier New" panose="02070309020205020404" pitchFamily="49" charset="0"/>
              </a:rPr>
              <a:t>Fname</a:t>
            </a:r>
            <a:r>
              <a:rPr lang="en-US" sz="1600" dirty="0">
                <a:latin typeface="Courier New" panose="02070309020205020404" pitchFamily="49" charset="0"/>
                <a:cs typeface="Courier New" panose="02070309020205020404" pitchFamily="49" charset="0"/>
              </a:rPr>
              <a:t>, Minit, </a:t>
            </a:r>
            <a:r>
              <a:rPr lang="en-US" sz="1600" dirty="0" err="1">
                <a:latin typeface="Courier New" panose="02070309020205020404" pitchFamily="49" charset="0"/>
                <a:cs typeface="Courier New" panose="02070309020205020404" pitchFamily="49" charset="0"/>
              </a:rPr>
              <a:t>Lname</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12) prompt("Enter the raise amount: ", raise) ;</a:t>
            </a:r>
          </a:p>
          <a:p>
            <a:r>
              <a:rPr lang="en-US" sz="1600" dirty="0">
                <a:latin typeface="Courier New" panose="02070309020205020404" pitchFamily="49" charset="0"/>
                <a:cs typeface="Courier New" panose="02070309020205020404" pitchFamily="49" charset="0"/>
              </a:rPr>
              <a:t>13) EXEC SQL</a:t>
            </a:r>
          </a:p>
          <a:p>
            <a:r>
              <a:rPr lang="en-US" sz="1600" dirty="0">
                <a:latin typeface="Courier New" panose="02070309020205020404" pitchFamily="49" charset="0"/>
                <a:cs typeface="Courier New" panose="02070309020205020404" pitchFamily="49" charset="0"/>
              </a:rPr>
              <a:t>14) UPDATE EMPLOYEE</a:t>
            </a:r>
          </a:p>
          <a:p>
            <a:r>
              <a:rPr lang="en-US" sz="1600" dirty="0">
                <a:latin typeface="Courier New" panose="02070309020205020404" pitchFamily="49" charset="0"/>
                <a:cs typeface="Courier New" panose="02070309020205020404" pitchFamily="49" charset="0"/>
              </a:rPr>
              <a:t>15) SET Salary = Salary + :raise</a:t>
            </a:r>
          </a:p>
          <a:p>
            <a:r>
              <a:rPr lang="en-US" sz="1600" dirty="0">
                <a:latin typeface="Courier New" panose="02070309020205020404" pitchFamily="49" charset="0"/>
                <a:cs typeface="Courier New" panose="02070309020205020404" pitchFamily="49" charset="0"/>
              </a:rPr>
              <a:t>16) WHERE CURRENT OF EMP ;</a:t>
            </a:r>
          </a:p>
          <a:p>
            <a:r>
              <a:rPr lang="en-US" sz="1600" dirty="0">
                <a:latin typeface="Courier New" panose="02070309020205020404" pitchFamily="49" charset="0"/>
                <a:cs typeface="Courier New" panose="02070309020205020404" pitchFamily="49" charset="0"/>
              </a:rPr>
              <a:t>17) EXEC SQL FETCH FROM EMP INTO :</a:t>
            </a:r>
            <a:r>
              <a:rPr lang="en-US" sz="1600" dirty="0" err="1">
                <a:latin typeface="Courier New" panose="02070309020205020404" pitchFamily="49" charset="0"/>
                <a:cs typeface="Courier New" panose="02070309020205020404" pitchFamily="49" charset="0"/>
              </a:rPr>
              <a:t>ssn</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fname</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minit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lname</a:t>
            </a:r>
            <a:r>
              <a:rPr lang="en-US" sz="1600" dirty="0">
                <a:latin typeface="Courier New" panose="02070309020205020404" pitchFamily="49" charset="0"/>
                <a:cs typeface="Courier New" panose="02070309020205020404" pitchFamily="49" charset="0"/>
              </a:rPr>
              <a:t>, :salary ;</a:t>
            </a:r>
          </a:p>
          <a:p>
            <a:r>
              <a:rPr lang="en-US" sz="1600" dirty="0">
                <a:latin typeface="Courier New" panose="02070309020205020404" pitchFamily="49" charset="0"/>
                <a:cs typeface="Courier New" panose="02070309020205020404" pitchFamily="49" charset="0"/>
              </a:rPr>
              <a:t>18) }</a:t>
            </a:r>
          </a:p>
          <a:p>
            <a:r>
              <a:rPr lang="en-US" sz="1600" dirty="0">
                <a:latin typeface="Courier New" panose="02070309020205020404" pitchFamily="49" charset="0"/>
                <a:cs typeface="Courier New" panose="02070309020205020404" pitchFamily="49" charset="0"/>
              </a:rPr>
              <a:t>19) EXEC SQL CLOSE EMP ;</a:t>
            </a:r>
          </a:p>
        </p:txBody>
      </p:sp>
      <p:sp>
        <p:nvSpPr>
          <p:cNvPr id="4" name="Slide Number Placeholder 3">
            <a:extLst>
              <a:ext uri="{FF2B5EF4-FFF2-40B4-BE49-F238E27FC236}">
                <a16:creationId xmlns:a16="http://schemas.microsoft.com/office/drawing/2014/main" id="{71D7924A-0AFE-B78E-289D-059B7A75E779}"/>
              </a:ext>
            </a:extLst>
          </p:cNvPr>
          <p:cNvSpPr>
            <a:spLocks noGrp="1"/>
          </p:cNvSpPr>
          <p:nvPr>
            <p:ph type="sldNum" sz="quarter" idx="12"/>
          </p:nvPr>
        </p:nvSpPr>
        <p:spPr/>
        <p:txBody>
          <a:bodyPr/>
          <a:lstStyle/>
          <a:p>
            <a:fld id="{6264BDCF-5269-49AC-A246-ED26C2B980E3}" type="slidenum">
              <a:rPr lang="en-US" smtClean="0"/>
              <a:t>24</a:t>
            </a:fld>
            <a:endParaRPr lang="en-US"/>
          </a:p>
        </p:txBody>
      </p:sp>
    </p:spTree>
    <p:extLst>
      <p:ext uri="{BB962C8B-B14F-4D97-AF65-F5344CB8AC3E}">
        <p14:creationId xmlns:p14="http://schemas.microsoft.com/office/powerpoint/2010/main" val="1523064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D0F1D-247C-4E4B-431C-1C16EEECD803}"/>
              </a:ext>
            </a:extLst>
          </p:cNvPr>
          <p:cNvSpPr>
            <a:spLocks noGrp="1"/>
          </p:cNvSpPr>
          <p:nvPr>
            <p:ph type="title"/>
          </p:nvPr>
        </p:nvSpPr>
        <p:spPr/>
        <p:txBody>
          <a:bodyPr>
            <a:normAutofit/>
          </a:bodyPr>
          <a:lstStyle/>
          <a:p>
            <a:r>
              <a:rPr lang="en-US" sz="4600" b="1" dirty="0"/>
              <a:t>cursor</a:t>
            </a:r>
            <a:endParaRPr lang="en-US" sz="4600" dirty="0"/>
          </a:p>
        </p:txBody>
      </p:sp>
      <p:sp>
        <p:nvSpPr>
          <p:cNvPr id="3" name="Content Placeholder 2">
            <a:extLst>
              <a:ext uri="{FF2B5EF4-FFF2-40B4-BE49-F238E27FC236}">
                <a16:creationId xmlns:a16="http://schemas.microsoft.com/office/drawing/2014/main" id="{5C3CC78F-4DAF-DA6A-51B7-72D29F9C9847}"/>
              </a:ext>
            </a:extLst>
          </p:cNvPr>
          <p:cNvSpPr>
            <a:spLocks noGrp="1"/>
          </p:cNvSpPr>
          <p:nvPr>
            <p:ph idx="1"/>
          </p:nvPr>
        </p:nvSpPr>
        <p:spPr/>
        <p:txBody>
          <a:bodyPr>
            <a:normAutofit fontScale="92500"/>
          </a:bodyPr>
          <a:lstStyle/>
          <a:p>
            <a:r>
              <a:rPr lang="en-US" dirty="0"/>
              <a:t>is a variable that refers to </a:t>
            </a:r>
            <a:r>
              <a:rPr lang="en-US" i="1" dirty="0"/>
              <a:t>single tuple </a:t>
            </a:r>
            <a:r>
              <a:rPr lang="en-US" dirty="0"/>
              <a:t>(</a:t>
            </a:r>
            <a:r>
              <a:rPr lang="en-US" i="1" dirty="0"/>
              <a:t>row</a:t>
            </a:r>
            <a:r>
              <a:rPr lang="en-US" dirty="0"/>
              <a:t>) from </a:t>
            </a:r>
            <a:r>
              <a:rPr lang="en-US" i="1" dirty="0"/>
              <a:t>query result </a:t>
            </a:r>
            <a:r>
              <a:rPr lang="en-US" dirty="0"/>
              <a:t>that retrieves a collection of tuples; used to loop over query result, one record at a time</a:t>
            </a:r>
          </a:p>
          <a:p>
            <a:r>
              <a:rPr lang="en-US" dirty="0"/>
              <a:t>cursor is declared when the SQL query is declared</a:t>
            </a:r>
          </a:p>
          <a:p>
            <a:r>
              <a:rPr lang="en-US" i="1" dirty="0"/>
              <a:t>OPEN CURSOR</a:t>
            </a:r>
            <a:r>
              <a:rPr lang="en-US" b="1" dirty="0"/>
              <a:t> </a:t>
            </a:r>
            <a:r>
              <a:rPr lang="en-US" dirty="0"/>
              <a:t>command fetches query result from the database and sets the cursor to position before the first row</a:t>
            </a:r>
            <a:r>
              <a:rPr lang="en-US" i="1" dirty="0"/>
              <a:t> </a:t>
            </a:r>
            <a:r>
              <a:rPr lang="en-US" dirty="0"/>
              <a:t>in the result of the query</a:t>
            </a:r>
          </a:p>
          <a:p>
            <a:r>
              <a:rPr lang="en-US" dirty="0"/>
              <a:t>becomes the current row</a:t>
            </a:r>
            <a:r>
              <a:rPr lang="en-US" b="1" dirty="0"/>
              <a:t> </a:t>
            </a:r>
            <a:r>
              <a:rPr lang="en-US" dirty="0"/>
              <a:t>for the cursor.</a:t>
            </a:r>
          </a:p>
          <a:p>
            <a:r>
              <a:rPr lang="en-US" dirty="0"/>
              <a:t>subsequently, FETCH</a:t>
            </a:r>
            <a:r>
              <a:rPr lang="en-US" b="1" dirty="0"/>
              <a:t> </a:t>
            </a:r>
            <a:r>
              <a:rPr lang="en-US" dirty="0"/>
              <a:t>commands are issued in the program; each FETCH moves the cursor to the </a:t>
            </a:r>
            <a:r>
              <a:rPr lang="en-US" i="1" dirty="0"/>
              <a:t>next row </a:t>
            </a:r>
            <a:r>
              <a:rPr lang="en-US" dirty="0"/>
              <a:t>in the result of the query, making it the current row and copying its attribute values into the C (host language) program variables specified in the FETCH command by an INTO keyword</a:t>
            </a:r>
          </a:p>
        </p:txBody>
      </p:sp>
      <p:sp>
        <p:nvSpPr>
          <p:cNvPr id="4" name="Slide Number Placeholder 3">
            <a:extLst>
              <a:ext uri="{FF2B5EF4-FFF2-40B4-BE49-F238E27FC236}">
                <a16:creationId xmlns:a16="http://schemas.microsoft.com/office/drawing/2014/main" id="{A61F327D-CBF7-DDA2-D0D8-658E0F35F6A4}"/>
              </a:ext>
            </a:extLst>
          </p:cNvPr>
          <p:cNvSpPr>
            <a:spLocks noGrp="1"/>
          </p:cNvSpPr>
          <p:nvPr>
            <p:ph type="sldNum" sz="quarter" idx="12"/>
          </p:nvPr>
        </p:nvSpPr>
        <p:spPr/>
        <p:txBody>
          <a:bodyPr/>
          <a:lstStyle/>
          <a:p>
            <a:fld id="{6264BDCF-5269-49AC-A246-ED26C2B980E3}" type="slidenum">
              <a:rPr lang="en-US" smtClean="0"/>
              <a:t>25</a:t>
            </a:fld>
            <a:endParaRPr lang="en-US"/>
          </a:p>
        </p:txBody>
      </p:sp>
    </p:spTree>
    <p:extLst>
      <p:ext uri="{BB962C8B-B14F-4D97-AF65-F5344CB8AC3E}">
        <p14:creationId xmlns:p14="http://schemas.microsoft.com/office/powerpoint/2010/main" val="4023350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C094B-91BE-7130-F607-9D92831C6A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0EE2CC-6621-30FD-77F8-12A84B757EA8}"/>
              </a:ext>
            </a:extLst>
          </p:cNvPr>
          <p:cNvSpPr>
            <a:spLocks noGrp="1"/>
          </p:cNvSpPr>
          <p:nvPr>
            <p:ph idx="1"/>
          </p:nvPr>
        </p:nvSpPr>
        <p:spPr>
          <a:xfrm>
            <a:off x="838200" y="1238865"/>
            <a:ext cx="10515600" cy="4938098"/>
          </a:xfrm>
        </p:spPr>
        <p:txBody>
          <a:bodyPr>
            <a:normAutofit fontScale="92500" lnSpcReduction="10000"/>
          </a:bodyPr>
          <a:lstStyle/>
          <a:p>
            <a:r>
              <a:rPr lang="en-US" sz="3200" dirty="0"/>
              <a:t>cursor variable is basically an </a:t>
            </a:r>
            <a:r>
              <a:rPr lang="en-US" sz="3200" b="1" i="1" dirty="0"/>
              <a:t>iterator</a:t>
            </a:r>
            <a:r>
              <a:rPr lang="en-US" sz="3200" b="1" dirty="0"/>
              <a:t> </a:t>
            </a:r>
            <a:r>
              <a:rPr lang="en-US" sz="3200" dirty="0"/>
              <a:t>that iterates (loops) over the tuples in the query result, one tuple at a time</a:t>
            </a:r>
          </a:p>
          <a:p>
            <a:r>
              <a:rPr lang="en-US" sz="3000" dirty="0"/>
              <a:t>to determine when all tuples in result of query have been processed, </a:t>
            </a:r>
          </a:p>
          <a:p>
            <a:r>
              <a:rPr lang="en-US" sz="3000" dirty="0"/>
              <a:t>communication variable SQLCODE (or, alternatively, SQLSTATE) is checked</a:t>
            </a:r>
          </a:p>
          <a:p>
            <a:r>
              <a:rPr lang="en-US" sz="3000" dirty="0"/>
              <a:t>if a FETCH command is issued that results in moving cursor past the last tuple in the result of the query, a positive value (SQLCODE &gt; 0) is returned in SQLCODE, indicating that no data (tuple) was found (or the string ‘02000’ is returned in SQLSTATE)</a:t>
            </a:r>
          </a:p>
          <a:p>
            <a:r>
              <a:rPr lang="en-US" sz="3000" dirty="0"/>
              <a:t>programmer uses this to terminate loop over tuples in query result</a:t>
            </a:r>
          </a:p>
          <a:p>
            <a:r>
              <a:rPr lang="en-US" sz="3000" dirty="0"/>
              <a:t>a CLOSE CURSOR</a:t>
            </a:r>
            <a:r>
              <a:rPr lang="en-US" sz="3000" b="1" dirty="0"/>
              <a:t> </a:t>
            </a:r>
            <a:r>
              <a:rPr lang="en-US" sz="3000" dirty="0"/>
              <a:t>command is issued to indicate that we are done with processing the result of the query associated with that cursor</a:t>
            </a:r>
          </a:p>
        </p:txBody>
      </p:sp>
      <p:sp>
        <p:nvSpPr>
          <p:cNvPr id="4" name="Slide Number Placeholder 3">
            <a:extLst>
              <a:ext uri="{FF2B5EF4-FFF2-40B4-BE49-F238E27FC236}">
                <a16:creationId xmlns:a16="http://schemas.microsoft.com/office/drawing/2014/main" id="{76383749-D162-1192-D065-E4E28898BA67}"/>
              </a:ext>
            </a:extLst>
          </p:cNvPr>
          <p:cNvSpPr>
            <a:spLocks noGrp="1"/>
          </p:cNvSpPr>
          <p:nvPr>
            <p:ph type="sldNum" sz="quarter" idx="12"/>
          </p:nvPr>
        </p:nvSpPr>
        <p:spPr/>
        <p:txBody>
          <a:bodyPr/>
          <a:lstStyle/>
          <a:p>
            <a:fld id="{6264BDCF-5269-49AC-A246-ED26C2B980E3}" type="slidenum">
              <a:rPr lang="en-US" smtClean="0"/>
              <a:t>26</a:t>
            </a:fld>
            <a:endParaRPr lang="en-US"/>
          </a:p>
        </p:txBody>
      </p:sp>
    </p:spTree>
    <p:extLst>
      <p:ext uri="{BB962C8B-B14F-4D97-AF65-F5344CB8AC3E}">
        <p14:creationId xmlns:p14="http://schemas.microsoft.com/office/powerpoint/2010/main" val="4236329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A3A2-DC57-7B8A-B0C8-476F9DBA037D}"/>
              </a:ext>
            </a:extLst>
          </p:cNvPr>
          <p:cNvSpPr>
            <a:spLocks noGrp="1"/>
          </p:cNvSpPr>
          <p:nvPr>
            <p:ph type="title"/>
          </p:nvPr>
        </p:nvSpPr>
        <p:spPr/>
        <p:txBody>
          <a:bodyPr/>
          <a:lstStyle/>
          <a:p>
            <a:r>
              <a:rPr lang="en-US" dirty="0"/>
              <a:t>general form of a SQL cursor</a:t>
            </a:r>
          </a:p>
        </p:txBody>
      </p:sp>
      <p:sp>
        <p:nvSpPr>
          <p:cNvPr id="3" name="Content Placeholder 2">
            <a:extLst>
              <a:ext uri="{FF2B5EF4-FFF2-40B4-BE49-F238E27FC236}">
                <a16:creationId xmlns:a16="http://schemas.microsoft.com/office/drawing/2014/main" id="{6F1404CF-3C49-09BA-11EB-9B80789D3A97}"/>
              </a:ext>
            </a:extLst>
          </p:cNvPr>
          <p:cNvSpPr>
            <a:spLocks noGrp="1"/>
          </p:cNvSpPr>
          <p:nvPr>
            <p:ph idx="1"/>
          </p:nvPr>
        </p:nvSpPr>
        <p:spPr/>
        <p:txBody>
          <a:bodyPr/>
          <a:lstStyle/>
          <a:p>
            <a:r>
              <a:rPr lang="en-US" b="1" dirty="0"/>
              <a:t>DECLARE </a:t>
            </a:r>
            <a:r>
              <a:rPr lang="en-US" dirty="0"/>
              <a:t>&lt;cursor name&gt; [ </a:t>
            </a:r>
            <a:r>
              <a:rPr lang="en-US" b="1" dirty="0"/>
              <a:t>INSENSITIVE </a:t>
            </a:r>
            <a:r>
              <a:rPr lang="en-US" dirty="0"/>
              <a:t>] [ </a:t>
            </a:r>
            <a:r>
              <a:rPr lang="en-US" b="1" dirty="0"/>
              <a:t>SCROLL </a:t>
            </a:r>
            <a:r>
              <a:rPr lang="en-US" dirty="0"/>
              <a:t>] </a:t>
            </a:r>
            <a:r>
              <a:rPr lang="en-US" b="1" dirty="0"/>
              <a:t>CURSOR</a:t>
            </a:r>
          </a:p>
          <a:p>
            <a:r>
              <a:rPr lang="en-US" dirty="0"/>
              <a:t>[ </a:t>
            </a:r>
            <a:r>
              <a:rPr lang="en-US" b="1" dirty="0"/>
              <a:t>WITH HOLD </a:t>
            </a:r>
            <a:r>
              <a:rPr lang="en-US" dirty="0"/>
              <a:t>] </a:t>
            </a:r>
            <a:r>
              <a:rPr lang="en-US" b="1" dirty="0"/>
              <a:t>FOR </a:t>
            </a:r>
            <a:r>
              <a:rPr lang="en-US" dirty="0"/>
              <a:t>&lt;</a:t>
            </a:r>
            <a:r>
              <a:rPr lang="en-US" i="1" dirty="0"/>
              <a:t>query specification</a:t>
            </a:r>
            <a:r>
              <a:rPr lang="en-US" dirty="0"/>
              <a:t>&gt;</a:t>
            </a:r>
          </a:p>
          <a:p>
            <a:r>
              <a:rPr lang="en-US" dirty="0"/>
              <a:t>[ </a:t>
            </a:r>
            <a:r>
              <a:rPr lang="en-US" b="1" dirty="0"/>
              <a:t>ORDER BY </a:t>
            </a:r>
            <a:r>
              <a:rPr lang="en-US" dirty="0"/>
              <a:t>&lt;ordering specification&gt; ]</a:t>
            </a:r>
          </a:p>
          <a:p>
            <a:r>
              <a:rPr lang="en-US" dirty="0"/>
              <a:t>[ </a:t>
            </a:r>
            <a:r>
              <a:rPr lang="en-US" b="1" dirty="0"/>
              <a:t>FOR READ ONLY </a:t>
            </a:r>
            <a:r>
              <a:rPr lang="en-US" dirty="0"/>
              <a:t>| </a:t>
            </a:r>
            <a:r>
              <a:rPr lang="en-US" b="1" dirty="0"/>
              <a:t>FOR UPDATE </a:t>
            </a:r>
            <a:r>
              <a:rPr lang="en-US" dirty="0"/>
              <a:t>[ </a:t>
            </a:r>
            <a:r>
              <a:rPr lang="en-US" b="1" dirty="0"/>
              <a:t>OF </a:t>
            </a:r>
            <a:r>
              <a:rPr lang="en-US" dirty="0"/>
              <a:t>&lt;attribute list&gt; ] ] ;</a:t>
            </a:r>
          </a:p>
          <a:p>
            <a:endParaRPr lang="en-US" dirty="0"/>
          </a:p>
        </p:txBody>
      </p:sp>
      <p:sp>
        <p:nvSpPr>
          <p:cNvPr id="4" name="Slide Number Placeholder 3">
            <a:extLst>
              <a:ext uri="{FF2B5EF4-FFF2-40B4-BE49-F238E27FC236}">
                <a16:creationId xmlns:a16="http://schemas.microsoft.com/office/drawing/2014/main" id="{11968D67-5F28-3DFE-FAD8-B4B9F0E146F6}"/>
              </a:ext>
            </a:extLst>
          </p:cNvPr>
          <p:cNvSpPr>
            <a:spLocks noGrp="1"/>
          </p:cNvSpPr>
          <p:nvPr>
            <p:ph type="sldNum" sz="quarter" idx="12"/>
          </p:nvPr>
        </p:nvSpPr>
        <p:spPr/>
        <p:txBody>
          <a:bodyPr/>
          <a:lstStyle/>
          <a:p>
            <a:fld id="{6264BDCF-5269-49AC-A246-ED26C2B980E3}" type="slidenum">
              <a:rPr lang="en-US" smtClean="0"/>
              <a:t>27</a:t>
            </a:fld>
            <a:endParaRPr lang="en-US"/>
          </a:p>
        </p:txBody>
      </p:sp>
    </p:spTree>
    <p:extLst>
      <p:ext uri="{BB962C8B-B14F-4D97-AF65-F5344CB8AC3E}">
        <p14:creationId xmlns:p14="http://schemas.microsoft.com/office/powerpoint/2010/main" val="605476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159BA-8A95-0072-85CF-3444B188DD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1D333D-0EA4-FACD-400D-E66C7796E1D2}"/>
              </a:ext>
            </a:extLst>
          </p:cNvPr>
          <p:cNvSpPr>
            <a:spLocks noGrp="1"/>
          </p:cNvSpPr>
          <p:nvPr>
            <p:ph idx="1"/>
          </p:nvPr>
        </p:nvSpPr>
        <p:spPr/>
        <p:txBody>
          <a:bodyPr/>
          <a:lstStyle/>
          <a:p>
            <a:r>
              <a:rPr lang="en-US" dirty="0"/>
              <a:t>default is that the SQL query – from cursor - is for retrieval purposes (FOR READ ONLY)</a:t>
            </a:r>
          </a:p>
          <a:p>
            <a:r>
              <a:rPr lang="en-US" dirty="0"/>
              <a:t>if some of tuples in query result are to be updated; need to specify FOR UPDATE OF &lt;attribute list&gt; and list attributes that may be updated</a:t>
            </a:r>
          </a:p>
          <a:p>
            <a:r>
              <a:rPr lang="en-US" dirty="0"/>
              <a:t>if some tuples are to be deleted; need to specify FOR UPDATE without any attributes listed</a:t>
            </a:r>
          </a:p>
        </p:txBody>
      </p:sp>
      <p:sp>
        <p:nvSpPr>
          <p:cNvPr id="4" name="Slide Number Placeholder 3">
            <a:extLst>
              <a:ext uri="{FF2B5EF4-FFF2-40B4-BE49-F238E27FC236}">
                <a16:creationId xmlns:a16="http://schemas.microsoft.com/office/drawing/2014/main" id="{ABB25373-C6A3-615E-9293-8100A8EAF926}"/>
              </a:ext>
            </a:extLst>
          </p:cNvPr>
          <p:cNvSpPr>
            <a:spLocks noGrp="1"/>
          </p:cNvSpPr>
          <p:nvPr>
            <p:ph type="sldNum" sz="quarter" idx="12"/>
          </p:nvPr>
        </p:nvSpPr>
        <p:spPr/>
        <p:txBody>
          <a:bodyPr/>
          <a:lstStyle/>
          <a:p>
            <a:fld id="{6264BDCF-5269-49AC-A246-ED26C2B980E3}" type="slidenum">
              <a:rPr lang="en-US" smtClean="0"/>
              <a:t>28</a:t>
            </a:fld>
            <a:endParaRPr lang="en-US"/>
          </a:p>
        </p:txBody>
      </p:sp>
    </p:spTree>
    <p:extLst>
      <p:ext uri="{BB962C8B-B14F-4D97-AF65-F5344CB8AC3E}">
        <p14:creationId xmlns:p14="http://schemas.microsoft.com/office/powerpoint/2010/main" val="4048526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39F0C-A09C-912D-7C25-FCE19DA47A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61D482-954C-B2BA-C40F-2ED449B40F25}"/>
              </a:ext>
            </a:extLst>
          </p:cNvPr>
          <p:cNvSpPr>
            <a:spLocks noGrp="1"/>
          </p:cNvSpPr>
          <p:nvPr>
            <p:ph idx="1"/>
          </p:nvPr>
        </p:nvSpPr>
        <p:spPr/>
        <p:txBody>
          <a:bodyPr>
            <a:normAutofit/>
          </a:bodyPr>
          <a:lstStyle/>
          <a:p>
            <a:r>
              <a:rPr lang="en-US" dirty="0"/>
              <a:t>when optional keyword SCROLL is specified, it is possible to position cursor in other ways than for purely sequential access</a:t>
            </a:r>
          </a:p>
          <a:p>
            <a:r>
              <a:rPr lang="en-US" dirty="0"/>
              <a:t>an orientation</a:t>
            </a:r>
            <a:r>
              <a:rPr lang="en-US" b="1" dirty="0"/>
              <a:t> </a:t>
            </a:r>
            <a:r>
              <a:rPr lang="en-US" dirty="0"/>
              <a:t>can be added to the FETCH command, whose value can be one of NEXT, PRIOR, FIRST, LAST, ABSOLUTE </a:t>
            </a:r>
            <a:r>
              <a:rPr lang="en-US" i="1" dirty="0" err="1"/>
              <a:t>i</a:t>
            </a:r>
            <a:r>
              <a:rPr lang="en-US" dirty="0"/>
              <a:t>, and RELATIVE </a:t>
            </a:r>
            <a:r>
              <a:rPr lang="en-US" i="1" dirty="0" err="1"/>
              <a:t>i</a:t>
            </a:r>
            <a:r>
              <a:rPr lang="en-US" i="1" dirty="0"/>
              <a:t>;</a:t>
            </a:r>
            <a:r>
              <a:rPr lang="en-US" dirty="0"/>
              <a:t> - in the latter two commands, </a:t>
            </a:r>
            <a:r>
              <a:rPr lang="en-US" i="1" dirty="0" err="1"/>
              <a:t>i</a:t>
            </a:r>
            <a:r>
              <a:rPr lang="en-US" i="1" dirty="0"/>
              <a:t> </a:t>
            </a:r>
            <a:r>
              <a:rPr lang="en-US" dirty="0"/>
              <a:t>must evaluate to an integer value that specifies tuple position within the query result</a:t>
            </a:r>
          </a:p>
          <a:p>
            <a:r>
              <a:rPr lang="en-US" dirty="0"/>
              <a:t>default fetch orientation is NEXT</a:t>
            </a:r>
          </a:p>
        </p:txBody>
      </p:sp>
      <p:sp>
        <p:nvSpPr>
          <p:cNvPr id="4" name="Slide Number Placeholder 3">
            <a:extLst>
              <a:ext uri="{FF2B5EF4-FFF2-40B4-BE49-F238E27FC236}">
                <a16:creationId xmlns:a16="http://schemas.microsoft.com/office/drawing/2014/main" id="{DC63786F-AE4A-AB1A-040D-D66F2BDD71D5}"/>
              </a:ext>
            </a:extLst>
          </p:cNvPr>
          <p:cNvSpPr>
            <a:spLocks noGrp="1"/>
          </p:cNvSpPr>
          <p:nvPr>
            <p:ph type="sldNum" sz="quarter" idx="12"/>
          </p:nvPr>
        </p:nvSpPr>
        <p:spPr/>
        <p:txBody>
          <a:bodyPr/>
          <a:lstStyle/>
          <a:p>
            <a:fld id="{6264BDCF-5269-49AC-A246-ED26C2B980E3}" type="slidenum">
              <a:rPr lang="en-US" smtClean="0"/>
              <a:t>29</a:t>
            </a:fld>
            <a:endParaRPr lang="en-US"/>
          </a:p>
        </p:txBody>
      </p:sp>
    </p:spTree>
    <p:extLst>
      <p:ext uri="{BB962C8B-B14F-4D97-AF65-F5344CB8AC3E}">
        <p14:creationId xmlns:p14="http://schemas.microsoft.com/office/powerpoint/2010/main" val="13833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27477-A395-C088-507D-34B3543731E3}"/>
              </a:ext>
            </a:extLst>
          </p:cNvPr>
          <p:cNvSpPr>
            <a:spLocks noGrp="1"/>
          </p:cNvSpPr>
          <p:nvPr>
            <p:ph type="title"/>
          </p:nvPr>
        </p:nvSpPr>
        <p:spPr/>
        <p:txBody>
          <a:bodyPr>
            <a:normAutofit/>
          </a:bodyPr>
          <a:lstStyle/>
          <a:p>
            <a:r>
              <a:rPr lang="en-US" dirty="0"/>
              <a:t>general form of a FETCH command</a:t>
            </a:r>
          </a:p>
        </p:txBody>
      </p:sp>
      <p:sp>
        <p:nvSpPr>
          <p:cNvPr id="3" name="Content Placeholder 2">
            <a:extLst>
              <a:ext uri="{FF2B5EF4-FFF2-40B4-BE49-F238E27FC236}">
                <a16:creationId xmlns:a16="http://schemas.microsoft.com/office/drawing/2014/main" id="{689C050B-A244-D102-DA26-97CC06BED3EF}"/>
              </a:ext>
            </a:extLst>
          </p:cNvPr>
          <p:cNvSpPr>
            <a:spLocks noGrp="1"/>
          </p:cNvSpPr>
          <p:nvPr>
            <p:ph idx="1"/>
          </p:nvPr>
        </p:nvSpPr>
        <p:spPr/>
        <p:txBody>
          <a:bodyPr/>
          <a:lstStyle/>
          <a:p>
            <a:r>
              <a:rPr lang="en-US" b="1" dirty="0"/>
              <a:t>FETCH </a:t>
            </a:r>
            <a:r>
              <a:rPr lang="en-US" dirty="0"/>
              <a:t>[ [ &lt;fetch orientation&gt; ] </a:t>
            </a:r>
            <a:r>
              <a:rPr lang="en-US" b="1" dirty="0"/>
              <a:t>FROM </a:t>
            </a:r>
            <a:r>
              <a:rPr lang="en-US" dirty="0"/>
              <a:t>] &lt;cursor name&gt; </a:t>
            </a:r>
          </a:p>
          <a:p>
            <a:r>
              <a:rPr lang="en-US" b="1" dirty="0"/>
              <a:t>INTO </a:t>
            </a:r>
            <a:r>
              <a:rPr lang="en-US" dirty="0"/>
              <a:t>&lt;fetch target list&gt;;</a:t>
            </a:r>
          </a:p>
        </p:txBody>
      </p:sp>
      <p:sp>
        <p:nvSpPr>
          <p:cNvPr id="4" name="Slide Number Placeholder 3">
            <a:extLst>
              <a:ext uri="{FF2B5EF4-FFF2-40B4-BE49-F238E27FC236}">
                <a16:creationId xmlns:a16="http://schemas.microsoft.com/office/drawing/2014/main" id="{C1C904B5-786A-62EE-5795-233B8536A34E}"/>
              </a:ext>
            </a:extLst>
          </p:cNvPr>
          <p:cNvSpPr>
            <a:spLocks noGrp="1"/>
          </p:cNvSpPr>
          <p:nvPr>
            <p:ph type="sldNum" sz="quarter" idx="12"/>
          </p:nvPr>
        </p:nvSpPr>
        <p:spPr/>
        <p:txBody>
          <a:bodyPr/>
          <a:lstStyle/>
          <a:p>
            <a:fld id="{6264BDCF-5269-49AC-A246-ED26C2B980E3}" type="slidenum">
              <a:rPr lang="en-US" smtClean="0"/>
              <a:t>30</a:t>
            </a:fld>
            <a:endParaRPr lang="en-US"/>
          </a:p>
        </p:txBody>
      </p:sp>
    </p:spTree>
    <p:extLst>
      <p:ext uri="{BB962C8B-B14F-4D97-AF65-F5344CB8AC3E}">
        <p14:creationId xmlns:p14="http://schemas.microsoft.com/office/powerpoint/2010/main" val="456791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AAB60-2E33-738D-46D2-748F06772C45}"/>
              </a:ext>
            </a:extLst>
          </p:cNvPr>
          <p:cNvSpPr>
            <a:spLocks noGrp="1"/>
          </p:cNvSpPr>
          <p:nvPr>
            <p:ph type="title"/>
          </p:nvPr>
        </p:nvSpPr>
        <p:spPr>
          <a:xfrm>
            <a:off x="838199" y="365125"/>
            <a:ext cx="10921181" cy="1325563"/>
          </a:xfrm>
        </p:spPr>
        <p:txBody>
          <a:bodyPr/>
          <a:lstStyle/>
          <a:p>
            <a:r>
              <a:rPr lang="en-US" dirty="0"/>
              <a:t>Specify Queries at Runtime Using Dynamic SQL</a:t>
            </a:r>
          </a:p>
        </p:txBody>
      </p:sp>
      <p:sp>
        <p:nvSpPr>
          <p:cNvPr id="3" name="Content Placeholder 2">
            <a:extLst>
              <a:ext uri="{FF2B5EF4-FFF2-40B4-BE49-F238E27FC236}">
                <a16:creationId xmlns:a16="http://schemas.microsoft.com/office/drawing/2014/main" id="{55097EF9-298B-7086-34E9-F631394B1F70}"/>
              </a:ext>
            </a:extLst>
          </p:cNvPr>
          <p:cNvSpPr>
            <a:spLocks noGrp="1"/>
          </p:cNvSpPr>
          <p:nvPr>
            <p:ph idx="1"/>
          </p:nvPr>
        </p:nvSpPr>
        <p:spPr/>
        <p:txBody>
          <a:bodyPr>
            <a:noAutofit/>
          </a:bodyPr>
          <a:lstStyle/>
          <a:p>
            <a:r>
              <a:rPr lang="en-US" dirty="0"/>
              <a:t>the embedded SQL queries were written as part of host program source code; hence, anytime we want to write different query, we must modify program code</a:t>
            </a:r>
          </a:p>
          <a:p>
            <a:r>
              <a:rPr lang="en-US" dirty="0"/>
              <a:t>in some cases, it is convenient to write program that can execute different SQL queries or updates dynamically at runtime</a:t>
            </a:r>
          </a:p>
        </p:txBody>
      </p:sp>
      <p:sp>
        <p:nvSpPr>
          <p:cNvPr id="4" name="Slide Number Placeholder 3">
            <a:extLst>
              <a:ext uri="{FF2B5EF4-FFF2-40B4-BE49-F238E27FC236}">
                <a16:creationId xmlns:a16="http://schemas.microsoft.com/office/drawing/2014/main" id="{E29F889C-667D-2541-53C6-5D26E613B50A}"/>
              </a:ext>
            </a:extLst>
          </p:cNvPr>
          <p:cNvSpPr>
            <a:spLocks noGrp="1"/>
          </p:cNvSpPr>
          <p:nvPr>
            <p:ph type="sldNum" sz="quarter" idx="12"/>
          </p:nvPr>
        </p:nvSpPr>
        <p:spPr/>
        <p:txBody>
          <a:bodyPr/>
          <a:lstStyle/>
          <a:p>
            <a:fld id="{6264BDCF-5269-49AC-A246-ED26C2B980E3}" type="slidenum">
              <a:rPr lang="en-US" smtClean="0"/>
              <a:t>31</a:t>
            </a:fld>
            <a:endParaRPr lang="en-US"/>
          </a:p>
        </p:txBody>
      </p:sp>
    </p:spTree>
    <p:extLst>
      <p:ext uri="{BB962C8B-B14F-4D97-AF65-F5344CB8AC3E}">
        <p14:creationId xmlns:p14="http://schemas.microsoft.com/office/powerpoint/2010/main" val="74897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8C767-3B50-753E-3372-E2F8E61C52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D38749-73E9-233A-F507-BE97E24506BF}"/>
              </a:ext>
            </a:extLst>
          </p:cNvPr>
          <p:cNvSpPr>
            <a:spLocks noGrp="1"/>
          </p:cNvSpPr>
          <p:nvPr>
            <p:ph idx="1"/>
          </p:nvPr>
        </p:nvSpPr>
        <p:spPr/>
        <p:txBody>
          <a:bodyPr>
            <a:normAutofit fontScale="92500" lnSpcReduction="10000"/>
          </a:bodyPr>
          <a:lstStyle/>
          <a:p>
            <a:r>
              <a:rPr lang="en-US" dirty="0">
                <a:latin typeface="Courier New" panose="02070309020205020404" pitchFamily="49" charset="0"/>
                <a:cs typeface="Courier New" panose="02070309020205020404" pitchFamily="49" charset="0"/>
              </a:rPr>
              <a:t>0) EXEC SQL BEGIN DECLARE SECTION ;</a:t>
            </a:r>
          </a:p>
          <a:p>
            <a:r>
              <a:rPr lang="en-US" dirty="0">
                <a:latin typeface="Courier New" panose="02070309020205020404" pitchFamily="49" charset="0"/>
                <a:cs typeface="Courier New" panose="02070309020205020404" pitchFamily="49" charset="0"/>
              </a:rPr>
              <a:t>1) varchar </a:t>
            </a:r>
            <a:r>
              <a:rPr lang="en-US" dirty="0" err="1">
                <a:latin typeface="Courier New" panose="02070309020205020404" pitchFamily="49" charset="0"/>
                <a:cs typeface="Courier New" panose="02070309020205020404" pitchFamily="49" charset="0"/>
              </a:rPr>
              <a:t>sqlupdatestring</a:t>
            </a:r>
            <a:r>
              <a:rPr lang="en-US" dirty="0">
                <a:latin typeface="Courier New" panose="02070309020205020404" pitchFamily="49" charset="0"/>
                <a:cs typeface="Courier New" panose="02070309020205020404" pitchFamily="49" charset="0"/>
              </a:rPr>
              <a:t> [256] ;</a:t>
            </a:r>
          </a:p>
          <a:p>
            <a:r>
              <a:rPr lang="en-US" dirty="0">
                <a:latin typeface="Courier New" panose="02070309020205020404" pitchFamily="49" charset="0"/>
                <a:cs typeface="Courier New" panose="02070309020205020404" pitchFamily="49" charset="0"/>
              </a:rPr>
              <a:t>2) EXEC SQL END DECLARE SECTION ;</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3) prompt("Enter the Update Command: ", </a:t>
            </a:r>
            <a:r>
              <a:rPr lang="en-US" dirty="0" err="1">
                <a:latin typeface="Courier New" panose="02070309020205020404" pitchFamily="49" charset="0"/>
                <a:cs typeface="Courier New" panose="02070309020205020404" pitchFamily="49" charset="0"/>
              </a:rPr>
              <a:t>sqlupdatestring</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4) EXEC SQL PREPARE </a:t>
            </a:r>
            <a:r>
              <a:rPr lang="en-US" dirty="0" err="1">
                <a:latin typeface="Courier New" panose="02070309020205020404" pitchFamily="49" charset="0"/>
                <a:cs typeface="Courier New" panose="02070309020205020404" pitchFamily="49" charset="0"/>
              </a:rPr>
              <a:t>sqlcommand</a:t>
            </a:r>
            <a:r>
              <a:rPr lang="en-US" dirty="0">
                <a:latin typeface="Courier New" panose="02070309020205020404" pitchFamily="49" charset="0"/>
                <a:cs typeface="Courier New" panose="02070309020205020404" pitchFamily="49" charset="0"/>
              </a:rPr>
              <a:t> FROM :</a:t>
            </a:r>
            <a:r>
              <a:rPr lang="en-US" dirty="0" err="1">
                <a:latin typeface="Courier New" panose="02070309020205020404" pitchFamily="49" charset="0"/>
                <a:cs typeface="Courier New" panose="02070309020205020404" pitchFamily="49" charset="0"/>
              </a:rPr>
              <a:t>sqlupdatestring</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5) EXEC SQL EXECUTE </a:t>
            </a:r>
            <a:r>
              <a:rPr lang="en-US" dirty="0" err="1">
                <a:latin typeface="Courier New" panose="02070309020205020404" pitchFamily="49" charset="0"/>
                <a:cs typeface="Courier New" panose="02070309020205020404" pitchFamily="49" charset="0"/>
              </a:rPr>
              <a:t>sqlcommand</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E1940ABB-858C-B03E-F9E1-418F1984761B}"/>
              </a:ext>
            </a:extLst>
          </p:cNvPr>
          <p:cNvSpPr>
            <a:spLocks noGrp="1"/>
          </p:cNvSpPr>
          <p:nvPr>
            <p:ph type="sldNum" sz="quarter" idx="12"/>
          </p:nvPr>
        </p:nvSpPr>
        <p:spPr/>
        <p:txBody>
          <a:bodyPr/>
          <a:lstStyle/>
          <a:p>
            <a:fld id="{6264BDCF-5269-49AC-A246-ED26C2B980E3}" type="slidenum">
              <a:rPr lang="en-US" smtClean="0"/>
              <a:t>32</a:t>
            </a:fld>
            <a:endParaRPr lang="en-US"/>
          </a:p>
        </p:txBody>
      </p:sp>
    </p:spTree>
    <p:extLst>
      <p:ext uri="{BB962C8B-B14F-4D97-AF65-F5344CB8AC3E}">
        <p14:creationId xmlns:p14="http://schemas.microsoft.com/office/powerpoint/2010/main" val="3814640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AB43-A67E-528D-D4AE-EF80AEA2CB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865D71-77A2-3DE9-7A5C-1A2C320A8963}"/>
              </a:ext>
            </a:extLst>
          </p:cNvPr>
          <p:cNvSpPr>
            <a:spLocks noGrp="1"/>
          </p:cNvSpPr>
          <p:nvPr>
            <p:ph idx="1"/>
          </p:nvPr>
        </p:nvSpPr>
        <p:spPr/>
        <p:txBody>
          <a:bodyPr>
            <a:normAutofit/>
          </a:bodyPr>
          <a:lstStyle/>
          <a:p>
            <a:r>
              <a:rPr lang="en-US" dirty="0"/>
              <a:t>program reads a string that is input by the user into variable</a:t>
            </a:r>
          </a:p>
          <a:p>
            <a:r>
              <a:rPr lang="en-US" dirty="0"/>
              <a:t>then prepares this as an SQL command  and then executes the command</a:t>
            </a:r>
          </a:p>
          <a:p>
            <a:r>
              <a:rPr lang="en-US" dirty="0"/>
              <a:t>in this case no syntax check or other types of checks on the command are possible at compile time, since the SQL command is not available until runtime</a:t>
            </a:r>
          </a:p>
          <a:p>
            <a:r>
              <a:rPr lang="en-US" dirty="0"/>
              <a:t>contrasts with previous examples of embedded SQL, where the query could be checked at compile time because its text was in the program source code</a:t>
            </a:r>
          </a:p>
          <a:p>
            <a:endParaRPr lang="en-US" dirty="0"/>
          </a:p>
        </p:txBody>
      </p:sp>
      <p:sp>
        <p:nvSpPr>
          <p:cNvPr id="4" name="Slide Number Placeholder 3">
            <a:extLst>
              <a:ext uri="{FF2B5EF4-FFF2-40B4-BE49-F238E27FC236}">
                <a16:creationId xmlns:a16="http://schemas.microsoft.com/office/drawing/2014/main" id="{545F2D88-CACF-A8B9-76E4-1CABD3C4541C}"/>
              </a:ext>
            </a:extLst>
          </p:cNvPr>
          <p:cNvSpPr>
            <a:spLocks noGrp="1"/>
          </p:cNvSpPr>
          <p:nvPr>
            <p:ph type="sldNum" sz="quarter" idx="12"/>
          </p:nvPr>
        </p:nvSpPr>
        <p:spPr/>
        <p:txBody>
          <a:bodyPr/>
          <a:lstStyle/>
          <a:p>
            <a:fld id="{6264BDCF-5269-49AC-A246-ED26C2B980E3}" type="slidenum">
              <a:rPr lang="en-US" smtClean="0"/>
              <a:t>33</a:t>
            </a:fld>
            <a:endParaRPr lang="en-US"/>
          </a:p>
        </p:txBody>
      </p:sp>
    </p:spTree>
    <p:extLst>
      <p:ext uri="{BB962C8B-B14F-4D97-AF65-F5344CB8AC3E}">
        <p14:creationId xmlns:p14="http://schemas.microsoft.com/office/powerpoint/2010/main" val="3052161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A1A96-8359-D38B-00E9-651E4C654D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BBD9EE-8F35-B193-3602-19F8D8C56E6A}"/>
              </a:ext>
            </a:extLst>
          </p:cNvPr>
          <p:cNvSpPr>
            <a:spLocks noGrp="1"/>
          </p:cNvSpPr>
          <p:nvPr>
            <p:ph idx="1"/>
          </p:nvPr>
        </p:nvSpPr>
        <p:spPr/>
        <p:txBody>
          <a:bodyPr>
            <a:normAutofit/>
          </a:bodyPr>
          <a:lstStyle/>
          <a:p>
            <a:r>
              <a:rPr lang="en-US" dirty="0"/>
              <a:t>the reason for separating PREPARE and EXECUTE is that if command is to be executed multiple times in program, it can be prepared only once</a:t>
            </a:r>
          </a:p>
          <a:p>
            <a:r>
              <a:rPr lang="en-US" dirty="0"/>
              <a:t>preparing the command generally involves syntax and other types of checks, as well as generating code for executing it</a:t>
            </a:r>
          </a:p>
          <a:p>
            <a:r>
              <a:rPr lang="en-US" dirty="0"/>
              <a:t>possible to combine the PREPARE and EXECUTE commands into a single statement:</a:t>
            </a:r>
          </a:p>
          <a:p>
            <a:r>
              <a:rPr lang="en-US" dirty="0"/>
              <a:t>EXEC SQL EXECUTE IMMEDIATE :</a:t>
            </a:r>
            <a:r>
              <a:rPr lang="en-US" dirty="0" err="1"/>
              <a:t>sqlupdatestring</a:t>
            </a:r>
            <a:r>
              <a:rPr lang="en-US" dirty="0"/>
              <a:t> ;</a:t>
            </a:r>
          </a:p>
          <a:p>
            <a:r>
              <a:rPr lang="en-US" dirty="0"/>
              <a:t>useful if the command is to be executed only once</a:t>
            </a:r>
          </a:p>
        </p:txBody>
      </p:sp>
      <p:sp>
        <p:nvSpPr>
          <p:cNvPr id="4" name="Slide Number Placeholder 3">
            <a:extLst>
              <a:ext uri="{FF2B5EF4-FFF2-40B4-BE49-F238E27FC236}">
                <a16:creationId xmlns:a16="http://schemas.microsoft.com/office/drawing/2014/main" id="{6AAD37C0-5EF3-2DC8-E0D5-CB20C8B9FBB6}"/>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3319911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5A8D4-A75A-743B-6BA8-E19AAF21DFDA}"/>
              </a:ext>
            </a:extLst>
          </p:cNvPr>
          <p:cNvSpPr>
            <a:spLocks noGrp="1"/>
          </p:cNvSpPr>
          <p:nvPr>
            <p:ph type="title"/>
          </p:nvPr>
        </p:nvSpPr>
        <p:spPr/>
        <p:txBody>
          <a:bodyPr/>
          <a:lstStyle/>
          <a:p>
            <a:r>
              <a:rPr lang="en-US" b="1" dirty="0"/>
              <a:t>Embedded SQL in JAVA</a:t>
            </a:r>
            <a:endParaRPr lang="en-US" dirty="0"/>
          </a:p>
        </p:txBody>
      </p:sp>
      <p:sp>
        <p:nvSpPr>
          <p:cNvPr id="3" name="Content Placeholder 2">
            <a:extLst>
              <a:ext uri="{FF2B5EF4-FFF2-40B4-BE49-F238E27FC236}">
                <a16:creationId xmlns:a16="http://schemas.microsoft.com/office/drawing/2014/main" id="{686B20E8-3B50-824C-D5A2-823515A4F97B}"/>
              </a:ext>
            </a:extLst>
          </p:cNvPr>
          <p:cNvSpPr>
            <a:spLocks noGrp="1"/>
          </p:cNvSpPr>
          <p:nvPr>
            <p:ph idx="1"/>
          </p:nvPr>
        </p:nvSpPr>
        <p:spPr/>
        <p:txBody>
          <a:bodyPr>
            <a:normAutofit lnSpcReduction="10000"/>
          </a:bodyPr>
          <a:lstStyle/>
          <a:p>
            <a:r>
              <a:rPr lang="en-US" dirty="0"/>
              <a:t>SQL can be embedded in Object Oriented Programming language, in particular, the Java language</a:t>
            </a:r>
          </a:p>
          <a:p>
            <a:r>
              <a:rPr lang="en-US" dirty="0"/>
              <a:t>SQLJ is a standard that has been adopted by several vendors for embedding SQL in Java</a:t>
            </a:r>
          </a:p>
          <a:p>
            <a:r>
              <a:rPr lang="en-US" dirty="0"/>
              <a:t>SQLJ was developed after JDBC, which is used for accessing SQL databases from Java using class libraries and function calls</a:t>
            </a:r>
          </a:p>
          <a:p>
            <a:r>
              <a:rPr lang="en-US" dirty="0"/>
              <a:t>SQLJ translator will generally convert SQL statements into Java, which can then be executed through JDBC interface; hence, it is necessary to install a JDBC driver when using SQLJ</a:t>
            </a:r>
          </a:p>
          <a:p>
            <a:r>
              <a:rPr lang="en-US" i="1" dirty="0"/>
              <a:t>show program segments that illustrate the use of SQLJ</a:t>
            </a:r>
          </a:p>
        </p:txBody>
      </p:sp>
      <p:sp>
        <p:nvSpPr>
          <p:cNvPr id="4" name="Slide Number Placeholder 3">
            <a:extLst>
              <a:ext uri="{FF2B5EF4-FFF2-40B4-BE49-F238E27FC236}">
                <a16:creationId xmlns:a16="http://schemas.microsoft.com/office/drawing/2014/main" id="{6CECC18A-90C8-A550-1CED-ADA8ACF71AE2}"/>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2441861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ACF31-2327-D0DF-66A6-E531A084B6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62E144-6890-AB31-6F71-A8116A2C4DF6}"/>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public static </a:t>
            </a:r>
            <a:r>
              <a:rPr lang="en-US" dirty="0" err="1">
                <a:latin typeface="Courier New" panose="02070309020205020404" pitchFamily="49" charset="0"/>
                <a:cs typeface="Courier New" panose="02070309020205020404" pitchFamily="49" charset="0"/>
              </a:rPr>
              <a:t>DefaultContext</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getConnection</a:t>
            </a:r>
            <a:r>
              <a:rPr lang="en-US" dirty="0">
                <a:latin typeface="Courier New" panose="02070309020205020404" pitchFamily="49" charset="0"/>
                <a:cs typeface="Courier New" panose="02070309020205020404" pitchFamily="49" charset="0"/>
              </a:rPr>
              <a:t>(String </a:t>
            </a:r>
            <a:r>
              <a:rPr lang="en-US" dirty="0" err="1">
                <a:latin typeface="Courier New" panose="02070309020205020404" pitchFamily="49" charset="0"/>
                <a:cs typeface="Courier New" panose="02070309020205020404" pitchFamily="49" charset="0"/>
              </a:rPr>
              <a:t>url</a:t>
            </a:r>
            <a:r>
              <a:rPr lang="en-US" dirty="0">
                <a:latin typeface="Courier New" panose="02070309020205020404" pitchFamily="49" charset="0"/>
                <a:cs typeface="Courier New" panose="02070309020205020404" pitchFamily="49" charset="0"/>
              </a:rPr>
              <a:t>, String user, String password,</a:t>
            </a:r>
          </a:p>
          <a:p>
            <a:r>
              <a:rPr lang="en-US" dirty="0">
                <a:latin typeface="Courier New" panose="02070309020205020404" pitchFamily="49" charset="0"/>
                <a:cs typeface="Courier New" panose="02070309020205020404" pitchFamily="49" charset="0"/>
              </a:rPr>
              <a:t> 	Boolean </a:t>
            </a:r>
            <a:r>
              <a:rPr lang="en-US" dirty="0" err="1">
                <a:latin typeface="Courier New" panose="02070309020205020404" pitchFamily="49" charset="0"/>
                <a:cs typeface="Courier New" panose="02070309020205020404" pitchFamily="49" charset="0"/>
              </a:rPr>
              <a:t>autoCommit</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throws </a:t>
            </a:r>
            <a:r>
              <a:rPr lang="en-US" dirty="0" err="1">
                <a:latin typeface="Courier New" panose="02070309020205020404" pitchFamily="49" charset="0"/>
                <a:cs typeface="Courier New" panose="02070309020205020404" pitchFamily="49" charset="0"/>
              </a:rPr>
              <a:t>SQLException</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487EDFF3-1E03-ED3F-4F77-B3ACD1BE0F19}"/>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3979076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6F1E-2910-354F-BD19-D19C8F8B05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4F1122-39BE-CBE7-A645-D12D270E88DB}"/>
              </a:ext>
            </a:extLst>
          </p:cNvPr>
          <p:cNvSpPr>
            <a:spLocks noGrp="1"/>
          </p:cNvSpPr>
          <p:nvPr>
            <p:ph idx="1"/>
          </p:nvPr>
        </p:nvSpPr>
        <p:spPr>
          <a:xfrm>
            <a:off x="838200" y="806246"/>
            <a:ext cx="10515600" cy="5370718"/>
          </a:xfrm>
        </p:spPr>
        <p:txBody>
          <a:bodyPr>
            <a:normAutofit lnSpcReduction="10000"/>
          </a:bodyPr>
          <a:lstStyle/>
          <a:p>
            <a:r>
              <a:rPr lang="en-US" dirty="0">
                <a:latin typeface="Courier New" panose="02070309020205020404" pitchFamily="49" charset="0"/>
                <a:cs typeface="Courier New" panose="02070309020205020404" pitchFamily="49" charset="0"/>
              </a:rPr>
              <a:t>1) import java.sql.* ;</a:t>
            </a:r>
          </a:p>
          <a:p>
            <a:r>
              <a:rPr lang="en-US" dirty="0">
                <a:latin typeface="Courier New" panose="02070309020205020404" pitchFamily="49" charset="0"/>
                <a:cs typeface="Courier New" panose="02070309020205020404" pitchFamily="49" charset="0"/>
              </a:rPr>
              <a:t>2) import java.io.* ;</a:t>
            </a:r>
          </a:p>
          <a:p>
            <a:r>
              <a:rPr lang="en-US" dirty="0">
                <a:latin typeface="Courier New" panose="02070309020205020404" pitchFamily="49" charset="0"/>
                <a:cs typeface="Courier New" panose="02070309020205020404" pitchFamily="49" charset="0"/>
              </a:rPr>
              <a:t>3) import sqlj.runtime.* ;</a:t>
            </a:r>
          </a:p>
          <a:p>
            <a:r>
              <a:rPr lang="fr-FR" dirty="0">
                <a:latin typeface="Courier New" panose="02070309020205020404" pitchFamily="49" charset="0"/>
                <a:cs typeface="Courier New" panose="02070309020205020404" pitchFamily="49" charset="0"/>
              </a:rPr>
              <a:t>4) import sqlj.runtime.ref.* ;</a:t>
            </a:r>
          </a:p>
          <a:p>
            <a:r>
              <a:rPr lang="fr-FR" dirty="0">
                <a:latin typeface="Courier New" panose="02070309020205020404" pitchFamily="49" charset="0"/>
                <a:cs typeface="Courier New" panose="02070309020205020404" pitchFamily="49" charset="0"/>
              </a:rPr>
              <a:t>5) import oracle.sqlj.runtime.* ;</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6) </a:t>
            </a:r>
            <a:r>
              <a:rPr lang="en-US" dirty="0" err="1">
                <a:latin typeface="Courier New" panose="02070309020205020404" pitchFamily="49" charset="0"/>
                <a:cs typeface="Courier New" panose="02070309020205020404" pitchFamily="49" charset="0"/>
              </a:rPr>
              <a:t>DefaultContext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cntxt</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7) </a:t>
            </a:r>
            <a:r>
              <a:rPr lang="en-US" dirty="0" err="1">
                <a:latin typeface="Courier New" panose="02070309020205020404" pitchFamily="49" charset="0"/>
                <a:cs typeface="Courier New" panose="02070309020205020404" pitchFamily="49" charset="0"/>
              </a:rPr>
              <a:t>oracle.getConnection</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url</a:t>
            </a:r>
            <a:r>
              <a:rPr lang="en-US" dirty="0">
                <a:latin typeface="Courier New" panose="02070309020205020404" pitchFamily="49" charset="0"/>
                <a:cs typeface="Courier New" panose="02070309020205020404" pitchFamily="49" charset="0"/>
              </a:rPr>
              <a:t> name&gt;", "&lt;user name&gt;", "&lt;password&gt;", true) ;</a:t>
            </a:r>
          </a:p>
          <a:p>
            <a:r>
              <a:rPr lang="en-US" dirty="0">
                <a:latin typeface="Courier New" panose="02070309020205020404" pitchFamily="49" charset="0"/>
                <a:cs typeface="Courier New" panose="02070309020205020404" pitchFamily="49" charset="0"/>
              </a:rPr>
              <a:t>8) </a:t>
            </a:r>
            <a:r>
              <a:rPr lang="en-US" dirty="0" err="1">
                <a:latin typeface="Courier New" panose="02070309020205020404" pitchFamily="49" charset="0"/>
                <a:cs typeface="Courier New" panose="02070309020205020404" pitchFamily="49" charset="0"/>
              </a:rPr>
              <a:t>DefaultContext.setDefaultContext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cntxt</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1B3F4D62-5012-57AE-1B73-54F4372B9D83}"/>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3812142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D773C-0B81-4B2E-96F1-8B0FDC1433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93C036-18CA-E517-956C-E3E54AEEE9B1}"/>
              </a:ext>
            </a:extLst>
          </p:cNvPr>
          <p:cNvSpPr>
            <a:spLocks noGrp="1"/>
          </p:cNvSpPr>
          <p:nvPr>
            <p:ph idx="1"/>
          </p:nvPr>
        </p:nvSpPr>
        <p:spPr/>
        <p:txBody>
          <a:bodyPr>
            <a:normAutofit/>
          </a:bodyPr>
          <a:lstStyle/>
          <a:p>
            <a:r>
              <a:rPr lang="en-US" dirty="0"/>
              <a:t>reads an employee’s </a:t>
            </a:r>
            <a:r>
              <a:rPr lang="en-US" dirty="0" err="1"/>
              <a:t>Ssn</a:t>
            </a:r>
            <a:r>
              <a:rPr lang="en-US" dirty="0"/>
              <a:t> and prints some of the employee’s information from the database</a:t>
            </a:r>
          </a:p>
        </p:txBody>
      </p:sp>
      <p:sp>
        <p:nvSpPr>
          <p:cNvPr id="4" name="Slide Number Placeholder 3">
            <a:extLst>
              <a:ext uri="{FF2B5EF4-FFF2-40B4-BE49-F238E27FC236}">
                <a16:creationId xmlns:a16="http://schemas.microsoft.com/office/drawing/2014/main" id="{068F7A6B-ED88-BF4B-BB2C-51041CD72C90}"/>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2183902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041D-4C72-97F0-AC8B-FC75C90A2D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4980AF-C790-2D45-A0C6-E0A790E5832D}"/>
              </a:ext>
            </a:extLst>
          </p:cNvPr>
          <p:cNvSpPr>
            <a:spLocks noGrp="1"/>
          </p:cNvSpPr>
          <p:nvPr>
            <p:ph idx="1"/>
          </p:nvPr>
        </p:nvSpPr>
        <p:spPr/>
        <p:txBody>
          <a:bodyPr/>
          <a:lstStyle/>
          <a:p>
            <a:r>
              <a:rPr lang="en-US" dirty="0"/>
              <a:t>exception handling for an </a:t>
            </a:r>
            <a:r>
              <a:rPr lang="en-US" dirty="0" err="1"/>
              <a:t>SQLException</a:t>
            </a:r>
            <a:r>
              <a:rPr lang="en-US" dirty="0"/>
              <a:t> </a:t>
            </a:r>
          </a:p>
          <a:p>
            <a:r>
              <a:rPr lang="en-US" dirty="0"/>
              <a:t>in Java, the following structure</a:t>
            </a:r>
          </a:p>
          <a:p>
            <a:r>
              <a:rPr lang="en-US" dirty="0"/>
              <a:t>try {&lt;operation&gt;} catch (&lt;exception&gt;) {&lt;exception handling</a:t>
            </a:r>
          </a:p>
          <a:p>
            <a:r>
              <a:rPr lang="en-US" dirty="0"/>
              <a:t>code&gt;} &lt;continuation code&gt;</a:t>
            </a:r>
          </a:p>
          <a:p>
            <a:endParaRPr lang="en-US" dirty="0"/>
          </a:p>
        </p:txBody>
      </p:sp>
      <p:sp>
        <p:nvSpPr>
          <p:cNvPr id="4" name="Slide Number Placeholder 3">
            <a:extLst>
              <a:ext uri="{FF2B5EF4-FFF2-40B4-BE49-F238E27FC236}">
                <a16:creationId xmlns:a16="http://schemas.microsoft.com/office/drawing/2014/main" id="{41526907-E57B-91AB-6DDC-5A9ADBB13894}"/>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294969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0FE25-E89A-916F-2B0C-0D127D5631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2C1417-35DA-C9B6-99B1-007A2F6DC437}"/>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1) string </a:t>
            </a:r>
            <a:r>
              <a:rPr lang="en-US" dirty="0" err="1">
                <a:latin typeface="Courier New" panose="02070309020205020404" pitchFamily="49" charset="0"/>
                <a:cs typeface="Courier New" panose="02070309020205020404" pitchFamily="49" charset="0"/>
              </a:rPr>
              <a:t>dname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ssn</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fname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ln, </a:t>
            </a:r>
            <a:r>
              <a:rPr lang="en-US" dirty="0" err="1">
                <a:latin typeface="Courier New" panose="02070309020205020404" pitchFamily="49" charset="0"/>
                <a:cs typeface="Courier New" panose="02070309020205020404" pitchFamily="49" charset="0"/>
              </a:rPr>
              <a:t>bdate</a:t>
            </a:r>
            <a:r>
              <a:rPr lang="en-US" dirty="0">
                <a:latin typeface="Courier New" panose="02070309020205020404" pitchFamily="49" charset="0"/>
                <a:cs typeface="Courier New" panose="02070309020205020404" pitchFamily="49" charset="0"/>
              </a:rPr>
              <a:t>, address ;</a:t>
            </a:r>
          </a:p>
          <a:p>
            <a:r>
              <a:rPr lang="sv-SE" dirty="0">
                <a:latin typeface="Courier New" panose="02070309020205020404" pitchFamily="49" charset="0"/>
                <a:cs typeface="Courier New" panose="02070309020205020404" pitchFamily="49" charset="0"/>
              </a:rPr>
              <a:t>2) char sex, minit, mi ;</a:t>
            </a:r>
          </a:p>
          <a:p>
            <a:r>
              <a:rPr lang="en-US" dirty="0">
                <a:latin typeface="Courier New" panose="02070309020205020404" pitchFamily="49" charset="0"/>
                <a:cs typeface="Courier New" panose="02070309020205020404" pitchFamily="49" charset="0"/>
              </a:rPr>
              <a:t>3) double salary, </a:t>
            </a:r>
            <a:r>
              <a:rPr lang="en-US" dirty="0" err="1">
                <a:latin typeface="Courier New" panose="02070309020205020404" pitchFamily="49" charset="0"/>
                <a:cs typeface="Courier New" panose="02070309020205020404" pitchFamily="49" charset="0"/>
              </a:rPr>
              <a:t>sal</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4) integer </a:t>
            </a:r>
            <a:r>
              <a:rPr lang="en-US" dirty="0" err="1">
                <a:latin typeface="Courier New" panose="02070309020205020404" pitchFamily="49" charset="0"/>
                <a:cs typeface="Courier New" panose="02070309020205020404" pitchFamily="49" charset="0"/>
              </a:rPr>
              <a:t>dno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dnumber</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6234B131-8882-49E5-8490-FC6D9D222567}"/>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2287408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F0256-7851-380E-1926-AF70F12A65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7809EB-739C-F00E-92BD-D803390FC15C}"/>
              </a:ext>
            </a:extLst>
          </p:cNvPr>
          <p:cNvSpPr>
            <a:spLocks noGrp="1"/>
          </p:cNvSpPr>
          <p:nvPr>
            <p:ph idx="1"/>
          </p:nvPr>
        </p:nvSpPr>
        <p:spPr>
          <a:xfrm>
            <a:off x="838200" y="365125"/>
            <a:ext cx="10515600" cy="5811838"/>
          </a:xfrm>
        </p:spPr>
        <p:txBody>
          <a:bodyPr>
            <a:noAutofit/>
          </a:bodyPr>
          <a:lstStyle/>
          <a:p>
            <a:r>
              <a:rPr lang="en-US" sz="2500" dirty="0">
                <a:latin typeface="Courier New" panose="02070309020205020404" pitchFamily="49" charset="0"/>
                <a:cs typeface="Courier New" panose="02070309020205020404" pitchFamily="49" charset="0"/>
              </a:rPr>
              <a:t>1) </a:t>
            </a:r>
            <a:r>
              <a:rPr lang="en-US" sz="2500" dirty="0" err="1">
                <a:latin typeface="Courier New" panose="02070309020205020404" pitchFamily="49" charset="0"/>
                <a:cs typeface="Courier New" panose="02070309020205020404" pitchFamily="49" charset="0"/>
              </a:rPr>
              <a:t>ssn</a:t>
            </a:r>
            <a:r>
              <a:rPr lang="en-US" sz="2500" dirty="0">
                <a:latin typeface="Courier New" panose="02070309020205020404" pitchFamily="49" charset="0"/>
                <a:cs typeface="Courier New" panose="02070309020205020404" pitchFamily="49" charset="0"/>
              </a:rPr>
              <a:t> = </a:t>
            </a:r>
            <a:r>
              <a:rPr lang="en-US" sz="2500" dirty="0" err="1">
                <a:latin typeface="Courier New" panose="02070309020205020404" pitchFamily="49" charset="0"/>
                <a:cs typeface="Courier New" panose="02070309020205020404" pitchFamily="49" charset="0"/>
              </a:rPr>
              <a:t>readEntry</a:t>
            </a:r>
            <a:r>
              <a:rPr lang="en-US" sz="2500" dirty="0">
                <a:latin typeface="Courier New" panose="02070309020205020404" pitchFamily="49" charset="0"/>
                <a:cs typeface="Courier New" panose="02070309020205020404" pitchFamily="49" charset="0"/>
              </a:rPr>
              <a:t>("Enter a Social Security Number: ") ;</a:t>
            </a:r>
          </a:p>
          <a:p>
            <a:r>
              <a:rPr lang="en-US" sz="2500" dirty="0">
                <a:latin typeface="Courier New" panose="02070309020205020404" pitchFamily="49" charset="0"/>
                <a:cs typeface="Courier New" panose="02070309020205020404" pitchFamily="49" charset="0"/>
              </a:rPr>
              <a:t>2) try {</a:t>
            </a:r>
          </a:p>
          <a:p>
            <a:r>
              <a:rPr lang="en-US" sz="2500" dirty="0">
                <a:latin typeface="Courier New" panose="02070309020205020404" pitchFamily="49" charset="0"/>
                <a:cs typeface="Courier New" panose="02070309020205020404" pitchFamily="49" charset="0"/>
              </a:rPr>
              <a:t>3) #sql { SELECT </a:t>
            </a:r>
            <a:r>
              <a:rPr lang="en-US" sz="2500" dirty="0" err="1">
                <a:latin typeface="Courier New" panose="02070309020205020404" pitchFamily="49" charset="0"/>
                <a:cs typeface="Courier New" panose="02070309020205020404" pitchFamily="49" charset="0"/>
              </a:rPr>
              <a:t>Fname</a:t>
            </a:r>
            <a:r>
              <a:rPr lang="en-US" sz="2500" dirty="0">
                <a:latin typeface="Courier New" panose="02070309020205020404" pitchFamily="49" charset="0"/>
                <a:cs typeface="Courier New" panose="02070309020205020404" pitchFamily="49" charset="0"/>
              </a:rPr>
              <a:t>, Minit, </a:t>
            </a:r>
            <a:r>
              <a:rPr lang="en-US" sz="2500" dirty="0" err="1">
                <a:latin typeface="Courier New" panose="02070309020205020404" pitchFamily="49" charset="0"/>
                <a:cs typeface="Courier New" panose="02070309020205020404" pitchFamily="49" charset="0"/>
              </a:rPr>
              <a:t>Lname</a:t>
            </a:r>
            <a:r>
              <a:rPr lang="en-US" sz="2500" dirty="0">
                <a:latin typeface="Courier New" panose="02070309020205020404" pitchFamily="49" charset="0"/>
                <a:cs typeface="Courier New" panose="02070309020205020404" pitchFamily="49" charset="0"/>
              </a:rPr>
              <a:t>, Address, Salary</a:t>
            </a:r>
          </a:p>
          <a:p>
            <a:r>
              <a:rPr lang="en-US" sz="2500" dirty="0">
                <a:latin typeface="Courier New" panose="02070309020205020404" pitchFamily="49" charset="0"/>
                <a:cs typeface="Courier New" panose="02070309020205020404" pitchFamily="49" charset="0"/>
              </a:rPr>
              <a:t>4) INTO :</a:t>
            </a:r>
            <a:r>
              <a:rPr lang="en-US" sz="2500" dirty="0" err="1">
                <a:latin typeface="Courier New" panose="02070309020205020404" pitchFamily="49" charset="0"/>
                <a:cs typeface="Courier New" panose="02070309020205020404" pitchFamily="49" charset="0"/>
              </a:rPr>
              <a:t>fname</a:t>
            </a: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minit</a:t>
            </a:r>
            <a:r>
              <a:rPr lang="en-US" sz="2500" dirty="0">
                <a:latin typeface="Courier New" panose="02070309020205020404" pitchFamily="49" charset="0"/>
                <a:cs typeface="Courier New" panose="02070309020205020404" pitchFamily="49" charset="0"/>
              </a:rPr>
              <a:t>, :</a:t>
            </a:r>
            <a:r>
              <a:rPr lang="en-US" sz="2500" dirty="0" err="1">
                <a:latin typeface="Courier New" panose="02070309020205020404" pitchFamily="49" charset="0"/>
                <a:cs typeface="Courier New" panose="02070309020205020404" pitchFamily="49" charset="0"/>
              </a:rPr>
              <a:t>lname</a:t>
            </a:r>
            <a:r>
              <a:rPr lang="en-US" sz="2500" dirty="0">
                <a:latin typeface="Courier New" panose="02070309020205020404" pitchFamily="49" charset="0"/>
                <a:cs typeface="Courier New" panose="02070309020205020404" pitchFamily="49" charset="0"/>
              </a:rPr>
              <a:t>, :address, :salary</a:t>
            </a:r>
          </a:p>
          <a:p>
            <a:r>
              <a:rPr lang="en-US" sz="2500" dirty="0">
                <a:latin typeface="Courier New" panose="02070309020205020404" pitchFamily="49" charset="0"/>
                <a:cs typeface="Courier New" panose="02070309020205020404" pitchFamily="49" charset="0"/>
              </a:rPr>
              <a:t>5) FROM EMPLOYEE WHERE </a:t>
            </a:r>
            <a:r>
              <a:rPr lang="en-US" sz="2500" dirty="0" err="1">
                <a:latin typeface="Courier New" panose="02070309020205020404" pitchFamily="49" charset="0"/>
                <a:cs typeface="Courier New" panose="02070309020205020404" pitchFamily="49" charset="0"/>
              </a:rPr>
              <a:t>Ssn</a:t>
            </a:r>
            <a:r>
              <a:rPr lang="en-US" sz="2500" dirty="0">
                <a:latin typeface="Courier New" panose="02070309020205020404" pitchFamily="49" charset="0"/>
                <a:cs typeface="Courier New" panose="02070309020205020404" pitchFamily="49" charset="0"/>
              </a:rPr>
              <a:t> = :</a:t>
            </a:r>
            <a:r>
              <a:rPr lang="en-US" sz="2500" dirty="0" err="1">
                <a:latin typeface="Courier New" panose="02070309020205020404" pitchFamily="49" charset="0"/>
                <a:cs typeface="Courier New" panose="02070309020205020404" pitchFamily="49" charset="0"/>
              </a:rPr>
              <a:t>ssn</a:t>
            </a:r>
            <a:r>
              <a:rPr lang="en-US" sz="2500" dirty="0">
                <a:latin typeface="Courier New" panose="02070309020205020404" pitchFamily="49" charset="0"/>
                <a:cs typeface="Courier New" panose="02070309020205020404" pitchFamily="49" charset="0"/>
              </a:rPr>
              <a:t>} ;</a:t>
            </a:r>
          </a:p>
          <a:p>
            <a:r>
              <a:rPr lang="en-US" sz="2500" dirty="0">
                <a:latin typeface="Courier New" panose="02070309020205020404" pitchFamily="49" charset="0"/>
                <a:cs typeface="Courier New" panose="02070309020205020404" pitchFamily="49" charset="0"/>
              </a:rPr>
              <a:t>6) } catch (</a:t>
            </a:r>
            <a:r>
              <a:rPr lang="en-US" sz="2500" dirty="0" err="1">
                <a:latin typeface="Courier New" panose="02070309020205020404" pitchFamily="49" charset="0"/>
                <a:cs typeface="Courier New" panose="02070309020205020404" pitchFamily="49" charset="0"/>
              </a:rPr>
              <a:t>SQLException</a:t>
            </a:r>
            <a:r>
              <a:rPr lang="en-US" sz="2500" dirty="0">
                <a:latin typeface="Courier New" panose="02070309020205020404" pitchFamily="49" charset="0"/>
                <a:cs typeface="Courier New" panose="02070309020205020404" pitchFamily="49" charset="0"/>
              </a:rPr>
              <a:t> se) {</a:t>
            </a:r>
          </a:p>
          <a:p>
            <a:r>
              <a:rPr lang="en-US" sz="2500" dirty="0">
                <a:latin typeface="Courier New" panose="02070309020205020404" pitchFamily="49" charset="0"/>
                <a:cs typeface="Courier New" panose="02070309020205020404" pitchFamily="49" charset="0"/>
              </a:rPr>
              <a:t>7) </a:t>
            </a:r>
            <a:r>
              <a:rPr lang="en-US" sz="2500" dirty="0" err="1">
                <a:latin typeface="Courier New" panose="02070309020205020404" pitchFamily="49" charset="0"/>
                <a:cs typeface="Courier New" panose="02070309020205020404" pitchFamily="49" charset="0"/>
              </a:rPr>
              <a:t>System.out.println</a:t>
            </a:r>
            <a:r>
              <a:rPr lang="en-US" sz="2500" dirty="0">
                <a:latin typeface="Courier New" panose="02070309020205020404" pitchFamily="49" charset="0"/>
                <a:cs typeface="Courier New" panose="02070309020205020404" pitchFamily="49" charset="0"/>
              </a:rPr>
              <a:t>("Social Security Number does not exist: " + </a:t>
            </a:r>
            <a:r>
              <a:rPr lang="en-US" sz="2500" dirty="0" err="1">
                <a:latin typeface="Courier New" panose="02070309020205020404" pitchFamily="49" charset="0"/>
                <a:cs typeface="Courier New" panose="02070309020205020404" pitchFamily="49" charset="0"/>
              </a:rPr>
              <a:t>ssn</a:t>
            </a:r>
            <a:r>
              <a:rPr lang="en-US" sz="2500" dirty="0">
                <a:latin typeface="Courier New" panose="02070309020205020404" pitchFamily="49" charset="0"/>
                <a:cs typeface="Courier New" panose="02070309020205020404" pitchFamily="49" charset="0"/>
              </a:rPr>
              <a:t>) ;</a:t>
            </a:r>
          </a:p>
          <a:p>
            <a:r>
              <a:rPr lang="en-US" sz="2500" dirty="0">
                <a:latin typeface="Courier New" panose="02070309020205020404" pitchFamily="49" charset="0"/>
                <a:cs typeface="Courier New" panose="02070309020205020404" pitchFamily="49" charset="0"/>
              </a:rPr>
              <a:t>8) Return ;</a:t>
            </a:r>
          </a:p>
          <a:p>
            <a:r>
              <a:rPr lang="en-US" sz="2500" dirty="0">
                <a:latin typeface="Courier New" panose="02070309020205020404" pitchFamily="49" charset="0"/>
                <a:cs typeface="Courier New" panose="02070309020205020404" pitchFamily="49" charset="0"/>
              </a:rPr>
              <a:t>9) }</a:t>
            </a:r>
          </a:p>
          <a:p>
            <a:r>
              <a:rPr lang="en-US" sz="2500" dirty="0">
                <a:latin typeface="Courier New" panose="02070309020205020404" pitchFamily="49" charset="0"/>
                <a:cs typeface="Courier New" panose="02070309020205020404" pitchFamily="49" charset="0"/>
              </a:rPr>
              <a:t>10) </a:t>
            </a:r>
            <a:r>
              <a:rPr lang="en-US" sz="2500" dirty="0" err="1">
                <a:latin typeface="Courier New" panose="02070309020205020404" pitchFamily="49" charset="0"/>
                <a:cs typeface="Courier New" panose="02070309020205020404" pitchFamily="49" charset="0"/>
              </a:rPr>
              <a:t>System.out.println</a:t>
            </a:r>
            <a:r>
              <a:rPr lang="en-US" sz="2500" dirty="0">
                <a:latin typeface="Courier New" panose="02070309020205020404" pitchFamily="49" charset="0"/>
                <a:cs typeface="Courier New" panose="02070309020205020404" pitchFamily="49" charset="0"/>
              </a:rPr>
              <a:t>(</a:t>
            </a:r>
            <a:r>
              <a:rPr lang="en-US" sz="2500" dirty="0" err="1">
                <a:latin typeface="Courier New" panose="02070309020205020404" pitchFamily="49" charset="0"/>
                <a:cs typeface="Courier New" panose="02070309020205020404" pitchFamily="49" charset="0"/>
              </a:rPr>
              <a:t>fname</a:t>
            </a:r>
            <a:r>
              <a:rPr lang="en-US" sz="2500" dirty="0">
                <a:latin typeface="Courier New" panose="02070309020205020404" pitchFamily="49" charset="0"/>
                <a:cs typeface="Courier New" panose="02070309020205020404" pitchFamily="49" charset="0"/>
              </a:rPr>
              <a:t> + " " + </a:t>
            </a:r>
            <a:r>
              <a:rPr lang="en-US" sz="2500" dirty="0" err="1">
                <a:latin typeface="Courier New" panose="02070309020205020404" pitchFamily="49" charset="0"/>
                <a:cs typeface="Courier New" panose="02070309020205020404" pitchFamily="49" charset="0"/>
              </a:rPr>
              <a:t>minit</a:t>
            </a:r>
            <a:r>
              <a:rPr lang="en-US" sz="2500" dirty="0">
                <a:latin typeface="Courier New" panose="02070309020205020404" pitchFamily="49" charset="0"/>
                <a:cs typeface="Courier New" panose="02070309020205020404" pitchFamily="49" charset="0"/>
              </a:rPr>
              <a:t> + " " + </a:t>
            </a:r>
            <a:r>
              <a:rPr lang="en-US" sz="2500" dirty="0" err="1">
                <a:latin typeface="Courier New" panose="02070309020205020404" pitchFamily="49" charset="0"/>
                <a:cs typeface="Courier New" panose="02070309020205020404" pitchFamily="49" charset="0"/>
              </a:rPr>
              <a:t>lname</a:t>
            </a:r>
            <a:r>
              <a:rPr lang="en-US" sz="2500" dirty="0">
                <a:latin typeface="Courier New" panose="02070309020205020404" pitchFamily="49" charset="0"/>
                <a:cs typeface="Courier New" panose="02070309020205020404" pitchFamily="49" charset="0"/>
              </a:rPr>
              <a:t> + " " + address</a:t>
            </a:r>
          </a:p>
          <a:p>
            <a:r>
              <a:rPr lang="en-US" sz="2500" dirty="0">
                <a:latin typeface="Courier New" panose="02070309020205020404" pitchFamily="49" charset="0"/>
                <a:cs typeface="Courier New" panose="02070309020205020404" pitchFamily="49" charset="0"/>
              </a:rPr>
              <a:t>+ " " + salary)</a:t>
            </a:r>
          </a:p>
        </p:txBody>
      </p:sp>
      <p:sp>
        <p:nvSpPr>
          <p:cNvPr id="4" name="Slide Number Placeholder 3">
            <a:extLst>
              <a:ext uri="{FF2B5EF4-FFF2-40B4-BE49-F238E27FC236}">
                <a16:creationId xmlns:a16="http://schemas.microsoft.com/office/drawing/2014/main" id="{BD134134-8B4D-E49A-A3FF-CCAA42EC3C5C}"/>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3945059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45D-1ECF-3A4E-D0E6-54A27F1F3D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80280B-7DBB-5C6C-BC24-CE472B70E80F}"/>
              </a:ext>
            </a:extLst>
          </p:cNvPr>
          <p:cNvSpPr>
            <a:spLocks noGrp="1"/>
          </p:cNvSpPr>
          <p:nvPr>
            <p:ph idx="1"/>
          </p:nvPr>
        </p:nvSpPr>
        <p:spPr/>
        <p:txBody>
          <a:bodyPr>
            <a:normAutofit/>
          </a:bodyPr>
          <a:lstStyle/>
          <a:p>
            <a:r>
              <a:rPr lang="en-US" dirty="0"/>
              <a:t>in SQLJ, the embedded SQL commands within a Java program are preceded by #sql, so that they can be identified by the preprocessor</a:t>
            </a:r>
          </a:p>
          <a:p>
            <a:r>
              <a:rPr lang="en-US" dirty="0"/>
              <a:t>the #sql is used instead of the keywords EXEC SQL that are used in embedded SQL with the C programming language </a:t>
            </a:r>
          </a:p>
          <a:p>
            <a:r>
              <a:rPr lang="en-US" dirty="0"/>
              <a:t>SQLJ uses an INTO clause to return attribute values retrieved from database into variables; program variables are preceded by colons (:) in the SQL statement</a:t>
            </a:r>
          </a:p>
        </p:txBody>
      </p:sp>
      <p:sp>
        <p:nvSpPr>
          <p:cNvPr id="4" name="Slide Number Placeholder 3">
            <a:extLst>
              <a:ext uri="{FF2B5EF4-FFF2-40B4-BE49-F238E27FC236}">
                <a16:creationId xmlns:a16="http://schemas.microsoft.com/office/drawing/2014/main" id="{BC287559-AD35-54DB-6CB2-6EB771D98F45}"/>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3699242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15A78-B12C-546B-C578-5D7485AAA3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17B8CD-78CD-1F04-7E42-DFBF32EBFE65}"/>
              </a:ext>
            </a:extLst>
          </p:cNvPr>
          <p:cNvSpPr>
            <a:spLocks noGrp="1"/>
          </p:cNvSpPr>
          <p:nvPr>
            <p:ph idx="1"/>
          </p:nvPr>
        </p:nvSpPr>
        <p:spPr/>
        <p:txBody>
          <a:bodyPr/>
          <a:lstStyle/>
          <a:p>
            <a:r>
              <a:rPr lang="en-US" dirty="0"/>
              <a:t>in previously example a single tuple is retrieved by embedded SQLJ query; that is why we are able to assign its attribute values directly to Java program variables in the INTO clause</a:t>
            </a:r>
          </a:p>
          <a:p>
            <a:r>
              <a:rPr lang="en-US" dirty="0"/>
              <a:t>for queries that retrieve many tuples, SQLJ uses the concept of iterator, which is like cursor</a:t>
            </a:r>
          </a:p>
          <a:p>
            <a:endParaRPr lang="en-US" dirty="0"/>
          </a:p>
        </p:txBody>
      </p:sp>
      <p:sp>
        <p:nvSpPr>
          <p:cNvPr id="4" name="Slide Number Placeholder 3">
            <a:extLst>
              <a:ext uri="{FF2B5EF4-FFF2-40B4-BE49-F238E27FC236}">
                <a16:creationId xmlns:a16="http://schemas.microsoft.com/office/drawing/2014/main" id="{EA8FB9B6-4CB5-3FDB-2EFD-ABC5D33A1275}"/>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3836742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B2E5-B159-F546-9698-B57714640E2B}"/>
              </a:ext>
            </a:extLst>
          </p:cNvPr>
          <p:cNvSpPr>
            <a:spLocks noGrp="1"/>
          </p:cNvSpPr>
          <p:nvPr>
            <p:ph type="title"/>
          </p:nvPr>
        </p:nvSpPr>
        <p:spPr>
          <a:xfrm>
            <a:off x="838200" y="365125"/>
            <a:ext cx="10515600" cy="913069"/>
          </a:xfrm>
        </p:spPr>
        <p:txBody>
          <a:bodyPr/>
          <a:lstStyle/>
          <a:p>
            <a:endParaRPr lang="en-US" dirty="0"/>
          </a:p>
        </p:txBody>
      </p:sp>
      <p:sp>
        <p:nvSpPr>
          <p:cNvPr id="3" name="Content Placeholder 2">
            <a:extLst>
              <a:ext uri="{FF2B5EF4-FFF2-40B4-BE49-F238E27FC236}">
                <a16:creationId xmlns:a16="http://schemas.microsoft.com/office/drawing/2014/main" id="{A7025B51-C35C-1069-F419-7B43DF2AC424}"/>
              </a:ext>
            </a:extLst>
          </p:cNvPr>
          <p:cNvSpPr>
            <a:spLocks noGrp="1"/>
          </p:cNvSpPr>
          <p:nvPr>
            <p:ph idx="1"/>
          </p:nvPr>
        </p:nvSpPr>
        <p:spPr>
          <a:xfrm>
            <a:off x="838200" y="1356852"/>
            <a:ext cx="10515600" cy="4820111"/>
          </a:xfrm>
        </p:spPr>
        <p:txBody>
          <a:bodyPr>
            <a:normAutofit fontScale="92500" lnSpcReduction="20000"/>
          </a:bodyPr>
          <a:lstStyle/>
          <a:p>
            <a:r>
              <a:rPr lang="en-US" dirty="0">
                <a:latin typeface="Courier New" panose="02070309020205020404" pitchFamily="49" charset="0"/>
                <a:cs typeface="Courier New" panose="02070309020205020404" pitchFamily="49" charset="0"/>
              </a:rPr>
              <a:t>0) </a:t>
            </a:r>
            <a:r>
              <a:rPr lang="en-US" dirty="0" err="1">
                <a:latin typeface="Courier New" panose="02070309020205020404" pitchFamily="49" charset="0"/>
                <a:cs typeface="Courier New" panose="02070309020205020404" pitchFamily="49" charset="0"/>
              </a:rPr>
              <a:t>dname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readEntry</a:t>
            </a:r>
            <a:r>
              <a:rPr lang="en-US" dirty="0">
                <a:latin typeface="Courier New" panose="02070309020205020404" pitchFamily="49" charset="0"/>
                <a:cs typeface="Courier New" panose="02070309020205020404" pitchFamily="49" charset="0"/>
              </a:rPr>
              <a:t>("Enter the Department Name: ") ;</a:t>
            </a:r>
          </a:p>
          <a:p>
            <a:r>
              <a:rPr lang="en-US" dirty="0">
                <a:latin typeface="Courier New" panose="02070309020205020404" pitchFamily="49" charset="0"/>
                <a:cs typeface="Courier New" panose="02070309020205020404" pitchFamily="49" charset="0"/>
              </a:rPr>
              <a:t>1) try {</a:t>
            </a:r>
          </a:p>
          <a:p>
            <a:r>
              <a:rPr lang="en-US" dirty="0">
                <a:latin typeface="Courier New" panose="02070309020205020404" pitchFamily="49" charset="0"/>
                <a:cs typeface="Courier New" panose="02070309020205020404" pitchFamily="49" charset="0"/>
              </a:rPr>
              <a:t>2) #sql { SELECT </a:t>
            </a:r>
            <a:r>
              <a:rPr lang="en-US" dirty="0" err="1">
                <a:latin typeface="Courier New" panose="02070309020205020404" pitchFamily="49" charset="0"/>
                <a:cs typeface="Courier New" panose="02070309020205020404" pitchFamily="49" charset="0"/>
              </a:rPr>
              <a:t>Dnumber</a:t>
            </a:r>
            <a:r>
              <a:rPr lang="en-US" dirty="0">
                <a:latin typeface="Courier New" panose="02070309020205020404" pitchFamily="49" charset="0"/>
                <a:cs typeface="Courier New" panose="02070309020205020404" pitchFamily="49" charset="0"/>
              </a:rPr>
              <a:t> INTO :</a:t>
            </a:r>
            <a:r>
              <a:rPr lang="en-US" dirty="0" err="1">
                <a:latin typeface="Courier New" panose="02070309020205020404" pitchFamily="49" charset="0"/>
                <a:cs typeface="Courier New" panose="02070309020205020404" pitchFamily="49" charset="0"/>
              </a:rPr>
              <a:t>dnumber</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3) FROM DEPARTMENT WHERE </a:t>
            </a:r>
            <a:r>
              <a:rPr lang="en-US" dirty="0" err="1">
                <a:latin typeface="Courier New" panose="02070309020205020404" pitchFamily="49" charset="0"/>
                <a:cs typeface="Courier New" panose="02070309020205020404" pitchFamily="49" charset="0"/>
              </a:rPr>
              <a:t>Dname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dname</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4) } catch (</a:t>
            </a:r>
            <a:r>
              <a:rPr lang="en-US" dirty="0" err="1">
                <a:latin typeface="Courier New" panose="02070309020205020404" pitchFamily="49" charset="0"/>
                <a:cs typeface="Courier New" panose="02070309020205020404" pitchFamily="49" charset="0"/>
              </a:rPr>
              <a:t>SQLException</a:t>
            </a:r>
            <a:r>
              <a:rPr lang="en-US" dirty="0">
                <a:latin typeface="Courier New" panose="02070309020205020404" pitchFamily="49" charset="0"/>
                <a:cs typeface="Courier New" panose="02070309020205020404" pitchFamily="49" charset="0"/>
              </a:rPr>
              <a:t> se) {</a:t>
            </a:r>
          </a:p>
          <a:p>
            <a:r>
              <a:rPr lang="en-US" dirty="0">
                <a:latin typeface="Courier New" panose="02070309020205020404" pitchFamily="49" charset="0"/>
                <a:cs typeface="Courier New" panose="02070309020205020404" pitchFamily="49" charset="0"/>
              </a:rPr>
              <a:t>5) </a:t>
            </a: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("Department does not exist: " + </a:t>
            </a:r>
            <a:r>
              <a:rPr lang="en-US" dirty="0" err="1">
                <a:latin typeface="Courier New" panose="02070309020205020404" pitchFamily="49" charset="0"/>
                <a:cs typeface="Courier New" panose="02070309020205020404" pitchFamily="49" charset="0"/>
              </a:rPr>
              <a:t>dname</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6) Return ;</a:t>
            </a:r>
          </a:p>
          <a:p>
            <a:r>
              <a:rPr lang="en-US" dirty="0">
                <a:latin typeface="Courier New" panose="02070309020205020404" pitchFamily="49" charset="0"/>
                <a:cs typeface="Courier New" panose="02070309020205020404" pitchFamily="49" charset="0"/>
              </a:rPr>
              <a:t>7) }</a:t>
            </a:r>
          </a:p>
          <a:p>
            <a:r>
              <a:rPr lang="en-US" dirty="0">
                <a:latin typeface="Courier New" panose="02070309020205020404" pitchFamily="49" charset="0"/>
                <a:cs typeface="Courier New" panose="02070309020205020404" pitchFamily="49" charset="0"/>
              </a:rPr>
              <a:t>8) </a:t>
            </a:r>
            <a:r>
              <a:rPr lang="en-US" dirty="0" err="1">
                <a:latin typeface="Courier New" panose="02070309020205020404" pitchFamily="49" charset="0"/>
                <a:cs typeface="Courier New" panose="02070309020205020404" pitchFamily="49" charset="0"/>
              </a:rPr>
              <a:t>System.out.printline</a:t>
            </a:r>
            <a:r>
              <a:rPr lang="en-US" dirty="0">
                <a:latin typeface="Courier New" panose="02070309020205020404" pitchFamily="49" charset="0"/>
                <a:cs typeface="Courier New" panose="02070309020205020404" pitchFamily="49" charset="0"/>
              </a:rPr>
              <a:t>("Employee information for Department: " + </a:t>
            </a:r>
            <a:r>
              <a:rPr lang="en-US" dirty="0" err="1">
                <a:latin typeface="Courier New" panose="02070309020205020404" pitchFamily="49" charset="0"/>
                <a:cs typeface="Courier New" panose="02070309020205020404" pitchFamily="49" charset="0"/>
              </a:rPr>
              <a:t>dname</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EF52428A-A9C8-FE54-5A51-8CAA91BA08B3}"/>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1122295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DE918-FDF0-B1FA-2277-7085D266C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41102-6268-00F9-F965-EC22EA2DED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8F9FDA-E3A0-2ECB-D521-08B2911D18B4}"/>
              </a:ext>
            </a:extLst>
          </p:cNvPr>
          <p:cNvSpPr>
            <a:spLocks noGrp="1"/>
          </p:cNvSpPr>
          <p:nvPr>
            <p:ph idx="1"/>
          </p:nvPr>
        </p:nvSpPr>
        <p:spPr/>
        <p:txBody>
          <a:bodyPr>
            <a:normAutofit fontScale="92500" lnSpcReduction="20000"/>
          </a:bodyPr>
          <a:lstStyle/>
          <a:p>
            <a:r>
              <a:rPr lang="en-US" dirty="0">
                <a:latin typeface="Courier New" panose="02070309020205020404" pitchFamily="49" charset="0"/>
                <a:cs typeface="Courier New" panose="02070309020205020404" pitchFamily="49" charset="0"/>
              </a:rPr>
              <a:t>9) #sql iterator Emp(String </a:t>
            </a:r>
            <a:r>
              <a:rPr lang="en-US" dirty="0" err="1">
                <a:latin typeface="Courier New" panose="02070309020205020404" pitchFamily="49" charset="0"/>
                <a:cs typeface="Courier New" panose="02070309020205020404" pitchFamily="49" charset="0"/>
              </a:rPr>
              <a:t>ssn</a:t>
            </a:r>
            <a:r>
              <a:rPr lang="en-US" dirty="0">
                <a:latin typeface="Courier New" panose="02070309020205020404" pitchFamily="49" charset="0"/>
                <a:cs typeface="Courier New" panose="02070309020205020404" pitchFamily="49" charset="0"/>
              </a:rPr>
              <a:t>, String </a:t>
            </a:r>
            <a:r>
              <a:rPr lang="en-US" dirty="0" err="1">
                <a:latin typeface="Courier New" panose="02070309020205020404" pitchFamily="49" charset="0"/>
                <a:cs typeface="Courier New" panose="02070309020205020404" pitchFamily="49" charset="0"/>
              </a:rPr>
              <a:t>fname</a:t>
            </a:r>
            <a:r>
              <a:rPr lang="en-US" dirty="0">
                <a:latin typeface="Courier New" panose="02070309020205020404" pitchFamily="49" charset="0"/>
                <a:cs typeface="Courier New" panose="02070309020205020404" pitchFamily="49" charset="0"/>
              </a:rPr>
              <a:t>, String </a:t>
            </a:r>
            <a:r>
              <a:rPr lang="en-US" dirty="0" err="1">
                <a:latin typeface="Courier New" panose="02070309020205020404" pitchFamily="49" charset="0"/>
                <a:cs typeface="Courier New" panose="02070309020205020404" pitchFamily="49" charset="0"/>
              </a:rPr>
              <a:t>minit</a:t>
            </a:r>
            <a:r>
              <a:rPr lang="en-US" dirty="0">
                <a:latin typeface="Courier New" panose="02070309020205020404" pitchFamily="49" charset="0"/>
                <a:cs typeface="Courier New" panose="02070309020205020404" pitchFamily="49" charset="0"/>
              </a:rPr>
              <a:t>, String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double salary) ;</a:t>
            </a:r>
          </a:p>
          <a:p>
            <a:r>
              <a:rPr lang="en-US" dirty="0">
                <a:latin typeface="Courier New" panose="02070309020205020404" pitchFamily="49" charset="0"/>
                <a:cs typeface="Courier New" panose="02070309020205020404" pitchFamily="49" charset="0"/>
              </a:rPr>
              <a:t>10) Emp e = null ;</a:t>
            </a:r>
          </a:p>
          <a:p>
            <a:r>
              <a:rPr lang="en-US" dirty="0">
                <a:latin typeface="Courier New" panose="02070309020205020404" pitchFamily="49" charset="0"/>
                <a:cs typeface="Courier New" panose="02070309020205020404" pitchFamily="49" charset="0"/>
              </a:rPr>
              <a:t>11) #sql e = { SELECT </a:t>
            </a:r>
            <a:r>
              <a:rPr lang="en-US" dirty="0" err="1">
                <a:latin typeface="Courier New" panose="02070309020205020404" pitchFamily="49" charset="0"/>
                <a:cs typeface="Courier New" panose="02070309020205020404" pitchFamily="49" charset="0"/>
              </a:rPr>
              <a:t>ssn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minit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salary</a:t>
            </a:r>
          </a:p>
          <a:p>
            <a:r>
              <a:rPr lang="en-US" dirty="0">
                <a:latin typeface="Courier New" panose="02070309020205020404" pitchFamily="49" charset="0"/>
                <a:cs typeface="Courier New" panose="02070309020205020404" pitchFamily="49" charset="0"/>
              </a:rPr>
              <a:t>12) FROM EMPLOYEE WHERE </a:t>
            </a:r>
            <a:r>
              <a:rPr lang="en-US" dirty="0" err="1">
                <a:latin typeface="Courier New" panose="02070309020205020404" pitchFamily="49" charset="0"/>
                <a:cs typeface="Courier New" panose="02070309020205020404" pitchFamily="49" charset="0"/>
              </a:rPr>
              <a:t>Dno</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dnumber</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13) while (</a:t>
            </a:r>
            <a:r>
              <a:rPr lang="en-US" dirty="0" err="1">
                <a:latin typeface="Courier New" panose="02070309020205020404" pitchFamily="49" charset="0"/>
                <a:cs typeface="Courier New" panose="02070309020205020404" pitchFamily="49" charset="0"/>
              </a:rPr>
              <a:t>e.next</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14) </a:t>
            </a:r>
            <a:r>
              <a:rPr lang="en-US" dirty="0" err="1">
                <a:latin typeface="Courier New" panose="02070309020205020404" pitchFamily="49" charset="0"/>
                <a:cs typeface="Courier New" panose="02070309020205020404" pitchFamily="49" charset="0"/>
              </a:rPr>
              <a:t>System.out.printline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e.ssn</a:t>
            </a:r>
            <a:r>
              <a:rPr lang="en-US" dirty="0">
                <a:latin typeface="Courier New" panose="02070309020205020404" pitchFamily="49" charset="0"/>
                <a:cs typeface="Courier New" panose="02070309020205020404" pitchFamily="49" charset="0"/>
              </a:rPr>
              <a:t> + " " + </a:t>
            </a:r>
            <a:r>
              <a:rPr lang="en-US" dirty="0" err="1">
                <a:latin typeface="Courier New" panose="02070309020205020404" pitchFamily="49" charset="0"/>
                <a:cs typeface="Courier New" panose="02070309020205020404" pitchFamily="49" charset="0"/>
              </a:rPr>
              <a:t>e.fname</a:t>
            </a:r>
            <a:r>
              <a:rPr lang="en-US" dirty="0">
                <a:latin typeface="Courier New" panose="02070309020205020404" pitchFamily="49" charset="0"/>
                <a:cs typeface="Courier New" panose="02070309020205020404" pitchFamily="49" charset="0"/>
              </a:rPr>
              <a:t> + " " + </a:t>
            </a:r>
            <a:r>
              <a:rPr lang="en-US" dirty="0" err="1">
                <a:latin typeface="Courier New" panose="02070309020205020404" pitchFamily="49" charset="0"/>
                <a:cs typeface="Courier New" panose="02070309020205020404" pitchFamily="49" charset="0"/>
              </a:rPr>
              <a:t>e.minit</a:t>
            </a:r>
            <a:r>
              <a:rPr lang="en-US" dirty="0">
                <a:latin typeface="Courier New" panose="02070309020205020404" pitchFamily="49" charset="0"/>
                <a:cs typeface="Courier New" panose="02070309020205020404" pitchFamily="49" charset="0"/>
              </a:rPr>
              <a:t> + " " + </a:t>
            </a:r>
            <a:r>
              <a:rPr lang="en-US" dirty="0" err="1">
                <a:latin typeface="Courier New" panose="02070309020205020404" pitchFamily="49" charset="0"/>
                <a:cs typeface="Courier New" panose="02070309020205020404" pitchFamily="49" charset="0"/>
              </a:rPr>
              <a:t>e.lname</a:t>
            </a:r>
            <a:r>
              <a:rPr lang="en-US" dirty="0">
                <a:latin typeface="Courier New" panose="02070309020205020404" pitchFamily="49" charset="0"/>
                <a:cs typeface="Courier New" panose="02070309020205020404" pitchFamily="49" charset="0"/>
              </a:rPr>
              <a:t> + " " + </a:t>
            </a:r>
            <a:r>
              <a:rPr lang="en-US" dirty="0" err="1">
                <a:latin typeface="Courier New" panose="02070309020205020404" pitchFamily="49" charset="0"/>
                <a:cs typeface="Courier New" panose="02070309020205020404" pitchFamily="49" charset="0"/>
              </a:rPr>
              <a:t>e.salary</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15) } ;</a:t>
            </a:r>
          </a:p>
          <a:p>
            <a:r>
              <a:rPr lang="en-US" dirty="0">
                <a:latin typeface="Courier New" panose="02070309020205020404" pitchFamily="49" charset="0"/>
                <a:cs typeface="Courier New" panose="02070309020205020404" pitchFamily="49" charset="0"/>
              </a:rPr>
              <a:t>16) </a:t>
            </a:r>
            <a:r>
              <a:rPr lang="en-US" dirty="0" err="1">
                <a:latin typeface="Courier New" panose="02070309020205020404" pitchFamily="49" charset="0"/>
                <a:cs typeface="Courier New" panose="02070309020205020404" pitchFamily="49" charset="0"/>
              </a:rPr>
              <a:t>e.close</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092965BF-8E87-7A51-D9EE-5A466BF2F740}"/>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13745224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90C5D-68BC-628D-53F6-30348497C0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BA52A82-0762-76C8-5FF9-09A2951D1C27}"/>
              </a:ext>
            </a:extLst>
          </p:cNvPr>
          <p:cNvSpPr>
            <a:spLocks noGrp="1"/>
          </p:cNvSpPr>
          <p:nvPr>
            <p:ph idx="1"/>
          </p:nvPr>
        </p:nvSpPr>
        <p:spPr/>
        <p:txBody>
          <a:bodyPr>
            <a:normAutofit lnSpcReduction="10000"/>
          </a:bodyPr>
          <a:lstStyle/>
          <a:p>
            <a:r>
              <a:rPr lang="en-US" dirty="0"/>
              <a:t>SQLJ iterator is a type of object associated with a collection (set or multiset) of records in a query result</a:t>
            </a:r>
          </a:p>
          <a:p>
            <a:r>
              <a:rPr lang="en-US" dirty="0"/>
              <a:t>types of iterators:</a:t>
            </a:r>
          </a:p>
          <a:p>
            <a:pPr marL="514350" indent="-514350">
              <a:buFont typeface="+mj-lt"/>
              <a:buAutoNum type="arabicPeriod"/>
            </a:pPr>
            <a:r>
              <a:rPr lang="en-US" dirty="0"/>
              <a:t>named iterator is associated with query result by listing attribute names and types that appear in query result; attribute names must correspond to appropriately declared Java program variables</a:t>
            </a:r>
          </a:p>
          <a:p>
            <a:pPr marL="514350" indent="-514350">
              <a:buFont typeface="+mj-lt"/>
              <a:buAutoNum type="arabicPeriod"/>
            </a:pPr>
            <a:r>
              <a:rPr lang="en-US" dirty="0"/>
              <a:t>positional iterator lists only attribute types that appear in query result</a:t>
            </a:r>
          </a:p>
          <a:p>
            <a:r>
              <a:rPr lang="en-US" dirty="0"/>
              <a:t>list should be </a:t>
            </a:r>
            <a:r>
              <a:rPr lang="en-US" i="1" dirty="0"/>
              <a:t>in the same order </a:t>
            </a:r>
            <a:r>
              <a:rPr lang="en-US" dirty="0"/>
              <a:t>as attributes that are listed in SELECT clause of the query</a:t>
            </a:r>
          </a:p>
        </p:txBody>
      </p:sp>
      <p:sp>
        <p:nvSpPr>
          <p:cNvPr id="4" name="Slide Number Placeholder 3">
            <a:extLst>
              <a:ext uri="{FF2B5EF4-FFF2-40B4-BE49-F238E27FC236}">
                <a16:creationId xmlns:a16="http://schemas.microsoft.com/office/drawing/2014/main" id="{D3035D73-397A-4E46-F66D-F7D5A22DFF7F}"/>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385312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F364E-C6FD-1FD2-3064-4C20F6DD6A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14A6F0-5EBA-7A48-9F10-3425258B683B}"/>
              </a:ext>
            </a:extLst>
          </p:cNvPr>
          <p:cNvSpPr>
            <a:spLocks noGrp="1"/>
          </p:cNvSpPr>
          <p:nvPr>
            <p:ph type="title"/>
          </p:nvPr>
        </p:nvSpPr>
        <p:spPr/>
        <p:txBody>
          <a:bodyPr>
            <a:normAutofit/>
          </a:bodyPr>
          <a:lstStyle/>
          <a:p>
            <a:r>
              <a:rPr lang="en-US" b="1" dirty="0"/>
              <a:t>Function Calls and Class Libraries</a:t>
            </a:r>
            <a:endParaRPr lang="en-US" dirty="0"/>
          </a:p>
        </p:txBody>
      </p:sp>
      <p:sp>
        <p:nvSpPr>
          <p:cNvPr id="6" name="Text Placeholder 5">
            <a:extLst>
              <a:ext uri="{FF2B5EF4-FFF2-40B4-BE49-F238E27FC236}">
                <a16:creationId xmlns:a16="http://schemas.microsoft.com/office/drawing/2014/main" id="{509C11A8-CA1D-C55B-7A96-6B89AF2269F0}"/>
              </a:ext>
            </a:extLst>
          </p:cNvPr>
          <p:cNvSpPr>
            <a:spLocks noGrp="1"/>
          </p:cNvSpPr>
          <p:nvPr>
            <p:ph type="body" idx="1"/>
          </p:nvPr>
        </p:nvSpPr>
        <p:spPr/>
        <p:txBody>
          <a:bodyPr>
            <a:normAutofit/>
          </a:bodyPr>
          <a:lstStyle/>
          <a:p>
            <a:r>
              <a:rPr lang="en-US" sz="3600" b="1" dirty="0"/>
              <a:t>SQL/CLI and JDBCSQL</a:t>
            </a:r>
            <a:endParaRPr lang="en-US" sz="3600" dirty="0"/>
          </a:p>
        </p:txBody>
      </p:sp>
      <p:sp>
        <p:nvSpPr>
          <p:cNvPr id="4" name="Slide Number Placeholder 3">
            <a:extLst>
              <a:ext uri="{FF2B5EF4-FFF2-40B4-BE49-F238E27FC236}">
                <a16:creationId xmlns:a16="http://schemas.microsoft.com/office/drawing/2014/main" id="{9D772B4D-DFC6-6E18-DBC8-812CC3DF9CF1}"/>
              </a:ext>
            </a:extLst>
          </p:cNvPr>
          <p:cNvSpPr>
            <a:spLocks noGrp="1"/>
          </p:cNvSpPr>
          <p:nvPr>
            <p:ph type="sldNum" sz="quarter" idx="12"/>
          </p:nvPr>
        </p:nvSpPr>
        <p:spPr/>
        <p:txBody>
          <a:bodyPr/>
          <a:lstStyle/>
          <a:p>
            <a:fld id="{6264BDCF-5269-49AC-A246-ED26C2B980E3}" type="slidenum">
              <a:rPr lang="en-US" smtClean="0"/>
              <a:t>47</a:t>
            </a:fld>
            <a:endParaRPr lang="en-US"/>
          </a:p>
        </p:txBody>
      </p:sp>
    </p:spTree>
    <p:extLst>
      <p:ext uri="{BB962C8B-B14F-4D97-AF65-F5344CB8AC3E}">
        <p14:creationId xmlns:p14="http://schemas.microsoft.com/office/powerpoint/2010/main" val="10243122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E365-8608-18D9-80FE-7F9E38F188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B775D4-553D-36F4-39FA-41A78791D52D}"/>
              </a:ext>
            </a:extLst>
          </p:cNvPr>
          <p:cNvSpPr>
            <a:spLocks noGrp="1"/>
          </p:cNvSpPr>
          <p:nvPr>
            <p:ph idx="1"/>
          </p:nvPr>
        </p:nvSpPr>
        <p:spPr/>
        <p:txBody>
          <a:bodyPr>
            <a:noAutofit/>
          </a:bodyPr>
          <a:lstStyle/>
          <a:p>
            <a:r>
              <a:rPr lang="en-US" dirty="0"/>
              <a:t>Embedded SQL is sometimes referred to as a </a:t>
            </a:r>
            <a:r>
              <a:rPr lang="en-US" b="1" dirty="0"/>
              <a:t>static </a:t>
            </a:r>
            <a:r>
              <a:rPr lang="en-US" dirty="0"/>
              <a:t>database programming approach because query text is written within program source code and cannot be changed without recompiling </a:t>
            </a:r>
          </a:p>
          <a:p>
            <a:r>
              <a:rPr lang="en-US" dirty="0"/>
              <a:t>use of Function calls is a more </a:t>
            </a:r>
            <a:r>
              <a:rPr lang="en-US" b="1" dirty="0"/>
              <a:t>dynamic </a:t>
            </a:r>
            <a:r>
              <a:rPr lang="en-US" dirty="0"/>
              <a:t>approach for database programming</a:t>
            </a:r>
          </a:p>
          <a:p>
            <a:r>
              <a:rPr lang="en-US" dirty="0"/>
              <a:t>a library of functions, also known as an application programming interface (API), is used to access database</a:t>
            </a:r>
          </a:p>
          <a:p>
            <a:r>
              <a:rPr lang="en-US" dirty="0"/>
              <a:t>provides more flexibility, no preprocessor is needed</a:t>
            </a:r>
          </a:p>
        </p:txBody>
      </p:sp>
      <p:sp>
        <p:nvSpPr>
          <p:cNvPr id="4" name="Slide Number Placeholder 3">
            <a:extLst>
              <a:ext uri="{FF2B5EF4-FFF2-40B4-BE49-F238E27FC236}">
                <a16:creationId xmlns:a16="http://schemas.microsoft.com/office/drawing/2014/main" id="{B02E0FA7-4E7E-98B4-554B-01A6E6F320E5}"/>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1083518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2AC2A-D5FD-1942-43F5-6B629F3876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A3BB84-92AB-0346-15C7-979CA2AF0CBF}"/>
              </a:ext>
            </a:extLst>
          </p:cNvPr>
          <p:cNvSpPr>
            <a:spLocks noGrp="1"/>
          </p:cNvSpPr>
          <p:nvPr>
            <p:ph idx="1"/>
          </p:nvPr>
        </p:nvSpPr>
        <p:spPr/>
        <p:txBody>
          <a:bodyPr/>
          <a:lstStyle/>
          <a:p>
            <a:r>
              <a:rPr lang="en-US" dirty="0"/>
              <a:t>drawback is that syntax and other checks on SQL commands have to be done at runtime</a:t>
            </a:r>
          </a:p>
          <a:p>
            <a:r>
              <a:rPr lang="en-US" dirty="0"/>
              <a:t>drawback is that it sometimes requires more complex programming to access query results because types and numbers of attributes in a query result may not be known in advance</a:t>
            </a:r>
          </a:p>
        </p:txBody>
      </p:sp>
      <p:sp>
        <p:nvSpPr>
          <p:cNvPr id="4" name="Slide Number Placeholder 3">
            <a:extLst>
              <a:ext uri="{FF2B5EF4-FFF2-40B4-BE49-F238E27FC236}">
                <a16:creationId xmlns:a16="http://schemas.microsoft.com/office/drawing/2014/main" id="{38F3C284-C927-CEC7-98AF-89DD93989927}"/>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22787340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2997A-AF97-9C30-0E28-AEAD6D6058A7}"/>
              </a:ext>
            </a:extLst>
          </p:cNvPr>
          <p:cNvSpPr>
            <a:spLocks noGrp="1"/>
          </p:cNvSpPr>
          <p:nvPr>
            <p:ph type="title"/>
          </p:nvPr>
        </p:nvSpPr>
        <p:spPr/>
        <p:txBody>
          <a:bodyPr/>
          <a:lstStyle/>
          <a:p>
            <a:r>
              <a:rPr lang="en-US" dirty="0"/>
              <a:t>function call interfaces</a:t>
            </a:r>
          </a:p>
        </p:txBody>
      </p:sp>
      <p:sp>
        <p:nvSpPr>
          <p:cNvPr id="3" name="Content Placeholder 2">
            <a:extLst>
              <a:ext uri="{FF2B5EF4-FFF2-40B4-BE49-F238E27FC236}">
                <a16:creationId xmlns:a16="http://schemas.microsoft.com/office/drawing/2014/main" id="{FB6112C1-06D1-0595-CF61-EA4F42D94F27}"/>
              </a:ext>
            </a:extLst>
          </p:cNvPr>
          <p:cNvSpPr>
            <a:spLocks noGrp="1"/>
          </p:cNvSpPr>
          <p:nvPr>
            <p:ph idx="1"/>
          </p:nvPr>
        </p:nvSpPr>
        <p:spPr/>
        <p:txBody>
          <a:bodyPr>
            <a:normAutofit/>
          </a:bodyPr>
          <a:lstStyle/>
          <a:p>
            <a:pPr marL="514350" indent="-514350">
              <a:buFont typeface="+mj-lt"/>
              <a:buAutoNum type="arabicPeriod"/>
            </a:pPr>
            <a:r>
              <a:rPr lang="en-US" dirty="0"/>
              <a:t>the </a:t>
            </a:r>
            <a:r>
              <a:rPr lang="en-US" b="1" dirty="0"/>
              <a:t>SQL Call Level Interface (SQL/CLI</a:t>
            </a:r>
            <a:r>
              <a:rPr lang="en-US" dirty="0"/>
              <a:t>), which is part of SQL standard, was developed as a standardization of the popular library of functions known as </a:t>
            </a:r>
            <a:r>
              <a:rPr lang="en-US" b="1" dirty="0"/>
              <a:t>ODBC (Open Database Connectivity)</a:t>
            </a:r>
          </a:p>
          <a:p>
            <a:pPr lvl="1"/>
            <a:r>
              <a:rPr lang="en-US" sz="2700" dirty="0"/>
              <a:t>use C as host language in SQL/CLI examples</a:t>
            </a:r>
          </a:p>
          <a:p>
            <a:pPr marL="514350" indent="-514350">
              <a:buFont typeface="+mj-lt"/>
              <a:buAutoNum type="arabicPeriod"/>
            </a:pPr>
            <a:r>
              <a:rPr lang="en-US" dirty="0"/>
              <a:t>the </a:t>
            </a:r>
            <a:r>
              <a:rPr lang="en-US" b="1" dirty="0"/>
              <a:t>JDBC</a:t>
            </a:r>
            <a:r>
              <a:rPr lang="en-US" dirty="0"/>
              <a:t>, which is the call function interface for accessing databases from Java; commonly assumed that stands for Java Database Connectivity, JDBC is just a registered trademark of Sun Microsystems (now Oracle), </a:t>
            </a:r>
            <a:r>
              <a:rPr lang="en-US" i="1" dirty="0"/>
              <a:t>not </a:t>
            </a:r>
            <a:r>
              <a:rPr lang="en-US" dirty="0"/>
              <a:t>an acronym</a:t>
            </a:r>
          </a:p>
        </p:txBody>
      </p:sp>
      <p:sp>
        <p:nvSpPr>
          <p:cNvPr id="4" name="Slide Number Placeholder 3">
            <a:extLst>
              <a:ext uri="{FF2B5EF4-FFF2-40B4-BE49-F238E27FC236}">
                <a16:creationId xmlns:a16="http://schemas.microsoft.com/office/drawing/2014/main" id="{F6A04DB8-B970-7D25-55A6-F860207C599F}"/>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9959011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82E58-571D-33AD-1BDB-5251F0E50B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1CB832-6CC6-06A4-A4D3-B9A609FBFEF4}"/>
              </a:ext>
            </a:extLst>
          </p:cNvPr>
          <p:cNvSpPr>
            <a:spLocks noGrp="1"/>
          </p:cNvSpPr>
          <p:nvPr>
            <p:ph idx="1"/>
          </p:nvPr>
        </p:nvSpPr>
        <p:spPr/>
        <p:txBody>
          <a:bodyPr>
            <a:normAutofit/>
          </a:bodyPr>
          <a:lstStyle/>
          <a:p>
            <a:r>
              <a:rPr lang="en-US" dirty="0"/>
              <a:t>main advantage of using function call interface is that it makes it easier to access multiple databases within the same application program, even if they are stored under different DBMS packages</a:t>
            </a:r>
          </a:p>
        </p:txBody>
      </p:sp>
      <p:sp>
        <p:nvSpPr>
          <p:cNvPr id="4" name="Slide Number Placeholder 3">
            <a:extLst>
              <a:ext uri="{FF2B5EF4-FFF2-40B4-BE49-F238E27FC236}">
                <a16:creationId xmlns:a16="http://schemas.microsoft.com/office/drawing/2014/main" id="{E0EBD349-0C11-D6E5-2F8B-C013EE334BC5}"/>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32954751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864A7-CC19-C474-01A2-D7E3605A21E8}"/>
              </a:ext>
            </a:extLst>
          </p:cNvPr>
          <p:cNvSpPr>
            <a:spLocks noGrp="1"/>
          </p:cNvSpPr>
          <p:nvPr>
            <p:ph type="title"/>
          </p:nvPr>
        </p:nvSpPr>
        <p:spPr/>
        <p:txBody>
          <a:bodyPr>
            <a:normAutofit/>
          </a:bodyPr>
          <a:lstStyle/>
          <a:p>
            <a:r>
              <a:rPr lang="en-US" b="1" dirty="0"/>
              <a:t>Database Programming with SQL/CLI </a:t>
            </a:r>
            <a:br>
              <a:rPr lang="en-US" b="1" dirty="0"/>
            </a:br>
            <a:r>
              <a:rPr lang="en-US" b="1" dirty="0"/>
              <a:t>using C as Host Language</a:t>
            </a:r>
            <a:endParaRPr lang="en-US" dirty="0"/>
          </a:p>
        </p:txBody>
      </p:sp>
      <p:sp>
        <p:nvSpPr>
          <p:cNvPr id="3" name="Content Placeholder 2">
            <a:extLst>
              <a:ext uri="{FF2B5EF4-FFF2-40B4-BE49-F238E27FC236}">
                <a16:creationId xmlns:a16="http://schemas.microsoft.com/office/drawing/2014/main" id="{719EC5BC-9918-08B3-A1E5-2C0F42A0B874}"/>
              </a:ext>
            </a:extLst>
          </p:cNvPr>
          <p:cNvSpPr>
            <a:spLocks noGrp="1"/>
          </p:cNvSpPr>
          <p:nvPr>
            <p:ph idx="1"/>
          </p:nvPr>
        </p:nvSpPr>
        <p:spPr/>
        <p:txBody>
          <a:bodyPr/>
          <a:lstStyle/>
          <a:p>
            <a:r>
              <a:rPr lang="en-US" dirty="0"/>
              <a:t>before using function calls in SQL/CLI, it is necessary to install  appropriate library packages on database server; packages are obtained from vendor of DBMS being used</a:t>
            </a:r>
          </a:p>
          <a:p>
            <a:endParaRPr lang="en-US" dirty="0"/>
          </a:p>
        </p:txBody>
      </p:sp>
      <p:sp>
        <p:nvSpPr>
          <p:cNvPr id="4" name="Slide Number Placeholder 3">
            <a:extLst>
              <a:ext uri="{FF2B5EF4-FFF2-40B4-BE49-F238E27FC236}">
                <a16:creationId xmlns:a16="http://schemas.microsoft.com/office/drawing/2014/main" id="{A707956F-6BA4-A028-B456-407E159CF7D1}"/>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306612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7CD7F-A68D-23BB-ED39-EA15B18462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69E298-A8C3-99D3-07A2-ED475B6CA122}"/>
              </a:ext>
            </a:extLst>
          </p:cNvPr>
          <p:cNvSpPr>
            <a:spLocks noGrp="1"/>
          </p:cNvSpPr>
          <p:nvPr>
            <p:ph idx="1"/>
          </p:nvPr>
        </p:nvSpPr>
        <p:spPr>
          <a:xfrm>
            <a:off x="838200" y="365125"/>
            <a:ext cx="10515600" cy="5811838"/>
          </a:xfrm>
        </p:spPr>
        <p:txBody>
          <a:bodyPr>
            <a:noAutofit/>
          </a:bodyPr>
          <a:lstStyle/>
          <a:p>
            <a:r>
              <a:rPr lang="en-US" sz="2000" dirty="0">
                <a:latin typeface="Courier New" panose="02070309020205020404" pitchFamily="49" charset="0"/>
                <a:cs typeface="Courier New" panose="02070309020205020404" pitchFamily="49" charset="0"/>
              </a:rPr>
              <a:t>0) #include </a:t>
            </a:r>
            <a:r>
              <a:rPr lang="en-US" sz="2000" dirty="0" err="1">
                <a:latin typeface="Courier New" panose="02070309020205020404" pitchFamily="49" charset="0"/>
                <a:cs typeface="Courier New" panose="02070309020205020404" pitchFamily="49" charset="0"/>
              </a:rPr>
              <a:t>sqlcli.h</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1) void </a:t>
            </a:r>
            <a:r>
              <a:rPr lang="en-US" sz="2000" dirty="0" err="1">
                <a:latin typeface="Courier New" panose="02070309020205020404" pitchFamily="49" charset="0"/>
                <a:cs typeface="Courier New" panose="02070309020205020404" pitchFamily="49" charset="0"/>
              </a:rPr>
              <a:t>printSal</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2) SQLHSTMT stmt1 ;</a:t>
            </a:r>
          </a:p>
          <a:p>
            <a:r>
              <a:rPr lang="en-US" sz="2000" dirty="0">
                <a:latin typeface="Courier New" panose="02070309020205020404" pitchFamily="49" charset="0"/>
                <a:cs typeface="Courier New" panose="02070309020205020404" pitchFamily="49" charset="0"/>
              </a:rPr>
              <a:t>3) SQLHDBC con1 ;</a:t>
            </a:r>
          </a:p>
          <a:p>
            <a:r>
              <a:rPr lang="en-US" sz="2000" dirty="0">
                <a:latin typeface="Courier New" panose="02070309020205020404" pitchFamily="49" charset="0"/>
                <a:cs typeface="Courier New" panose="02070309020205020404" pitchFamily="49" charset="0"/>
              </a:rPr>
              <a:t>4) SQLHENV env1 ;</a:t>
            </a:r>
          </a:p>
          <a:p>
            <a:r>
              <a:rPr lang="da-DK" sz="2000" dirty="0">
                <a:latin typeface="Courier New" panose="02070309020205020404" pitchFamily="49" charset="0"/>
                <a:cs typeface="Courier New" panose="02070309020205020404" pitchFamily="49" charset="0"/>
              </a:rPr>
              <a:t>5) SQLRETURN ret1, ret2, ret3, ret4 ;</a:t>
            </a:r>
          </a:p>
          <a:p>
            <a:r>
              <a:rPr lang="en-US" sz="2000" dirty="0">
                <a:latin typeface="Courier New" panose="02070309020205020404" pitchFamily="49" charset="0"/>
                <a:cs typeface="Courier New" panose="02070309020205020404" pitchFamily="49" charset="0"/>
              </a:rPr>
              <a:t>6) ret1 = </a:t>
            </a:r>
            <a:r>
              <a:rPr lang="en-US" sz="2000" dirty="0" err="1">
                <a:latin typeface="Courier New" panose="02070309020205020404" pitchFamily="49" charset="0"/>
                <a:cs typeface="Courier New" panose="02070309020205020404" pitchFamily="49" charset="0"/>
              </a:rPr>
              <a:t>SQLAllocHandle</a:t>
            </a:r>
            <a:r>
              <a:rPr lang="en-US" sz="2000" dirty="0">
                <a:latin typeface="Courier New" panose="02070309020205020404" pitchFamily="49" charset="0"/>
                <a:cs typeface="Courier New" panose="02070309020205020404" pitchFamily="49" charset="0"/>
              </a:rPr>
              <a:t>(SQL_HANDLE_ENV, SQL_NULL_HANDLE, &amp;env1) ;</a:t>
            </a:r>
          </a:p>
          <a:p>
            <a:r>
              <a:rPr lang="en-US" sz="2000" dirty="0">
                <a:latin typeface="Courier New" panose="02070309020205020404" pitchFamily="49" charset="0"/>
                <a:cs typeface="Courier New" panose="02070309020205020404" pitchFamily="49" charset="0"/>
              </a:rPr>
              <a:t>7) if (!ret1) ret2 = </a:t>
            </a:r>
            <a:r>
              <a:rPr lang="en-US" sz="2000" dirty="0" err="1">
                <a:latin typeface="Courier New" panose="02070309020205020404" pitchFamily="49" charset="0"/>
                <a:cs typeface="Courier New" panose="02070309020205020404" pitchFamily="49" charset="0"/>
              </a:rPr>
              <a:t>SQLAllocHandle</a:t>
            </a:r>
            <a:r>
              <a:rPr lang="en-US" sz="2000" dirty="0">
                <a:latin typeface="Courier New" panose="02070309020205020404" pitchFamily="49" charset="0"/>
                <a:cs typeface="Courier New" panose="02070309020205020404" pitchFamily="49" charset="0"/>
              </a:rPr>
              <a:t>(SQL_HANDLE_DBC, env1, &amp;con1) else exit ;</a:t>
            </a:r>
          </a:p>
          <a:p>
            <a:r>
              <a:rPr lang="en-US" sz="2000" dirty="0">
                <a:latin typeface="Courier New" panose="02070309020205020404" pitchFamily="49" charset="0"/>
                <a:cs typeface="Courier New" panose="02070309020205020404" pitchFamily="49" charset="0"/>
              </a:rPr>
              <a:t>8) if (!ret2) ret3 = </a:t>
            </a:r>
            <a:r>
              <a:rPr lang="en-US" sz="2000" dirty="0" err="1">
                <a:latin typeface="Courier New" panose="02070309020205020404" pitchFamily="49" charset="0"/>
                <a:cs typeface="Courier New" panose="02070309020205020404" pitchFamily="49" charset="0"/>
              </a:rPr>
              <a:t>SQLConnect</a:t>
            </a:r>
            <a:r>
              <a:rPr lang="en-US" sz="2000" dirty="0">
                <a:latin typeface="Courier New" panose="02070309020205020404" pitchFamily="49" charset="0"/>
                <a:cs typeface="Courier New" panose="02070309020205020404" pitchFamily="49" charset="0"/>
              </a:rPr>
              <a:t>(con1, "</a:t>
            </a:r>
            <a:r>
              <a:rPr lang="en-US" sz="2000" dirty="0" err="1">
                <a:latin typeface="Courier New" panose="02070309020205020404" pitchFamily="49" charset="0"/>
                <a:cs typeface="Courier New" panose="02070309020205020404" pitchFamily="49" charset="0"/>
              </a:rPr>
              <a:t>dbs</a:t>
            </a:r>
            <a:r>
              <a:rPr lang="en-US" sz="2000" dirty="0">
                <a:latin typeface="Courier New" panose="02070309020205020404" pitchFamily="49" charset="0"/>
                <a:cs typeface="Courier New" panose="02070309020205020404" pitchFamily="49" charset="0"/>
              </a:rPr>
              <a:t>", SQL_NTS, "</a:t>
            </a:r>
            <a:r>
              <a:rPr lang="en-US" sz="2000" dirty="0" err="1">
                <a:latin typeface="Courier New" panose="02070309020205020404" pitchFamily="49" charset="0"/>
                <a:cs typeface="Courier New" panose="02070309020205020404" pitchFamily="49" charset="0"/>
              </a:rPr>
              <a:t>js</a:t>
            </a:r>
            <a:r>
              <a:rPr lang="en-US" sz="2000" dirty="0">
                <a:latin typeface="Courier New" panose="02070309020205020404" pitchFamily="49" charset="0"/>
                <a:cs typeface="Courier New" panose="02070309020205020404" pitchFamily="49" charset="0"/>
              </a:rPr>
              <a:t>", SQL_NTS, "</a:t>
            </a:r>
            <a:r>
              <a:rPr lang="en-US" sz="2000" dirty="0" err="1">
                <a:latin typeface="Courier New" panose="02070309020205020404" pitchFamily="49" charset="0"/>
                <a:cs typeface="Courier New" panose="02070309020205020404" pitchFamily="49" charset="0"/>
              </a:rPr>
              <a:t>xyz</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SQL_NTS) else exit ;</a:t>
            </a:r>
          </a:p>
          <a:p>
            <a:r>
              <a:rPr lang="da-DK" sz="2000" dirty="0">
                <a:latin typeface="Courier New" panose="02070309020205020404" pitchFamily="49" charset="0"/>
                <a:cs typeface="Courier New" panose="02070309020205020404" pitchFamily="49" charset="0"/>
              </a:rPr>
              <a:t>9) if (!ret3) ret4 = SQLAllocHandle(SQL_HANDLE_STMT, con1, &amp;stmt1) else exit ;</a:t>
            </a:r>
          </a:p>
          <a:p>
            <a:r>
              <a:rPr lang="en-US" sz="2000" dirty="0">
                <a:latin typeface="Courier New" panose="02070309020205020404" pitchFamily="49" charset="0"/>
                <a:cs typeface="Courier New" panose="02070309020205020404" pitchFamily="49" charset="0"/>
              </a:rPr>
              <a:t>10) </a:t>
            </a:r>
            <a:r>
              <a:rPr lang="en-US" sz="2000" dirty="0" err="1">
                <a:latin typeface="Courier New" panose="02070309020205020404" pitchFamily="49" charset="0"/>
                <a:cs typeface="Courier New" panose="02070309020205020404" pitchFamily="49" charset="0"/>
              </a:rPr>
              <a:t>SQLPrepare</a:t>
            </a:r>
            <a:r>
              <a:rPr lang="en-US" sz="2000" dirty="0">
                <a:latin typeface="Courier New" panose="02070309020205020404" pitchFamily="49" charset="0"/>
                <a:cs typeface="Courier New" panose="02070309020205020404" pitchFamily="49" charset="0"/>
              </a:rPr>
              <a:t>(stmt1, "select </a:t>
            </a:r>
            <a:r>
              <a:rPr lang="en-US" sz="2000" dirty="0" err="1">
                <a:latin typeface="Courier New" panose="02070309020205020404" pitchFamily="49" charset="0"/>
                <a:cs typeface="Courier New" panose="02070309020205020404" pitchFamily="49" charset="0"/>
              </a:rPr>
              <a:t>Lname</a:t>
            </a:r>
            <a:r>
              <a:rPr lang="en-US" sz="2000" dirty="0">
                <a:latin typeface="Courier New" panose="02070309020205020404" pitchFamily="49" charset="0"/>
                <a:cs typeface="Courier New" panose="02070309020205020404" pitchFamily="49" charset="0"/>
              </a:rPr>
              <a:t>, Salary from EMPLOYEE where </a:t>
            </a:r>
            <a:r>
              <a:rPr lang="en-US" sz="2000" dirty="0" err="1">
                <a:latin typeface="Courier New" panose="02070309020205020404" pitchFamily="49" charset="0"/>
                <a:cs typeface="Courier New" panose="02070309020205020404" pitchFamily="49" charset="0"/>
              </a:rPr>
              <a:t>Ssn</a:t>
            </a:r>
            <a:r>
              <a:rPr lang="en-US" sz="2000" dirty="0">
                <a:latin typeface="Courier New" panose="02070309020205020404" pitchFamily="49" charset="0"/>
                <a:cs typeface="Courier New" panose="02070309020205020404" pitchFamily="49" charset="0"/>
              </a:rPr>
              <a:t> = ?",</a:t>
            </a:r>
          </a:p>
          <a:p>
            <a:r>
              <a:rPr lang="en-US" sz="2000" dirty="0">
                <a:latin typeface="Courier New" panose="02070309020205020404" pitchFamily="49" charset="0"/>
                <a:cs typeface="Courier New" panose="02070309020205020404" pitchFamily="49" charset="0"/>
              </a:rPr>
              <a:t>SQL_NTS) ;</a:t>
            </a:r>
          </a:p>
        </p:txBody>
      </p:sp>
      <p:sp>
        <p:nvSpPr>
          <p:cNvPr id="4" name="Slide Number Placeholder 3">
            <a:extLst>
              <a:ext uri="{FF2B5EF4-FFF2-40B4-BE49-F238E27FC236}">
                <a16:creationId xmlns:a16="http://schemas.microsoft.com/office/drawing/2014/main" id="{C55309D9-9D1D-C581-3C78-310488F474E6}"/>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38669142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F503C-BA98-9730-683A-61B56BD7D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511FB-8AAD-8502-2D2D-28A980F8F2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FE6D5F-FD9B-3B42-474C-C2FD0B5E7973}"/>
              </a:ext>
            </a:extLst>
          </p:cNvPr>
          <p:cNvSpPr>
            <a:spLocks noGrp="1"/>
          </p:cNvSpPr>
          <p:nvPr>
            <p:ph idx="1"/>
          </p:nvPr>
        </p:nvSpPr>
        <p:spPr>
          <a:xfrm>
            <a:off x="838200" y="365125"/>
            <a:ext cx="10515600" cy="5811838"/>
          </a:xfrm>
        </p:spPr>
        <p:txBody>
          <a:bodyPr>
            <a:noAutofit/>
          </a:bodyPr>
          <a:lstStyle/>
          <a:p>
            <a:r>
              <a:rPr lang="en-US" sz="2200" dirty="0">
                <a:latin typeface="Courier New" panose="02070309020205020404" pitchFamily="49" charset="0"/>
                <a:cs typeface="Courier New" panose="02070309020205020404" pitchFamily="49" charset="0"/>
              </a:rPr>
              <a:t>11) prompt("Enter a Social Security Number: ", </a:t>
            </a:r>
            <a:r>
              <a:rPr lang="en-US" sz="2200" dirty="0" err="1">
                <a:latin typeface="Courier New" panose="02070309020205020404" pitchFamily="49" charset="0"/>
                <a:cs typeface="Courier New" panose="02070309020205020404" pitchFamily="49" charset="0"/>
              </a:rPr>
              <a:t>ssn</a:t>
            </a:r>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12) </a:t>
            </a:r>
            <a:r>
              <a:rPr lang="en-US" sz="2200" dirty="0" err="1">
                <a:latin typeface="Courier New" panose="02070309020205020404" pitchFamily="49" charset="0"/>
                <a:cs typeface="Courier New" panose="02070309020205020404" pitchFamily="49" charset="0"/>
              </a:rPr>
              <a:t>SQLBindParameter</a:t>
            </a:r>
            <a:r>
              <a:rPr lang="en-US" sz="2200" dirty="0">
                <a:latin typeface="Courier New" panose="02070309020205020404" pitchFamily="49" charset="0"/>
                <a:cs typeface="Courier New" panose="02070309020205020404" pitchFamily="49" charset="0"/>
              </a:rPr>
              <a:t>(stmt1, 1, SQL_CHAR, &amp;</a:t>
            </a:r>
            <a:r>
              <a:rPr lang="en-US" sz="2200" dirty="0" err="1">
                <a:latin typeface="Courier New" panose="02070309020205020404" pitchFamily="49" charset="0"/>
                <a:cs typeface="Courier New" panose="02070309020205020404" pitchFamily="49" charset="0"/>
              </a:rPr>
              <a:t>ssn</a:t>
            </a:r>
            <a:r>
              <a:rPr lang="en-US" sz="2200" dirty="0">
                <a:latin typeface="Courier New" panose="02070309020205020404" pitchFamily="49" charset="0"/>
                <a:cs typeface="Courier New" panose="02070309020205020404" pitchFamily="49" charset="0"/>
              </a:rPr>
              <a:t>, 9, &amp;fetchlen1) ;</a:t>
            </a:r>
          </a:p>
          <a:p>
            <a:r>
              <a:rPr lang="en-US" sz="2200" dirty="0">
                <a:latin typeface="Courier New" panose="02070309020205020404" pitchFamily="49" charset="0"/>
                <a:cs typeface="Courier New" panose="02070309020205020404" pitchFamily="49" charset="0"/>
              </a:rPr>
              <a:t>13) ret1 = </a:t>
            </a:r>
            <a:r>
              <a:rPr lang="en-US" sz="2200" dirty="0" err="1">
                <a:latin typeface="Courier New" panose="02070309020205020404" pitchFamily="49" charset="0"/>
                <a:cs typeface="Courier New" panose="02070309020205020404" pitchFamily="49" charset="0"/>
              </a:rPr>
              <a:t>SQLExecute</a:t>
            </a:r>
            <a:r>
              <a:rPr lang="en-US" sz="2200" dirty="0">
                <a:latin typeface="Courier New" panose="02070309020205020404" pitchFamily="49" charset="0"/>
                <a:cs typeface="Courier New" panose="02070309020205020404" pitchFamily="49" charset="0"/>
              </a:rPr>
              <a:t>(stmt1) ;</a:t>
            </a:r>
          </a:p>
          <a:p>
            <a:r>
              <a:rPr lang="en-US" sz="2200" dirty="0">
                <a:latin typeface="Courier New" panose="02070309020205020404" pitchFamily="49" charset="0"/>
                <a:cs typeface="Courier New" panose="02070309020205020404" pitchFamily="49" charset="0"/>
              </a:rPr>
              <a:t>14) if (!ret1) {</a:t>
            </a:r>
          </a:p>
          <a:p>
            <a:r>
              <a:rPr lang="en-US" sz="2200" dirty="0">
                <a:latin typeface="Courier New" panose="02070309020205020404" pitchFamily="49" charset="0"/>
                <a:cs typeface="Courier New" panose="02070309020205020404" pitchFamily="49" charset="0"/>
              </a:rPr>
              <a:t>15) </a:t>
            </a:r>
            <a:r>
              <a:rPr lang="en-US" sz="2200" dirty="0" err="1">
                <a:latin typeface="Courier New" panose="02070309020205020404" pitchFamily="49" charset="0"/>
                <a:cs typeface="Courier New" panose="02070309020205020404" pitchFamily="49" charset="0"/>
              </a:rPr>
              <a:t>SQLBindCol</a:t>
            </a:r>
            <a:r>
              <a:rPr lang="en-US" sz="2200" dirty="0">
                <a:latin typeface="Courier New" panose="02070309020205020404" pitchFamily="49" charset="0"/>
                <a:cs typeface="Courier New" panose="02070309020205020404" pitchFamily="49" charset="0"/>
              </a:rPr>
              <a:t>(stmt1, 1, SQL_CHAR, &amp;</a:t>
            </a:r>
            <a:r>
              <a:rPr lang="en-US" sz="2200" dirty="0" err="1">
                <a:latin typeface="Courier New" panose="02070309020205020404" pitchFamily="49" charset="0"/>
                <a:cs typeface="Courier New" panose="02070309020205020404" pitchFamily="49" charset="0"/>
              </a:rPr>
              <a:t>lname</a:t>
            </a:r>
            <a:r>
              <a:rPr lang="en-US" sz="2200" dirty="0">
                <a:latin typeface="Courier New" panose="02070309020205020404" pitchFamily="49" charset="0"/>
                <a:cs typeface="Courier New" panose="02070309020205020404" pitchFamily="49" charset="0"/>
              </a:rPr>
              <a:t>, 15, &amp;fetchlen1) ;</a:t>
            </a:r>
          </a:p>
          <a:p>
            <a:r>
              <a:rPr lang="en-US" sz="2200" dirty="0">
                <a:latin typeface="Courier New" panose="02070309020205020404" pitchFamily="49" charset="0"/>
                <a:cs typeface="Courier New" panose="02070309020205020404" pitchFamily="49" charset="0"/>
              </a:rPr>
              <a:t>16) </a:t>
            </a:r>
            <a:r>
              <a:rPr lang="en-US" sz="2200" dirty="0" err="1">
                <a:latin typeface="Courier New" panose="02070309020205020404" pitchFamily="49" charset="0"/>
                <a:cs typeface="Courier New" panose="02070309020205020404" pitchFamily="49" charset="0"/>
              </a:rPr>
              <a:t>SQLBindCol</a:t>
            </a:r>
            <a:r>
              <a:rPr lang="en-US" sz="2200" dirty="0">
                <a:latin typeface="Courier New" panose="02070309020205020404" pitchFamily="49" charset="0"/>
                <a:cs typeface="Courier New" panose="02070309020205020404" pitchFamily="49" charset="0"/>
              </a:rPr>
              <a:t>(stmt1, 2, SQL_FLOAT, &amp;salary, 4, &amp;fetchlen2) ;</a:t>
            </a:r>
          </a:p>
          <a:p>
            <a:r>
              <a:rPr lang="en-US" sz="2200" dirty="0">
                <a:latin typeface="Courier New" panose="02070309020205020404" pitchFamily="49" charset="0"/>
                <a:cs typeface="Courier New" panose="02070309020205020404" pitchFamily="49" charset="0"/>
              </a:rPr>
              <a:t>17) ret2 = </a:t>
            </a:r>
            <a:r>
              <a:rPr lang="en-US" sz="2200" dirty="0" err="1">
                <a:latin typeface="Courier New" panose="02070309020205020404" pitchFamily="49" charset="0"/>
                <a:cs typeface="Courier New" panose="02070309020205020404" pitchFamily="49" charset="0"/>
              </a:rPr>
              <a:t>SQLFetch</a:t>
            </a:r>
            <a:r>
              <a:rPr lang="en-US" sz="2200" dirty="0">
                <a:latin typeface="Courier New" panose="02070309020205020404" pitchFamily="49" charset="0"/>
                <a:cs typeface="Courier New" panose="02070309020205020404" pitchFamily="49" charset="0"/>
              </a:rPr>
              <a:t>(stmt1) ;</a:t>
            </a:r>
          </a:p>
          <a:p>
            <a:r>
              <a:rPr lang="en-US" sz="2200" dirty="0">
                <a:latin typeface="Courier New" panose="02070309020205020404" pitchFamily="49" charset="0"/>
                <a:cs typeface="Courier New" panose="02070309020205020404" pitchFamily="49" charset="0"/>
              </a:rPr>
              <a:t>18) if (!ret2) </a:t>
            </a:r>
            <a:r>
              <a:rPr lang="en-US" sz="2200" dirty="0" err="1">
                <a:latin typeface="Courier New" panose="02070309020205020404" pitchFamily="49" charset="0"/>
                <a:cs typeface="Courier New" panose="02070309020205020404" pitchFamily="49" charset="0"/>
              </a:rPr>
              <a:t>printf</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ssn</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lname</a:t>
            </a:r>
            <a:r>
              <a:rPr lang="en-US" sz="2200" dirty="0">
                <a:latin typeface="Courier New" panose="02070309020205020404" pitchFamily="49" charset="0"/>
                <a:cs typeface="Courier New" panose="02070309020205020404" pitchFamily="49" charset="0"/>
              </a:rPr>
              <a:t>, salary)</a:t>
            </a:r>
          </a:p>
          <a:p>
            <a:r>
              <a:rPr lang="en-US" sz="2200" dirty="0">
                <a:latin typeface="Courier New" panose="02070309020205020404" pitchFamily="49" charset="0"/>
                <a:cs typeface="Courier New" panose="02070309020205020404" pitchFamily="49" charset="0"/>
              </a:rPr>
              <a:t>19) else </a:t>
            </a:r>
            <a:r>
              <a:rPr lang="en-US" sz="2200" dirty="0" err="1">
                <a:latin typeface="Courier New" panose="02070309020205020404" pitchFamily="49" charset="0"/>
                <a:cs typeface="Courier New" panose="02070309020205020404" pitchFamily="49" charset="0"/>
              </a:rPr>
              <a:t>printf</a:t>
            </a:r>
            <a:r>
              <a:rPr lang="en-US" sz="2200" dirty="0">
                <a:latin typeface="Courier New" panose="02070309020205020404" pitchFamily="49" charset="0"/>
                <a:cs typeface="Courier New" panose="02070309020205020404" pitchFamily="49" charset="0"/>
              </a:rPr>
              <a:t>("Social Security Number does not exist: ", </a:t>
            </a:r>
            <a:r>
              <a:rPr lang="en-US" sz="2200" dirty="0" err="1">
                <a:latin typeface="Courier New" panose="02070309020205020404" pitchFamily="49" charset="0"/>
                <a:cs typeface="Courier New" panose="02070309020205020404" pitchFamily="49" charset="0"/>
              </a:rPr>
              <a:t>ssn</a:t>
            </a:r>
            <a:r>
              <a:rPr lang="en-US" sz="2200" dirty="0">
                <a:latin typeface="Courier New" panose="02070309020205020404" pitchFamily="49" charset="0"/>
                <a:cs typeface="Courier New" panose="02070309020205020404" pitchFamily="49" charset="0"/>
              </a:rPr>
              <a:t>) ;</a:t>
            </a:r>
          </a:p>
          <a:p>
            <a:r>
              <a:rPr lang="en-US" sz="2200" dirty="0">
                <a:latin typeface="Courier New" panose="02070309020205020404" pitchFamily="49" charset="0"/>
                <a:cs typeface="Courier New" panose="02070309020205020404" pitchFamily="49" charset="0"/>
              </a:rPr>
              <a:t>20) }</a:t>
            </a:r>
          </a:p>
          <a:p>
            <a:r>
              <a:rPr lang="en-US" sz="2200" dirty="0">
                <a:latin typeface="Courier New" panose="02070309020205020404" pitchFamily="49" charset="0"/>
                <a:cs typeface="Courier New" panose="02070309020205020404" pitchFamily="49" charset="0"/>
              </a:rPr>
              <a:t>21) }</a:t>
            </a:r>
          </a:p>
        </p:txBody>
      </p:sp>
      <p:sp>
        <p:nvSpPr>
          <p:cNvPr id="4" name="Slide Number Placeholder 3">
            <a:extLst>
              <a:ext uri="{FF2B5EF4-FFF2-40B4-BE49-F238E27FC236}">
                <a16:creationId xmlns:a16="http://schemas.microsoft.com/office/drawing/2014/main" id="{4FAE99A0-FEF2-AC27-06BC-4F9597A6D3B7}"/>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30473230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0B66A-8526-01D7-A5BF-B3E4F1DD7D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3D1215-F7AF-6E79-FDE5-B0ACF5986B49}"/>
              </a:ext>
            </a:extLst>
          </p:cNvPr>
          <p:cNvSpPr>
            <a:spLocks noGrp="1"/>
          </p:cNvSpPr>
          <p:nvPr>
            <p:ph idx="1"/>
          </p:nvPr>
        </p:nvSpPr>
        <p:spPr/>
        <p:txBody>
          <a:bodyPr>
            <a:noAutofit/>
          </a:bodyPr>
          <a:lstStyle/>
          <a:p>
            <a:r>
              <a:rPr lang="en-US" dirty="0"/>
              <a:t>using SQL/CLI, the SQL statements are dynamically created and passed as string parameters in function calls</a:t>
            </a:r>
          </a:p>
          <a:p>
            <a:r>
              <a:rPr lang="en-US" sz="2700" dirty="0"/>
              <a:t>information is kept in four types of records</a:t>
            </a:r>
          </a:p>
          <a:p>
            <a:pPr marL="514350" indent="-514350">
              <a:buFont typeface="+mj-lt"/>
              <a:buAutoNum type="arabicPeriod"/>
            </a:pPr>
            <a:r>
              <a:rPr lang="en-US" sz="2700" dirty="0"/>
              <a:t>environment record is used as a container to keep track of one or more database connections and to set environment information</a:t>
            </a:r>
          </a:p>
          <a:p>
            <a:pPr marL="514350" indent="-514350">
              <a:buFont typeface="+mj-lt"/>
              <a:buAutoNum type="arabicPeriod"/>
            </a:pPr>
            <a:r>
              <a:rPr lang="en-US" sz="2700" dirty="0"/>
              <a:t>connection record keeps track of information needed for particular database connection</a:t>
            </a:r>
          </a:p>
          <a:p>
            <a:pPr marL="514350" indent="-514350">
              <a:buFont typeface="+mj-lt"/>
              <a:buAutoNum type="arabicPeriod" startAt="3"/>
            </a:pPr>
            <a:r>
              <a:rPr lang="en-US" sz="2700" dirty="0"/>
              <a:t>statement record keeps track of information needed for one SQL statement</a:t>
            </a:r>
          </a:p>
          <a:p>
            <a:pPr marL="514350" indent="-514350">
              <a:buFont typeface="+mj-lt"/>
              <a:buAutoNum type="arabicPeriod" startAt="3"/>
            </a:pPr>
            <a:r>
              <a:rPr lang="en-US" sz="2700" dirty="0"/>
              <a:t>description record keeps track of information about tuples or parameters</a:t>
            </a:r>
          </a:p>
        </p:txBody>
      </p:sp>
      <p:sp>
        <p:nvSpPr>
          <p:cNvPr id="4" name="Slide Number Placeholder 3">
            <a:extLst>
              <a:ext uri="{FF2B5EF4-FFF2-40B4-BE49-F238E27FC236}">
                <a16:creationId xmlns:a16="http://schemas.microsoft.com/office/drawing/2014/main" id="{7D71BF0D-C0BE-F13C-359E-A44C01694450}"/>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10905089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6912-A8C7-7270-A124-5452A6ADDA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F1DB61-BD7A-2960-C1C6-4DAAA94730C3}"/>
              </a:ext>
            </a:extLst>
          </p:cNvPr>
          <p:cNvSpPr>
            <a:spLocks noGrp="1"/>
          </p:cNvSpPr>
          <p:nvPr>
            <p:ph idx="1"/>
          </p:nvPr>
        </p:nvSpPr>
        <p:spPr/>
        <p:txBody>
          <a:bodyPr>
            <a:noAutofit/>
          </a:bodyPr>
          <a:lstStyle/>
          <a:p>
            <a:r>
              <a:rPr lang="en-US" dirty="0"/>
              <a:t>each record is accessible to program through pointer variable, called a </a:t>
            </a:r>
            <a:r>
              <a:rPr lang="en-US" i="1" dirty="0"/>
              <a:t>handle</a:t>
            </a:r>
            <a:r>
              <a:rPr lang="en-US" b="1" dirty="0"/>
              <a:t> </a:t>
            </a:r>
            <a:r>
              <a:rPr lang="en-US" dirty="0"/>
              <a:t>to record - handle is returned when record is first created</a:t>
            </a:r>
          </a:p>
          <a:p>
            <a:r>
              <a:rPr lang="en-US" dirty="0"/>
              <a:t>to create </a:t>
            </a:r>
            <a:r>
              <a:rPr lang="en-US" dirty="0" err="1"/>
              <a:t>ecord</a:t>
            </a:r>
            <a:r>
              <a:rPr lang="en-US" dirty="0"/>
              <a:t> and return its handle:</a:t>
            </a:r>
          </a:p>
          <a:p>
            <a:r>
              <a:rPr lang="en-US" dirty="0" err="1">
                <a:latin typeface="Courier New" panose="02070309020205020404" pitchFamily="49" charset="0"/>
                <a:cs typeface="Courier New" panose="02070309020205020404" pitchFamily="49" charset="0"/>
              </a:rPr>
              <a:t>SQLAllocHandle</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handle_type</a:t>
            </a:r>
            <a:r>
              <a:rPr lang="en-US" dirty="0">
                <a:latin typeface="Courier New" panose="02070309020205020404" pitchFamily="49" charset="0"/>
                <a:cs typeface="Courier New" panose="02070309020205020404" pitchFamily="49" charset="0"/>
              </a:rPr>
              <a:t>&gt;, &lt;handle_1&gt;, &lt;handle_2&gt;)</a:t>
            </a:r>
          </a:p>
          <a:p>
            <a:r>
              <a:rPr lang="en-US" dirty="0"/>
              <a:t>parameters are:</a:t>
            </a:r>
          </a:p>
          <a:p>
            <a:endParaRPr lang="en-US" dirty="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21A1A56C-D9BB-E9F9-C3CF-40FF7F95662F}"/>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31394368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5706A-417E-6A57-76E1-8609393706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B6A2DB-69CA-97EE-FB75-7E46E272FA5C}"/>
              </a:ext>
            </a:extLst>
          </p:cNvPr>
          <p:cNvSpPr>
            <a:spLocks noGrp="1"/>
          </p:cNvSpPr>
          <p:nvPr>
            <p:ph idx="1"/>
          </p:nvPr>
        </p:nvSpPr>
        <p:spPr/>
        <p:txBody>
          <a:bodyPr>
            <a:noAutofit/>
          </a:bodyPr>
          <a:lstStyle/>
          <a:p>
            <a:r>
              <a:rPr lang="en-US" dirty="0"/>
              <a:t>parameters are:</a:t>
            </a:r>
          </a:p>
          <a:p>
            <a:pPr lvl="1"/>
            <a:r>
              <a:rPr lang="en-US" sz="2700" dirty="0"/>
              <a:t>&lt;</a:t>
            </a:r>
            <a:r>
              <a:rPr lang="en-US" sz="2700" dirty="0" err="1"/>
              <a:t>handle_type</a:t>
            </a:r>
            <a:r>
              <a:rPr lang="en-US" sz="2700" dirty="0"/>
              <a:t>&gt; indicates type of record being created; possible values are SQL_HANDLE_ENV, SQL_HANDLE_DBC, SQL_HANDLE_STMT, or SQL_HANDLE_DESC</a:t>
            </a:r>
          </a:p>
          <a:p>
            <a:pPr lvl="1"/>
            <a:r>
              <a:rPr lang="en-US" sz="2700" dirty="0"/>
              <a:t>&lt;handle_1&gt; indicates the container within which new handle is being created</a:t>
            </a:r>
          </a:p>
          <a:p>
            <a:pPr lvl="1"/>
            <a:r>
              <a:rPr lang="en-US" sz="2700" dirty="0"/>
              <a:t>&lt;handle_2&gt; is the pointer (handle) to the newly created record</a:t>
            </a:r>
          </a:p>
        </p:txBody>
      </p:sp>
      <p:sp>
        <p:nvSpPr>
          <p:cNvPr id="4" name="Slide Number Placeholder 3">
            <a:extLst>
              <a:ext uri="{FF2B5EF4-FFF2-40B4-BE49-F238E27FC236}">
                <a16:creationId xmlns:a16="http://schemas.microsoft.com/office/drawing/2014/main" id="{B9B3B160-97B6-9421-A4A1-7D92D557A248}"/>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12531753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84DD0-50CE-48ED-D50C-6C6B689ED5F3}"/>
              </a:ext>
            </a:extLst>
          </p:cNvPr>
          <p:cNvSpPr>
            <a:spLocks noGrp="1"/>
          </p:cNvSpPr>
          <p:nvPr>
            <p:ph type="title"/>
          </p:nvPr>
        </p:nvSpPr>
        <p:spPr/>
        <p:txBody>
          <a:bodyPr/>
          <a:lstStyle/>
          <a:p>
            <a:r>
              <a:rPr lang="en-US" dirty="0"/>
              <a:t>Steps in a database program</a:t>
            </a:r>
          </a:p>
        </p:txBody>
      </p:sp>
      <p:sp>
        <p:nvSpPr>
          <p:cNvPr id="3" name="Content Placeholder 2">
            <a:extLst>
              <a:ext uri="{FF2B5EF4-FFF2-40B4-BE49-F238E27FC236}">
                <a16:creationId xmlns:a16="http://schemas.microsoft.com/office/drawing/2014/main" id="{F31B204A-F772-F0BB-D470-55ADDD76A23F}"/>
              </a:ext>
            </a:extLst>
          </p:cNvPr>
          <p:cNvSpPr>
            <a:spLocks noGrp="1"/>
          </p:cNvSpPr>
          <p:nvPr>
            <p:ph idx="1"/>
          </p:nvPr>
        </p:nvSpPr>
        <p:spPr/>
        <p:txBody>
          <a:bodyPr>
            <a:noAutofit/>
          </a:bodyPr>
          <a:lstStyle/>
          <a:p>
            <a:pPr marL="514350" indent="-514350">
              <a:buFont typeface="+mj-lt"/>
              <a:buAutoNum type="arabicPeriod"/>
            </a:pPr>
            <a:r>
              <a:rPr lang="en-US" sz="2500" dirty="0"/>
              <a:t>Including the library of functions</a:t>
            </a:r>
          </a:p>
          <a:p>
            <a:pPr marL="514350" indent="-514350">
              <a:buFont typeface="+mj-lt"/>
              <a:buAutoNum type="arabicPeriod"/>
            </a:pPr>
            <a:r>
              <a:rPr lang="en-US" sz="2500" dirty="0"/>
              <a:t>Declaring handle variables</a:t>
            </a:r>
          </a:p>
          <a:p>
            <a:pPr marL="514350" indent="-514350">
              <a:buFont typeface="+mj-lt"/>
              <a:buAutoNum type="arabicPeriod"/>
            </a:pPr>
            <a:r>
              <a:rPr lang="en-US" sz="2500" dirty="0"/>
              <a:t>Environment record</a:t>
            </a:r>
          </a:p>
          <a:p>
            <a:pPr marL="514350" indent="-514350">
              <a:buFont typeface="+mj-lt"/>
              <a:buAutoNum type="arabicPeriod"/>
            </a:pPr>
            <a:r>
              <a:rPr lang="en-US" sz="2500" dirty="0"/>
              <a:t>Connecting to the database</a:t>
            </a:r>
          </a:p>
          <a:p>
            <a:pPr marL="514350" indent="-514350">
              <a:buFont typeface="+mj-lt"/>
              <a:buAutoNum type="arabicPeriod"/>
            </a:pPr>
            <a:r>
              <a:rPr lang="en-US" sz="2500" dirty="0"/>
              <a:t>Statement record</a:t>
            </a:r>
          </a:p>
          <a:p>
            <a:pPr marL="514350" indent="-514350">
              <a:buFont typeface="+mj-lt"/>
              <a:buAutoNum type="arabicPeriod"/>
            </a:pPr>
            <a:r>
              <a:rPr lang="en-US" sz="2500" dirty="0"/>
              <a:t>Preparing an SQL statement and statement parameters</a:t>
            </a:r>
          </a:p>
          <a:p>
            <a:pPr marL="514350" indent="-514350">
              <a:buFont typeface="+mj-lt"/>
              <a:buAutoNum type="arabicPeriod"/>
            </a:pPr>
            <a:r>
              <a:rPr lang="en-US" sz="2500" dirty="0"/>
              <a:t>Binding the statement parameters</a:t>
            </a:r>
          </a:p>
          <a:p>
            <a:pPr marL="514350" indent="-514350">
              <a:buFont typeface="+mj-lt"/>
              <a:buAutoNum type="arabicPeriod"/>
            </a:pPr>
            <a:r>
              <a:rPr lang="en-US" sz="2500" dirty="0"/>
              <a:t>Executing the statement</a:t>
            </a:r>
          </a:p>
          <a:p>
            <a:pPr marL="514350" indent="-514350">
              <a:buFont typeface="+mj-lt"/>
              <a:buAutoNum type="arabicPeriod"/>
            </a:pPr>
            <a:r>
              <a:rPr lang="en-US" sz="2500" dirty="0"/>
              <a:t>Processing the query result</a:t>
            </a:r>
          </a:p>
          <a:p>
            <a:pPr marL="514350" indent="-514350">
              <a:buFont typeface="+mj-lt"/>
              <a:buAutoNum type="arabicPeriod"/>
            </a:pPr>
            <a:r>
              <a:rPr lang="en-US" sz="2500" dirty="0"/>
              <a:t>Retrieving column values</a:t>
            </a:r>
          </a:p>
        </p:txBody>
      </p:sp>
      <p:sp>
        <p:nvSpPr>
          <p:cNvPr id="4" name="Slide Number Placeholder 3">
            <a:extLst>
              <a:ext uri="{FF2B5EF4-FFF2-40B4-BE49-F238E27FC236}">
                <a16:creationId xmlns:a16="http://schemas.microsoft.com/office/drawing/2014/main" id="{E515538B-B1C1-772C-E8B9-813E1B9A58A4}"/>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633467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53072-5309-3A78-EFFE-0A59E7265F1B}"/>
              </a:ext>
            </a:extLst>
          </p:cNvPr>
          <p:cNvSpPr>
            <a:spLocks noGrp="1"/>
          </p:cNvSpPr>
          <p:nvPr>
            <p:ph type="title"/>
          </p:nvPr>
        </p:nvSpPr>
        <p:spPr/>
        <p:txBody>
          <a:bodyPr/>
          <a:lstStyle/>
          <a:p>
            <a:r>
              <a:rPr lang="en-US" b="1" dirty="0"/>
              <a:t>JDBC: SQL Class Library for Java Programming</a:t>
            </a:r>
            <a:endParaRPr lang="en-US" dirty="0"/>
          </a:p>
        </p:txBody>
      </p:sp>
      <p:sp>
        <p:nvSpPr>
          <p:cNvPr id="3" name="Content Placeholder 2">
            <a:extLst>
              <a:ext uri="{FF2B5EF4-FFF2-40B4-BE49-F238E27FC236}">
                <a16:creationId xmlns:a16="http://schemas.microsoft.com/office/drawing/2014/main" id="{605E0372-1DD4-6B98-CA08-0B48B6D690EB}"/>
              </a:ext>
            </a:extLst>
          </p:cNvPr>
          <p:cNvSpPr>
            <a:spLocks noGrp="1"/>
          </p:cNvSpPr>
          <p:nvPr>
            <p:ph idx="1"/>
          </p:nvPr>
        </p:nvSpPr>
        <p:spPr/>
        <p:txBody>
          <a:bodyPr>
            <a:normAutofit/>
          </a:bodyPr>
          <a:lstStyle/>
          <a:p>
            <a:r>
              <a:rPr lang="en-US" dirty="0"/>
              <a:t>JDBC - class libraries and associated function calls for database access</a:t>
            </a:r>
          </a:p>
          <a:p>
            <a:r>
              <a:rPr lang="en-US" dirty="0"/>
              <a:t>JDBC driver</a:t>
            </a:r>
            <a:r>
              <a:rPr lang="en-US" b="1" dirty="0"/>
              <a:t> </a:t>
            </a:r>
            <a:r>
              <a:rPr lang="en-US" dirty="0"/>
              <a:t>- implementation of the classes and associated objects and function calls specified in JDBC for a particular vendor’s RDBMS</a:t>
            </a:r>
          </a:p>
          <a:p>
            <a:r>
              <a:rPr lang="en-US" dirty="0"/>
              <a:t>Java program with JDBC objects and function calls can access any RDBMS that has a JDBC driver available</a:t>
            </a:r>
          </a:p>
          <a:p>
            <a:r>
              <a:rPr lang="en-US" dirty="0"/>
              <a:t>function libraries are implemented as classes</a:t>
            </a:r>
          </a:p>
          <a:p>
            <a:r>
              <a:rPr lang="en-US" dirty="0"/>
              <a:t>before being able to process JDBC function calls necessary to import JDBC class libraries, which are called java.sql.* - can be downloaded and installed via Web</a:t>
            </a:r>
          </a:p>
        </p:txBody>
      </p:sp>
      <p:sp>
        <p:nvSpPr>
          <p:cNvPr id="4" name="Slide Number Placeholder 3">
            <a:extLst>
              <a:ext uri="{FF2B5EF4-FFF2-40B4-BE49-F238E27FC236}">
                <a16:creationId xmlns:a16="http://schemas.microsoft.com/office/drawing/2014/main" id="{2DDCE903-691B-CF65-AB39-0C56A813F1B1}"/>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27796251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73B01-A159-966B-1886-707F7CBFDD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9B1CC0-D63C-F673-C7C5-0BA6D0D7A072}"/>
              </a:ext>
            </a:extLst>
          </p:cNvPr>
          <p:cNvSpPr>
            <a:spLocks noGrp="1"/>
          </p:cNvSpPr>
          <p:nvPr>
            <p:ph idx="1"/>
          </p:nvPr>
        </p:nvSpPr>
        <p:spPr/>
        <p:txBody>
          <a:bodyPr>
            <a:noAutofit/>
          </a:bodyPr>
          <a:lstStyle/>
          <a:p>
            <a:r>
              <a:rPr lang="en-US" dirty="0"/>
              <a:t>Java program connect to several different databases, sometimes called the data sources </a:t>
            </a:r>
          </a:p>
          <a:p>
            <a:r>
              <a:rPr lang="en-US" dirty="0"/>
              <a:t>different data source accesses within the same Java program may require JDBC drivers from different vendors - to achieve this flexibility, special JDBC class called the driver manager class is employed</a:t>
            </a:r>
          </a:p>
          <a:p>
            <a:r>
              <a:rPr lang="en-US" dirty="0"/>
              <a:t>driver should be </a:t>
            </a:r>
            <a:r>
              <a:rPr lang="en-US" i="1" dirty="0"/>
              <a:t>registered </a:t>
            </a:r>
            <a:r>
              <a:rPr lang="en-US" dirty="0"/>
              <a:t>with driver manager before it is used</a:t>
            </a:r>
          </a:p>
          <a:p>
            <a:r>
              <a:rPr lang="en-US" dirty="0"/>
              <a:t>to load JDBC driver for Oracle RDBMS:</a:t>
            </a:r>
          </a:p>
          <a:p>
            <a:r>
              <a:rPr lang="en-US" dirty="0" err="1"/>
              <a:t>Class.forName</a:t>
            </a:r>
            <a:r>
              <a:rPr lang="en-US" dirty="0"/>
              <a:t>("</a:t>
            </a:r>
            <a:r>
              <a:rPr lang="en-US" dirty="0" err="1"/>
              <a:t>oracle.jdbc.driver.OracleDriver</a:t>
            </a:r>
            <a:r>
              <a:rPr lang="en-US" dirty="0"/>
              <a:t>")</a:t>
            </a:r>
          </a:p>
        </p:txBody>
      </p:sp>
      <p:sp>
        <p:nvSpPr>
          <p:cNvPr id="4" name="Slide Number Placeholder 3">
            <a:extLst>
              <a:ext uri="{FF2B5EF4-FFF2-40B4-BE49-F238E27FC236}">
                <a16:creationId xmlns:a16="http://schemas.microsoft.com/office/drawing/2014/main" id="{C60497AA-C2A7-0A9F-53DA-0A0836149F2E}"/>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5719176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658B4-B6E3-4973-5D2F-D17939007B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850B24-24B8-7B83-35AB-04B74FD1F5A9}"/>
              </a:ext>
            </a:extLst>
          </p:cNvPr>
          <p:cNvSpPr>
            <a:spLocks noGrp="1"/>
          </p:cNvSpPr>
          <p:nvPr>
            <p:ph idx="1"/>
          </p:nvPr>
        </p:nvSpPr>
        <p:spPr>
          <a:xfrm>
            <a:off x="838200" y="365125"/>
            <a:ext cx="10515600" cy="5811838"/>
          </a:xfrm>
        </p:spPr>
        <p:txBody>
          <a:bodyPr>
            <a:normAutofit fontScale="77500" lnSpcReduction="20000"/>
          </a:bodyPr>
          <a:lstStyle/>
          <a:p>
            <a:r>
              <a:rPr lang="en-US" dirty="0">
                <a:latin typeface="Courier New" panose="02070309020205020404" pitchFamily="49" charset="0"/>
                <a:cs typeface="Courier New" panose="02070309020205020404" pitchFamily="49" charset="0"/>
              </a:rPr>
              <a:t>0) import java.io.* ;</a:t>
            </a:r>
          </a:p>
          <a:p>
            <a:r>
              <a:rPr lang="en-US" dirty="0">
                <a:latin typeface="Courier New" panose="02070309020205020404" pitchFamily="49" charset="0"/>
                <a:cs typeface="Courier New" panose="02070309020205020404" pitchFamily="49" charset="0"/>
              </a:rPr>
              <a:t>1) import java.sql.*</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2) class </a:t>
            </a:r>
            <a:r>
              <a:rPr lang="en-US" dirty="0" err="1">
                <a:latin typeface="Courier New" panose="02070309020205020404" pitchFamily="49" charset="0"/>
                <a:cs typeface="Courier New" panose="02070309020205020404" pitchFamily="49" charset="0"/>
              </a:rPr>
              <a:t>getEmpInfo</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3) public static void main (String </a:t>
            </a: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 []) throws </a:t>
            </a:r>
            <a:r>
              <a:rPr lang="en-US" dirty="0" err="1">
                <a:latin typeface="Courier New" panose="02070309020205020404" pitchFamily="49" charset="0"/>
                <a:cs typeface="Courier New" panose="02070309020205020404" pitchFamily="49" charset="0"/>
              </a:rPr>
              <a:t>SQLException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IOException</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4) try { </a:t>
            </a:r>
            <a:r>
              <a:rPr lang="en-US" dirty="0" err="1">
                <a:latin typeface="Courier New" panose="02070309020205020404" pitchFamily="49" charset="0"/>
                <a:cs typeface="Courier New" panose="02070309020205020404" pitchFamily="49" charset="0"/>
              </a:rPr>
              <a:t>Class.forName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oracle.jdbc.driver.OracleDriver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5) } catch (</a:t>
            </a:r>
            <a:r>
              <a:rPr lang="en-US" dirty="0" err="1">
                <a:latin typeface="Courier New" panose="02070309020205020404" pitchFamily="49" charset="0"/>
                <a:cs typeface="Courier New" panose="02070309020205020404" pitchFamily="49" charset="0"/>
              </a:rPr>
              <a:t>ClassNotFoundException</a:t>
            </a:r>
            <a:r>
              <a:rPr lang="en-US" dirty="0">
                <a:latin typeface="Courier New" panose="02070309020205020404" pitchFamily="49" charset="0"/>
                <a:cs typeface="Courier New" panose="02070309020205020404" pitchFamily="49" charset="0"/>
              </a:rPr>
              <a:t> x) {</a:t>
            </a:r>
          </a:p>
          <a:p>
            <a:r>
              <a:rPr lang="en-US" dirty="0">
                <a:latin typeface="Courier New" panose="02070309020205020404" pitchFamily="49" charset="0"/>
                <a:cs typeface="Courier New" panose="02070309020205020404" pitchFamily="49" charset="0"/>
              </a:rPr>
              <a:t>6) </a:t>
            </a:r>
            <a:r>
              <a:rPr lang="en-US" dirty="0" err="1">
                <a:latin typeface="Courier New" panose="02070309020205020404" pitchFamily="49" charset="0"/>
                <a:cs typeface="Courier New" panose="02070309020205020404" pitchFamily="49" charset="0"/>
              </a:rPr>
              <a:t>System.out.println</a:t>
            </a:r>
            <a:r>
              <a:rPr lang="en-US" dirty="0">
                <a:latin typeface="Courier New" panose="02070309020205020404" pitchFamily="49" charset="0"/>
                <a:cs typeface="Courier New" panose="02070309020205020404" pitchFamily="49" charset="0"/>
              </a:rPr>
              <a:t> ("Driver could not be loaded") ;</a:t>
            </a:r>
          </a:p>
          <a:p>
            <a:r>
              <a:rPr lang="en-US" dirty="0">
                <a:latin typeface="Courier New" panose="02070309020205020404" pitchFamily="49" charset="0"/>
                <a:cs typeface="Courier New" panose="02070309020205020404" pitchFamily="49" charset="0"/>
              </a:rPr>
              <a:t>7) }</a:t>
            </a:r>
          </a:p>
          <a:p>
            <a:r>
              <a:rPr lang="en-US" dirty="0">
                <a:latin typeface="Courier New" panose="02070309020205020404" pitchFamily="49" charset="0"/>
                <a:cs typeface="Courier New" panose="02070309020205020404" pitchFamily="49" charset="0"/>
              </a:rPr>
              <a:t>8) String </a:t>
            </a:r>
            <a:r>
              <a:rPr lang="en-US" dirty="0" err="1">
                <a:latin typeface="Courier New" panose="02070309020205020404" pitchFamily="49" charset="0"/>
                <a:cs typeface="Courier New" panose="02070309020205020404" pitchFamily="49" charset="0"/>
              </a:rPr>
              <a:t>dbacct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passwrd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9) Double salary ;</a:t>
            </a:r>
          </a:p>
          <a:p>
            <a:r>
              <a:rPr lang="en-US" dirty="0">
                <a:latin typeface="Courier New" panose="02070309020205020404" pitchFamily="49" charset="0"/>
                <a:cs typeface="Courier New" panose="02070309020205020404" pitchFamily="49" charset="0"/>
              </a:rPr>
              <a:t>10) </a:t>
            </a:r>
            <a:r>
              <a:rPr lang="en-US" dirty="0" err="1">
                <a:latin typeface="Courier New" panose="02070309020205020404" pitchFamily="49" charset="0"/>
                <a:cs typeface="Courier New" panose="02070309020205020404" pitchFamily="49" charset="0"/>
              </a:rPr>
              <a:t>dbacct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readentry</a:t>
            </a:r>
            <a:r>
              <a:rPr lang="en-US" dirty="0">
                <a:latin typeface="Courier New" panose="02070309020205020404" pitchFamily="49" charset="0"/>
                <a:cs typeface="Courier New" panose="02070309020205020404" pitchFamily="49" charset="0"/>
              </a:rPr>
              <a:t>("Enter database account:") ;</a:t>
            </a:r>
          </a:p>
          <a:p>
            <a:r>
              <a:rPr lang="en-US" dirty="0">
                <a:latin typeface="Courier New" panose="02070309020205020404" pitchFamily="49" charset="0"/>
                <a:cs typeface="Courier New" panose="02070309020205020404" pitchFamily="49" charset="0"/>
              </a:rPr>
              <a:t>11) </a:t>
            </a:r>
            <a:r>
              <a:rPr lang="en-US" dirty="0" err="1">
                <a:latin typeface="Courier New" panose="02070309020205020404" pitchFamily="49" charset="0"/>
                <a:cs typeface="Courier New" panose="02070309020205020404" pitchFamily="49" charset="0"/>
              </a:rPr>
              <a:t>passwrd</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readentry</a:t>
            </a:r>
            <a:r>
              <a:rPr lang="en-US" dirty="0">
                <a:latin typeface="Courier New" panose="02070309020205020404" pitchFamily="49" charset="0"/>
                <a:cs typeface="Courier New" panose="02070309020205020404" pitchFamily="49" charset="0"/>
              </a:rPr>
              <a:t>("Enter password:") ;</a:t>
            </a:r>
          </a:p>
          <a:p>
            <a:r>
              <a:rPr lang="en-US" dirty="0">
                <a:latin typeface="Courier New" panose="02070309020205020404" pitchFamily="49" charset="0"/>
                <a:cs typeface="Courier New" panose="02070309020205020404" pitchFamily="49" charset="0"/>
              </a:rPr>
              <a:t>12) Connection conn = </a:t>
            </a:r>
            <a:r>
              <a:rPr lang="en-US" dirty="0" err="1">
                <a:latin typeface="Courier New" panose="02070309020205020404" pitchFamily="49" charset="0"/>
                <a:cs typeface="Courier New" panose="02070309020205020404" pitchFamily="49" charset="0"/>
              </a:rPr>
              <a:t>DriverManager.getConnection</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13) ("jdbc:oracle:oci8:" + </a:t>
            </a:r>
            <a:r>
              <a:rPr lang="en-US" dirty="0" err="1">
                <a:latin typeface="Courier New" panose="02070309020205020404" pitchFamily="49" charset="0"/>
                <a:cs typeface="Courier New" panose="02070309020205020404" pitchFamily="49" charset="0"/>
              </a:rPr>
              <a:t>dbacct</a:t>
            </a:r>
            <a:r>
              <a:rPr lang="en-US" dirty="0">
                <a:latin typeface="Courier New" panose="02070309020205020404" pitchFamily="49" charset="0"/>
                <a:cs typeface="Courier New" panose="02070309020205020404" pitchFamily="49" charset="0"/>
              </a:rPr>
              <a:t> + "/" + </a:t>
            </a:r>
            <a:r>
              <a:rPr lang="en-US" dirty="0" err="1">
                <a:latin typeface="Courier New" panose="02070309020205020404" pitchFamily="49" charset="0"/>
                <a:cs typeface="Courier New" panose="02070309020205020404" pitchFamily="49" charset="0"/>
              </a:rPr>
              <a:t>passwrd</a:t>
            </a:r>
            <a:r>
              <a:rPr lang="en-US" dirty="0">
                <a:latin typeface="Courier New" panose="02070309020205020404" pitchFamily="49" charset="0"/>
                <a:cs typeface="Courier New" panose="02070309020205020404" pitchFamily="49" charset="0"/>
              </a:rPr>
              <a:t>) ;</a:t>
            </a:r>
          </a:p>
        </p:txBody>
      </p:sp>
      <p:sp>
        <p:nvSpPr>
          <p:cNvPr id="4" name="Slide Number Placeholder 3">
            <a:extLst>
              <a:ext uri="{FF2B5EF4-FFF2-40B4-BE49-F238E27FC236}">
                <a16:creationId xmlns:a16="http://schemas.microsoft.com/office/drawing/2014/main" id="{2795D4E8-EBDB-5E15-458C-6A36774512B5}"/>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4273949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38E45-56C6-98C7-3488-B48A4628B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EF33C-9C56-51D3-C1E6-F3886276E0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2CCFE6-E111-58E4-4811-F26A617AFCB0}"/>
              </a:ext>
            </a:extLst>
          </p:cNvPr>
          <p:cNvSpPr>
            <a:spLocks noGrp="1"/>
          </p:cNvSpPr>
          <p:nvPr>
            <p:ph idx="1"/>
          </p:nvPr>
        </p:nvSpPr>
        <p:spPr>
          <a:xfrm>
            <a:off x="838200" y="365125"/>
            <a:ext cx="10515600" cy="5811838"/>
          </a:xfrm>
        </p:spPr>
        <p:txBody>
          <a:bodyPr>
            <a:normAutofit fontScale="85000" lnSpcReduction="20000"/>
          </a:bodyPr>
          <a:lstStyle/>
          <a:p>
            <a:r>
              <a:rPr lang="en-US" dirty="0">
                <a:latin typeface="Courier New" panose="02070309020205020404" pitchFamily="49" charset="0"/>
                <a:cs typeface="Courier New" panose="02070309020205020404" pitchFamily="49" charset="0"/>
              </a:rPr>
              <a:t>14) String stmt1 = "select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Salary from EMPLOYEE where </a:t>
            </a:r>
            <a:r>
              <a:rPr lang="en-US" dirty="0" err="1">
                <a:latin typeface="Courier New" panose="02070309020205020404" pitchFamily="49" charset="0"/>
                <a:cs typeface="Courier New" panose="02070309020205020404" pitchFamily="49" charset="0"/>
              </a:rPr>
              <a:t>Ssn</a:t>
            </a:r>
            <a:r>
              <a:rPr lang="en-US" dirty="0">
                <a:latin typeface="Courier New" panose="02070309020205020404" pitchFamily="49" charset="0"/>
                <a:cs typeface="Courier New" panose="02070309020205020404" pitchFamily="49" charset="0"/>
              </a:rPr>
              <a:t> = ?" ;</a:t>
            </a:r>
          </a:p>
          <a:p>
            <a:r>
              <a:rPr lang="en-US" dirty="0">
                <a:latin typeface="Courier New" panose="02070309020205020404" pitchFamily="49" charset="0"/>
                <a:cs typeface="Courier New" panose="02070309020205020404" pitchFamily="49" charset="0"/>
              </a:rPr>
              <a:t>15) </a:t>
            </a:r>
            <a:r>
              <a:rPr lang="en-US" dirty="0" err="1">
                <a:latin typeface="Courier New" panose="02070309020205020404" pitchFamily="49" charset="0"/>
                <a:cs typeface="Courier New" panose="02070309020205020404" pitchFamily="49" charset="0"/>
              </a:rPr>
              <a:t>PreparedStatement</a:t>
            </a:r>
            <a:r>
              <a:rPr lang="en-US" dirty="0">
                <a:latin typeface="Courier New" panose="02070309020205020404" pitchFamily="49" charset="0"/>
                <a:cs typeface="Courier New" panose="02070309020205020404" pitchFamily="49" charset="0"/>
              </a:rPr>
              <a:t> p = </a:t>
            </a:r>
            <a:r>
              <a:rPr lang="en-US" dirty="0" err="1">
                <a:latin typeface="Courier New" panose="02070309020205020404" pitchFamily="49" charset="0"/>
                <a:cs typeface="Courier New" panose="02070309020205020404" pitchFamily="49" charset="0"/>
              </a:rPr>
              <a:t>conn.prepareStatement</a:t>
            </a:r>
            <a:r>
              <a:rPr lang="en-US" dirty="0">
                <a:latin typeface="Courier New" panose="02070309020205020404" pitchFamily="49" charset="0"/>
                <a:cs typeface="Courier New" panose="02070309020205020404" pitchFamily="49" charset="0"/>
              </a:rPr>
              <a:t>(stmt1) ;</a:t>
            </a:r>
          </a:p>
          <a:p>
            <a:r>
              <a:rPr lang="en-US" dirty="0">
                <a:latin typeface="Courier New" panose="02070309020205020404" pitchFamily="49" charset="0"/>
                <a:cs typeface="Courier New" panose="02070309020205020404" pitchFamily="49" charset="0"/>
              </a:rPr>
              <a:t>16) </a:t>
            </a:r>
            <a:r>
              <a:rPr lang="en-US" dirty="0" err="1">
                <a:latin typeface="Courier New" panose="02070309020205020404" pitchFamily="49" charset="0"/>
                <a:cs typeface="Courier New" panose="02070309020205020404" pitchFamily="49" charset="0"/>
              </a:rPr>
              <a:t>ssn</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readentry</a:t>
            </a:r>
            <a:r>
              <a:rPr lang="en-US" dirty="0">
                <a:latin typeface="Courier New" panose="02070309020205020404" pitchFamily="49" charset="0"/>
                <a:cs typeface="Courier New" panose="02070309020205020404" pitchFamily="49" charset="0"/>
              </a:rPr>
              <a:t>("Enter a Social Security Number: ") ;</a:t>
            </a:r>
          </a:p>
          <a:p>
            <a:r>
              <a:rPr lang="en-US" dirty="0">
                <a:latin typeface="Courier New" panose="02070309020205020404" pitchFamily="49" charset="0"/>
                <a:cs typeface="Courier New" panose="02070309020205020404" pitchFamily="49" charset="0"/>
              </a:rPr>
              <a:t>17) </a:t>
            </a:r>
            <a:r>
              <a:rPr lang="en-US" dirty="0" err="1">
                <a:latin typeface="Courier New" panose="02070309020205020404" pitchFamily="49" charset="0"/>
                <a:cs typeface="Courier New" panose="02070309020205020404" pitchFamily="49" charset="0"/>
              </a:rPr>
              <a:t>p.clearParameters</a:t>
            </a:r>
            <a:r>
              <a:rPr lang="en-US" dirty="0">
                <a:latin typeface="Courier New" panose="02070309020205020404" pitchFamily="49" charset="0"/>
                <a:cs typeface="Courier New" panose="02070309020205020404" pitchFamily="49" charset="0"/>
              </a:rPr>
              <a:t>() ;</a:t>
            </a:r>
          </a:p>
          <a:p>
            <a:r>
              <a:rPr lang="sv-SE" dirty="0">
                <a:latin typeface="Courier New" panose="02070309020205020404" pitchFamily="49" charset="0"/>
                <a:cs typeface="Courier New" panose="02070309020205020404" pitchFamily="49" charset="0"/>
              </a:rPr>
              <a:t>18) p.setString(1, ssn) ;</a:t>
            </a:r>
          </a:p>
          <a:p>
            <a:r>
              <a:rPr lang="pt-BR" dirty="0">
                <a:latin typeface="Courier New" panose="02070309020205020404" pitchFamily="49" charset="0"/>
                <a:cs typeface="Courier New" panose="02070309020205020404" pitchFamily="49" charset="0"/>
              </a:rPr>
              <a:t>19) ResultSet r = p.executeQuery() ;</a:t>
            </a:r>
          </a:p>
          <a:p>
            <a:r>
              <a:rPr lang="en-US" dirty="0">
                <a:latin typeface="Courier New" panose="02070309020205020404" pitchFamily="49" charset="0"/>
                <a:cs typeface="Courier New" panose="02070309020205020404" pitchFamily="49" charset="0"/>
              </a:rPr>
              <a:t>20) while (</a:t>
            </a:r>
            <a:r>
              <a:rPr lang="en-US" dirty="0" err="1">
                <a:latin typeface="Courier New" panose="02070309020205020404" pitchFamily="49" charset="0"/>
                <a:cs typeface="Courier New" panose="02070309020205020404" pitchFamily="49" charset="0"/>
              </a:rPr>
              <a:t>r.next</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21)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r.getString</a:t>
            </a:r>
            <a:r>
              <a:rPr lang="en-US" dirty="0">
                <a:latin typeface="Courier New" panose="02070309020205020404" pitchFamily="49" charset="0"/>
                <a:cs typeface="Courier New" panose="02070309020205020404" pitchFamily="49" charset="0"/>
              </a:rPr>
              <a:t>(1) ;</a:t>
            </a:r>
          </a:p>
          <a:p>
            <a:r>
              <a:rPr lang="en-US" dirty="0">
                <a:latin typeface="Courier New" panose="02070309020205020404" pitchFamily="49" charset="0"/>
                <a:cs typeface="Courier New" panose="02070309020205020404" pitchFamily="49" charset="0"/>
              </a:rPr>
              <a:t>22) salary = </a:t>
            </a:r>
            <a:r>
              <a:rPr lang="en-US" dirty="0" err="1">
                <a:latin typeface="Courier New" panose="02070309020205020404" pitchFamily="49" charset="0"/>
                <a:cs typeface="Courier New" panose="02070309020205020404" pitchFamily="49" charset="0"/>
              </a:rPr>
              <a:t>r.getDouble</a:t>
            </a:r>
            <a:r>
              <a:rPr lang="en-US" dirty="0">
                <a:latin typeface="Courier New" panose="02070309020205020404" pitchFamily="49" charset="0"/>
                <a:cs typeface="Courier New" panose="02070309020205020404" pitchFamily="49" charset="0"/>
              </a:rPr>
              <a:t>(2) ;</a:t>
            </a:r>
          </a:p>
          <a:p>
            <a:r>
              <a:rPr lang="en-US" dirty="0">
                <a:latin typeface="Courier New" panose="02070309020205020404" pitchFamily="49" charset="0"/>
                <a:cs typeface="Courier New" panose="02070309020205020404" pitchFamily="49" charset="0"/>
              </a:rPr>
              <a:t>23) </a:t>
            </a:r>
            <a:r>
              <a:rPr lang="en-US" dirty="0" err="1">
                <a:latin typeface="Courier New" panose="02070309020205020404" pitchFamily="49" charset="0"/>
                <a:cs typeface="Courier New" panose="02070309020205020404" pitchFamily="49" charset="0"/>
              </a:rPr>
              <a:t>system.out.printline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 salary) ;</a:t>
            </a:r>
          </a:p>
          <a:p>
            <a:r>
              <a:rPr lang="en-US" dirty="0">
                <a:latin typeface="Courier New" panose="02070309020205020404" pitchFamily="49" charset="0"/>
                <a:cs typeface="Courier New" panose="02070309020205020404" pitchFamily="49" charset="0"/>
              </a:rPr>
              <a:t>24) } }</a:t>
            </a:r>
          </a:p>
          <a:p>
            <a:r>
              <a:rPr lang="en-US" dirty="0">
                <a:latin typeface="Courier New" panose="02070309020205020404" pitchFamily="49" charset="0"/>
                <a:cs typeface="Courier New" panose="02070309020205020404" pitchFamily="49" charset="0"/>
              </a:rPr>
              <a:t>25) }</a:t>
            </a:r>
          </a:p>
        </p:txBody>
      </p:sp>
      <p:sp>
        <p:nvSpPr>
          <p:cNvPr id="4" name="Slide Number Placeholder 3">
            <a:extLst>
              <a:ext uri="{FF2B5EF4-FFF2-40B4-BE49-F238E27FC236}">
                <a16:creationId xmlns:a16="http://schemas.microsoft.com/office/drawing/2014/main" id="{FA6A6B6C-6F77-762A-D5D5-C23921D26D64}"/>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2102242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19BA-EDF3-8F50-F0AE-5F4BB23BE554}"/>
              </a:ext>
            </a:extLst>
          </p:cNvPr>
          <p:cNvSpPr>
            <a:spLocks noGrp="1"/>
          </p:cNvSpPr>
          <p:nvPr>
            <p:ph type="title"/>
          </p:nvPr>
        </p:nvSpPr>
        <p:spPr/>
        <p:txBody>
          <a:bodyPr/>
          <a:lstStyle/>
          <a:p>
            <a:r>
              <a:rPr lang="en-US" dirty="0"/>
              <a:t>JDBC programming steps</a:t>
            </a:r>
          </a:p>
        </p:txBody>
      </p:sp>
      <p:sp>
        <p:nvSpPr>
          <p:cNvPr id="3" name="Content Placeholder 2">
            <a:extLst>
              <a:ext uri="{FF2B5EF4-FFF2-40B4-BE49-F238E27FC236}">
                <a16:creationId xmlns:a16="http://schemas.microsoft.com/office/drawing/2014/main" id="{3286FD8D-BE2B-4A3D-E737-2D7BA6B77A01}"/>
              </a:ext>
            </a:extLst>
          </p:cNvPr>
          <p:cNvSpPr>
            <a:spLocks noGrp="1"/>
          </p:cNvSpPr>
          <p:nvPr>
            <p:ph idx="1"/>
          </p:nvPr>
        </p:nvSpPr>
        <p:spPr/>
        <p:txBody>
          <a:bodyPr>
            <a:noAutofit/>
          </a:bodyPr>
          <a:lstStyle/>
          <a:p>
            <a:pPr marL="514350" indent="-514350">
              <a:buFont typeface="+mj-lt"/>
              <a:buAutoNum type="arabicPeriod"/>
            </a:pPr>
            <a:r>
              <a:rPr lang="en-US" sz="2700" dirty="0"/>
              <a:t>Import the JDBC class library</a:t>
            </a:r>
          </a:p>
          <a:p>
            <a:pPr marL="514350" indent="-514350">
              <a:buFont typeface="+mj-lt"/>
              <a:buAutoNum type="arabicPeriod"/>
            </a:pPr>
            <a:r>
              <a:rPr lang="en-US" sz="2700" dirty="0"/>
              <a:t>Load the JDBC driver</a:t>
            </a:r>
          </a:p>
          <a:p>
            <a:pPr marL="514350" indent="-514350">
              <a:buFont typeface="+mj-lt"/>
              <a:buAutoNum type="arabicPeriod"/>
            </a:pPr>
            <a:r>
              <a:rPr lang="en-US" sz="2700" dirty="0"/>
              <a:t>Create appropriate variables</a:t>
            </a:r>
          </a:p>
          <a:p>
            <a:pPr marL="514350" indent="-514350">
              <a:buFont typeface="+mj-lt"/>
              <a:buAutoNum type="arabicPeriod"/>
            </a:pPr>
            <a:r>
              <a:rPr lang="en-US" sz="2700" dirty="0"/>
              <a:t>the Connection object</a:t>
            </a:r>
          </a:p>
          <a:p>
            <a:pPr marL="514350" indent="-514350">
              <a:buFont typeface="+mj-lt"/>
              <a:buAutoNum type="arabicPeriod"/>
            </a:pPr>
            <a:r>
              <a:rPr lang="en-US" sz="2700" dirty="0"/>
              <a:t>the Prepared Statement object</a:t>
            </a:r>
          </a:p>
          <a:p>
            <a:pPr marL="514350" indent="-514350">
              <a:buFont typeface="+mj-lt"/>
              <a:buAutoNum type="arabicPeriod"/>
            </a:pPr>
            <a:r>
              <a:rPr lang="en-US" sz="2700" dirty="0"/>
              <a:t>Setting the statement parameters</a:t>
            </a:r>
          </a:p>
          <a:p>
            <a:pPr marL="514350" indent="-514350">
              <a:buFont typeface="+mj-lt"/>
              <a:buAutoNum type="arabicPeriod"/>
            </a:pPr>
            <a:r>
              <a:rPr lang="en-US" sz="2700" dirty="0"/>
              <a:t>Binding the statement parameters</a:t>
            </a:r>
          </a:p>
          <a:p>
            <a:pPr marL="514350" indent="-514350">
              <a:buFont typeface="+mj-lt"/>
              <a:buAutoNum type="arabicPeriod"/>
            </a:pPr>
            <a:r>
              <a:rPr lang="en-US" sz="2700" dirty="0"/>
              <a:t>Executing the SQL statement</a:t>
            </a:r>
          </a:p>
          <a:p>
            <a:pPr marL="514350" indent="-514350">
              <a:buFont typeface="+mj-lt"/>
              <a:buAutoNum type="arabicPeriod"/>
            </a:pPr>
            <a:r>
              <a:rPr lang="en-US" sz="2700" dirty="0"/>
              <a:t>Processing the </a:t>
            </a:r>
            <a:r>
              <a:rPr lang="en-US" sz="2700" dirty="0" err="1"/>
              <a:t>ResultSet</a:t>
            </a:r>
            <a:r>
              <a:rPr lang="en-US" sz="2700" dirty="0"/>
              <a:t> object</a:t>
            </a:r>
          </a:p>
        </p:txBody>
      </p:sp>
      <p:sp>
        <p:nvSpPr>
          <p:cNvPr id="4" name="Slide Number Placeholder 3">
            <a:extLst>
              <a:ext uri="{FF2B5EF4-FFF2-40B4-BE49-F238E27FC236}">
                <a16:creationId xmlns:a16="http://schemas.microsoft.com/office/drawing/2014/main" id="{7C4AE844-571E-7333-DE2E-18B4B607B5D5}"/>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25466386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60A05-CA81-5129-5574-AA7E07541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0B33B-0179-C3B1-46B3-CDEE9328FB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EEE7E0-C4D9-E0BC-C810-245ECAD0878F}"/>
              </a:ext>
            </a:extLst>
          </p:cNvPr>
          <p:cNvSpPr>
            <a:spLocks noGrp="1"/>
          </p:cNvSpPr>
          <p:nvPr>
            <p:ph idx="1"/>
          </p:nvPr>
        </p:nvSpPr>
        <p:spPr>
          <a:xfrm>
            <a:off x="838200" y="365125"/>
            <a:ext cx="10515600" cy="5811838"/>
          </a:xfrm>
        </p:spPr>
        <p:txBody>
          <a:bodyPr>
            <a:noAutofit/>
          </a:bodyPr>
          <a:lstStyle/>
          <a:p>
            <a:r>
              <a:rPr lang="en-US" sz="2000" dirty="0">
                <a:latin typeface="Courier New" panose="02070309020205020404" pitchFamily="49" charset="0"/>
                <a:cs typeface="Courier New" panose="02070309020205020404" pitchFamily="49" charset="0"/>
              </a:rPr>
              <a:t>0) import java.io.* ;</a:t>
            </a:r>
          </a:p>
          <a:p>
            <a:r>
              <a:rPr lang="en-US" sz="2000" dirty="0">
                <a:latin typeface="Courier New" panose="02070309020205020404" pitchFamily="49" charset="0"/>
                <a:cs typeface="Courier New" panose="02070309020205020404" pitchFamily="49" charset="0"/>
              </a:rPr>
              <a:t>1) import java.sql.*</a:t>
            </a:r>
          </a:p>
          <a:p>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2) class </a:t>
            </a:r>
            <a:r>
              <a:rPr lang="en-US" sz="2000" dirty="0" err="1">
                <a:latin typeface="Courier New" panose="02070309020205020404" pitchFamily="49" charset="0"/>
                <a:cs typeface="Courier New" panose="02070309020205020404" pitchFamily="49" charset="0"/>
              </a:rPr>
              <a:t>printDepartmentEmps</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3) public static void main (String </a:t>
            </a:r>
            <a:r>
              <a:rPr lang="en-US" sz="2000" dirty="0" err="1">
                <a:latin typeface="Courier New" panose="02070309020205020404" pitchFamily="49" charset="0"/>
                <a:cs typeface="Courier New" panose="02070309020205020404" pitchFamily="49" charset="0"/>
              </a:rPr>
              <a:t>args</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throws </a:t>
            </a:r>
            <a:r>
              <a:rPr lang="en-US" sz="2000" dirty="0" err="1">
                <a:latin typeface="Courier New" panose="02070309020205020404" pitchFamily="49" charset="0"/>
                <a:cs typeface="Courier New" panose="02070309020205020404" pitchFamily="49" charset="0"/>
              </a:rPr>
              <a:t>SQLException</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IOException</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4) try { </a:t>
            </a:r>
            <a:r>
              <a:rPr lang="en-US" sz="2000" dirty="0" err="1">
                <a:latin typeface="Courier New" panose="02070309020205020404" pitchFamily="49" charset="0"/>
                <a:cs typeface="Courier New" panose="02070309020205020404" pitchFamily="49" charset="0"/>
              </a:rPr>
              <a:t>Class.forName</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oracle.jdbc.driver.OracleDriver</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5) } catch (</a:t>
            </a:r>
            <a:r>
              <a:rPr lang="en-US" sz="2000" dirty="0" err="1">
                <a:latin typeface="Courier New" panose="02070309020205020404" pitchFamily="49" charset="0"/>
                <a:cs typeface="Courier New" panose="02070309020205020404" pitchFamily="49" charset="0"/>
              </a:rPr>
              <a:t>ClassNotFoundException</a:t>
            </a:r>
            <a:r>
              <a:rPr lang="en-US" sz="2000" dirty="0">
                <a:latin typeface="Courier New" panose="02070309020205020404" pitchFamily="49" charset="0"/>
                <a:cs typeface="Courier New" panose="02070309020205020404" pitchFamily="49" charset="0"/>
              </a:rPr>
              <a:t> x) {</a:t>
            </a:r>
          </a:p>
          <a:p>
            <a:r>
              <a:rPr lang="en-US" sz="2000" dirty="0">
                <a:latin typeface="Courier New" panose="02070309020205020404" pitchFamily="49" charset="0"/>
                <a:cs typeface="Courier New" panose="02070309020205020404" pitchFamily="49" charset="0"/>
              </a:rPr>
              <a:t>6) </a:t>
            </a:r>
            <a:r>
              <a:rPr lang="en-US" sz="2000" dirty="0" err="1">
                <a:latin typeface="Courier New" panose="02070309020205020404" pitchFamily="49" charset="0"/>
                <a:cs typeface="Courier New" panose="02070309020205020404" pitchFamily="49" charset="0"/>
              </a:rPr>
              <a:t>System.out.println</a:t>
            </a:r>
            <a:r>
              <a:rPr lang="en-US" sz="2000" dirty="0">
                <a:latin typeface="Courier New" panose="02070309020205020404" pitchFamily="49" charset="0"/>
                <a:cs typeface="Courier New" panose="02070309020205020404" pitchFamily="49" charset="0"/>
              </a:rPr>
              <a:t> ("Driver could not be loaded") ;</a:t>
            </a:r>
          </a:p>
          <a:p>
            <a:r>
              <a:rPr lang="en-US" sz="2000" dirty="0">
                <a:latin typeface="Courier New" panose="02070309020205020404" pitchFamily="49" charset="0"/>
                <a:cs typeface="Courier New" panose="02070309020205020404" pitchFamily="49" charset="0"/>
              </a:rPr>
              <a:t>7) }</a:t>
            </a:r>
          </a:p>
          <a:p>
            <a:r>
              <a:rPr lang="en-US" sz="2000" dirty="0">
                <a:latin typeface="Courier New" panose="02070309020205020404" pitchFamily="49" charset="0"/>
                <a:cs typeface="Courier New" panose="02070309020205020404" pitchFamily="49" charset="0"/>
              </a:rPr>
              <a:t>8) String </a:t>
            </a:r>
            <a:r>
              <a:rPr lang="en-US" sz="2000" dirty="0" err="1">
                <a:latin typeface="Courier New" panose="02070309020205020404" pitchFamily="49" charset="0"/>
                <a:cs typeface="Courier New" panose="02070309020205020404" pitchFamily="49" charset="0"/>
              </a:rPr>
              <a:t>dbacct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passwrd</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lname</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9) Double salary ;</a:t>
            </a:r>
          </a:p>
          <a:p>
            <a:r>
              <a:rPr lang="en-US" sz="2000" dirty="0">
                <a:latin typeface="Courier New" panose="02070309020205020404" pitchFamily="49" charset="0"/>
                <a:cs typeface="Courier New" panose="02070309020205020404" pitchFamily="49" charset="0"/>
              </a:rPr>
              <a:t>10) Integer </a:t>
            </a:r>
            <a:r>
              <a:rPr lang="en-US" sz="2000" dirty="0" err="1">
                <a:latin typeface="Courier New" panose="02070309020205020404" pitchFamily="49" charset="0"/>
                <a:cs typeface="Courier New" panose="02070309020205020404" pitchFamily="49" charset="0"/>
              </a:rPr>
              <a:t>dno</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11) </a:t>
            </a:r>
            <a:r>
              <a:rPr lang="en-US" sz="2000" dirty="0" err="1">
                <a:latin typeface="Courier New" panose="02070309020205020404" pitchFamily="49" charset="0"/>
                <a:cs typeface="Courier New" panose="02070309020205020404" pitchFamily="49" charset="0"/>
              </a:rPr>
              <a:t>dbacct</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readentry</a:t>
            </a:r>
            <a:r>
              <a:rPr lang="en-US" sz="2000" dirty="0">
                <a:latin typeface="Courier New" panose="02070309020205020404" pitchFamily="49" charset="0"/>
                <a:cs typeface="Courier New" panose="02070309020205020404" pitchFamily="49" charset="0"/>
              </a:rPr>
              <a:t>("Enter database account:") ;</a:t>
            </a:r>
          </a:p>
          <a:p>
            <a:r>
              <a:rPr lang="en-US" sz="2000" dirty="0">
                <a:latin typeface="Courier New" panose="02070309020205020404" pitchFamily="49" charset="0"/>
                <a:cs typeface="Courier New" panose="02070309020205020404" pitchFamily="49" charset="0"/>
              </a:rPr>
              <a:t>12) </a:t>
            </a:r>
            <a:r>
              <a:rPr lang="en-US" sz="2000" dirty="0" err="1">
                <a:latin typeface="Courier New" panose="02070309020205020404" pitchFamily="49" charset="0"/>
                <a:cs typeface="Courier New" panose="02070309020205020404" pitchFamily="49" charset="0"/>
              </a:rPr>
              <a:t>passwrd</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readentry</a:t>
            </a:r>
            <a:r>
              <a:rPr lang="en-US" sz="2000" dirty="0">
                <a:latin typeface="Courier New" panose="02070309020205020404" pitchFamily="49" charset="0"/>
                <a:cs typeface="Courier New" panose="02070309020205020404" pitchFamily="49" charset="0"/>
              </a:rPr>
              <a:t>("Enter password:") ;</a:t>
            </a:r>
          </a:p>
        </p:txBody>
      </p:sp>
      <p:sp>
        <p:nvSpPr>
          <p:cNvPr id="4" name="Slide Number Placeholder 3">
            <a:extLst>
              <a:ext uri="{FF2B5EF4-FFF2-40B4-BE49-F238E27FC236}">
                <a16:creationId xmlns:a16="http://schemas.microsoft.com/office/drawing/2014/main" id="{31C5EED0-8474-D102-39B5-47AA583D7892}"/>
              </a:ext>
            </a:extLst>
          </p:cNvPr>
          <p:cNvSpPr>
            <a:spLocks noGrp="1"/>
          </p:cNvSpPr>
          <p:nvPr>
            <p:ph type="sldNum" sz="quarter" idx="12"/>
          </p:nvPr>
        </p:nvSpPr>
        <p:spPr/>
        <p:txBody>
          <a:bodyPr/>
          <a:lstStyle/>
          <a:p>
            <a:fld id="{6264BDCF-5269-49AC-A246-ED26C2B980E3}" type="slidenum">
              <a:rPr lang="en-US" smtClean="0"/>
              <a:t>64</a:t>
            </a:fld>
            <a:endParaRPr lang="en-US"/>
          </a:p>
        </p:txBody>
      </p:sp>
    </p:spTree>
    <p:extLst>
      <p:ext uri="{BB962C8B-B14F-4D97-AF65-F5344CB8AC3E}">
        <p14:creationId xmlns:p14="http://schemas.microsoft.com/office/powerpoint/2010/main" val="19951688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396B7-36F1-EEDB-6FD1-222054C101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305ED5-21AA-8ACB-CA6A-F803C11A3A7F}"/>
              </a:ext>
            </a:extLst>
          </p:cNvPr>
          <p:cNvSpPr>
            <a:spLocks noGrp="1"/>
          </p:cNvSpPr>
          <p:nvPr>
            <p:ph idx="1"/>
          </p:nvPr>
        </p:nvSpPr>
        <p:spPr>
          <a:xfrm>
            <a:off x="838200" y="365125"/>
            <a:ext cx="10515600" cy="5811838"/>
          </a:xfrm>
        </p:spPr>
        <p:txBody>
          <a:bodyPr>
            <a:normAutofit fontScale="85000" lnSpcReduction="20000"/>
          </a:bodyPr>
          <a:lstStyle/>
          <a:p>
            <a:r>
              <a:rPr lang="en-US" dirty="0">
                <a:latin typeface="Courier New" panose="02070309020205020404" pitchFamily="49" charset="0"/>
                <a:cs typeface="Courier New" panose="02070309020205020404" pitchFamily="49" charset="0"/>
              </a:rPr>
              <a:t>12) </a:t>
            </a:r>
            <a:r>
              <a:rPr lang="en-US" dirty="0" err="1">
                <a:latin typeface="Courier New" panose="02070309020205020404" pitchFamily="49" charset="0"/>
                <a:cs typeface="Courier New" panose="02070309020205020404" pitchFamily="49" charset="0"/>
              </a:rPr>
              <a:t>passwrd</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readentry</a:t>
            </a:r>
            <a:r>
              <a:rPr lang="en-US" dirty="0">
                <a:latin typeface="Courier New" panose="02070309020205020404" pitchFamily="49" charset="0"/>
                <a:cs typeface="Courier New" panose="02070309020205020404" pitchFamily="49" charset="0"/>
              </a:rPr>
              <a:t>("Enter password:") ;</a:t>
            </a:r>
          </a:p>
          <a:p>
            <a:r>
              <a:rPr lang="en-US" dirty="0">
                <a:latin typeface="Courier New" panose="02070309020205020404" pitchFamily="49" charset="0"/>
                <a:cs typeface="Courier New" panose="02070309020205020404" pitchFamily="49" charset="0"/>
              </a:rPr>
              <a:t>13) Connection conn = </a:t>
            </a:r>
            <a:r>
              <a:rPr lang="en-US" dirty="0" err="1">
                <a:latin typeface="Courier New" panose="02070309020205020404" pitchFamily="49" charset="0"/>
                <a:cs typeface="Courier New" panose="02070309020205020404" pitchFamily="49" charset="0"/>
              </a:rPr>
              <a:t>DriverManager.getConnection</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14) ("jdbc:oracle:oci8:" + </a:t>
            </a:r>
            <a:r>
              <a:rPr lang="en-US" dirty="0" err="1">
                <a:latin typeface="Courier New" panose="02070309020205020404" pitchFamily="49" charset="0"/>
                <a:cs typeface="Courier New" panose="02070309020205020404" pitchFamily="49" charset="0"/>
              </a:rPr>
              <a:t>dbacct</a:t>
            </a:r>
            <a:r>
              <a:rPr lang="en-US" dirty="0">
                <a:latin typeface="Courier New" panose="02070309020205020404" pitchFamily="49" charset="0"/>
                <a:cs typeface="Courier New" panose="02070309020205020404" pitchFamily="49" charset="0"/>
              </a:rPr>
              <a:t> + "/" + </a:t>
            </a:r>
            <a:r>
              <a:rPr lang="en-US" dirty="0" err="1">
                <a:latin typeface="Courier New" panose="02070309020205020404" pitchFamily="49" charset="0"/>
                <a:cs typeface="Courier New" panose="02070309020205020404" pitchFamily="49" charset="0"/>
              </a:rPr>
              <a:t>passwrd</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15) </a:t>
            </a:r>
            <a:r>
              <a:rPr lang="en-US" dirty="0" err="1">
                <a:latin typeface="Courier New" panose="02070309020205020404" pitchFamily="49" charset="0"/>
                <a:cs typeface="Courier New" panose="02070309020205020404" pitchFamily="49" charset="0"/>
              </a:rPr>
              <a:t>dno</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readentry</a:t>
            </a:r>
            <a:r>
              <a:rPr lang="en-US" dirty="0">
                <a:latin typeface="Courier New" panose="02070309020205020404" pitchFamily="49" charset="0"/>
                <a:cs typeface="Courier New" panose="02070309020205020404" pitchFamily="49" charset="0"/>
              </a:rPr>
              <a:t>("Enter a Department Number: ") ;</a:t>
            </a:r>
          </a:p>
          <a:p>
            <a:r>
              <a:rPr lang="en-US" dirty="0">
                <a:latin typeface="Courier New" panose="02070309020205020404" pitchFamily="49" charset="0"/>
                <a:cs typeface="Courier New" panose="02070309020205020404" pitchFamily="49" charset="0"/>
              </a:rPr>
              <a:t>16) String q = "select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Salary from EMPLOYEE where </a:t>
            </a:r>
            <a:r>
              <a:rPr lang="en-US" dirty="0" err="1">
                <a:latin typeface="Courier New" panose="02070309020205020404" pitchFamily="49" charset="0"/>
                <a:cs typeface="Courier New" panose="02070309020205020404" pitchFamily="49" charset="0"/>
              </a:rPr>
              <a:t>Dno</a:t>
            </a:r>
            <a:r>
              <a:rPr lang="en-US" dirty="0">
                <a:latin typeface="Courier New" panose="02070309020205020404" pitchFamily="49" charset="0"/>
                <a:cs typeface="Courier New" panose="02070309020205020404" pitchFamily="49" charset="0"/>
              </a:rPr>
              <a:t> = " +</a:t>
            </a:r>
          </a:p>
          <a:p>
            <a:r>
              <a:rPr lang="en-US" dirty="0" err="1">
                <a:latin typeface="Courier New" panose="02070309020205020404" pitchFamily="49" charset="0"/>
                <a:cs typeface="Courier New" panose="02070309020205020404" pitchFamily="49" charset="0"/>
              </a:rPr>
              <a:t>dno.tostring</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17) Statement s = </a:t>
            </a:r>
            <a:r>
              <a:rPr lang="en-US" dirty="0" err="1">
                <a:latin typeface="Courier New" panose="02070309020205020404" pitchFamily="49" charset="0"/>
                <a:cs typeface="Courier New" panose="02070309020205020404" pitchFamily="49" charset="0"/>
              </a:rPr>
              <a:t>conn.createStatement</a:t>
            </a:r>
            <a:r>
              <a:rPr lang="en-US" dirty="0">
                <a:latin typeface="Courier New" panose="02070309020205020404" pitchFamily="49" charset="0"/>
                <a:cs typeface="Courier New" panose="02070309020205020404" pitchFamily="49" charset="0"/>
              </a:rPr>
              <a:t>() ;</a:t>
            </a:r>
          </a:p>
          <a:p>
            <a:r>
              <a:rPr lang="pt-BR" dirty="0">
                <a:latin typeface="Courier New" panose="02070309020205020404" pitchFamily="49" charset="0"/>
                <a:cs typeface="Courier New" panose="02070309020205020404" pitchFamily="49" charset="0"/>
              </a:rPr>
              <a:t>18) ResultSet r = s.executeQuery(q) ;</a:t>
            </a:r>
          </a:p>
          <a:p>
            <a:r>
              <a:rPr lang="en-US" dirty="0">
                <a:latin typeface="Courier New" panose="02070309020205020404" pitchFamily="49" charset="0"/>
                <a:cs typeface="Courier New" panose="02070309020205020404" pitchFamily="49" charset="0"/>
              </a:rPr>
              <a:t>19) while (</a:t>
            </a:r>
            <a:r>
              <a:rPr lang="en-US" dirty="0" err="1">
                <a:latin typeface="Courier New" panose="02070309020205020404" pitchFamily="49" charset="0"/>
                <a:cs typeface="Courier New" panose="02070309020205020404" pitchFamily="49" charset="0"/>
              </a:rPr>
              <a:t>r.next</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20) </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r.getString</a:t>
            </a:r>
            <a:r>
              <a:rPr lang="en-US" dirty="0">
                <a:latin typeface="Courier New" panose="02070309020205020404" pitchFamily="49" charset="0"/>
                <a:cs typeface="Courier New" panose="02070309020205020404" pitchFamily="49" charset="0"/>
              </a:rPr>
              <a:t>(1) ;</a:t>
            </a:r>
          </a:p>
          <a:p>
            <a:r>
              <a:rPr lang="en-US" dirty="0">
                <a:latin typeface="Courier New" panose="02070309020205020404" pitchFamily="49" charset="0"/>
                <a:cs typeface="Courier New" panose="02070309020205020404" pitchFamily="49" charset="0"/>
              </a:rPr>
              <a:t>21) salary = </a:t>
            </a:r>
            <a:r>
              <a:rPr lang="en-US" dirty="0" err="1">
                <a:latin typeface="Courier New" panose="02070309020205020404" pitchFamily="49" charset="0"/>
                <a:cs typeface="Courier New" panose="02070309020205020404" pitchFamily="49" charset="0"/>
              </a:rPr>
              <a:t>r.getDouble</a:t>
            </a:r>
            <a:r>
              <a:rPr lang="en-US" dirty="0">
                <a:latin typeface="Courier New" panose="02070309020205020404" pitchFamily="49" charset="0"/>
                <a:cs typeface="Courier New" panose="02070309020205020404" pitchFamily="49" charset="0"/>
              </a:rPr>
              <a:t>(2) ;</a:t>
            </a:r>
          </a:p>
          <a:p>
            <a:r>
              <a:rPr lang="en-US" dirty="0">
                <a:latin typeface="Courier New" panose="02070309020205020404" pitchFamily="49" charset="0"/>
                <a:cs typeface="Courier New" panose="02070309020205020404" pitchFamily="49" charset="0"/>
              </a:rPr>
              <a:t>22) </a:t>
            </a:r>
            <a:r>
              <a:rPr lang="en-US" dirty="0" err="1">
                <a:latin typeface="Courier New" panose="02070309020205020404" pitchFamily="49" charset="0"/>
                <a:cs typeface="Courier New" panose="02070309020205020404" pitchFamily="49" charset="0"/>
              </a:rPr>
              <a:t>system.out.printline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lname</a:t>
            </a:r>
            <a:r>
              <a:rPr lang="en-US" dirty="0">
                <a:latin typeface="Courier New" panose="02070309020205020404" pitchFamily="49" charset="0"/>
                <a:cs typeface="Courier New" panose="02070309020205020404" pitchFamily="49" charset="0"/>
              </a:rPr>
              <a:t> + salary) ;</a:t>
            </a:r>
          </a:p>
          <a:p>
            <a:r>
              <a:rPr lang="en-US" dirty="0">
                <a:latin typeface="Courier New" panose="02070309020205020404" pitchFamily="49" charset="0"/>
                <a:cs typeface="Courier New" panose="02070309020205020404" pitchFamily="49" charset="0"/>
              </a:rPr>
              <a:t>23) } }</a:t>
            </a:r>
          </a:p>
          <a:p>
            <a:r>
              <a:rPr lang="en-US" dirty="0">
                <a:latin typeface="Courier New" panose="02070309020205020404" pitchFamily="49" charset="0"/>
                <a:cs typeface="Courier New" panose="02070309020205020404" pitchFamily="49" charset="0"/>
              </a:rPr>
              <a:t>24) }</a:t>
            </a:r>
          </a:p>
        </p:txBody>
      </p:sp>
      <p:sp>
        <p:nvSpPr>
          <p:cNvPr id="4" name="Slide Number Placeholder 3">
            <a:extLst>
              <a:ext uri="{FF2B5EF4-FFF2-40B4-BE49-F238E27FC236}">
                <a16:creationId xmlns:a16="http://schemas.microsoft.com/office/drawing/2014/main" id="{423B3FBA-B16D-3C38-5343-6DCC97F2652C}"/>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34227332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CC5F6-5DD3-29CF-DCF7-A1A8BF771D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8ED2B9-BE5F-9222-A444-3BB1F6F0857C}"/>
              </a:ext>
            </a:extLst>
          </p:cNvPr>
          <p:cNvSpPr>
            <a:spLocks noGrp="1"/>
          </p:cNvSpPr>
          <p:nvPr>
            <p:ph type="title"/>
          </p:nvPr>
        </p:nvSpPr>
        <p:spPr/>
        <p:txBody>
          <a:bodyPr>
            <a:normAutofit/>
          </a:bodyPr>
          <a:lstStyle/>
          <a:p>
            <a:r>
              <a:rPr lang="en-US" b="1" dirty="0"/>
              <a:t>Database Stored Procedures</a:t>
            </a:r>
            <a:br>
              <a:rPr lang="en-US" b="1" dirty="0"/>
            </a:br>
            <a:r>
              <a:rPr lang="en-US" b="1" dirty="0"/>
              <a:t>and SQL/PSM</a:t>
            </a:r>
            <a:endParaRPr lang="en-US" dirty="0"/>
          </a:p>
        </p:txBody>
      </p:sp>
      <p:sp>
        <p:nvSpPr>
          <p:cNvPr id="6" name="Text Placeholder 5">
            <a:extLst>
              <a:ext uri="{FF2B5EF4-FFF2-40B4-BE49-F238E27FC236}">
                <a16:creationId xmlns:a16="http://schemas.microsoft.com/office/drawing/2014/main" id="{0BE2CD14-5A07-97E1-4F9C-E87749CB057E}"/>
              </a:ext>
            </a:extLst>
          </p:cNvPr>
          <p:cNvSpPr>
            <a:spLocks noGrp="1"/>
          </p:cNvSpPr>
          <p:nvPr>
            <p:ph type="body" idx="1"/>
          </p:nvPr>
        </p:nvSpPr>
        <p:spPr/>
        <p:txBody>
          <a:bodyPr>
            <a:normAutofit/>
          </a:bodyPr>
          <a:lstStyle/>
          <a:p>
            <a:endParaRPr lang="en-US" sz="3600" dirty="0"/>
          </a:p>
        </p:txBody>
      </p:sp>
      <p:sp>
        <p:nvSpPr>
          <p:cNvPr id="4" name="Slide Number Placeholder 3">
            <a:extLst>
              <a:ext uri="{FF2B5EF4-FFF2-40B4-BE49-F238E27FC236}">
                <a16:creationId xmlns:a16="http://schemas.microsoft.com/office/drawing/2014/main" id="{E8DA594C-A820-75F9-292A-B9CE6E7FCFD3}"/>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3284936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8F6F-716E-5A26-4869-7378C4457848}"/>
              </a:ext>
            </a:extLst>
          </p:cNvPr>
          <p:cNvSpPr>
            <a:spLocks noGrp="1"/>
          </p:cNvSpPr>
          <p:nvPr>
            <p:ph type="title"/>
          </p:nvPr>
        </p:nvSpPr>
        <p:spPr/>
        <p:txBody>
          <a:bodyPr/>
          <a:lstStyle/>
          <a:p>
            <a:r>
              <a:rPr lang="en-US" b="1" dirty="0"/>
              <a:t>Database Stored Procedures and Functions</a:t>
            </a:r>
            <a:endParaRPr lang="en-US" dirty="0"/>
          </a:p>
        </p:txBody>
      </p:sp>
      <p:sp>
        <p:nvSpPr>
          <p:cNvPr id="3" name="Content Placeholder 2">
            <a:extLst>
              <a:ext uri="{FF2B5EF4-FFF2-40B4-BE49-F238E27FC236}">
                <a16:creationId xmlns:a16="http://schemas.microsoft.com/office/drawing/2014/main" id="{6745CECD-DC74-8EC6-A0C4-F9589D73491D}"/>
              </a:ext>
            </a:extLst>
          </p:cNvPr>
          <p:cNvSpPr>
            <a:spLocks noGrp="1"/>
          </p:cNvSpPr>
          <p:nvPr>
            <p:ph idx="1"/>
          </p:nvPr>
        </p:nvSpPr>
        <p:spPr>
          <a:xfrm>
            <a:off x="838199" y="1825625"/>
            <a:ext cx="11019503" cy="4351338"/>
          </a:xfrm>
        </p:spPr>
        <p:txBody>
          <a:bodyPr>
            <a:noAutofit/>
          </a:bodyPr>
          <a:lstStyle/>
          <a:p>
            <a:r>
              <a:rPr lang="en-US" sz="2700" dirty="0"/>
              <a:t>in presentation of database programming techniques, so far, there was an implicit assumption that the database application program was running on a client - different from the machine on which database server — and main part of DBMS software package — is located</a:t>
            </a:r>
          </a:p>
          <a:p>
            <a:r>
              <a:rPr lang="en-US" sz="2700" dirty="0"/>
              <a:t>sometimes useful to create database program modules - procedures or functions - that are stored and executed by the DBMS at the database server</a:t>
            </a:r>
          </a:p>
          <a:p>
            <a:r>
              <a:rPr lang="en-US" sz="2700" dirty="0"/>
              <a:t>known as database stored procedures, although they can be functions or procedures</a:t>
            </a:r>
          </a:p>
          <a:p>
            <a:r>
              <a:rPr lang="en-US" sz="2700" dirty="0"/>
              <a:t>term used in SQL standard is persistent stored modules because these programs are stored persistently by DBMS, similarly to persistent data stored by DBMS</a:t>
            </a:r>
          </a:p>
        </p:txBody>
      </p:sp>
      <p:sp>
        <p:nvSpPr>
          <p:cNvPr id="4" name="Slide Number Placeholder 3">
            <a:extLst>
              <a:ext uri="{FF2B5EF4-FFF2-40B4-BE49-F238E27FC236}">
                <a16:creationId xmlns:a16="http://schemas.microsoft.com/office/drawing/2014/main" id="{5C4BD00E-DC2A-383E-13A7-554A2EF0684D}"/>
              </a:ext>
            </a:extLst>
          </p:cNvPr>
          <p:cNvSpPr>
            <a:spLocks noGrp="1"/>
          </p:cNvSpPr>
          <p:nvPr>
            <p:ph type="sldNum" sz="quarter" idx="12"/>
          </p:nvPr>
        </p:nvSpPr>
        <p:spPr/>
        <p:txBody>
          <a:bodyPr/>
          <a:lstStyle/>
          <a:p>
            <a:fld id="{6264BDCF-5269-49AC-A246-ED26C2B980E3}" type="slidenum">
              <a:rPr lang="en-US" smtClean="0"/>
              <a:t>67</a:t>
            </a:fld>
            <a:endParaRPr lang="en-US"/>
          </a:p>
        </p:txBody>
      </p:sp>
    </p:spTree>
    <p:extLst>
      <p:ext uri="{BB962C8B-B14F-4D97-AF65-F5344CB8AC3E}">
        <p14:creationId xmlns:p14="http://schemas.microsoft.com/office/powerpoint/2010/main" val="25243641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D719E-DD66-24DC-D31E-398FBCC7EC2A}"/>
              </a:ext>
            </a:extLst>
          </p:cNvPr>
          <p:cNvSpPr>
            <a:spLocks noGrp="1"/>
          </p:cNvSpPr>
          <p:nvPr>
            <p:ph type="title"/>
          </p:nvPr>
        </p:nvSpPr>
        <p:spPr/>
        <p:txBody>
          <a:bodyPr/>
          <a:lstStyle/>
          <a:p>
            <a:r>
              <a:rPr lang="en-US" dirty="0"/>
              <a:t>Stored procedures are useful:</a:t>
            </a:r>
          </a:p>
        </p:txBody>
      </p:sp>
      <p:sp>
        <p:nvSpPr>
          <p:cNvPr id="3" name="Content Placeholder 2">
            <a:extLst>
              <a:ext uri="{FF2B5EF4-FFF2-40B4-BE49-F238E27FC236}">
                <a16:creationId xmlns:a16="http://schemas.microsoft.com/office/drawing/2014/main" id="{1A593C92-20F9-BED3-87BE-FAD81F467E78}"/>
              </a:ext>
            </a:extLst>
          </p:cNvPr>
          <p:cNvSpPr>
            <a:spLocks noGrp="1"/>
          </p:cNvSpPr>
          <p:nvPr>
            <p:ph idx="1"/>
          </p:nvPr>
        </p:nvSpPr>
        <p:spPr/>
        <p:txBody>
          <a:bodyPr>
            <a:normAutofit/>
          </a:bodyPr>
          <a:lstStyle/>
          <a:p>
            <a:r>
              <a:rPr lang="en-US" dirty="0"/>
              <a:t>if database program is needed by several applications, it can be stored at server and invoked by any application programs; reduces duplication of effort and improves software modularity</a:t>
            </a:r>
          </a:p>
          <a:p>
            <a:r>
              <a:rPr lang="en-US" dirty="0"/>
              <a:t>executing program at the server can reduce data transfer and communication cost between client and server</a:t>
            </a:r>
          </a:p>
          <a:p>
            <a:r>
              <a:rPr lang="en-US" dirty="0"/>
              <a:t>can enhance the modeling power provided by views by allowing more complex types of derived data to be made available to database users via stored procedures;</a:t>
            </a:r>
          </a:p>
          <a:p>
            <a:r>
              <a:rPr lang="en-US" dirty="0"/>
              <a:t>can be used to check for complex constraints that are beyond specification power of assertions and triggers</a:t>
            </a:r>
          </a:p>
        </p:txBody>
      </p:sp>
      <p:sp>
        <p:nvSpPr>
          <p:cNvPr id="4" name="Slide Number Placeholder 3">
            <a:extLst>
              <a:ext uri="{FF2B5EF4-FFF2-40B4-BE49-F238E27FC236}">
                <a16:creationId xmlns:a16="http://schemas.microsoft.com/office/drawing/2014/main" id="{76F94CBC-4696-737A-BBCD-1AF976DB9A88}"/>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21877614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73CF6A-AF9E-9136-2523-9CB1745D1045}"/>
              </a:ext>
            </a:extLst>
          </p:cNvPr>
          <p:cNvSpPr>
            <a:spLocks noGrp="1"/>
          </p:cNvSpPr>
          <p:nvPr>
            <p:ph type="title"/>
          </p:nvPr>
        </p:nvSpPr>
        <p:spPr/>
        <p:txBody>
          <a:bodyPr/>
          <a:lstStyle/>
          <a:p>
            <a:r>
              <a:rPr lang="en-US" dirty="0"/>
              <a:t>SINU</a:t>
            </a:r>
          </a:p>
        </p:txBody>
      </p:sp>
      <p:sp>
        <p:nvSpPr>
          <p:cNvPr id="6" name="Text Placeholder 5">
            <a:extLst>
              <a:ext uri="{FF2B5EF4-FFF2-40B4-BE49-F238E27FC236}">
                <a16:creationId xmlns:a16="http://schemas.microsoft.com/office/drawing/2014/main" id="{FEA1D8AF-65F5-556A-6532-04CF2C7FCD4E}"/>
              </a:ext>
            </a:extLst>
          </p:cNvPr>
          <p:cNvSpPr>
            <a:spLocks noGrp="1"/>
          </p:cNvSpPr>
          <p:nvPr>
            <p:ph type="body" idx="1"/>
          </p:nvPr>
        </p:nvSpPr>
        <p:spPr>
          <a:xfrm>
            <a:off x="839788" y="1179512"/>
            <a:ext cx="5157787" cy="501651"/>
          </a:xfrm>
        </p:spPr>
        <p:txBody>
          <a:bodyPr/>
          <a:lstStyle/>
          <a:p>
            <a:r>
              <a:rPr lang="en-US" dirty="0"/>
              <a:t>Server</a:t>
            </a:r>
          </a:p>
        </p:txBody>
      </p:sp>
      <p:sp>
        <p:nvSpPr>
          <p:cNvPr id="7" name="Content Placeholder 6">
            <a:extLst>
              <a:ext uri="{FF2B5EF4-FFF2-40B4-BE49-F238E27FC236}">
                <a16:creationId xmlns:a16="http://schemas.microsoft.com/office/drawing/2014/main" id="{D6A97AF1-ABE2-EAC4-AD57-7EBB62B044AB}"/>
              </a:ext>
            </a:extLst>
          </p:cNvPr>
          <p:cNvSpPr>
            <a:spLocks noGrp="1"/>
          </p:cNvSpPr>
          <p:nvPr>
            <p:ph sz="half" idx="2"/>
          </p:nvPr>
        </p:nvSpPr>
        <p:spPr>
          <a:xfrm>
            <a:off x="839788" y="1681161"/>
            <a:ext cx="5157787" cy="4508501"/>
          </a:xfrm>
        </p:spPr>
        <p:txBody>
          <a:bodyPr>
            <a:normAutofit/>
          </a:bodyPr>
          <a:lstStyle/>
          <a:p>
            <a:r>
              <a:rPr lang="en-US" dirty="0" err="1"/>
              <a:t>DataBase</a:t>
            </a:r>
            <a:endParaRPr lang="en-US" dirty="0"/>
          </a:p>
        </p:txBody>
      </p:sp>
      <p:sp>
        <p:nvSpPr>
          <p:cNvPr id="8" name="Text Placeholder 7">
            <a:extLst>
              <a:ext uri="{FF2B5EF4-FFF2-40B4-BE49-F238E27FC236}">
                <a16:creationId xmlns:a16="http://schemas.microsoft.com/office/drawing/2014/main" id="{06233DE2-5A66-7C5B-015E-CE188311416A}"/>
              </a:ext>
            </a:extLst>
          </p:cNvPr>
          <p:cNvSpPr>
            <a:spLocks noGrp="1"/>
          </p:cNvSpPr>
          <p:nvPr>
            <p:ph type="body" sz="quarter" idx="3"/>
          </p:nvPr>
        </p:nvSpPr>
        <p:spPr>
          <a:xfrm>
            <a:off x="6172200" y="1179513"/>
            <a:ext cx="5183188" cy="511176"/>
          </a:xfrm>
        </p:spPr>
        <p:txBody>
          <a:bodyPr/>
          <a:lstStyle/>
          <a:p>
            <a:r>
              <a:rPr lang="en-US" dirty="0"/>
              <a:t>Client</a:t>
            </a:r>
          </a:p>
        </p:txBody>
      </p:sp>
      <p:sp>
        <p:nvSpPr>
          <p:cNvPr id="9" name="Content Placeholder 8">
            <a:extLst>
              <a:ext uri="{FF2B5EF4-FFF2-40B4-BE49-F238E27FC236}">
                <a16:creationId xmlns:a16="http://schemas.microsoft.com/office/drawing/2014/main" id="{B9AD35CE-7AD8-BBC9-6CE3-34FB3577EC4D}"/>
              </a:ext>
            </a:extLst>
          </p:cNvPr>
          <p:cNvSpPr>
            <a:spLocks noGrp="1"/>
          </p:cNvSpPr>
          <p:nvPr>
            <p:ph sz="quarter" idx="4"/>
          </p:nvPr>
        </p:nvSpPr>
        <p:spPr>
          <a:xfrm>
            <a:off x="4060723" y="1681163"/>
            <a:ext cx="7294665" cy="4508500"/>
          </a:xfrm>
        </p:spPr>
        <p:txBody>
          <a:bodyPr>
            <a:noAutofit/>
          </a:bodyPr>
          <a:lstStyle/>
          <a:p>
            <a:r>
              <a:rPr lang="en-US" sz="2000" dirty="0" err="1"/>
              <a:t>Facultatea</a:t>
            </a:r>
            <a:r>
              <a:rPr lang="en-US" sz="2000" dirty="0"/>
              <a:t> de </a:t>
            </a:r>
            <a:r>
              <a:rPr lang="en-US" sz="2000" dirty="0" err="1"/>
              <a:t>Arhitectură</a:t>
            </a:r>
            <a:r>
              <a:rPr lang="en-US" sz="2000" dirty="0"/>
              <a:t> </a:t>
            </a:r>
            <a:r>
              <a:rPr lang="en-US" sz="2000" dirty="0" err="1"/>
              <a:t>și</a:t>
            </a:r>
            <a:r>
              <a:rPr lang="en-US" sz="2000" dirty="0"/>
              <a:t> Urbanism</a:t>
            </a:r>
          </a:p>
          <a:p>
            <a:r>
              <a:rPr lang="en-US" sz="2400" dirty="0" err="1"/>
              <a:t>Facultatea</a:t>
            </a:r>
            <a:r>
              <a:rPr lang="en-US" sz="2400" dirty="0"/>
              <a:t> de </a:t>
            </a:r>
            <a:r>
              <a:rPr lang="en-US" sz="2400" dirty="0" err="1"/>
              <a:t>Automatică</a:t>
            </a:r>
            <a:r>
              <a:rPr lang="en-US" sz="2400" dirty="0"/>
              <a:t> </a:t>
            </a:r>
            <a:r>
              <a:rPr lang="en-US" sz="2400" dirty="0" err="1"/>
              <a:t>și</a:t>
            </a:r>
            <a:r>
              <a:rPr lang="en-US" sz="2400" dirty="0"/>
              <a:t> </a:t>
            </a:r>
            <a:r>
              <a:rPr lang="en-US" sz="2400" dirty="0" err="1"/>
              <a:t>Calculatoare</a:t>
            </a:r>
            <a:endParaRPr lang="en-US" sz="2400" dirty="0"/>
          </a:p>
          <a:p>
            <a:r>
              <a:rPr lang="en-US" sz="1800" dirty="0" err="1"/>
              <a:t>Facultatea</a:t>
            </a:r>
            <a:r>
              <a:rPr lang="en-US" sz="1800" dirty="0"/>
              <a:t> de </a:t>
            </a:r>
            <a:r>
              <a:rPr lang="en-US" sz="1800" dirty="0" err="1"/>
              <a:t>Autovehicule</a:t>
            </a:r>
            <a:r>
              <a:rPr lang="en-US" sz="1800" dirty="0"/>
              <a:t> </a:t>
            </a:r>
            <a:r>
              <a:rPr lang="en-US" sz="1800" dirty="0" err="1"/>
              <a:t>Rutiere</a:t>
            </a:r>
            <a:r>
              <a:rPr lang="en-US" sz="1800" dirty="0"/>
              <a:t>, </a:t>
            </a:r>
            <a:r>
              <a:rPr lang="en-US" sz="1800" dirty="0" err="1"/>
              <a:t>Mecatronică</a:t>
            </a:r>
            <a:r>
              <a:rPr lang="en-US" sz="1800" dirty="0"/>
              <a:t> </a:t>
            </a:r>
            <a:r>
              <a:rPr lang="en-US" sz="1800" dirty="0" err="1"/>
              <a:t>si</a:t>
            </a:r>
            <a:r>
              <a:rPr lang="en-US" sz="1800" dirty="0"/>
              <a:t> </a:t>
            </a:r>
            <a:r>
              <a:rPr lang="en-US" sz="1800" dirty="0" err="1"/>
              <a:t>Mecanică</a:t>
            </a:r>
            <a:endParaRPr lang="en-US" sz="1800" dirty="0"/>
          </a:p>
          <a:p>
            <a:r>
              <a:rPr lang="en-US" sz="1800" dirty="0" err="1"/>
              <a:t>Facultatea</a:t>
            </a:r>
            <a:r>
              <a:rPr lang="en-US" sz="1800" dirty="0"/>
              <a:t> de </a:t>
            </a:r>
            <a:r>
              <a:rPr lang="en-US" sz="1800" dirty="0" err="1"/>
              <a:t>Construcții</a:t>
            </a:r>
            <a:endParaRPr lang="en-US" sz="1800" dirty="0"/>
          </a:p>
          <a:p>
            <a:r>
              <a:rPr lang="en-US" sz="1800" dirty="0" err="1"/>
              <a:t>Facultatea</a:t>
            </a:r>
            <a:r>
              <a:rPr lang="en-US" sz="1800" dirty="0"/>
              <a:t> de Electronica, </a:t>
            </a:r>
            <a:r>
              <a:rPr lang="en-US" sz="1800" dirty="0" err="1"/>
              <a:t>Telecomunicații</a:t>
            </a:r>
            <a:r>
              <a:rPr lang="en-US" sz="1800" dirty="0"/>
              <a:t> </a:t>
            </a:r>
            <a:r>
              <a:rPr lang="en-US" sz="1800" dirty="0" err="1"/>
              <a:t>si</a:t>
            </a:r>
            <a:r>
              <a:rPr lang="en-US" sz="1800" dirty="0"/>
              <a:t> </a:t>
            </a:r>
            <a:r>
              <a:rPr lang="en-US" sz="1800" dirty="0" err="1"/>
              <a:t>Tehnologia</a:t>
            </a:r>
            <a:r>
              <a:rPr lang="en-US" sz="1800" dirty="0"/>
              <a:t> </a:t>
            </a:r>
            <a:r>
              <a:rPr lang="en-US" sz="1800" dirty="0" err="1"/>
              <a:t>Informației</a:t>
            </a:r>
            <a:endParaRPr lang="en-US" sz="1800" dirty="0"/>
          </a:p>
          <a:p>
            <a:r>
              <a:rPr lang="en-US" sz="1800" dirty="0" err="1"/>
              <a:t>Facultatea</a:t>
            </a:r>
            <a:r>
              <a:rPr lang="en-US" sz="1800" dirty="0"/>
              <a:t> de </a:t>
            </a:r>
            <a:r>
              <a:rPr lang="en-US" sz="1800" dirty="0" err="1"/>
              <a:t>Ingineria</a:t>
            </a:r>
            <a:r>
              <a:rPr lang="en-US" sz="1800" dirty="0"/>
              <a:t> </a:t>
            </a:r>
            <a:r>
              <a:rPr lang="en-US" sz="1800" dirty="0" err="1"/>
              <a:t>Materialelor</a:t>
            </a:r>
            <a:r>
              <a:rPr lang="en-US" sz="1800" dirty="0"/>
              <a:t> </a:t>
            </a:r>
            <a:r>
              <a:rPr lang="en-US" sz="1800" dirty="0" err="1"/>
              <a:t>și</a:t>
            </a:r>
            <a:r>
              <a:rPr lang="en-US" sz="1800" dirty="0"/>
              <a:t> a </a:t>
            </a:r>
            <a:r>
              <a:rPr lang="en-US" sz="1800" dirty="0" err="1"/>
              <a:t>Mediului</a:t>
            </a:r>
            <a:endParaRPr lang="en-US" sz="1800" dirty="0"/>
          </a:p>
          <a:p>
            <a:r>
              <a:rPr lang="en-US" sz="1800" dirty="0" err="1"/>
              <a:t>Facultatea</a:t>
            </a:r>
            <a:r>
              <a:rPr lang="en-US" sz="1800" dirty="0"/>
              <a:t> de </a:t>
            </a:r>
            <a:r>
              <a:rPr lang="en-US" sz="1800" dirty="0" err="1"/>
              <a:t>Inginerie</a:t>
            </a:r>
            <a:r>
              <a:rPr lang="en-US" sz="1800" dirty="0"/>
              <a:t> a </a:t>
            </a:r>
            <a:r>
              <a:rPr lang="en-US" sz="1800" dirty="0" err="1"/>
              <a:t>Instalațiilor</a:t>
            </a:r>
            <a:endParaRPr lang="en-US" sz="1800" dirty="0"/>
          </a:p>
          <a:p>
            <a:r>
              <a:rPr lang="en-US" sz="1800" dirty="0" err="1"/>
              <a:t>Facultatea</a:t>
            </a:r>
            <a:r>
              <a:rPr lang="en-US" sz="1800" dirty="0"/>
              <a:t> de </a:t>
            </a:r>
            <a:r>
              <a:rPr lang="en-US" sz="1800" dirty="0" err="1"/>
              <a:t>Inginerie</a:t>
            </a:r>
            <a:r>
              <a:rPr lang="en-US" sz="1800" dirty="0"/>
              <a:t> Electrică</a:t>
            </a:r>
          </a:p>
          <a:p>
            <a:r>
              <a:rPr lang="en-US" sz="1800" dirty="0" err="1"/>
              <a:t>Facultatea</a:t>
            </a:r>
            <a:r>
              <a:rPr lang="en-US" sz="1800" dirty="0"/>
              <a:t> de </a:t>
            </a:r>
            <a:r>
              <a:rPr lang="en-US" sz="1800" dirty="0" err="1"/>
              <a:t>Inginerie</a:t>
            </a:r>
            <a:r>
              <a:rPr lang="en-US" sz="1800" dirty="0"/>
              <a:t> </a:t>
            </a:r>
            <a:r>
              <a:rPr lang="en-US" sz="1800" dirty="0" err="1"/>
              <a:t>Industrială</a:t>
            </a:r>
            <a:r>
              <a:rPr lang="en-US" sz="1800" dirty="0"/>
              <a:t>, </a:t>
            </a:r>
            <a:r>
              <a:rPr lang="en-US" sz="1800" dirty="0" err="1"/>
              <a:t>Robotică</a:t>
            </a:r>
            <a:r>
              <a:rPr lang="en-US" sz="1800" dirty="0"/>
              <a:t> </a:t>
            </a:r>
            <a:r>
              <a:rPr lang="en-US" sz="1800" dirty="0" err="1"/>
              <a:t>și</a:t>
            </a:r>
            <a:r>
              <a:rPr lang="en-US" sz="1800" dirty="0"/>
              <a:t> </a:t>
            </a:r>
            <a:r>
              <a:rPr lang="en-US" sz="1800" dirty="0" err="1"/>
              <a:t>Managementul</a:t>
            </a:r>
            <a:r>
              <a:rPr lang="en-US" sz="1800" dirty="0"/>
              <a:t> </a:t>
            </a:r>
            <a:r>
              <a:rPr lang="en-US" sz="1800" dirty="0" err="1"/>
              <a:t>Producției</a:t>
            </a:r>
            <a:endParaRPr lang="en-US" sz="1800" dirty="0"/>
          </a:p>
          <a:p>
            <a:r>
              <a:rPr lang="en-US" sz="1800" dirty="0" err="1"/>
              <a:t>Facultatea</a:t>
            </a:r>
            <a:r>
              <a:rPr lang="en-US" sz="1800" dirty="0"/>
              <a:t> de </a:t>
            </a:r>
            <a:r>
              <a:rPr lang="en-US" sz="1800" dirty="0" err="1"/>
              <a:t>Inginerie</a:t>
            </a:r>
            <a:r>
              <a:rPr lang="en-US" sz="1800" dirty="0"/>
              <a:t> Baia Mare; </a:t>
            </a:r>
            <a:r>
              <a:rPr lang="en-US" sz="1800" dirty="0" err="1"/>
              <a:t>Facultatea</a:t>
            </a:r>
            <a:r>
              <a:rPr lang="en-US" sz="1800" dirty="0"/>
              <a:t> de </a:t>
            </a:r>
            <a:r>
              <a:rPr lang="en-US" sz="1800" dirty="0" err="1"/>
              <a:t>Litere</a:t>
            </a:r>
            <a:r>
              <a:rPr lang="en-US" sz="1800" dirty="0"/>
              <a:t>  Baia Mare; </a:t>
            </a:r>
            <a:r>
              <a:rPr lang="en-US" sz="1800" dirty="0" err="1"/>
              <a:t>Facultatea</a:t>
            </a:r>
            <a:r>
              <a:rPr lang="en-US" sz="1800" dirty="0"/>
              <a:t> de </a:t>
            </a:r>
            <a:r>
              <a:rPr lang="en-US" sz="1800" dirty="0" err="1"/>
              <a:t>Știinte</a:t>
            </a:r>
            <a:r>
              <a:rPr lang="en-US" sz="1800" dirty="0"/>
              <a:t>  Baia Mare</a:t>
            </a:r>
          </a:p>
          <a:p>
            <a:r>
              <a:rPr lang="en-US" sz="1800" dirty="0" err="1"/>
              <a:t>Extensii</a:t>
            </a:r>
            <a:r>
              <a:rPr lang="en-US" sz="1800" dirty="0"/>
              <a:t> Alba Iulia, Bistrița, Satu Mare, </a:t>
            </a:r>
            <a:r>
              <a:rPr lang="en-US" sz="1800" dirty="0" err="1"/>
              <a:t>Zalău</a:t>
            </a:r>
            <a:endParaRPr lang="en-US" sz="1800" dirty="0"/>
          </a:p>
        </p:txBody>
      </p:sp>
      <p:sp>
        <p:nvSpPr>
          <p:cNvPr id="4" name="Slide Number Placeholder 3">
            <a:extLst>
              <a:ext uri="{FF2B5EF4-FFF2-40B4-BE49-F238E27FC236}">
                <a16:creationId xmlns:a16="http://schemas.microsoft.com/office/drawing/2014/main" id="{7717400D-4BD1-1ECA-1D9F-C71E82CA4ED7}"/>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40958190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23D1E-BA31-415F-F484-CDA1250013F6}"/>
              </a:ext>
            </a:extLst>
          </p:cNvPr>
          <p:cNvSpPr>
            <a:spLocks noGrp="1"/>
          </p:cNvSpPr>
          <p:nvPr>
            <p:ph type="title"/>
          </p:nvPr>
        </p:nvSpPr>
        <p:spPr>
          <a:xfrm>
            <a:off x="839788" y="365125"/>
            <a:ext cx="10968754" cy="1325563"/>
          </a:xfrm>
        </p:spPr>
        <p:txBody>
          <a:bodyPr>
            <a:normAutofit fontScale="90000"/>
          </a:bodyPr>
          <a:lstStyle/>
          <a:p>
            <a:r>
              <a:rPr lang="en-US" dirty="0"/>
              <a:t>Thin clients are easier to manage and deploy as software updates only need to be handled on server</a:t>
            </a:r>
          </a:p>
        </p:txBody>
      </p:sp>
      <p:sp>
        <p:nvSpPr>
          <p:cNvPr id="8" name="Text Placeholder 7">
            <a:extLst>
              <a:ext uri="{FF2B5EF4-FFF2-40B4-BE49-F238E27FC236}">
                <a16:creationId xmlns:a16="http://schemas.microsoft.com/office/drawing/2014/main" id="{B83E9DBD-DF64-4F1C-CC98-30E1E879BE65}"/>
              </a:ext>
            </a:extLst>
          </p:cNvPr>
          <p:cNvSpPr>
            <a:spLocks noGrp="1"/>
          </p:cNvSpPr>
          <p:nvPr>
            <p:ph type="body" idx="1"/>
          </p:nvPr>
        </p:nvSpPr>
        <p:spPr/>
        <p:txBody>
          <a:bodyPr/>
          <a:lstStyle/>
          <a:p>
            <a:r>
              <a:rPr lang="en-US" dirty="0"/>
              <a:t>Fat client (thick client)</a:t>
            </a:r>
          </a:p>
        </p:txBody>
      </p:sp>
      <p:sp>
        <p:nvSpPr>
          <p:cNvPr id="9" name="Content Placeholder 8">
            <a:extLst>
              <a:ext uri="{FF2B5EF4-FFF2-40B4-BE49-F238E27FC236}">
                <a16:creationId xmlns:a16="http://schemas.microsoft.com/office/drawing/2014/main" id="{09E04375-370C-4B4F-9F05-7A8DD058ED9F}"/>
              </a:ext>
            </a:extLst>
          </p:cNvPr>
          <p:cNvSpPr>
            <a:spLocks noGrp="1"/>
          </p:cNvSpPr>
          <p:nvPr>
            <p:ph sz="half" idx="2"/>
          </p:nvPr>
        </p:nvSpPr>
        <p:spPr/>
        <p:txBody>
          <a:bodyPr>
            <a:normAutofit lnSpcReduction="10000"/>
          </a:bodyPr>
          <a:lstStyle/>
          <a:p>
            <a:r>
              <a:rPr lang="en-US" dirty="0"/>
              <a:t>performs most processing and data storage locally, on client, offering offline functionality and rich user experiences</a:t>
            </a:r>
          </a:p>
        </p:txBody>
      </p:sp>
      <p:sp>
        <p:nvSpPr>
          <p:cNvPr id="10" name="Text Placeholder 9">
            <a:extLst>
              <a:ext uri="{FF2B5EF4-FFF2-40B4-BE49-F238E27FC236}">
                <a16:creationId xmlns:a16="http://schemas.microsoft.com/office/drawing/2014/main" id="{0479A649-E56F-DA75-18FC-31940D9B9495}"/>
              </a:ext>
            </a:extLst>
          </p:cNvPr>
          <p:cNvSpPr>
            <a:spLocks noGrp="1"/>
          </p:cNvSpPr>
          <p:nvPr>
            <p:ph type="body" sz="quarter" idx="3"/>
          </p:nvPr>
        </p:nvSpPr>
        <p:spPr/>
        <p:txBody>
          <a:bodyPr/>
          <a:lstStyle/>
          <a:p>
            <a:r>
              <a:rPr lang="en-US" dirty="0"/>
              <a:t>Thin client</a:t>
            </a:r>
          </a:p>
        </p:txBody>
      </p:sp>
      <p:sp>
        <p:nvSpPr>
          <p:cNvPr id="11" name="Content Placeholder 10">
            <a:extLst>
              <a:ext uri="{FF2B5EF4-FFF2-40B4-BE49-F238E27FC236}">
                <a16:creationId xmlns:a16="http://schemas.microsoft.com/office/drawing/2014/main" id="{589E3026-1A72-CE50-B5AD-DE3F0F55E7FA}"/>
              </a:ext>
            </a:extLst>
          </p:cNvPr>
          <p:cNvSpPr>
            <a:spLocks noGrp="1"/>
          </p:cNvSpPr>
          <p:nvPr>
            <p:ph sz="quarter" idx="4"/>
          </p:nvPr>
        </p:nvSpPr>
        <p:spPr/>
        <p:txBody>
          <a:bodyPr>
            <a:normAutofit lnSpcReduction="10000"/>
          </a:bodyPr>
          <a:lstStyle/>
          <a:p>
            <a:r>
              <a:rPr lang="en-US" dirty="0"/>
              <a:t>relies heavily on server for processing power and storage, using minimal local resources for input and display</a:t>
            </a:r>
          </a:p>
          <a:p>
            <a:endParaRPr lang="en-US" sz="1200" dirty="0"/>
          </a:p>
          <a:p>
            <a:r>
              <a:rPr lang="en-US" dirty="0"/>
              <a:t>centralized management</a:t>
            </a:r>
          </a:p>
          <a:p>
            <a:r>
              <a:rPr lang="en-US" dirty="0"/>
              <a:t>based on stored procedures and function</a:t>
            </a:r>
          </a:p>
          <a:p>
            <a:r>
              <a:rPr lang="en-US" i="1" dirty="0">
                <a:solidFill>
                  <a:schemeClr val="bg2">
                    <a:lumMod val="90000"/>
                  </a:schemeClr>
                </a:solidFill>
              </a:rPr>
              <a:t>less performance</a:t>
            </a:r>
          </a:p>
          <a:p>
            <a:endParaRPr lang="en-US" dirty="0"/>
          </a:p>
        </p:txBody>
      </p:sp>
      <p:sp>
        <p:nvSpPr>
          <p:cNvPr id="4" name="Slide Number Placeholder 3">
            <a:extLst>
              <a:ext uri="{FF2B5EF4-FFF2-40B4-BE49-F238E27FC236}">
                <a16:creationId xmlns:a16="http://schemas.microsoft.com/office/drawing/2014/main" id="{CBA7A405-6672-591D-5D20-404A58428D22}"/>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40667363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23F0-B098-B13D-1984-FD17ACF4A9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59AFE9-D43C-9A62-E93C-009657259989}"/>
              </a:ext>
            </a:extLst>
          </p:cNvPr>
          <p:cNvSpPr>
            <a:spLocks noGrp="1"/>
          </p:cNvSpPr>
          <p:nvPr>
            <p:ph idx="1"/>
          </p:nvPr>
        </p:nvSpPr>
        <p:spPr/>
        <p:txBody>
          <a:bodyPr>
            <a:normAutofit/>
          </a:bodyPr>
          <a:lstStyle/>
          <a:p>
            <a:r>
              <a:rPr lang="en-US" dirty="0"/>
              <a:t>many commercial DBMSs allow stored procedures and functions to be written in a general-purpose programming language</a:t>
            </a:r>
          </a:p>
          <a:p>
            <a:r>
              <a:rPr lang="en-US" dirty="0"/>
              <a:t>Oracle Java</a:t>
            </a:r>
          </a:p>
          <a:p>
            <a:r>
              <a:rPr lang="en-US" dirty="0"/>
              <a:t>SQL Server C#, .NET</a:t>
            </a:r>
          </a:p>
          <a:p>
            <a:r>
              <a:rPr lang="en-US" dirty="0" err="1"/>
              <a:t>PostGreSQL</a:t>
            </a:r>
            <a:r>
              <a:rPr lang="en-US" dirty="0"/>
              <a:t> python</a:t>
            </a:r>
          </a:p>
        </p:txBody>
      </p:sp>
      <p:sp>
        <p:nvSpPr>
          <p:cNvPr id="4" name="Slide Number Placeholder 3">
            <a:extLst>
              <a:ext uri="{FF2B5EF4-FFF2-40B4-BE49-F238E27FC236}">
                <a16:creationId xmlns:a16="http://schemas.microsoft.com/office/drawing/2014/main" id="{8CF9E31E-4A1B-45F2-792F-B5B4A8D7DD41}"/>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3822293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70AD2-70B5-F890-A02F-AC05C61CC2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488C53-7496-5E06-2F1F-8C9EB675DC3B}"/>
              </a:ext>
            </a:extLst>
          </p:cNvPr>
          <p:cNvSpPr>
            <a:spLocks noGrp="1"/>
          </p:cNvSpPr>
          <p:nvPr>
            <p:ph idx="1"/>
          </p:nvPr>
        </p:nvSpPr>
        <p:spPr/>
        <p:txBody>
          <a:bodyPr>
            <a:normAutofit/>
          </a:bodyPr>
          <a:lstStyle/>
          <a:p>
            <a:r>
              <a:rPr lang="en-US" dirty="0"/>
              <a:t>alternatively, a stored procedure or function  can be made of SQL commands and procedural extensions to SQL – DBMS specific</a:t>
            </a:r>
          </a:p>
          <a:p>
            <a:r>
              <a:rPr lang="en-US" dirty="0"/>
              <a:t>Oracle PL/SQL (Procedural Language for SQL) </a:t>
            </a:r>
          </a:p>
          <a:p>
            <a:r>
              <a:rPr lang="en-US" dirty="0"/>
              <a:t>SQL Server Transact-SQL (T-SQL)</a:t>
            </a:r>
          </a:p>
          <a:p>
            <a:r>
              <a:rPr lang="en-US" dirty="0" err="1"/>
              <a:t>PostGreSQL</a:t>
            </a:r>
            <a:r>
              <a:rPr lang="en-US" dirty="0"/>
              <a:t> </a:t>
            </a:r>
            <a:r>
              <a:rPr lang="it-IT" dirty="0"/>
              <a:t>PL/pgSQL (Procedural Language/PostgreSQL)</a:t>
            </a:r>
            <a:endParaRPr lang="en-US" dirty="0"/>
          </a:p>
          <a:p>
            <a:endParaRPr lang="en-US" dirty="0"/>
          </a:p>
        </p:txBody>
      </p:sp>
      <p:sp>
        <p:nvSpPr>
          <p:cNvPr id="4" name="Slide Number Placeholder 3">
            <a:extLst>
              <a:ext uri="{FF2B5EF4-FFF2-40B4-BE49-F238E27FC236}">
                <a16:creationId xmlns:a16="http://schemas.microsoft.com/office/drawing/2014/main" id="{9FE5F148-8529-357A-DBD7-47AF8A8697AD}"/>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40912474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8AA3E-638B-A5FE-153F-6D5BA41D33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2E5019-7FDA-6D2F-7C66-B08338178D88}"/>
              </a:ext>
            </a:extLst>
          </p:cNvPr>
          <p:cNvSpPr>
            <a:spLocks noGrp="1"/>
          </p:cNvSpPr>
          <p:nvPr>
            <p:ph idx="1"/>
          </p:nvPr>
        </p:nvSpPr>
        <p:spPr/>
        <p:txBody>
          <a:bodyPr>
            <a:normAutofit/>
          </a:bodyPr>
          <a:lstStyle/>
          <a:p>
            <a:r>
              <a:rPr lang="en-US" dirty="0"/>
              <a:t>CREATE PROCEDURE &lt;procedure name&gt; (&lt;parameters&gt;)</a:t>
            </a:r>
          </a:p>
          <a:p>
            <a:r>
              <a:rPr lang="en-US" dirty="0"/>
              <a:t>&lt;local declarations&gt;</a:t>
            </a:r>
          </a:p>
          <a:p>
            <a:r>
              <a:rPr lang="en-US" dirty="0"/>
              <a:t>&lt;procedure body&gt; ;</a:t>
            </a:r>
          </a:p>
          <a:p>
            <a:endParaRPr lang="en-US" dirty="0"/>
          </a:p>
          <a:p>
            <a:r>
              <a:rPr lang="en-US" dirty="0"/>
              <a:t>CREATE FUNCTION &lt;function name&gt; (&lt;parameters&gt;)</a:t>
            </a:r>
          </a:p>
          <a:p>
            <a:r>
              <a:rPr lang="en-US" dirty="0"/>
              <a:t>RETURNS &lt;return type&gt;</a:t>
            </a:r>
          </a:p>
          <a:p>
            <a:r>
              <a:rPr lang="en-US" dirty="0"/>
              <a:t>&lt;local declarations&gt;</a:t>
            </a:r>
          </a:p>
          <a:p>
            <a:r>
              <a:rPr lang="en-US" dirty="0"/>
              <a:t>&lt;function body&gt; ;</a:t>
            </a:r>
          </a:p>
          <a:p>
            <a:endParaRPr lang="en-US" dirty="0"/>
          </a:p>
        </p:txBody>
      </p:sp>
      <p:sp>
        <p:nvSpPr>
          <p:cNvPr id="4" name="Slide Number Placeholder 3">
            <a:extLst>
              <a:ext uri="{FF2B5EF4-FFF2-40B4-BE49-F238E27FC236}">
                <a16:creationId xmlns:a16="http://schemas.microsoft.com/office/drawing/2014/main" id="{B167993A-2611-EA63-4555-678B8ABADC80}"/>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18251548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B35A-D38F-FCCC-6FD3-95B68123A2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8EAA1D-F9D4-F0FB-0C79-B9E6BED19E19}"/>
              </a:ext>
            </a:extLst>
          </p:cNvPr>
          <p:cNvSpPr>
            <a:spLocks noGrp="1"/>
          </p:cNvSpPr>
          <p:nvPr>
            <p:ph idx="1"/>
          </p:nvPr>
        </p:nvSpPr>
        <p:spPr/>
        <p:txBody>
          <a:bodyPr>
            <a:normAutofit/>
          </a:bodyPr>
          <a:lstStyle/>
          <a:p>
            <a:r>
              <a:rPr lang="en-US" dirty="0"/>
              <a:t>parameter should have parameter type - one of SQL data types</a:t>
            </a:r>
          </a:p>
          <a:p>
            <a:r>
              <a:rPr lang="en-US" dirty="0"/>
              <a:t>parameter should also have parameter mode: IN, OUT, or INOUT.</a:t>
            </a:r>
          </a:p>
          <a:p>
            <a:r>
              <a:rPr lang="en-US" dirty="0"/>
              <a:t>possible to call them from various SQL interfaces and programming techniques</a:t>
            </a:r>
          </a:p>
          <a:p>
            <a:r>
              <a:rPr lang="en-US" dirty="0"/>
              <a:t>CALL &lt;procedure or function name&gt; (&lt;argument list&gt;) ;</a:t>
            </a:r>
          </a:p>
          <a:p>
            <a:r>
              <a:rPr lang="en-US" dirty="0"/>
              <a:t>if this statement is called from JDBC, it should be assigned to a statement object of type </a:t>
            </a:r>
            <a:r>
              <a:rPr lang="en-US" dirty="0" err="1"/>
              <a:t>CallableStatement</a:t>
            </a:r>
            <a:endParaRPr lang="en-US" dirty="0"/>
          </a:p>
        </p:txBody>
      </p:sp>
      <p:sp>
        <p:nvSpPr>
          <p:cNvPr id="4" name="Slide Number Placeholder 3">
            <a:extLst>
              <a:ext uri="{FF2B5EF4-FFF2-40B4-BE49-F238E27FC236}">
                <a16:creationId xmlns:a16="http://schemas.microsoft.com/office/drawing/2014/main" id="{49CAF6D8-8342-EF44-CE48-DDA26BE3A3E5}"/>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2820719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AE36-3B57-19EE-490F-71E14034A821}"/>
              </a:ext>
            </a:extLst>
          </p:cNvPr>
          <p:cNvSpPr>
            <a:spLocks noGrp="1"/>
          </p:cNvSpPr>
          <p:nvPr>
            <p:ph type="title"/>
          </p:nvPr>
        </p:nvSpPr>
        <p:spPr/>
        <p:txBody>
          <a:bodyPr>
            <a:normAutofit fontScale="90000"/>
          </a:bodyPr>
          <a:lstStyle/>
          <a:p>
            <a:r>
              <a:rPr lang="en-US" b="1" dirty="0"/>
              <a:t>SQL/PSM</a:t>
            </a:r>
            <a:br>
              <a:rPr lang="en-US" b="1" dirty="0"/>
            </a:br>
            <a:r>
              <a:rPr lang="en-US" b="1" dirty="0"/>
              <a:t>Extending SQL to specify Persistent Stored Modules</a:t>
            </a:r>
            <a:endParaRPr lang="en-US" dirty="0"/>
          </a:p>
        </p:txBody>
      </p:sp>
      <p:sp>
        <p:nvSpPr>
          <p:cNvPr id="3" name="Content Placeholder 2">
            <a:extLst>
              <a:ext uri="{FF2B5EF4-FFF2-40B4-BE49-F238E27FC236}">
                <a16:creationId xmlns:a16="http://schemas.microsoft.com/office/drawing/2014/main" id="{0B0D8A65-FDBF-10DC-B896-31CBDF95408D}"/>
              </a:ext>
            </a:extLst>
          </p:cNvPr>
          <p:cNvSpPr>
            <a:spLocks noGrp="1"/>
          </p:cNvSpPr>
          <p:nvPr>
            <p:ph idx="1"/>
          </p:nvPr>
        </p:nvSpPr>
        <p:spPr/>
        <p:txBody>
          <a:bodyPr>
            <a:normAutofit/>
          </a:bodyPr>
          <a:lstStyle/>
          <a:p>
            <a:r>
              <a:rPr lang="en-US" dirty="0"/>
              <a:t>SQL/PSM is not PL/SQL, T-SQL or </a:t>
            </a:r>
            <a:r>
              <a:rPr lang="it-IT" dirty="0"/>
              <a:t>PL/pgSQL, ...) </a:t>
            </a:r>
            <a:r>
              <a:rPr lang="en-US" dirty="0"/>
              <a:t>is part of the SQL standard that specifies how to write persistent stored modules</a:t>
            </a:r>
          </a:p>
          <a:p>
            <a:r>
              <a:rPr lang="en-US" dirty="0"/>
              <a:t>includes the statements to create functions and procedures </a:t>
            </a:r>
          </a:p>
          <a:p>
            <a:r>
              <a:rPr lang="en-US" dirty="0"/>
              <a:t>also includes additional programming constructs to enhance power of SQL for the purpose of writing code (or body) of stored procedures and functions</a:t>
            </a:r>
          </a:p>
        </p:txBody>
      </p:sp>
      <p:sp>
        <p:nvSpPr>
          <p:cNvPr id="4" name="Slide Number Placeholder 3">
            <a:extLst>
              <a:ext uri="{FF2B5EF4-FFF2-40B4-BE49-F238E27FC236}">
                <a16:creationId xmlns:a16="http://schemas.microsoft.com/office/drawing/2014/main" id="{1E113C75-B3E6-BE4B-4F14-CD88C0E7C8C3}"/>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21969879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8F004-B2BE-C840-8021-7BD4F45EF9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34DE99-EBB8-8BC3-5127-6A0699CA06C1}"/>
              </a:ext>
            </a:extLst>
          </p:cNvPr>
          <p:cNvSpPr>
            <a:spLocks noGrp="1"/>
          </p:cNvSpPr>
          <p:nvPr>
            <p:ph idx="1"/>
          </p:nvPr>
        </p:nvSpPr>
        <p:spPr/>
        <p:txBody>
          <a:bodyPr/>
          <a:lstStyle/>
          <a:p>
            <a:r>
              <a:rPr lang="en-US" dirty="0"/>
              <a:t>IF &lt;condition&gt; THEN &lt;statement list&gt;</a:t>
            </a:r>
          </a:p>
          <a:p>
            <a:r>
              <a:rPr lang="en-US" dirty="0"/>
              <a:t> 	ELSEIF &lt;condition&gt; THEN &lt;statement list&gt;</a:t>
            </a:r>
          </a:p>
          <a:p>
            <a:r>
              <a:rPr lang="en-US" dirty="0"/>
              <a:t> 	…</a:t>
            </a:r>
          </a:p>
          <a:p>
            <a:r>
              <a:rPr lang="en-US" dirty="0"/>
              <a:t> 	ELSEIF &lt;condition&gt; THEN &lt;statement list&gt;</a:t>
            </a:r>
          </a:p>
          <a:p>
            <a:r>
              <a:rPr lang="en-US" dirty="0"/>
              <a:t> 	ELSE &lt;statement list&gt;</a:t>
            </a:r>
          </a:p>
          <a:p>
            <a:r>
              <a:rPr lang="en-US" dirty="0"/>
              <a:t>END IF ;</a:t>
            </a:r>
          </a:p>
        </p:txBody>
      </p:sp>
      <p:sp>
        <p:nvSpPr>
          <p:cNvPr id="4" name="Slide Number Placeholder 3">
            <a:extLst>
              <a:ext uri="{FF2B5EF4-FFF2-40B4-BE49-F238E27FC236}">
                <a16:creationId xmlns:a16="http://schemas.microsoft.com/office/drawing/2014/main" id="{388E60B2-793F-4ABB-82C6-A3596243EA5D}"/>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2103078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239E-F624-0DF4-5917-1331E9978F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E3F365-49FB-9DD8-8992-17053098C567}"/>
              </a:ext>
            </a:extLst>
          </p:cNvPr>
          <p:cNvSpPr>
            <a:spLocks noGrp="1"/>
          </p:cNvSpPr>
          <p:nvPr>
            <p:ph idx="1"/>
          </p:nvPr>
        </p:nvSpPr>
        <p:spPr>
          <a:xfrm>
            <a:off x="838200" y="1219199"/>
            <a:ext cx="10515600" cy="4957763"/>
          </a:xfrm>
        </p:spPr>
        <p:txBody>
          <a:bodyPr>
            <a:noAutofit/>
          </a:bodyPr>
          <a:lstStyle/>
          <a:p>
            <a:r>
              <a:rPr lang="en-US" sz="2500" dirty="0">
                <a:latin typeface="Courier New" panose="02070309020205020404" pitchFamily="49" charset="0"/>
                <a:cs typeface="Courier New" panose="02070309020205020404" pitchFamily="49" charset="0"/>
              </a:rPr>
              <a:t>CREATE FUNCTION </a:t>
            </a:r>
            <a:r>
              <a:rPr lang="en-US" sz="2500" dirty="0" err="1">
                <a:latin typeface="Courier New" panose="02070309020205020404" pitchFamily="49" charset="0"/>
                <a:cs typeface="Courier New" panose="02070309020205020404" pitchFamily="49" charset="0"/>
              </a:rPr>
              <a:t>Dept_size</a:t>
            </a:r>
            <a:r>
              <a:rPr lang="en-US" sz="2500" dirty="0">
                <a:latin typeface="Courier New" panose="02070309020205020404" pitchFamily="49" charset="0"/>
                <a:cs typeface="Courier New" panose="02070309020205020404" pitchFamily="49" charset="0"/>
              </a:rPr>
              <a:t>(IN </a:t>
            </a:r>
            <a:r>
              <a:rPr lang="en-US" sz="2500" dirty="0" err="1">
                <a:latin typeface="Courier New" panose="02070309020205020404" pitchFamily="49" charset="0"/>
                <a:cs typeface="Courier New" panose="02070309020205020404" pitchFamily="49" charset="0"/>
              </a:rPr>
              <a:t>deptno</a:t>
            </a:r>
            <a:r>
              <a:rPr lang="en-US" sz="2500" dirty="0">
                <a:latin typeface="Courier New" panose="02070309020205020404" pitchFamily="49" charset="0"/>
                <a:cs typeface="Courier New" panose="02070309020205020404" pitchFamily="49" charset="0"/>
              </a:rPr>
              <a:t> INTEGER)</a:t>
            </a:r>
          </a:p>
          <a:p>
            <a:r>
              <a:rPr lang="en-US" sz="2500" dirty="0">
                <a:latin typeface="Courier New" panose="02070309020205020404" pitchFamily="49" charset="0"/>
                <a:cs typeface="Courier New" panose="02070309020205020404" pitchFamily="49" charset="0"/>
              </a:rPr>
              <a:t>  	RETURNS VARCHAR [7]</a:t>
            </a:r>
          </a:p>
          <a:p>
            <a:r>
              <a:rPr lang="en-US" sz="2500" dirty="0">
                <a:latin typeface="Courier New" panose="02070309020205020404" pitchFamily="49" charset="0"/>
                <a:cs typeface="Courier New" panose="02070309020205020404" pitchFamily="49" charset="0"/>
              </a:rPr>
              <a:t> 	DECLARE </a:t>
            </a:r>
            <a:r>
              <a:rPr lang="en-US" sz="2500" dirty="0" err="1">
                <a:latin typeface="Courier New" panose="02070309020205020404" pitchFamily="49" charset="0"/>
                <a:cs typeface="Courier New" panose="02070309020205020404" pitchFamily="49" charset="0"/>
              </a:rPr>
              <a:t>No_of_emps</a:t>
            </a:r>
            <a:r>
              <a:rPr lang="en-US" sz="2500" dirty="0">
                <a:latin typeface="Courier New" panose="02070309020205020404" pitchFamily="49" charset="0"/>
                <a:cs typeface="Courier New" panose="02070309020205020404" pitchFamily="49" charset="0"/>
              </a:rPr>
              <a:t> INTEGER ;</a:t>
            </a:r>
          </a:p>
          <a:p>
            <a:r>
              <a:rPr lang="en-US" sz="2500" dirty="0">
                <a:latin typeface="Courier New" panose="02070309020205020404" pitchFamily="49" charset="0"/>
                <a:cs typeface="Courier New" panose="02070309020205020404" pitchFamily="49" charset="0"/>
              </a:rPr>
              <a:t> 	SELECT COUNT(*) INTO </a:t>
            </a:r>
            <a:r>
              <a:rPr lang="en-US" sz="2500" dirty="0" err="1">
                <a:latin typeface="Courier New" panose="02070309020205020404" pitchFamily="49" charset="0"/>
                <a:cs typeface="Courier New" panose="02070309020205020404" pitchFamily="49" charset="0"/>
              </a:rPr>
              <a:t>No_of_emps</a:t>
            </a:r>
            <a:endParaRPr lang="en-US" sz="2500" dirty="0">
              <a:latin typeface="Courier New" panose="02070309020205020404" pitchFamily="49" charset="0"/>
              <a:cs typeface="Courier New" panose="02070309020205020404" pitchFamily="49" charset="0"/>
            </a:endParaRPr>
          </a:p>
          <a:p>
            <a:r>
              <a:rPr lang="en-US" sz="2500" dirty="0">
                <a:latin typeface="Courier New" panose="02070309020205020404" pitchFamily="49" charset="0"/>
                <a:cs typeface="Courier New" panose="02070309020205020404" pitchFamily="49" charset="0"/>
              </a:rPr>
              <a:t> 		FROM EMPLOYEE WHERE </a:t>
            </a:r>
            <a:r>
              <a:rPr lang="en-US" sz="2500" dirty="0" err="1">
                <a:latin typeface="Courier New" panose="02070309020205020404" pitchFamily="49" charset="0"/>
                <a:cs typeface="Courier New" panose="02070309020205020404" pitchFamily="49" charset="0"/>
              </a:rPr>
              <a:t>Dno</a:t>
            </a:r>
            <a:r>
              <a:rPr lang="en-US" sz="2500" dirty="0">
                <a:latin typeface="Courier New" panose="02070309020205020404" pitchFamily="49" charset="0"/>
                <a:cs typeface="Courier New" panose="02070309020205020404" pitchFamily="49" charset="0"/>
              </a:rPr>
              <a:t> = </a:t>
            </a:r>
            <a:r>
              <a:rPr lang="en-US" sz="2500" dirty="0" err="1">
                <a:latin typeface="Courier New" panose="02070309020205020404" pitchFamily="49" charset="0"/>
                <a:cs typeface="Courier New" panose="02070309020205020404" pitchFamily="49" charset="0"/>
              </a:rPr>
              <a:t>deptno</a:t>
            </a:r>
            <a:r>
              <a:rPr lang="en-US" sz="2500" dirty="0">
                <a:latin typeface="Courier New" panose="02070309020205020404" pitchFamily="49" charset="0"/>
                <a:cs typeface="Courier New" panose="02070309020205020404" pitchFamily="49" charset="0"/>
              </a:rPr>
              <a:t> ;</a:t>
            </a:r>
          </a:p>
          <a:p>
            <a:r>
              <a:rPr lang="en-US" sz="2500" dirty="0">
                <a:latin typeface="Courier New" panose="02070309020205020404" pitchFamily="49" charset="0"/>
                <a:cs typeface="Courier New" panose="02070309020205020404" pitchFamily="49" charset="0"/>
              </a:rPr>
              <a:t> 	IF </a:t>
            </a:r>
            <a:r>
              <a:rPr lang="en-US" sz="2500" dirty="0" err="1">
                <a:latin typeface="Courier New" panose="02070309020205020404" pitchFamily="49" charset="0"/>
                <a:cs typeface="Courier New" panose="02070309020205020404" pitchFamily="49" charset="0"/>
              </a:rPr>
              <a:t>No_of_emps</a:t>
            </a:r>
            <a:r>
              <a:rPr lang="en-US" sz="2500" dirty="0">
                <a:latin typeface="Courier New" panose="02070309020205020404" pitchFamily="49" charset="0"/>
                <a:cs typeface="Courier New" panose="02070309020205020404" pitchFamily="49" charset="0"/>
              </a:rPr>
              <a:t> &gt; 100 THEN RETURN "HUGE"</a:t>
            </a:r>
          </a:p>
          <a:p>
            <a:r>
              <a:rPr lang="en-US" sz="2500" dirty="0">
                <a:latin typeface="Courier New" panose="02070309020205020404" pitchFamily="49" charset="0"/>
                <a:cs typeface="Courier New" panose="02070309020205020404" pitchFamily="49" charset="0"/>
              </a:rPr>
              <a:t> 		ELSEIF </a:t>
            </a:r>
            <a:r>
              <a:rPr lang="en-US" sz="2500" dirty="0" err="1">
                <a:latin typeface="Courier New" panose="02070309020205020404" pitchFamily="49" charset="0"/>
                <a:cs typeface="Courier New" panose="02070309020205020404" pitchFamily="49" charset="0"/>
              </a:rPr>
              <a:t>No_of_emps</a:t>
            </a:r>
            <a:r>
              <a:rPr lang="en-US" sz="2500" dirty="0">
                <a:latin typeface="Courier New" panose="02070309020205020404" pitchFamily="49" charset="0"/>
                <a:cs typeface="Courier New" panose="02070309020205020404" pitchFamily="49" charset="0"/>
              </a:rPr>
              <a:t> &gt; 25 THEN RETURN "LARGE"</a:t>
            </a:r>
          </a:p>
          <a:p>
            <a:r>
              <a:rPr lang="en-US" sz="2500" dirty="0">
                <a:latin typeface="Courier New" panose="02070309020205020404" pitchFamily="49" charset="0"/>
                <a:cs typeface="Courier New" panose="02070309020205020404" pitchFamily="49" charset="0"/>
              </a:rPr>
              <a:t> 		ELSEIF </a:t>
            </a:r>
            <a:r>
              <a:rPr lang="en-US" sz="2500" dirty="0" err="1">
                <a:latin typeface="Courier New" panose="02070309020205020404" pitchFamily="49" charset="0"/>
                <a:cs typeface="Courier New" panose="02070309020205020404" pitchFamily="49" charset="0"/>
              </a:rPr>
              <a:t>No_of_emps</a:t>
            </a:r>
            <a:r>
              <a:rPr lang="en-US" sz="2500" dirty="0">
                <a:latin typeface="Courier New" panose="02070309020205020404" pitchFamily="49" charset="0"/>
                <a:cs typeface="Courier New" panose="02070309020205020404" pitchFamily="49" charset="0"/>
              </a:rPr>
              <a:t> &gt; 10 THEN RETURN "MEDIUM"</a:t>
            </a:r>
          </a:p>
          <a:p>
            <a:r>
              <a:rPr lang="en-US" sz="2500" dirty="0">
                <a:latin typeface="Courier New" panose="02070309020205020404" pitchFamily="49" charset="0"/>
                <a:cs typeface="Courier New" panose="02070309020205020404" pitchFamily="49" charset="0"/>
              </a:rPr>
              <a:t> 		ELSE RETURN "SMALL"</a:t>
            </a:r>
          </a:p>
          <a:p>
            <a:r>
              <a:rPr lang="en-US" sz="2500" dirty="0">
                <a:latin typeface="Courier New" panose="02070309020205020404" pitchFamily="49" charset="0"/>
                <a:cs typeface="Courier New" panose="02070309020205020404" pitchFamily="49" charset="0"/>
              </a:rPr>
              <a:t> 	END IF ;</a:t>
            </a:r>
          </a:p>
          <a:p>
            <a:r>
              <a:rPr lang="en-US" sz="2500" dirty="0">
                <a:latin typeface="Courier New" panose="02070309020205020404" pitchFamily="49" charset="0"/>
                <a:cs typeface="Courier New" panose="02070309020205020404" pitchFamily="49" charset="0"/>
              </a:rPr>
              <a:t>END;</a:t>
            </a:r>
          </a:p>
        </p:txBody>
      </p:sp>
      <p:sp>
        <p:nvSpPr>
          <p:cNvPr id="4" name="Slide Number Placeholder 3">
            <a:extLst>
              <a:ext uri="{FF2B5EF4-FFF2-40B4-BE49-F238E27FC236}">
                <a16:creationId xmlns:a16="http://schemas.microsoft.com/office/drawing/2014/main" id="{4E98A97D-E641-0311-A301-1FB2D1EBBBD6}"/>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36619392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E0D06B-209D-2A38-634C-A1C4E0043D86}"/>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4A7C8EE5-05CE-3E6A-18CC-CEBE665663A1}"/>
              </a:ext>
            </a:extLst>
          </p:cNvPr>
          <p:cNvSpPr>
            <a:spLocks noGrp="1"/>
          </p:cNvSpPr>
          <p:nvPr>
            <p:ph sz="half" idx="1"/>
          </p:nvPr>
        </p:nvSpPr>
        <p:spPr/>
        <p:txBody>
          <a:bodyPr>
            <a:normAutofit/>
          </a:bodyPr>
          <a:lstStyle/>
          <a:p>
            <a:r>
              <a:rPr lang="en-US" dirty="0"/>
              <a:t>WHILE &lt;condition&gt; DO</a:t>
            </a:r>
          </a:p>
          <a:p>
            <a:r>
              <a:rPr lang="en-US" dirty="0"/>
              <a:t> 	&lt;statement list&gt;</a:t>
            </a:r>
          </a:p>
          <a:p>
            <a:r>
              <a:rPr lang="en-US" dirty="0"/>
              <a:t>END WHILE ;</a:t>
            </a:r>
          </a:p>
        </p:txBody>
      </p:sp>
      <p:sp>
        <p:nvSpPr>
          <p:cNvPr id="7" name="Content Placeholder 6">
            <a:extLst>
              <a:ext uri="{FF2B5EF4-FFF2-40B4-BE49-F238E27FC236}">
                <a16:creationId xmlns:a16="http://schemas.microsoft.com/office/drawing/2014/main" id="{600F274D-B07F-4AB8-AB5B-B3EA322E24B3}"/>
              </a:ext>
            </a:extLst>
          </p:cNvPr>
          <p:cNvSpPr>
            <a:spLocks noGrp="1"/>
          </p:cNvSpPr>
          <p:nvPr>
            <p:ph sz="half" idx="2"/>
          </p:nvPr>
        </p:nvSpPr>
        <p:spPr/>
        <p:txBody>
          <a:bodyPr>
            <a:normAutofit/>
          </a:bodyPr>
          <a:lstStyle/>
          <a:p>
            <a:r>
              <a:rPr lang="en-US" dirty="0"/>
              <a:t>REPEAT</a:t>
            </a:r>
          </a:p>
          <a:p>
            <a:r>
              <a:rPr lang="en-US" dirty="0"/>
              <a:t> 	&lt;statement list&gt;</a:t>
            </a:r>
          </a:p>
          <a:p>
            <a:r>
              <a:rPr lang="en-US" dirty="0"/>
              <a:t>UNTIL &lt;condition&gt;</a:t>
            </a:r>
          </a:p>
          <a:p>
            <a:r>
              <a:rPr lang="en-US" dirty="0"/>
              <a:t>END REPEAT ;</a:t>
            </a:r>
          </a:p>
        </p:txBody>
      </p:sp>
      <p:sp>
        <p:nvSpPr>
          <p:cNvPr id="4" name="Slide Number Placeholder 3">
            <a:extLst>
              <a:ext uri="{FF2B5EF4-FFF2-40B4-BE49-F238E27FC236}">
                <a16:creationId xmlns:a16="http://schemas.microsoft.com/office/drawing/2014/main" id="{F1A5A947-9D61-834A-8A3D-7BEDA3DF8968}"/>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18197902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3616E-2A5A-9F57-B978-249A215C78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7BB424-6365-79B9-C675-556B11E6DA9E}"/>
              </a:ext>
            </a:extLst>
          </p:cNvPr>
          <p:cNvSpPr>
            <a:spLocks noGrp="1"/>
          </p:cNvSpPr>
          <p:nvPr>
            <p:ph idx="1"/>
          </p:nvPr>
        </p:nvSpPr>
        <p:spPr/>
        <p:txBody>
          <a:bodyPr>
            <a:normAutofit/>
          </a:bodyPr>
          <a:lstStyle/>
          <a:p>
            <a:r>
              <a:rPr lang="en-US" dirty="0"/>
              <a:t>FOR &lt;loop name&gt; AS &lt;cursor name&gt; CURSOR FOR &lt;query&gt; DO</a:t>
            </a:r>
          </a:p>
          <a:p>
            <a:r>
              <a:rPr lang="en-US" dirty="0"/>
              <a:t> 	&lt;statement list&gt;</a:t>
            </a:r>
          </a:p>
          <a:p>
            <a:r>
              <a:rPr lang="en-US" dirty="0"/>
              <a:t>END FOR ;</a:t>
            </a:r>
          </a:p>
        </p:txBody>
      </p:sp>
      <p:sp>
        <p:nvSpPr>
          <p:cNvPr id="4" name="Slide Number Placeholder 3">
            <a:extLst>
              <a:ext uri="{FF2B5EF4-FFF2-40B4-BE49-F238E27FC236}">
                <a16:creationId xmlns:a16="http://schemas.microsoft.com/office/drawing/2014/main" id="{E7E6C7FD-06AE-266B-61E6-36CD268873BF}"/>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10723847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1D789-B3F9-89F8-B525-3D68D8E5898B}"/>
              </a:ext>
            </a:extLst>
          </p:cNvPr>
          <p:cNvSpPr>
            <a:spLocks noGrp="1"/>
          </p:cNvSpPr>
          <p:nvPr>
            <p:ph type="title"/>
          </p:nvPr>
        </p:nvSpPr>
        <p:spPr/>
        <p:txBody>
          <a:bodyPr/>
          <a:lstStyle/>
          <a:p>
            <a:r>
              <a:rPr lang="en-US" dirty="0"/>
              <a:t>Embedded SQL Approach</a:t>
            </a:r>
          </a:p>
        </p:txBody>
      </p:sp>
      <p:sp>
        <p:nvSpPr>
          <p:cNvPr id="3" name="Content Placeholder 2">
            <a:extLst>
              <a:ext uri="{FF2B5EF4-FFF2-40B4-BE49-F238E27FC236}">
                <a16:creationId xmlns:a16="http://schemas.microsoft.com/office/drawing/2014/main" id="{E7F44055-BC95-76D9-B1AF-ACFB889F62AF}"/>
              </a:ext>
            </a:extLst>
          </p:cNvPr>
          <p:cNvSpPr>
            <a:spLocks noGrp="1"/>
          </p:cNvSpPr>
          <p:nvPr>
            <p:ph idx="1"/>
          </p:nvPr>
        </p:nvSpPr>
        <p:spPr/>
        <p:txBody>
          <a:bodyPr>
            <a:noAutofit/>
          </a:bodyPr>
          <a:lstStyle/>
          <a:p>
            <a:r>
              <a:rPr lang="en-US" dirty="0"/>
              <a:t>main advantage of this approach is that the query text is part of  program source code itself, hence can be checked and validated against database schema at compile time; makes program quite readable</a:t>
            </a:r>
          </a:p>
          <a:p>
            <a:r>
              <a:rPr lang="en-US" dirty="0"/>
              <a:t>disadvantages are the loss of flexibility in changing query at runtime</a:t>
            </a:r>
          </a:p>
          <a:p>
            <a:r>
              <a:rPr lang="en-US" dirty="0"/>
              <a:t>programming of application is generally easier</a:t>
            </a:r>
          </a:p>
          <a:p>
            <a:r>
              <a:rPr lang="en-US" dirty="0"/>
              <a:t>for complex applications where queries have to be generated at runtime, function call approach will be more suitable</a:t>
            </a:r>
          </a:p>
        </p:txBody>
      </p:sp>
      <p:sp>
        <p:nvSpPr>
          <p:cNvPr id="4" name="Slide Number Placeholder 3">
            <a:extLst>
              <a:ext uri="{FF2B5EF4-FFF2-40B4-BE49-F238E27FC236}">
                <a16:creationId xmlns:a16="http://schemas.microsoft.com/office/drawing/2014/main" id="{9ECEC70E-B6FD-55C2-AC9B-11A2155E819D}"/>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36962411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7D343-E091-2D2F-7087-7049A17E1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6BA43-0111-5238-C6E7-3D758C8524C4}"/>
              </a:ext>
            </a:extLst>
          </p:cNvPr>
          <p:cNvSpPr>
            <a:spLocks noGrp="1"/>
          </p:cNvSpPr>
          <p:nvPr>
            <p:ph type="title"/>
          </p:nvPr>
        </p:nvSpPr>
        <p:spPr/>
        <p:txBody>
          <a:bodyPr/>
          <a:lstStyle/>
          <a:p>
            <a:r>
              <a:rPr lang="en-US" dirty="0"/>
              <a:t>Classes and Function Calls Approach</a:t>
            </a:r>
          </a:p>
        </p:txBody>
      </p:sp>
      <p:sp>
        <p:nvSpPr>
          <p:cNvPr id="3" name="Content Placeholder 2">
            <a:extLst>
              <a:ext uri="{FF2B5EF4-FFF2-40B4-BE49-F238E27FC236}">
                <a16:creationId xmlns:a16="http://schemas.microsoft.com/office/drawing/2014/main" id="{0709AFCC-62F6-8752-1905-0FEAFD63B21B}"/>
              </a:ext>
            </a:extLst>
          </p:cNvPr>
          <p:cNvSpPr>
            <a:spLocks noGrp="1"/>
          </p:cNvSpPr>
          <p:nvPr>
            <p:ph idx="1"/>
          </p:nvPr>
        </p:nvSpPr>
        <p:spPr/>
        <p:txBody>
          <a:bodyPr>
            <a:noAutofit/>
          </a:bodyPr>
          <a:lstStyle/>
          <a:p>
            <a:r>
              <a:rPr lang="en-US" dirty="0"/>
              <a:t>provides more flexibility in that queries can be generated at runtime</a:t>
            </a:r>
          </a:p>
          <a:p>
            <a:r>
              <a:rPr lang="en-US" dirty="0"/>
              <a:t>leads to more complex programming, as program variables that match columns in query result may not be known in advance</a:t>
            </a:r>
          </a:p>
          <a:p>
            <a:r>
              <a:rPr lang="en-US" dirty="0"/>
              <a:t>no checking can be done at compile time - syntax checking and query validation has to be done at runtime by preparing the query, and programmer must check and account for possible additional runtime errors within program code</a:t>
            </a:r>
          </a:p>
        </p:txBody>
      </p:sp>
      <p:sp>
        <p:nvSpPr>
          <p:cNvPr id="4" name="Slide Number Placeholder 3">
            <a:extLst>
              <a:ext uri="{FF2B5EF4-FFF2-40B4-BE49-F238E27FC236}">
                <a16:creationId xmlns:a16="http://schemas.microsoft.com/office/drawing/2014/main" id="{D8782B02-2F26-B192-CBF4-C6CE9660DFB9}"/>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25868663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6291E-B35B-E157-2074-F3B83A5F2126}"/>
              </a:ext>
            </a:extLst>
          </p:cNvPr>
          <p:cNvSpPr>
            <a:spLocks noGrp="1"/>
          </p:cNvSpPr>
          <p:nvPr>
            <p:ph type="title"/>
          </p:nvPr>
        </p:nvSpPr>
        <p:spPr/>
        <p:txBody>
          <a:bodyPr/>
          <a:lstStyle/>
          <a:p>
            <a:r>
              <a:rPr lang="en-US" dirty="0"/>
              <a:t>Database Programming Language Approach</a:t>
            </a:r>
          </a:p>
        </p:txBody>
      </p:sp>
      <p:sp>
        <p:nvSpPr>
          <p:cNvPr id="3" name="Content Placeholder 2">
            <a:extLst>
              <a:ext uri="{FF2B5EF4-FFF2-40B4-BE49-F238E27FC236}">
                <a16:creationId xmlns:a16="http://schemas.microsoft.com/office/drawing/2014/main" id="{EE9050B8-FC0C-DA03-5C29-09E08A10958B}"/>
              </a:ext>
            </a:extLst>
          </p:cNvPr>
          <p:cNvSpPr>
            <a:spLocks noGrp="1"/>
          </p:cNvSpPr>
          <p:nvPr>
            <p:ph idx="1"/>
          </p:nvPr>
        </p:nvSpPr>
        <p:spPr>
          <a:xfrm>
            <a:off x="838200" y="1825625"/>
            <a:ext cx="10744200" cy="4351338"/>
          </a:xfrm>
        </p:spPr>
        <p:txBody>
          <a:bodyPr>
            <a:normAutofit/>
          </a:bodyPr>
          <a:lstStyle/>
          <a:p>
            <a:r>
              <a:rPr lang="en-US" dirty="0"/>
              <a:t>does not suffer from impedance mismatch problem, as the programming language data types are the same as database data types</a:t>
            </a:r>
          </a:p>
          <a:p>
            <a:r>
              <a:rPr lang="en-US" dirty="0"/>
              <a:t>programmers must learn new programming language rather than use language they are already familiar with</a:t>
            </a:r>
          </a:p>
          <a:p>
            <a:r>
              <a:rPr lang="en-US" dirty="0"/>
              <a:t>database programming languages are vendor-specific, whereas general-purpose programming languages can easily work with systems from multiple vendors</a:t>
            </a:r>
          </a:p>
          <a:p>
            <a:endParaRPr lang="en-US" dirty="0"/>
          </a:p>
        </p:txBody>
      </p:sp>
      <p:sp>
        <p:nvSpPr>
          <p:cNvPr id="4" name="Slide Number Placeholder 3">
            <a:extLst>
              <a:ext uri="{FF2B5EF4-FFF2-40B4-BE49-F238E27FC236}">
                <a16:creationId xmlns:a16="http://schemas.microsoft.com/office/drawing/2014/main" id="{2B18FE2E-D952-C642-3FFD-FC20722C4F4B}"/>
              </a:ext>
            </a:extLst>
          </p:cNvPr>
          <p:cNvSpPr>
            <a:spLocks noGrp="1"/>
          </p:cNvSpPr>
          <p:nvPr>
            <p:ph type="sldNum" sz="quarter" idx="12"/>
          </p:nvPr>
        </p:nvSpPr>
        <p:spPr/>
        <p:txBody>
          <a:bodyPr/>
          <a:lstStyle/>
          <a:p>
            <a:fld id="{6264BDCF-5269-49AC-A246-ED26C2B980E3}" type="slidenum">
              <a:rPr lang="en-US" smtClean="0"/>
              <a:t>82</a:t>
            </a:fld>
            <a:endParaRPr lang="en-US"/>
          </a:p>
        </p:txBody>
      </p:sp>
    </p:spTree>
    <p:extLst>
      <p:ext uri="{BB962C8B-B14F-4D97-AF65-F5344CB8AC3E}">
        <p14:creationId xmlns:p14="http://schemas.microsoft.com/office/powerpoint/2010/main" val="31999992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200EFD-914B-26A3-48A6-5DF488C61AE8}"/>
              </a:ext>
            </a:extLst>
          </p:cNvPr>
          <p:cNvSpPr>
            <a:spLocks noGrp="1"/>
          </p:cNvSpPr>
          <p:nvPr>
            <p:ph type="ctrTitle"/>
          </p:nvPr>
        </p:nvSpPr>
        <p:spPr/>
        <p:txBody>
          <a:bodyPr/>
          <a:lstStyle/>
          <a:p>
            <a:r>
              <a:rPr lang="en-US" b="1" dirty="0"/>
              <a:t>Web Database</a:t>
            </a:r>
            <a:br>
              <a:rPr lang="en-US" b="1" dirty="0"/>
            </a:br>
            <a:r>
              <a:rPr lang="en-US" b="1" dirty="0"/>
              <a:t>Programming</a:t>
            </a:r>
            <a:endParaRPr lang="en-US" dirty="0"/>
          </a:p>
        </p:txBody>
      </p:sp>
      <p:sp>
        <p:nvSpPr>
          <p:cNvPr id="6" name="Subtitle 5">
            <a:extLst>
              <a:ext uri="{FF2B5EF4-FFF2-40B4-BE49-F238E27FC236}">
                <a16:creationId xmlns:a16="http://schemas.microsoft.com/office/drawing/2014/main" id="{543E8419-E321-8784-E4C3-7103B6D850C6}"/>
              </a:ext>
            </a:extLst>
          </p:cNvPr>
          <p:cNvSpPr>
            <a:spLocks noGrp="1"/>
          </p:cNvSpPr>
          <p:nvPr>
            <p:ph type="subTitle" idx="1"/>
          </p:nvPr>
        </p:nvSpPr>
        <p:spPr/>
        <p:txBody>
          <a:bodyPr>
            <a:normAutofit/>
          </a:bodyPr>
          <a:lstStyle/>
          <a:p>
            <a:r>
              <a:rPr lang="en-US" sz="3600" dirty="0"/>
              <a:t>u</a:t>
            </a:r>
            <a:r>
              <a:rPr lang="en-US" sz="3600"/>
              <a:t>sing </a:t>
            </a:r>
            <a:r>
              <a:rPr lang="en-US" sz="3600" dirty="0"/>
              <a:t>PHP / Python</a:t>
            </a:r>
          </a:p>
        </p:txBody>
      </p:sp>
      <p:sp>
        <p:nvSpPr>
          <p:cNvPr id="4" name="Slide Number Placeholder 3">
            <a:extLst>
              <a:ext uri="{FF2B5EF4-FFF2-40B4-BE49-F238E27FC236}">
                <a16:creationId xmlns:a16="http://schemas.microsoft.com/office/drawing/2014/main" id="{8617B6F4-C6B9-C16F-39A7-E87FF154D46D}"/>
              </a:ext>
            </a:extLst>
          </p:cNvPr>
          <p:cNvSpPr>
            <a:spLocks noGrp="1"/>
          </p:cNvSpPr>
          <p:nvPr>
            <p:ph type="sldNum" sz="quarter" idx="12"/>
          </p:nvPr>
        </p:nvSpPr>
        <p:spPr/>
        <p:txBody>
          <a:bodyPr/>
          <a:lstStyle/>
          <a:p>
            <a:fld id="{6264BDCF-5269-49AC-A246-ED26C2B980E3}" type="slidenum">
              <a:rPr lang="en-US" smtClean="0"/>
              <a:t>83</a:t>
            </a:fld>
            <a:endParaRPr lang="en-US"/>
          </a:p>
        </p:txBody>
      </p:sp>
    </p:spTree>
    <p:extLst>
      <p:ext uri="{BB962C8B-B14F-4D97-AF65-F5344CB8AC3E}">
        <p14:creationId xmlns:p14="http://schemas.microsoft.com/office/powerpoint/2010/main" val="538237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3B3601-0388-4417-AEA8-B3F03B224127}"/>
</file>

<file path=customXml/itemProps2.xml><?xml version="1.0" encoding="utf-8"?>
<ds:datastoreItem xmlns:ds="http://schemas.openxmlformats.org/officeDocument/2006/customXml" ds:itemID="{77295746-DFC7-41FB-94A6-B95A1F747C53}"/>
</file>

<file path=customXml/itemProps3.xml><?xml version="1.0" encoding="utf-8"?>
<ds:datastoreItem xmlns:ds="http://schemas.openxmlformats.org/officeDocument/2006/customXml" ds:itemID="{47A16426-3158-4BF1-BE29-F89CB0F138DC}"/>
</file>

<file path=docProps/app.xml><?xml version="1.0" encoding="utf-8"?>
<Properties xmlns="http://schemas.openxmlformats.org/officeDocument/2006/extended-properties" xmlns:vt="http://schemas.openxmlformats.org/officeDocument/2006/docPropsVTypes">
  <TotalTime>4833</TotalTime>
  <Words>6123</Words>
  <Application>Microsoft Office PowerPoint</Application>
  <PresentationFormat>Widescreen</PresentationFormat>
  <Paragraphs>559</Paragraphs>
  <Slides>83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83</vt:i4>
      </vt:variant>
    </vt:vector>
  </HeadingPairs>
  <TitlesOfParts>
    <vt:vector size="88" baseType="lpstr">
      <vt:lpstr>Arial</vt:lpstr>
      <vt:lpstr>Calibri</vt:lpstr>
      <vt:lpstr>Calibri Light</vt:lpstr>
      <vt:lpstr>Courier New</vt:lpstr>
      <vt:lpstr>Office Theme</vt:lpstr>
      <vt:lpstr>DataBase</vt:lpstr>
      <vt:lpstr>DataBase Programming</vt:lpstr>
      <vt:lpstr>PowerPoint Presentation</vt:lpstr>
      <vt:lpstr>PowerPoint Presentation</vt:lpstr>
      <vt:lpstr>Database Programming Techniques  and Issues</vt:lpstr>
      <vt:lpstr>Database Programming Techniques  and Issues</vt:lpstr>
      <vt:lpstr>Approaches to Database Programming</vt:lpstr>
      <vt:lpstr>Approaches to Database Programming</vt:lpstr>
      <vt:lpstr>Approaches to Database Programming</vt:lpstr>
      <vt:lpstr>Approaches to Database Programming</vt:lpstr>
      <vt:lpstr>Impedance Mismatch</vt:lpstr>
      <vt:lpstr>Impedance Mismatch</vt:lpstr>
      <vt:lpstr>PowerPoint Presentation</vt:lpstr>
      <vt:lpstr>PowerPoint Presentation</vt:lpstr>
      <vt:lpstr>Typical Sequence of Interaction in a  Database Application Programming</vt:lpstr>
      <vt:lpstr>PowerPoint Presentation</vt:lpstr>
      <vt:lpstr>Embedded SQL</vt:lpstr>
      <vt:lpstr>Embedded SQL</vt:lpstr>
      <vt:lpstr>PowerPoint Presentation</vt:lpstr>
      <vt:lpstr>PowerPoint Presentation</vt:lpstr>
      <vt:lpstr>PowerPoint Presentation</vt:lpstr>
      <vt:lpstr>Connecting to the Database</vt:lpstr>
      <vt:lpstr>PowerPoint Presentation</vt:lpstr>
      <vt:lpstr>PowerPoint Presentation</vt:lpstr>
      <vt:lpstr>cursor</vt:lpstr>
      <vt:lpstr>PowerPoint Presentation</vt:lpstr>
      <vt:lpstr>general form of a SQL cursor</vt:lpstr>
      <vt:lpstr>PowerPoint Presentation</vt:lpstr>
      <vt:lpstr>PowerPoint Presentation</vt:lpstr>
      <vt:lpstr>general form of a FETCH command</vt:lpstr>
      <vt:lpstr>Specify Queries at Runtime Using Dynamic SQL</vt:lpstr>
      <vt:lpstr>PowerPoint Presentation</vt:lpstr>
      <vt:lpstr>PowerPoint Presentation</vt:lpstr>
      <vt:lpstr>PowerPoint Presentation</vt:lpstr>
      <vt:lpstr>Embedded SQL in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 Calls and Class Libraries</vt:lpstr>
      <vt:lpstr>PowerPoint Presentation</vt:lpstr>
      <vt:lpstr>PowerPoint Presentation</vt:lpstr>
      <vt:lpstr>function call interfaces</vt:lpstr>
      <vt:lpstr>PowerPoint Presentation</vt:lpstr>
      <vt:lpstr>Database Programming with SQL/CLI  using C as Host Language</vt:lpstr>
      <vt:lpstr>PowerPoint Presentation</vt:lpstr>
      <vt:lpstr>PowerPoint Presentation</vt:lpstr>
      <vt:lpstr>PowerPoint Presentation</vt:lpstr>
      <vt:lpstr>PowerPoint Presentation</vt:lpstr>
      <vt:lpstr>PowerPoint Presentation</vt:lpstr>
      <vt:lpstr>Steps in a database program</vt:lpstr>
      <vt:lpstr>JDBC: SQL Class Library for Java Programming</vt:lpstr>
      <vt:lpstr>PowerPoint Presentation</vt:lpstr>
      <vt:lpstr>PowerPoint Presentation</vt:lpstr>
      <vt:lpstr>PowerPoint Presentation</vt:lpstr>
      <vt:lpstr>JDBC programming steps</vt:lpstr>
      <vt:lpstr>PowerPoint Presentation</vt:lpstr>
      <vt:lpstr>PowerPoint Presentation</vt:lpstr>
      <vt:lpstr>Database Stored Procedures and SQL/PSM</vt:lpstr>
      <vt:lpstr>Database Stored Procedures and Functions</vt:lpstr>
      <vt:lpstr>Stored procedures are useful:</vt:lpstr>
      <vt:lpstr>SINU</vt:lpstr>
      <vt:lpstr>Thin clients are easier to manage and deploy as software updates only need to be handled on server</vt:lpstr>
      <vt:lpstr>PowerPoint Presentation</vt:lpstr>
      <vt:lpstr>PowerPoint Presentation</vt:lpstr>
      <vt:lpstr>PowerPoint Presentation</vt:lpstr>
      <vt:lpstr>PowerPoint Presentation</vt:lpstr>
      <vt:lpstr>SQL/PSM Extending SQL to specify Persistent Stored Modules</vt:lpstr>
      <vt:lpstr>PowerPoint Presentation</vt:lpstr>
      <vt:lpstr>PowerPoint Presentation</vt:lpstr>
      <vt:lpstr>PowerPoint Presentation</vt:lpstr>
      <vt:lpstr>PowerPoint Presentation</vt:lpstr>
      <vt:lpstr>Embedded SQL Approach</vt:lpstr>
      <vt:lpstr>Classes and Function Calls Approach</vt:lpstr>
      <vt:lpstr>Database Programming Language Approach</vt:lpstr>
      <vt:lpstr>Web Database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205</cp:revision>
  <dcterms:created xsi:type="dcterms:W3CDTF">2023-08-06T12:55:35Z</dcterms:created>
  <dcterms:modified xsi:type="dcterms:W3CDTF">2025-09-20T18:08:19Z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